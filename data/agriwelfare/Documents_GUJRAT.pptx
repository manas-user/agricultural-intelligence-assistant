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diagrams/colors2.xml" ContentType="application/vnd.openxmlformats-officedocument.drawingml.diagramColors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8" r:id="rId2"/>
    <p:sldId id="259" r:id="rId3"/>
    <p:sldId id="361" r:id="rId4"/>
    <p:sldId id="268" r:id="rId5"/>
    <p:sldId id="269" r:id="rId6"/>
    <p:sldId id="315" r:id="rId7"/>
    <p:sldId id="318" r:id="rId8"/>
    <p:sldId id="357" r:id="rId9"/>
    <p:sldId id="320" r:id="rId10"/>
    <p:sldId id="321" r:id="rId11"/>
    <p:sldId id="322" r:id="rId12"/>
    <p:sldId id="358" r:id="rId13"/>
    <p:sldId id="324" r:id="rId14"/>
    <p:sldId id="325" r:id="rId15"/>
    <p:sldId id="326" r:id="rId16"/>
    <p:sldId id="362" r:id="rId17"/>
    <p:sldId id="327" r:id="rId18"/>
    <p:sldId id="328" r:id="rId19"/>
    <p:sldId id="329" r:id="rId20"/>
    <p:sldId id="354" r:id="rId21"/>
    <p:sldId id="356" r:id="rId22"/>
    <p:sldId id="338" r:id="rId23"/>
    <p:sldId id="340" r:id="rId24"/>
    <p:sldId id="339" r:id="rId25"/>
    <p:sldId id="343" r:id="rId26"/>
    <p:sldId id="303" r:id="rId27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image" Target="../media/image20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jpeg"/><Relationship Id="rId2" Type="http://schemas.openxmlformats.org/officeDocument/2006/relationships/image" Target="../media/image211.png"/><Relationship Id="rId1" Type="http://schemas.openxmlformats.org/officeDocument/2006/relationships/image" Target="../media/image201.png"/><Relationship Id="rId5" Type="http://schemas.openxmlformats.org/officeDocument/2006/relationships/image" Target="../media/image241.jpeg"/><Relationship Id="rId4" Type="http://schemas.openxmlformats.org/officeDocument/2006/relationships/image" Target="../media/image23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49AAB8-A285-4A5E-BE6C-9C147A64CBC8}" type="doc">
      <dgm:prSet loTypeId="urn:microsoft.com/office/officeart/2008/layout/TitledPictureBlocks" loCatId="pictur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852AB6A-8355-42AD-B169-E0D9ECA452C4}">
      <dgm:prSet phldrT="[Text]" custT="1"/>
      <dgm:spPr/>
      <dgm:t>
        <a:bodyPr/>
        <a:lstStyle/>
        <a:p>
          <a:r>
            <a:rPr lang="en-US" sz="2400" b="1" dirty="0" smtClean="0"/>
            <a:t>Mango </a:t>
          </a:r>
          <a:endParaRPr lang="en-US" sz="2400" b="1" dirty="0"/>
        </a:p>
      </dgm:t>
    </dgm:pt>
    <dgm:pt modelId="{7C3B6D8D-5B50-416E-98FF-A31D88690636}" type="parTrans" cxnId="{EB55F31D-97CD-4466-9E5E-C7762E3DC8F0}">
      <dgm:prSet/>
      <dgm:spPr/>
      <dgm:t>
        <a:bodyPr/>
        <a:lstStyle/>
        <a:p>
          <a:endParaRPr lang="en-US"/>
        </a:p>
      </dgm:t>
    </dgm:pt>
    <dgm:pt modelId="{00CBBC44-0AFE-4E7F-909C-4C4EBB26C9B2}" type="sibTrans" cxnId="{EB55F31D-97CD-4466-9E5E-C7762E3DC8F0}">
      <dgm:prSet/>
      <dgm:spPr/>
      <dgm:t>
        <a:bodyPr/>
        <a:lstStyle/>
        <a:p>
          <a:endParaRPr lang="en-US"/>
        </a:p>
      </dgm:t>
    </dgm:pt>
    <dgm:pt modelId="{5ECF917E-B50F-4D93-8748-D33E7F9F9F5B}">
      <dgm:prSet phldrT="[Text]" custT="1"/>
      <dgm:spPr>
        <a:solidFill>
          <a:srgbClr val="FFFF00">
            <a:alpha val="90000"/>
          </a:srgbClr>
        </a:solidFill>
      </dgm:spPr>
      <dgm:t>
        <a:bodyPr/>
        <a:lstStyle/>
        <a:p>
          <a:r>
            <a:rPr lang="en-US" sz="1400" b="1" dirty="0" smtClean="0">
              <a:solidFill>
                <a:schemeClr val="accent5">
                  <a:lumMod val="50000"/>
                </a:schemeClr>
              </a:solidFill>
            </a:rPr>
            <a:t>“ </a:t>
          </a:r>
          <a:r>
            <a:rPr lang="en-US" sz="1400" b="1" dirty="0" err="1" smtClean="0">
              <a:solidFill>
                <a:schemeClr val="accent5">
                  <a:lumMod val="50000"/>
                </a:schemeClr>
              </a:solidFill>
            </a:rPr>
            <a:t>Gir</a:t>
          </a:r>
          <a:r>
            <a:rPr lang="en-US" sz="1400" b="1" dirty="0" smtClean="0">
              <a:solidFill>
                <a:schemeClr val="accent5">
                  <a:lumMod val="50000"/>
                </a:schemeClr>
              </a:solidFill>
            </a:rPr>
            <a:t> </a:t>
          </a:r>
          <a:r>
            <a:rPr lang="en-US" sz="1400" b="1" dirty="0" err="1" smtClean="0">
              <a:solidFill>
                <a:schemeClr val="accent5">
                  <a:lumMod val="50000"/>
                </a:schemeClr>
              </a:solidFill>
            </a:rPr>
            <a:t>Kesar</a:t>
          </a:r>
          <a:r>
            <a:rPr lang="en-US" sz="1400" b="1" dirty="0" smtClean="0">
              <a:solidFill>
                <a:schemeClr val="accent5">
                  <a:lumMod val="50000"/>
                </a:schemeClr>
              </a:solidFill>
            </a:rPr>
            <a:t>” mango, having GI status</a:t>
          </a:r>
          <a:endParaRPr lang="en-US" sz="1400" b="1" dirty="0"/>
        </a:p>
      </dgm:t>
    </dgm:pt>
    <dgm:pt modelId="{2BD4DFBB-3E1C-49A8-90D4-A93D75EFE67F}" type="parTrans" cxnId="{57C668A1-D488-4857-8CFD-92B974942925}">
      <dgm:prSet/>
      <dgm:spPr/>
      <dgm:t>
        <a:bodyPr/>
        <a:lstStyle/>
        <a:p>
          <a:endParaRPr lang="en-US"/>
        </a:p>
      </dgm:t>
    </dgm:pt>
    <dgm:pt modelId="{07F95665-601A-4104-BA8F-027C37AFEBD1}" type="sibTrans" cxnId="{57C668A1-D488-4857-8CFD-92B974942925}">
      <dgm:prSet/>
      <dgm:spPr/>
      <dgm:t>
        <a:bodyPr/>
        <a:lstStyle/>
        <a:p>
          <a:endParaRPr lang="en-US"/>
        </a:p>
      </dgm:t>
    </dgm:pt>
    <dgm:pt modelId="{131CB293-E338-436F-8C9C-05BEBC62614F}">
      <dgm:prSet phldrT="[Text]" custT="1"/>
      <dgm:spPr/>
      <dgm:t>
        <a:bodyPr/>
        <a:lstStyle/>
        <a:p>
          <a:r>
            <a:rPr lang="en-US" sz="2400" b="1" dirty="0" err="1" smtClean="0"/>
            <a:t>Datepalm</a:t>
          </a:r>
          <a:endParaRPr lang="en-US" sz="2400" b="1" dirty="0"/>
        </a:p>
      </dgm:t>
    </dgm:pt>
    <dgm:pt modelId="{18088531-9123-42E9-ABE0-867FC3CA651E}" type="parTrans" cxnId="{4BF584AF-15DA-4D7D-9CCD-58A21E024AC4}">
      <dgm:prSet/>
      <dgm:spPr/>
      <dgm:t>
        <a:bodyPr/>
        <a:lstStyle/>
        <a:p>
          <a:endParaRPr lang="en-US"/>
        </a:p>
      </dgm:t>
    </dgm:pt>
    <dgm:pt modelId="{0229CBCF-62B8-4B4C-8892-5BEB4EFD61F8}" type="sibTrans" cxnId="{4BF584AF-15DA-4D7D-9CCD-58A21E024AC4}">
      <dgm:prSet/>
      <dgm:spPr/>
      <dgm:t>
        <a:bodyPr/>
        <a:lstStyle/>
        <a:p>
          <a:endParaRPr lang="en-US"/>
        </a:p>
      </dgm:t>
    </dgm:pt>
    <dgm:pt modelId="{9381C7BF-B0C3-4F1E-AC64-464A9A89D178}">
      <dgm:prSet phldrT="[Text]" custT="1"/>
      <dgm:spPr>
        <a:solidFill>
          <a:srgbClr val="FFFF00">
            <a:alpha val="90000"/>
          </a:srgbClr>
        </a:solidFill>
      </dgm:spPr>
      <dgm:t>
        <a:bodyPr/>
        <a:lstStyle/>
        <a:p>
          <a:r>
            <a:rPr lang="en-US" sz="1400" b="1" dirty="0" smtClean="0">
              <a:solidFill>
                <a:schemeClr val="accent5">
                  <a:lumMod val="50000"/>
                </a:schemeClr>
              </a:solidFill>
            </a:rPr>
            <a:t>“</a:t>
          </a:r>
          <a:r>
            <a:rPr lang="en-US" sz="1400" b="1" dirty="0" err="1" smtClean="0">
              <a:solidFill>
                <a:schemeClr val="accent5">
                  <a:lumMod val="50000"/>
                </a:schemeClr>
              </a:solidFill>
            </a:rPr>
            <a:t>Kutcchi</a:t>
          </a:r>
          <a:r>
            <a:rPr lang="en-US" sz="1400" b="1" dirty="0" smtClean="0">
              <a:solidFill>
                <a:schemeClr val="accent5">
                  <a:lumMod val="50000"/>
                </a:schemeClr>
              </a:solidFill>
            </a:rPr>
            <a:t>” Date, monopoly of the state</a:t>
          </a:r>
          <a:endParaRPr lang="en-US" sz="1400" b="1" dirty="0"/>
        </a:p>
      </dgm:t>
    </dgm:pt>
    <dgm:pt modelId="{83456A1B-62D6-4541-8816-31A09F28303A}" type="parTrans" cxnId="{90C77F0E-37BB-44E2-B5A8-3D95C4D34E7F}">
      <dgm:prSet/>
      <dgm:spPr/>
      <dgm:t>
        <a:bodyPr/>
        <a:lstStyle/>
        <a:p>
          <a:endParaRPr lang="en-US"/>
        </a:p>
      </dgm:t>
    </dgm:pt>
    <dgm:pt modelId="{DF20E9C1-0AEE-4797-93B4-E3B6F1FF4587}" type="sibTrans" cxnId="{90C77F0E-37BB-44E2-B5A8-3D95C4D34E7F}">
      <dgm:prSet/>
      <dgm:spPr/>
      <dgm:t>
        <a:bodyPr/>
        <a:lstStyle/>
        <a:p>
          <a:endParaRPr lang="en-US"/>
        </a:p>
      </dgm:t>
    </dgm:pt>
    <dgm:pt modelId="{A5B65161-8417-4511-89DF-084259C5FA8E}">
      <dgm:prSet phldrT="[Text]" custT="1"/>
      <dgm:spPr/>
      <dgm:t>
        <a:bodyPr/>
        <a:lstStyle/>
        <a:p>
          <a:r>
            <a:rPr lang="en-US" sz="2400" b="1" dirty="0" smtClean="0"/>
            <a:t>Groundnut</a:t>
          </a:r>
          <a:endParaRPr lang="en-US" sz="2400" b="1" dirty="0"/>
        </a:p>
      </dgm:t>
    </dgm:pt>
    <dgm:pt modelId="{2578A606-DE06-49D2-B28D-5186AC2E8266}" type="parTrans" cxnId="{D426F2CF-9D3D-4409-9CB0-5E7984503274}">
      <dgm:prSet/>
      <dgm:spPr/>
      <dgm:t>
        <a:bodyPr/>
        <a:lstStyle/>
        <a:p>
          <a:endParaRPr lang="en-US"/>
        </a:p>
      </dgm:t>
    </dgm:pt>
    <dgm:pt modelId="{1C9619F8-4F7E-4606-B4B8-731E827DBAA6}" type="sibTrans" cxnId="{D426F2CF-9D3D-4409-9CB0-5E7984503274}">
      <dgm:prSet/>
      <dgm:spPr/>
      <dgm:t>
        <a:bodyPr/>
        <a:lstStyle/>
        <a:p>
          <a:endParaRPr lang="en-US"/>
        </a:p>
      </dgm:t>
    </dgm:pt>
    <dgm:pt modelId="{B0D2506D-F968-46C9-ABB6-C308C465BBCC}">
      <dgm:prSet phldrT="[Text]" custT="1"/>
      <dgm:spPr>
        <a:solidFill>
          <a:srgbClr val="FFFF00">
            <a:alpha val="90000"/>
          </a:srgbClr>
        </a:solidFill>
      </dgm:spPr>
      <dgm:t>
        <a:bodyPr/>
        <a:lstStyle/>
        <a:p>
          <a:r>
            <a:rPr lang="en-US" sz="1400" b="1" dirty="0" smtClean="0">
              <a:solidFill>
                <a:schemeClr val="accent5">
                  <a:lumMod val="50000"/>
                </a:schemeClr>
              </a:solidFill>
            </a:rPr>
            <a:t>47% production of the country  </a:t>
          </a:r>
        </a:p>
        <a:p>
          <a:r>
            <a:rPr lang="en-US" sz="1400" b="1" dirty="0" smtClean="0">
              <a:solidFill>
                <a:srgbClr val="FF0000"/>
              </a:solidFill>
            </a:rPr>
            <a:t>21.63 lakh ha. Area &amp; 41.28 MT Production</a:t>
          </a:r>
          <a:endParaRPr lang="en-US" sz="1400" b="1" dirty="0">
            <a:solidFill>
              <a:schemeClr val="accent5">
                <a:lumMod val="50000"/>
              </a:schemeClr>
            </a:solidFill>
          </a:endParaRPr>
        </a:p>
      </dgm:t>
    </dgm:pt>
    <dgm:pt modelId="{B6DE0157-D4FA-4272-B387-37264C711DFF}" type="parTrans" cxnId="{6183643E-BF7F-41CF-9787-D46A892F66D3}">
      <dgm:prSet/>
      <dgm:spPr/>
      <dgm:t>
        <a:bodyPr/>
        <a:lstStyle/>
        <a:p>
          <a:endParaRPr lang="en-US"/>
        </a:p>
      </dgm:t>
    </dgm:pt>
    <dgm:pt modelId="{C0C76467-3F38-48D8-A123-CF2E1D3F48F5}" type="sibTrans" cxnId="{6183643E-BF7F-41CF-9787-D46A892F66D3}">
      <dgm:prSet/>
      <dgm:spPr/>
      <dgm:t>
        <a:bodyPr/>
        <a:lstStyle/>
        <a:p>
          <a:endParaRPr lang="en-US"/>
        </a:p>
      </dgm:t>
    </dgm:pt>
    <dgm:pt modelId="{C79A68D9-CD99-463C-B9D8-358803F966ED}">
      <dgm:prSet phldrT="[Text]" custT="1"/>
      <dgm:spPr/>
      <dgm:t>
        <a:bodyPr/>
        <a:lstStyle/>
        <a:p>
          <a:r>
            <a:rPr lang="en-US" sz="2400" b="1" dirty="0" smtClean="0"/>
            <a:t>Cotton</a:t>
          </a:r>
          <a:endParaRPr lang="en-US" sz="2400" b="1" dirty="0"/>
        </a:p>
      </dgm:t>
    </dgm:pt>
    <dgm:pt modelId="{3DF58099-2ACC-477D-9B0A-C84AC1B1E7F6}" type="parTrans" cxnId="{5A194C69-67F0-47C1-A1CE-8C53B7C909F1}">
      <dgm:prSet/>
      <dgm:spPr/>
      <dgm:t>
        <a:bodyPr/>
        <a:lstStyle/>
        <a:p>
          <a:endParaRPr lang="en-US"/>
        </a:p>
      </dgm:t>
    </dgm:pt>
    <dgm:pt modelId="{CCA6EB8B-D26D-45C3-AF5D-730AF9B556A5}" type="sibTrans" cxnId="{5A194C69-67F0-47C1-A1CE-8C53B7C909F1}">
      <dgm:prSet/>
      <dgm:spPr/>
      <dgm:t>
        <a:bodyPr/>
        <a:lstStyle/>
        <a:p>
          <a:endParaRPr lang="en-US"/>
        </a:p>
      </dgm:t>
    </dgm:pt>
    <dgm:pt modelId="{0052882C-D141-4EE0-831A-F7A0990E9DDA}">
      <dgm:prSet phldrT="[Text]" custT="1"/>
      <dgm:spPr>
        <a:solidFill>
          <a:srgbClr val="FFFF00">
            <a:alpha val="90000"/>
          </a:srgbClr>
        </a:solidFill>
      </dgm:spPr>
      <dgm:t>
        <a:bodyPr anchor="t"/>
        <a:lstStyle/>
        <a:p>
          <a:r>
            <a:rPr lang="en-US" sz="1400" b="1" dirty="0" smtClean="0">
              <a:solidFill>
                <a:schemeClr val="accent5">
                  <a:lumMod val="50000"/>
                </a:schemeClr>
              </a:solidFill>
            </a:rPr>
            <a:t>77% production in country</a:t>
          </a:r>
          <a:endParaRPr lang="en-US" sz="1100" b="1" strike="sngStrike" dirty="0"/>
        </a:p>
      </dgm:t>
    </dgm:pt>
    <dgm:pt modelId="{7CEBDBB1-483E-4BE0-AB3D-174427F65878}" type="parTrans" cxnId="{B76226BC-DE58-4979-A58C-AD4598E378BE}">
      <dgm:prSet/>
      <dgm:spPr/>
      <dgm:t>
        <a:bodyPr/>
        <a:lstStyle/>
        <a:p>
          <a:endParaRPr lang="en-US"/>
        </a:p>
      </dgm:t>
    </dgm:pt>
    <dgm:pt modelId="{0CB584ED-D2D6-4FCB-996A-15E22BDC050B}" type="sibTrans" cxnId="{B76226BC-DE58-4979-A58C-AD4598E378BE}">
      <dgm:prSet/>
      <dgm:spPr/>
      <dgm:t>
        <a:bodyPr/>
        <a:lstStyle/>
        <a:p>
          <a:endParaRPr lang="en-US"/>
        </a:p>
      </dgm:t>
    </dgm:pt>
    <dgm:pt modelId="{87BBAE2E-DB77-4DB1-AE8E-A7F4D6470F22}">
      <dgm:prSet phldrT="[Text]" custT="1"/>
      <dgm:spPr>
        <a:solidFill>
          <a:srgbClr val="FFFF00">
            <a:alpha val="90000"/>
          </a:srgbClr>
        </a:solidFill>
      </dgm:spPr>
      <dgm:t>
        <a:bodyPr/>
        <a:lstStyle/>
        <a:p>
          <a:r>
            <a:rPr lang="en-US" sz="1400" dirty="0" smtClean="0">
              <a:solidFill>
                <a:schemeClr val="accent5">
                  <a:lumMod val="50000"/>
                </a:schemeClr>
              </a:solidFill>
            </a:rPr>
            <a:t>1/3 production of the </a:t>
          </a:r>
          <a:r>
            <a:rPr lang="en-US" sz="1400" b="1" dirty="0" smtClean="0">
              <a:solidFill>
                <a:schemeClr val="accent5">
                  <a:lumMod val="50000"/>
                </a:schemeClr>
              </a:solidFill>
            </a:rPr>
            <a:t>country</a:t>
          </a:r>
          <a:endParaRPr lang="en-US" sz="1400" b="1" dirty="0"/>
        </a:p>
      </dgm:t>
    </dgm:pt>
    <dgm:pt modelId="{EFA34EC4-2755-4592-9B2E-A742461CF507}" type="parTrans" cxnId="{00F4B02A-A110-498D-9C3E-6F318C03D577}">
      <dgm:prSet/>
      <dgm:spPr/>
      <dgm:t>
        <a:bodyPr/>
        <a:lstStyle/>
        <a:p>
          <a:endParaRPr lang="en-US"/>
        </a:p>
      </dgm:t>
    </dgm:pt>
    <dgm:pt modelId="{5BC800F3-46B6-40D5-9C4E-88EC96F0BCFF}" type="sibTrans" cxnId="{00F4B02A-A110-498D-9C3E-6F318C03D577}">
      <dgm:prSet/>
      <dgm:spPr/>
      <dgm:t>
        <a:bodyPr/>
        <a:lstStyle/>
        <a:p>
          <a:endParaRPr lang="en-US"/>
        </a:p>
      </dgm:t>
    </dgm:pt>
    <dgm:pt modelId="{3BE78262-1F75-4118-AE9D-C6D0CF10BCC7}">
      <dgm:prSet phldrT="[Text]" custT="1"/>
      <dgm:spPr/>
      <dgm:t>
        <a:bodyPr/>
        <a:lstStyle/>
        <a:p>
          <a:r>
            <a:rPr lang="en-US" sz="2400" b="1" dirty="0" smtClean="0"/>
            <a:t>Castor</a:t>
          </a:r>
          <a:endParaRPr lang="en-US" sz="2400" b="1" dirty="0"/>
        </a:p>
      </dgm:t>
    </dgm:pt>
    <dgm:pt modelId="{D06CAD28-DBA0-4C0C-BC94-7EC02ABA5A84}" type="parTrans" cxnId="{A3DA0A53-17E1-4B07-B59E-A7C7530494DE}">
      <dgm:prSet/>
      <dgm:spPr/>
      <dgm:t>
        <a:bodyPr/>
        <a:lstStyle/>
        <a:p>
          <a:endParaRPr lang="en-US"/>
        </a:p>
      </dgm:t>
    </dgm:pt>
    <dgm:pt modelId="{AF8C3DE4-1253-4C60-B499-2CADFF8EE48C}" type="sibTrans" cxnId="{A3DA0A53-17E1-4B07-B59E-A7C7530494DE}">
      <dgm:prSet/>
      <dgm:spPr/>
      <dgm:t>
        <a:bodyPr/>
        <a:lstStyle/>
        <a:p>
          <a:endParaRPr lang="en-US"/>
        </a:p>
      </dgm:t>
    </dgm:pt>
    <dgm:pt modelId="{E8495275-7220-4089-941F-41D81250B6F8}">
      <dgm:prSet custT="1"/>
      <dgm:spPr>
        <a:solidFill>
          <a:srgbClr val="FFFF00">
            <a:alpha val="90000"/>
          </a:srgbClr>
        </a:solidFill>
      </dgm:spPr>
      <dgm:t>
        <a:bodyPr/>
        <a:lstStyle/>
        <a:p>
          <a:r>
            <a:rPr lang="en-US" sz="1400" b="1" dirty="0" smtClean="0">
              <a:solidFill>
                <a:schemeClr val="accent5">
                  <a:lumMod val="50000"/>
                </a:schemeClr>
              </a:solidFill>
            </a:rPr>
            <a:t>12.22 Lakh MT Production  from 1.66 lakh ha.</a:t>
          </a:r>
          <a:endParaRPr lang="en-US" sz="1400" b="1" dirty="0">
            <a:solidFill>
              <a:schemeClr val="accent5">
                <a:lumMod val="50000"/>
              </a:schemeClr>
            </a:solidFill>
          </a:endParaRPr>
        </a:p>
      </dgm:t>
    </dgm:pt>
    <dgm:pt modelId="{E4760B0F-C3F7-40FE-81EC-758285F86796}" type="parTrans" cxnId="{EB9042C7-DB26-46E4-BB66-224D0809BD5F}">
      <dgm:prSet/>
      <dgm:spPr/>
      <dgm:t>
        <a:bodyPr/>
        <a:lstStyle/>
        <a:p>
          <a:endParaRPr lang="en-US"/>
        </a:p>
      </dgm:t>
    </dgm:pt>
    <dgm:pt modelId="{64A2001C-4970-4E67-A0F8-25AEB574CD01}" type="sibTrans" cxnId="{EB9042C7-DB26-46E4-BB66-224D0809BD5F}">
      <dgm:prSet/>
      <dgm:spPr/>
      <dgm:t>
        <a:bodyPr/>
        <a:lstStyle/>
        <a:p>
          <a:endParaRPr lang="en-US"/>
        </a:p>
      </dgm:t>
    </dgm:pt>
    <dgm:pt modelId="{FB65DAEC-BEEC-4581-A82A-268CF4F7FD33}">
      <dgm:prSet custT="1"/>
      <dgm:spPr>
        <a:solidFill>
          <a:srgbClr val="FFFF00">
            <a:alpha val="90000"/>
          </a:srgbClr>
        </a:solidFill>
      </dgm:spPr>
      <dgm:t>
        <a:bodyPr/>
        <a:lstStyle/>
        <a:p>
          <a:r>
            <a:rPr lang="en-US" sz="1400" b="1" dirty="0" smtClean="0">
              <a:solidFill>
                <a:schemeClr val="accent5">
                  <a:lumMod val="50000"/>
                </a:schemeClr>
              </a:solidFill>
            </a:rPr>
            <a:t>1.84 Lakh MT Production with yield of 9.30 MT/ha. </a:t>
          </a:r>
          <a:endParaRPr lang="en-US" sz="1400" b="1" dirty="0">
            <a:solidFill>
              <a:schemeClr val="accent5">
                <a:lumMod val="50000"/>
              </a:schemeClr>
            </a:solidFill>
          </a:endParaRPr>
        </a:p>
      </dgm:t>
    </dgm:pt>
    <dgm:pt modelId="{5D9FD235-45DC-4154-BABA-85934CA88C81}" type="parTrans" cxnId="{2E778907-BD8E-419E-A631-E896ADA9439D}">
      <dgm:prSet/>
      <dgm:spPr/>
      <dgm:t>
        <a:bodyPr/>
        <a:lstStyle/>
        <a:p>
          <a:endParaRPr lang="en-US"/>
        </a:p>
      </dgm:t>
    </dgm:pt>
    <dgm:pt modelId="{2B315567-FA67-48E7-8CEB-2B664D9C48CC}" type="sibTrans" cxnId="{2E778907-BD8E-419E-A631-E896ADA9439D}">
      <dgm:prSet/>
      <dgm:spPr/>
      <dgm:t>
        <a:bodyPr/>
        <a:lstStyle/>
        <a:p>
          <a:endParaRPr lang="en-US"/>
        </a:p>
      </dgm:t>
    </dgm:pt>
    <dgm:pt modelId="{11E6139A-6A52-414A-A864-5C57BB9A9B0D}">
      <dgm:prSet custT="1"/>
      <dgm:spPr>
        <a:solidFill>
          <a:srgbClr val="FFFF00">
            <a:alpha val="90000"/>
          </a:srgbClr>
        </a:solidFill>
      </dgm:spPr>
      <dgm:t>
        <a:bodyPr anchor="t"/>
        <a:lstStyle/>
        <a:p>
          <a:endParaRPr lang="en-US" sz="1400" b="1" dirty="0">
            <a:solidFill>
              <a:schemeClr val="accent5">
                <a:lumMod val="50000"/>
              </a:schemeClr>
            </a:solidFill>
          </a:endParaRPr>
        </a:p>
      </dgm:t>
    </dgm:pt>
    <dgm:pt modelId="{E39C47DF-F762-4A81-B516-BE195D0972E8}" type="parTrans" cxnId="{8FF828B9-4CC1-445A-AC80-DAB6D83BC855}">
      <dgm:prSet/>
      <dgm:spPr/>
      <dgm:t>
        <a:bodyPr/>
        <a:lstStyle/>
        <a:p>
          <a:endParaRPr lang="en-US"/>
        </a:p>
      </dgm:t>
    </dgm:pt>
    <dgm:pt modelId="{0416ED4F-1E75-4341-96F4-DD64C190300F}" type="sibTrans" cxnId="{8FF828B9-4CC1-445A-AC80-DAB6D83BC855}">
      <dgm:prSet/>
      <dgm:spPr/>
      <dgm:t>
        <a:bodyPr/>
        <a:lstStyle/>
        <a:p>
          <a:endParaRPr lang="en-US"/>
        </a:p>
      </dgm:t>
    </dgm:pt>
    <dgm:pt modelId="{DFAC5CB0-5426-4A75-99C3-EDEA9A92D6DC}">
      <dgm:prSet phldrT="[Text]" custT="1"/>
      <dgm:spPr>
        <a:solidFill>
          <a:srgbClr val="FFFF00">
            <a:alpha val="90000"/>
          </a:srgbClr>
        </a:solidFill>
      </dgm:spPr>
      <dgm:t>
        <a:bodyPr/>
        <a:lstStyle/>
        <a:p>
          <a:r>
            <a:rPr lang="en-US" sz="1400" dirty="0" smtClean="0">
              <a:solidFill>
                <a:srgbClr val="FF0000"/>
              </a:solidFill>
            </a:rPr>
            <a:t>22.70  lakh ha. &amp; 72.70 lakh bales production</a:t>
          </a:r>
          <a:endParaRPr lang="en-US" sz="1400" dirty="0">
            <a:solidFill>
              <a:srgbClr val="FF0000"/>
            </a:solidFill>
          </a:endParaRPr>
        </a:p>
      </dgm:t>
    </dgm:pt>
    <dgm:pt modelId="{34563392-CA85-4D10-A74C-432FE550BEEB}" type="parTrans" cxnId="{E3BF0E01-91E1-4C28-A690-E5FB52B45CFB}">
      <dgm:prSet/>
      <dgm:spPr/>
      <dgm:t>
        <a:bodyPr/>
        <a:lstStyle/>
        <a:p>
          <a:endParaRPr lang="en-US"/>
        </a:p>
      </dgm:t>
    </dgm:pt>
    <dgm:pt modelId="{AF4D7E92-A275-44B4-B89B-0B246C7FEB68}" type="sibTrans" cxnId="{E3BF0E01-91E1-4C28-A690-E5FB52B45CFB}">
      <dgm:prSet/>
      <dgm:spPr/>
      <dgm:t>
        <a:bodyPr/>
        <a:lstStyle/>
        <a:p>
          <a:endParaRPr lang="en-US"/>
        </a:p>
      </dgm:t>
    </dgm:pt>
    <dgm:pt modelId="{026074F8-82BD-4DA2-8980-EB644EEEB693}">
      <dgm:prSet custT="1"/>
      <dgm:spPr>
        <a:solidFill>
          <a:srgbClr val="FFFF00">
            <a:alpha val="90000"/>
          </a:srgbClr>
        </a:solidFill>
      </dgm:spPr>
      <dgm:t>
        <a:bodyPr anchor="t"/>
        <a:lstStyle/>
        <a:p>
          <a:r>
            <a:rPr lang="en-US" sz="1400" b="1" dirty="0" smtClean="0">
              <a:solidFill>
                <a:srgbClr val="FF0000"/>
              </a:solidFill>
            </a:rPr>
            <a:t>6.51 lakh ha. &amp; 13.46 lakh MT Production.</a:t>
          </a:r>
          <a:endParaRPr lang="en-US" sz="1400" b="1" dirty="0">
            <a:solidFill>
              <a:srgbClr val="FF0000"/>
            </a:solidFill>
          </a:endParaRPr>
        </a:p>
      </dgm:t>
    </dgm:pt>
    <dgm:pt modelId="{FA67880C-8059-418A-9007-74F61522B73A}" type="parTrans" cxnId="{046112F4-4317-4A94-9538-DF94F3EAE61C}">
      <dgm:prSet/>
      <dgm:spPr/>
      <dgm:t>
        <a:bodyPr/>
        <a:lstStyle/>
        <a:p>
          <a:endParaRPr lang="en-US"/>
        </a:p>
      </dgm:t>
    </dgm:pt>
    <dgm:pt modelId="{7680EA5F-DE46-4F09-92B6-C20E8C3307B7}" type="sibTrans" cxnId="{046112F4-4317-4A94-9538-DF94F3EAE61C}">
      <dgm:prSet/>
      <dgm:spPr/>
      <dgm:t>
        <a:bodyPr/>
        <a:lstStyle/>
        <a:p>
          <a:endParaRPr lang="en-US"/>
        </a:p>
      </dgm:t>
    </dgm:pt>
    <dgm:pt modelId="{40AE1BCE-448D-4263-BA60-CB37F11A1842}" type="pres">
      <dgm:prSet presAssocID="{7249AAB8-A285-4A5E-BE6C-9C147A64CBC8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3F69F0F9-430E-4D11-8F5B-6EF7ACCE4698}" type="pres">
      <dgm:prSet presAssocID="{E852AB6A-8355-42AD-B169-E0D9ECA452C4}" presName="composite" presStyleCnt="0"/>
      <dgm:spPr/>
    </dgm:pt>
    <dgm:pt modelId="{2DCDDEEB-4519-45C1-897C-403DBF4F91D2}" type="pres">
      <dgm:prSet presAssocID="{E852AB6A-8355-42AD-B169-E0D9ECA452C4}" presName="ParentText" presStyleLbl="node1" presStyleIdx="0" presStyleCnt="5" custScaleY="166433" custLinFactX="17113" custLinFactY="390820" custLinFactNeighborX="100000" custLinFactNeighborY="40000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E333BF-A950-4406-9EE0-FFD4EAC3CA0D}" type="pres">
      <dgm:prSet presAssocID="{E852AB6A-8355-42AD-B169-E0D9ECA452C4}" presName="Image" presStyleLbl="bgImgPlace1" presStyleIdx="0" presStyleCnt="5" custLinFactY="40497" custLinFactNeighborX="72293" custLinFactNeighborY="100000"/>
      <dgm:spPr>
        <a:blipFill>
          <a:blip xmlns:r="http://schemas.openxmlformats.org/officeDocument/2006/relationships" r:embed="rId1">
            <a:extLst/>
          </a:blip>
          <a:srcRect/>
          <a:stretch>
            <a:fillRect t="-43000" b="-43000"/>
          </a:stretch>
        </a:blipFill>
      </dgm:spPr>
      <dgm:t>
        <a:bodyPr/>
        <a:lstStyle/>
        <a:p>
          <a:endParaRPr lang="en-US"/>
        </a:p>
      </dgm:t>
    </dgm:pt>
    <dgm:pt modelId="{365ACAD0-EEDD-4135-ADE9-68B81952998C}" type="pres">
      <dgm:prSet presAssocID="{E852AB6A-8355-42AD-B169-E0D9ECA452C4}" presName="ChildText" presStyleLbl="fgAcc1" presStyleIdx="0" presStyleCnt="5" custScaleX="116075" custScaleY="168422" custLinFactX="86616" custLinFactY="100000" custLinFactNeighborX="100000" custLinFactNeighborY="1530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028621-C83C-4F70-9A82-815E10785B41}" type="pres">
      <dgm:prSet presAssocID="{00CBBC44-0AFE-4E7F-909C-4C4EBB26C9B2}" presName="sibTrans" presStyleCnt="0"/>
      <dgm:spPr/>
    </dgm:pt>
    <dgm:pt modelId="{DB1E91B9-96EF-4B2B-8D9D-C788FE6A819E}" type="pres">
      <dgm:prSet presAssocID="{131CB293-E338-436F-8C9C-05BEBC62614F}" presName="composite" presStyleCnt="0"/>
      <dgm:spPr/>
    </dgm:pt>
    <dgm:pt modelId="{6EF69702-FD0A-42BB-9EE3-49055EDF2C76}" type="pres">
      <dgm:prSet presAssocID="{131CB293-E338-436F-8C9C-05BEBC62614F}" presName="ParentText" presStyleLbl="node1" presStyleIdx="1" presStyleCnt="5" custScaleY="166433" custLinFactX="21929" custLinFactY="388282" custLinFactNeighborX="100000" custLinFactNeighborY="40000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DDC48E-FBC0-42A5-9FC9-EE609EEE1486}" type="pres">
      <dgm:prSet presAssocID="{131CB293-E338-436F-8C9C-05BEBC62614F}" presName="Image" presStyleLbl="bgImgPlace1" presStyleIdx="1" presStyleCnt="5" custLinFactY="39237" custLinFactNeighborX="91925" custLinFactNeighborY="100000"/>
      <dgm:spPr>
        <a:blipFill>
          <a:blip xmlns:r="http://schemas.openxmlformats.org/officeDocument/2006/relationships" r:embed="rId2">
            <a:extLst/>
          </a:blip>
          <a:srcRect/>
          <a:stretch>
            <a:fillRect t="-36000" b="-36000"/>
          </a:stretch>
        </a:blipFill>
      </dgm:spPr>
      <dgm:t>
        <a:bodyPr/>
        <a:lstStyle/>
        <a:p>
          <a:endParaRPr lang="en-US"/>
        </a:p>
      </dgm:t>
    </dgm:pt>
    <dgm:pt modelId="{8704914D-801B-426E-9FC7-B6045213DB3D}" type="pres">
      <dgm:prSet presAssocID="{131CB293-E338-436F-8C9C-05BEBC62614F}" presName="ChildText" presStyleLbl="fgAcc1" presStyleIdx="1" presStyleCnt="5" custScaleX="116075" custScaleY="168422" custLinFactX="100000" custLinFactY="100000" custLinFactNeighborX="127371" custLinFactNeighborY="14864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2068BF-3043-4EAE-A89F-E065A0704339}" type="pres">
      <dgm:prSet presAssocID="{0229CBCF-62B8-4B4C-8892-5BEB4EFD61F8}" presName="sibTrans" presStyleCnt="0"/>
      <dgm:spPr/>
    </dgm:pt>
    <dgm:pt modelId="{69DD4FCC-E43D-4377-B2D4-B861DB97653D}" type="pres">
      <dgm:prSet presAssocID="{A5B65161-8417-4511-89DF-084259C5FA8E}" presName="composite" presStyleCnt="0"/>
      <dgm:spPr/>
    </dgm:pt>
    <dgm:pt modelId="{4EFF84DC-B633-4697-90DB-3E1BD81DCF44}" type="pres">
      <dgm:prSet presAssocID="{A5B65161-8417-4511-89DF-084259C5FA8E}" presName="ParentText" presStyleLbl="node1" presStyleIdx="2" presStyleCnt="5" custScaleY="166433" custLinFactNeighborX="39095" custLinFactNeighborY="-2924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8BCAB6-AB25-4A90-94A8-1145D4A65AD3}" type="pres">
      <dgm:prSet presAssocID="{A5B65161-8417-4511-89DF-084259C5FA8E}" presName="Image" presStyleLbl="bgImgPlace1" presStyleIdx="2" presStyleCnt="5" custScaleX="95597" custLinFactNeighborX="942" custLinFactNeighborY="-19094"/>
      <dgm:spPr>
        <a:blipFill>
          <a:blip xmlns:r="http://schemas.openxmlformats.org/officeDocument/2006/relationships" r:embed="rId3">
            <a:extLst/>
          </a:blip>
          <a:srcRect/>
          <a:stretch>
            <a:fillRect l="-7000" r="-7000"/>
          </a:stretch>
        </a:blipFill>
      </dgm:spPr>
      <dgm:t>
        <a:bodyPr/>
        <a:lstStyle/>
        <a:p>
          <a:endParaRPr lang="en-US"/>
        </a:p>
      </dgm:t>
    </dgm:pt>
    <dgm:pt modelId="{DE51D4BD-3026-4C8B-A088-25A4C73D080D}" type="pres">
      <dgm:prSet presAssocID="{A5B65161-8417-4511-89DF-084259C5FA8E}" presName="ChildText" presStyleLbl="fgAcc1" presStyleIdx="2" presStyleCnt="5" custScaleX="116075" custScaleY="145356" custLinFactNeighborX="34459" custLinFactNeighborY="-428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48693F-AAC5-4B76-9EDD-41B0643EBCBA}" type="pres">
      <dgm:prSet presAssocID="{1C9619F8-4F7E-4606-B4B8-731E827DBAA6}" presName="sibTrans" presStyleCnt="0"/>
      <dgm:spPr/>
    </dgm:pt>
    <dgm:pt modelId="{41937E2F-0814-427C-B3CA-7A77B9C1977E}" type="pres">
      <dgm:prSet presAssocID="{C79A68D9-CD99-463C-B9D8-358803F966ED}" presName="composite" presStyleCnt="0"/>
      <dgm:spPr/>
    </dgm:pt>
    <dgm:pt modelId="{190DB6BE-C7E4-4DE4-AC6C-CCFCBAAB043C}" type="pres">
      <dgm:prSet presAssocID="{C79A68D9-CD99-463C-B9D8-358803F966ED}" presName="ParentText" presStyleLbl="node1" presStyleIdx="3" presStyleCnt="5" custScaleX="71943" custScaleY="166433" custLinFactY="-400000" custLinFactNeighborX="-50906" custLinFactNeighborY="-44799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83F43D-CD02-4AA2-B629-DCFD06126048}" type="pres">
      <dgm:prSet presAssocID="{C79A68D9-CD99-463C-B9D8-358803F966ED}" presName="Image" presStyleLbl="bgImgPlace1" presStyleIdx="3" presStyleCnt="5" custScaleX="81911" custScaleY="87071" custLinFactY="-47819" custLinFactNeighborX="-83191" custLinFactNeighborY="-100000"/>
      <dgm:spPr>
        <a:blipFill>
          <a:blip xmlns:r="http://schemas.openxmlformats.org/officeDocument/2006/relationships" r:embed="rId4">
            <a:extLst/>
          </a:blip>
          <a:srcRect/>
          <a:stretch>
            <a:fillRect t="-4000" b="-4000"/>
          </a:stretch>
        </a:blipFill>
      </dgm:spPr>
      <dgm:t>
        <a:bodyPr/>
        <a:lstStyle/>
        <a:p>
          <a:endParaRPr lang="en-US"/>
        </a:p>
      </dgm:t>
    </dgm:pt>
    <dgm:pt modelId="{E6E43F21-A116-483B-8E09-BC9BB2D3EC6B}" type="pres">
      <dgm:prSet presAssocID="{C79A68D9-CD99-463C-B9D8-358803F966ED}" presName="ChildText" presStyleLbl="fgAcc1" presStyleIdx="3" presStyleCnt="5" custScaleX="116075" custScaleY="148175" custLinFactX="-58051" custLinFactY="-100000" custLinFactNeighborX="-100000" custLinFactNeighborY="-14145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AD0E23-C2C3-4E88-AAFA-26EB27DAEFE0}" type="pres">
      <dgm:prSet presAssocID="{CCA6EB8B-D26D-45C3-AF5D-730AF9B556A5}" presName="sibTrans" presStyleCnt="0"/>
      <dgm:spPr/>
    </dgm:pt>
    <dgm:pt modelId="{D748213E-7B5E-4C8F-8BB6-8C1B95A98ACA}" type="pres">
      <dgm:prSet presAssocID="{3BE78262-1F75-4118-AE9D-C6D0CF10BCC7}" presName="composite" presStyleCnt="0"/>
      <dgm:spPr/>
    </dgm:pt>
    <dgm:pt modelId="{1D87619B-3D79-40DE-9C6A-140255A4BDA6}" type="pres">
      <dgm:prSet presAssocID="{3BE78262-1F75-4118-AE9D-C6D0CF10BCC7}" presName="ParentText" presStyleLbl="node1" presStyleIdx="4" presStyleCnt="5" custScaleX="76043" custScaleY="166433" custLinFactY="-400000" custLinFactNeighborX="-52047" custLinFactNeighborY="-45051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33EFC1-AB38-41B7-B06B-21E2DA24ABCE}" type="pres">
      <dgm:prSet presAssocID="{3BE78262-1F75-4118-AE9D-C6D0CF10BCC7}" presName="Image" presStyleLbl="bgImgPlace1" presStyleIdx="4" presStyleCnt="5" custScaleX="84794" custScaleY="86713" custLinFactY="-48661" custLinFactNeighborX="-79019" custLinFactNeighborY="-100000"/>
      <dgm:spPr>
        <a:blipFill>
          <a:blip xmlns:r="http://schemas.openxmlformats.org/officeDocument/2006/relationships" r:embed="rId5">
            <a:extLst/>
          </a:blip>
          <a:srcRect/>
          <a:stretch>
            <a:fillRect t="-29000" b="-29000"/>
          </a:stretch>
        </a:blipFill>
      </dgm:spPr>
      <dgm:t>
        <a:bodyPr/>
        <a:lstStyle/>
        <a:p>
          <a:endParaRPr lang="en-US"/>
        </a:p>
      </dgm:t>
    </dgm:pt>
    <dgm:pt modelId="{07530A38-4830-4C29-B061-458674F49ACF}" type="pres">
      <dgm:prSet presAssocID="{3BE78262-1F75-4118-AE9D-C6D0CF10BCC7}" presName="ChildText" presStyleLbl="fgAcc1" presStyleIdx="4" presStyleCnt="5" custScaleX="130959" custScaleY="148602" custLinFactX="-40429" custLinFactY="-100000" custLinFactNeighborX="-100000" custLinFactNeighborY="-14244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6FF865-5011-42D2-94A3-C69E97848497}" type="presOf" srcId="{7249AAB8-A285-4A5E-BE6C-9C147A64CBC8}" destId="{40AE1BCE-448D-4263-BA60-CB37F11A1842}" srcOrd="0" destOrd="0" presId="urn:microsoft.com/office/officeart/2008/layout/TitledPictureBlocks"/>
    <dgm:cxn modelId="{B76226BC-DE58-4979-A58C-AD4598E378BE}" srcId="{3BE78262-1F75-4118-AE9D-C6D0CF10BCC7}" destId="{0052882C-D141-4EE0-831A-F7A0990E9DDA}" srcOrd="0" destOrd="0" parTransId="{7CEBDBB1-483E-4BE0-AB3D-174427F65878}" sibTransId="{0CB584ED-D2D6-4FCB-996A-15E22BDC050B}"/>
    <dgm:cxn modelId="{876F8727-A18D-441D-A557-4B5A1AC454D2}" type="presOf" srcId="{5ECF917E-B50F-4D93-8748-D33E7F9F9F5B}" destId="{365ACAD0-EEDD-4135-ADE9-68B81952998C}" srcOrd="0" destOrd="0" presId="urn:microsoft.com/office/officeart/2008/layout/TitledPictureBlocks"/>
    <dgm:cxn modelId="{80F2300F-746E-42C0-89B9-3A286D652250}" type="presOf" srcId="{3BE78262-1F75-4118-AE9D-C6D0CF10BCC7}" destId="{1D87619B-3D79-40DE-9C6A-140255A4BDA6}" srcOrd="0" destOrd="0" presId="urn:microsoft.com/office/officeart/2008/layout/TitledPictureBlocks"/>
    <dgm:cxn modelId="{E411009B-8C7A-42E7-AA4E-E5DCEDBC5D3B}" type="presOf" srcId="{131CB293-E338-436F-8C9C-05BEBC62614F}" destId="{6EF69702-FD0A-42BB-9EE3-49055EDF2C76}" srcOrd="0" destOrd="0" presId="urn:microsoft.com/office/officeart/2008/layout/TitledPictureBlocks"/>
    <dgm:cxn modelId="{4BF584AF-15DA-4D7D-9CCD-58A21E024AC4}" srcId="{7249AAB8-A285-4A5E-BE6C-9C147A64CBC8}" destId="{131CB293-E338-436F-8C9C-05BEBC62614F}" srcOrd="1" destOrd="0" parTransId="{18088531-9123-42E9-ABE0-867FC3CA651E}" sibTransId="{0229CBCF-62B8-4B4C-8892-5BEB4EFD61F8}"/>
    <dgm:cxn modelId="{046112F4-4317-4A94-9538-DF94F3EAE61C}" srcId="{3BE78262-1F75-4118-AE9D-C6D0CF10BCC7}" destId="{026074F8-82BD-4DA2-8980-EB644EEEB693}" srcOrd="1" destOrd="0" parTransId="{FA67880C-8059-418A-9007-74F61522B73A}" sibTransId="{7680EA5F-DE46-4F09-92B6-C20E8C3307B7}"/>
    <dgm:cxn modelId="{D70C5B97-4051-4DB0-8C93-F11B7B4B0AEF}" type="presOf" srcId="{0052882C-D141-4EE0-831A-F7A0990E9DDA}" destId="{07530A38-4830-4C29-B061-458674F49ACF}" srcOrd="0" destOrd="0" presId="urn:microsoft.com/office/officeart/2008/layout/TitledPictureBlocks"/>
    <dgm:cxn modelId="{45F9B91F-4797-43A8-BD6C-E9D3381BF03B}" type="presOf" srcId="{DFAC5CB0-5426-4A75-99C3-EDEA9A92D6DC}" destId="{E6E43F21-A116-483B-8E09-BC9BB2D3EC6B}" srcOrd="0" destOrd="1" presId="urn:microsoft.com/office/officeart/2008/layout/TitledPictureBlocks"/>
    <dgm:cxn modelId="{E3BF0E01-91E1-4C28-A690-E5FB52B45CFB}" srcId="{C79A68D9-CD99-463C-B9D8-358803F966ED}" destId="{DFAC5CB0-5426-4A75-99C3-EDEA9A92D6DC}" srcOrd="1" destOrd="0" parTransId="{34563392-CA85-4D10-A74C-432FE550BEEB}" sibTransId="{AF4D7E92-A275-44B4-B89B-0B246C7FEB68}"/>
    <dgm:cxn modelId="{005419CA-B842-4B64-B072-A344E22F9E7B}" type="presOf" srcId="{E8495275-7220-4089-941F-41D81250B6F8}" destId="{365ACAD0-EEDD-4135-ADE9-68B81952998C}" srcOrd="0" destOrd="1" presId="urn:microsoft.com/office/officeart/2008/layout/TitledPictureBlocks"/>
    <dgm:cxn modelId="{5A194C69-67F0-47C1-A1CE-8C53B7C909F1}" srcId="{7249AAB8-A285-4A5E-BE6C-9C147A64CBC8}" destId="{C79A68D9-CD99-463C-B9D8-358803F966ED}" srcOrd="3" destOrd="0" parTransId="{3DF58099-2ACC-477D-9B0A-C84AC1B1E7F6}" sibTransId="{CCA6EB8B-D26D-45C3-AF5D-730AF9B556A5}"/>
    <dgm:cxn modelId="{EB9042C7-DB26-46E4-BB66-224D0809BD5F}" srcId="{E852AB6A-8355-42AD-B169-E0D9ECA452C4}" destId="{E8495275-7220-4089-941F-41D81250B6F8}" srcOrd="1" destOrd="0" parTransId="{E4760B0F-C3F7-40FE-81EC-758285F86796}" sibTransId="{64A2001C-4970-4E67-A0F8-25AEB574CD01}"/>
    <dgm:cxn modelId="{7D733B24-B085-4E14-B525-3322A218AA45}" type="presOf" srcId="{026074F8-82BD-4DA2-8980-EB644EEEB693}" destId="{07530A38-4830-4C29-B061-458674F49ACF}" srcOrd="0" destOrd="1" presId="urn:microsoft.com/office/officeart/2008/layout/TitledPictureBlocks"/>
    <dgm:cxn modelId="{A3DA0A53-17E1-4B07-B59E-A7C7530494DE}" srcId="{7249AAB8-A285-4A5E-BE6C-9C147A64CBC8}" destId="{3BE78262-1F75-4118-AE9D-C6D0CF10BCC7}" srcOrd="4" destOrd="0" parTransId="{D06CAD28-DBA0-4C0C-BC94-7EC02ABA5A84}" sibTransId="{AF8C3DE4-1253-4C60-B499-2CADFF8EE48C}"/>
    <dgm:cxn modelId="{EB55F31D-97CD-4466-9E5E-C7762E3DC8F0}" srcId="{7249AAB8-A285-4A5E-BE6C-9C147A64CBC8}" destId="{E852AB6A-8355-42AD-B169-E0D9ECA452C4}" srcOrd="0" destOrd="0" parTransId="{7C3B6D8D-5B50-416E-98FF-A31D88690636}" sibTransId="{00CBBC44-0AFE-4E7F-909C-4C4EBB26C9B2}"/>
    <dgm:cxn modelId="{00F4B02A-A110-498D-9C3E-6F318C03D577}" srcId="{C79A68D9-CD99-463C-B9D8-358803F966ED}" destId="{87BBAE2E-DB77-4DB1-AE8E-A7F4D6470F22}" srcOrd="0" destOrd="0" parTransId="{EFA34EC4-2755-4592-9B2E-A742461CF507}" sibTransId="{5BC800F3-46B6-40D5-9C4E-88EC96F0BCFF}"/>
    <dgm:cxn modelId="{5FE81CE5-7150-4967-91CE-69BE8087CE67}" type="presOf" srcId="{C79A68D9-CD99-463C-B9D8-358803F966ED}" destId="{190DB6BE-C7E4-4DE4-AC6C-CCFCBAAB043C}" srcOrd="0" destOrd="0" presId="urn:microsoft.com/office/officeart/2008/layout/TitledPictureBlocks"/>
    <dgm:cxn modelId="{A07AE4C2-09E4-4A4E-B6BF-D16E1083F578}" type="presOf" srcId="{87BBAE2E-DB77-4DB1-AE8E-A7F4D6470F22}" destId="{E6E43F21-A116-483B-8E09-BC9BB2D3EC6B}" srcOrd="0" destOrd="0" presId="urn:microsoft.com/office/officeart/2008/layout/TitledPictureBlocks"/>
    <dgm:cxn modelId="{6183643E-BF7F-41CF-9787-D46A892F66D3}" srcId="{A5B65161-8417-4511-89DF-084259C5FA8E}" destId="{B0D2506D-F968-46C9-ABB6-C308C465BBCC}" srcOrd="0" destOrd="0" parTransId="{B6DE0157-D4FA-4272-B387-37264C711DFF}" sibTransId="{C0C76467-3F38-48D8-A123-CF2E1D3F48F5}"/>
    <dgm:cxn modelId="{2E778907-BD8E-419E-A631-E896ADA9439D}" srcId="{131CB293-E338-436F-8C9C-05BEBC62614F}" destId="{FB65DAEC-BEEC-4581-A82A-268CF4F7FD33}" srcOrd="1" destOrd="0" parTransId="{5D9FD235-45DC-4154-BABA-85934CA88C81}" sibTransId="{2B315567-FA67-48E7-8CEB-2B664D9C48CC}"/>
    <dgm:cxn modelId="{3B9B1D7E-459C-49E6-83E6-1E066D3E1581}" type="presOf" srcId="{11E6139A-6A52-414A-A864-5C57BB9A9B0D}" destId="{07530A38-4830-4C29-B061-458674F49ACF}" srcOrd="0" destOrd="2" presId="urn:microsoft.com/office/officeart/2008/layout/TitledPictureBlocks"/>
    <dgm:cxn modelId="{768C53D0-5FB4-4C6B-A5F0-2EACCC75122E}" type="presOf" srcId="{FB65DAEC-BEEC-4581-A82A-268CF4F7FD33}" destId="{8704914D-801B-426E-9FC7-B6045213DB3D}" srcOrd="0" destOrd="1" presId="urn:microsoft.com/office/officeart/2008/layout/TitledPictureBlocks"/>
    <dgm:cxn modelId="{90C77F0E-37BB-44E2-B5A8-3D95C4D34E7F}" srcId="{131CB293-E338-436F-8C9C-05BEBC62614F}" destId="{9381C7BF-B0C3-4F1E-AC64-464A9A89D178}" srcOrd="0" destOrd="0" parTransId="{83456A1B-62D6-4541-8816-31A09F28303A}" sibTransId="{DF20E9C1-0AEE-4797-93B4-E3B6F1FF4587}"/>
    <dgm:cxn modelId="{636505A0-C7B4-47CA-B564-8B6626FED04C}" type="presOf" srcId="{9381C7BF-B0C3-4F1E-AC64-464A9A89D178}" destId="{8704914D-801B-426E-9FC7-B6045213DB3D}" srcOrd="0" destOrd="0" presId="urn:microsoft.com/office/officeart/2008/layout/TitledPictureBlocks"/>
    <dgm:cxn modelId="{8FF828B9-4CC1-445A-AC80-DAB6D83BC855}" srcId="{3BE78262-1F75-4118-AE9D-C6D0CF10BCC7}" destId="{11E6139A-6A52-414A-A864-5C57BB9A9B0D}" srcOrd="2" destOrd="0" parTransId="{E39C47DF-F762-4A81-B516-BE195D0972E8}" sibTransId="{0416ED4F-1E75-4341-96F4-DD64C190300F}"/>
    <dgm:cxn modelId="{8B1D9F37-E22E-489B-B122-8D2990BCB577}" type="presOf" srcId="{B0D2506D-F968-46C9-ABB6-C308C465BBCC}" destId="{DE51D4BD-3026-4C8B-A088-25A4C73D080D}" srcOrd="0" destOrd="0" presId="urn:microsoft.com/office/officeart/2008/layout/TitledPictureBlocks"/>
    <dgm:cxn modelId="{D426F2CF-9D3D-4409-9CB0-5E7984503274}" srcId="{7249AAB8-A285-4A5E-BE6C-9C147A64CBC8}" destId="{A5B65161-8417-4511-89DF-084259C5FA8E}" srcOrd="2" destOrd="0" parTransId="{2578A606-DE06-49D2-B28D-5186AC2E8266}" sibTransId="{1C9619F8-4F7E-4606-B4B8-731E827DBAA6}"/>
    <dgm:cxn modelId="{0A375BC1-73F5-451F-951C-119808F1391D}" type="presOf" srcId="{A5B65161-8417-4511-89DF-084259C5FA8E}" destId="{4EFF84DC-B633-4697-90DB-3E1BD81DCF44}" srcOrd="0" destOrd="0" presId="urn:microsoft.com/office/officeart/2008/layout/TitledPictureBlocks"/>
    <dgm:cxn modelId="{99645A65-2A9B-4D02-93D3-467A7511B227}" type="presOf" srcId="{E852AB6A-8355-42AD-B169-E0D9ECA452C4}" destId="{2DCDDEEB-4519-45C1-897C-403DBF4F91D2}" srcOrd="0" destOrd="0" presId="urn:microsoft.com/office/officeart/2008/layout/TitledPictureBlocks"/>
    <dgm:cxn modelId="{57C668A1-D488-4857-8CFD-92B974942925}" srcId="{E852AB6A-8355-42AD-B169-E0D9ECA452C4}" destId="{5ECF917E-B50F-4D93-8748-D33E7F9F9F5B}" srcOrd="0" destOrd="0" parTransId="{2BD4DFBB-3E1C-49A8-90D4-A93D75EFE67F}" sibTransId="{07F95665-601A-4104-BA8F-027C37AFEBD1}"/>
    <dgm:cxn modelId="{30030BAD-350A-4BDE-99EA-4B27BAADCF64}" type="presParOf" srcId="{40AE1BCE-448D-4263-BA60-CB37F11A1842}" destId="{3F69F0F9-430E-4D11-8F5B-6EF7ACCE4698}" srcOrd="0" destOrd="0" presId="urn:microsoft.com/office/officeart/2008/layout/TitledPictureBlocks"/>
    <dgm:cxn modelId="{3ED7AA1D-C896-4432-9135-1909B5B523FF}" type="presParOf" srcId="{3F69F0F9-430E-4D11-8F5B-6EF7ACCE4698}" destId="{2DCDDEEB-4519-45C1-897C-403DBF4F91D2}" srcOrd="0" destOrd="0" presId="urn:microsoft.com/office/officeart/2008/layout/TitledPictureBlocks"/>
    <dgm:cxn modelId="{B0AD1D74-3507-4272-9D4F-CD4E39154816}" type="presParOf" srcId="{3F69F0F9-430E-4D11-8F5B-6EF7ACCE4698}" destId="{28E333BF-A950-4406-9EE0-FFD4EAC3CA0D}" srcOrd="1" destOrd="0" presId="urn:microsoft.com/office/officeart/2008/layout/TitledPictureBlocks"/>
    <dgm:cxn modelId="{C9C5349B-FD8A-4283-9A03-641FE1E81DBE}" type="presParOf" srcId="{3F69F0F9-430E-4D11-8F5B-6EF7ACCE4698}" destId="{365ACAD0-EEDD-4135-ADE9-68B81952998C}" srcOrd="2" destOrd="0" presId="urn:microsoft.com/office/officeart/2008/layout/TitledPictureBlocks"/>
    <dgm:cxn modelId="{6A21FAC8-C7CE-4A1A-B5A0-873D8BD4D4C6}" type="presParOf" srcId="{40AE1BCE-448D-4263-BA60-CB37F11A1842}" destId="{E5028621-C83C-4F70-9A82-815E10785B41}" srcOrd="1" destOrd="0" presId="urn:microsoft.com/office/officeart/2008/layout/TitledPictureBlocks"/>
    <dgm:cxn modelId="{C2C7BECE-F6F6-43EA-96C2-F8CB2D378C7D}" type="presParOf" srcId="{40AE1BCE-448D-4263-BA60-CB37F11A1842}" destId="{DB1E91B9-96EF-4B2B-8D9D-C788FE6A819E}" srcOrd="2" destOrd="0" presId="urn:microsoft.com/office/officeart/2008/layout/TitledPictureBlocks"/>
    <dgm:cxn modelId="{EB946E3E-5FE1-4252-B4A9-E6C889408F34}" type="presParOf" srcId="{DB1E91B9-96EF-4B2B-8D9D-C788FE6A819E}" destId="{6EF69702-FD0A-42BB-9EE3-49055EDF2C76}" srcOrd="0" destOrd="0" presId="urn:microsoft.com/office/officeart/2008/layout/TitledPictureBlocks"/>
    <dgm:cxn modelId="{9725EA0E-FA5E-4BE7-B049-641C0F5ECB88}" type="presParOf" srcId="{DB1E91B9-96EF-4B2B-8D9D-C788FE6A819E}" destId="{8FDDC48E-FBC0-42A5-9FC9-EE609EEE1486}" srcOrd="1" destOrd="0" presId="urn:microsoft.com/office/officeart/2008/layout/TitledPictureBlocks"/>
    <dgm:cxn modelId="{3FA4F79B-CA47-4EB7-9AEB-31B73F7B8299}" type="presParOf" srcId="{DB1E91B9-96EF-4B2B-8D9D-C788FE6A819E}" destId="{8704914D-801B-426E-9FC7-B6045213DB3D}" srcOrd="2" destOrd="0" presId="urn:microsoft.com/office/officeart/2008/layout/TitledPictureBlocks"/>
    <dgm:cxn modelId="{8E7D3F4E-F8B6-4747-8E08-EDC94CC3D816}" type="presParOf" srcId="{40AE1BCE-448D-4263-BA60-CB37F11A1842}" destId="{C62068BF-3043-4EAE-A89F-E065A0704339}" srcOrd="3" destOrd="0" presId="urn:microsoft.com/office/officeart/2008/layout/TitledPictureBlocks"/>
    <dgm:cxn modelId="{B2CE5F08-080B-43B6-98F3-F667E272647B}" type="presParOf" srcId="{40AE1BCE-448D-4263-BA60-CB37F11A1842}" destId="{69DD4FCC-E43D-4377-B2D4-B861DB97653D}" srcOrd="4" destOrd="0" presId="urn:microsoft.com/office/officeart/2008/layout/TitledPictureBlocks"/>
    <dgm:cxn modelId="{43222C02-B998-4F95-9C12-40EDABB5A457}" type="presParOf" srcId="{69DD4FCC-E43D-4377-B2D4-B861DB97653D}" destId="{4EFF84DC-B633-4697-90DB-3E1BD81DCF44}" srcOrd="0" destOrd="0" presId="urn:microsoft.com/office/officeart/2008/layout/TitledPictureBlocks"/>
    <dgm:cxn modelId="{CA621058-08B2-4D16-BBDB-E9FD0E5A7DB4}" type="presParOf" srcId="{69DD4FCC-E43D-4377-B2D4-B861DB97653D}" destId="{668BCAB6-AB25-4A90-94A8-1145D4A65AD3}" srcOrd="1" destOrd="0" presId="urn:microsoft.com/office/officeart/2008/layout/TitledPictureBlocks"/>
    <dgm:cxn modelId="{5EB53053-376B-437E-956A-4A705662FF2E}" type="presParOf" srcId="{69DD4FCC-E43D-4377-B2D4-B861DB97653D}" destId="{DE51D4BD-3026-4C8B-A088-25A4C73D080D}" srcOrd="2" destOrd="0" presId="urn:microsoft.com/office/officeart/2008/layout/TitledPictureBlocks"/>
    <dgm:cxn modelId="{135E6368-591B-4C32-8967-BBC22CB3CA4B}" type="presParOf" srcId="{40AE1BCE-448D-4263-BA60-CB37F11A1842}" destId="{9848693F-AAC5-4B76-9EDD-41B0643EBCBA}" srcOrd="5" destOrd="0" presId="urn:microsoft.com/office/officeart/2008/layout/TitledPictureBlocks"/>
    <dgm:cxn modelId="{0009574D-65BB-4A88-AD0D-3CE207E16352}" type="presParOf" srcId="{40AE1BCE-448D-4263-BA60-CB37F11A1842}" destId="{41937E2F-0814-427C-B3CA-7A77B9C1977E}" srcOrd="6" destOrd="0" presId="urn:microsoft.com/office/officeart/2008/layout/TitledPictureBlocks"/>
    <dgm:cxn modelId="{6C89B218-AAD1-4F3A-9891-8C17C96B5909}" type="presParOf" srcId="{41937E2F-0814-427C-B3CA-7A77B9C1977E}" destId="{190DB6BE-C7E4-4DE4-AC6C-CCFCBAAB043C}" srcOrd="0" destOrd="0" presId="urn:microsoft.com/office/officeart/2008/layout/TitledPictureBlocks"/>
    <dgm:cxn modelId="{4A7A8997-E0EF-402B-9EFB-5E5733B5E8BC}" type="presParOf" srcId="{41937E2F-0814-427C-B3CA-7A77B9C1977E}" destId="{C983F43D-CD02-4AA2-B629-DCFD06126048}" srcOrd="1" destOrd="0" presId="urn:microsoft.com/office/officeart/2008/layout/TitledPictureBlocks"/>
    <dgm:cxn modelId="{4ACF4DED-7BEA-45CE-AE23-78C8CED2342C}" type="presParOf" srcId="{41937E2F-0814-427C-B3CA-7A77B9C1977E}" destId="{E6E43F21-A116-483B-8E09-BC9BB2D3EC6B}" srcOrd="2" destOrd="0" presId="urn:microsoft.com/office/officeart/2008/layout/TitledPictureBlocks"/>
    <dgm:cxn modelId="{CCDD7FF1-440A-4B08-9F5F-41DEC34B1459}" type="presParOf" srcId="{40AE1BCE-448D-4263-BA60-CB37F11A1842}" destId="{62AD0E23-C2C3-4E88-AAFA-26EB27DAEFE0}" srcOrd="7" destOrd="0" presId="urn:microsoft.com/office/officeart/2008/layout/TitledPictureBlocks"/>
    <dgm:cxn modelId="{0D98C7FC-0C03-4A16-B5AD-AF0283CEBE8D}" type="presParOf" srcId="{40AE1BCE-448D-4263-BA60-CB37F11A1842}" destId="{D748213E-7B5E-4C8F-8BB6-8C1B95A98ACA}" srcOrd="8" destOrd="0" presId="urn:microsoft.com/office/officeart/2008/layout/TitledPictureBlocks"/>
    <dgm:cxn modelId="{EBF8FE21-BD83-4216-8882-AC1C59504AED}" type="presParOf" srcId="{D748213E-7B5E-4C8F-8BB6-8C1B95A98ACA}" destId="{1D87619B-3D79-40DE-9C6A-140255A4BDA6}" srcOrd="0" destOrd="0" presId="urn:microsoft.com/office/officeart/2008/layout/TitledPictureBlocks"/>
    <dgm:cxn modelId="{CEB76EAD-C50F-4431-A745-E9D5E74ACA70}" type="presParOf" srcId="{D748213E-7B5E-4C8F-8BB6-8C1B95A98ACA}" destId="{7633EFC1-AB38-41B7-B06B-21E2DA24ABCE}" srcOrd="1" destOrd="0" presId="urn:microsoft.com/office/officeart/2008/layout/TitledPictureBlocks"/>
    <dgm:cxn modelId="{6753AB65-88B8-4C8F-AF79-66D91ED47C82}" type="presParOf" srcId="{D748213E-7B5E-4C8F-8BB6-8C1B95A98ACA}" destId="{07530A38-4830-4C29-B061-458674F49ACF}" srcOrd="2" destOrd="0" presId="urn:microsoft.com/office/officeart/2008/layout/TitledPictureBlocks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93EC97-A09D-4F9C-9DCC-CCD56D2C4930}" type="doc">
      <dgm:prSet loTypeId="urn:microsoft.com/office/officeart/2005/8/layout/bList2#1" loCatId="picture" qsTypeId="urn:microsoft.com/office/officeart/2005/8/quickstyle/simple1" qsCatId="simple" csTypeId="urn:microsoft.com/office/officeart/2005/8/colors/colorful1#1" csCatId="colorful" phldr="1"/>
      <dgm:spPr/>
    </dgm:pt>
    <dgm:pt modelId="{40B7CF86-1D65-4070-9886-AD40C4B9B2CE}">
      <dgm:prSet phldrT="[Text]" custT="1"/>
      <dgm:spPr/>
      <dgm:t>
        <a:bodyPr/>
        <a:lstStyle/>
        <a:p>
          <a:r>
            <a:rPr lang="en-US" sz="2800" dirty="0" smtClean="0"/>
            <a:t>Cumin</a:t>
          </a:r>
          <a:endParaRPr lang="en-US" sz="2800" dirty="0"/>
        </a:p>
      </dgm:t>
    </dgm:pt>
    <dgm:pt modelId="{9BDDBF9B-805C-4F17-860B-98440FFE5A6B}" type="parTrans" cxnId="{176D8569-A62F-4830-BBCB-5B8BDFD8B417}">
      <dgm:prSet/>
      <dgm:spPr/>
      <dgm:t>
        <a:bodyPr/>
        <a:lstStyle/>
        <a:p>
          <a:endParaRPr lang="en-US"/>
        </a:p>
      </dgm:t>
    </dgm:pt>
    <dgm:pt modelId="{197FE660-29AD-4761-A28B-C0709DFD536D}" type="sibTrans" cxnId="{176D8569-A62F-4830-BBCB-5B8BDFD8B417}">
      <dgm:prSet/>
      <dgm:spPr/>
      <dgm:t>
        <a:bodyPr/>
        <a:lstStyle/>
        <a:p>
          <a:endParaRPr lang="en-US"/>
        </a:p>
      </dgm:t>
    </dgm:pt>
    <dgm:pt modelId="{4C03C3F5-812F-4EF2-9448-0B30CF605973}">
      <dgm:prSet phldrT="[Text]" custT="1"/>
      <dgm:spPr/>
      <dgm:t>
        <a:bodyPr/>
        <a:lstStyle/>
        <a:p>
          <a:r>
            <a:rPr lang="en-US" sz="2800" dirty="0" smtClean="0"/>
            <a:t>Fennel</a:t>
          </a:r>
          <a:endParaRPr lang="en-US" sz="2800" dirty="0"/>
        </a:p>
      </dgm:t>
    </dgm:pt>
    <dgm:pt modelId="{E0AC4F80-2B3C-4BC6-A2AD-DE6C1A85C0D7}" type="parTrans" cxnId="{FF4FA19A-FC29-4088-93BE-0937B1429AFC}">
      <dgm:prSet/>
      <dgm:spPr/>
      <dgm:t>
        <a:bodyPr/>
        <a:lstStyle/>
        <a:p>
          <a:endParaRPr lang="en-US"/>
        </a:p>
      </dgm:t>
    </dgm:pt>
    <dgm:pt modelId="{E3A2345D-5AE6-4B6C-A583-908D6F955CF3}" type="sibTrans" cxnId="{FF4FA19A-FC29-4088-93BE-0937B1429AFC}">
      <dgm:prSet/>
      <dgm:spPr/>
      <dgm:t>
        <a:bodyPr/>
        <a:lstStyle/>
        <a:p>
          <a:endParaRPr lang="en-US"/>
        </a:p>
      </dgm:t>
    </dgm:pt>
    <dgm:pt modelId="{37FFDCF3-8FE5-46AC-8BEC-D410FECA3CB6}">
      <dgm:prSet phldrT="[Text]" custT="1"/>
      <dgm:spPr/>
      <dgm:t>
        <a:bodyPr/>
        <a:lstStyle/>
        <a:p>
          <a:r>
            <a:rPr lang="en-US" sz="2800" dirty="0" err="1" smtClean="0"/>
            <a:t>Isubgul</a:t>
          </a:r>
          <a:endParaRPr lang="en-US" sz="2800" dirty="0"/>
        </a:p>
      </dgm:t>
    </dgm:pt>
    <dgm:pt modelId="{6E3F10B4-4FD3-4E0F-828C-D4174B191F59}" type="parTrans" cxnId="{223CBB73-4D69-4845-B34E-7DE7DFD520A6}">
      <dgm:prSet/>
      <dgm:spPr/>
      <dgm:t>
        <a:bodyPr/>
        <a:lstStyle/>
        <a:p>
          <a:endParaRPr lang="en-US"/>
        </a:p>
      </dgm:t>
    </dgm:pt>
    <dgm:pt modelId="{1BE94F82-C407-4AE7-B3B8-FAF27CC48302}" type="sibTrans" cxnId="{223CBB73-4D69-4845-B34E-7DE7DFD520A6}">
      <dgm:prSet/>
      <dgm:spPr/>
      <dgm:t>
        <a:bodyPr/>
        <a:lstStyle/>
        <a:p>
          <a:endParaRPr lang="en-US"/>
        </a:p>
      </dgm:t>
    </dgm:pt>
    <dgm:pt modelId="{BCBC41E5-DB22-4A2C-94B6-4D5D64DE5E99}">
      <dgm:prSet phldrT="[Text]" custT="1"/>
      <dgm:spPr/>
      <dgm:t>
        <a:bodyPr/>
        <a:lstStyle/>
        <a:p>
          <a:r>
            <a:rPr lang="en-US" sz="2800" dirty="0" smtClean="0"/>
            <a:t>Potato</a:t>
          </a:r>
          <a:endParaRPr lang="en-US" sz="2800" dirty="0"/>
        </a:p>
      </dgm:t>
    </dgm:pt>
    <dgm:pt modelId="{87469495-C6DC-4937-873A-67BE6940408A}" type="parTrans" cxnId="{5C3594FC-CA02-4D10-BCCD-0E64330189C0}">
      <dgm:prSet/>
      <dgm:spPr/>
      <dgm:t>
        <a:bodyPr/>
        <a:lstStyle/>
        <a:p>
          <a:endParaRPr lang="en-US"/>
        </a:p>
      </dgm:t>
    </dgm:pt>
    <dgm:pt modelId="{9A384E30-F01A-4ABF-80C1-DE1B29A670F7}" type="sibTrans" cxnId="{5C3594FC-CA02-4D10-BCCD-0E64330189C0}">
      <dgm:prSet/>
      <dgm:spPr/>
      <dgm:t>
        <a:bodyPr/>
        <a:lstStyle/>
        <a:p>
          <a:endParaRPr lang="en-US"/>
        </a:p>
      </dgm:t>
    </dgm:pt>
    <dgm:pt modelId="{F5319993-36B2-40D0-9816-B8768E7A5F28}">
      <dgm:prSet phldrT="[Text]" custT="1"/>
      <dgm:spPr/>
      <dgm:t>
        <a:bodyPr/>
        <a:lstStyle/>
        <a:p>
          <a:r>
            <a:rPr lang="en-US" sz="2800" dirty="0" smtClean="0"/>
            <a:t>Onion</a:t>
          </a:r>
          <a:endParaRPr lang="en-US" sz="2800" dirty="0"/>
        </a:p>
      </dgm:t>
    </dgm:pt>
    <dgm:pt modelId="{A992CF92-690E-415D-A601-964A6DE6D302}" type="parTrans" cxnId="{53D39C62-27F6-4013-9D0D-0D960F0ED71F}">
      <dgm:prSet/>
      <dgm:spPr/>
      <dgm:t>
        <a:bodyPr/>
        <a:lstStyle/>
        <a:p>
          <a:endParaRPr lang="en-US"/>
        </a:p>
      </dgm:t>
    </dgm:pt>
    <dgm:pt modelId="{AF925520-F427-41CE-9D4B-E8E15679C40B}" type="sibTrans" cxnId="{53D39C62-27F6-4013-9D0D-0D960F0ED71F}">
      <dgm:prSet/>
      <dgm:spPr/>
      <dgm:t>
        <a:bodyPr/>
        <a:lstStyle/>
        <a:p>
          <a:endParaRPr lang="en-US"/>
        </a:p>
      </dgm:t>
    </dgm:pt>
    <dgm:pt modelId="{9737C764-4432-4E75-9C3B-13CB6B705FF7}">
      <dgm:prSet phldrT="[Text]" custT="1"/>
      <dgm:spPr/>
      <dgm:t>
        <a:bodyPr/>
        <a:lstStyle/>
        <a:p>
          <a:r>
            <a:rPr lang="en-US" sz="1700" dirty="0" smtClean="0"/>
            <a:t>Identity of the Gujarat spices.</a:t>
          </a:r>
          <a:endParaRPr lang="en-US" sz="1700" dirty="0"/>
        </a:p>
      </dgm:t>
    </dgm:pt>
    <dgm:pt modelId="{8CC50635-7806-4EAF-B331-A50141E0013D}" type="parTrans" cxnId="{B7B96927-5603-410C-9339-BECDB46FDF57}">
      <dgm:prSet/>
      <dgm:spPr/>
      <dgm:t>
        <a:bodyPr/>
        <a:lstStyle/>
        <a:p>
          <a:endParaRPr lang="en-US"/>
        </a:p>
      </dgm:t>
    </dgm:pt>
    <dgm:pt modelId="{0B7A793B-62AB-4734-A931-8D5935474C08}" type="sibTrans" cxnId="{B7B96927-5603-410C-9339-BECDB46FDF57}">
      <dgm:prSet/>
      <dgm:spPr/>
      <dgm:t>
        <a:bodyPr/>
        <a:lstStyle/>
        <a:p>
          <a:endParaRPr lang="en-US"/>
        </a:p>
      </dgm:t>
    </dgm:pt>
    <dgm:pt modelId="{80DD2757-2163-4297-B84B-2EDB2AA565AD}">
      <dgm:prSet custT="1"/>
      <dgm:spPr/>
      <dgm:t>
        <a:bodyPr/>
        <a:lstStyle/>
        <a:p>
          <a:r>
            <a:rPr lang="en-US" sz="1700" dirty="0" smtClean="0">
              <a:solidFill>
                <a:srgbClr val="FF0000"/>
              </a:solidFill>
            </a:rPr>
            <a:t>Production-4.00 Lakh MT, Area- 4.74 lakh ha. Yield- 845 kg/ha</a:t>
          </a:r>
          <a:r>
            <a:rPr lang="en-US" sz="1700" dirty="0" smtClean="0"/>
            <a:t>. </a:t>
          </a:r>
          <a:endParaRPr lang="en-US" sz="1700" dirty="0"/>
        </a:p>
      </dgm:t>
    </dgm:pt>
    <dgm:pt modelId="{FFDE89C9-0542-48A8-8EDC-2D854DDFC541}" type="parTrans" cxnId="{15DB8843-BDBB-41B5-8C34-DD466B7A1790}">
      <dgm:prSet/>
      <dgm:spPr/>
      <dgm:t>
        <a:bodyPr/>
        <a:lstStyle/>
        <a:p>
          <a:endParaRPr lang="en-US"/>
        </a:p>
      </dgm:t>
    </dgm:pt>
    <dgm:pt modelId="{E9C44FF7-1B27-424D-883B-B1D7303C4074}" type="sibTrans" cxnId="{15DB8843-BDBB-41B5-8C34-DD466B7A1790}">
      <dgm:prSet/>
      <dgm:spPr/>
      <dgm:t>
        <a:bodyPr/>
        <a:lstStyle/>
        <a:p>
          <a:endParaRPr lang="en-US"/>
        </a:p>
      </dgm:t>
    </dgm:pt>
    <dgm:pt modelId="{9574893D-CD5B-456E-A971-74F05EB237FC}">
      <dgm:prSet phldrT="[Text]" custT="1"/>
      <dgm:spPr/>
      <dgm:t>
        <a:bodyPr/>
        <a:lstStyle/>
        <a:p>
          <a:r>
            <a:rPr lang="en-US" sz="1700" dirty="0" smtClean="0"/>
            <a:t>76 % Production of country</a:t>
          </a:r>
          <a:endParaRPr lang="en-US" sz="1700" dirty="0"/>
        </a:p>
      </dgm:t>
    </dgm:pt>
    <dgm:pt modelId="{EB9E25E7-4996-4CB2-B2EC-1EB871579322}" type="parTrans" cxnId="{B0EA56AC-ECEE-46B6-BE3F-F7161736039A}">
      <dgm:prSet/>
      <dgm:spPr/>
      <dgm:t>
        <a:bodyPr/>
        <a:lstStyle/>
        <a:p>
          <a:endParaRPr lang="en-US"/>
        </a:p>
      </dgm:t>
    </dgm:pt>
    <dgm:pt modelId="{BD3214D4-1DC4-4C08-8589-1781893CE1F3}" type="sibTrans" cxnId="{B0EA56AC-ECEE-46B6-BE3F-F7161736039A}">
      <dgm:prSet/>
      <dgm:spPr/>
      <dgm:t>
        <a:bodyPr/>
        <a:lstStyle/>
        <a:p>
          <a:endParaRPr lang="en-US"/>
        </a:p>
      </dgm:t>
    </dgm:pt>
    <dgm:pt modelId="{B7320297-DFD2-47F9-8868-2F9139D622E9}">
      <dgm:prSet phldrT="[Text]" custT="1"/>
      <dgm:spPr/>
      <dgm:t>
        <a:bodyPr/>
        <a:lstStyle/>
        <a:p>
          <a:r>
            <a:rPr lang="en-US" sz="1700" dirty="0" smtClean="0"/>
            <a:t>Monopoly crop, India’s pride</a:t>
          </a:r>
          <a:endParaRPr lang="en-US" sz="1700" dirty="0"/>
        </a:p>
      </dgm:t>
    </dgm:pt>
    <dgm:pt modelId="{A9279F78-D31D-4EF5-87EA-A810DEBA1281}" type="parTrans" cxnId="{3144B93A-C860-418C-BDCF-624197893582}">
      <dgm:prSet/>
      <dgm:spPr/>
      <dgm:t>
        <a:bodyPr/>
        <a:lstStyle/>
        <a:p>
          <a:endParaRPr lang="en-US"/>
        </a:p>
      </dgm:t>
    </dgm:pt>
    <dgm:pt modelId="{CA5B00BB-3396-4FEB-91E8-58DCF67106F8}" type="sibTrans" cxnId="{3144B93A-C860-418C-BDCF-624197893582}">
      <dgm:prSet/>
      <dgm:spPr/>
      <dgm:t>
        <a:bodyPr/>
        <a:lstStyle/>
        <a:p>
          <a:endParaRPr lang="en-US"/>
        </a:p>
      </dgm:t>
    </dgm:pt>
    <dgm:pt modelId="{F17B01B5-05FD-4339-BAB8-48B47F687290}">
      <dgm:prSet phldrT="[Text]" custT="1"/>
      <dgm:spPr/>
      <dgm:t>
        <a:bodyPr/>
        <a:lstStyle/>
        <a:p>
          <a:r>
            <a:rPr lang="en-US" sz="1700" b="1" dirty="0" smtClean="0">
              <a:solidFill>
                <a:srgbClr val="FF0000"/>
              </a:solidFill>
            </a:rPr>
            <a:t>Highest productivity  (26.00 MT/Ha.)in the country </a:t>
          </a:r>
          <a:endParaRPr lang="en-US" sz="1700" b="1" dirty="0">
            <a:solidFill>
              <a:srgbClr val="FF0000"/>
            </a:solidFill>
          </a:endParaRPr>
        </a:p>
      </dgm:t>
    </dgm:pt>
    <dgm:pt modelId="{ED21D332-7D0C-4AE4-8EF6-44046E8D5151}" type="parTrans" cxnId="{8F149F38-2547-4E73-8E5F-33350BC3576D}">
      <dgm:prSet/>
      <dgm:spPr/>
      <dgm:t>
        <a:bodyPr/>
        <a:lstStyle/>
        <a:p>
          <a:endParaRPr lang="en-US"/>
        </a:p>
      </dgm:t>
    </dgm:pt>
    <dgm:pt modelId="{703A10AE-738E-4EF0-A84C-11CEA807169D}" type="sibTrans" cxnId="{8F149F38-2547-4E73-8E5F-33350BC3576D}">
      <dgm:prSet/>
      <dgm:spPr/>
      <dgm:t>
        <a:bodyPr/>
        <a:lstStyle/>
        <a:p>
          <a:endParaRPr lang="en-US"/>
        </a:p>
      </dgm:t>
    </dgm:pt>
    <dgm:pt modelId="{8645FC51-90D4-4DE0-BDFE-5B8BD31DA657}">
      <dgm:prSet phldrT="[Text]" custT="1"/>
      <dgm:spPr/>
      <dgm:t>
        <a:bodyPr/>
        <a:lstStyle/>
        <a:p>
          <a:r>
            <a:rPr lang="en-US" sz="1700" b="1" dirty="0" smtClean="0">
              <a:solidFill>
                <a:schemeClr val="tx1"/>
              </a:solidFill>
            </a:rPr>
            <a:t>Highest productivity  </a:t>
          </a:r>
          <a:r>
            <a:rPr lang="en-US" sz="1700" b="1" dirty="0" smtClean="0">
              <a:solidFill>
                <a:srgbClr val="FF0000"/>
              </a:solidFill>
            </a:rPr>
            <a:t>(28.56 MT /ha</a:t>
          </a:r>
          <a:r>
            <a:rPr lang="en-US" sz="1700" b="1" dirty="0" smtClean="0"/>
            <a:t>.)</a:t>
          </a:r>
          <a:endParaRPr lang="en-US" sz="1700" b="1" dirty="0"/>
        </a:p>
      </dgm:t>
    </dgm:pt>
    <dgm:pt modelId="{DBAD8397-B088-4B03-B016-A02757E73E89}" type="parTrans" cxnId="{57A76905-AA5A-4780-AE12-87086E33128D}">
      <dgm:prSet/>
      <dgm:spPr/>
      <dgm:t>
        <a:bodyPr/>
        <a:lstStyle/>
        <a:p>
          <a:endParaRPr lang="en-US"/>
        </a:p>
      </dgm:t>
    </dgm:pt>
    <dgm:pt modelId="{6B915357-B7EA-45D5-832B-CE12B2367652}" type="sibTrans" cxnId="{57A76905-AA5A-4780-AE12-87086E33128D}">
      <dgm:prSet/>
      <dgm:spPr/>
      <dgm:t>
        <a:bodyPr/>
        <a:lstStyle/>
        <a:p>
          <a:endParaRPr lang="en-US"/>
        </a:p>
      </dgm:t>
    </dgm:pt>
    <dgm:pt modelId="{819CE84A-B537-47CF-A1C3-7E9C9A0A2305}">
      <dgm:prSet custT="1"/>
      <dgm:spPr/>
      <dgm:t>
        <a:bodyPr/>
        <a:lstStyle/>
        <a:p>
          <a:r>
            <a:rPr lang="en-US" sz="1700" dirty="0" smtClean="0">
              <a:solidFill>
                <a:srgbClr val="FF0000"/>
              </a:solidFill>
            </a:rPr>
            <a:t>Production – 0.76 Lakh MT, Area- 0.42 lakh ha., Yield- 1800 kg/ha</a:t>
          </a:r>
          <a:endParaRPr lang="en-US" sz="1700" dirty="0">
            <a:solidFill>
              <a:srgbClr val="FF0000"/>
            </a:solidFill>
          </a:endParaRPr>
        </a:p>
      </dgm:t>
    </dgm:pt>
    <dgm:pt modelId="{BD9D837B-0302-44DD-8408-73743CC32285}" type="parTrans" cxnId="{667D1960-CB72-48BE-BBF6-9C6BBF8DBF2F}">
      <dgm:prSet/>
      <dgm:spPr/>
      <dgm:t>
        <a:bodyPr/>
        <a:lstStyle/>
        <a:p>
          <a:endParaRPr lang="en-US"/>
        </a:p>
      </dgm:t>
    </dgm:pt>
    <dgm:pt modelId="{D59BF87A-43A6-4912-83E8-C17E830A8810}" type="sibTrans" cxnId="{667D1960-CB72-48BE-BBF6-9C6BBF8DBF2F}">
      <dgm:prSet/>
      <dgm:spPr/>
      <dgm:t>
        <a:bodyPr/>
        <a:lstStyle/>
        <a:p>
          <a:endParaRPr lang="en-US"/>
        </a:p>
      </dgm:t>
    </dgm:pt>
    <dgm:pt modelId="{3A00EACD-C6C4-4D71-BB8E-ED723ABB838E}">
      <dgm:prSet custT="1"/>
      <dgm:spPr/>
      <dgm:t>
        <a:bodyPr/>
        <a:lstStyle/>
        <a:p>
          <a:r>
            <a:rPr lang="en-US" sz="1700" dirty="0" smtClean="0">
              <a:solidFill>
                <a:srgbClr val="FF0000"/>
              </a:solidFill>
            </a:rPr>
            <a:t>Production – 0.13 Lakh MT, Area- 0.10 lakh ha., Yield- 749 kg/ha</a:t>
          </a:r>
          <a:r>
            <a:rPr lang="en-US" sz="1700" dirty="0" smtClean="0"/>
            <a:t>.</a:t>
          </a:r>
          <a:endParaRPr lang="en-US" sz="1700" dirty="0"/>
        </a:p>
      </dgm:t>
    </dgm:pt>
    <dgm:pt modelId="{A20911B0-3D95-40C1-9993-F5275E96CD63}" type="parTrans" cxnId="{0FA92957-CDA9-49ED-A8AE-4D867B6FC5C6}">
      <dgm:prSet/>
      <dgm:spPr/>
      <dgm:t>
        <a:bodyPr/>
        <a:lstStyle/>
        <a:p>
          <a:endParaRPr lang="en-US"/>
        </a:p>
      </dgm:t>
    </dgm:pt>
    <dgm:pt modelId="{CDD93B5C-09EC-4F25-93AB-73597894D8C9}" type="sibTrans" cxnId="{0FA92957-CDA9-49ED-A8AE-4D867B6FC5C6}">
      <dgm:prSet/>
      <dgm:spPr/>
      <dgm:t>
        <a:bodyPr/>
        <a:lstStyle/>
        <a:p>
          <a:endParaRPr lang="en-US"/>
        </a:p>
      </dgm:t>
    </dgm:pt>
    <dgm:pt modelId="{9A04594D-1ADF-4F1F-B527-677F9DC7F2E5}">
      <dgm:prSet custT="1"/>
      <dgm:spPr/>
      <dgm:t>
        <a:bodyPr/>
        <a:lstStyle/>
        <a:p>
          <a:r>
            <a:rPr lang="en-US" sz="1700" b="1" dirty="0" smtClean="0">
              <a:solidFill>
                <a:srgbClr val="FF0000"/>
              </a:solidFill>
            </a:rPr>
            <a:t>production 19.60 Lakh MT, area- 0.67 lakh ha.</a:t>
          </a:r>
          <a:endParaRPr lang="en-US" sz="1700" b="1" dirty="0">
            <a:solidFill>
              <a:srgbClr val="FF0000"/>
            </a:solidFill>
          </a:endParaRPr>
        </a:p>
      </dgm:t>
    </dgm:pt>
    <dgm:pt modelId="{A9CFA49B-7D68-4719-92B3-22C46B3AC45D}" type="parTrans" cxnId="{BD28174E-4EFC-407F-814F-7BC66BF885EC}">
      <dgm:prSet/>
      <dgm:spPr/>
      <dgm:t>
        <a:bodyPr/>
        <a:lstStyle/>
        <a:p>
          <a:endParaRPr lang="en-US"/>
        </a:p>
      </dgm:t>
    </dgm:pt>
    <dgm:pt modelId="{67AF39CC-1E4A-4DCC-B5DE-F53C4F360B4C}" type="sibTrans" cxnId="{BD28174E-4EFC-407F-814F-7BC66BF885EC}">
      <dgm:prSet/>
      <dgm:spPr/>
      <dgm:t>
        <a:bodyPr/>
        <a:lstStyle/>
        <a:p>
          <a:endParaRPr lang="en-US"/>
        </a:p>
      </dgm:t>
    </dgm:pt>
    <dgm:pt modelId="{01B5C7E6-CDFF-48C3-BD53-A8AAE938913C}">
      <dgm:prSet custT="1"/>
      <dgm:spPr/>
      <dgm:t>
        <a:bodyPr/>
        <a:lstStyle/>
        <a:p>
          <a:r>
            <a:rPr lang="en-US" sz="1700" b="1" dirty="0" smtClean="0"/>
            <a:t>Highest  Dehydration units (80 %) of the country </a:t>
          </a:r>
          <a:endParaRPr lang="en-US" sz="1700" b="1" dirty="0"/>
        </a:p>
      </dgm:t>
    </dgm:pt>
    <dgm:pt modelId="{19D48851-9DA9-4D3E-B0EB-80BEE843879F}" type="parTrans" cxnId="{28521D88-8C2C-4BE8-B62F-3F38645A41E6}">
      <dgm:prSet/>
      <dgm:spPr/>
      <dgm:t>
        <a:bodyPr/>
        <a:lstStyle/>
        <a:p>
          <a:endParaRPr lang="en-US"/>
        </a:p>
      </dgm:t>
    </dgm:pt>
    <dgm:pt modelId="{DF3622CA-B7D0-4872-BF7D-92692A4C56DB}" type="sibTrans" cxnId="{28521D88-8C2C-4BE8-B62F-3F38645A41E6}">
      <dgm:prSet/>
      <dgm:spPr/>
      <dgm:t>
        <a:bodyPr/>
        <a:lstStyle/>
        <a:p>
          <a:endParaRPr lang="en-US"/>
        </a:p>
      </dgm:t>
    </dgm:pt>
    <dgm:pt modelId="{C5D16585-2875-4190-9CFC-5128DE0196D1}">
      <dgm:prSet custT="1"/>
      <dgm:spPr/>
      <dgm:t>
        <a:bodyPr/>
        <a:lstStyle/>
        <a:p>
          <a:r>
            <a:rPr lang="en-US" sz="1700" b="1" i="1" dirty="0" smtClean="0"/>
            <a:t>World Record of potato  productivity (87 MT/Ha.)</a:t>
          </a:r>
          <a:endParaRPr lang="en-US" sz="1700" b="1" dirty="0"/>
        </a:p>
      </dgm:t>
    </dgm:pt>
    <dgm:pt modelId="{0720897C-F178-4980-AB7D-84213CD4CEA5}" type="parTrans" cxnId="{5BFDDD11-9E0B-4AAA-A4D6-1C302F452C92}">
      <dgm:prSet/>
      <dgm:spPr/>
      <dgm:t>
        <a:bodyPr/>
        <a:lstStyle/>
        <a:p>
          <a:endParaRPr lang="en-US"/>
        </a:p>
      </dgm:t>
    </dgm:pt>
    <dgm:pt modelId="{43AA9BD5-92FC-4D95-8942-4A346000C565}" type="sibTrans" cxnId="{5BFDDD11-9E0B-4AAA-A4D6-1C302F452C92}">
      <dgm:prSet/>
      <dgm:spPr/>
      <dgm:t>
        <a:bodyPr/>
        <a:lstStyle/>
        <a:p>
          <a:endParaRPr lang="en-US"/>
        </a:p>
      </dgm:t>
    </dgm:pt>
    <dgm:pt modelId="{422259F3-5DAF-427D-AEED-9E7169449F43}">
      <dgm:prSet custT="1"/>
      <dgm:spPr/>
      <dgm:t>
        <a:bodyPr/>
        <a:lstStyle/>
        <a:p>
          <a:r>
            <a:rPr lang="en-US" sz="1700" b="1" dirty="0" smtClean="0">
              <a:solidFill>
                <a:srgbClr val="FF0000"/>
              </a:solidFill>
            </a:rPr>
            <a:t>39.13 Lakh MT Production in 1.25 lakh ha. </a:t>
          </a:r>
          <a:endParaRPr lang="en-US" sz="1700" b="1" dirty="0">
            <a:solidFill>
              <a:srgbClr val="FF0000"/>
            </a:solidFill>
          </a:endParaRPr>
        </a:p>
      </dgm:t>
    </dgm:pt>
    <dgm:pt modelId="{B1B81C04-369A-4DAD-A6B5-93312839BB60}" type="parTrans" cxnId="{0D4FF3D3-720B-43AC-8DF3-F0B18BE04415}">
      <dgm:prSet/>
      <dgm:spPr/>
      <dgm:t>
        <a:bodyPr/>
        <a:lstStyle/>
        <a:p>
          <a:endParaRPr lang="en-US"/>
        </a:p>
      </dgm:t>
    </dgm:pt>
    <dgm:pt modelId="{7C2E3D9B-DC5E-45F9-AADA-803096BE2EC4}" type="sibTrans" cxnId="{0D4FF3D3-720B-43AC-8DF3-F0B18BE04415}">
      <dgm:prSet/>
      <dgm:spPr/>
      <dgm:t>
        <a:bodyPr/>
        <a:lstStyle/>
        <a:p>
          <a:endParaRPr lang="en-US"/>
        </a:p>
      </dgm:t>
    </dgm:pt>
    <dgm:pt modelId="{F9AE4533-93FE-4959-A5F5-05C243F021F9}" type="pres">
      <dgm:prSet presAssocID="{9A93EC97-A09D-4F9C-9DCC-CCD56D2C4930}" presName="diagram" presStyleCnt="0">
        <dgm:presLayoutVars>
          <dgm:dir/>
          <dgm:animLvl val="lvl"/>
          <dgm:resizeHandles val="exact"/>
        </dgm:presLayoutVars>
      </dgm:prSet>
      <dgm:spPr/>
    </dgm:pt>
    <dgm:pt modelId="{75BA2C0C-90B7-4738-B494-E2DCCDB3B581}" type="pres">
      <dgm:prSet presAssocID="{40B7CF86-1D65-4070-9886-AD40C4B9B2CE}" presName="compNode" presStyleCnt="0"/>
      <dgm:spPr/>
    </dgm:pt>
    <dgm:pt modelId="{8F442796-5AC8-4F5F-B147-03F24883444E}" type="pres">
      <dgm:prSet presAssocID="{40B7CF86-1D65-4070-9886-AD40C4B9B2CE}" presName="childRect" presStyleLbl="bgAcc1" presStyleIdx="0" presStyleCnt="5" custScaleY="144300" custLinFactNeighborY="1249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4B856F-DAB6-4DC7-8E31-AE46B21B25A8}" type="pres">
      <dgm:prSet presAssocID="{40B7CF86-1D65-4070-9886-AD40C4B9B2CE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6DB745-1046-460D-953D-E79B1503F005}" type="pres">
      <dgm:prSet presAssocID="{40B7CF86-1D65-4070-9886-AD40C4B9B2CE}" presName="parentRect" presStyleLbl="alignNode1" presStyleIdx="0" presStyleCnt="5" custLinFactNeighborX="-7757" custLinFactNeighborY="74887"/>
      <dgm:spPr/>
      <dgm:t>
        <a:bodyPr/>
        <a:lstStyle/>
        <a:p>
          <a:endParaRPr lang="en-US"/>
        </a:p>
      </dgm:t>
    </dgm:pt>
    <dgm:pt modelId="{0C7E465B-761B-46B9-81C9-8E28AEE20841}" type="pres">
      <dgm:prSet presAssocID="{40B7CF86-1D65-4070-9886-AD40C4B9B2CE}" presName="adorn" presStyleLbl="fgAccFollowNode1" presStyleIdx="0" presStyleCnt="5" custScaleX="183204" custScaleY="173713" custLinFactNeighborX="25518" custLinFactNeighborY="47939"/>
      <dgm:spPr>
        <a:blipFill>
          <a:blip xmlns:r="http://schemas.openxmlformats.org/officeDocument/2006/relationships" r:embed="rId1">
            <a:extLst/>
          </a:blip>
          <a:srcRect/>
          <a:stretch>
            <a:fillRect l="-36000" r="-36000"/>
          </a:stretch>
        </a:blipFill>
      </dgm:spPr>
    </dgm:pt>
    <dgm:pt modelId="{DA720180-7445-497B-969B-CCED3C97D47A}" type="pres">
      <dgm:prSet presAssocID="{197FE660-29AD-4761-A28B-C0709DFD536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7D1E1E3E-8564-4508-A855-8787390CCF42}" type="pres">
      <dgm:prSet presAssocID="{4C03C3F5-812F-4EF2-9448-0B30CF605973}" presName="compNode" presStyleCnt="0"/>
      <dgm:spPr/>
    </dgm:pt>
    <dgm:pt modelId="{2C46C43B-5FBA-4155-91C8-112805875CDE}" type="pres">
      <dgm:prSet presAssocID="{4C03C3F5-812F-4EF2-9448-0B30CF605973}" presName="childRect" presStyleLbl="bgAcc1" presStyleIdx="1" presStyleCnt="5" custScaleY="153264" custLinFactNeighborX="35807" custLinFactNeighborY="738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C38B34-0822-4680-860F-633D8CC37A96}" type="pres">
      <dgm:prSet presAssocID="{4C03C3F5-812F-4EF2-9448-0B30CF605973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49913E-0A91-46F6-A89E-62F2F7BCD835}" type="pres">
      <dgm:prSet presAssocID="{4C03C3F5-812F-4EF2-9448-0B30CF605973}" presName="parentRect" presStyleLbl="alignNode1" presStyleIdx="1" presStyleCnt="5" custScaleY="122857" custLinFactNeighborX="35044" custLinFactNeighborY="56133"/>
      <dgm:spPr/>
      <dgm:t>
        <a:bodyPr/>
        <a:lstStyle/>
        <a:p>
          <a:endParaRPr lang="en-US"/>
        </a:p>
      </dgm:t>
    </dgm:pt>
    <dgm:pt modelId="{26A24085-796A-471B-BDAE-812DD05E8914}" type="pres">
      <dgm:prSet presAssocID="{4C03C3F5-812F-4EF2-9448-0B30CF605973}" presName="adorn" presStyleLbl="fgAccFollowNode1" presStyleIdx="1" presStyleCnt="5" custScaleX="183204" custScaleY="173713" custLinFactX="78894" custLinFactNeighborX="100000" custLinFactNeighborY="31732"/>
      <dgm:spPr>
        <a:blipFill>
          <a:blip xmlns:r="http://schemas.openxmlformats.org/officeDocument/2006/relationships" r:embed="rId2">
            <a:extLst/>
          </a:blip>
          <a:srcRect/>
          <a:stretch>
            <a:fillRect l="-34000" r="-34000"/>
          </a:stretch>
        </a:blipFill>
      </dgm:spPr>
    </dgm:pt>
    <dgm:pt modelId="{C4B575A7-D7F9-4296-93D2-DE5492238EC6}" type="pres">
      <dgm:prSet presAssocID="{E3A2345D-5AE6-4B6C-A583-908D6F955CF3}" presName="sibTrans" presStyleLbl="sibTrans2D1" presStyleIdx="0" presStyleCnt="0"/>
      <dgm:spPr/>
      <dgm:t>
        <a:bodyPr/>
        <a:lstStyle/>
        <a:p>
          <a:endParaRPr lang="en-US"/>
        </a:p>
      </dgm:t>
    </dgm:pt>
    <dgm:pt modelId="{120D2284-5E8A-4ACC-895D-55D3C23C456C}" type="pres">
      <dgm:prSet presAssocID="{37FFDCF3-8FE5-46AC-8BEC-D410FECA3CB6}" presName="compNode" presStyleCnt="0"/>
      <dgm:spPr/>
    </dgm:pt>
    <dgm:pt modelId="{9985ADAD-83A3-4E4C-AABE-EA915A7065B4}" type="pres">
      <dgm:prSet presAssocID="{37FFDCF3-8FE5-46AC-8BEC-D410FECA3CB6}" presName="childRect" presStyleLbl="bgAcc1" presStyleIdx="2" presStyleCnt="5" custScaleY="151779" custLinFactX="2506" custLinFactNeighborX="100000" custLinFactNeighborY="61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68461D-F121-4747-8A96-791FA0CF1939}" type="pres">
      <dgm:prSet presAssocID="{37FFDCF3-8FE5-46AC-8BEC-D410FECA3CB6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0424C5-7A17-4F0C-8900-58D659528BDD}" type="pres">
      <dgm:prSet presAssocID="{37FFDCF3-8FE5-46AC-8BEC-D410FECA3CB6}" presName="parentRect" presStyleLbl="alignNode1" presStyleIdx="2" presStyleCnt="5" custLinFactX="2609" custLinFactNeighborX="100000" custLinFactNeighborY="56699"/>
      <dgm:spPr/>
      <dgm:t>
        <a:bodyPr/>
        <a:lstStyle/>
        <a:p>
          <a:endParaRPr lang="en-US"/>
        </a:p>
      </dgm:t>
    </dgm:pt>
    <dgm:pt modelId="{E65C2C2E-F87A-44FD-80BA-6B3475793061}" type="pres">
      <dgm:prSet presAssocID="{37FFDCF3-8FE5-46AC-8BEC-D410FECA3CB6}" presName="adorn" presStyleLbl="fgAccFollowNode1" presStyleIdx="2" presStyleCnt="5" custScaleX="183204" custScaleY="173713" custLinFactX="185613" custLinFactNeighborX="200000" custLinFactNeighborY="21741"/>
      <dgm:spPr>
        <a:blipFill>
          <a:blip xmlns:r="http://schemas.openxmlformats.org/officeDocument/2006/relationships" r:embed="rId3">
            <a:extLst/>
          </a:blip>
          <a:srcRect/>
          <a:stretch>
            <a:fillRect l="-34000" r="-34000"/>
          </a:stretch>
        </a:blipFill>
      </dgm:spPr>
    </dgm:pt>
    <dgm:pt modelId="{7167311C-507A-45C0-A7EB-E6CCC53296F0}" type="pres">
      <dgm:prSet presAssocID="{1BE94F82-C407-4AE7-B3B8-FAF27CC4830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A469212-09FE-468D-B064-D2FFF2378FCD}" type="pres">
      <dgm:prSet presAssocID="{F5319993-36B2-40D0-9816-B8768E7A5F28}" presName="compNode" presStyleCnt="0"/>
      <dgm:spPr/>
    </dgm:pt>
    <dgm:pt modelId="{C21F3150-E7B8-445E-B011-B0CAB4C14670}" type="pres">
      <dgm:prSet presAssocID="{F5319993-36B2-40D0-9816-B8768E7A5F28}" presName="childRect" presStyleLbl="bgAcc1" presStyleIdx="3" presStyleCnt="5" custScaleX="162198" custScaleY="145198" custLinFactY="100000" custLinFactNeighborX="-67965" custLinFactNeighborY="1147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87AB57-4A3D-4CF2-AA88-5A39649A9D96}" type="pres">
      <dgm:prSet presAssocID="{F5319993-36B2-40D0-9816-B8768E7A5F28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5DBEAD-494C-4955-9C46-30DEB8FC6C4F}" type="pres">
      <dgm:prSet presAssocID="{F5319993-36B2-40D0-9816-B8768E7A5F28}" presName="parentRect" presStyleLbl="alignNode1" presStyleIdx="3" presStyleCnt="5" custLinFactX="-343" custLinFactY="250919" custLinFactNeighborX="-100000" custLinFactNeighborY="300000"/>
      <dgm:spPr/>
      <dgm:t>
        <a:bodyPr/>
        <a:lstStyle/>
        <a:p>
          <a:endParaRPr lang="en-US"/>
        </a:p>
      </dgm:t>
    </dgm:pt>
    <dgm:pt modelId="{FFEA270C-1EAC-4DBC-B545-22AE1EC58E62}" type="pres">
      <dgm:prSet presAssocID="{F5319993-36B2-40D0-9816-B8768E7A5F28}" presName="adorn" presStyleLbl="fgAccFollowNode1" presStyleIdx="3" presStyleCnt="5" custScaleX="183204" custScaleY="173713" custLinFactX="-45203" custLinFactY="200000" custLinFactNeighborX="-100000" custLinFactNeighborY="256330"/>
      <dgm:spPr>
        <a:blipFill>
          <a:blip xmlns:r="http://schemas.openxmlformats.org/officeDocument/2006/relationships" r:embed="rId4">
            <a:extLst/>
          </a:blip>
          <a:srcRect/>
          <a:stretch>
            <a:fillRect l="-8000" r="-8000"/>
          </a:stretch>
        </a:blipFill>
      </dgm:spPr>
    </dgm:pt>
    <dgm:pt modelId="{B75DC69D-3215-492E-B94D-4AE7E3827A8A}" type="pres">
      <dgm:prSet presAssocID="{AF925520-F427-41CE-9D4B-E8E15679C40B}" presName="sibTrans" presStyleLbl="sibTrans2D1" presStyleIdx="0" presStyleCnt="0"/>
      <dgm:spPr/>
      <dgm:t>
        <a:bodyPr/>
        <a:lstStyle/>
        <a:p>
          <a:endParaRPr lang="en-US"/>
        </a:p>
      </dgm:t>
    </dgm:pt>
    <dgm:pt modelId="{DD06077F-AB42-4435-8725-C4401D0103EF}" type="pres">
      <dgm:prSet presAssocID="{BCBC41E5-DB22-4A2C-94B6-4D5D64DE5E99}" presName="compNode" presStyleCnt="0"/>
      <dgm:spPr/>
    </dgm:pt>
    <dgm:pt modelId="{70F2115E-FC7E-41CE-90E6-E2DE7EB5947D}" type="pres">
      <dgm:prSet presAssocID="{BCBC41E5-DB22-4A2C-94B6-4D5D64DE5E99}" presName="childRect" presStyleLbl="bgAcc1" presStyleIdx="4" presStyleCnt="5" custScaleX="149040" custScaleY="140678" custLinFactX="-34735" custLinFactNeighborX="-100000" custLinFactNeighborY="69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719C4E-AB5A-400A-87A2-A7B89F25F08B}" type="pres">
      <dgm:prSet presAssocID="{BCBC41E5-DB22-4A2C-94B6-4D5D64DE5E99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D227D5-18B7-4324-A1D2-2142C99B19E3}" type="pres">
      <dgm:prSet presAssocID="{BCBC41E5-DB22-4A2C-94B6-4D5D64DE5E99}" presName="parentRect" presStyleLbl="alignNode1" presStyleIdx="4" presStyleCnt="5" custLinFactX="-53190" custLinFactNeighborX="-100000" custLinFactNeighborY="66860"/>
      <dgm:spPr/>
      <dgm:t>
        <a:bodyPr/>
        <a:lstStyle/>
        <a:p>
          <a:endParaRPr lang="en-US"/>
        </a:p>
      </dgm:t>
    </dgm:pt>
    <dgm:pt modelId="{D8A2A132-0C72-431F-A6C2-7CF702FD24F2}" type="pres">
      <dgm:prSet presAssocID="{BCBC41E5-DB22-4A2C-94B6-4D5D64DE5E99}" presName="adorn" presStyleLbl="fgAccFollowNode1" presStyleIdx="4" presStyleCnt="5" custScaleX="183204" custScaleY="173713" custLinFactX="-132699" custLinFactNeighborX="-200000" custLinFactNeighborY="6973"/>
      <dgm:spPr>
        <a:blipFill>
          <a:blip xmlns:r="http://schemas.openxmlformats.org/officeDocument/2006/relationships" r:embed="rId5">
            <a:extLst/>
          </a:blip>
          <a:srcRect/>
          <a:stretch>
            <a:fillRect l="-8000" r="-8000"/>
          </a:stretch>
        </a:blipFill>
      </dgm:spPr>
    </dgm:pt>
  </dgm:ptLst>
  <dgm:cxnLst>
    <dgm:cxn modelId="{8F149F38-2547-4E73-8E5F-33350BC3576D}" srcId="{F5319993-36B2-40D0-9816-B8768E7A5F28}" destId="{F17B01B5-05FD-4339-BAB8-48B47F687290}" srcOrd="0" destOrd="0" parTransId="{ED21D332-7D0C-4AE4-8EF6-44046E8D5151}" sibTransId="{703A10AE-738E-4EF0-A84C-11CEA807169D}"/>
    <dgm:cxn modelId="{5D2BBD2B-58EC-45B0-B51F-CC57B44E07EF}" type="presOf" srcId="{422259F3-5DAF-427D-AEED-9E7169449F43}" destId="{70F2115E-FC7E-41CE-90E6-E2DE7EB5947D}" srcOrd="0" destOrd="2" presId="urn:microsoft.com/office/officeart/2005/8/layout/bList2#1"/>
    <dgm:cxn modelId="{E7DAEB64-551D-44AC-B135-5E545EC34C2E}" type="presOf" srcId="{197FE660-29AD-4761-A28B-C0709DFD536D}" destId="{DA720180-7445-497B-969B-CCED3C97D47A}" srcOrd="0" destOrd="0" presId="urn:microsoft.com/office/officeart/2005/8/layout/bList2#1"/>
    <dgm:cxn modelId="{69ABFAF5-72E1-4D33-8032-9A741492814E}" type="presOf" srcId="{40B7CF86-1D65-4070-9886-AD40C4B9B2CE}" destId="{A96DB745-1046-460D-953D-E79B1503F005}" srcOrd="1" destOrd="0" presId="urn:microsoft.com/office/officeart/2005/8/layout/bList2#1"/>
    <dgm:cxn modelId="{57A76905-AA5A-4780-AE12-87086E33128D}" srcId="{BCBC41E5-DB22-4A2C-94B6-4D5D64DE5E99}" destId="{8645FC51-90D4-4DE0-BDFE-5B8BD31DA657}" srcOrd="0" destOrd="0" parTransId="{DBAD8397-B088-4B03-B016-A02757E73E89}" sibTransId="{6B915357-B7EA-45D5-832B-CE12B2367652}"/>
    <dgm:cxn modelId="{F7AD9484-4114-4154-89A2-125ED4C9A37B}" type="presOf" srcId="{F5319993-36B2-40D0-9816-B8768E7A5F28}" destId="{8587AB57-4A3D-4CF2-AA88-5A39649A9D96}" srcOrd="0" destOrd="0" presId="urn:microsoft.com/office/officeart/2005/8/layout/bList2#1"/>
    <dgm:cxn modelId="{FD5E54AD-F05E-4110-9D03-86D3C6594CF4}" type="presOf" srcId="{4C03C3F5-812F-4EF2-9448-0B30CF605973}" destId="{F849913E-0A91-46F6-A89E-62F2F7BCD835}" srcOrd="1" destOrd="0" presId="urn:microsoft.com/office/officeart/2005/8/layout/bList2#1"/>
    <dgm:cxn modelId="{82D4FEB7-7BE4-460E-A88A-A71E000069A2}" type="presOf" srcId="{4C03C3F5-812F-4EF2-9448-0B30CF605973}" destId="{C3C38B34-0822-4680-860F-633D8CC37A96}" srcOrd="0" destOrd="0" presId="urn:microsoft.com/office/officeart/2005/8/layout/bList2#1"/>
    <dgm:cxn modelId="{D064EFCE-C3D3-49D7-A521-B02C01DCBA08}" type="presOf" srcId="{E3A2345D-5AE6-4B6C-A583-908D6F955CF3}" destId="{C4B575A7-D7F9-4296-93D2-DE5492238EC6}" srcOrd="0" destOrd="0" presId="urn:microsoft.com/office/officeart/2005/8/layout/bList2#1"/>
    <dgm:cxn modelId="{4CBB2B8F-D72E-483A-B801-FEA364B4FFD3}" type="presOf" srcId="{9A04594D-1ADF-4F1F-B527-677F9DC7F2E5}" destId="{C21F3150-E7B8-445E-B011-B0CAB4C14670}" srcOrd="0" destOrd="1" presId="urn:microsoft.com/office/officeart/2005/8/layout/bList2#1"/>
    <dgm:cxn modelId="{53D39C62-27F6-4013-9D0D-0D960F0ED71F}" srcId="{9A93EC97-A09D-4F9C-9DCC-CCD56D2C4930}" destId="{F5319993-36B2-40D0-9816-B8768E7A5F28}" srcOrd="3" destOrd="0" parTransId="{A992CF92-690E-415D-A601-964A6DE6D302}" sibTransId="{AF925520-F427-41CE-9D4B-E8E15679C40B}"/>
    <dgm:cxn modelId="{F2485CA0-EE36-4A26-AE05-E9B1D4452A1B}" type="presOf" srcId="{80DD2757-2163-4297-B84B-2EDB2AA565AD}" destId="{8F442796-5AC8-4F5F-B147-03F24883444E}" srcOrd="0" destOrd="1" presId="urn:microsoft.com/office/officeart/2005/8/layout/bList2#1"/>
    <dgm:cxn modelId="{3144B93A-C860-418C-BDCF-624197893582}" srcId="{37FFDCF3-8FE5-46AC-8BEC-D410FECA3CB6}" destId="{B7320297-DFD2-47F9-8868-2F9139D622E9}" srcOrd="0" destOrd="0" parTransId="{A9279F78-D31D-4EF5-87EA-A810DEBA1281}" sibTransId="{CA5B00BB-3396-4FEB-91E8-58DCF67106F8}"/>
    <dgm:cxn modelId="{5798B3F4-18D4-4379-B18C-F26CB3F3CD4C}" type="presOf" srcId="{C5D16585-2875-4190-9CFC-5128DE0196D1}" destId="{70F2115E-FC7E-41CE-90E6-E2DE7EB5947D}" srcOrd="0" destOrd="1" presId="urn:microsoft.com/office/officeart/2005/8/layout/bList2#1"/>
    <dgm:cxn modelId="{D36BB1AD-CED5-4515-997B-ED6EC5ACD12B}" type="presOf" srcId="{3A00EACD-C6C4-4D71-BB8E-ED723ABB838E}" destId="{9985ADAD-83A3-4E4C-AABE-EA915A7065B4}" srcOrd="0" destOrd="1" presId="urn:microsoft.com/office/officeart/2005/8/layout/bList2#1"/>
    <dgm:cxn modelId="{28521D88-8C2C-4BE8-B62F-3F38645A41E6}" srcId="{F5319993-36B2-40D0-9816-B8768E7A5F28}" destId="{01B5C7E6-CDFF-48C3-BD53-A8AAE938913C}" srcOrd="2" destOrd="0" parTransId="{19D48851-9DA9-4D3E-B0EB-80BEE843879F}" sibTransId="{DF3622CA-B7D0-4872-BF7D-92692A4C56DB}"/>
    <dgm:cxn modelId="{176D8569-A62F-4830-BBCB-5B8BDFD8B417}" srcId="{9A93EC97-A09D-4F9C-9DCC-CCD56D2C4930}" destId="{40B7CF86-1D65-4070-9886-AD40C4B9B2CE}" srcOrd="0" destOrd="0" parTransId="{9BDDBF9B-805C-4F17-860B-98440FFE5A6B}" sibTransId="{197FE660-29AD-4761-A28B-C0709DFD536D}"/>
    <dgm:cxn modelId="{667D1960-CB72-48BE-BBF6-9C6BBF8DBF2F}" srcId="{4C03C3F5-812F-4EF2-9448-0B30CF605973}" destId="{819CE84A-B537-47CF-A1C3-7E9C9A0A2305}" srcOrd="1" destOrd="0" parTransId="{BD9D837B-0302-44DD-8408-73743CC32285}" sibTransId="{D59BF87A-43A6-4912-83E8-C17E830A8810}"/>
    <dgm:cxn modelId="{5BFDDD11-9E0B-4AAA-A4D6-1C302F452C92}" srcId="{BCBC41E5-DB22-4A2C-94B6-4D5D64DE5E99}" destId="{C5D16585-2875-4190-9CFC-5128DE0196D1}" srcOrd="1" destOrd="0" parTransId="{0720897C-F178-4980-AB7D-84213CD4CEA5}" sibTransId="{43AA9BD5-92FC-4D95-8942-4A346000C565}"/>
    <dgm:cxn modelId="{6DB1CF07-8691-4E2D-959D-6411F3F33084}" type="presOf" srcId="{9A93EC97-A09D-4F9C-9DCC-CCD56D2C4930}" destId="{F9AE4533-93FE-4959-A5F5-05C243F021F9}" srcOrd="0" destOrd="0" presId="urn:microsoft.com/office/officeart/2005/8/layout/bList2#1"/>
    <dgm:cxn modelId="{C490C676-877B-4224-AE58-E5CC67D01D93}" type="presOf" srcId="{F17B01B5-05FD-4339-BAB8-48B47F687290}" destId="{C21F3150-E7B8-445E-B011-B0CAB4C14670}" srcOrd="0" destOrd="0" presId="urn:microsoft.com/office/officeart/2005/8/layout/bList2#1"/>
    <dgm:cxn modelId="{CB047462-4D15-4E86-A34B-24F87B3E2A85}" type="presOf" srcId="{F5319993-36B2-40D0-9816-B8768E7A5F28}" destId="{FF5DBEAD-494C-4955-9C46-30DEB8FC6C4F}" srcOrd="1" destOrd="0" presId="urn:microsoft.com/office/officeart/2005/8/layout/bList2#1"/>
    <dgm:cxn modelId="{5AF0F9DF-F889-4917-8E6B-DB6BFBEE6C82}" type="presOf" srcId="{37FFDCF3-8FE5-46AC-8BEC-D410FECA3CB6}" destId="{BD0424C5-7A17-4F0C-8900-58D659528BDD}" srcOrd="1" destOrd="0" presId="urn:microsoft.com/office/officeart/2005/8/layout/bList2#1"/>
    <dgm:cxn modelId="{FF4FA19A-FC29-4088-93BE-0937B1429AFC}" srcId="{9A93EC97-A09D-4F9C-9DCC-CCD56D2C4930}" destId="{4C03C3F5-812F-4EF2-9448-0B30CF605973}" srcOrd="1" destOrd="0" parTransId="{E0AC4F80-2B3C-4BC6-A2AD-DE6C1A85C0D7}" sibTransId="{E3A2345D-5AE6-4B6C-A583-908D6F955CF3}"/>
    <dgm:cxn modelId="{72B6A2A4-8D02-48E3-B898-EBCF6E520D98}" type="presOf" srcId="{40B7CF86-1D65-4070-9886-AD40C4B9B2CE}" destId="{B24B856F-DAB6-4DC7-8E31-AE46B21B25A8}" srcOrd="0" destOrd="0" presId="urn:microsoft.com/office/officeart/2005/8/layout/bList2#1"/>
    <dgm:cxn modelId="{BC6498B9-F575-4C0C-82CA-907A7AB485BB}" type="presOf" srcId="{BCBC41E5-DB22-4A2C-94B6-4D5D64DE5E99}" destId="{90D227D5-18B7-4324-A1D2-2142C99B19E3}" srcOrd="1" destOrd="0" presId="urn:microsoft.com/office/officeart/2005/8/layout/bList2#1"/>
    <dgm:cxn modelId="{0FA92957-CDA9-49ED-A8AE-4D867B6FC5C6}" srcId="{37FFDCF3-8FE5-46AC-8BEC-D410FECA3CB6}" destId="{3A00EACD-C6C4-4D71-BB8E-ED723ABB838E}" srcOrd="1" destOrd="0" parTransId="{A20911B0-3D95-40C1-9993-F5275E96CD63}" sibTransId="{CDD93B5C-09EC-4F25-93AB-73597894D8C9}"/>
    <dgm:cxn modelId="{223CBB73-4D69-4845-B34E-7DE7DFD520A6}" srcId="{9A93EC97-A09D-4F9C-9DCC-CCD56D2C4930}" destId="{37FFDCF3-8FE5-46AC-8BEC-D410FECA3CB6}" srcOrd="2" destOrd="0" parTransId="{6E3F10B4-4FD3-4E0F-828C-D4174B191F59}" sibTransId="{1BE94F82-C407-4AE7-B3B8-FAF27CC48302}"/>
    <dgm:cxn modelId="{15DB8843-BDBB-41B5-8C34-DD466B7A1790}" srcId="{40B7CF86-1D65-4070-9886-AD40C4B9B2CE}" destId="{80DD2757-2163-4297-B84B-2EDB2AA565AD}" srcOrd="1" destOrd="0" parTransId="{FFDE89C9-0542-48A8-8EDC-2D854DDFC541}" sibTransId="{E9C44FF7-1B27-424D-883B-B1D7303C4074}"/>
    <dgm:cxn modelId="{583C7632-77F2-45A7-9204-D2EDA735C9E3}" type="presOf" srcId="{37FFDCF3-8FE5-46AC-8BEC-D410FECA3CB6}" destId="{1E68461D-F121-4747-8A96-791FA0CF1939}" srcOrd="0" destOrd="0" presId="urn:microsoft.com/office/officeart/2005/8/layout/bList2#1"/>
    <dgm:cxn modelId="{E227B597-4C8C-4E83-8E89-5C7A881C6515}" type="presOf" srcId="{AF925520-F427-41CE-9D4B-E8E15679C40B}" destId="{B75DC69D-3215-492E-B94D-4AE7E3827A8A}" srcOrd="0" destOrd="0" presId="urn:microsoft.com/office/officeart/2005/8/layout/bList2#1"/>
    <dgm:cxn modelId="{8BB191CB-2928-46D8-A32B-E674C33B8DB3}" type="presOf" srcId="{9737C764-4432-4E75-9C3B-13CB6B705FF7}" destId="{8F442796-5AC8-4F5F-B147-03F24883444E}" srcOrd="0" destOrd="0" presId="urn:microsoft.com/office/officeart/2005/8/layout/bList2#1"/>
    <dgm:cxn modelId="{211BC225-8592-4179-B0D5-878DBE86FD54}" type="presOf" srcId="{9574893D-CD5B-456E-A971-74F05EB237FC}" destId="{2C46C43B-5FBA-4155-91C8-112805875CDE}" srcOrd="0" destOrd="0" presId="urn:microsoft.com/office/officeart/2005/8/layout/bList2#1"/>
    <dgm:cxn modelId="{11186E7B-C1DF-47B9-BA35-344FC904ED71}" type="presOf" srcId="{819CE84A-B537-47CF-A1C3-7E9C9A0A2305}" destId="{2C46C43B-5FBA-4155-91C8-112805875CDE}" srcOrd="0" destOrd="1" presId="urn:microsoft.com/office/officeart/2005/8/layout/bList2#1"/>
    <dgm:cxn modelId="{5C3594FC-CA02-4D10-BCCD-0E64330189C0}" srcId="{9A93EC97-A09D-4F9C-9DCC-CCD56D2C4930}" destId="{BCBC41E5-DB22-4A2C-94B6-4D5D64DE5E99}" srcOrd="4" destOrd="0" parTransId="{87469495-C6DC-4937-873A-67BE6940408A}" sibTransId="{9A384E30-F01A-4ABF-80C1-DE1B29A670F7}"/>
    <dgm:cxn modelId="{B7B96927-5603-410C-9339-BECDB46FDF57}" srcId="{40B7CF86-1D65-4070-9886-AD40C4B9B2CE}" destId="{9737C764-4432-4E75-9C3B-13CB6B705FF7}" srcOrd="0" destOrd="0" parTransId="{8CC50635-7806-4EAF-B331-A50141E0013D}" sibTransId="{0B7A793B-62AB-4734-A931-8D5935474C08}"/>
    <dgm:cxn modelId="{F972CC43-5069-4936-89CC-6F6F9ACBC273}" type="presOf" srcId="{8645FC51-90D4-4DE0-BDFE-5B8BD31DA657}" destId="{70F2115E-FC7E-41CE-90E6-E2DE7EB5947D}" srcOrd="0" destOrd="0" presId="urn:microsoft.com/office/officeart/2005/8/layout/bList2#1"/>
    <dgm:cxn modelId="{0D4FF3D3-720B-43AC-8DF3-F0B18BE04415}" srcId="{BCBC41E5-DB22-4A2C-94B6-4D5D64DE5E99}" destId="{422259F3-5DAF-427D-AEED-9E7169449F43}" srcOrd="2" destOrd="0" parTransId="{B1B81C04-369A-4DAD-A6B5-93312839BB60}" sibTransId="{7C2E3D9B-DC5E-45F9-AADA-803096BE2EC4}"/>
    <dgm:cxn modelId="{BD28174E-4EFC-407F-814F-7BC66BF885EC}" srcId="{F5319993-36B2-40D0-9816-B8768E7A5F28}" destId="{9A04594D-1ADF-4F1F-B527-677F9DC7F2E5}" srcOrd="1" destOrd="0" parTransId="{A9CFA49B-7D68-4719-92B3-22C46B3AC45D}" sibTransId="{67AF39CC-1E4A-4DCC-B5DE-F53C4F360B4C}"/>
    <dgm:cxn modelId="{966B024D-1E8F-40DA-8383-ED4DF0E346F7}" type="presOf" srcId="{B7320297-DFD2-47F9-8868-2F9139D622E9}" destId="{9985ADAD-83A3-4E4C-AABE-EA915A7065B4}" srcOrd="0" destOrd="0" presId="urn:microsoft.com/office/officeart/2005/8/layout/bList2#1"/>
    <dgm:cxn modelId="{C3EA25B3-CCF2-4036-AC85-23AC81439E25}" type="presOf" srcId="{1BE94F82-C407-4AE7-B3B8-FAF27CC48302}" destId="{7167311C-507A-45C0-A7EB-E6CCC53296F0}" srcOrd="0" destOrd="0" presId="urn:microsoft.com/office/officeart/2005/8/layout/bList2#1"/>
    <dgm:cxn modelId="{71E2287E-1C0E-4B5B-A951-0D74794BB812}" type="presOf" srcId="{BCBC41E5-DB22-4A2C-94B6-4D5D64DE5E99}" destId="{3C719C4E-AB5A-400A-87A2-A7B89F25F08B}" srcOrd="0" destOrd="0" presId="urn:microsoft.com/office/officeart/2005/8/layout/bList2#1"/>
    <dgm:cxn modelId="{B0EA56AC-ECEE-46B6-BE3F-F7161736039A}" srcId="{4C03C3F5-812F-4EF2-9448-0B30CF605973}" destId="{9574893D-CD5B-456E-A971-74F05EB237FC}" srcOrd="0" destOrd="0" parTransId="{EB9E25E7-4996-4CB2-B2EC-1EB871579322}" sibTransId="{BD3214D4-1DC4-4C08-8589-1781893CE1F3}"/>
    <dgm:cxn modelId="{C642E65B-E8CE-4289-A923-7E699DEB09F9}" type="presOf" srcId="{01B5C7E6-CDFF-48C3-BD53-A8AAE938913C}" destId="{C21F3150-E7B8-445E-B011-B0CAB4C14670}" srcOrd="0" destOrd="2" presId="urn:microsoft.com/office/officeart/2005/8/layout/bList2#1"/>
    <dgm:cxn modelId="{858C965E-2F7B-4998-96F1-9B5C43AF9720}" type="presParOf" srcId="{F9AE4533-93FE-4959-A5F5-05C243F021F9}" destId="{75BA2C0C-90B7-4738-B494-E2DCCDB3B581}" srcOrd="0" destOrd="0" presId="urn:microsoft.com/office/officeart/2005/8/layout/bList2#1"/>
    <dgm:cxn modelId="{4246461A-988D-43C9-BA16-D6606153592A}" type="presParOf" srcId="{75BA2C0C-90B7-4738-B494-E2DCCDB3B581}" destId="{8F442796-5AC8-4F5F-B147-03F24883444E}" srcOrd="0" destOrd="0" presId="urn:microsoft.com/office/officeart/2005/8/layout/bList2#1"/>
    <dgm:cxn modelId="{066E17AB-5C63-4A2B-8F8D-04772AEF59F5}" type="presParOf" srcId="{75BA2C0C-90B7-4738-B494-E2DCCDB3B581}" destId="{B24B856F-DAB6-4DC7-8E31-AE46B21B25A8}" srcOrd="1" destOrd="0" presId="urn:microsoft.com/office/officeart/2005/8/layout/bList2#1"/>
    <dgm:cxn modelId="{096A1149-E098-422B-ACC7-8F1B86B8DBF1}" type="presParOf" srcId="{75BA2C0C-90B7-4738-B494-E2DCCDB3B581}" destId="{A96DB745-1046-460D-953D-E79B1503F005}" srcOrd="2" destOrd="0" presId="urn:microsoft.com/office/officeart/2005/8/layout/bList2#1"/>
    <dgm:cxn modelId="{51FA3376-94C8-4143-A691-E41136C1F4FF}" type="presParOf" srcId="{75BA2C0C-90B7-4738-B494-E2DCCDB3B581}" destId="{0C7E465B-761B-46B9-81C9-8E28AEE20841}" srcOrd="3" destOrd="0" presId="urn:microsoft.com/office/officeart/2005/8/layout/bList2#1"/>
    <dgm:cxn modelId="{FB59221E-9892-45E2-91E6-888FD37D88F8}" type="presParOf" srcId="{F9AE4533-93FE-4959-A5F5-05C243F021F9}" destId="{DA720180-7445-497B-969B-CCED3C97D47A}" srcOrd="1" destOrd="0" presId="urn:microsoft.com/office/officeart/2005/8/layout/bList2#1"/>
    <dgm:cxn modelId="{14FBFC9E-FDE2-4917-A88F-7E2996B9BF3B}" type="presParOf" srcId="{F9AE4533-93FE-4959-A5F5-05C243F021F9}" destId="{7D1E1E3E-8564-4508-A855-8787390CCF42}" srcOrd="2" destOrd="0" presId="urn:microsoft.com/office/officeart/2005/8/layout/bList2#1"/>
    <dgm:cxn modelId="{25375694-912B-4D11-8CD1-FDBB09F4A9FF}" type="presParOf" srcId="{7D1E1E3E-8564-4508-A855-8787390CCF42}" destId="{2C46C43B-5FBA-4155-91C8-112805875CDE}" srcOrd="0" destOrd="0" presId="urn:microsoft.com/office/officeart/2005/8/layout/bList2#1"/>
    <dgm:cxn modelId="{F2CAC9DC-AB7E-46A0-A277-462180027B9B}" type="presParOf" srcId="{7D1E1E3E-8564-4508-A855-8787390CCF42}" destId="{C3C38B34-0822-4680-860F-633D8CC37A96}" srcOrd="1" destOrd="0" presId="urn:microsoft.com/office/officeart/2005/8/layout/bList2#1"/>
    <dgm:cxn modelId="{92E504A6-9EE0-4816-B911-90695E9AB81E}" type="presParOf" srcId="{7D1E1E3E-8564-4508-A855-8787390CCF42}" destId="{F849913E-0A91-46F6-A89E-62F2F7BCD835}" srcOrd="2" destOrd="0" presId="urn:microsoft.com/office/officeart/2005/8/layout/bList2#1"/>
    <dgm:cxn modelId="{82F36254-2E25-4904-8EEA-C2B7A9451257}" type="presParOf" srcId="{7D1E1E3E-8564-4508-A855-8787390CCF42}" destId="{26A24085-796A-471B-BDAE-812DD05E8914}" srcOrd="3" destOrd="0" presId="urn:microsoft.com/office/officeart/2005/8/layout/bList2#1"/>
    <dgm:cxn modelId="{5084D991-B07F-4867-8FAD-FF56DFFF30D4}" type="presParOf" srcId="{F9AE4533-93FE-4959-A5F5-05C243F021F9}" destId="{C4B575A7-D7F9-4296-93D2-DE5492238EC6}" srcOrd="3" destOrd="0" presId="urn:microsoft.com/office/officeart/2005/8/layout/bList2#1"/>
    <dgm:cxn modelId="{BB029CA2-250F-4099-8A4C-770087D2AD83}" type="presParOf" srcId="{F9AE4533-93FE-4959-A5F5-05C243F021F9}" destId="{120D2284-5E8A-4ACC-895D-55D3C23C456C}" srcOrd="4" destOrd="0" presId="urn:microsoft.com/office/officeart/2005/8/layout/bList2#1"/>
    <dgm:cxn modelId="{51A5D8D1-1B23-4002-8781-97D787EBD0A9}" type="presParOf" srcId="{120D2284-5E8A-4ACC-895D-55D3C23C456C}" destId="{9985ADAD-83A3-4E4C-AABE-EA915A7065B4}" srcOrd="0" destOrd="0" presId="urn:microsoft.com/office/officeart/2005/8/layout/bList2#1"/>
    <dgm:cxn modelId="{1653A2EF-1E82-49C0-A6FE-6F0567277BFB}" type="presParOf" srcId="{120D2284-5E8A-4ACC-895D-55D3C23C456C}" destId="{1E68461D-F121-4747-8A96-791FA0CF1939}" srcOrd="1" destOrd="0" presId="urn:microsoft.com/office/officeart/2005/8/layout/bList2#1"/>
    <dgm:cxn modelId="{B1C22A86-8AAE-49C8-A363-A266513B0D74}" type="presParOf" srcId="{120D2284-5E8A-4ACC-895D-55D3C23C456C}" destId="{BD0424C5-7A17-4F0C-8900-58D659528BDD}" srcOrd="2" destOrd="0" presId="urn:microsoft.com/office/officeart/2005/8/layout/bList2#1"/>
    <dgm:cxn modelId="{260CBA5E-CF33-4905-9E80-B33148ED5582}" type="presParOf" srcId="{120D2284-5E8A-4ACC-895D-55D3C23C456C}" destId="{E65C2C2E-F87A-44FD-80BA-6B3475793061}" srcOrd="3" destOrd="0" presId="urn:microsoft.com/office/officeart/2005/8/layout/bList2#1"/>
    <dgm:cxn modelId="{E3A8AD54-81F4-41F2-BF8C-D10EA23DD501}" type="presParOf" srcId="{F9AE4533-93FE-4959-A5F5-05C243F021F9}" destId="{7167311C-507A-45C0-A7EB-E6CCC53296F0}" srcOrd="5" destOrd="0" presId="urn:microsoft.com/office/officeart/2005/8/layout/bList2#1"/>
    <dgm:cxn modelId="{30AAFE5F-457E-4979-999A-59C308096CD7}" type="presParOf" srcId="{F9AE4533-93FE-4959-A5F5-05C243F021F9}" destId="{AA469212-09FE-468D-B064-D2FFF2378FCD}" srcOrd="6" destOrd="0" presId="urn:microsoft.com/office/officeart/2005/8/layout/bList2#1"/>
    <dgm:cxn modelId="{4E20538C-4B39-427B-981B-0A46113E293E}" type="presParOf" srcId="{AA469212-09FE-468D-B064-D2FFF2378FCD}" destId="{C21F3150-E7B8-445E-B011-B0CAB4C14670}" srcOrd="0" destOrd="0" presId="urn:microsoft.com/office/officeart/2005/8/layout/bList2#1"/>
    <dgm:cxn modelId="{81460B32-5713-46E9-8740-FE3E41EC5238}" type="presParOf" srcId="{AA469212-09FE-468D-B064-D2FFF2378FCD}" destId="{8587AB57-4A3D-4CF2-AA88-5A39649A9D96}" srcOrd="1" destOrd="0" presId="urn:microsoft.com/office/officeart/2005/8/layout/bList2#1"/>
    <dgm:cxn modelId="{06C7C11B-B611-4E72-8253-36218C9F1025}" type="presParOf" srcId="{AA469212-09FE-468D-B064-D2FFF2378FCD}" destId="{FF5DBEAD-494C-4955-9C46-30DEB8FC6C4F}" srcOrd="2" destOrd="0" presId="urn:microsoft.com/office/officeart/2005/8/layout/bList2#1"/>
    <dgm:cxn modelId="{D9822E1C-F1B2-4441-A124-C9658B051052}" type="presParOf" srcId="{AA469212-09FE-468D-B064-D2FFF2378FCD}" destId="{FFEA270C-1EAC-4DBC-B545-22AE1EC58E62}" srcOrd="3" destOrd="0" presId="urn:microsoft.com/office/officeart/2005/8/layout/bList2#1"/>
    <dgm:cxn modelId="{19BF9DEF-27C7-4D7B-B343-A8B1B8EAAB12}" type="presParOf" srcId="{F9AE4533-93FE-4959-A5F5-05C243F021F9}" destId="{B75DC69D-3215-492E-B94D-4AE7E3827A8A}" srcOrd="7" destOrd="0" presId="urn:microsoft.com/office/officeart/2005/8/layout/bList2#1"/>
    <dgm:cxn modelId="{168FEB94-4AC6-4867-9040-99020C9F31C9}" type="presParOf" srcId="{F9AE4533-93FE-4959-A5F5-05C243F021F9}" destId="{DD06077F-AB42-4435-8725-C4401D0103EF}" srcOrd="8" destOrd="0" presId="urn:microsoft.com/office/officeart/2005/8/layout/bList2#1"/>
    <dgm:cxn modelId="{29053FA3-A7F4-4EF9-9C6E-F07A35DA51D5}" type="presParOf" srcId="{DD06077F-AB42-4435-8725-C4401D0103EF}" destId="{70F2115E-FC7E-41CE-90E6-E2DE7EB5947D}" srcOrd="0" destOrd="0" presId="urn:microsoft.com/office/officeart/2005/8/layout/bList2#1"/>
    <dgm:cxn modelId="{CDB3065F-A65B-434F-BAE3-A2840DB229F4}" type="presParOf" srcId="{DD06077F-AB42-4435-8725-C4401D0103EF}" destId="{3C719C4E-AB5A-400A-87A2-A7B89F25F08B}" srcOrd="1" destOrd="0" presId="urn:microsoft.com/office/officeart/2005/8/layout/bList2#1"/>
    <dgm:cxn modelId="{320EE8D8-65F6-40A7-B429-0585DA4B28C1}" type="presParOf" srcId="{DD06077F-AB42-4435-8725-C4401D0103EF}" destId="{90D227D5-18B7-4324-A1D2-2142C99B19E3}" srcOrd="2" destOrd="0" presId="urn:microsoft.com/office/officeart/2005/8/layout/bList2#1"/>
    <dgm:cxn modelId="{4A369D94-BDCF-47DE-81F7-E8F87D76DD91}" type="presParOf" srcId="{DD06077F-AB42-4435-8725-C4401D0103EF}" destId="{D8A2A132-0C72-431F-A6C2-7CF702FD24F2}" srcOrd="3" destOrd="0" presId="urn:microsoft.com/office/officeart/2005/8/layout/bList2#1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333BF-A950-4406-9EE0-FFD4EAC3CA0D}">
      <dsp:nvSpPr>
        <dsp:cNvPr id="0" name=""/>
        <dsp:cNvSpPr/>
      </dsp:nvSpPr>
      <dsp:spPr>
        <a:xfrm>
          <a:off x="2090163" y="3399040"/>
          <a:ext cx="2373626" cy="2011159"/>
        </a:xfrm>
        <a:prstGeom prst="rect">
          <a:avLst/>
        </a:prstGeom>
        <a:blipFill>
          <a:blip xmlns:r="http://schemas.openxmlformats.org/officeDocument/2006/relationships" r:embed="rId1">
            <a:extLst/>
          </a:blip>
          <a:srcRect/>
          <a:stretch>
            <a:fillRect t="-43000" b="-4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5ACAD0-EEDD-4135-ADE9-68B81952998C}">
      <dsp:nvSpPr>
        <dsp:cNvPr id="0" name=""/>
        <dsp:cNvSpPr/>
      </dsp:nvSpPr>
      <dsp:spPr>
        <a:xfrm>
          <a:off x="4441714" y="3437196"/>
          <a:ext cx="1306469" cy="1973003"/>
        </a:xfrm>
        <a:prstGeom prst="roundRect">
          <a:avLst>
            <a:gd name="adj" fmla="val 10000"/>
          </a:avLst>
        </a:prstGeom>
        <a:solidFill>
          <a:srgbClr val="FFFF00">
            <a:alpha val="90000"/>
          </a:srgb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solidFill>
                <a:schemeClr val="accent5">
                  <a:lumMod val="50000"/>
                </a:schemeClr>
              </a:solidFill>
            </a:rPr>
            <a:t>“ </a:t>
          </a:r>
          <a:r>
            <a:rPr lang="en-US" sz="1400" b="1" kern="1200" dirty="0" err="1" smtClean="0">
              <a:solidFill>
                <a:schemeClr val="accent5">
                  <a:lumMod val="50000"/>
                </a:schemeClr>
              </a:solidFill>
            </a:rPr>
            <a:t>Gir</a:t>
          </a:r>
          <a:r>
            <a:rPr lang="en-US" sz="1400" b="1" kern="1200" dirty="0" smtClean="0">
              <a:solidFill>
                <a:schemeClr val="accent5">
                  <a:lumMod val="50000"/>
                </a:schemeClr>
              </a:solidFill>
            </a:rPr>
            <a:t> </a:t>
          </a:r>
          <a:r>
            <a:rPr lang="en-US" sz="1400" b="1" kern="1200" dirty="0" err="1" smtClean="0">
              <a:solidFill>
                <a:schemeClr val="accent5">
                  <a:lumMod val="50000"/>
                </a:schemeClr>
              </a:solidFill>
            </a:rPr>
            <a:t>Kesar</a:t>
          </a:r>
          <a:r>
            <a:rPr lang="en-US" sz="1400" b="1" kern="1200" dirty="0" smtClean="0">
              <a:solidFill>
                <a:schemeClr val="accent5">
                  <a:lumMod val="50000"/>
                </a:schemeClr>
              </a:solidFill>
            </a:rPr>
            <a:t>” mango, having GI status</a:t>
          </a:r>
          <a:endParaRPr lang="en-US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solidFill>
                <a:schemeClr val="accent5">
                  <a:lumMod val="50000"/>
                </a:schemeClr>
              </a:solidFill>
            </a:rPr>
            <a:t>12.22 Lakh MT Production  from 1.66 lakh ha.</a:t>
          </a:r>
          <a:endParaRPr lang="en-US" sz="1400" b="1" kern="1200" dirty="0">
            <a:solidFill>
              <a:schemeClr val="accent5">
                <a:lumMod val="50000"/>
              </a:schemeClr>
            </a:solidFill>
          </a:endParaRPr>
        </a:p>
      </dsp:txBody>
      <dsp:txXfrm>
        <a:off x="4479979" y="3475461"/>
        <a:ext cx="1229939" cy="1896473"/>
      </dsp:txXfrm>
    </dsp:sp>
    <dsp:sp modelId="{2DCDDEEB-4519-45C1-897C-403DBF4F91D2}">
      <dsp:nvSpPr>
        <dsp:cNvPr id="0" name=""/>
        <dsp:cNvSpPr/>
      </dsp:nvSpPr>
      <dsp:spPr>
        <a:xfrm>
          <a:off x="3154023" y="2839992"/>
          <a:ext cx="2373626" cy="57638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Mango </a:t>
          </a:r>
          <a:endParaRPr lang="en-US" sz="2400" b="1" kern="1200" dirty="0"/>
        </a:p>
      </dsp:txBody>
      <dsp:txXfrm>
        <a:off x="3154023" y="2839992"/>
        <a:ext cx="2373626" cy="576380"/>
      </dsp:txXfrm>
    </dsp:sp>
    <dsp:sp modelId="{8FDDC48E-FBC0-42A5-9FC9-EE609EEE1486}">
      <dsp:nvSpPr>
        <dsp:cNvPr id="0" name=""/>
        <dsp:cNvSpPr/>
      </dsp:nvSpPr>
      <dsp:spPr>
        <a:xfrm>
          <a:off x="6346995" y="3399040"/>
          <a:ext cx="2373626" cy="2011159"/>
        </a:xfrm>
        <a:prstGeom prst="rect">
          <a:avLst/>
        </a:prstGeom>
        <a:blipFill>
          <a:blip xmlns:r="http://schemas.openxmlformats.org/officeDocument/2006/relationships" r:embed="rId2">
            <a:extLst/>
          </a:blip>
          <a:srcRect/>
          <a:stretch>
            <a:fillRect t="-36000" b="-3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4914D-801B-426E-9FC7-B6045213DB3D}">
      <dsp:nvSpPr>
        <dsp:cNvPr id="0" name=""/>
        <dsp:cNvSpPr/>
      </dsp:nvSpPr>
      <dsp:spPr>
        <a:xfrm>
          <a:off x="8691269" y="3393235"/>
          <a:ext cx="1306469" cy="1973003"/>
        </a:xfrm>
        <a:prstGeom prst="roundRect">
          <a:avLst>
            <a:gd name="adj" fmla="val 10000"/>
          </a:avLst>
        </a:prstGeom>
        <a:solidFill>
          <a:srgbClr val="FFFF00">
            <a:alpha val="90000"/>
          </a:srgbClr>
        </a:solidFill>
        <a:ln w="12700" cap="flat" cmpd="sng" algn="ctr">
          <a:solidFill>
            <a:schemeClr val="accent5">
              <a:hueOff val="-1838336"/>
              <a:satOff val="-2557"/>
              <a:lumOff val="-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solidFill>
                <a:schemeClr val="accent5">
                  <a:lumMod val="50000"/>
                </a:schemeClr>
              </a:solidFill>
            </a:rPr>
            <a:t>“</a:t>
          </a:r>
          <a:r>
            <a:rPr lang="en-US" sz="1400" b="1" kern="1200" dirty="0" err="1" smtClean="0">
              <a:solidFill>
                <a:schemeClr val="accent5">
                  <a:lumMod val="50000"/>
                </a:schemeClr>
              </a:solidFill>
            </a:rPr>
            <a:t>Kutcchi</a:t>
          </a:r>
          <a:r>
            <a:rPr lang="en-US" sz="1400" b="1" kern="1200" dirty="0" smtClean="0">
              <a:solidFill>
                <a:schemeClr val="accent5">
                  <a:lumMod val="50000"/>
                </a:schemeClr>
              </a:solidFill>
            </a:rPr>
            <a:t>” Date, monopoly of the state</a:t>
          </a:r>
          <a:endParaRPr lang="en-US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solidFill>
                <a:schemeClr val="accent5">
                  <a:lumMod val="50000"/>
                </a:schemeClr>
              </a:solidFill>
            </a:rPr>
            <a:t>1.84 Lakh MT Production with yield of 9.30 MT/ha. </a:t>
          </a:r>
          <a:endParaRPr lang="en-US" sz="1400" b="1" kern="1200" dirty="0">
            <a:solidFill>
              <a:schemeClr val="accent5">
                <a:lumMod val="50000"/>
              </a:schemeClr>
            </a:solidFill>
          </a:endParaRPr>
        </a:p>
      </dsp:txBody>
      <dsp:txXfrm>
        <a:off x="8729534" y="3431500"/>
        <a:ext cx="1229939" cy="1896473"/>
      </dsp:txXfrm>
    </dsp:sp>
    <dsp:sp modelId="{6EF69702-FD0A-42BB-9EE3-49055EDF2C76}">
      <dsp:nvSpPr>
        <dsp:cNvPr id="0" name=""/>
        <dsp:cNvSpPr/>
      </dsp:nvSpPr>
      <dsp:spPr>
        <a:xfrm>
          <a:off x="7059178" y="2831202"/>
          <a:ext cx="2373626" cy="576380"/>
        </a:xfrm>
        <a:prstGeom prst="rect">
          <a:avLst/>
        </a:prstGeom>
        <a:solidFill>
          <a:schemeClr val="accent5">
            <a:hueOff val="-1838336"/>
            <a:satOff val="-2557"/>
            <a:lumOff val="-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err="1" smtClean="0"/>
            <a:t>Datepalm</a:t>
          </a:r>
          <a:endParaRPr lang="en-US" sz="2400" b="1" kern="1200" dirty="0"/>
        </a:p>
      </dsp:txBody>
      <dsp:txXfrm>
        <a:off x="7059178" y="2831202"/>
        <a:ext cx="2373626" cy="576380"/>
      </dsp:txXfrm>
    </dsp:sp>
    <dsp:sp modelId="{668BCAB6-AB25-4A90-94A8-1145D4A65AD3}">
      <dsp:nvSpPr>
        <dsp:cNvPr id="0" name=""/>
        <dsp:cNvSpPr/>
      </dsp:nvSpPr>
      <dsp:spPr>
        <a:xfrm>
          <a:off x="8030495" y="215780"/>
          <a:ext cx="2269116" cy="2011159"/>
        </a:xfrm>
        <a:prstGeom prst="rect">
          <a:avLst/>
        </a:prstGeom>
        <a:blipFill>
          <a:blip xmlns:r="http://schemas.openxmlformats.org/officeDocument/2006/relationships" r:embed="rId3">
            <a:extLst/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51D4BD-3026-4C8B-A088-25A4C73D080D}">
      <dsp:nvSpPr>
        <dsp:cNvPr id="0" name=""/>
        <dsp:cNvSpPr/>
      </dsp:nvSpPr>
      <dsp:spPr>
        <a:xfrm>
          <a:off x="10297159" y="565379"/>
          <a:ext cx="1306469" cy="1702793"/>
        </a:xfrm>
        <a:prstGeom prst="roundRect">
          <a:avLst>
            <a:gd name="adj" fmla="val 10000"/>
          </a:avLst>
        </a:prstGeom>
        <a:solidFill>
          <a:srgbClr val="FFFF00">
            <a:alpha val="90000"/>
          </a:srgbClr>
        </a:solidFill>
        <a:ln w="1270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accent5">
                  <a:lumMod val="50000"/>
                </a:schemeClr>
              </a:solidFill>
            </a:rPr>
            <a:t>47% production of the country  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rgbClr val="FF0000"/>
              </a:solidFill>
            </a:rPr>
            <a:t>21.63 lakh ha. Area &amp; 41.28 MT Production</a:t>
          </a:r>
          <a:endParaRPr lang="en-US" sz="1400" b="1" kern="1200" dirty="0">
            <a:solidFill>
              <a:schemeClr val="accent5">
                <a:lumMod val="50000"/>
              </a:schemeClr>
            </a:solidFill>
          </a:endParaRPr>
        </a:p>
      </dsp:txBody>
      <dsp:txXfrm>
        <a:off x="10335424" y="603644"/>
        <a:ext cx="1229939" cy="1626263"/>
      </dsp:txXfrm>
    </dsp:sp>
    <dsp:sp modelId="{4EFF84DC-B633-4697-90DB-3E1BD81DCF44}">
      <dsp:nvSpPr>
        <dsp:cNvPr id="0" name=""/>
        <dsp:cNvSpPr/>
      </dsp:nvSpPr>
      <dsp:spPr>
        <a:xfrm>
          <a:off x="8883850" y="1"/>
          <a:ext cx="2373626" cy="576380"/>
        </a:xfrm>
        <a:prstGeom prst="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Groundnut</a:t>
          </a:r>
          <a:endParaRPr lang="en-US" sz="2400" b="1" kern="1200" dirty="0"/>
        </a:p>
      </dsp:txBody>
      <dsp:txXfrm>
        <a:off x="8883850" y="1"/>
        <a:ext cx="2373626" cy="576380"/>
      </dsp:txXfrm>
    </dsp:sp>
    <dsp:sp modelId="{C983F43D-CD02-4AA2-B629-DCFD06126048}">
      <dsp:nvSpPr>
        <dsp:cNvPr id="0" name=""/>
        <dsp:cNvSpPr/>
      </dsp:nvSpPr>
      <dsp:spPr>
        <a:xfrm>
          <a:off x="450667" y="584913"/>
          <a:ext cx="1944261" cy="1751136"/>
        </a:xfrm>
        <a:prstGeom prst="rect">
          <a:avLst/>
        </a:prstGeom>
        <a:blipFill>
          <a:blip xmlns:r="http://schemas.openxmlformats.org/officeDocument/2006/relationships" r:embed="rId4">
            <a:extLst/>
          </a:blip>
          <a:srcRect/>
          <a:stretch>
            <a:fillRect t="-4000" b="-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E43F21-A116-483B-8E09-BC9BB2D3EC6B}">
      <dsp:nvSpPr>
        <dsp:cNvPr id="0" name=""/>
        <dsp:cNvSpPr/>
      </dsp:nvSpPr>
      <dsp:spPr>
        <a:xfrm>
          <a:off x="2398784" y="598527"/>
          <a:ext cx="1306469" cy="1735817"/>
        </a:xfrm>
        <a:prstGeom prst="roundRect">
          <a:avLst>
            <a:gd name="adj" fmla="val 10000"/>
          </a:avLst>
        </a:prstGeom>
        <a:solidFill>
          <a:srgbClr val="FFFF00">
            <a:alpha val="90000"/>
          </a:srgbClr>
        </a:solidFill>
        <a:ln w="12700" cap="flat" cmpd="sng" algn="ctr">
          <a:solidFill>
            <a:schemeClr val="accent5">
              <a:hueOff val="-5515009"/>
              <a:satOff val="-7671"/>
              <a:lumOff val="-29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solidFill>
                <a:schemeClr val="accent5">
                  <a:lumMod val="50000"/>
                </a:schemeClr>
              </a:solidFill>
            </a:rPr>
            <a:t>1/3 production of the </a:t>
          </a:r>
          <a:r>
            <a:rPr lang="en-US" sz="1400" b="1" kern="1200" dirty="0" smtClean="0">
              <a:solidFill>
                <a:schemeClr val="accent5">
                  <a:lumMod val="50000"/>
                </a:schemeClr>
              </a:solidFill>
            </a:rPr>
            <a:t>country</a:t>
          </a:r>
          <a:endParaRPr lang="en-US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solidFill>
                <a:srgbClr val="FF0000"/>
              </a:solidFill>
            </a:rPr>
            <a:t>22.70  lakh ha. &amp; 72.70 lakh bales production</a:t>
          </a:r>
          <a:endParaRPr lang="en-US" sz="1400" kern="1200" dirty="0">
            <a:solidFill>
              <a:srgbClr val="FF0000"/>
            </a:solidFill>
          </a:endParaRPr>
        </a:p>
      </dsp:txBody>
      <dsp:txXfrm>
        <a:off x="2437049" y="636792"/>
        <a:ext cx="1229939" cy="1659287"/>
      </dsp:txXfrm>
    </dsp:sp>
    <dsp:sp modelId="{190DB6BE-C7E4-4DE4-AC6C-CCFCBAAB043C}">
      <dsp:nvSpPr>
        <dsp:cNvPr id="0" name=""/>
        <dsp:cNvSpPr/>
      </dsp:nvSpPr>
      <dsp:spPr>
        <a:xfrm>
          <a:off x="1335294" y="0"/>
          <a:ext cx="1707658" cy="576380"/>
        </a:xfrm>
        <a:prstGeom prst="rect">
          <a:avLst/>
        </a:prstGeom>
        <a:solidFill>
          <a:schemeClr val="accent5">
            <a:hueOff val="-5515009"/>
            <a:satOff val="-7671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Cotton</a:t>
          </a:r>
          <a:endParaRPr lang="en-US" sz="2400" b="1" kern="1200" dirty="0"/>
        </a:p>
      </dsp:txBody>
      <dsp:txXfrm>
        <a:off x="1335294" y="0"/>
        <a:ext cx="1707658" cy="576380"/>
      </dsp:txXfrm>
    </dsp:sp>
    <dsp:sp modelId="{7633EFC1-AB38-41B7-B06B-21E2DA24ABCE}">
      <dsp:nvSpPr>
        <dsp:cNvPr id="0" name=""/>
        <dsp:cNvSpPr/>
      </dsp:nvSpPr>
      <dsp:spPr>
        <a:xfrm>
          <a:off x="4125854" y="573379"/>
          <a:ext cx="2012693" cy="1743936"/>
        </a:xfrm>
        <a:prstGeom prst="rect">
          <a:avLst/>
        </a:prstGeom>
        <a:blipFill>
          <a:blip xmlns:r="http://schemas.openxmlformats.org/officeDocument/2006/relationships" r:embed="rId5">
            <a:extLst/>
          </a:blip>
          <a:srcRect/>
          <a:stretch>
            <a:fillRect t="-29000" b="-2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530A38-4830-4C29-B061-458674F49ACF}">
      <dsp:nvSpPr>
        <dsp:cNvPr id="0" name=""/>
        <dsp:cNvSpPr/>
      </dsp:nvSpPr>
      <dsp:spPr>
        <a:xfrm>
          <a:off x="6123739" y="586240"/>
          <a:ext cx="1473994" cy="1740819"/>
        </a:xfrm>
        <a:prstGeom prst="roundRect">
          <a:avLst>
            <a:gd name="adj" fmla="val 10000"/>
          </a:avLst>
        </a:prstGeom>
        <a:solidFill>
          <a:srgbClr val="FFFF00">
            <a:alpha val="90000"/>
          </a:srgb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solidFill>
                <a:schemeClr val="accent5">
                  <a:lumMod val="50000"/>
                </a:schemeClr>
              </a:solidFill>
            </a:rPr>
            <a:t>77% production in country</a:t>
          </a:r>
          <a:endParaRPr lang="en-US" sz="1100" b="1" strike="sngStrike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solidFill>
                <a:srgbClr val="FF0000"/>
              </a:solidFill>
            </a:rPr>
            <a:t>6.51 lakh ha. &amp; 13.46 lakh MT Production.</a:t>
          </a:r>
          <a:endParaRPr lang="en-US" sz="1400" b="1" kern="1200" dirty="0">
            <a:solidFill>
              <a:srgbClr val="FF0000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400" b="1" kern="1200" dirty="0">
            <a:solidFill>
              <a:schemeClr val="accent5">
                <a:lumMod val="50000"/>
              </a:schemeClr>
            </a:solidFill>
          </a:endParaRPr>
        </a:p>
      </dsp:txBody>
      <dsp:txXfrm>
        <a:off x="6166911" y="629412"/>
        <a:ext cx="1387650" cy="1654475"/>
      </dsp:txXfrm>
    </dsp:sp>
    <dsp:sp modelId="{1D87619B-3D79-40DE-9C6A-140255A4BDA6}">
      <dsp:nvSpPr>
        <dsp:cNvPr id="0" name=""/>
        <dsp:cNvSpPr/>
      </dsp:nvSpPr>
      <dsp:spPr>
        <a:xfrm>
          <a:off x="4869927" y="0"/>
          <a:ext cx="1804977" cy="576380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Castor</a:t>
          </a:r>
          <a:endParaRPr lang="en-US" sz="2400" b="1" kern="1200" dirty="0"/>
        </a:p>
      </dsp:txBody>
      <dsp:txXfrm>
        <a:off x="4869927" y="0"/>
        <a:ext cx="1804977" cy="5763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TitledPictureBlocks">
  <dgm:title val=""/>
  <dgm:desc val=""/>
  <dgm:catLst>
    <dgm:cat type="picture" pri="10000"/>
    <dgm:cat type="pictureconvert" pri="10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off" val="ctr"/>
          <dgm:param type="grDir" val="tL"/>
        </dgm:alg>
      </dgm:if>
      <dgm:else name="Name2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op="equ"/>
      <dgm:constr type="primFontSz" for="des" forName="ChildText" op="equ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787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ParentText" refType="w" fact="0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"/>
              <dgm:constr type="t" for="ch" forName="Image" refType="h" fact="0.1661"/>
              <dgm:constr type="w" for="ch" forName="Image" refType="w" fact="0.7457"/>
              <dgm:constr type="h" for="ch" forName="Image" refType="h" fact="0.8711"/>
              <dgm:constr type="l" for="ch" forName="ChildText" refType="w" fact="0.6464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if>
          <dgm:else name="Name5">
            <dgm:constrLst>
              <dgm:constr type="l" for="ch" forName="ParentText" refType="w" fact="0.26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.26"/>
              <dgm:constr type="t" for="ch" forName="Image" refType="h" fact="0.1661"/>
              <dgm:constr type="w" for="ch" forName="Image" refType="w" fact="0.7446"/>
              <dgm:constr type="h" for="ch" forName="Image" refType="h" fact="0.8711"/>
              <dgm:constr type="l" for="ch" forName="ChildText" refType="w" fact="0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else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Text" styleLbl="fgAcc1">
          <dgm:varLst>
            <dgm:chMax val="0"/>
            <dgm:chPref val="0"/>
            <dgm:bulletEnabled val="1"/>
          </dgm:varLst>
          <dgm:choose name="Name6">
            <dgm:if name="Name7" axis="des" ptType="node" func="cnt" op="equ" val="1">
              <dgm:alg type="tx">
                <dgm:param type="stBulletLvl" val="2"/>
                <dgm:param type="txAnchorVertCh" val="mid"/>
                <dgm:param type="parTxLTRAlign" val="l"/>
              </dgm:alg>
            </dgm:if>
            <dgm:else name="Name8">
              <dgm:alg type="tx">
                <dgm:param type="stBulletLvl" val="1"/>
                <dgm:param type="txAnchorVertCh" val="mid"/>
              </dgm:alg>
            </dgm:else>
          </dgm:choose>
          <dgm:choose name="Name9">
            <dgm:if name="Name10" axis="ch" ptType="node" func="cnt" op="gte" val="1"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</dgm:if>
            <dgm:else name="Name11"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#1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9565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627" y="1"/>
            <a:ext cx="2919565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B1C23-5C03-48DD-8332-871908212E16}" type="datetimeFigureOut">
              <a:rPr lang="en-US" smtClean="0"/>
              <a:pPr/>
              <a:t>4/19/2022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263" y="4687292"/>
            <a:ext cx="5389239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71412"/>
            <a:ext cx="2919565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627" y="9371412"/>
            <a:ext cx="2919565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EE51F-DAD1-4F20-B604-64719693D8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09531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4B51E49-CBD9-4AC6-95C1-9674BF5D654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1382214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8EDEC3-D83D-4940-8E12-E2000B9F7CE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1462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8EDEC3-D83D-4940-8E12-E2000B9F7CE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33192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8EDEC3-D83D-4940-8E12-E2000B9F7CE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02972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gu-IN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59489" indent="-29211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68445" indent="-23368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35824" indent="-23368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03200" indent="-23368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70580" indent="-233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37958" indent="-233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05337" indent="-233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972713" indent="-233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2FF19E6-E36B-4FA6-A048-72F654BE25D5}" type="slidenum">
              <a:rPr lang="en-US" smtClean="0"/>
              <a:pPr eaLnBrk="1" hangingPunct="1"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27122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EE51F-DAD1-4F20-B604-64719693D85C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532731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EDEC3-D83D-4940-8E12-E2000B9F7CE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7369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712773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218519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695150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9402-50C2-46B9-BCCD-2D354A19B023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7FBCC-56F1-4B38-8756-9DBF088B8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38805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9402-50C2-46B9-BCCD-2D354A19B023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7FBCC-56F1-4B38-8756-9DBF088B8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1623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9402-50C2-46B9-BCCD-2D354A19B023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7FBCC-56F1-4B38-8756-9DBF088B8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2536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9402-50C2-46B9-BCCD-2D354A19B023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7FBCC-56F1-4B38-8756-9DBF088B8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42333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9402-50C2-46B9-BCCD-2D354A19B023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7FBCC-56F1-4B38-8756-9DBF088B8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5180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9402-50C2-46B9-BCCD-2D354A19B023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7FBCC-56F1-4B38-8756-9DBF088B8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7512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9402-50C2-46B9-BCCD-2D354A19B023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7FBCC-56F1-4B38-8756-9DBF088B8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5891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9402-50C2-46B9-BCCD-2D354A19B023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7FBCC-56F1-4B38-8756-9DBF088B8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72699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9402-50C2-46B9-BCCD-2D354A19B023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7FBCC-56F1-4B38-8756-9DBF088B8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74241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9402-50C2-46B9-BCCD-2D354A19B023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7FBCC-56F1-4B38-8756-9DBF088B8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40220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9402-50C2-46B9-BCCD-2D354A19B023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7FBCC-56F1-4B38-8756-9DBF088B8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07217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xmlns="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1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7">
            <a:extLst>
              <a:ext uri="{FF2B5EF4-FFF2-40B4-BE49-F238E27FC236}">
                <a16:creationId xmlns:a16="http://schemas.microsoft.com/office/drawing/2014/main" xmlns="" id="{AB5EAB53-0AB0-49A7-8A0C-0A9D85479EC0}"/>
              </a:ext>
            </a:extLst>
          </p:cNvPr>
          <p:cNvGrpSpPr/>
          <p:nvPr userDrawn="1"/>
        </p:nvGrpSpPr>
        <p:grpSpPr>
          <a:xfrm>
            <a:off x="10508831" y="5751674"/>
            <a:ext cx="1616495" cy="860583"/>
            <a:chOff x="3631780" y="1691976"/>
            <a:chExt cx="4859204" cy="258692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xmlns="" id="{67EC8A9F-0142-4609-95F7-1A271547C803}"/>
                </a:ext>
              </a:extLst>
            </p:cNvPr>
            <p:cNvSpPr/>
            <p:nvPr/>
          </p:nvSpPr>
          <p:spPr>
            <a:xfrm>
              <a:off x="4356826" y="3580626"/>
              <a:ext cx="692338" cy="6923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 dirty="0"/>
            </a:p>
          </p:txBody>
        </p:sp>
        <p:grpSp>
          <p:nvGrpSpPr>
            <p:cNvPr id="4" name="Group 9">
              <a:extLst>
                <a:ext uri="{FF2B5EF4-FFF2-40B4-BE49-F238E27FC236}">
                  <a16:creationId xmlns:a16="http://schemas.microsoft.com/office/drawing/2014/main" xmlns="" id="{CDCF3F67-0811-4C24-B10F-0D140D2AA63A}"/>
                </a:ext>
              </a:extLst>
            </p:cNvPr>
            <p:cNvGrpSpPr/>
            <p:nvPr/>
          </p:nvGrpSpPr>
          <p:grpSpPr>
            <a:xfrm>
              <a:off x="5715672" y="1691976"/>
              <a:ext cx="2775312" cy="2580988"/>
              <a:chOff x="5715672" y="1691976"/>
              <a:chExt cx="2775312" cy="2580988"/>
            </a:xfrm>
            <a:solidFill>
              <a:schemeClr val="accent4"/>
            </a:solidFill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xmlns="" id="{BA3F13EE-C67A-4A94-8E09-F65FFC6AFA4A}"/>
                  </a:ext>
                </a:extLst>
              </p:cNvPr>
              <p:cNvSpPr/>
              <p:nvPr/>
            </p:nvSpPr>
            <p:spPr>
              <a:xfrm>
                <a:off x="7644977" y="3580626"/>
                <a:ext cx="692338" cy="69233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xmlns="" id="{99456DDD-1149-4AA4-8114-105A36EE6101}"/>
                  </a:ext>
                </a:extLst>
              </p:cNvPr>
              <p:cNvSpPr/>
              <p:nvPr/>
            </p:nvSpPr>
            <p:spPr>
              <a:xfrm>
                <a:off x="7042069" y="2524772"/>
                <a:ext cx="1448915" cy="144891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xmlns="" id="{B154FA3E-24E1-42E4-9A35-425F737CA35F}"/>
                  </a:ext>
                </a:extLst>
              </p:cNvPr>
              <p:cNvSpPr/>
              <p:nvPr/>
            </p:nvSpPr>
            <p:spPr>
              <a:xfrm>
                <a:off x="6494078" y="2004217"/>
                <a:ext cx="1150899" cy="11509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xmlns="" id="{C6C7D145-134C-4FE3-8FF9-BCEC4B6CA6BA}"/>
                  </a:ext>
                </a:extLst>
              </p:cNvPr>
              <p:cNvSpPr/>
              <p:nvPr/>
            </p:nvSpPr>
            <p:spPr>
              <a:xfrm>
                <a:off x="5715672" y="1691976"/>
                <a:ext cx="969145" cy="96914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xmlns="" id="{717A5171-079A-4D92-B321-8987F6E34CC2}"/>
                  </a:ext>
                </a:extLst>
              </p:cNvPr>
              <p:cNvSpPr/>
              <p:nvPr/>
            </p:nvSpPr>
            <p:spPr>
              <a:xfrm>
                <a:off x="7084624" y="3972002"/>
                <a:ext cx="952666" cy="29313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xmlns="" id="{FBBDD4EF-B3CB-4E3E-B303-0CD5F31B137E}"/>
                </a:ext>
              </a:extLst>
            </p:cNvPr>
            <p:cNvGrpSpPr/>
            <p:nvPr/>
          </p:nvGrpSpPr>
          <p:grpSpPr>
            <a:xfrm>
              <a:off x="4298370" y="1809306"/>
              <a:ext cx="3786551" cy="2465573"/>
              <a:chOff x="4298370" y="1809306"/>
              <a:chExt cx="3786551" cy="2465573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xmlns="" id="{04D636DE-3F26-4E27-AD6D-B784D857AC99}"/>
                  </a:ext>
                </a:extLst>
              </p:cNvPr>
              <p:cNvSpPr/>
              <p:nvPr/>
            </p:nvSpPr>
            <p:spPr>
              <a:xfrm>
                <a:off x="5322069" y="2156859"/>
                <a:ext cx="1043914" cy="104391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xmlns="" id="{D36D5D76-54F7-4983-873A-E9249D9B27AA}"/>
                  </a:ext>
                </a:extLst>
              </p:cNvPr>
              <p:cNvSpPr/>
              <p:nvPr/>
            </p:nvSpPr>
            <p:spPr>
              <a:xfrm>
                <a:off x="4298370" y="2176549"/>
                <a:ext cx="692338" cy="69233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xmlns="" id="{0632AEFC-348B-439E-A407-D68AA774B02B}"/>
                  </a:ext>
                </a:extLst>
              </p:cNvPr>
              <p:cNvSpPr/>
              <p:nvPr/>
            </p:nvSpPr>
            <p:spPr>
              <a:xfrm>
                <a:off x="4809919" y="1809306"/>
                <a:ext cx="1081542" cy="10815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xmlns="" id="{8EADCE84-13E0-496D-8C9D-04C0B9B6FB73}"/>
                  </a:ext>
                </a:extLst>
              </p:cNvPr>
              <p:cNvSpPr/>
              <p:nvPr/>
            </p:nvSpPr>
            <p:spPr>
              <a:xfrm>
                <a:off x="6180316" y="2502943"/>
                <a:ext cx="753706" cy="75370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xmlns="" id="{BA412BF7-6E8B-46D7-91C0-20C9A7951A5A}"/>
                  </a:ext>
                </a:extLst>
              </p:cNvPr>
              <p:cNvSpPr/>
              <p:nvPr/>
            </p:nvSpPr>
            <p:spPr>
              <a:xfrm>
                <a:off x="6934022" y="2588625"/>
                <a:ext cx="1150899" cy="1150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xmlns="" id="{643FFB8D-4436-4398-8669-1B7030A860AD}"/>
                  </a:ext>
                </a:extLst>
              </p:cNvPr>
              <p:cNvSpPr/>
              <p:nvPr/>
            </p:nvSpPr>
            <p:spPr>
              <a:xfrm>
                <a:off x="7325201" y="3425414"/>
                <a:ext cx="655148" cy="65514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xmlns="" id="{8A1C9E68-FE5B-4D06-BFD6-B836A0EE0D8A}"/>
                  </a:ext>
                </a:extLst>
              </p:cNvPr>
              <p:cNvSpPr/>
              <p:nvPr/>
            </p:nvSpPr>
            <p:spPr>
              <a:xfrm>
                <a:off x="7095848" y="3619731"/>
                <a:ext cx="655148" cy="65514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xmlns="" id="{411F6427-B46A-476C-A1FE-438921C33141}"/>
                  </a:ext>
                </a:extLst>
              </p:cNvPr>
              <p:cNvSpPr/>
              <p:nvPr/>
            </p:nvSpPr>
            <p:spPr>
              <a:xfrm>
                <a:off x="6575764" y="2862232"/>
                <a:ext cx="655148" cy="65514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xmlns="" id="{0871897A-671A-4DF2-8FE8-89C3E46C5C41}"/>
                  </a:ext>
                </a:extLst>
              </p:cNvPr>
              <p:cNvSpPr/>
              <p:nvPr/>
            </p:nvSpPr>
            <p:spPr>
              <a:xfrm>
                <a:off x="6473567" y="3370881"/>
                <a:ext cx="841098" cy="84109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xmlns="" id="{273E5CC0-00B6-418D-B32A-99090DFF4E42}"/>
                  </a:ext>
                </a:extLst>
              </p:cNvPr>
              <p:cNvSpPr/>
              <p:nvPr/>
            </p:nvSpPr>
            <p:spPr>
              <a:xfrm>
                <a:off x="6226213" y="4147024"/>
                <a:ext cx="1256511" cy="10344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xmlns="" id="{BEF72336-3F79-4A97-8B24-887979BA1BC4}"/>
                  </a:ext>
                </a:extLst>
              </p:cNvPr>
              <p:cNvSpPr/>
              <p:nvPr/>
            </p:nvSpPr>
            <p:spPr>
              <a:xfrm>
                <a:off x="5260062" y="2611101"/>
                <a:ext cx="692338" cy="69233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</p:grpSp>
        <p:grpSp>
          <p:nvGrpSpPr>
            <p:cNvPr id="6" name="Group 11">
              <a:extLst>
                <a:ext uri="{FF2B5EF4-FFF2-40B4-BE49-F238E27FC236}">
                  <a16:creationId xmlns:a16="http://schemas.microsoft.com/office/drawing/2014/main" xmlns="" id="{504D2FE2-9428-49AD-8275-8646559047EA}"/>
                </a:ext>
              </a:extLst>
            </p:cNvPr>
            <p:cNvGrpSpPr/>
            <p:nvPr/>
          </p:nvGrpSpPr>
          <p:grpSpPr>
            <a:xfrm>
              <a:off x="3631780" y="2451097"/>
              <a:ext cx="3196921" cy="1827803"/>
              <a:chOff x="3631780" y="2451097"/>
              <a:chExt cx="3196921" cy="1827803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xmlns="" id="{7C0BEA64-4E59-42CE-A307-A9B2FC69002A}"/>
                  </a:ext>
                </a:extLst>
              </p:cNvPr>
              <p:cNvSpPr/>
              <p:nvPr/>
            </p:nvSpPr>
            <p:spPr>
              <a:xfrm>
                <a:off x="3631780" y="2451097"/>
                <a:ext cx="969145" cy="96914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xmlns="" id="{6EE78404-9AA0-4852-882C-49A3C9A44FC8}"/>
                  </a:ext>
                </a:extLst>
              </p:cNvPr>
              <p:cNvSpPr/>
              <p:nvPr/>
            </p:nvSpPr>
            <p:spPr>
              <a:xfrm>
                <a:off x="3681373" y="3214859"/>
                <a:ext cx="692338" cy="69233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xmlns="" id="{9BABA818-FD93-46E2-B427-CAD3408031F7}"/>
                  </a:ext>
                </a:extLst>
              </p:cNvPr>
              <p:cNvSpPr/>
              <p:nvPr/>
            </p:nvSpPr>
            <p:spPr>
              <a:xfrm>
                <a:off x="4232071" y="2602088"/>
                <a:ext cx="1150899" cy="1150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xmlns="" id="{5F5C9629-B030-43F5-99A7-C079CDBFC02E}"/>
                  </a:ext>
                </a:extLst>
              </p:cNvPr>
              <p:cNvSpPr/>
              <p:nvPr/>
            </p:nvSpPr>
            <p:spPr>
              <a:xfrm>
                <a:off x="3857615" y="3486535"/>
                <a:ext cx="792365" cy="79236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xmlns="" id="{D1B24AA7-6811-4B16-8042-685AC7A7252C}"/>
                  </a:ext>
                </a:extLst>
              </p:cNvPr>
              <p:cNvSpPr/>
              <p:nvPr/>
            </p:nvSpPr>
            <p:spPr>
              <a:xfrm>
                <a:off x="4643275" y="2959747"/>
                <a:ext cx="1312378" cy="131237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xmlns="" id="{F1C50555-CD46-4DBA-A103-C149350D058C}"/>
                  </a:ext>
                </a:extLst>
              </p:cNvPr>
              <p:cNvSpPr/>
              <p:nvPr/>
            </p:nvSpPr>
            <p:spPr>
              <a:xfrm>
                <a:off x="5510955" y="3011196"/>
                <a:ext cx="1262266" cy="126226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xmlns="" id="{11A46BE6-73B1-4DA6-91F3-F4D01E3522F8}"/>
                  </a:ext>
                </a:extLst>
              </p:cNvPr>
              <p:cNvSpPr/>
              <p:nvPr/>
            </p:nvSpPr>
            <p:spPr>
              <a:xfrm>
                <a:off x="4247109" y="4098443"/>
                <a:ext cx="1967954" cy="1725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xmlns="" id="{D574A065-0D8C-45A4-B697-1EAEE7EAEF03}"/>
                  </a:ext>
                </a:extLst>
              </p:cNvPr>
              <p:cNvSpPr/>
              <p:nvPr/>
            </p:nvSpPr>
            <p:spPr>
              <a:xfrm>
                <a:off x="6296024" y="3742075"/>
                <a:ext cx="532677" cy="53267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25" dirty="0"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xmlns="" id="{DF3D2ADC-CE7F-4D56-BFEF-9BEA82F4E688}"/>
                </a:ext>
              </a:extLst>
            </p:cNvPr>
            <p:cNvGrpSpPr/>
            <p:nvPr/>
          </p:nvGrpSpPr>
          <p:grpSpPr>
            <a:xfrm>
              <a:off x="4055658" y="1945053"/>
              <a:ext cx="4220275" cy="2333847"/>
              <a:chOff x="4055658" y="1925597"/>
              <a:chExt cx="4220275" cy="2333847"/>
            </a:xfr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xmlns="" id="{4D5FE209-5876-4F41-AAB8-A3922AB0EAC6}"/>
                  </a:ext>
                </a:extLst>
              </p:cNvPr>
              <p:cNvSpPr/>
              <p:nvPr/>
            </p:nvSpPr>
            <p:spPr>
              <a:xfrm>
                <a:off x="5674127" y="2137226"/>
                <a:ext cx="428693" cy="2119360"/>
              </a:xfrm>
              <a:custGeom>
                <a:avLst/>
                <a:gdLst>
                  <a:gd name="connsiteX0" fmla="*/ 477202 w 476250"/>
                  <a:gd name="connsiteY0" fmla="*/ 2308860 h 2305050"/>
                  <a:gd name="connsiteX1" fmla="*/ 0 w 476250"/>
                  <a:gd name="connsiteY1" fmla="*/ 2308860 h 2305050"/>
                  <a:gd name="connsiteX2" fmla="*/ 0 w 476250"/>
                  <a:gd name="connsiteY2" fmla="*/ 0 h 2305050"/>
                  <a:gd name="connsiteX3" fmla="*/ 477202 w 476250"/>
                  <a:gd name="connsiteY3" fmla="*/ 0 h 2305050"/>
                  <a:gd name="connsiteX4" fmla="*/ 477202 w 476250"/>
                  <a:gd name="connsiteY4" fmla="*/ 2308860 h 2305050"/>
                  <a:gd name="connsiteX5" fmla="*/ 452438 w 476250"/>
                  <a:gd name="connsiteY5" fmla="*/ 1071563 h 2305050"/>
                  <a:gd name="connsiteX6" fmla="*/ 332422 w 476250"/>
                  <a:gd name="connsiteY6" fmla="*/ 1071563 h 2305050"/>
                  <a:gd name="connsiteX7" fmla="*/ 332422 w 476250"/>
                  <a:gd name="connsiteY7" fmla="*/ 1188720 h 2305050"/>
                  <a:gd name="connsiteX8" fmla="*/ 452438 w 476250"/>
                  <a:gd name="connsiteY8" fmla="*/ 1188720 h 2305050"/>
                  <a:gd name="connsiteX9" fmla="*/ 452438 w 476250"/>
                  <a:gd name="connsiteY9" fmla="*/ 1071563 h 2305050"/>
                  <a:gd name="connsiteX10" fmla="*/ 298132 w 476250"/>
                  <a:gd name="connsiteY10" fmla="*/ 1190625 h 2305050"/>
                  <a:gd name="connsiteX11" fmla="*/ 298132 w 476250"/>
                  <a:gd name="connsiteY11" fmla="*/ 1070610 h 2305050"/>
                  <a:gd name="connsiteX12" fmla="*/ 180975 w 476250"/>
                  <a:gd name="connsiteY12" fmla="*/ 1070610 h 2305050"/>
                  <a:gd name="connsiteX13" fmla="*/ 180975 w 476250"/>
                  <a:gd name="connsiteY13" fmla="*/ 1190625 h 2305050"/>
                  <a:gd name="connsiteX14" fmla="*/ 298132 w 476250"/>
                  <a:gd name="connsiteY14" fmla="*/ 1190625 h 2305050"/>
                  <a:gd name="connsiteX15" fmla="*/ 27622 w 476250"/>
                  <a:gd name="connsiteY15" fmla="*/ 1188720 h 2305050"/>
                  <a:gd name="connsiteX16" fmla="*/ 146685 w 476250"/>
                  <a:gd name="connsiteY16" fmla="*/ 1188720 h 2305050"/>
                  <a:gd name="connsiteX17" fmla="*/ 146685 w 476250"/>
                  <a:gd name="connsiteY17" fmla="*/ 1070610 h 2305050"/>
                  <a:gd name="connsiteX18" fmla="*/ 27622 w 476250"/>
                  <a:gd name="connsiteY18" fmla="*/ 1070610 h 2305050"/>
                  <a:gd name="connsiteX19" fmla="*/ 27622 w 476250"/>
                  <a:gd name="connsiteY19" fmla="*/ 1188720 h 2305050"/>
                  <a:gd name="connsiteX20" fmla="*/ 28575 w 476250"/>
                  <a:gd name="connsiteY20" fmla="*/ 328613 h 2305050"/>
                  <a:gd name="connsiteX21" fmla="*/ 28575 w 476250"/>
                  <a:gd name="connsiteY21" fmla="*/ 448627 h 2305050"/>
                  <a:gd name="connsiteX22" fmla="*/ 147638 w 476250"/>
                  <a:gd name="connsiteY22" fmla="*/ 448627 h 2305050"/>
                  <a:gd name="connsiteX23" fmla="*/ 147638 w 476250"/>
                  <a:gd name="connsiteY23" fmla="*/ 328613 h 2305050"/>
                  <a:gd name="connsiteX24" fmla="*/ 28575 w 476250"/>
                  <a:gd name="connsiteY24" fmla="*/ 328613 h 2305050"/>
                  <a:gd name="connsiteX25" fmla="*/ 450532 w 476250"/>
                  <a:gd name="connsiteY25" fmla="*/ 744855 h 2305050"/>
                  <a:gd name="connsiteX26" fmla="*/ 450532 w 476250"/>
                  <a:gd name="connsiteY26" fmla="*/ 627697 h 2305050"/>
                  <a:gd name="connsiteX27" fmla="*/ 331470 w 476250"/>
                  <a:gd name="connsiteY27" fmla="*/ 627697 h 2305050"/>
                  <a:gd name="connsiteX28" fmla="*/ 331470 w 476250"/>
                  <a:gd name="connsiteY28" fmla="*/ 744855 h 2305050"/>
                  <a:gd name="connsiteX29" fmla="*/ 450532 w 476250"/>
                  <a:gd name="connsiteY29" fmla="*/ 744855 h 2305050"/>
                  <a:gd name="connsiteX30" fmla="*/ 147638 w 476250"/>
                  <a:gd name="connsiteY30" fmla="*/ 626745 h 2305050"/>
                  <a:gd name="connsiteX31" fmla="*/ 27622 w 476250"/>
                  <a:gd name="connsiteY31" fmla="*/ 626745 h 2305050"/>
                  <a:gd name="connsiteX32" fmla="*/ 27622 w 476250"/>
                  <a:gd name="connsiteY32" fmla="*/ 743902 h 2305050"/>
                  <a:gd name="connsiteX33" fmla="*/ 147638 w 476250"/>
                  <a:gd name="connsiteY33" fmla="*/ 743902 h 2305050"/>
                  <a:gd name="connsiteX34" fmla="*/ 147638 w 476250"/>
                  <a:gd name="connsiteY34" fmla="*/ 626745 h 2305050"/>
                  <a:gd name="connsiteX35" fmla="*/ 298132 w 476250"/>
                  <a:gd name="connsiteY35" fmla="*/ 1337310 h 2305050"/>
                  <a:gd name="connsiteX36" fmla="*/ 298132 w 476250"/>
                  <a:gd name="connsiteY36" fmla="*/ 1219200 h 2305050"/>
                  <a:gd name="connsiteX37" fmla="*/ 180975 w 476250"/>
                  <a:gd name="connsiteY37" fmla="*/ 1219200 h 2305050"/>
                  <a:gd name="connsiteX38" fmla="*/ 180975 w 476250"/>
                  <a:gd name="connsiteY38" fmla="*/ 1337310 h 2305050"/>
                  <a:gd name="connsiteX39" fmla="*/ 298132 w 476250"/>
                  <a:gd name="connsiteY39" fmla="*/ 1337310 h 2305050"/>
                  <a:gd name="connsiteX40" fmla="*/ 180022 w 476250"/>
                  <a:gd name="connsiteY40" fmla="*/ 476250 h 2305050"/>
                  <a:gd name="connsiteX41" fmla="*/ 180022 w 476250"/>
                  <a:gd name="connsiteY41" fmla="*/ 595313 h 2305050"/>
                  <a:gd name="connsiteX42" fmla="*/ 299085 w 476250"/>
                  <a:gd name="connsiteY42" fmla="*/ 595313 h 2305050"/>
                  <a:gd name="connsiteX43" fmla="*/ 299085 w 476250"/>
                  <a:gd name="connsiteY43" fmla="*/ 476250 h 2305050"/>
                  <a:gd name="connsiteX44" fmla="*/ 180022 w 476250"/>
                  <a:gd name="connsiteY44" fmla="*/ 476250 h 2305050"/>
                  <a:gd name="connsiteX45" fmla="*/ 452438 w 476250"/>
                  <a:gd name="connsiteY45" fmla="*/ 32385 h 2305050"/>
                  <a:gd name="connsiteX46" fmla="*/ 330518 w 476250"/>
                  <a:gd name="connsiteY46" fmla="*/ 32385 h 2305050"/>
                  <a:gd name="connsiteX47" fmla="*/ 330518 w 476250"/>
                  <a:gd name="connsiteY47" fmla="*/ 148590 h 2305050"/>
                  <a:gd name="connsiteX48" fmla="*/ 452438 w 476250"/>
                  <a:gd name="connsiteY48" fmla="*/ 148590 h 2305050"/>
                  <a:gd name="connsiteX49" fmla="*/ 452438 w 476250"/>
                  <a:gd name="connsiteY49" fmla="*/ 32385 h 2305050"/>
                  <a:gd name="connsiteX50" fmla="*/ 300038 w 476250"/>
                  <a:gd name="connsiteY50" fmla="*/ 31432 h 2305050"/>
                  <a:gd name="connsiteX51" fmla="*/ 180022 w 476250"/>
                  <a:gd name="connsiteY51" fmla="*/ 31432 h 2305050"/>
                  <a:gd name="connsiteX52" fmla="*/ 180022 w 476250"/>
                  <a:gd name="connsiteY52" fmla="*/ 149542 h 2305050"/>
                  <a:gd name="connsiteX53" fmla="*/ 300038 w 476250"/>
                  <a:gd name="connsiteY53" fmla="*/ 149542 h 2305050"/>
                  <a:gd name="connsiteX54" fmla="*/ 300038 w 476250"/>
                  <a:gd name="connsiteY54" fmla="*/ 31432 h 2305050"/>
                  <a:gd name="connsiteX55" fmla="*/ 300038 w 476250"/>
                  <a:gd name="connsiteY55" fmla="*/ 299085 h 2305050"/>
                  <a:gd name="connsiteX56" fmla="*/ 300038 w 476250"/>
                  <a:gd name="connsiteY56" fmla="*/ 180022 h 2305050"/>
                  <a:gd name="connsiteX57" fmla="*/ 179070 w 476250"/>
                  <a:gd name="connsiteY57" fmla="*/ 180022 h 2305050"/>
                  <a:gd name="connsiteX58" fmla="*/ 179070 w 476250"/>
                  <a:gd name="connsiteY58" fmla="*/ 299085 h 2305050"/>
                  <a:gd name="connsiteX59" fmla="*/ 300038 w 476250"/>
                  <a:gd name="connsiteY59" fmla="*/ 299085 h 2305050"/>
                  <a:gd name="connsiteX60" fmla="*/ 147638 w 476250"/>
                  <a:gd name="connsiteY60" fmla="*/ 477202 h 2305050"/>
                  <a:gd name="connsiteX61" fmla="*/ 26670 w 476250"/>
                  <a:gd name="connsiteY61" fmla="*/ 477202 h 2305050"/>
                  <a:gd name="connsiteX62" fmla="*/ 26670 w 476250"/>
                  <a:gd name="connsiteY62" fmla="*/ 594360 h 2305050"/>
                  <a:gd name="connsiteX63" fmla="*/ 147638 w 476250"/>
                  <a:gd name="connsiteY63" fmla="*/ 594360 h 2305050"/>
                  <a:gd name="connsiteX64" fmla="*/ 147638 w 476250"/>
                  <a:gd name="connsiteY64" fmla="*/ 477202 h 2305050"/>
                  <a:gd name="connsiteX65" fmla="*/ 450532 w 476250"/>
                  <a:gd name="connsiteY65" fmla="*/ 1041082 h 2305050"/>
                  <a:gd name="connsiteX66" fmla="*/ 450532 w 476250"/>
                  <a:gd name="connsiteY66" fmla="*/ 923925 h 2305050"/>
                  <a:gd name="connsiteX67" fmla="*/ 331470 w 476250"/>
                  <a:gd name="connsiteY67" fmla="*/ 923925 h 2305050"/>
                  <a:gd name="connsiteX68" fmla="*/ 331470 w 476250"/>
                  <a:gd name="connsiteY68" fmla="*/ 1041082 h 2305050"/>
                  <a:gd name="connsiteX69" fmla="*/ 450532 w 476250"/>
                  <a:gd name="connsiteY69" fmla="*/ 1041082 h 2305050"/>
                  <a:gd name="connsiteX70" fmla="*/ 332422 w 476250"/>
                  <a:gd name="connsiteY70" fmla="*/ 1218248 h 2305050"/>
                  <a:gd name="connsiteX71" fmla="*/ 332422 w 476250"/>
                  <a:gd name="connsiteY71" fmla="*/ 1336357 h 2305050"/>
                  <a:gd name="connsiteX72" fmla="*/ 451485 w 476250"/>
                  <a:gd name="connsiteY72" fmla="*/ 1336357 h 2305050"/>
                  <a:gd name="connsiteX73" fmla="*/ 451485 w 476250"/>
                  <a:gd name="connsiteY73" fmla="*/ 1218248 h 2305050"/>
                  <a:gd name="connsiteX74" fmla="*/ 332422 w 476250"/>
                  <a:gd name="connsiteY74" fmla="*/ 1218248 h 2305050"/>
                  <a:gd name="connsiteX75" fmla="*/ 452438 w 476250"/>
                  <a:gd name="connsiteY75" fmla="*/ 447675 h 2305050"/>
                  <a:gd name="connsiteX76" fmla="*/ 452438 w 476250"/>
                  <a:gd name="connsiteY76" fmla="*/ 329565 h 2305050"/>
                  <a:gd name="connsiteX77" fmla="*/ 331470 w 476250"/>
                  <a:gd name="connsiteY77" fmla="*/ 329565 h 2305050"/>
                  <a:gd name="connsiteX78" fmla="*/ 331470 w 476250"/>
                  <a:gd name="connsiteY78" fmla="*/ 447675 h 2305050"/>
                  <a:gd name="connsiteX79" fmla="*/ 452438 w 476250"/>
                  <a:gd name="connsiteY79" fmla="*/ 447675 h 2305050"/>
                  <a:gd name="connsiteX80" fmla="*/ 300038 w 476250"/>
                  <a:gd name="connsiteY80" fmla="*/ 448627 h 2305050"/>
                  <a:gd name="connsiteX81" fmla="*/ 300038 w 476250"/>
                  <a:gd name="connsiteY81" fmla="*/ 328613 h 2305050"/>
                  <a:gd name="connsiteX82" fmla="*/ 180022 w 476250"/>
                  <a:gd name="connsiteY82" fmla="*/ 328613 h 2305050"/>
                  <a:gd name="connsiteX83" fmla="*/ 180022 w 476250"/>
                  <a:gd name="connsiteY83" fmla="*/ 448627 h 2305050"/>
                  <a:gd name="connsiteX84" fmla="*/ 300038 w 476250"/>
                  <a:gd name="connsiteY84" fmla="*/ 448627 h 2305050"/>
                  <a:gd name="connsiteX85" fmla="*/ 146685 w 476250"/>
                  <a:gd name="connsiteY85" fmla="*/ 299085 h 2305050"/>
                  <a:gd name="connsiteX86" fmla="*/ 146685 w 476250"/>
                  <a:gd name="connsiteY86" fmla="*/ 181927 h 2305050"/>
                  <a:gd name="connsiteX87" fmla="*/ 27622 w 476250"/>
                  <a:gd name="connsiteY87" fmla="*/ 181927 h 2305050"/>
                  <a:gd name="connsiteX88" fmla="*/ 27622 w 476250"/>
                  <a:gd name="connsiteY88" fmla="*/ 299085 h 2305050"/>
                  <a:gd name="connsiteX89" fmla="*/ 146685 w 476250"/>
                  <a:gd name="connsiteY89" fmla="*/ 299085 h 2305050"/>
                  <a:gd name="connsiteX90" fmla="*/ 145732 w 476250"/>
                  <a:gd name="connsiteY90" fmla="*/ 889635 h 2305050"/>
                  <a:gd name="connsiteX91" fmla="*/ 145732 w 476250"/>
                  <a:gd name="connsiteY91" fmla="*/ 772477 h 2305050"/>
                  <a:gd name="connsiteX92" fmla="*/ 28575 w 476250"/>
                  <a:gd name="connsiteY92" fmla="*/ 772477 h 2305050"/>
                  <a:gd name="connsiteX93" fmla="*/ 28575 w 476250"/>
                  <a:gd name="connsiteY93" fmla="*/ 889635 h 2305050"/>
                  <a:gd name="connsiteX94" fmla="*/ 145732 w 476250"/>
                  <a:gd name="connsiteY94" fmla="*/ 889635 h 2305050"/>
                  <a:gd name="connsiteX95" fmla="*/ 179070 w 476250"/>
                  <a:gd name="connsiteY95" fmla="*/ 889635 h 2305050"/>
                  <a:gd name="connsiteX96" fmla="*/ 298132 w 476250"/>
                  <a:gd name="connsiteY96" fmla="*/ 889635 h 2305050"/>
                  <a:gd name="connsiteX97" fmla="*/ 298132 w 476250"/>
                  <a:gd name="connsiteY97" fmla="*/ 772477 h 2305050"/>
                  <a:gd name="connsiteX98" fmla="*/ 179070 w 476250"/>
                  <a:gd name="connsiteY98" fmla="*/ 772477 h 2305050"/>
                  <a:gd name="connsiteX99" fmla="*/ 179070 w 476250"/>
                  <a:gd name="connsiteY99" fmla="*/ 889635 h 2305050"/>
                  <a:gd name="connsiteX100" fmla="*/ 450532 w 476250"/>
                  <a:gd name="connsiteY100" fmla="*/ 890588 h 2305050"/>
                  <a:gd name="connsiteX101" fmla="*/ 450532 w 476250"/>
                  <a:gd name="connsiteY101" fmla="*/ 771525 h 2305050"/>
                  <a:gd name="connsiteX102" fmla="*/ 331470 w 476250"/>
                  <a:gd name="connsiteY102" fmla="*/ 771525 h 2305050"/>
                  <a:gd name="connsiteX103" fmla="*/ 331470 w 476250"/>
                  <a:gd name="connsiteY103" fmla="*/ 890588 h 2305050"/>
                  <a:gd name="connsiteX104" fmla="*/ 450532 w 476250"/>
                  <a:gd name="connsiteY104" fmla="*/ 890588 h 2305050"/>
                  <a:gd name="connsiteX105" fmla="*/ 298132 w 476250"/>
                  <a:gd name="connsiteY105" fmla="*/ 1370648 h 2305050"/>
                  <a:gd name="connsiteX106" fmla="*/ 180022 w 476250"/>
                  <a:gd name="connsiteY106" fmla="*/ 1370648 h 2305050"/>
                  <a:gd name="connsiteX107" fmla="*/ 180022 w 476250"/>
                  <a:gd name="connsiteY107" fmla="*/ 1486853 h 2305050"/>
                  <a:gd name="connsiteX108" fmla="*/ 298132 w 476250"/>
                  <a:gd name="connsiteY108" fmla="*/ 1486853 h 2305050"/>
                  <a:gd name="connsiteX109" fmla="*/ 298132 w 476250"/>
                  <a:gd name="connsiteY109" fmla="*/ 1370648 h 2305050"/>
                  <a:gd name="connsiteX110" fmla="*/ 299085 w 476250"/>
                  <a:gd name="connsiteY110" fmla="*/ 1632585 h 2305050"/>
                  <a:gd name="connsiteX111" fmla="*/ 299085 w 476250"/>
                  <a:gd name="connsiteY111" fmla="*/ 1516380 h 2305050"/>
                  <a:gd name="connsiteX112" fmla="*/ 179070 w 476250"/>
                  <a:gd name="connsiteY112" fmla="*/ 1516380 h 2305050"/>
                  <a:gd name="connsiteX113" fmla="*/ 179070 w 476250"/>
                  <a:gd name="connsiteY113" fmla="*/ 1632585 h 2305050"/>
                  <a:gd name="connsiteX114" fmla="*/ 299085 w 476250"/>
                  <a:gd name="connsiteY114" fmla="*/ 1632585 h 2305050"/>
                  <a:gd name="connsiteX115" fmla="*/ 146685 w 476250"/>
                  <a:gd name="connsiteY115" fmla="*/ 1370648 h 2305050"/>
                  <a:gd name="connsiteX116" fmla="*/ 28575 w 476250"/>
                  <a:gd name="connsiteY116" fmla="*/ 1370648 h 2305050"/>
                  <a:gd name="connsiteX117" fmla="*/ 28575 w 476250"/>
                  <a:gd name="connsiteY117" fmla="*/ 1486853 h 2305050"/>
                  <a:gd name="connsiteX118" fmla="*/ 146685 w 476250"/>
                  <a:gd name="connsiteY118" fmla="*/ 1486853 h 2305050"/>
                  <a:gd name="connsiteX119" fmla="*/ 146685 w 476250"/>
                  <a:gd name="connsiteY119" fmla="*/ 1370648 h 2305050"/>
                  <a:gd name="connsiteX120" fmla="*/ 449580 w 476250"/>
                  <a:gd name="connsiteY120" fmla="*/ 1631632 h 2305050"/>
                  <a:gd name="connsiteX121" fmla="*/ 449580 w 476250"/>
                  <a:gd name="connsiteY121" fmla="*/ 1514475 h 2305050"/>
                  <a:gd name="connsiteX122" fmla="*/ 332422 w 476250"/>
                  <a:gd name="connsiteY122" fmla="*/ 1514475 h 2305050"/>
                  <a:gd name="connsiteX123" fmla="*/ 332422 w 476250"/>
                  <a:gd name="connsiteY123" fmla="*/ 1631632 h 2305050"/>
                  <a:gd name="connsiteX124" fmla="*/ 449580 w 476250"/>
                  <a:gd name="connsiteY124" fmla="*/ 1631632 h 2305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476250" h="2305050">
                    <a:moveTo>
                      <a:pt x="477202" y="2308860"/>
                    </a:moveTo>
                    <a:cubicBezTo>
                      <a:pt x="316230" y="2308860"/>
                      <a:pt x="160020" y="2308860"/>
                      <a:pt x="0" y="2308860"/>
                    </a:cubicBezTo>
                    <a:cubicBezTo>
                      <a:pt x="0" y="1539240"/>
                      <a:pt x="0" y="771525"/>
                      <a:pt x="0" y="0"/>
                    </a:cubicBezTo>
                    <a:cubicBezTo>
                      <a:pt x="157163" y="0"/>
                      <a:pt x="315277" y="0"/>
                      <a:pt x="477202" y="0"/>
                    </a:cubicBezTo>
                    <a:cubicBezTo>
                      <a:pt x="477202" y="767715"/>
                      <a:pt x="477202" y="1536382"/>
                      <a:pt x="477202" y="2308860"/>
                    </a:cubicBezTo>
                    <a:close/>
                    <a:moveTo>
                      <a:pt x="452438" y="1071563"/>
                    </a:moveTo>
                    <a:cubicBezTo>
                      <a:pt x="412432" y="1071563"/>
                      <a:pt x="372427" y="1071563"/>
                      <a:pt x="332422" y="1071563"/>
                    </a:cubicBezTo>
                    <a:cubicBezTo>
                      <a:pt x="332422" y="1112520"/>
                      <a:pt x="332422" y="1150620"/>
                      <a:pt x="332422" y="1188720"/>
                    </a:cubicBezTo>
                    <a:cubicBezTo>
                      <a:pt x="374332" y="1188720"/>
                      <a:pt x="412432" y="1188720"/>
                      <a:pt x="452438" y="1188720"/>
                    </a:cubicBezTo>
                    <a:cubicBezTo>
                      <a:pt x="452438" y="1147763"/>
                      <a:pt x="452438" y="1111567"/>
                      <a:pt x="452438" y="1071563"/>
                    </a:cubicBezTo>
                    <a:close/>
                    <a:moveTo>
                      <a:pt x="298132" y="1190625"/>
                    </a:moveTo>
                    <a:cubicBezTo>
                      <a:pt x="298132" y="1147763"/>
                      <a:pt x="298132" y="1108710"/>
                      <a:pt x="298132" y="1070610"/>
                    </a:cubicBezTo>
                    <a:cubicBezTo>
                      <a:pt x="256222" y="1070610"/>
                      <a:pt x="218122" y="1070610"/>
                      <a:pt x="180975" y="1070610"/>
                    </a:cubicBezTo>
                    <a:cubicBezTo>
                      <a:pt x="180975" y="1112520"/>
                      <a:pt x="180975" y="1151573"/>
                      <a:pt x="180975" y="1190625"/>
                    </a:cubicBezTo>
                    <a:cubicBezTo>
                      <a:pt x="220980" y="1190625"/>
                      <a:pt x="257175" y="1190625"/>
                      <a:pt x="298132" y="1190625"/>
                    </a:cubicBezTo>
                    <a:close/>
                    <a:moveTo>
                      <a:pt x="27622" y="1188720"/>
                    </a:moveTo>
                    <a:cubicBezTo>
                      <a:pt x="68580" y="1188720"/>
                      <a:pt x="106680" y="1188720"/>
                      <a:pt x="146685" y="1188720"/>
                    </a:cubicBezTo>
                    <a:cubicBezTo>
                      <a:pt x="146685" y="1146810"/>
                      <a:pt x="146685" y="1108710"/>
                      <a:pt x="146685" y="1070610"/>
                    </a:cubicBezTo>
                    <a:cubicBezTo>
                      <a:pt x="104775" y="1070610"/>
                      <a:pt x="66675" y="1070610"/>
                      <a:pt x="27622" y="1070610"/>
                    </a:cubicBezTo>
                    <a:cubicBezTo>
                      <a:pt x="27622" y="1112520"/>
                      <a:pt x="27622" y="1149667"/>
                      <a:pt x="27622" y="1188720"/>
                    </a:cubicBezTo>
                    <a:close/>
                    <a:moveTo>
                      <a:pt x="28575" y="328613"/>
                    </a:moveTo>
                    <a:cubicBezTo>
                      <a:pt x="28575" y="372427"/>
                      <a:pt x="28575" y="410527"/>
                      <a:pt x="28575" y="448627"/>
                    </a:cubicBezTo>
                    <a:cubicBezTo>
                      <a:pt x="70485" y="448627"/>
                      <a:pt x="107632" y="448627"/>
                      <a:pt x="147638" y="448627"/>
                    </a:cubicBezTo>
                    <a:cubicBezTo>
                      <a:pt x="147638" y="407670"/>
                      <a:pt x="147638" y="369570"/>
                      <a:pt x="147638" y="328613"/>
                    </a:cubicBezTo>
                    <a:cubicBezTo>
                      <a:pt x="106680" y="328613"/>
                      <a:pt x="68580" y="328613"/>
                      <a:pt x="28575" y="328613"/>
                    </a:cubicBezTo>
                    <a:close/>
                    <a:moveTo>
                      <a:pt x="450532" y="744855"/>
                    </a:moveTo>
                    <a:cubicBezTo>
                      <a:pt x="450532" y="702945"/>
                      <a:pt x="450532" y="664845"/>
                      <a:pt x="450532" y="627697"/>
                    </a:cubicBezTo>
                    <a:cubicBezTo>
                      <a:pt x="408622" y="627697"/>
                      <a:pt x="369570" y="627697"/>
                      <a:pt x="331470" y="627697"/>
                    </a:cubicBezTo>
                    <a:cubicBezTo>
                      <a:pt x="331470" y="668655"/>
                      <a:pt x="331470" y="705802"/>
                      <a:pt x="331470" y="744855"/>
                    </a:cubicBezTo>
                    <a:cubicBezTo>
                      <a:pt x="371475" y="744855"/>
                      <a:pt x="409575" y="744855"/>
                      <a:pt x="450532" y="744855"/>
                    </a:cubicBezTo>
                    <a:close/>
                    <a:moveTo>
                      <a:pt x="147638" y="626745"/>
                    </a:moveTo>
                    <a:cubicBezTo>
                      <a:pt x="106680" y="626745"/>
                      <a:pt x="67627" y="626745"/>
                      <a:pt x="27622" y="626745"/>
                    </a:cubicBezTo>
                    <a:cubicBezTo>
                      <a:pt x="27622" y="667702"/>
                      <a:pt x="27622" y="706755"/>
                      <a:pt x="27622" y="743902"/>
                    </a:cubicBezTo>
                    <a:cubicBezTo>
                      <a:pt x="69532" y="743902"/>
                      <a:pt x="107632" y="743902"/>
                      <a:pt x="147638" y="743902"/>
                    </a:cubicBezTo>
                    <a:cubicBezTo>
                      <a:pt x="147638" y="702945"/>
                      <a:pt x="147638" y="665797"/>
                      <a:pt x="147638" y="626745"/>
                    </a:cubicBezTo>
                    <a:close/>
                    <a:moveTo>
                      <a:pt x="298132" y="1337310"/>
                    </a:moveTo>
                    <a:cubicBezTo>
                      <a:pt x="298132" y="1295400"/>
                      <a:pt x="298132" y="1257300"/>
                      <a:pt x="298132" y="1219200"/>
                    </a:cubicBezTo>
                    <a:cubicBezTo>
                      <a:pt x="256222" y="1219200"/>
                      <a:pt x="219075" y="1219200"/>
                      <a:pt x="180975" y="1219200"/>
                    </a:cubicBezTo>
                    <a:cubicBezTo>
                      <a:pt x="180975" y="1260157"/>
                      <a:pt x="180975" y="1298257"/>
                      <a:pt x="180975" y="1337310"/>
                    </a:cubicBezTo>
                    <a:cubicBezTo>
                      <a:pt x="220980" y="1337310"/>
                      <a:pt x="257175" y="1337310"/>
                      <a:pt x="298132" y="1337310"/>
                    </a:cubicBezTo>
                    <a:close/>
                    <a:moveTo>
                      <a:pt x="180022" y="476250"/>
                    </a:moveTo>
                    <a:cubicBezTo>
                      <a:pt x="180022" y="518160"/>
                      <a:pt x="180022" y="556260"/>
                      <a:pt x="180022" y="595313"/>
                    </a:cubicBezTo>
                    <a:cubicBezTo>
                      <a:pt x="220980" y="595313"/>
                      <a:pt x="259080" y="595313"/>
                      <a:pt x="299085" y="595313"/>
                    </a:cubicBezTo>
                    <a:cubicBezTo>
                      <a:pt x="299085" y="554355"/>
                      <a:pt x="299085" y="516255"/>
                      <a:pt x="299085" y="476250"/>
                    </a:cubicBezTo>
                    <a:cubicBezTo>
                      <a:pt x="259080" y="476250"/>
                      <a:pt x="220980" y="476250"/>
                      <a:pt x="180022" y="476250"/>
                    </a:cubicBezTo>
                    <a:close/>
                    <a:moveTo>
                      <a:pt x="452438" y="32385"/>
                    </a:moveTo>
                    <a:cubicBezTo>
                      <a:pt x="411480" y="32385"/>
                      <a:pt x="372427" y="32385"/>
                      <a:pt x="330518" y="32385"/>
                    </a:cubicBezTo>
                    <a:cubicBezTo>
                      <a:pt x="330518" y="71438"/>
                      <a:pt x="330518" y="108585"/>
                      <a:pt x="330518" y="148590"/>
                    </a:cubicBezTo>
                    <a:cubicBezTo>
                      <a:pt x="371475" y="148590"/>
                      <a:pt x="411480" y="148590"/>
                      <a:pt x="452438" y="148590"/>
                    </a:cubicBezTo>
                    <a:cubicBezTo>
                      <a:pt x="452438" y="109538"/>
                      <a:pt x="452438" y="73342"/>
                      <a:pt x="452438" y="32385"/>
                    </a:cubicBezTo>
                    <a:close/>
                    <a:moveTo>
                      <a:pt x="300038" y="31432"/>
                    </a:moveTo>
                    <a:cubicBezTo>
                      <a:pt x="257175" y="31432"/>
                      <a:pt x="219075" y="31432"/>
                      <a:pt x="180022" y="31432"/>
                    </a:cubicBezTo>
                    <a:cubicBezTo>
                      <a:pt x="180022" y="72390"/>
                      <a:pt x="180022" y="111442"/>
                      <a:pt x="180022" y="149542"/>
                    </a:cubicBezTo>
                    <a:cubicBezTo>
                      <a:pt x="221932" y="149542"/>
                      <a:pt x="260985" y="149542"/>
                      <a:pt x="300038" y="149542"/>
                    </a:cubicBezTo>
                    <a:cubicBezTo>
                      <a:pt x="300038" y="108585"/>
                      <a:pt x="300038" y="71438"/>
                      <a:pt x="300038" y="31432"/>
                    </a:cubicBezTo>
                    <a:close/>
                    <a:moveTo>
                      <a:pt x="300038" y="299085"/>
                    </a:moveTo>
                    <a:cubicBezTo>
                      <a:pt x="300038" y="257175"/>
                      <a:pt x="300038" y="220027"/>
                      <a:pt x="300038" y="180022"/>
                    </a:cubicBezTo>
                    <a:cubicBezTo>
                      <a:pt x="259080" y="180022"/>
                      <a:pt x="220027" y="180022"/>
                      <a:pt x="179070" y="180022"/>
                    </a:cubicBezTo>
                    <a:cubicBezTo>
                      <a:pt x="179070" y="220027"/>
                      <a:pt x="179070" y="258127"/>
                      <a:pt x="179070" y="299085"/>
                    </a:cubicBezTo>
                    <a:cubicBezTo>
                      <a:pt x="220027" y="299085"/>
                      <a:pt x="258127" y="299085"/>
                      <a:pt x="300038" y="299085"/>
                    </a:cubicBezTo>
                    <a:close/>
                    <a:moveTo>
                      <a:pt x="147638" y="477202"/>
                    </a:moveTo>
                    <a:cubicBezTo>
                      <a:pt x="104775" y="477202"/>
                      <a:pt x="66675" y="477202"/>
                      <a:pt x="26670" y="477202"/>
                    </a:cubicBezTo>
                    <a:cubicBezTo>
                      <a:pt x="26670" y="517207"/>
                      <a:pt x="26670" y="554355"/>
                      <a:pt x="26670" y="594360"/>
                    </a:cubicBezTo>
                    <a:cubicBezTo>
                      <a:pt x="67627" y="594360"/>
                      <a:pt x="106680" y="594360"/>
                      <a:pt x="147638" y="594360"/>
                    </a:cubicBezTo>
                    <a:cubicBezTo>
                      <a:pt x="147638" y="554355"/>
                      <a:pt x="147638" y="517207"/>
                      <a:pt x="147638" y="477202"/>
                    </a:cubicBezTo>
                    <a:close/>
                    <a:moveTo>
                      <a:pt x="450532" y="1041082"/>
                    </a:moveTo>
                    <a:cubicBezTo>
                      <a:pt x="450532" y="1001077"/>
                      <a:pt x="450532" y="962025"/>
                      <a:pt x="450532" y="923925"/>
                    </a:cubicBezTo>
                    <a:cubicBezTo>
                      <a:pt x="408622" y="923925"/>
                      <a:pt x="370522" y="923925"/>
                      <a:pt x="331470" y="923925"/>
                    </a:cubicBezTo>
                    <a:cubicBezTo>
                      <a:pt x="331470" y="964882"/>
                      <a:pt x="331470" y="1002030"/>
                      <a:pt x="331470" y="1041082"/>
                    </a:cubicBezTo>
                    <a:cubicBezTo>
                      <a:pt x="372427" y="1041082"/>
                      <a:pt x="410527" y="1041082"/>
                      <a:pt x="450532" y="1041082"/>
                    </a:cubicBezTo>
                    <a:close/>
                    <a:moveTo>
                      <a:pt x="332422" y="1218248"/>
                    </a:moveTo>
                    <a:cubicBezTo>
                      <a:pt x="332422" y="1258253"/>
                      <a:pt x="332422" y="1296353"/>
                      <a:pt x="332422" y="1336357"/>
                    </a:cubicBezTo>
                    <a:cubicBezTo>
                      <a:pt x="373380" y="1336357"/>
                      <a:pt x="410527" y="1336357"/>
                      <a:pt x="451485" y="1336357"/>
                    </a:cubicBezTo>
                    <a:cubicBezTo>
                      <a:pt x="451485" y="1296353"/>
                      <a:pt x="451485" y="1257300"/>
                      <a:pt x="451485" y="1218248"/>
                    </a:cubicBezTo>
                    <a:cubicBezTo>
                      <a:pt x="409575" y="1218248"/>
                      <a:pt x="372427" y="1218248"/>
                      <a:pt x="332422" y="1218248"/>
                    </a:cubicBezTo>
                    <a:close/>
                    <a:moveTo>
                      <a:pt x="452438" y="447675"/>
                    </a:moveTo>
                    <a:cubicBezTo>
                      <a:pt x="452438" y="406717"/>
                      <a:pt x="452438" y="369570"/>
                      <a:pt x="452438" y="329565"/>
                    </a:cubicBezTo>
                    <a:cubicBezTo>
                      <a:pt x="411480" y="329565"/>
                      <a:pt x="371475" y="329565"/>
                      <a:pt x="331470" y="329565"/>
                    </a:cubicBezTo>
                    <a:cubicBezTo>
                      <a:pt x="331470" y="370522"/>
                      <a:pt x="331470" y="408622"/>
                      <a:pt x="331470" y="447675"/>
                    </a:cubicBezTo>
                    <a:cubicBezTo>
                      <a:pt x="371475" y="447675"/>
                      <a:pt x="409575" y="447675"/>
                      <a:pt x="452438" y="447675"/>
                    </a:cubicBezTo>
                    <a:close/>
                    <a:moveTo>
                      <a:pt x="300038" y="448627"/>
                    </a:moveTo>
                    <a:cubicBezTo>
                      <a:pt x="300038" y="405765"/>
                      <a:pt x="300038" y="368617"/>
                      <a:pt x="300038" y="328613"/>
                    </a:cubicBezTo>
                    <a:cubicBezTo>
                      <a:pt x="258127" y="328613"/>
                      <a:pt x="219075" y="328613"/>
                      <a:pt x="180022" y="328613"/>
                    </a:cubicBezTo>
                    <a:cubicBezTo>
                      <a:pt x="180022" y="370522"/>
                      <a:pt x="180022" y="408622"/>
                      <a:pt x="180022" y="448627"/>
                    </a:cubicBezTo>
                    <a:cubicBezTo>
                      <a:pt x="220980" y="448627"/>
                      <a:pt x="258127" y="448627"/>
                      <a:pt x="300038" y="448627"/>
                    </a:cubicBezTo>
                    <a:close/>
                    <a:moveTo>
                      <a:pt x="146685" y="299085"/>
                    </a:moveTo>
                    <a:cubicBezTo>
                      <a:pt x="146685" y="256222"/>
                      <a:pt x="146685" y="218122"/>
                      <a:pt x="146685" y="181927"/>
                    </a:cubicBezTo>
                    <a:cubicBezTo>
                      <a:pt x="103822" y="181927"/>
                      <a:pt x="65722" y="181927"/>
                      <a:pt x="27622" y="181927"/>
                    </a:cubicBezTo>
                    <a:cubicBezTo>
                      <a:pt x="27622" y="222885"/>
                      <a:pt x="27622" y="260032"/>
                      <a:pt x="27622" y="299085"/>
                    </a:cubicBezTo>
                    <a:cubicBezTo>
                      <a:pt x="67627" y="299085"/>
                      <a:pt x="104775" y="299085"/>
                      <a:pt x="146685" y="299085"/>
                    </a:cubicBezTo>
                    <a:close/>
                    <a:moveTo>
                      <a:pt x="145732" y="889635"/>
                    </a:moveTo>
                    <a:cubicBezTo>
                      <a:pt x="145732" y="848677"/>
                      <a:pt x="145732" y="810577"/>
                      <a:pt x="145732" y="772477"/>
                    </a:cubicBezTo>
                    <a:cubicBezTo>
                      <a:pt x="103822" y="772477"/>
                      <a:pt x="66675" y="772477"/>
                      <a:pt x="28575" y="772477"/>
                    </a:cubicBezTo>
                    <a:cubicBezTo>
                      <a:pt x="28575" y="813435"/>
                      <a:pt x="28575" y="851535"/>
                      <a:pt x="28575" y="889635"/>
                    </a:cubicBezTo>
                    <a:cubicBezTo>
                      <a:pt x="70485" y="889635"/>
                      <a:pt x="107632" y="889635"/>
                      <a:pt x="145732" y="889635"/>
                    </a:cubicBezTo>
                    <a:close/>
                    <a:moveTo>
                      <a:pt x="179070" y="889635"/>
                    </a:moveTo>
                    <a:cubicBezTo>
                      <a:pt x="220027" y="889635"/>
                      <a:pt x="258127" y="889635"/>
                      <a:pt x="298132" y="889635"/>
                    </a:cubicBezTo>
                    <a:cubicBezTo>
                      <a:pt x="298132" y="848677"/>
                      <a:pt x="298132" y="810577"/>
                      <a:pt x="298132" y="772477"/>
                    </a:cubicBezTo>
                    <a:cubicBezTo>
                      <a:pt x="256222" y="772477"/>
                      <a:pt x="219075" y="772477"/>
                      <a:pt x="179070" y="772477"/>
                    </a:cubicBezTo>
                    <a:cubicBezTo>
                      <a:pt x="179070" y="812482"/>
                      <a:pt x="179070" y="849630"/>
                      <a:pt x="179070" y="889635"/>
                    </a:cubicBezTo>
                    <a:close/>
                    <a:moveTo>
                      <a:pt x="450532" y="890588"/>
                    </a:moveTo>
                    <a:cubicBezTo>
                      <a:pt x="450532" y="849630"/>
                      <a:pt x="450532" y="811530"/>
                      <a:pt x="450532" y="771525"/>
                    </a:cubicBezTo>
                    <a:cubicBezTo>
                      <a:pt x="409575" y="771525"/>
                      <a:pt x="372427" y="771525"/>
                      <a:pt x="331470" y="771525"/>
                    </a:cubicBezTo>
                    <a:cubicBezTo>
                      <a:pt x="331470" y="811530"/>
                      <a:pt x="331470" y="850582"/>
                      <a:pt x="331470" y="890588"/>
                    </a:cubicBezTo>
                    <a:cubicBezTo>
                      <a:pt x="372427" y="890588"/>
                      <a:pt x="410527" y="890588"/>
                      <a:pt x="450532" y="890588"/>
                    </a:cubicBezTo>
                    <a:close/>
                    <a:moveTo>
                      <a:pt x="298132" y="1370648"/>
                    </a:moveTo>
                    <a:cubicBezTo>
                      <a:pt x="257175" y="1370648"/>
                      <a:pt x="218122" y="1370648"/>
                      <a:pt x="180022" y="1370648"/>
                    </a:cubicBezTo>
                    <a:cubicBezTo>
                      <a:pt x="180022" y="1410653"/>
                      <a:pt x="180022" y="1447800"/>
                      <a:pt x="180022" y="1486853"/>
                    </a:cubicBezTo>
                    <a:cubicBezTo>
                      <a:pt x="220980" y="1486853"/>
                      <a:pt x="257175" y="1486853"/>
                      <a:pt x="298132" y="1486853"/>
                    </a:cubicBezTo>
                    <a:cubicBezTo>
                      <a:pt x="298132" y="1447800"/>
                      <a:pt x="298132" y="1411605"/>
                      <a:pt x="298132" y="1370648"/>
                    </a:cubicBezTo>
                    <a:close/>
                    <a:moveTo>
                      <a:pt x="299085" y="1632585"/>
                    </a:moveTo>
                    <a:cubicBezTo>
                      <a:pt x="299085" y="1590675"/>
                      <a:pt x="299085" y="1553528"/>
                      <a:pt x="299085" y="1516380"/>
                    </a:cubicBezTo>
                    <a:cubicBezTo>
                      <a:pt x="258127" y="1516380"/>
                      <a:pt x="219075" y="1516380"/>
                      <a:pt x="179070" y="1516380"/>
                    </a:cubicBezTo>
                    <a:cubicBezTo>
                      <a:pt x="179070" y="1557338"/>
                      <a:pt x="179070" y="1594485"/>
                      <a:pt x="179070" y="1632585"/>
                    </a:cubicBezTo>
                    <a:cubicBezTo>
                      <a:pt x="219075" y="1632585"/>
                      <a:pt x="256222" y="1632585"/>
                      <a:pt x="299085" y="1632585"/>
                    </a:cubicBezTo>
                    <a:close/>
                    <a:moveTo>
                      <a:pt x="146685" y="1370648"/>
                    </a:moveTo>
                    <a:cubicBezTo>
                      <a:pt x="104775" y="1370648"/>
                      <a:pt x="65722" y="1370648"/>
                      <a:pt x="28575" y="1370648"/>
                    </a:cubicBezTo>
                    <a:cubicBezTo>
                      <a:pt x="28575" y="1410653"/>
                      <a:pt x="28575" y="1447800"/>
                      <a:pt x="28575" y="1486853"/>
                    </a:cubicBezTo>
                    <a:cubicBezTo>
                      <a:pt x="69532" y="1486853"/>
                      <a:pt x="106680" y="1486853"/>
                      <a:pt x="146685" y="1486853"/>
                    </a:cubicBezTo>
                    <a:cubicBezTo>
                      <a:pt x="146685" y="1447800"/>
                      <a:pt x="146685" y="1410653"/>
                      <a:pt x="146685" y="1370648"/>
                    </a:cubicBezTo>
                    <a:close/>
                    <a:moveTo>
                      <a:pt x="449580" y="1631632"/>
                    </a:moveTo>
                    <a:cubicBezTo>
                      <a:pt x="449580" y="1591628"/>
                      <a:pt x="449580" y="1553528"/>
                      <a:pt x="449580" y="1514475"/>
                    </a:cubicBezTo>
                    <a:cubicBezTo>
                      <a:pt x="409575" y="1514475"/>
                      <a:pt x="372427" y="1514475"/>
                      <a:pt x="332422" y="1514475"/>
                    </a:cubicBezTo>
                    <a:cubicBezTo>
                      <a:pt x="332422" y="1554480"/>
                      <a:pt x="332422" y="1592580"/>
                      <a:pt x="332422" y="1631632"/>
                    </a:cubicBezTo>
                    <a:cubicBezTo>
                      <a:pt x="373380" y="1631632"/>
                      <a:pt x="410527" y="1631632"/>
                      <a:pt x="449580" y="163163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xmlns="" id="{E63F6FB3-A081-4A24-9993-4B481E0AEBBF}"/>
                  </a:ext>
                </a:extLst>
              </p:cNvPr>
              <p:cNvSpPr/>
              <p:nvPr/>
            </p:nvSpPr>
            <p:spPr>
              <a:xfrm>
                <a:off x="6153901" y="2280010"/>
                <a:ext cx="565541" cy="1976576"/>
              </a:xfrm>
              <a:custGeom>
                <a:avLst/>
                <a:gdLst>
                  <a:gd name="connsiteX0" fmla="*/ 335796 w 565541"/>
                  <a:gd name="connsiteY0" fmla="*/ 1531565 h 1976576"/>
                  <a:gd name="connsiteX1" fmla="*/ 335796 w 565541"/>
                  <a:gd name="connsiteY1" fmla="*/ 1585857 h 1976576"/>
                  <a:gd name="connsiteX2" fmla="*/ 441823 w 565541"/>
                  <a:gd name="connsiteY2" fmla="*/ 1585857 h 1976576"/>
                  <a:gd name="connsiteX3" fmla="*/ 441823 w 565541"/>
                  <a:gd name="connsiteY3" fmla="*/ 1531565 h 1976576"/>
                  <a:gd name="connsiteX4" fmla="*/ 123718 w 565541"/>
                  <a:gd name="connsiteY4" fmla="*/ 1526871 h 1976576"/>
                  <a:gd name="connsiteX5" fmla="*/ 123718 w 565541"/>
                  <a:gd name="connsiteY5" fmla="*/ 1581163 h 1976576"/>
                  <a:gd name="connsiteX6" fmla="*/ 229745 w 565541"/>
                  <a:gd name="connsiteY6" fmla="*/ 1581163 h 1976576"/>
                  <a:gd name="connsiteX7" fmla="*/ 229745 w 565541"/>
                  <a:gd name="connsiteY7" fmla="*/ 1526871 h 1976576"/>
                  <a:gd name="connsiteX8" fmla="*/ 335796 w 565541"/>
                  <a:gd name="connsiteY8" fmla="*/ 1409581 h 1976576"/>
                  <a:gd name="connsiteX9" fmla="*/ 335796 w 565541"/>
                  <a:gd name="connsiteY9" fmla="*/ 1463873 h 1976576"/>
                  <a:gd name="connsiteX10" fmla="*/ 441823 w 565541"/>
                  <a:gd name="connsiteY10" fmla="*/ 1463873 h 1976576"/>
                  <a:gd name="connsiteX11" fmla="*/ 441823 w 565541"/>
                  <a:gd name="connsiteY11" fmla="*/ 1409581 h 1976576"/>
                  <a:gd name="connsiteX12" fmla="*/ 123718 w 565541"/>
                  <a:gd name="connsiteY12" fmla="*/ 1404887 h 1976576"/>
                  <a:gd name="connsiteX13" fmla="*/ 123718 w 565541"/>
                  <a:gd name="connsiteY13" fmla="*/ 1459180 h 1976576"/>
                  <a:gd name="connsiteX14" fmla="*/ 229745 w 565541"/>
                  <a:gd name="connsiteY14" fmla="*/ 1459180 h 1976576"/>
                  <a:gd name="connsiteX15" fmla="*/ 229745 w 565541"/>
                  <a:gd name="connsiteY15" fmla="*/ 1404887 h 1976576"/>
                  <a:gd name="connsiteX16" fmla="*/ 335796 w 565541"/>
                  <a:gd name="connsiteY16" fmla="*/ 1287599 h 1976576"/>
                  <a:gd name="connsiteX17" fmla="*/ 335796 w 565541"/>
                  <a:gd name="connsiteY17" fmla="*/ 1341892 h 1976576"/>
                  <a:gd name="connsiteX18" fmla="*/ 441823 w 565541"/>
                  <a:gd name="connsiteY18" fmla="*/ 1341892 h 1976576"/>
                  <a:gd name="connsiteX19" fmla="*/ 441823 w 565541"/>
                  <a:gd name="connsiteY19" fmla="*/ 1287599 h 1976576"/>
                  <a:gd name="connsiteX20" fmla="*/ 123718 w 565541"/>
                  <a:gd name="connsiteY20" fmla="*/ 1282905 h 1976576"/>
                  <a:gd name="connsiteX21" fmla="*/ 123718 w 565541"/>
                  <a:gd name="connsiteY21" fmla="*/ 1337198 h 1976576"/>
                  <a:gd name="connsiteX22" fmla="*/ 229745 w 565541"/>
                  <a:gd name="connsiteY22" fmla="*/ 1337198 h 1976576"/>
                  <a:gd name="connsiteX23" fmla="*/ 229745 w 565541"/>
                  <a:gd name="connsiteY23" fmla="*/ 1282905 h 1976576"/>
                  <a:gd name="connsiteX24" fmla="*/ 335796 w 565541"/>
                  <a:gd name="connsiteY24" fmla="*/ 1165617 h 1976576"/>
                  <a:gd name="connsiteX25" fmla="*/ 335796 w 565541"/>
                  <a:gd name="connsiteY25" fmla="*/ 1219910 h 1976576"/>
                  <a:gd name="connsiteX26" fmla="*/ 441823 w 565541"/>
                  <a:gd name="connsiteY26" fmla="*/ 1219910 h 1976576"/>
                  <a:gd name="connsiteX27" fmla="*/ 441823 w 565541"/>
                  <a:gd name="connsiteY27" fmla="*/ 1165617 h 1976576"/>
                  <a:gd name="connsiteX28" fmla="*/ 123718 w 565541"/>
                  <a:gd name="connsiteY28" fmla="*/ 1160924 h 1976576"/>
                  <a:gd name="connsiteX29" fmla="*/ 123718 w 565541"/>
                  <a:gd name="connsiteY29" fmla="*/ 1215216 h 1976576"/>
                  <a:gd name="connsiteX30" fmla="*/ 229745 w 565541"/>
                  <a:gd name="connsiteY30" fmla="*/ 1215216 h 1976576"/>
                  <a:gd name="connsiteX31" fmla="*/ 229745 w 565541"/>
                  <a:gd name="connsiteY31" fmla="*/ 1160924 h 1976576"/>
                  <a:gd name="connsiteX32" fmla="*/ 335796 w 565541"/>
                  <a:gd name="connsiteY32" fmla="*/ 1043636 h 1976576"/>
                  <a:gd name="connsiteX33" fmla="*/ 335796 w 565541"/>
                  <a:gd name="connsiteY33" fmla="*/ 1097928 h 1976576"/>
                  <a:gd name="connsiteX34" fmla="*/ 441823 w 565541"/>
                  <a:gd name="connsiteY34" fmla="*/ 1097928 h 1976576"/>
                  <a:gd name="connsiteX35" fmla="*/ 441823 w 565541"/>
                  <a:gd name="connsiteY35" fmla="*/ 1043636 h 1976576"/>
                  <a:gd name="connsiteX36" fmla="*/ 123718 w 565541"/>
                  <a:gd name="connsiteY36" fmla="*/ 1038942 h 1976576"/>
                  <a:gd name="connsiteX37" fmla="*/ 123718 w 565541"/>
                  <a:gd name="connsiteY37" fmla="*/ 1093234 h 1976576"/>
                  <a:gd name="connsiteX38" fmla="*/ 229745 w 565541"/>
                  <a:gd name="connsiteY38" fmla="*/ 1093234 h 1976576"/>
                  <a:gd name="connsiteX39" fmla="*/ 229745 w 565541"/>
                  <a:gd name="connsiteY39" fmla="*/ 1038942 h 1976576"/>
                  <a:gd name="connsiteX40" fmla="*/ 335796 w 565541"/>
                  <a:gd name="connsiteY40" fmla="*/ 921654 h 1976576"/>
                  <a:gd name="connsiteX41" fmla="*/ 335796 w 565541"/>
                  <a:gd name="connsiteY41" fmla="*/ 975946 h 1976576"/>
                  <a:gd name="connsiteX42" fmla="*/ 441823 w 565541"/>
                  <a:gd name="connsiteY42" fmla="*/ 975946 h 1976576"/>
                  <a:gd name="connsiteX43" fmla="*/ 441823 w 565541"/>
                  <a:gd name="connsiteY43" fmla="*/ 921654 h 1976576"/>
                  <a:gd name="connsiteX44" fmla="*/ 123718 w 565541"/>
                  <a:gd name="connsiteY44" fmla="*/ 916960 h 1976576"/>
                  <a:gd name="connsiteX45" fmla="*/ 123718 w 565541"/>
                  <a:gd name="connsiteY45" fmla="*/ 971252 h 1976576"/>
                  <a:gd name="connsiteX46" fmla="*/ 229745 w 565541"/>
                  <a:gd name="connsiteY46" fmla="*/ 971252 h 1976576"/>
                  <a:gd name="connsiteX47" fmla="*/ 229745 w 565541"/>
                  <a:gd name="connsiteY47" fmla="*/ 916960 h 1976576"/>
                  <a:gd name="connsiteX48" fmla="*/ 335796 w 565541"/>
                  <a:gd name="connsiteY48" fmla="*/ 799672 h 1976576"/>
                  <a:gd name="connsiteX49" fmla="*/ 335796 w 565541"/>
                  <a:gd name="connsiteY49" fmla="*/ 853964 h 1976576"/>
                  <a:gd name="connsiteX50" fmla="*/ 441823 w 565541"/>
                  <a:gd name="connsiteY50" fmla="*/ 853964 h 1976576"/>
                  <a:gd name="connsiteX51" fmla="*/ 441823 w 565541"/>
                  <a:gd name="connsiteY51" fmla="*/ 799672 h 1976576"/>
                  <a:gd name="connsiteX52" fmla="*/ 123718 w 565541"/>
                  <a:gd name="connsiteY52" fmla="*/ 794978 h 1976576"/>
                  <a:gd name="connsiteX53" fmla="*/ 123718 w 565541"/>
                  <a:gd name="connsiteY53" fmla="*/ 849270 h 1976576"/>
                  <a:gd name="connsiteX54" fmla="*/ 229745 w 565541"/>
                  <a:gd name="connsiteY54" fmla="*/ 849270 h 1976576"/>
                  <a:gd name="connsiteX55" fmla="*/ 229745 w 565541"/>
                  <a:gd name="connsiteY55" fmla="*/ 794978 h 1976576"/>
                  <a:gd name="connsiteX56" fmla="*/ 335796 w 565541"/>
                  <a:gd name="connsiteY56" fmla="*/ 677690 h 1976576"/>
                  <a:gd name="connsiteX57" fmla="*/ 335796 w 565541"/>
                  <a:gd name="connsiteY57" fmla="*/ 731982 h 1976576"/>
                  <a:gd name="connsiteX58" fmla="*/ 441823 w 565541"/>
                  <a:gd name="connsiteY58" fmla="*/ 731982 h 1976576"/>
                  <a:gd name="connsiteX59" fmla="*/ 441823 w 565541"/>
                  <a:gd name="connsiteY59" fmla="*/ 677690 h 1976576"/>
                  <a:gd name="connsiteX60" fmla="*/ 123718 w 565541"/>
                  <a:gd name="connsiteY60" fmla="*/ 672996 h 1976576"/>
                  <a:gd name="connsiteX61" fmla="*/ 123718 w 565541"/>
                  <a:gd name="connsiteY61" fmla="*/ 727289 h 1976576"/>
                  <a:gd name="connsiteX62" fmla="*/ 229745 w 565541"/>
                  <a:gd name="connsiteY62" fmla="*/ 727289 h 1976576"/>
                  <a:gd name="connsiteX63" fmla="*/ 229745 w 565541"/>
                  <a:gd name="connsiteY63" fmla="*/ 672996 h 1976576"/>
                  <a:gd name="connsiteX64" fmla="*/ 335796 w 565541"/>
                  <a:gd name="connsiteY64" fmla="*/ 555708 h 1976576"/>
                  <a:gd name="connsiteX65" fmla="*/ 335796 w 565541"/>
                  <a:gd name="connsiteY65" fmla="*/ 610000 h 1976576"/>
                  <a:gd name="connsiteX66" fmla="*/ 441823 w 565541"/>
                  <a:gd name="connsiteY66" fmla="*/ 610000 h 1976576"/>
                  <a:gd name="connsiteX67" fmla="*/ 441823 w 565541"/>
                  <a:gd name="connsiteY67" fmla="*/ 555708 h 1976576"/>
                  <a:gd name="connsiteX68" fmla="*/ 123718 w 565541"/>
                  <a:gd name="connsiteY68" fmla="*/ 551014 h 1976576"/>
                  <a:gd name="connsiteX69" fmla="*/ 123718 w 565541"/>
                  <a:gd name="connsiteY69" fmla="*/ 605307 h 1976576"/>
                  <a:gd name="connsiteX70" fmla="*/ 229745 w 565541"/>
                  <a:gd name="connsiteY70" fmla="*/ 605307 h 1976576"/>
                  <a:gd name="connsiteX71" fmla="*/ 229745 w 565541"/>
                  <a:gd name="connsiteY71" fmla="*/ 551014 h 1976576"/>
                  <a:gd name="connsiteX72" fmla="*/ 335796 w 565541"/>
                  <a:gd name="connsiteY72" fmla="*/ 433726 h 1976576"/>
                  <a:gd name="connsiteX73" fmla="*/ 335796 w 565541"/>
                  <a:gd name="connsiteY73" fmla="*/ 488019 h 1976576"/>
                  <a:gd name="connsiteX74" fmla="*/ 441823 w 565541"/>
                  <a:gd name="connsiteY74" fmla="*/ 488019 h 1976576"/>
                  <a:gd name="connsiteX75" fmla="*/ 441823 w 565541"/>
                  <a:gd name="connsiteY75" fmla="*/ 433726 h 1976576"/>
                  <a:gd name="connsiteX76" fmla="*/ 123718 w 565541"/>
                  <a:gd name="connsiteY76" fmla="*/ 429032 h 1976576"/>
                  <a:gd name="connsiteX77" fmla="*/ 123718 w 565541"/>
                  <a:gd name="connsiteY77" fmla="*/ 483325 h 1976576"/>
                  <a:gd name="connsiteX78" fmla="*/ 229745 w 565541"/>
                  <a:gd name="connsiteY78" fmla="*/ 483325 h 1976576"/>
                  <a:gd name="connsiteX79" fmla="*/ 229745 w 565541"/>
                  <a:gd name="connsiteY79" fmla="*/ 429032 h 1976576"/>
                  <a:gd name="connsiteX80" fmla="*/ 244058 w 565541"/>
                  <a:gd name="connsiteY80" fmla="*/ 0 h 1976576"/>
                  <a:gd name="connsiteX81" fmla="*/ 321484 w 565541"/>
                  <a:gd name="connsiteY81" fmla="*/ 0 h 1976576"/>
                  <a:gd name="connsiteX82" fmla="*/ 321484 w 565541"/>
                  <a:gd name="connsiteY82" fmla="*/ 178763 h 1976576"/>
                  <a:gd name="connsiteX83" fmla="*/ 388810 w 565541"/>
                  <a:gd name="connsiteY83" fmla="*/ 178763 h 1976576"/>
                  <a:gd name="connsiteX84" fmla="*/ 388810 w 565541"/>
                  <a:gd name="connsiteY84" fmla="*/ 299617 h 1976576"/>
                  <a:gd name="connsiteX85" fmla="*/ 565541 w 565541"/>
                  <a:gd name="connsiteY85" fmla="*/ 299617 h 1976576"/>
                  <a:gd name="connsiteX86" fmla="*/ 565541 w 565541"/>
                  <a:gd name="connsiteY86" fmla="*/ 1976576 h 1976576"/>
                  <a:gd name="connsiteX87" fmla="*/ 448247 w 565541"/>
                  <a:gd name="connsiteY87" fmla="*/ 1976576 h 1976576"/>
                  <a:gd name="connsiteX88" fmla="*/ 371127 w 565541"/>
                  <a:gd name="connsiteY88" fmla="*/ 1976576 h 1976576"/>
                  <a:gd name="connsiteX89" fmla="*/ 194414 w 565541"/>
                  <a:gd name="connsiteY89" fmla="*/ 1976576 h 1976576"/>
                  <a:gd name="connsiteX90" fmla="*/ 88332 w 565541"/>
                  <a:gd name="connsiteY90" fmla="*/ 1976576 h 1976576"/>
                  <a:gd name="connsiteX91" fmla="*/ 0 w 565541"/>
                  <a:gd name="connsiteY91" fmla="*/ 1976576 h 1976576"/>
                  <a:gd name="connsiteX92" fmla="*/ 0 w 565541"/>
                  <a:gd name="connsiteY92" fmla="*/ 299617 h 1976576"/>
                  <a:gd name="connsiteX93" fmla="*/ 176731 w 565541"/>
                  <a:gd name="connsiteY93" fmla="*/ 299617 h 1976576"/>
                  <a:gd name="connsiteX94" fmla="*/ 176731 w 565541"/>
                  <a:gd name="connsiteY94" fmla="*/ 178763 h 1976576"/>
                  <a:gd name="connsiteX95" fmla="*/ 244058 w 565541"/>
                  <a:gd name="connsiteY95" fmla="*/ 178763 h 1976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565541" h="1976576">
                    <a:moveTo>
                      <a:pt x="335796" y="1531565"/>
                    </a:moveTo>
                    <a:lnTo>
                      <a:pt x="335796" y="1585857"/>
                    </a:lnTo>
                    <a:lnTo>
                      <a:pt x="441823" y="1585857"/>
                    </a:lnTo>
                    <a:lnTo>
                      <a:pt x="441823" y="1531565"/>
                    </a:lnTo>
                    <a:close/>
                    <a:moveTo>
                      <a:pt x="123718" y="1526871"/>
                    </a:moveTo>
                    <a:lnTo>
                      <a:pt x="123718" y="1581163"/>
                    </a:lnTo>
                    <a:lnTo>
                      <a:pt x="229745" y="1581163"/>
                    </a:lnTo>
                    <a:lnTo>
                      <a:pt x="229745" y="1526871"/>
                    </a:lnTo>
                    <a:close/>
                    <a:moveTo>
                      <a:pt x="335796" y="1409581"/>
                    </a:moveTo>
                    <a:lnTo>
                      <a:pt x="335796" y="1463873"/>
                    </a:lnTo>
                    <a:lnTo>
                      <a:pt x="441823" y="1463873"/>
                    </a:lnTo>
                    <a:lnTo>
                      <a:pt x="441823" y="1409581"/>
                    </a:lnTo>
                    <a:close/>
                    <a:moveTo>
                      <a:pt x="123718" y="1404887"/>
                    </a:moveTo>
                    <a:lnTo>
                      <a:pt x="123718" y="1459180"/>
                    </a:lnTo>
                    <a:lnTo>
                      <a:pt x="229745" y="1459180"/>
                    </a:lnTo>
                    <a:lnTo>
                      <a:pt x="229745" y="1404887"/>
                    </a:lnTo>
                    <a:close/>
                    <a:moveTo>
                      <a:pt x="335796" y="1287599"/>
                    </a:moveTo>
                    <a:lnTo>
                      <a:pt x="335796" y="1341892"/>
                    </a:lnTo>
                    <a:lnTo>
                      <a:pt x="441823" y="1341892"/>
                    </a:lnTo>
                    <a:lnTo>
                      <a:pt x="441823" y="1287599"/>
                    </a:lnTo>
                    <a:close/>
                    <a:moveTo>
                      <a:pt x="123718" y="1282905"/>
                    </a:moveTo>
                    <a:lnTo>
                      <a:pt x="123718" y="1337198"/>
                    </a:lnTo>
                    <a:lnTo>
                      <a:pt x="229745" y="1337198"/>
                    </a:lnTo>
                    <a:lnTo>
                      <a:pt x="229745" y="1282905"/>
                    </a:lnTo>
                    <a:close/>
                    <a:moveTo>
                      <a:pt x="335796" y="1165617"/>
                    </a:moveTo>
                    <a:lnTo>
                      <a:pt x="335796" y="1219910"/>
                    </a:lnTo>
                    <a:lnTo>
                      <a:pt x="441823" y="1219910"/>
                    </a:lnTo>
                    <a:lnTo>
                      <a:pt x="441823" y="1165617"/>
                    </a:lnTo>
                    <a:close/>
                    <a:moveTo>
                      <a:pt x="123718" y="1160924"/>
                    </a:moveTo>
                    <a:lnTo>
                      <a:pt x="123718" y="1215216"/>
                    </a:lnTo>
                    <a:lnTo>
                      <a:pt x="229745" y="1215216"/>
                    </a:lnTo>
                    <a:lnTo>
                      <a:pt x="229745" y="1160924"/>
                    </a:lnTo>
                    <a:close/>
                    <a:moveTo>
                      <a:pt x="335796" y="1043636"/>
                    </a:moveTo>
                    <a:lnTo>
                      <a:pt x="335796" y="1097928"/>
                    </a:lnTo>
                    <a:lnTo>
                      <a:pt x="441823" y="1097928"/>
                    </a:lnTo>
                    <a:lnTo>
                      <a:pt x="441823" y="1043636"/>
                    </a:lnTo>
                    <a:close/>
                    <a:moveTo>
                      <a:pt x="123718" y="1038942"/>
                    </a:moveTo>
                    <a:lnTo>
                      <a:pt x="123718" y="1093234"/>
                    </a:lnTo>
                    <a:lnTo>
                      <a:pt x="229745" y="1093234"/>
                    </a:lnTo>
                    <a:lnTo>
                      <a:pt x="229745" y="1038942"/>
                    </a:lnTo>
                    <a:close/>
                    <a:moveTo>
                      <a:pt x="335796" y="921654"/>
                    </a:moveTo>
                    <a:lnTo>
                      <a:pt x="335796" y="975946"/>
                    </a:lnTo>
                    <a:lnTo>
                      <a:pt x="441823" y="975946"/>
                    </a:lnTo>
                    <a:lnTo>
                      <a:pt x="441823" y="921654"/>
                    </a:lnTo>
                    <a:close/>
                    <a:moveTo>
                      <a:pt x="123718" y="916960"/>
                    </a:moveTo>
                    <a:lnTo>
                      <a:pt x="123718" y="971252"/>
                    </a:lnTo>
                    <a:lnTo>
                      <a:pt x="229745" y="971252"/>
                    </a:lnTo>
                    <a:lnTo>
                      <a:pt x="229745" y="916960"/>
                    </a:lnTo>
                    <a:close/>
                    <a:moveTo>
                      <a:pt x="335796" y="799672"/>
                    </a:moveTo>
                    <a:lnTo>
                      <a:pt x="335796" y="853964"/>
                    </a:lnTo>
                    <a:lnTo>
                      <a:pt x="441823" y="853964"/>
                    </a:lnTo>
                    <a:lnTo>
                      <a:pt x="441823" y="799672"/>
                    </a:lnTo>
                    <a:close/>
                    <a:moveTo>
                      <a:pt x="123718" y="794978"/>
                    </a:moveTo>
                    <a:lnTo>
                      <a:pt x="123718" y="849270"/>
                    </a:lnTo>
                    <a:lnTo>
                      <a:pt x="229745" y="849270"/>
                    </a:lnTo>
                    <a:lnTo>
                      <a:pt x="229745" y="794978"/>
                    </a:lnTo>
                    <a:close/>
                    <a:moveTo>
                      <a:pt x="335796" y="677690"/>
                    </a:moveTo>
                    <a:lnTo>
                      <a:pt x="335796" y="731982"/>
                    </a:lnTo>
                    <a:lnTo>
                      <a:pt x="441823" y="731982"/>
                    </a:lnTo>
                    <a:lnTo>
                      <a:pt x="441823" y="677690"/>
                    </a:lnTo>
                    <a:close/>
                    <a:moveTo>
                      <a:pt x="123718" y="672996"/>
                    </a:moveTo>
                    <a:lnTo>
                      <a:pt x="123718" y="727289"/>
                    </a:lnTo>
                    <a:lnTo>
                      <a:pt x="229745" y="727289"/>
                    </a:lnTo>
                    <a:lnTo>
                      <a:pt x="229745" y="672996"/>
                    </a:lnTo>
                    <a:close/>
                    <a:moveTo>
                      <a:pt x="335796" y="555708"/>
                    </a:moveTo>
                    <a:lnTo>
                      <a:pt x="335796" y="610000"/>
                    </a:lnTo>
                    <a:lnTo>
                      <a:pt x="441823" y="610000"/>
                    </a:lnTo>
                    <a:lnTo>
                      <a:pt x="441823" y="555708"/>
                    </a:lnTo>
                    <a:close/>
                    <a:moveTo>
                      <a:pt x="123718" y="551014"/>
                    </a:moveTo>
                    <a:lnTo>
                      <a:pt x="123718" y="605307"/>
                    </a:lnTo>
                    <a:lnTo>
                      <a:pt x="229745" y="605307"/>
                    </a:lnTo>
                    <a:lnTo>
                      <a:pt x="229745" y="551014"/>
                    </a:lnTo>
                    <a:close/>
                    <a:moveTo>
                      <a:pt x="335796" y="433726"/>
                    </a:moveTo>
                    <a:lnTo>
                      <a:pt x="335796" y="488019"/>
                    </a:lnTo>
                    <a:lnTo>
                      <a:pt x="441823" y="488019"/>
                    </a:lnTo>
                    <a:lnTo>
                      <a:pt x="441823" y="433726"/>
                    </a:lnTo>
                    <a:close/>
                    <a:moveTo>
                      <a:pt x="123718" y="429032"/>
                    </a:moveTo>
                    <a:lnTo>
                      <a:pt x="123718" y="483325"/>
                    </a:lnTo>
                    <a:lnTo>
                      <a:pt x="229745" y="483325"/>
                    </a:lnTo>
                    <a:lnTo>
                      <a:pt x="229745" y="429032"/>
                    </a:lnTo>
                    <a:close/>
                    <a:moveTo>
                      <a:pt x="244058" y="0"/>
                    </a:moveTo>
                    <a:lnTo>
                      <a:pt x="321484" y="0"/>
                    </a:lnTo>
                    <a:lnTo>
                      <a:pt x="321484" y="178763"/>
                    </a:lnTo>
                    <a:lnTo>
                      <a:pt x="388810" y="178763"/>
                    </a:lnTo>
                    <a:lnTo>
                      <a:pt x="388810" y="299617"/>
                    </a:lnTo>
                    <a:lnTo>
                      <a:pt x="565541" y="299617"/>
                    </a:lnTo>
                    <a:lnTo>
                      <a:pt x="565541" y="1976576"/>
                    </a:lnTo>
                    <a:lnTo>
                      <a:pt x="448247" y="1976576"/>
                    </a:lnTo>
                    <a:lnTo>
                      <a:pt x="371127" y="1976576"/>
                    </a:lnTo>
                    <a:lnTo>
                      <a:pt x="194414" y="1976576"/>
                    </a:lnTo>
                    <a:lnTo>
                      <a:pt x="88332" y="1976576"/>
                    </a:lnTo>
                    <a:lnTo>
                      <a:pt x="0" y="1976576"/>
                    </a:lnTo>
                    <a:lnTo>
                      <a:pt x="0" y="299617"/>
                    </a:lnTo>
                    <a:lnTo>
                      <a:pt x="176731" y="299617"/>
                    </a:lnTo>
                    <a:lnTo>
                      <a:pt x="176731" y="178763"/>
                    </a:lnTo>
                    <a:lnTo>
                      <a:pt x="244058" y="17876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026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xmlns="" id="{B6447CA1-2D32-4DA1-A223-78EF87674843}"/>
                  </a:ext>
                </a:extLst>
              </p:cNvPr>
              <p:cNvSpPr/>
              <p:nvPr/>
            </p:nvSpPr>
            <p:spPr>
              <a:xfrm>
                <a:off x="5147338" y="1925597"/>
                <a:ext cx="477157" cy="2330989"/>
              </a:xfrm>
              <a:custGeom>
                <a:avLst/>
                <a:gdLst>
                  <a:gd name="connsiteX0" fmla="*/ 285608 w 487386"/>
                  <a:gd name="connsiteY0" fmla="*/ 1339706 h 2330989"/>
                  <a:gd name="connsiteX1" fmla="*/ 285608 w 487386"/>
                  <a:gd name="connsiteY1" fmla="*/ 1414297 h 2330989"/>
                  <a:gd name="connsiteX2" fmla="*/ 356272 w 487386"/>
                  <a:gd name="connsiteY2" fmla="*/ 1414297 h 2330989"/>
                  <a:gd name="connsiteX3" fmla="*/ 356272 w 487386"/>
                  <a:gd name="connsiteY3" fmla="*/ 1339706 h 2330989"/>
                  <a:gd name="connsiteX4" fmla="*/ 285608 w 487386"/>
                  <a:gd name="connsiteY4" fmla="*/ 1339706 h 2330989"/>
                  <a:gd name="connsiteX5" fmla="*/ 31407 w 487386"/>
                  <a:gd name="connsiteY5" fmla="*/ 1338724 h 2330989"/>
                  <a:gd name="connsiteX6" fmla="*/ 31407 w 487386"/>
                  <a:gd name="connsiteY6" fmla="*/ 1414297 h 2330989"/>
                  <a:gd name="connsiteX7" fmla="*/ 258126 w 487386"/>
                  <a:gd name="connsiteY7" fmla="*/ 1414297 h 2330989"/>
                  <a:gd name="connsiteX8" fmla="*/ 258126 w 487386"/>
                  <a:gd name="connsiteY8" fmla="*/ 1338724 h 2330989"/>
                  <a:gd name="connsiteX9" fmla="*/ 31407 w 487386"/>
                  <a:gd name="connsiteY9" fmla="*/ 1338724 h 2330989"/>
                  <a:gd name="connsiteX10" fmla="*/ 385716 w 487386"/>
                  <a:gd name="connsiteY10" fmla="*/ 1245485 h 2330989"/>
                  <a:gd name="connsiteX11" fmla="*/ 385716 w 487386"/>
                  <a:gd name="connsiteY11" fmla="*/ 1318113 h 2330989"/>
                  <a:gd name="connsiteX12" fmla="*/ 453438 w 487386"/>
                  <a:gd name="connsiteY12" fmla="*/ 1318113 h 2330989"/>
                  <a:gd name="connsiteX13" fmla="*/ 453438 w 487386"/>
                  <a:gd name="connsiteY13" fmla="*/ 1245485 h 2330989"/>
                  <a:gd name="connsiteX14" fmla="*/ 385716 w 487386"/>
                  <a:gd name="connsiteY14" fmla="*/ 1245485 h 2330989"/>
                  <a:gd name="connsiteX15" fmla="*/ 32388 w 487386"/>
                  <a:gd name="connsiteY15" fmla="*/ 1243522 h 2330989"/>
                  <a:gd name="connsiteX16" fmla="*/ 32388 w 487386"/>
                  <a:gd name="connsiteY16" fmla="*/ 1318113 h 2330989"/>
                  <a:gd name="connsiteX17" fmla="*/ 102073 w 487386"/>
                  <a:gd name="connsiteY17" fmla="*/ 1318113 h 2330989"/>
                  <a:gd name="connsiteX18" fmla="*/ 102073 w 487386"/>
                  <a:gd name="connsiteY18" fmla="*/ 1243522 h 2330989"/>
                  <a:gd name="connsiteX19" fmla="*/ 32388 w 487386"/>
                  <a:gd name="connsiteY19" fmla="*/ 1243522 h 2330989"/>
                  <a:gd name="connsiteX20" fmla="*/ 130535 w 487386"/>
                  <a:gd name="connsiteY20" fmla="*/ 1242540 h 2330989"/>
                  <a:gd name="connsiteX21" fmla="*/ 130535 w 487386"/>
                  <a:gd name="connsiteY21" fmla="*/ 1317131 h 2330989"/>
                  <a:gd name="connsiteX22" fmla="*/ 356272 w 487386"/>
                  <a:gd name="connsiteY22" fmla="*/ 1317131 h 2330989"/>
                  <a:gd name="connsiteX23" fmla="*/ 356272 w 487386"/>
                  <a:gd name="connsiteY23" fmla="*/ 1242540 h 2330989"/>
                  <a:gd name="connsiteX24" fmla="*/ 130535 w 487386"/>
                  <a:gd name="connsiteY24" fmla="*/ 1242540 h 2330989"/>
                  <a:gd name="connsiteX25" fmla="*/ 128572 w 487386"/>
                  <a:gd name="connsiteY25" fmla="*/ 1149301 h 2330989"/>
                  <a:gd name="connsiteX26" fmla="*/ 128572 w 487386"/>
                  <a:gd name="connsiteY26" fmla="*/ 1220947 h 2330989"/>
                  <a:gd name="connsiteX27" fmla="*/ 199237 w 487386"/>
                  <a:gd name="connsiteY27" fmla="*/ 1220947 h 2330989"/>
                  <a:gd name="connsiteX28" fmla="*/ 199237 w 487386"/>
                  <a:gd name="connsiteY28" fmla="*/ 1149301 h 2330989"/>
                  <a:gd name="connsiteX29" fmla="*/ 128572 w 487386"/>
                  <a:gd name="connsiteY29" fmla="*/ 1149301 h 2330989"/>
                  <a:gd name="connsiteX30" fmla="*/ 226720 w 487386"/>
                  <a:gd name="connsiteY30" fmla="*/ 1148319 h 2330989"/>
                  <a:gd name="connsiteX31" fmla="*/ 226720 w 487386"/>
                  <a:gd name="connsiteY31" fmla="*/ 1219966 h 2330989"/>
                  <a:gd name="connsiteX32" fmla="*/ 453438 w 487386"/>
                  <a:gd name="connsiteY32" fmla="*/ 1219966 h 2330989"/>
                  <a:gd name="connsiteX33" fmla="*/ 453438 w 487386"/>
                  <a:gd name="connsiteY33" fmla="*/ 1148319 h 2330989"/>
                  <a:gd name="connsiteX34" fmla="*/ 226720 w 487386"/>
                  <a:gd name="connsiteY34" fmla="*/ 1148319 h 2330989"/>
                  <a:gd name="connsiteX35" fmla="*/ 128572 w 487386"/>
                  <a:gd name="connsiteY35" fmla="*/ 1050172 h 2330989"/>
                  <a:gd name="connsiteX36" fmla="*/ 128572 w 487386"/>
                  <a:gd name="connsiteY36" fmla="*/ 1121820 h 2330989"/>
                  <a:gd name="connsiteX37" fmla="*/ 357254 w 487386"/>
                  <a:gd name="connsiteY37" fmla="*/ 1121820 h 2330989"/>
                  <a:gd name="connsiteX38" fmla="*/ 357254 w 487386"/>
                  <a:gd name="connsiteY38" fmla="*/ 1050172 h 2330989"/>
                  <a:gd name="connsiteX39" fmla="*/ 128572 w 487386"/>
                  <a:gd name="connsiteY39" fmla="*/ 1050172 h 2330989"/>
                  <a:gd name="connsiteX40" fmla="*/ 32388 w 487386"/>
                  <a:gd name="connsiteY40" fmla="*/ 1050172 h 2330989"/>
                  <a:gd name="connsiteX41" fmla="*/ 32388 w 487386"/>
                  <a:gd name="connsiteY41" fmla="*/ 1122800 h 2330989"/>
                  <a:gd name="connsiteX42" fmla="*/ 103055 w 487386"/>
                  <a:gd name="connsiteY42" fmla="*/ 1122800 h 2330989"/>
                  <a:gd name="connsiteX43" fmla="*/ 103055 w 487386"/>
                  <a:gd name="connsiteY43" fmla="*/ 1050172 h 2330989"/>
                  <a:gd name="connsiteX44" fmla="*/ 32388 w 487386"/>
                  <a:gd name="connsiteY44" fmla="*/ 1050172 h 2330989"/>
                  <a:gd name="connsiteX45" fmla="*/ 383754 w 487386"/>
                  <a:gd name="connsiteY45" fmla="*/ 953007 h 2330989"/>
                  <a:gd name="connsiteX46" fmla="*/ 383754 w 487386"/>
                  <a:gd name="connsiteY46" fmla="*/ 1024654 h 2330989"/>
                  <a:gd name="connsiteX47" fmla="*/ 452457 w 487386"/>
                  <a:gd name="connsiteY47" fmla="*/ 1024654 h 2330989"/>
                  <a:gd name="connsiteX48" fmla="*/ 452457 w 487386"/>
                  <a:gd name="connsiteY48" fmla="*/ 953007 h 2330989"/>
                  <a:gd name="connsiteX49" fmla="*/ 383754 w 487386"/>
                  <a:gd name="connsiteY49" fmla="*/ 953007 h 2330989"/>
                  <a:gd name="connsiteX50" fmla="*/ 30425 w 487386"/>
                  <a:gd name="connsiteY50" fmla="*/ 953007 h 2330989"/>
                  <a:gd name="connsiteX51" fmla="*/ 30425 w 487386"/>
                  <a:gd name="connsiteY51" fmla="*/ 1023673 h 2330989"/>
                  <a:gd name="connsiteX52" fmla="*/ 259108 w 487386"/>
                  <a:gd name="connsiteY52" fmla="*/ 1023673 h 2330989"/>
                  <a:gd name="connsiteX53" fmla="*/ 259108 w 487386"/>
                  <a:gd name="connsiteY53" fmla="*/ 953007 h 2330989"/>
                  <a:gd name="connsiteX54" fmla="*/ 30425 w 487386"/>
                  <a:gd name="connsiteY54" fmla="*/ 953007 h 2330989"/>
                  <a:gd name="connsiteX55" fmla="*/ 286589 w 487386"/>
                  <a:gd name="connsiteY55" fmla="*/ 952025 h 2330989"/>
                  <a:gd name="connsiteX56" fmla="*/ 286589 w 487386"/>
                  <a:gd name="connsiteY56" fmla="*/ 1023673 h 2330989"/>
                  <a:gd name="connsiteX57" fmla="*/ 357254 w 487386"/>
                  <a:gd name="connsiteY57" fmla="*/ 1023673 h 2330989"/>
                  <a:gd name="connsiteX58" fmla="*/ 357254 w 487386"/>
                  <a:gd name="connsiteY58" fmla="*/ 952025 h 2330989"/>
                  <a:gd name="connsiteX59" fmla="*/ 286589 w 487386"/>
                  <a:gd name="connsiteY59" fmla="*/ 952025 h 2330989"/>
                  <a:gd name="connsiteX60" fmla="*/ 382772 w 487386"/>
                  <a:gd name="connsiteY60" fmla="*/ 854860 h 2330989"/>
                  <a:gd name="connsiteX61" fmla="*/ 382772 w 487386"/>
                  <a:gd name="connsiteY61" fmla="*/ 927489 h 2330989"/>
                  <a:gd name="connsiteX62" fmla="*/ 452457 w 487386"/>
                  <a:gd name="connsiteY62" fmla="*/ 927489 h 2330989"/>
                  <a:gd name="connsiteX63" fmla="*/ 452457 w 487386"/>
                  <a:gd name="connsiteY63" fmla="*/ 854860 h 2330989"/>
                  <a:gd name="connsiteX64" fmla="*/ 382772 w 487386"/>
                  <a:gd name="connsiteY64" fmla="*/ 854860 h 2330989"/>
                  <a:gd name="connsiteX65" fmla="*/ 286589 w 487386"/>
                  <a:gd name="connsiteY65" fmla="*/ 853878 h 2330989"/>
                  <a:gd name="connsiteX66" fmla="*/ 286589 w 487386"/>
                  <a:gd name="connsiteY66" fmla="*/ 927489 h 2330989"/>
                  <a:gd name="connsiteX67" fmla="*/ 355291 w 487386"/>
                  <a:gd name="connsiteY67" fmla="*/ 927489 h 2330989"/>
                  <a:gd name="connsiteX68" fmla="*/ 355291 w 487386"/>
                  <a:gd name="connsiteY68" fmla="*/ 853878 h 2330989"/>
                  <a:gd name="connsiteX69" fmla="*/ 286589 w 487386"/>
                  <a:gd name="connsiteY69" fmla="*/ 853878 h 2330989"/>
                  <a:gd name="connsiteX70" fmla="*/ 384735 w 487386"/>
                  <a:gd name="connsiteY70" fmla="*/ 756713 h 2330989"/>
                  <a:gd name="connsiteX71" fmla="*/ 384735 w 487386"/>
                  <a:gd name="connsiteY71" fmla="*/ 829342 h 2330989"/>
                  <a:gd name="connsiteX72" fmla="*/ 453438 w 487386"/>
                  <a:gd name="connsiteY72" fmla="*/ 829342 h 2330989"/>
                  <a:gd name="connsiteX73" fmla="*/ 453438 w 487386"/>
                  <a:gd name="connsiteY73" fmla="*/ 756713 h 2330989"/>
                  <a:gd name="connsiteX74" fmla="*/ 384735 w 487386"/>
                  <a:gd name="connsiteY74" fmla="*/ 756713 h 2330989"/>
                  <a:gd name="connsiteX75" fmla="*/ 130535 w 487386"/>
                  <a:gd name="connsiteY75" fmla="*/ 756713 h 2330989"/>
                  <a:gd name="connsiteX76" fmla="*/ 130535 w 487386"/>
                  <a:gd name="connsiteY76" fmla="*/ 829342 h 2330989"/>
                  <a:gd name="connsiteX77" fmla="*/ 357254 w 487386"/>
                  <a:gd name="connsiteY77" fmla="*/ 829342 h 2330989"/>
                  <a:gd name="connsiteX78" fmla="*/ 357254 w 487386"/>
                  <a:gd name="connsiteY78" fmla="*/ 756713 h 2330989"/>
                  <a:gd name="connsiteX79" fmla="*/ 130535 w 487386"/>
                  <a:gd name="connsiteY79" fmla="*/ 756713 h 2330989"/>
                  <a:gd name="connsiteX80" fmla="*/ 32388 w 487386"/>
                  <a:gd name="connsiteY80" fmla="*/ 755731 h 2330989"/>
                  <a:gd name="connsiteX81" fmla="*/ 32388 w 487386"/>
                  <a:gd name="connsiteY81" fmla="*/ 830323 h 2330989"/>
                  <a:gd name="connsiteX82" fmla="*/ 102073 w 487386"/>
                  <a:gd name="connsiteY82" fmla="*/ 830323 h 2330989"/>
                  <a:gd name="connsiteX83" fmla="*/ 102073 w 487386"/>
                  <a:gd name="connsiteY83" fmla="*/ 755731 h 2330989"/>
                  <a:gd name="connsiteX84" fmla="*/ 32388 w 487386"/>
                  <a:gd name="connsiteY84" fmla="*/ 755731 h 2330989"/>
                  <a:gd name="connsiteX85" fmla="*/ 382772 w 487386"/>
                  <a:gd name="connsiteY85" fmla="*/ 658566 h 2330989"/>
                  <a:gd name="connsiteX86" fmla="*/ 382772 w 487386"/>
                  <a:gd name="connsiteY86" fmla="*/ 733158 h 2330989"/>
                  <a:gd name="connsiteX87" fmla="*/ 452457 w 487386"/>
                  <a:gd name="connsiteY87" fmla="*/ 733158 h 2330989"/>
                  <a:gd name="connsiteX88" fmla="*/ 452457 w 487386"/>
                  <a:gd name="connsiteY88" fmla="*/ 658566 h 2330989"/>
                  <a:gd name="connsiteX89" fmla="*/ 382772 w 487386"/>
                  <a:gd name="connsiteY89" fmla="*/ 658566 h 2330989"/>
                  <a:gd name="connsiteX90" fmla="*/ 31407 w 487386"/>
                  <a:gd name="connsiteY90" fmla="*/ 658566 h 2330989"/>
                  <a:gd name="connsiteX91" fmla="*/ 31407 w 487386"/>
                  <a:gd name="connsiteY91" fmla="*/ 735121 h 2330989"/>
                  <a:gd name="connsiteX92" fmla="*/ 259108 w 487386"/>
                  <a:gd name="connsiteY92" fmla="*/ 735121 h 2330989"/>
                  <a:gd name="connsiteX93" fmla="*/ 259108 w 487386"/>
                  <a:gd name="connsiteY93" fmla="*/ 658566 h 2330989"/>
                  <a:gd name="connsiteX94" fmla="*/ 31407 w 487386"/>
                  <a:gd name="connsiteY94" fmla="*/ 658566 h 2330989"/>
                  <a:gd name="connsiteX95" fmla="*/ 226720 w 487386"/>
                  <a:gd name="connsiteY95" fmla="*/ 561400 h 2330989"/>
                  <a:gd name="connsiteX96" fmla="*/ 226720 w 487386"/>
                  <a:gd name="connsiteY96" fmla="*/ 638937 h 2330989"/>
                  <a:gd name="connsiteX97" fmla="*/ 451475 w 487386"/>
                  <a:gd name="connsiteY97" fmla="*/ 638937 h 2330989"/>
                  <a:gd name="connsiteX98" fmla="*/ 451475 w 487386"/>
                  <a:gd name="connsiteY98" fmla="*/ 561400 h 2330989"/>
                  <a:gd name="connsiteX99" fmla="*/ 226720 w 487386"/>
                  <a:gd name="connsiteY99" fmla="*/ 561400 h 2330989"/>
                  <a:gd name="connsiteX100" fmla="*/ 128572 w 487386"/>
                  <a:gd name="connsiteY100" fmla="*/ 561400 h 2330989"/>
                  <a:gd name="connsiteX101" fmla="*/ 128572 w 487386"/>
                  <a:gd name="connsiteY101" fmla="*/ 636974 h 2330989"/>
                  <a:gd name="connsiteX102" fmla="*/ 198257 w 487386"/>
                  <a:gd name="connsiteY102" fmla="*/ 636974 h 2330989"/>
                  <a:gd name="connsiteX103" fmla="*/ 198257 w 487386"/>
                  <a:gd name="connsiteY103" fmla="*/ 561400 h 2330989"/>
                  <a:gd name="connsiteX104" fmla="*/ 128572 w 487386"/>
                  <a:gd name="connsiteY104" fmla="*/ 561400 h 2330989"/>
                  <a:gd name="connsiteX105" fmla="*/ 129554 w 487386"/>
                  <a:gd name="connsiteY105" fmla="*/ 464235 h 2330989"/>
                  <a:gd name="connsiteX106" fmla="*/ 129554 w 487386"/>
                  <a:gd name="connsiteY106" fmla="*/ 540790 h 2330989"/>
                  <a:gd name="connsiteX107" fmla="*/ 356272 w 487386"/>
                  <a:gd name="connsiteY107" fmla="*/ 540790 h 2330989"/>
                  <a:gd name="connsiteX108" fmla="*/ 356272 w 487386"/>
                  <a:gd name="connsiteY108" fmla="*/ 464235 h 2330989"/>
                  <a:gd name="connsiteX109" fmla="*/ 129554 w 487386"/>
                  <a:gd name="connsiteY109" fmla="*/ 464235 h 2330989"/>
                  <a:gd name="connsiteX110" fmla="*/ 34352 w 487386"/>
                  <a:gd name="connsiteY110" fmla="*/ 463253 h 2330989"/>
                  <a:gd name="connsiteX111" fmla="*/ 34352 w 487386"/>
                  <a:gd name="connsiteY111" fmla="*/ 539808 h 2330989"/>
                  <a:gd name="connsiteX112" fmla="*/ 102073 w 487386"/>
                  <a:gd name="connsiteY112" fmla="*/ 539808 h 2330989"/>
                  <a:gd name="connsiteX113" fmla="*/ 102073 w 487386"/>
                  <a:gd name="connsiteY113" fmla="*/ 463253 h 2330989"/>
                  <a:gd name="connsiteX114" fmla="*/ 34352 w 487386"/>
                  <a:gd name="connsiteY114" fmla="*/ 463253 h 2330989"/>
                  <a:gd name="connsiteX115" fmla="*/ 384735 w 487386"/>
                  <a:gd name="connsiteY115" fmla="*/ 462272 h 2330989"/>
                  <a:gd name="connsiteX116" fmla="*/ 384735 w 487386"/>
                  <a:gd name="connsiteY116" fmla="*/ 540790 h 2330989"/>
                  <a:gd name="connsiteX117" fmla="*/ 451475 w 487386"/>
                  <a:gd name="connsiteY117" fmla="*/ 540790 h 2330989"/>
                  <a:gd name="connsiteX118" fmla="*/ 451475 w 487386"/>
                  <a:gd name="connsiteY118" fmla="*/ 462272 h 2330989"/>
                  <a:gd name="connsiteX119" fmla="*/ 384735 w 487386"/>
                  <a:gd name="connsiteY119" fmla="*/ 462272 h 2330989"/>
                  <a:gd name="connsiteX120" fmla="*/ 52999 w 487386"/>
                  <a:gd name="connsiteY120" fmla="*/ 286589 h 2330989"/>
                  <a:gd name="connsiteX121" fmla="*/ 52999 w 487386"/>
                  <a:gd name="connsiteY121" fmla="*/ 364126 h 2330989"/>
                  <a:gd name="connsiteX122" fmla="*/ 192368 w 487386"/>
                  <a:gd name="connsiteY122" fmla="*/ 364126 h 2330989"/>
                  <a:gd name="connsiteX123" fmla="*/ 192368 w 487386"/>
                  <a:gd name="connsiteY123" fmla="*/ 286589 h 2330989"/>
                  <a:gd name="connsiteX124" fmla="*/ 52999 w 487386"/>
                  <a:gd name="connsiteY124" fmla="*/ 286589 h 2330989"/>
                  <a:gd name="connsiteX125" fmla="*/ 295422 w 487386"/>
                  <a:gd name="connsiteY125" fmla="*/ 285608 h 2330989"/>
                  <a:gd name="connsiteX126" fmla="*/ 295422 w 487386"/>
                  <a:gd name="connsiteY126" fmla="*/ 364126 h 2330989"/>
                  <a:gd name="connsiteX127" fmla="*/ 434790 w 487386"/>
                  <a:gd name="connsiteY127" fmla="*/ 364126 h 2330989"/>
                  <a:gd name="connsiteX128" fmla="*/ 434790 w 487386"/>
                  <a:gd name="connsiteY128" fmla="*/ 285608 h 2330989"/>
                  <a:gd name="connsiteX129" fmla="*/ 295422 w 487386"/>
                  <a:gd name="connsiteY129" fmla="*/ 285608 h 2330989"/>
                  <a:gd name="connsiteX130" fmla="*/ 51036 w 487386"/>
                  <a:gd name="connsiteY130" fmla="*/ 186479 h 2330989"/>
                  <a:gd name="connsiteX131" fmla="*/ 51036 w 487386"/>
                  <a:gd name="connsiteY131" fmla="*/ 259108 h 2330989"/>
                  <a:gd name="connsiteX132" fmla="*/ 190405 w 487386"/>
                  <a:gd name="connsiteY132" fmla="*/ 259108 h 2330989"/>
                  <a:gd name="connsiteX133" fmla="*/ 190405 w 487386"/>
                  <a:gd name="connsiteY133" fmla="*/ 186479 h 2330989"/>
                  <a:gd name="connsiteX134" fmla="*/ 51036 w 487386"/>
                  <a:gd name="connsiteY134" fmla="*/ 186479 h 2330989"/>
                  <a:gd name="connsiteX135" fmla="*/ 294440 w 487386"/>
                  <a:gd name="connsiteY135" fmla="*/ 185498 h 2330989"/>
                  <a:gd name="connsiteX136" fmla="*/ 294440 w 487386"/>
                  <a:gd name="connsiteY136" fmla="*/ 260090 h 2330989"/>
                  <a:gd name="connsiteX137" fmla="*/ 432828 w 487386"/>
                  <a:gd name="connsiteY137" fmla="*/ 260090 h 2330989"/>
                  <a:gd name="connsiteX138" fmla="*/ 432828 w 487386"/>
                  <a:gd name="connsiteY138" fmla="*/ 185498 h 2330989"/>
                  <a:gd name="connsiteX139" fmla="*/ 294440 w 487386"/>
                  <a:gd name="connsiteY139" fmla="*/ 185498 h 2330989"/>
                  <a:gd name="connsiteX140" fmla="*/ 52999 w 487386"/>
                  <a:gd name="connsiteY140" fmla="*/ 89314 h 2330989"/>
                  <a:gd name="connsiteX141" fmla="*/ 52999 w 487386"/>
                  <a:gd name="connsiteY141" fmla="*/ 158017 h 2330989"/>
                  <a:gd name="connsiteX142" fmla="*/ 191387 w 487386"/>
                  <a:gd name="connsiteY142" fmla="*/ 158017 h 2330989"/>
                  <a:gd name="connsiteX143" fmla="*/ 191387 w 487386"/>
                  <a:gd name="connsiteY143" fmla="*/ 89314 h 2330989"/>
                  <a:gd name="connsiteX144" fmla="*/ 52999 w 487386"/>
                  <a:gd name="connsiteY144" fmla="*/ 89314 h 2330989"/>
                  <a:gd name="connsiteX145" fmla="*/ 296403 w 487386"/>
                  <a:gd name="connsiteY145" fmla="*/ 87351 h 2330989"/>
                  <a:gd name="connsiteX146" fmla="*/ 296403 w 487386"/>
                  <a:gd name="connsiteY146" fmla="*/ 158998 h 2330989"/>
                  <a:gd name="connsiteX147" fmla="*/ 432828 w 487386"/>
                  <a:gd name="connsiteY147" fmla="*/ 158998 h 2330989"/>
                  <a:gd name="connsiteX148" fmla="*/ 432828 w 487386"/>
                  <a:gd name="connsiteY148" fmla="*/ 87351 h 2330989"/>
                  <a:gd name="connsiteX149" fmla="*/ 296403 w 487386"/>
                  <a:gd name="connsiteY149" fmla="*/ 87351 h 2330989"/>
                  <a:gd name="connsiteX150" fmla="*/ 26499 w 487386"/>
                  <a:gd name="connsiteY150" fmla="*/ 0 h 2330989"/>
                  <a:gd name="connsiteX151" fmla="*/ 219849 w 487386"/>
                  <a:gd name="connsiteY151" fmla="*/ 0 h 2330989"/>
                  <a:gd name="connsiteX152" fmla="*/ 219849 w 487386"/>
                  <a:gd name="connsiteY152" fmla="*/ 111888 h 2330989"/>
                  <a:gd name="connsiteX153" fmla="*/ 219849 w 487386"/>
                  <a:gd name="connsiteY153" fmla="*/ 337625 h 2330989"/>
                  <a:gd name="connsiteX154" fmla="*/ 263033 w 487386"/>
                  <a:gd name="connsiteY154" fmla="*/ 366088 h 2330989"/>
                  <a:gd name="connsiteX155" fmla="*/ 263033 w 487386"/>
                  <a:gd name="connsiteY155" fmla="*/ 2945 h 2330989"/>
                  <a:gd name="connsiteX156" fmla="*/ 461290 w 487386"/>
                  <a:gd name="connsiteY156" fmla="*/ 2945 h 2330989"/>
                  <a:gd name="connsiteX157" fmla="*/ 463253 w 487386"/>
                  <a:gd name="connsiteY157" fmla="*/ 330756 h 2330989"/>
                  <a:gd name="connsiteX158" fmla="*/ 481901 w 487386"/>
                  <a:gd name="connsiteY158" fmla="*/ 1297502 h 2330989"/>
                  <a:gd name="connsiteX159" fmla="*/ 483863 w 487386"/>
                  <a:gd name="connsiteY159" fmla="*/ 2269156 h 2330989"/>
                  <a:gd name="connsiteX160" fmla="*/ 483863 w 487386"/>
                  <a:gd name="connsiteY160" fmla="*/ 2330989 h 2330989"/>
                  <a:gd name="connsiteX161" fmla="*/ 0 w 487386"/>
                  <a:gd name="connsiteY161" fmla="*/ 2330989 h 2330989"/>
                  <a:gd name="connsiteX162" fmla="*/ 0 w 487386"/>
                  <a:gd name="connsiteY162" fmla="*/ 2284859 h 2330989"/>
                  <a:gd name="connsiteX163" fmla="*/ 0 w 487386"/>
                  <a:gd name="connsiteY163" fmla="*/ 421051 h 2330989"/>
                  <a:gd name="connsiteX164" fmla="*/ 26499 w 487386"/>
                  <a:gd name="connsiteY164" fmla="*/ 0 h 233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487386" h="2330989">
                    <a:moveTo>
                      <a:pt x="285608" y="1339706"/>
                    </a:moveTo>
                    <a:cubicBezTo>
                      <a:pt x="285608" y="1366205"/>
                      <a:pt x="285608" y="1388779"/>
                      <a:pt x="285608" y="1414297"/>
                    </a:cubicBezTo>
                    <a:cubicBezTo>
                      <a:pt x="312107" y="1414297"/>
                      <a:pt x="333699" y="1414297"/>
                      <a:pt x="356272" y="1414297"/>
                    </a:cubicBezTo>
                    <a:cubicBezTo>
                      <a:pt x="356272" y="1387797"/>
                      <a:pt x="356272" y="1364242"/>
                      <a:pt x="356272" y="1339706"/>
                    </a:cubicBezTo>
                    <a:cubicBezTo>
                      <a:pt x="331736" y="1339706"/>
                      <a:pt x="309163" y="1339706"/>
                      <a:pt x="285608" y="1339706"/>
                    </a:cubicBezTo>
                    <a:close/>
                    <a:moveTo>
                      <a:pt x="31407" y="1338724"/>
                    </a:moveTo>
                    <a:cubicBezTo>
                      <a:pt x="31407" y="1366205"/>
                      <a:pt x="31407" y="1389760"/>
                      <a:pt x="31407" y="1414297"/>
                    </a:cubicBezTo>
                    <a:cubicBezTo>
                      <a:pt x="108942" y="1414297"/>
                      <a:pt x="183534" y="1414297"/>
                      <a:pt x="258126" y="1414297"/>
                    </a:cubicBezTo>
                    <a:cubicBezTo>
                      <a:pt x="258126" y="1386816"/>
                      <a:pt x="258126" y="1363261"/>
                      <a:pt x="258126" y="1338724"/>
                    </a:cubicBezTo>
                    <a:cubicBezTo>
                      <a:pt x="180590" y="1338724"/>
                      <a:pt x="106980" y="1338724"/>
                      <a:pt x="31407" y="1338724"/>
                    </a:cubicBezTo>
                    <a:close/>
                    <a:moveTo>
                      <a:pt x="385716" y="1245485"/>
                    </a:moveTo>
                    <a:cubicBezTo>
                      <a:pt x="385716" y="1271984"/>
                      <a:pt x="385716" y="1295539"/>
                      <a:pt x="385716" y="1318113"/>
                    </a:cubicBezTo>
                    <a:cubicBezTo>
                      <a:pt x="410253" y="1318113"/>
                      <a:pt x="430864" y="1318113"/>
                      <a:pt x="453438" y="1318113"/>
                    </a:cubicBezTo>
                    <a:cubicBezTo>
                      <a:pt x="453438" y="1293576"/>
                      <a:pt x="453438" y="1271003"/>
                      <a:pt x="453438" y="1245485"/>
                    </a:cubicBezTo>
                    <a:cubicBezTo>
                      <a:pt x="427920" y="1245485"/>
                      <a:pt x="406328" y="1245485"/>
                      <a:pt x="385716" y="1245485"/>
                    </a:cubicBezTo>
                    <a:close/>
                    <a:moveTo>
                      <a:pt x="32388" y="1243522"/>
                    </a:moveTo>
                    <a:cubicBezTo>
                      <a:pt x="32388" y="1270021"/>
                      <a:pt x="32388" y="1292595"/>
                      <a:pt x="32388" y="1318113"/>
                    </a:cubicBezTo>
                    <a:cubicBezTo>
                      <a:pt x="55943" y="1318113"/>
                      <a:pt x="78518" y="1318113"/>
                      <a:pt x="102073" y="1318113"/>
                    </a:cubicBezTo>
                    <a:cubicBezTo>
                      <a:pt x="102073" y="1292595"/>
                      <a:pt x="102073" y="1269040"/>
                      <a:pt x="102073" y="1243522"/>
                    </a:cubicBezTo>
                    <a:cubicBezTo>
                      <a:pt x="77536" y="1243522"/>
                      <a:pt x="55943" y="1243522"/>
                      <a:pt x="32388" y="1243522"/>
                    </a:cubicBezTo>
                    <a:close/>
                    <a:moveTo>
                      <a:pt x="130535" y="1242540"/>
                    </a:moveTo>
                    <a:cubicBezTo>
                      <a:pt x="130535" y="1271003"/>
                      <a:pt x="130535" y="1294558"/>
                      <a:pt x="130535" y="1317131"/>
                    </a:cubicBezTo>
                    <a:cubicBezTo>
                      <a:pt x="208071" y="1317131"/>
                      <a:pt x="281681" y="1317131"/>
                      <a:pt x="356272" y="1317131"/>
                    </a:cubicBezTo>
                    <a:cubicBezTo>
                      <a:pt x="356272" y="1290632"/>
                      <a:pt x="356272" y="1267077"/>
                      <a:pt x="356272" y="1242540"/>
                    </a:cubicBezTo>
                    <a:cubicBezTo>
                      <a:pt x="278737" y="1242540"/>
                      <a:pt x="206108" y="1242540"/>
                      <a:pt x="130535" y="1242540"/>
                    </a:cubicBezTo>
                    <a:close/>
                    <a:moveTo>
                      <a:pt x="128572" y="1149301"/>
                    </a:moveTo>
                    <a:cubicBezTo>
                      <a:pt x="128572" y="1174819"/>
                      <a:pt x="128572" y="1197392"/>
                      <a:pt x="128572" y="1220947"/>
                    </a:cubicBezTo>
                    <a:cubicBezTo>
                      <a:pt x="153109" y="1220947"/>
                      <a:pt x="174701" y="1220947"/>
                      <a:pt x="199237" y="1220947"/>
                    </a:cubicBezTo>
                    <a:cubicBezTo>
                      <a:pt x="199237" y="1193466"/>
                      <a:pt x="199237" y="1171874"/>
                      <a:pt x="199237" y="1149301"/>
                    </a:cubicBezTo>
                    <a:cubicBezTo>
                      <a:pt x="173719" y="1149301"/>
                      <a:pt x="151146" y="1149301"/>
                      <a:pt x="128572" y="1149301"/>
                    </a:cubicBezTo>
                    <a:close/>
                    <a:moveTo>
                      <a:pt x="226720" y="1148319"/>
                    </a:moveTo>
                    <a:cubicBezTo>
                      <a:pt x="226720" y="1174819"/>
                      <a:pt x="226720" y="1196411"/>
                      <a:pt x="226720" y="1219966"/>
                    </a:cubicBezTo>
                    <a:cubicBezTo>
                      <a:pt x="303273" y="1219966"/>
                      <a:pt x="377866" y="1219966"/>
                      <a:pt x="453438" y="1219966"/>
                    </a:cubicBezTo>
                    <a:cubicBezTo>
                      <a:pt x="453438" y="1195429"/>
                      <a:pt x="453438" y="1172856"/>
                      <a:pt x="453438" y="1148319"/>
                    </a:cubicBezTo>
                    <a:cubicBezTo>
                      <a:pt x="373940" y="1148319"/>
                      <a:pt x="300329" y="1148319"/>
                      <a:pt x="226720" y="1148319"/>
                    </a:cubicBezTo>
                    <a:close/>
                    <a:moveTo>
                      <a:pt x="128572" y="1050172"/>
                    </a:moveTo>
                    <a:cubicBezTo>
                      <a:pt x="128572" y="1075690"/>
                      <a:pt x="128572" y="1098264"/>
                      <a:pt x="128572" y="1121820"/>
                    </a:cubicBezTo>
                    <a:cubicBezTo>
                      <a:pt x="206108" y="1121820"/>
                      <a:pt x="280700" y="1121820"/>
                      <a:pt x="357254" y="1121820"/>
                    </a:cubicBezTo>
                    <a:cubicBezTo>
                      <a:pt x="357254" y="1096301"/>
                      <a:pt x="357254" y="1074709"/>
                      <a:pt x="357254" y="1050172"/>
                    </a:cubicBezTo>
                    <a:cubicBezTo>
                      <a:pt x="279719" y="1050172"/>
                      <a:pt x="204145" y="1050172"/>
                      <a:pt x="128572" y="1050172"/>
                    </a:cubicBezTo>
                    <a:close/>
                    <a:moveTo>
                      <a:pt x="32388" y="1050172"/>
                    </a:moveTo>
                    <a:cubicBezTo>
                      <a:pt x="32388" y="1076672"/>
                      <a:pt x="32388" y="1100227"/>
                      <a:pt x="32388" y="1122800"/>
                    </a:cubicBezTo>
                    <a:cubicBezTo>
                      <a:pt x="57906" y="1122800"/>
                      <a:pt x="79498" y="1122800"/>
                      <a:pt x="103055" y="1122800"/>
                    </a:cubicBezTo>
                    <a:cubicBezTo>
                      <a:pt x="103055" y="1097282"/>
                      <a:pt x="103055" y="1074709"/>
                      <a:pt x="103055" y="1050172"/>
                    </a:cubicBezTo>
                    <a:cubicBezTo>
                      <a:pt x="76555" y="1050172"/>
                      <a:pt x="53981" y="1050172"/>
                      <a:pt x="32388" y="1050172"/>
                    </a:cubicBezTo>
                    <a:close/>
                    <a:moveTo>
                      <a:pt x="383754" y="953007"/>
                    </a:moveTo>
                    <a:cubicBezTo>
                      <a:pt x="383754" y="978525"/>
                      <a:pt x="383754" y="1001098"/>
                      <a:pt x="383754" y="1024654"/>
                    </a:cubicBezTo>
                    <a:cubicBezTo>
                      <a:pt x="408291" y="1024654"/>
                      <a:pt x="429883" y="1024654"/>
                      <a:pt x="452457" y="1024654"/>
                    </a:cubicBezTo>
                    <a:cubicBezTo>
                      <a:pt x="452457" y="998154"/>
                      <a:pt x="452457" y="974599"/>
                      <a:pt x="452457" y="953007"/>
                    </a:cubicBezTo>
                    <a:cubicBezTo>
                      <a:pt x="426939" y="953007"/>
                      <a:pt x="405346" y="953007"/>
                      <a:pt x="383754" y="953007"/>
                    </a:cubicBezTo>
                    <a:close/>
                    <a:moveTo>
                      <a:pt x="30425" y="953007"/>
                    </a:moveTo>
                    <a:cubicBezTo>
                      <a:pt x="30425" y="977543"/>
                      <a:pt x="30425" y="998154"/>
                      <a:pt x="30425" y="1023673"/>
                    </a:cubicBezTo>
                    <a:cubicBezTo>
                      <a:pt x="109924" y="1023673"/>
                      <a:pt x="185497" y="1023673"/>
                      <a:pt x="259108" y="1023673"/>
                    </a:cubicBezTo>
                    <a:cubicBezTo>
                      <a:pt x="259108" y="997172"/>
                      <a:pt x="259108" y="975580"/>
                      <a:pt x="259108" y="953007"/>
                    </a:cubicBezTo>
                    <a:cubicBezTo>
                      <a:pt x="181572" y="953007"/>
                      <a:pt x="105999" y="953007"/>
                      <a:pt x="30425" y="953007"/>
                    </a:cubicBezTo>
                    <a:close/>
                    <a:moveTo>
                      <a:pt x="286589" y="952025"/>
                    </a:moveTo>
                    <a:cubicBezTo>
                      <a:pt x="286589" y="977543"/>
                      <a:pt x="286589" y="1001098"/>
                      <a:pt x="286589" y="1023673"/>
                    </a:cubicBezTo>
                    <a:cubicBezTo>
                      <a:pt x="312107" y="1023673"/>
                      <a:pt x="333699" y="1023673"/>
                      <a:pt x="357254" y="1023673"/>
                    </a:cubicBezTo>
                    <a:cubicBezTo>
                      <a:pt x="357254" y="999135"/>
                      <a:pt x="357254" y="977543"/>
                      <a:pt x="357254" y="952025"/>
                    </a:cubicBezTo>
                    <a:cubicBezTo>
                      <a:pt x="330754" y="952025"/>
                      <a:pt x="309163" y="952025"/>
                      <a:pt x="286589" y="952025"/>
                    </a:cubicBezTo>
                    <a:close/>
                    <a:moveTo>
                      <a:pt x="382772" y="854860"/>
                    </a:moveTo>
                    <a:cubicBezTo>
                      <a:pt x="382772" y="879396"/>
                      <a:pt x="382772" y="901970"/>
                      <a:pt x="382772" y="927489"/>
                    </a:cubicBezTo>
                    <a:cubicBezTo>
                      <a:pt x="409272" y="927489"/>
                      <a:pt x="429883" y="927489"/>
                      <a:pt x="452457" y="927489"/>
                    </a:cubicBezTo>
                    <a:cubicBezTo>
                      <a:pt x="452457" y="901970"/>
                      <a:pt x="452457" y="878415"/>
                      <a:pt x="452457" y="854860"/>
                    </a:cubicBezTo>
                    <a:cubicBezTo>
                      <a:pt x="426939" y="854860"/>
                      <a:pt x="405346" y="854860"/>
                      <a:pt x="382772" y="854860"/>
                    </a:cubicBezTo>
                    <a:close/>
                    <a:moveTo>
                      <a:pt x="286589" y="853878"/>
                    </a:moveTo>
                    <a:cubicBezTo>
                      <a:pt x="286589" y="880378"/>
                      <a:pt x="286589" y="902951"/>
                      <a:pt x="286589" y="927489"/>
                    </a:cubicBezTo>
                    <a:cubicBezTo>
                      <a:pt x="311125" y="927489"/>
                      <a:pt x="331736" y="927489"/>
                      <a:pt x="355291" y="927489"/>
                    </a:cubicBezTo>
                    <a:cubicBezTo>
                      <a:pt x="355291" y="901970"/>
                      <a:pt x="355291" y="878415"/>
                      <a:pt x="355291" y="853878"/>
                    </a:cubicBezTo>
                    <a:cubicBezTo>
                      <a:pt x="330754" y="853878"/>
                      <a:pt x="308181" y="853878"/>
                      <a:pt x="286589" y="853878"/>
                    </a:cubicBezTo>
                    <a:close/>
                    <a:moveTo>
                      <a:pt x="384735" y="756713"/>
                    </a:moveTo>
                    <a:cubicBezTo>
                      <a:pt x="384735" y="783212"/>
                      <a:pt x="384735" y="806767"/>
                      <a:pt x="384735" y="829342"/>
                    </a:cubicBezTo>
                    <a:cubicBezTo>
                      <a:pt x="409272" y="829342"/>
                      <a:pt x="429883" y="829342"/>
                      <a:pt x="453438" y="829342"/>
                    </a:cubicBezTo>
                    <a:cubicBezTo>
                      <a:pt x="453438" y="804805"/>
                      <a:pt x="453438" y="783212"/>
                      <a:pt x="453438" y="756713"/>
                    </a:cubicBezTo>
                    <a:cubicBezTo>
                      <a:pt x="427920" y="756713"/>
                      <a:pt x="406328" y="756713"/>
                      <a:pt x="384735" y="756713"/>
                    </a:cubicBezTo>
                    <a:close/>
                    <a:moveTo>
                      <a:pt x="130535" y="756713"/>
                    </a:moveTo>
                    <a:cubicBezTo>
                      <a:pt x="130535" y="784194"/>
                      <a:pt x="130535" y="807749"/>
                      <a:pt x="130535" y="829342"/>
                    </a:cubicBezTo>
                    <a:cubicBezTo>
                      <a:pt x="208071" y="829342"/>
                      <a:pt x="282663" y="829342"/>
                      <a:pt x="357254" y="829342"/>
                    </a:cubicBezTo>
                    <a:cubicBezTo>
                      <a:pt x="357254" y="802842"/>
                      <a:pt x="357254" y="781249"/>
                      <a:pt x="357254" y="756713"/>
                    </a:cubicBezTo>
                    <a:cubicBezTo>
                      <a:pt x="277755" y="756713"/>
                      <a:pt x="203163" y="756713"/>
                      <a:pt x="130535" y="756713"/>
                    </a:cubicBezTo>
                    <a:close/>
                    <a:moveTo>
                      <a:pt x="32388" y="755731"/>
                    </a:moveTo>
                    <a:cubicBezTo>
                      <a:pt x="32388" y="781249"/>
                      <a:pt x="32388" y="804805"/>
                      <a:pt x="32388" y="830323"/>
                    </a:cubicBezTo>
                    <a:cubicBezTo>
                      <a:pt x="56925" y="830323"/>
                      <a:pt x="78518" y="830323"/>
                      <a:pt x="102073" y="830323"/>
                    </a:cubicBezTo>
                    <a:cubicBezTo>
                      <a:pt x="102073" y="803824"/>
                      <a:pt x="102073" y="781249"/>
                      <a:pt x="102073" y="755731"/>
                    </a:cubicBezTo>
                    <a:cubicBezTo>
                      <a:pt x="77536" y="755731"/>
                      <a:pt x="55943" y="755731"/>
                      <a:pt x="32388" y="755731"/>
                    </a:cubicBezTo>
                    <a:close/>
                    <a:moveTo>
                      <a:pt x="382772" y="658566"/>
                    </a:moveTo>
                    <a:cubicBezTo>
                      <a:pt x="382772" y="685065"/>
                      <a:pt x="382772" y="707640"/>
                      <a:pt x="382772" y="733158"/>
                    </a:cubicBezTo>
                    <a:cubicBezTo>
                      <a:pt x="408291" y="733158"/>
                      <a:pt x="429883" y="733158"/>
                      <a:pt x="452457" y="733158"/>
                    </a:cubicBezTo>
                    <a:cubicBezTo>
                      <a:pt x="452457" y="706658"/>
                      <a:pt x="452457" y="683102"/>
                      <a:pt x="452457" y="658566"/>
                    </a:cubicBezTo>
                    <a:cubicBezTo>
                      <a:pt x="427920" y="658566"/>
                      <a:pt x="405346" y="658566"/>
                      <a:pt x="382772" y="658566"/>
                    </a:cubicBezTo>
                    <a:close/>
                    <a:moveTo>
                      <a:pt x="31407" y="658566"/>
                    </a:moveTo>
                    <a:cubicBezTo>
                      <a:pt x="31407" y="684084"/>
                      <a:pt x="31407" y="707640"/>
                      <a:pt x="31407" y="735121"/>
                    </a:cubicBezTo>
                    <a:cubicBezTo>
                      <a:pt x="107962" y="735121"/>
                      <a:pt x="182553" y="735121"/>
                      <a:pt x="259108" y="735121"/>
                    </a:cubicBezTo>
                    <a:cubicBezTo>
                      <a:pt x="259108" y="706658"/>
                      <a:pt x="259108" y="684084"/>
                      <a:pt x="259108" y="658566"/>
                    </a:cubicBezTo>
                    <a:cubicBezTo>
                      <a:pt x="182553" y="658566"/>
                      <a:pt x="107962" y="658566"/>
                      <a:pt x="31407" y="658566"/>
                    </a:cubicBezTo>
                    <a:close/>
                    <a:moveTo>
                      <a:pt x="226720" y="561400"/>
                    </a:moveTo>
                    <a:cubicBezTo>
                      <a:pt x="226720" y="586918"/>
                      <a:pt x="226720" y="610474"/>
                      <a:pt x="226720" y="638937"/>
                    </a:cubicBezTo>
                    <a:cubicBezTo>
                      <a:pt x="304255" y="638937"/>
                      <a:pt x="376884" y="638937"/>
                      <a:pt x="451475" y="638937"/>
                    </a:cubicBezTo>
                    <a:cubicBezTo>
                      <a:pt x="451475" y="611456"/>
                      <a:pt x="451475" y="586918"/>
                      <a:pt x="451475" y="561400"/>
                    </a:cubicBezTo>
                    <a:cubicBezTo>
                      <a:pt x="374921" y="561400"/>
                      <a:pt x="302292" y="561400"/>
                      <a:pt x="226720" y="561400"/>
                    </a:cubicBezTo>
                    <a:close/>
                    <a:moveTo>
                      <a:pt x="128572" y="561400"/>
                    </a:moveTo>
                    <a:cubicBezTo>
                      <a:pt x="128572" y="587900"/>
                      <a:pt x="128572" y="611456"/>
                      <a:pt x="128572" y="636974"/>
                    </a:cubicBezTo>
                    <a:cubicBezTo>
                      <a:pt x="156053" y="636974"/>
                      <a:pt x="177645" y="636974"/>
                      <a:pt x="198257" y="636974"/>
                    </a:cubicBezTo>
                    <a:cubicBezTo>
                      <a:pt x="198257" y="609493"/>
                      <a:pt x="198257" y="585938"/>
                      <a:pt x="198257" y="561400"/>
                    </a:cubicBezTo>
                    <a:cubicBezTo>
                      <a:pt x="173719" y="561400"/>
                      <a:pt x="152128" y="561400"/>
                      <a:pt x="128572" y="561400"/>
                    </a:cubicBezTo>
                    <a:close/>
                    <a:moveTo>
                      <a:pt x="129554" y="464235"/>
                    </a:moveTo>
                    <a:cubicBezTo>
                      <a:pt x="129554" y="489754"/>
                      <a:pt x="129554" y="513309"/>
                      <a:pt x="129554" y="540790"/>
                    </a:cubicBezTo>
                    <a:cubicBezTo>
                      <a:pt x="208071" y="540790"/>
                      <a:pt x="282663" y="540790"/>
                      <a:pt x="356272" y="540790"/>
                    </a:cubicBezTo>
                    <a:cubicBezTo>
                      <a:pt x="356272" y="513309"/>
                      <a:pt x="356272" y="489754"/>
                      <a:pt x="356272" y="464235"/>
                    </a:cubicBezTo>
                    <a:cubicBezTo>
                      <a:pt x="279719" y="464235"/>
                      <a:pt x="205126" y="464235"/>
                      <a:pt x="129554" y="464235"/>
                    </a:cubicBezTo>
                    <a:close/>
                    <a:moveTo>
                      <a:pt x="34352" y="463253"/>
                    </a:moveTo>
                    <a:cubicBezTo>
                      <a:pt x="34352" y="488772"/>
                      <a:pt x="34352" y="514290"/>
                      <a:pt x="34352" y="539808"/>
                    </a:cubicBezTo>
                    <a:cubicBezTo>
                      <a:pt x="58888" y="539808"/>
                      <a:pt x="80480" y="539808"/>
                      <a:pt x="102073" y="539808"/>
                    </a:cubicBezTo>
                    <a:cubicBezTo>
                      <a:pt x="102073" y="512327"/>
                      <a:pt x="102073" y="488772"/>
                      <a:pt x="102073" y="463253"/>
                    </a:cubicBezTo>
                    <a:cubicBezTo>
                      <a:pt x="79498" y="463253"/>
                      <a:pt x="58888" y="463253"/>
                      <a:pt x="34352" y="463253"/>
                    </a:cubicBezTo>
                    <a:close/>
                    <a:moveTo>
                      <a:pt x="384735" y="462272"/>
                    </a:moveTo>
                    <a:cubicBezTo>
                      <a:pt x="384735" y="490734"/>
                      <a:pt x="384735" y="516253"/>
                      <a:pt x="384735" y="540790"/>
                    </a:cubicBezTo>
                    <a:cubicBezTo>
                      <a:pt x="409272" y="540790"/>
                      <a:pt x="430864" y="540790"/>
                      <a:pt x="451475" y="540790"/>
                    </a:cubicBezTo>
                    <a:cubicBezTo>
                      <a:pt x="451475" y="512327"/>
                      <a:pt x="451475" y="487791"/>
                      <a:pt x="451475" y="462272"/>
                    </a:cubicBezTo>
                    <a:cubicBezTo>
                      <a:pt x="427920" y="462272"/>
                      <a:pt x="408291" y="462272"/>
                      <a:pt x="384735" y="462272"/>
                    </a:cubicBezTo>
                    <a:close/>
                    <a:moveTo>
                      <a:pt x="52999" y="286589"/>
                    </a:moveTo>
                    <a:cubicBezTo>
                      <a:pt x="52999" y="316033"/>
                      <a:pt x="52999" y="340570"/>
                      <a:pt x="52999" y="364126"/>
                    </a:cubicBezTo>
                    <a:cubicBezTo>
                      <a:pt x="101091" y="364126"/>
                      <a:pt x="146238" y="364126"/>
                      <a:pt x="192368" y="364126"/>
                    </a:cubicBezTo>
                    <a:cubicBezTo>
                      <a:pt x="192368" y="337625"/>
                      <a:pt x="192368" y="314070"/>
                      <a:pt x="192368" y="286589"/>
                    </a:cubicBezTo>
                    <a:cubicBezTo>
                      <a:pt x="142313" y="286589"/>
                      <a:pt x="97165" y="286589"/>
                      <a:pt x="52999" y="286589"/>
                    </a:cubicBezTo>
                    <a:close/>
                    <a:moveTo>
                      <a:pt x="295422" y="285608"/>
                    </a:moveTo>
                    <a:cubicBezTo>
                      <a:pt x="295422" y="314070"/>
                      <a:pt x="295422" y="339588"/>
                      <a:pt x="295422" y="364126"/>
                    </a:cubicBezTo>
                    <a:cubicBezTo>
                      <a:pt x="343514" y="364126"/>
                      <a:pt x="388661" y="364126"/>
                      <a:pt x="434790" y="364126"/>
                    </a:cubicBezTo>
                    <a:cubicBezTo>
                      <a:pt x="434790" y="337625"/>
                      <a:pt x="434790" y="313089"/>
                      <a:pt x="434790" y="285608"/>
                    </a:cubicBezTo>
                    <a:cubicBezTo>
                      <a:pt x="384735" y="285608"/>
                      <a:pt x="340569" y="285608"/>
                      <a:pt x="295422" y="285608"/>
                    </a:cubicBezTo>
                    <a:close/>
                    <a:moveTo>
                      <a:pt x="51036" y="186479"/>
                    </a:moveTo>
                    <a:cubicBezTo>
                      <a:pt x="51036" y="211997"/>
                      <a:pt x="51036" y="232609"/>
                      <a:pt x="51036" y="259108"/>
                    </a:cubicBezTo>
                    <a:cubicBezTo>
                      <a:pt x="100110" y="259108"/>
                      <a:pt x="144275" y="259108"/>
                      <a:pt x="190405" y="259108"/>
                    </a:cubicBezTo>
                    <a:cubicBezTo>
                      <a:pt x="190405" y="232609"/>
                      <a:pt x="190405" y="209053"/>
                      <a:pt x="190405" y="186479"/>
                    </a:cubicBezTo>
                    <a:cubicBezTo>
                      <a:pt x="142313" y="186479"/>
                      <a:pt x="97165" y="186479"/>
                      <a:pt x="51036" y="186479"/>
                    </a:cubicBezTo>
                    <a:close/>
                    <a:moveTo>
                      <a:pt x="294440" y="185498"/>
                    </a:moveTo>
                    <a:cubicBezTo>
                      <a:pt x="294440" y="211016"/>
                      <a:pt x="294440" y="232609"/>
                      <a:pt x="294440" y="260090"/>
                    </a:cubicBezTo>
                    <a:cubicBezTo>
                      <a:pt x="343514" y="260090"/>
                      <a:pt x="387680" y="260090"/>
                      <a:pt x="432828" y="260090"/>
                    </a:cubicBezTo>
                    <a:cubicBezTo>
                      <a:pt x="432828" y="233590"/>
                      <a:pt x="432828" y="210034"/>
                      <a:pt x="432828" y="185498"/>
                    </a:cubicBezTo>
                    <a:cubicBezTo>
                      <a:pt x="385716" y="185498"/>
                      <a:pt x="340569" y="185498"/>
                      <a:pt x="294440" y="185498"/>
                    </a:cubicBezTo>
                    <a:close/>
                    <a:moveTo>
                      <a:pt x="52999" y="89314"/>
                    </a:moveTo>
                    <a:cubicBezTo>
                      <a:pt x="52999" y="114832"/>
                      <a:pt x="52999" y="136425"/>
                      <a:pt x="52999" y="158017"/>
                    </a:cubicBezTo>
                    <a:cubicBezTo>
                      <a:pt x="101091" y="158017"/>
                      <a:pt x="145257" y="158017"/>
                      <a:pt x="191387" y="158017"/>
                    </a:cubicBezTo>
                    <a:cubicBezTo>
                      <a:pt x="191387" y="134462"/>
                      <a:pt x="191387" y="113850"/>
                      <a:pt x="191387" y="89314"/>
                    </a:cubicBezTo>
                    <a:cubicBezTo>
                      <a:pt x="142313" y="89314"/>
                      <a:pt x="97165" y="89314"/>
                      <a:pt x="52999" y="89314"/>
                    </a:cubicBezTo>
                    <a:close/>
                    <a:moveTo>
                      <a:pt x="296403" y="87351"/>
                    </a:moveTo>
                    <a:cubicBezTo>
                      <a:pt x="296403" y="114832"/>
                      <a:pt x="296403" y="137406"/>
                      <a:pt x="296403" y="158998"/>
                    </a:cubicBezTo>
                    <a:cubicBezTo>
                      <a:pt x="344496" y="158998"/>
                      <a:pt x="388661" y="158998"/>
                      <a:pt x="432828" y="158998"/>
                    </a:cubicBezTo>
                    <a:cubicBezTo>
                      <a:pt x="432828" y="133480"/>
                      <a:pt x="432828" y="110907"/>
                      <a:pt x="432828" y="87351"/>
                    </a:cubicBezTo>
                    <a:cubicBezTo>
                      <a:pt x="386698" y="87351"/>
                      <a:pt x="342532" y="87351"/>
                      <a:pt x="296403" y="87351"/>
                    </a:cubicBezTo>
                    <a:close/>
                    <a:moveTo>
                      <a:pt x="26499" y="0"/>
                    </a:moveTo>
                    <a:cubicBezTo>
                      <a:pt x="91276" y="0"/>
                      <a:pt x="151146" y="0"/>
                      <a:pt x="219849" y="0"/>
                    </a:cubicBezTo>
                    <a:cubicBezTo>
                      <a:pt x="219849" y="38278"/>
                      <a:pt x="219849" y="74592"/>
                      <a:pt x="219849" y="111888"/>
                    </a:cubicBezTo>
                    <a:cubicBezTo>
                      <a:pt x="219849" y="187461"/>
                      <a:pt x="220831" y="262053"/>
                      <a:pt x="219849" y="337625"/>
                    </a:cubicBezTo>
                    <a:cubicBezTo>
                      <a:pt x="218867" y="368051"/>
                      <a:pt x="231626" y="375903"/>
                      <a:pt x="263033" y="366088"/>
                    </a:cubicBezTo>
                    <a:cubicBezTo>
                      <a:pt x="263033" y="247330"/>
                      <a:pt x="263033" y="126610"/>
                      <a:pt x="263033" y="2945"/>
                    </a:cubicBezTo>
                    <a:cubicBezTo>
                      <a:pt x="329773" y="2945"/>
                      <a:pt x="392587" y="2945"/>
                      <a:pt x="461290" y="2945"/>
                    </a:cubicBezTo>
                    <a:cubicBezTo>
                      <a:pt x="461290" y="112869"/>
                      <a:pt x="448530" y="223775"/>
                      <a:pt x="463253" y="330756"/>
                    </a:cubicBezTo>
                    <a:cubicBezTo>
                      <a:pt x="508400" y="652677"/>
                      <a:pt x="475030" y="975580"/>
                      <a:pt x="481901" y="1297502"/>
                    </a:cubicBezTo>
                    <a:cubicBezTo>
                      <a:pt x="488771" y="1621387"/>
                      <a:pt x="483863" y="1945271"/>
                      <a:pt x="483863" y="2269156"/>
                    </a:cubicBezTo>
                    <a:cubicBezTo>
                      <a:pt x="483863" y="2288785"/>
                      <a:pt x="483863" y="2308415"/>
                      <a:pt x="483863" y="2330989"/>
                    </a:cubicBezTo>
                    <a:cubicBezTo>
                      <a:pt x="322902" y="2330989"/>
                      <a:pt x="164887" y="2330989"/>
                      <a:pt x="0" y="2330989"/>
                    </a:cubicBezTo>
                    <a:cubicBezTo>
                      <a:pt x="0" y="2315285"/>
                      <a:pt x="0" y="2299582"/>
                      <a:pt x="0" y="2284859"/>
                    </a:cubicBezTo>
                    <a:cubicBezTo>
                      <a:pt x="0" y="1663590"/>
                      <a:pt x="0" y="1042320"/>
                      <a:pt x="0" y="421051"/>
                    </a:cubicBezTo>
                    <a:cubicBezTo>
                      <a:pt x="45148" y="282663"/>
                      <a:pt x="12759" y="142314"/>
                      <a:pt x="2649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sz="1350" dirty="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xmlns="" id="{2495D095-40B3-408D-92AE-BA75CA471A95}"/>
                  </a:ext>
                </a:extLst>
              </p:cNvPr>
              <p:cNvSpPr/>
              <p:nvPr/>
            </p:nvSpPr>
            <p:spPr>
              <a:xfrm>
                <a:off x="6782219" y="2659087"/>
                <a:ext cx="252773" cy="1597499"/>
              </a:xfrm>
              <a:custGeom>
                <a:avLst/>
                <a:gdLst>
                  <a:gd name="connsiteX0" fmla="*/ 94664 w 252773"/>
                  <a:gd name="connsiteY0" fmla="*/ 1169580 h 1597499"/>
                  <a:gd name="connsiteX1" fmla="*/ 94664 w 252773"/>
                  <a:gd name="connsiteY1" fmla="*/ 1232327 h 1597499"/>
                  <a:gd name="connsiteX2" fmla="*/ 158109 w 252773"/>
                  <a:gd name="connsiteY2" fmla="*/ 1232327 h 1597499"/>
                  <a:gd name="connsiteX3" fmla="*/ 158109 w 252773"/>
                  <a:gd name="connsiteY3" fmla="*/ 1169580 h 1597499"/>
                  <a:gd name="connsiteX4" fmla="*/ 94664 w 252773"/>
                  <a:gd name="connsiteY4" fmla="*/ 1169580 h 1597499"/>
                  <a:gd name="connsiteX5" fmla="*/ 175733 w 252773"/>
                  <a:gd name="connsiteY5" fmla="*/ 1168551 h 1597499"/>
                  <a:gd name="connsiteX6" fmla="*/ 175733 w 252773"/>
                  <a:gd name="connsiteY6" fmla="*/ 1231813 h 1597499"/>
                  <a:gd name="connsiteX7" fmla="*/ 237667 w 252773"/>
                  <a:gd name="connsiteY7" fmla="*/ 1231813 h 1597499"/>
                  <a:gd name="connsiteX8" fmla="*/ 237667 w 252773"/>
                  <a:gd name="connsiteY8" fmla="*/ 1168551 h 1597499"/>
                  <a:gd name="connsiteX9" fmla="*/ 175733 w 252773"/>
                  <a:gd name="connsiteY9" fmla="*/ 1168551 h 1597499"/>
                  <a:gd name="connsiteX10" fmla="*/ 95168 w 252773"/>
                  <a:gd name="connsiteY10" fmla="*/ 1090888 h 1597499"/>
                  <a:gd name="connsiteX11" fmla="*/ 95168 w 252773"/>
                  <a:gd name="connsiteY11" fmla="*/ 1153636 h 1597499"/>
                  <a:gd name="connsiteX12" fmla="*/ 157605 w 252773"/>
                  <a:gd name="connsiteY12" fmla="*/ 1153636 h 1597499"/>
                  <a:gd name="connsiteX13" fmla="*/ 157605 w 252773"/>
                  <a:gd name="connsiteY13" fmla="*/ 1090888 h 1597499"/>
                  <a:gd name="connsiteX14" fmla="*/ 95168 w 252773"/>
                  <a:gd name="connsiteY14" fmla="*/ 1090888 h 1597499"/>
                  <a:gd name="connsiteX15" fmla="*/ 15106 w 252773"/>
                  <a:gd name="connsiteY15" fmla="*/ 1090888 h 1597499"/>
                  <a:gd name="connsiteX16" fmla="*/ 15106 w 252773"/>
                  <a:gd name="connsiteY16" fmla="*/ 1153636 h 1597499"/>
                  <a:gd name="connsiteX17" fmla="*/ 77544 w 252773"/>
                  <a:gd name="connsiteY17" fmla="*/ 1153636 h 1597499"/>
                  <a:gd name="connsiteX18" fmla="*/ 77544 w 252773"/>
                  <a:gd name="connsiteY18" fmla="*/ 1090888 h 1597499"/>
                  <a:gd name="connsiteX19" fmla="*/ 15106 w 252773"/>
                  <a:gd name="connsiteY19" fmla="*/ 1090888 h 1597499"/>
                  <a:gd name="connsiteX20" fmla="*/ 95671 w 252773"/>
                  <a:gd name="connsiteY20" fmla="*/ 1009110 h 1597499"/>
                  <a:gd name="connsiteX21" fmla="*/ 95671 w 252773"/>
                  <a:gd name="connsiteY21" fmla="*/ 1072886 h 1597499"/>
                  <a:gd name="connsiteX22" fmla="*/ 157605 w 252773"/>
                  <a:gd name="connsiteY22" fmla="*/ 1072886 h 1597499"/>
                  <a:gd name="connsiteX23" fmla="*/ 157605 w 252773"/>
                  <a:gd name="connsiteY23" fmla="*/ 1009110 h 1597499"/>
                  <a:gd name="connsiteX24" fmla="*/ 95671 w 252773"/>
                  <a:gd name="connsiteY24" fmla="*/ 1009110 h 1597499"/>
                  <a:gd name="connsiteX25" fmla="*/ 175733 w 252773"/>
                  <a:gd name="connsiteY25" fmla="*/ 1008595 h 1597499"/>
                  <a:gd name="connsiteX26" fmla="*/ 175733 w 252773"/>
                  <a:gd name="connsiteY26" fmla="*/ 1072371 h 1597499"/>
                  <a:gd name="connsiteX27" fmla="*/ 238674 w 252773"/>
                  <a:gd name="connsiteY27" fmla="*/ 1072371 h 1597499"/>
                  <a:gd name="connsiteX28" fmla="*/ 238674 w 252773"/>
                  <a:gd name="connsiteY28" fmla="*/ 1008595 h 1597499"/>
                  <a:gd name="connsiteX29" fmla="*/ 175733 w 252773"/>
                  <a:gd name="connsiteY29" fmla="*/ 1008595 h 1597499"/>
                  <a:gd name="connsiteX30" fmla="*/ 175733 w 252773"/>
                  <a:gd name="connsiteY30" fmla="*/ 929389 h 1597499"/>
                  <a:gd name="connsiteX31" fmla="*/ 175733 w 252773"/>
                  <a:gd name="connsiteY31" fmla="*/ 992651 h 1597499"/>
                  <a:gd name="connsiteX32" fmla="*/ 239178 w 252773"/>
                  <a:gd name="connsiteY32" fmla="*/ 992651 h 1597499"/>
                  <a:gd name="connsiteX33" fmla="*/ 239178 w 252773"/>
                  <a:gd name="connsiteY33" fmla="*/ 929389 h 1597499"/>
                  <a:gd name="connsiteX34" fmla="*/ 175733 w 252773"/>
                  <a:gd name="connsiteY34" fmla="*/ 929389 h 1597499"/>
                  <a:gd name="connsiteX35" fmla="*/ 95671 w 252773"/>
                  <a:gd name="connsiteY35" fmla="*/ 928875 h 1597499"/>
                  <a:gd name="connsiteX36" fmla="*/ 95671 w 252773"/>
                  <a:gd name="connsiteY36" fmla="*/ 993680 h 1597499"/>
                  <a:gd name="connsiteX37" fmla="*/ 157605 w 252773"/>
                  <a:gd name="connsiteY37" fmla="*/ 993680 h 1597499"/>
                  <a:gd name="connsiteX38" fmla="*/ 157605 w 252773"/>
                  <a:gd name="connsiteY38" fmla="*/ 928875 h 1597499"/>
                  <a:gd name="connsiteX39" fmla="*/ 95671 w 252773"/>
                  <a:gd name="connsiteY39" fmla="*/ 928875 h 1597499"/>
                  <a:gd name="connsiteX40" fmla="*/ 14602 w 252773"/>
                  <a:gd name="connsiteY40" fmla="*/ 928875 h 1597499"/>
                  <a:gd name="connsiteX41" fmla="*/ 14602 w 252773"/>
                  <a:gd name="connsiteY41" fmla="*/ 992651 h 1597499"/>
                  <a:gd name="connsiteX42" fmla="*/ 77544 w 252773"/>
                  <a:gd name="connsiteY42" fmla="*/ 992651 h 1597499"/>
                  <a:gd name="connsiteX43" fmla="*/ 77544 w 252773"/>
                  <a:gd name="connsiteY43" fmla="*/ 928875 h 1597499"/>
                  <a:gd name="connsiteX44" fmla="*/ 14602 w 252773"/>
                  <a:gd name="connsiteY44" fmla="*/ 928875 h 1597499"/>
                  <a:gd name="connsiteX45" fmla="*/ 175229 w 252773"/>
                  <a:gd name="connsiteY45" fmla="*/ 849668 h 1597499"/>
                  <a:gd name="connsiteX46" fmla="*/ 175229 w 252773"/>
                  <a:gd name="connsiteY46" fmla="*/ 912930 h 1597499"/>
                  <a:gd name="connsiteX47" fmla="*/ 238171 w 252773"/>
                  <a:gd name="connsiteY47" fmla="*/ 912930 h 1597499"/>
                  <a:gd name="connsiteX48" fmla="*/ 238171 w 252773"/>
                  <a:gd name="connsiteY48" fmla="*/ 849668 h 1597499"/>
                  <a:gd name="connsiteX49" fmla="*/ 175229 w 252773"/>
                  <a:gd name="connsiteY49" fmla="*/ 849668 h 1597499"/>
                  <a:gd name="connsiteX50" fmla="*/ 94664 w 252773"/>
                  <a:gd name="connsiteY50" fmla="*/ 767890 h 1597499"/>
                  <a:gd name="connsiteX51" fmla="*/ 94664 w 252773"/>
                  <a:gd name="connsiteY51" fmla="*/ 831152 h 1597499"/>
                  <a:gd name="connsiteX52" fmla="*/ 157605 w 252773"/>
                  <a:gd name="connsiteY52" fmla="*/ 831152 h 1597499"/>
                  <a:gd name="connsiteX53" fmla="*/ 157605 w 252773"/>
                  <a:gd name="connsiteY53" fmla="*/ 767890 h 1597499"/>
                  <a:gd name="connsiteX54" fmla="*/ 94664 w 252773"/>
                  <a:gd name="connsiteY54" fmla="*/ 767890 h 1597499"/>
                  <a:gd name="connsiteX55" fmla="*/ 15106 w 252773"/>
                  <a:gd name="connsiteY55" fmla="*/ 767890 h 1597499"/>
                  <a:gd name="connsiteX56" fmla="*/ 15106 w 252773"/>
                  <a:gd name="connsiteY56" fmla="*/ 831152 h 1597499"/>
                  <a:gd name="connsiteX57" fmla="*/ 77040 w 252773"/>
                  <a:gd name="connsiteY57" fmla="*/ 831152 h 1597499"/>
                  <a:gd name="connsiteX58" fmla="*/ 77040 w 252773"/>
                  <a:gd name="connsiteY58" fmla="*/ 767890 h 1597499"/>
                  <a:gd name="connsiteX59" fmla="*/ 15106 w 252773"/>
                  <a:gd name="connsiteY59" fmla="*/ 767890 h 1597499"/>
                  <a:gd name="connsiteX60" fmla="*/ 175229 w 252773"/>
                  <a:gd name="connsiteY60" fmla="*/ 767376 h 1597499"/>
                  <a:gd name="connsiteX61" fmla="*/ 175229 w 252773"/>
                  <a:gd name="connsiteY61" fmla="*/ 831667 h 1597499"/>
                  <a:gd name="connsiteX62" fmla="*/ 238171 w 252773"/>
                  <a:gd name="connsiteY62" fmla="*/ 831667 h 1597499"/>
                  <a:gd name="connsiteX63" fmla="*/ 238171 w 252773"/>
                  <a:gd name="connsiteY63" fmla="*/ 767376 h 1597499"/>
                  <a:gd name="connsiteX64" fmla="*/ 175229 w 252773"/>
                  <a:gd name="connsiteY64" fmla="*/ 767376 h 1597499"/>
                  <a:gd name="connsiteX65" fmla="*/ 175229 w 252773"/>
                  <a:gd name="connsiteY65" fmla="*/ 689712 h 1597499"/>
                  <a:gd name="connsiteX66" fmla="*/ 175229 w 252773"/>
                  <a:gd name="connsiteY66" fmla="*/ 752975 h 1597499"/>
                  <a:gd name="connsiteX67" fmla="*/ 238171 w 252773"/>
                  <a:gd name="connsiteY67" fmla="*/ 752975 h 1597499"/>
                  <a:gd name="connsiteX68" fmla="*/ 238171 w 252773"/>
                  <a:gd name="connsiteY68" fmla="*/ 689712 h 1597499"/>
                  <a:gd name="connsiteX69" fmla="*/ 175229 w 252773"/>
                  <a:gd name="connsiteY69" fmla="*/ 689712 h 1597499"/>
                  <a:gd name="connsiteX70" fmla="*/ 14602 w 252773"/>
                  <a:gd name="connsiteY70" fmla="*/ 689198 h 1597499"/>
                  <a:gd name="connsiteX71" fmla="*/ 14602 w 252773"/>
                  <a:gd name="connsiteY71" fmla="*/ 752460 h 1597499"/>
                  <a:gd name="connsiteX72" fmla="*/ 78048 w 252773"/>
                  <a:gd name="connsiteY72" fmla="*/ 752460 h 1597499"/>
                  <a:gd name="connsiteX73" fmla="*/ 78048 w 252773"/>
                  <a:gd name="connsiteY73" fmla="*/ 689198 h 1597499"/>
                  <a:gd name="connsiteX74" fmla="*/ 14602 w 252773"/>
                  <a:gd name="connsiteY74" fmla="*/ 689198 h 1597499"/>
                  <a:gd name="connsiteX75" fmla="*/ 14099 w 252773"/>
                  <a:gd name="connsiteY75" fmla="*/ 608449 h 1597499"/>
                  <a:gd name="connsiteX76" fmla="*/ 14099 w 252773"/>
                  <a:gd name="connsiteY76" fmla="*/ 671711 h 1597499"/>
                  <a:gd name="connsiteX77" fmla="*/ 78048 w 252773"/>
                  <a:gd name="connsiteY77" fmla="*/ 671711 h 1597499"/>
                  <a:gd name="connsiteX78" fmla="*/ 78048 w 252773"/>
                  <a:gd name="connsiteY78" fmla="*/ 608449 h 1597499"/>
                  <a:gd name="connsiteX79" fmla="*/ 14099 w 252773"/>
                  <a:gd name="connsiteY79" fmla="*/ 608449 h 1597499"/>
                  <a:gd name="connsiteX80" fmla="*/ 95168 w 252773"/>
                  <a:gd name="connsiteY80" fmla="*/ 607935 h 1597499"/>
                  <a:gd name="connsiteX81" fmla="*/ 95168 w 252773"/>
                  <a:gd name="connsiteY81" fmla="*/ 672226 h 1597499"/>
                  <a:gd name="connsiteX82" fmla="*/ 158109 w 252773"/>
                  <a:gd name="connsiteY82" fmla="*/ 672226 h 1597499"/>
                  <a:gd name="connsiteX83" fmla="*/ 158109 w 252773"/>
                  <a:gd name="connsiteY83" fmla="*/ 607935 h 1597499"/>
                  <a:gd name="connsiteX84" fmla="*/ 95168 w 252773"/>
                  <a:gd name="connsiteY84" fmla="*/ 607935 h 1597499"/>
                  <a:gd name="connsiteX85" fmla="*/ 175229 w 252773"/>
                  <a:gd name="connsiteY85" fmla="*/ 528728 h 1597499"/>
                  <a:gd name="connsiteX86" fmla="*/ 175229 w 252773"/>
                  <a:gd name="connsiteY86" fmla="*/ 592505 h 1597499"/>
                  <a:gd name="connsiteX87" fmla="*/ 239178 w 252773"/>
                  <a:gd name="connsiteY87" fmla="*/ 592505 h 1597499"/>
                  <a:gd name="connsiteX88" fmla="*/ 239178 w 252773"/>
                  <a:gd name="connsiteY88" fmla="*/ 528728 h 1597499"/>
                  <a:gd name="connsiteX89" fmla="*/ 175229 w 252773"/>
                  <a:gd name="connsiteY89" fmla="*/ 528728 h 1597499"/>
                  <a:gd name="connsiteX90" fmla="*/ 95168 w 252773"/>
                  <a:gd name="connsiteY90" fmla="*/ 528214 h 1597499"/>
                  <a:gd name="connsiteX91" fmla="*/ 95168 w 252773"/>
                  <a:gd name="connsiteY91" fmla="*/ 593019 h 1597499"/>
                  <a:gd name="connsiteX92" fmla="*/ 158613 w 252773"/>
                  <a:gd name="connsiteY92" fmla="*/ 593019 h 1597499"/>
                  <a:gd name="connsiteX93" fmla="*/ 158613 w 252773"/>
                  <a:gd name="connsiteY93" fmla="*/ 528214 h 1597499"/>
                  <a:gd name="connsiteX94" fmla="*/ 95168 w 252773"/>
                  <a:gd name="connsiteY94" fmla="*/ 528214 h 1597499"/>
                  <a:gd name="connsiteX95" fmla="*/ 15106 w 252773"/>
                  <a:gd name="connsiteY95" fmla="*/ 528214 h 1597499"/>
                  <a:gd name="connsiteX96" fmla="*/ 15106 w 252773"/>
                  <a:gd name="connsiteY96" fmla="*/ 593019 h 1597499"/>
                  <a:gd name="connsiteX97" fmla="*/ 78048 w 252773"/>
                  <a:gd name="connsiteY97" fmla="*/ 593019 h 1597499"/>
                  <a:gd name="connsiteX98" fmla="*/ 78048 w 252773"/>
                  <a:gd name="connsiteY98" fmla="*/ 528214 h 1597499"/>
                  <a:gd name="connsiteX99" fmla="*/ 15106 w 252773"/>
                  <a:gd name="connsiteY99" fmla="*/ 528214 h 1597499"/>
                  <a:gd name="connsiteX100" fmla="*/ 14602 w 252773"/>
                  <a:gd name="connsiteY100" fmla="*/ 449007 h 1597499"/>
                  <a:gd name="connsiteX101" fmla="*/ 14602 w 252773"/>
                  <a:gd name="connsiteY101" fmla="*/ 512270 h 1597499"/>
                  <a:gd name="connsiteX102" fmla="*/ 77544 w 252773"/>
                  <a:gd name="connsiteY102" fmla="*/ 512270 h 1597499"/>
                  <a:gd name="connsiteX103" fmla="*/ 77544 w 252773"/>
                  <a:gd name="connsiteY103" fmla="*/ 449007 h 1597499"/>
                  <a:gd name="connsiteX104" fmla="*/ 14602 w 252773"/>
                  <a:gd name="connsiteY104" fmla="*/ 449007 h 1597499"/>
                  <a:gd name="connsiteX105" fmla="*/ 94664 w 252773"/>
                  <a:gd name="connsiteY105" fmla="*/ 447979 h 1597499"/>
                  <a:gd name="connsiteX106" fmla="*/ 94664 w 252773"/>
                  <a:gd name="connsiteY106" fmla="*/ 512270 h 1597499"/>
                  <a:gd name="connsiteX107" fmla="*/ 158613 w 252773"/>
                  <a:gd name="connsiteY107" fmla="*/ 512270 h 1597499"/>
                  <a:gd name="connsiteX108" fmla="*/ 158613 w 252773"/>
                  <a:gd name="connsiteY108" fmla="*/ 447979 h 1597499"/>
                  <a:gd name="connsiteX109" fmla="*/ 94664 w 252773"/>
                  <a:gd name="connsiteY109" fmla="*/ 447979 h 1597499"/>
                  <a:gd name="connsiteX110" fmla="*/ 174726 w 252773"/>
                  <a:gd name="connsiteY110" fmla="*/ 368258 h 1597499"/>
                  <a:gd name="connsiteX111" fmla="*/ 174726 w 252773"/>
                  <a:gd name="connsiteY111" fmla="*/ 431006 h 1597499"/>
                  <a:gd name="connsiteX112" fmla="*/ 239178 w 252773"/>
                  <a:gd name="connsiteY112" fmla="*/ 431006 h 1597499"/>
                  <a:gd name="connsiteX113" fmla="*/ 239178 w 252773"/>
                  <a:gd name="connsiteY113" fmla="*/ 368258 h 1597499"/>
                  <a:gd name="connsiteX114" fmla="*/ 174726 w 252773"/>
                  <a:gd name="connsiteY114" fmla="*/ 368258 h 1597499"/>
                  <a:gd name="connsiteX115" fmla="*/ 95168 w 252773"/>
                  <a:gd name="connsiteY115" fmla="*/ 367744 h 1597499"/>
                  <a:gd name="connsiteX116" fmla="*/ 95168 w 252773"/>
                  <a:gd name="connsiteY116" fmla="*/ 431520 h 1597499"/>
                  <a:gd name="connsiteX117" fmla="*/ 158613 w 252773"/>
                  <a:gd name="connsiteY117" fmla="*/ 431520 h 1597499"/>
                  <a:gd name="connsiteX118" fmla="*/ 158613 w 252773"/>
                  <a:gd name="connsiteY118" fmla="*/ 367744 h 1597499"/>
                  <a:gd name="connsiteX119" fmla="*/ 95168 w 252773"/>
                  <a:gd name="connsiteY119" fmla="*/ 367744 h 1597499"/>
                  <a:gd name="connsiteX120" fmla="*/ 0 w 252773"/>
                  <a:gd name="connsiteY120" fmla="*/ 350771 h 1597499"/>
                  <a:gd name="connsiteX121" fmla="*/ 252270 w 252773"/>
                  <a:gd name="connsiteY121" fmla="*/ 350771 h 1597499"/>
                  <a:gd name="connsiteX122" fmla="*/ 252270 w 252773"/>
                  <a:gd name="connsiteY122" fmla="*/ 1597499 h 1597499"/>
                  <a:gd name="connsiteX123" fmla="*/ 0 w 252773"/>
                  <a:gd name="connsiteY123" fmla="*/ 1597499 h 1597499"/>
                  <a:gd name="connsiteX124" fmla="*/ 0 w 252773"/>
                  <a:gd name="connsiteY124" fmla="*/ 350771 h 1597499"/>
                  <a:gd name="connsiteX125" fmla="*/ 134947 w 252773"/>
                  <a:gd name="connsiteY125" fmla="*/ 273107 h 1597499"/>
                  <a:gd name="connsiteX126" fmla="*/ 134947 w 252773"/>
                  <a:gd name="connsiteY126" fmla="*/ 321969 h 1597499"/>
                  <a:gd name="connsiteX127" fmla="*/ 238674 w 252773"/>
                  <a:gd name="connsiteY127" fmla="*/ 321969 h 1597499"/>
                  <a:gd name="connsiteX128" fmla="*/ 238674 w 252773"/>
                  <a:gd name="connsiteY128" fmla="*/ 273107 h 1597499"/>
                  <a:gd name="connsiteX129" fmla="*/ 134947 w 252773"/>
                  <a:gd name="connsiteY129" fmla="*/ 273107 h 1597499"/>
                  <a:gd name="connsiteX130" fmla="*/ 14099 w 252773"/>
                  <a:gd name="connsiteY130" fmla="*/ 271564 h 1597499"/>
                  <a:gd name="connsiteX131" fmla="*/ 14099 w 252773"/>
                  <a:gd name="connsiteY131" fmla="*/ 321969 h 1597499"/>
                  <a:gd name="connsiteX132" fmla="*/ 117827 w 252773"/>
                  <a:gd name="connsiteY132" fmla="*/ 321969 h 1597499"/>
                  <a:gd name="connsiteX133" fmla="*/ 117827 w 252773"/>
                  <a:gd name="connsiteY133" fmla="*/ 271564 h 1597499"/>
                  <a:gd name="connsiteX134" fmla="*/ 66466 w 252773"/>
                  <a:gd name="connsiteY134" fmla="*/ 271564 h 1597499"/>
                  <a:gd name="connsiteX135" fmla="*/ 14099 w 252773"/>
                  <a:gd name="connsiteY135" fmla="*/ 271564 h 1597499"/>
                  <a:gd name="connsiteX136" fmla="*/ 49346 w 252773"/>
                  <a:gd name="connsiteY136" fmla="*/ 209331 h 1597499"/>
                  <a:gd name="connsiteX137" fmla="*/ 17120 w 252773"/>
                  <a:gd name="connsiteY137" fmla="*/ 255106 h 1597499"/>
                  <a:gd name="connsiteX138" fmla="*/ 237164 w 252773"/>
                  <a:gd name="connsiteY138" fmla="*/ 255106 h 1597499"/>
                  <a:gd name="connsiteX139" fmla="*/ 202923 w 252773"/>
                  <a:gd name="connsiteY139" fmla="*/ 209331 h 1597499"/>
                  <a:gd name="connsiteX140" fmla="*/ 49346 w 252773"/>
                  <a:gd name="connsiteY140" fmla="*/ 209331 h 1597499"/>
                  <a:gd name="connsiteX141" fmla="*/ 0 w 252773"/>
                  <a:gd name="connsiteY141" fmla="*/ 190815 h 1597499"/>
                  <a:gd name="connsiteX142" fmla="*/ 252773 w 252773"/>
                  <a:gd name="connsiteY142" fmla="*/ 190815 h 1597499"/>
                  <a:gd name="connsiteX143" fmla="*/ 252773 w 252773"/>
                  <a:gd name="connsiteY143" fmla="*/ 340484 h 1597499"/>
                  <a:gd name="connsiteX144" fmla="*/ 0 w 252773"/>
                  <a:gd name="connsiteY144" fmla="*/ 340484 h 1597499"/>
                  <a:gd name="connsiteX145" fmla="*/ 0 w 252773"/>
                  <a:gd name="connsiteY145" fmla="*/ 190815 h 1597499"/>
                  <a:gd name="connsiteX146" fmla="*/ 31723 w 252773"/>
                  <a:gd name="connsiteY146" fmla="*/ 0 h 1597499"/>
                  <a:gd name="connsiteX147" fmla="*/ 31723 w 252773"/>
                  <a:gd name="connsiteY147" fmla="*/ 120867 h 1597499"/>
                  <a:gd name="connsiteX148" fmla="*/ 95168 w 252773"/>
                  <a:gd name="connsiteY148" fmla="*/ 120867 h 1597499"/>
                  <a:gd name="connsiteX149" fmla="*/ 95168 w 252773"/>
                  <a:gd name="connsiteY149" fmla="*/ 183100 h 1597499"/>
                  <a:gd name="connsiteX150" fmla="*/ 11078 w 252773"/>
                  <a:gd name="connsiteY150" fmla="*/ 183100 h 1597499"/>
                  <a:gd name="connsiteX151" fmla="*/ 24170 w 252773"/>
                  <a:gd name="connsiteY151" fmla="*/ 514 h 1597499"/>
                  <a:gd name="connsiteX152" fmla="*/ 31723 w 252773"/>
                  <a:gd name="connsiteY152" fmla="*/ 0 h 159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252773" h="1597499">
                    <a:moveTo>
                      <a:pt x="94664" y="1169580"/>
                    </a:moveTo>
                    <a:cubicBezTo>
                      <a:pt x="94664" y="1191696"/>
                      <a:pt x="94664" y="1211754"/>
                      <a:pt x="94664" y="1232327"/>
                    </a:cubicBezTo>
                    <a:cubicBezTo>
                      <a:pt x="115813" y="1232327"/>
                      <a:pt x="135450" y="1232327"/>
                      <a:pt x="158109" y="1232327"/>
                    </a:cubicBezTo>
                    <a:cubicBezTo>
                      <a:pt x="158109" y="1209697"/>
                      <a:pt x="158109" y="1189639"/>
                      <a:pt x="158109" y="1169580"/>
                    </a:cubicBezTo>
                    <a:cubicBezTo>
                      <a:pt x="136457" y="1169580"/>
                      <a:pt x="115813" y="1169580"/>
                      <a:pt x="94664" y="1169580"/>
                    </a:cubicBezTo>
                    <a:close/>
                    <a:moveTo>
                      <a:pt x="175733" y="1168551"/>
                    </a:moveTo>
                    <a:cubicBezTo>
                      <a:pt x="175733" y="1190153"/>
                      <a:pt x="175733" y="1210726"/>
                      <a:pt x="175733" y="1231813"/>
                    </a:cubicBezTo>
                    <a:cubicBezTo>
                      <a:pt x="197385" y="1231813"/>
                      <a:pt x="217022" y="1231813"/>
                      <a:pt x="237667" y="1231813"/>
                    </a:cubicBezTo>
                    <a:cubicBezTo>
                      <a:pt x="237667" y="1210212"/>
                      <a:pt x="237667" y="1189639"/>
                      <a:pt x="237667" y="1168551"/>
                    </a:cubicBezTo>
                    <a:cubicBezTo>
                      <a:pt x="216519" y="1168551"/>
                      <a:pt x="196881" y="1168551"/>
                      <a:pt x="175733" y="1168551"/>
                    </a:cubicBezTo>
                    <a:close/>
                    <a:moveTo>
                      <a:pt x="95168" y="1090888"/>
                    </a:moveTo>
                    <a:cubicBezTo>
                      <a:pt x="95168" y="1112490"/>
                      <a:pt x="95168" y="1132548"/>
                      <a:pt x="95168" y="1153636"/>
                    </a:cubicBezTo>
                    <a:cubicBezTo>
                      <a:pt x="116820" y="1153636"/>
                      <a:pt x="135954" y="1153636"/>
                      <a:pt x="157605" y="1153636"/>
                    </a:cubicBezTo>
                    <a:cubicBezTo>
                      <a:pt x="157605" y="1132548"/>
                      <a:pt x="157605" y="1113004"/>
                      <a:pt x="157605" y="1090888"/>
                    </a:cubicBezTo>
                    <a:cubicBezTo>
                      <a:pt x="135954" y="1090888"/>
                      <a:pt x="115309" y="1090888"/>
                      <a:pt x="95168" y="1090888"/>
                    </a:cubicBezTo>
                    <a:close/>
                    <a:moveTo>
                      <a:pt x="15106" y="1090888"/>
                    </a:moveTo>
                    <a:cubicBezTo>
                      <a:pt x="15106" y="1112490"/>
                      <a:pt x="15106" y="1132548"/>
                      <a:pt x="15106" y="1153636"/>
                    </a:cubicBezTo>
                    <a:cubicBezTo>
                      <a:pt x="36758" y="1153636"/>
                      <a:pt x="56396" y="1153636"/>
                      <a:pt x="77544" y="1153636"/>
                    </a:cubicBezTo>
                    <a:cubicBezTo>
                      <a:pt x="77544" y="1132548"/>
                      <a:pt x="77544" y="1112490"/>
                      <a:pt x="77544" y="1090888"/>
                    </a:cubicBezTo>
                    <a:cubicBezTo>
                      <a:pt x="55389" y="1090888"/>
                      <a:pt x="34744" y="1090888"/>
                      <a:pt x="15106" y="1090888"/>
                    </a:cubicBezTo>
                    <a:close/>
                    <a:moveTo>
                      <a:pt x="95671" y="1009110"/>
                    </a:moveTo>
                    <a:cubicBezTo>
                      <a:pt x="95671" y="1031225"/>
                      <a:pt x="95671" y="1051798"/>
                      <a:pt x="95671" y="1072886"/>
                    </a:cubicBezTo>
                    <a:cubicBezTo>
                      <a:pt x="116820" y="1072886"/>
                      <a:pt x="135954" y="1072886"/>
                      <a:pt x="157605" y="1072886"/>
                    </a:cubicBezTo>
                    <a:cubicBezTo>
                      <a:pt x="157605" y="1050256"/>
                      <a:pt x="157605" y="1029683"/>
                      <a:pt x="157605" y="1009110"/>
                    </a:cubicBezTo>
                    <a:cubicBezTo>
                      <a:pt x="135450" y="1009110"/>
                      <a:pt x="115813" y="1009110"/>
                      <a:pt x="95671" y="1009110"/>
                    </a:cubicBezTo>
                    <a:close/>
                    <a:moveTo>
                      <a:pt x="175733" y="1008595"/>
                    </a:moveTo>
                    <a:cubicBezTo>
                      <a:pt x="175733" y="1030197"/>
                      <a:pt x="175733" y="1050770"/>
                      <a:pt x="175733" y="1072371"/>
                    </a:cubicBezTo>
                    <a:cubicBezTo>
                      <a:pt x="197385" y="1072371"/>
                      <a:pt x="217022" y="1072371"/>
                      <a:pt x="238674" y="1072371"/>
                    </a:cubicBezTo>
                    <a:cubicBezTo>
                      <a:pt x="238674" y="1050770"/>
                      <a:pt x="238674" y="1029683"/>
                      <a:pt x="238674" y="1008595"/>
                    </a:cubicBezTo>
                    <a:cubicBezTo>
                      <a:pt x="216519" y="1008595"/>
                      <a:pt x="196881" y="1008595"/>
                      <a:pt x="175733" y="1008595"/>
                    </a:cubicBezTo>
                    <a:close/>
                    <a:moveTo>
                      <a:pt x="175733" y="929389"/>
                    </a:moveTo>
                    <a:cubicBezTo>
                      <a:pt x="175733" y="951505"/>
                      <a:pt x="175733" y="972078"/>
                      <a:pt x="175733" y="992651"/>
                    </a:cubicBezTo>
                    <a:cubicBezTo>
                      <a:pt x="197888" y="992651"/>
                      <a:pt x="218029" y="992651"/>
                      <a:pt x="239178" y="992651"/>
                    </a:cubicBezTo>
                    <a:cubicBezTo>
                      <a:pt x="239178" y="970535"/>
                      <a:pt x="239178" y="950990"/>
                      <a:pt x="239178" y="929389"/>
                    </a:cubicBezTo>
                    <a:cubicBezTo>
                      <a:pt x="218029" y="929389"/>
                      <a:pt x="196881" y="929389"/>
                      <a:pt x="175733" y="929389"/>
                    </a:cubicBezTo>
                    <a:close/>
                    <a:moveTo>
                      <a:pt x="95671" y="928875"/>
                    </a:moveTo>
                    <a:cubicBezTo>
                      <a:pt x="95671" y="951505"/>
                      <a:pt x="95671" y="972593"/>
                      <a:pt x="95671" y="993680"/>
                    </a:cubicBezTo>
                    <a:cubicBezTo>
                      <a:pt x="116820" y="993680"/>
                      <a:pt x="135954" y="993680"/>
                      <a:pt x="157605" y="993680"/>
                    </a:cubicBezTo>
                    <a:cubicBezTo>
                      <a:pt x="157605" y="970535"/>
                      <a:pt x="157605" y="949448"/>
                      <a:pt x="157605" y="928875"/>
                    </a:cubicBezTo>
                    <a:cubicBezTo>
                      <a:pt x="135450" y="928875"/>
                      <a:pt x="115309" y="928875"/>
                      <a:pt x="95671" y="928875"/>
                    </a:cubicBezTo>
                    <a:close/>
                    <a:moveTo>
                      <a:pt x="14602" y="928875"/>
                    </a:moveTo>
                    <a:cubicBezTo>
                      <a:pt x="14602" y="951505"/>
                      <a:pt x="14602" y="971563"/>
                      <a:pt x="14602" y="992651"/>
                    </a:cubicBezTo>
                    <a:cubicBezTo>
                      <a:pt x="36255" y="992651"/>
                      <a:pt x="56396" y="992651"/>
                      <a:pt x="77544" y="992651"/>
                    </a:cubicBezTo>
                    <a:cubicBezTo>
                      <a:pt x="77544" y="970021"/>
                      <a:pt x="77544" y="949448"/>
                      <a:pt x="77544" y="928875"/>
                    </a:cubicBezTo>
                    <a:cubicBezTo>
                      <a:pt x="55389" y="928875"/>
                      <a:pt x="35247" y="928875"/>
                      <a:pt x="14602" y="928875"/>
                    </a:cubicBezTo>
                    <a:close/>
                    <a:moveTo>
                      <a:pt x="175229" y="849668"/>
                    </a:moveTo>
                    <a:cubicBezTo>
                      <a:pt x="175229" y="871784"/>
                      <a:pt x="175229" y="891843"/>
                      <a:pt x="175229" y="912930"/>
                    </a:cubicBezTo>
                    <a:cubicBezTo>
                      <a:pt x="196881" y="912930"/>
                      <a:pt x="217022" y="912930"/>
                      <a:pt x="238171" y="912930"/>
                    </a:cubicBezTo>
                    <a:cubicBezTo>
                      <a:pt x="238171" y="891328"/>
                      <a:pt x="238171" y="870241"/>
                      <a:pt x="238171" y="849668"/>
                    </a:cubicBezTo>
                    <a:cubicBezTo>
                      <a:pt x="216015" y="849668"/>
                      <a:pt x="195874" y="849668"/>
                      <a:pt x="175229" y="849668"/>
                    </a:cubicBezTo>
                    <a:close/>
                    <a:moveTo>
                      <a:pt x="94664" y="767890"/>
                    </a:moveTo>
                    <a:cubicBezTo>
                      <a:pt x="94664" y="789492"/>
                      <a:pt x="94664" y="809551"/>
                      <a:pt x="94664" y="831152"/>
                    </a:cubicBezTo>
                    <a:cubicBezTo>
                      <a:pt x="116316" y="831152"/>
                      <a:pt x="136457" y="831152"/>
                      <a:pt x="157605" y="831152"/>
                    </a:cubicBezTo>
                    <a:cubicBezTo>
                      <a:pt x="157605" y="809036"/>
                      <a:pt x="157605" y="788463"/>
                      <a:pt x="157605" y="767890"/>
                    </a:cubicBezTo>
                    <a:cubicBezTo>
                      <a:pt x="135450" y="767890"/>
                      <a:pt x="115813" y="767890"/>
                      <a:pt x="94664" y="767890"/>
                    </a:cubicBezTo>
                    <a:close/>
                    <a:moveTo>
                      <a:pt x="15106" y="767890"/>
                    </a:moveTo>
                    <a:cubicBezTo>
                      <a:pt x="15106" y="790006"/>
                      <a:pt x="15106" y="810579"/>
                      <a:pt x="15106" y="831152"/>
                    </a:cubicBezTo>
                    <a:cubicBezTo>
                      <a:pt x="37262" y="831152"/>
                      <a:pt x="56899" y="831152"/>
                      <a:pt x="77040" y="831152"/>
                    </a:cubicBezTo>
                    <a:cubicBezTo>
                      <a:pt x="77040" y="809036"/>
                      <a:pt x="77040" y="788463"/>
                      <a:pt x="77040" y="767890"/>
                    </a:cubicBezTo>
                    <a:cubicBezTo>
                      <a:pt x="54885" y="767890"/>
                      <a:pt x="35247" y="767890"/>
                      <a:pt x="15106" y="767890"/>
                    </a:cubicBezTo>
                    <a:close/>
                    <a:moveTo>
                      <a:pt x="175229" y="767376"/>
                    </a:moveTo>
                    <a:cubicBezTo>
                      <a:pt x="175229" y="788978"/>
                      <a:pt x="175229" y="810065"/>
                      <a:pt x="175229" y="831667"/>
                    </a:cubicBezTo>
                    <a:cubicBezTo>
                      <a:pt x="196881" y="831667"/>
                      <a:pt x="217022" y="831667"/>
                      <a:pt x="238171" y="831667"/>
                    </a:cubicBezTo>
                    <a:cubicBezTo>
                      <a:pt x="238171" y="809551"/>
                      <a:pt x="238171" y="788978"/>
                      <a:pt x="238171" y="767376"/>
                    </a:cubicBezTo>
                    <a:cubicBezTo>
                      <a:pt x="216519" y="767376"/>
                      <a:pt x="196881" y="767376"/>
                      <a:pt x="175229" y="767376"/>
                    </a:cubicBezTo>
                    <a:close/>
                    <a:moveTo>
                      <a:pt x="175229" y="689712"/>
                    </a:moveTo>
                    <a:cubicBezTo>
                      <a:pt x="175229" y="711829"/>
                      <a:pt x="175229" y="731887"/>
                      <a:pt x="175229" y="752975"/>
                    </a:cubicBezTo>
                    <a:cubicBezTo>
                      <a:pt x="196378" y="752975"/>
                      <a:pt x="216519" y="752975"/>
                      <a:pt x="238171" y="752975"/>
                    </a:cubicBezTo>
                    <a:cubicBezTo>
                      <a:pt x="238171" y="730344"/>
                      <a:pt x="238171" y="709771"/>
                      <a:pt x="238171" y="689712"/>
                    </a:cubicBezTo>
                    <a:cubicBezTo>
                      <a:pt x="216015" y="689712"/>
                      <a:pt x="195371" y="689712"/>
                      <a:pt x="175229" y="689712"/>
                    </a:cubicBezTo>
                    <a:close/>
                    <a:moveTo>
                      <a:pt x="14602" y="689198"/>
                    </a:moveTo>
                    <a:cubicBezTo>
                      <a:pt x="14602" y="711314"/>
                      <a:pt x="14602" y="732402"/>
                      <a:pt x="14602" y="752460"/>
                    </a:cubicBezTo>
                    <a:cubicBezTo>
                      <a:pt x="36758" y="752460"/>
                      <a:pt x="56899" y="752460"/>
                      <a:pt x="78048" y="752460"/>
                    </a:cubicBezTo>
                    <a:cubicBezTo>
                      <a:pt x="78048" y="730344"/>
                      <a:pt x="78048" y="710285"/>
                      <a:pt x="78048" y="689198"/>
                    </a:cubicBezTo>
                    <a:cubicBezTo>
                      <a:pt x="56396" y="689198"/>
                      <a:pt x="35751" y="689198"/>
                      <a:pt x="14602" y="689198"/>
                    </a:cubicBezTo>
                    <a:close/>
                    <a:moveTo>
                      <a:pt x="14099" y="608449"/>
                    </a:moveTo>
                    <a:cubicBezTo>
                      <a:pt x="14099" y="630050"/>
                      <a:pt x="14099" y="650109"/>
                      <a:pt x="14099" y="671711"/>
                    </a:cubicBezTo>
                    <a:cubicBezTo>
                      <a:pt x="35751" y="671711"/>
                      <a:pt x="56396" y="671711"/>
                      <a:pt x="78048" y="671711"/>
                    </a:cubicBezTo>
                    <a:cubicBezTo>
                      <a:pt x="78048" y="650109"/>
                      <a:pt x="78048" y="630050"/>
                      <a:pt x="78048" y="608449"/>
                    </a:cubicBezTo>
                    <a:cubicBezTo>
                      <a:pt x="55389" y="608449"/>
                      <a:pt x="35247" y="608449"/>
                      <a:pt x="14099" y="608449"/>
                    </a:cubicBezTo>
                    <a:close/>
                    <a:moveTo>
                      <a:pt x="95168" y="607935"/>
                    </a:moveTo>
                    <a:cubicBezTo>
                      <a:pt x="95168" y="630565"/>
                      <a:pt x="95168" y="651138"/>
                      <a:pt x="95168" y="672226"/>
                    </a:cubicBezTo>
                    <a:cubicBezTo>
                      <a:pt x="116820" y="672226"/>
                      <a:pt x="136961" y="672226"/>
                      <a:pt x="158109" y="672226"/>
                    </a:cubicBezTo>
                    <a:cubicBezTo>
                      <a:pt x="158109" y="650109"/>
                      <a:pt x="158109" y="629536"/>
                      <a:pt x="158109" y="607935"/>
                    </a:cubicBezTo>
                    <a:cubicBezTo>
                      <a:pt x="136961" y="607935"/>
                      <a:pt x="116820" y="607935"/>
                      <a:pt x="95168" y="607935"/>
                    </a:cubicBezTo>
                    <a:close/>
                    <a:moveTo>
                      <a:pt x="175229" y="528728"/>
                    </a:moveTo>
                    <a:cubicBezTo>
                      <a:pt x="175229" y="550844"/>
                      <a:pt x="175229" y="571417"/>
                      <a:pt x="175229" y="592505"/>
                    </a:cubicBezTo>
                    <a:cubicBezTo>
                      <a:pt x="196378" y="592505"/>
                      <a:pt x="216519" y="592505"/>
                      <a:pt x="239178" y="592505"/>
                    </a:cubicBezTo>
                    <a:cubicBezTo>
                      <a:pt x="239178" y="570388"/>
                      <a:pt x="239178" y="550330"/>
                      <a:pt x="239178" y="528728"/>
                    </a:cubicBezTo>
                    <a:cubicBezTo>
                      <a:pt x="217526" y="528728"/>
                      <a:pt x="196378" y="528728"/>
                      <a:pt x="175229" y="528728"/>
                    </a:cubicBezTo>
                    <a:close/>
                    <a:moveTo>
                      <a:pt x="95168" y="528214"/>
                    </a:moveTo>
                    <a:cubicBezTo>
                      <a:pt x="95168" y="550844"/>
                      <a:pt x="95168" y="571417"/>
                      <a:pt x="95168" y="593019"/>
                    </a:cubicBezTo>
                    <a:cubicBezTo>
                      <a:pt x="116820" y="593019"/>
                      <a:pt x="136457" y="593019"/>
                      <a:pt x="158613" y="593019"/>
                    </a:cubicBezTo>
                    <a:cubicBezTo>
                      <a:pt x="158613" y="569874"/>
                      <a:pt x="158613" y="549815"/>
                      <a:pt x="158613" y="528214"/>
                    </a:cubicBezTo>
                    <a:cubicBezTo>
                      <a:pt x="136457" y="528214"/>
                      <a:pt x="115813" y="528214"/>
                      <a:pt x="95168" y="528214"/>
                    </a:cubicBezTo>
                    <a:close/>
                    <a:moveTo>
                      <a:pt x="15106" y="528214"/>
                    </a:moveTo>
                    <a:cubicBezTo>
                      <a:pt x="15106" y="551873"/>
                      <a:pt x="15106" y="572446"/>
                      <a:pt x="15106" y="593019"/>
                    </a:cubicBezTo>
                    <a:cubicBezTo>
                      <a:pt x="37262" y="593019"/>
                      <a:pt x="56899" y="593019"/>
                      <a:pt x="78048" y="593019"/>
                    </a:cubicBezTo>
                    <a:cubicBezTo>
                      <a:pt x="78048" y="570903"/>
                      <a:pt x="78048" y="550330"/>
                      <a:pt x="78048" y="528214"/>
                    </a:cubicBezTo>
                    <a:cubicBezTo>
                      <a:pt x="56396" y="528214"/>
                      <a:pt x="36255" y="528214"/>
                      <a:pt x="15106" y="528214"/>
                    </a:cubicBezTo>
                    <a:close/>
                    <a:moveTo>
                      <a:pt x="14602" y="449007"/>
                    </a:moveTo>
                    <a:cubicBezTo>
                      <a:pt x="14602" y="471124"/>
                      <a:pt x="14602" y="491182"/>
                      <a:pt x="14602" y="512270"/>
                    </a:cubicBezTo>
                    <a:cubicBezTo>
                      <a:pt x="35751" y="512270"/>
                      <a:pt x="55389" y="512270"/>
                      <a:pt x="77544" y="512270"/>
                    </a:cubicBezTo>
                    <a:cubicBezTo>
                      <a:pt x="77544" y="489125"/>
                      <a:pt x="77544" y="468552"/>
                      <a:pt x="77544" y="449007"/>
                    </a:cubicBezTo>
                    <a:cubicBezTo>
                      <a:pt x="54885" y="449007"/>
                      <a:pt x="34744" y="449007"/>
                      <a:pt x="14602" y="449007"/>
                    </a:cubicBezTo>
                    <a:close/>
                    <a:moveTo>
                      <a:pt x="94664" y="447979"/>
                    </a:moveTo>
                    <a:cubicBezTo>
                      <a:pt x="94664" y="469580"/>
                      <a:pt x="94664" y="490153"/>
                      <a:pt x="94664" y="512270"/>
                    </a:cubicBezTo>
                    <a:cubicBezTo>
                      <a:pt x="116316" y="512270"/>
                      <a:pt x="136457" y="512270"/>
                      <a:pt x="158613" y="512270"/>
                    </a:cubicBezTo>
                    <a:cubicBezTo>
                      <a:pt x="158613" y="489639"/>
                      <a:pt x="158613" y="469580"/>
                      <a:pt x="158613" y="447979"/>
                    </a:cubicBezTo>
                    <a:cubicBezTo>
                      <a:pt x="136961" y="447979"/>
                      <a:pt x="116316" y="447979"/>
                      <a:pt x="94664" y="447979"/>
                    </a:cubicBezTo>
                    <a:close/>
                    <a:moveTo>
                      <a:pt x="174726" y="368258"/>
                    </a:moveTo>
                    <a:cubicBezTo>
                      <a:pt x="174726" y="389346"/>
                      <a:pt x="174726" y="409404"/>
                      <a:pt x="174726" y="431006"/>
                    </a:cubicBezTo>
                    <a:cubicBezTo>
                      <a:pt x="196378" y="431006"/>
                      <a:pt x="217526" y="431006"/>
                      <a:pt x="239178" y="431006"/>
                    </a:cubicBezTo>
                    <a:cubicBezTo>
                      <a:pt x="239178" y="409919"/>
                      <a:pt x="239178" y="390374"/>
                      <a:pt x="239178" y="368258"/>
                    </a:cubicBezTo>
                    <a:cubicBezTo>
                      <a:pt x="217526" y="368258"/>
                      <a:pt x="196881" y="368258"/>
                      <a:pt x="174726" y="368258"/>
                    </a:cubicBezTo>
                    <a:close/>
                    <a:moveTo>
                      <a:pt x="95168" y="367744"/>
                    </a:moveTo>
                    <a:cubicBezTo>
                      <a:pt x="95168" y="389860"/>
                      <a:pt x="95168" y="410947"/>
                      <a:pt x="95168" y="431520"/>
                    </a:cubicBezTo>
                    <a:cubicBezTo>
                      <a:pt x="117323" y="431520"/>
                      <a:pt x="137968" y="431520"/>
                      <a:pt x="158613" y="431520"/>
                    </a:cubicBezTo>
                    <a:cubicBezTo>
                      <a:pt x="158613" y="409404"/>
                      <a:pt x="158613" y="389346"/>
                      <a:pt x="158613" y="367744"/>
                    </a:cubicBezTo>
                    <a:cubicBezTo>
                      <a:pt x="135954" y="367744"/>
                      <a:pt x="115813" y="367744"/>
                      <a:pt x="95168" y="367744"/>
                    </a:cubicBezTo>
                    <a:close/>
                    <a:moveTo>
                      <a:pt x="0" y="350771"/>
                    </a:moveTo>
                    <a:cubicBezTo>
                      <a:pt x="83083" y="350771"/>
                      <a:pt x="166669" y="350771"/>
                      <a:pt x="252270" y="350771"/>
                    </a:cubicBezTo>
                    <a:cubicBezTo>
                      <a:pt x="252270" y="765319"/>
                      <a:pt x="252270" y="1180380"/>
                      <a:pt x="252270" y="1597499"/>
                    </a:cubicBezTo>
                    <a:cubicBezTo>
                      <a:pt x="167173" y="1597499"/>
                      <a:pt x="84594" y="1597499"/>
                      <a:pt x="0" y="1597499"/>
                    </a:cubicBezTo>
                    <a:cubicBezTo>
                      <a:pt x="0" y="1181923"/>
                      <a:pt x="0" y="767376"/>
                      <a:pt x="0" y="350771"/>
                    </a:cubicBezTo>
                    <a:close/>
                    <a:moveTo>
                      <a:pt x="134947" y="273107"/>
                    </a:moveTo>
                    <a:cubicBezTo>
                      <a:pt x="134947" y="290080"/>
                      <a:pt x="134947" y="306024"/>
                      <a:pt x="134947" y="321969"/>
                    </a:cubicBezTo>
                    <a:cubicBezTo>
                      <a:pt x="170194" y="321969"/>
                      <a:pt x="203931" y="321969"/>
                      <a:pt x="238674" y="321969"/>
                    </a:cubicBezTo>
                    <a:cubicBezTo>
                      <a:pt x="238674" y="304482"/>
                      <a:pt x="238674" y="289566"/>
                      <a:pt x="238674" y="273107"/>
                    </a:cubicBezTo>
                    <a:cubicBezTo>
                      <a:pt x="202420" y="273107"/>
                      <a:pt x="169691" y="273107"/>
                      <a:pt x="134947" y="273107"/>
                    </a:cubicBezTo>
                    <a:close/>
                    <a:moveTo>
                      <a:pt x="14099" y="271564"/>
                    </a:moveTo>
                    <a:cubicBezTo>
                      <a:pt x="14099" y="290080"/>
                      <a:pt x="14099" y="304996"/>
                      <a:pt x="14099" y="321969"/>
                    </a:cubicBezTo>
                    <a:cubicBezTo>
                      <a:pt x="50353" y="321969"/>
                      <a:pt x="83587" y="321969"/>
                      <a:pt x="117827" y="321969"/>
                    </a:cubicBezTo>
                    <a:cubicBezTo>
                      <a:pt x="117827" y="304996"/>
                      <a:pt x="117827" y="289052"/>
                      <a:pt x="117827" y="271564"/>
                    </a:cubicBezTo>
                    <a:cubicBezTo>
                      <a:pt x="99700" y="271564"/>
                      <a:pt x="83083" y="271564"/>
                      <a:pt x="66466" y="271564"/>
                    </a:cubicBezTo>
                    <a:cubicBezTo>
                      <a:pt x="49346" y="271564"/>
                      <a:pt x="32226" y="271564"/>
                      <a:pt x="14099" y="271564"/>
                    </a:cubicBezTo>
                    <a:close/>
                    <a:moveTo>
                      <a:pt x="49346" y="209331"/>
                    </a:moveTo>
                    <a:cubicBezTo>
                      <a:pt x="11581" y="209331"/>
                      <a:pt x="6043" y="217045"/>
                      <a:pt x="17120" y="255106"/>
                    </a:cubicBezTo>
                    <a:cubicBezTo>
                      <a:pt x="90132" y="255106"/>
                      <a:pt x="163145" y="255106"/>
                      <a:pt x="237164" y="255106"/>
                    </a:cubicBezTo>
                    <a:cubicBezTo>
                      <a:pt x="243710" y="212417"/>
                      <a:pt x="241192" y="209331"/>
                      <a:pt x="202923" y="209331"/>
                    </a:cubicBezTo>
                    <a:cubicBezTo>
                      <a:pt x="151563" y="209331"/>
                      <a:pt x="100707" y="209331"/>
                      <a:pt x="49346" y="209331"/>
                    </a:cubicBezTo>
                    <a:close/>
                    <a:moveTo>
                      <a:pt x="0" y="190815"/>
                    </a:moveTo>
                    <a:cubicBezTo>
                      <a:pt x="84594" y="190815"/>
                      <a:pt x="167676" y="190815"/>
                      <a:pt x="252773" y="190815"/>
                    </a:cubicBezTo>
                    <a:cubicBezTo>
                      <a:pt x="252773" y="240704"/>
                      <a:pt x="252773" y="290080"/>
                      <a:pt x="252773" y="340484"/>
                    </a:cubicBezTo>
                    <a:cubicBezTo>
                      <a:pt x="168180" y="340484"/>
                      <a:pt x="84594" y="340484"/>
                      <a:pt x="0" y="340484"/>
                    </a:cubicBezTo>
                    <a:cubicBezTo>
                      <a:pt x="0" y="290594"/>
                      <a:pt x="0" y="241219"/>
                      <a:pt x="0" y="190815"/>
                    </a:cubicBezTo>
                    <a:close/>
                    <a:moveTo>
                      <a:pt x="31723" y="0"/>
                    </a:moveTo>
                    <a:cubicBezTo>
                      <a:pt x="31723" y="39603"/>
                      <a:pt x="31723" y="78691"/>
                      <a:pt x="31723" y="120867"/>
                    </a:cubicBezTo>
                    <a:cubicBezTo>
                      <a:pt x="55892" y="120867"/>
                      <a:pt x="74523" y="120867"/>
                      <a:pt x="95168" y="120867"/>
                    </a:cubicBezTo>
                    <a:cubicBezTo>
                      <a:pt x="95168" y="142468"/>
                      <a:pt x="95168" y="162013"/>
                      <a:pt x="95168" y="183100"/>
                    </a:cubicBezTo>
                    <a:cubicBezTo>
                      <a:pt x="66467" y="183100"/>
                      <a:pt x="40786" y="183100"/>
                      <a:pt x="11078" y="183100"/>
                    </a:cubicBezTo>
                    <a:cubicBezTo>
                      <a:pt x="15610" y="121381"/>
                      <a:pt x="20142" y="61205"/>
                      <a:pt x="24170" y="514"/>
                    </a:cubicBezTo>
                    <a:cubicBezTo>
                      <a:pt x="26688" y="514"/>
                      <a:pt x="29205" y="514"/>
                      <a:pt x="3172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sz="135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xmlns="" id="{CAA82FE2-E2DD-431D-8D46-7855EDEAA3AE}"/>
                  </a:ext>
                </a:extLst>
              </p:cNvPr>
              <p:cNvSpPr/>
              <p:nvPr/>
            </p:nvSpPr>
            <p:spPr>
              <a:xfrm>
                <a:off x="4797295" y="2666418"/>
                <a:ext cx="300411" cy="1590168"/>
              </a:xfrm>
              <a:custGeom>
                <a:avLst/>
                <a:gdLst>
                  <a:gd name="connsiteX0" fmla="*/ 99275 w 306851"/>
                  <a:gd name="connsiteY0" fmla="*/ 971161 h 1218693"/>
                  <a:gd name="connsiteX1" fmla="*/ 99275 w 306851"/>
                  <a:gd name="connsiteY1" fmla="*/ 1025454 h 1218693"/>
                  <a:gd name="connsiteX2" fmla="*/ 207576 w 306851"/>
                  <a:gd name="connsiteY2" fmla="*/ 1025454 h 1218693"/>
                  <a:gd name="connsiteX3" fmla="*/ 207576 w 306851"/>
                  <a:gd name="connsiteY3" fmla="*/ 971161 h 1218693"/>
                  <a:gd name="connsiteX4" fmla="*/ 99275 w 306851"/>
                  <a:gd name="connsiteY4" fmla="*/ 849179 h 1218693"/>
                  <a:gd name="connsiteX5" fmla="*/ 99275 w 306851"/>
                  <a:gd name="connsiteY5" fmla="*/ 903472 h 1218693"/>
                  <a:gd name="connsiteX6" fmla="*/ 207576 w 306851"/>
                  <a:gd name="connsiteY6" fmla="*/ 903472 h 1218693"/>
                  <a:gd name="connsiteX7" fmla="*/ 207576 w 306851"/>
                  <a:gd name="connsiteY7" fmla="*/ 849179 h 1218693"/>
                  <a:gd name="connsiteX8" fmla="*/ 99275 w 306851"/>
                  <a:gd name="connsiteY8" fmla="*/ 727198 h 1218693"/>
                  <a:gd name="connsiteX9" fmla="*/ 99275 w 306851"/>
                  <a:gd name="connsiteY9" fmla="*/ 781490 h 1218693"/>
                  <a:gd name="connsiteX10" fmla="*/ 207576 w 306851"/>
                  <a:gd name="connsiteY10" fmla="*/ 781490 h 1218693"/>
                  <a:gd name="connsiteX11" fmla="*/ 207576 w 306851"/>
                  <a:gd name="connsiteY11" fmla="*/ 727198 h 1218693"/>
                  <a:gd name="connsiteX12" fmla="*/ 99275 w 306851"/>
                  <a:gd name="connsiteY12" fmla="*/ 605216 h 1218693"/>
                  <a:gd name="connsiteX13" fmla="*/ 99275 w 306851"/>
                  <a:gd name="connsiteY13" fmla="*/ 659508 h 1218693"/>
                  <a:gd name="connsiteX14" fmla="*/ 207576 w 306851"/>
                  <a:gd name="connsiteY14" fmla="*/ 659508 h 1218693"/>
                  <a:gd name="connsiteX15" fmla="*/ 207576 w 306851"/>
                  <a:gd name="connsiteY15" fmla="*/ 605216 h 1218693"/>
                  <a:gd name="connsiteX16" fmla="*/ 99275 w 306851"/>
                  <a:gd name="connsiteY16" fmla="*/ 483234 h 1218693"/>
                  <a:gd name="connsiteX17" fmla="*/ 99275 w 306851"/>
                  <a:gd name="connsiteY17" fmla="*/ 537526 h 1218693"/>
                  <a:gd name="connsiteX18" fmla="*/ 207576 w 306851"/>
                  <a:gd name="connsiteY18" fmla="*/ 537526 h 1218693"/>
                  <a:gd name="connsiteX19" fmla="*/ 207576 w 306851"/>
                  <a:gd name="connsiteY19" fmla="*/ 483234 h 1218693"/>
                  <a:gd name="connsiteX20" fmla="*/ 99275 w 306851"/>
                  <a:gd name="connsiteY20" fmla="*/ 361252 h 1218693"/>
                  <a:gd name="connsiteX21" fmla="*/ 99275 w 306851"/>
                  <a:gd name="connsiteY21" fmla="*/ 415544 h 1218693"/>
                  <a:gd name="connsiteX22" fmla="*/ 207576 w 306851"/>
                  <a:gd name="connsiteY22" fmla="*/ 415544 h 1218693"/>
                  <a:gd name="connsiteX23" fmla="*/ 207576 w 306851"/>
                  <a:gd name="connsiteY23" fmla="*/ 361252 h 1218693"/>
                  <a:gd name="connsiteX24" fmla="*/ 99275 w 306851"/>
                  <a:gd name="connsiteY24" fmla="*/ 239270 h 1218693"/>
                  <a:gd name="connsiteX25" fmla="*/ 99275 w 306851"/>
                  <a:gd name="connsiteY25" fmla="*/ 293563 h 1218693"/>
                  <a:gd name="connsiteX26" fmla="*/ 207576 w 306851"/>
                  <a:gd name="connsiteY26" fmla="*/ 293563 h 1218693"/>
                  <a:gd name="connsiteX27" fmla="*/ 207576 w 306851"/>
                  <a:gd name="connsiteY27" fmla="*/ 239270 h 1218693"/>
                  <a:gd name="connsiteX28" fmla="*/ 99275 w 306851"/>
                  <a:gd name="connsiteY28" fmla="*/ 117288 h 1218693"/>
                  <a:gd name="connsiteX29" fmla="*/ 99275 w 306851"/>
                  <a:gd name="connsiteY29" fmla="*/ 171581 h 1218693"/>
                  <a:gd name="connsiteX30" fmla="*/ 207576 w 306851"/>
                  <a:gd name="connsiteY30" fmla="*/ 171581 h 1218693"/>
                  <a:gd name="connsiteX31" fmla="*/ 207576 w 306851"/>
                  <a:gd name="connsiteY31" fmla="*/ 117288 h 1218693"/>
                  <a:gd name="connsiteX32" fmla="*/ 0 w 306851"/>
                  <a:gd name="connsiteY32" fmla="*/ 0 h 1218693"/>
                  <a:gd name="connsiteX33" fmla="*/ 306851 w 306851"/>
                  <a:gd name="connsiteY33" fmla="*/ 0 h 1218693"/>
                  <a:gd name="connsiteX34" fmla="*/ 306851 w 306851"/>
                  <a:gd name="connsiteY34" fmla="*/ 1218693 h 1218693"/>
                  <a:gd name="connsiteX35" fmla="*/ 0 w 306851"/>
                  <a:gd name="connsiteY35" fmla="*/ 1218693 h 1218693"/>
                  <a:gd name="connsiteX0" fmla="*/ 99275 w 306851"/>
                  <a:gd name="connsiteY0" fmla="*/ 1342636 h 1590168"/>
                  <a:gd name="connsiteX1" fmla="*/ 99275 w 306851"/>
                  <a:gd name="connsiteY1" fmla="*/ 1396929 h 1590168"/>
                  <a:gd name="connsiteX2" fmla="*/ 207576 w 306851"/>
                  <a:gd name="connsiteY2" fmla="*/ 1396929 h 1590168"/>
                  <a:gd name="connsiteX3" fmla="*/ 207576 w 306851"/>
                  <a:gd name="connsiteY3" fmla="*/ 1342636 h 1590168"/>
                  <a:gd name="connsiteX4" fmla="*/ 99275 w 306851"/>
                  <a:gd name="connsiteY4" fmla="*/ 1342636 h 1590168"/>
                  <a:gd name="connsiteX5" fmla="*/ 99275 w 306851"/>
                  <a:gd name="connsiteY5" fmla="*/ 1220654 h 1590168"/>
                  <a:gd name="connsiteX6" fmla="*/ 99275 w 306851"/>
                  <a:gd name="connsiteY6" fmla="*/ 1274947 h 1590168"/>
                  <a:gd name="connsiteX7" fmla="*/ 207576 w 306851"/>
                  <a:gd name="connsiteY7" fmla="*/ 1274947 h 1590168"/>
                  <a:gd name="connsiteX8" fmla="*/ 207576 w 306851"/>
                  <a:gd name="connsiteY8" fmla="*/ 1220654 h 1590168"/>
                  <a:gd name="connsiteX9" fmla="*/ 99275 w 306851"/>
                  <a:gd name="connsiteY9" fmla="*/ 1220654 h 1590168"/>
                  <a:gd name="connsiteX10" fmla="*/ 99275 w 306851"/>
                  <a:gd name="connsiteY10" fmla="*/ 1098673 h 1590168"/>
                  <a:gd name="connsiteX11" fmla="*/ 99275 w 306851"/>
                  <a:gd name="connsiteY11" fmla="*/ 1152965 h 1590168"/>
                  <a:gd name="connsiteX12" fmla="*/ 207576 w 306851"/>
                  <a:gd name="connsiteY12" fmla="*/ 1152965 h 1590168"/>
                  <a:gd name="connsiteX13" fmla="*/ 207576 w 306851"/>
                  <a:gd name="connsiteY13" fmla="*/ 1098673 h 1590168"/>
                  <a:gd name="connsiteX14" fmla="*/ 99275 w 306851"/>
                  <a:gd name="connsiteY14" fmla="*/ 1098673 h 1590168"/>
                  <a:gd name="connsiteX15" fmla="*/ 99275 w 306851"/>
                  <a:gd name="connsiteY15" fmla="*/ 976691 h 1590168"/>
                  <a:gd name="connsiteX16" fmla="*/ 99275 w 306851"/>
                  <a:gd name="connsiteY16" fmla="*/ 1030983 h 1590168"/>
                  <a:gd name="connsiteX17" fmla="*/ 207576 w 306851"/>
                  <a:gd name="connsiteY17" fmla="*/ 1030983 h 1590168"/>
                  <a:gd name="connsiteX18" fmla="*/ 207576 w 306851"/>
                  <a:gd name="connsiteY18" fmla="*/ 976691 h 1590168"/>
                  <a:gd name="connsiteX19" fmla="*/ 99275 w 306851"/>
                  <a:gd name="connsiteY19" fmla="*/ 976691 h 1590168"/>
                  <a:gd name="connsiteX20" fmla="*/ 99275 w 306851"/>
                  <a:gd name="connsiteY20" fmla="*/ 854709 h 1590168"/>
                  <a:gd name="connsiteX21" fmla="*/ 99275 w 306851"/>
                  <a:gd name="connsiteY21" fmla="*/ 909001 h 1590168"/>
                  <a:gd name="connsiteX22" fmla="*/ 207576 w 306851"/>
                  <a:gd name="connsiteY22" fmla="*/ 909001 h 1590168"/>
                  <a:gd name="connsiteX23" fmla="*/ 207576 w 306851"/>
                  <a:gd name="connsiteY23" fmla="*/ 854709 h 1590168"/>
                  <a:gd name="connsiteX24" fmla="*/ 99275 w 306851"/>
                  <a:gd name="connsiteY24" fmla="*/ 854709 h 1590168"/>
                  <a:gd name="connsiteX25" fmla="*/ 99275 w 306851"/>
                  <a:gd name="connsiteY25" fmla="*/ 732727 h 1590168"/>
                  <a:gd name="connsiteX26" fmla="*/ 99275 w 306851"/>
                  <a:gd name="connsiteY26" fmla="*/ 787019 h 1590168"/>
                  <a:gd name="connsiteX27" fmla="*/ 207576 w 306851"/>
                  <a:gd name="connsiteY27" fmla="*/ 787019 h 1590168"/>
                  <a:gd name="connsiteX28" fmla="*/ 207576 w 306851"/>
                  <a:gd name="connsiteY28" fmla="*/ 732727 h 1590168"/>
                  <a:gd name="connsiteX29" fmla="*/ 99275 w 306851"/>
                  <a:gd name="connsiteY29" fmla="*/ 732727 h 1590168"/>
                  <a:gd name="connsiteX30" fmla="*/ 99275 w 306851"/>
                  <a:gd name="connsiteY30" fmla="*/ 610745 h 1590168"/>
                  <a:gd name="connsiteX31" fmla="*/ 99275 w 306851"/>
                  <a:gd name="connsiteY31" fmla="*/ 665038 h 1590168"/>
                  <a:gd name="connsiteX32" fmla="*/ 207576 w 306851"/>
                  <a:gd name="connsiteY32" fmla="*/ 665038 h 1590168"/>
                  <a:gd name="connsiteX33" fmla="*/ 207576 w 306851"/>
                  <a:gd name="connsiteY33" fmla="*/ 610745 h 1590168"/>
                  <a:gd name="connsiteX34" fmla="*/ 99275 w 306851"/>
                  <a:gd name="connsiteY34" fmla="*/ 610745 h 1590168"/>
                  <a:gd name="connsiteX35" fmla="*/ 99275 w 306851"/>
                  <a:gd name="connsiteY35" fmla="*/ 488763 h 1590168"/>
                  <a:gd name="connsiteX36" fmla="*/ 99275 w 306851"/>
                  <a:gd name="connsiteY36" fmla="*/ 543056 h 1590168"/>
                  <a:gd name="connsiteX37" fmla="*/ 207576 w 306851"/>
                  <a:gd name="connsiteY37" fmla="*/ 543056 h 1590168"/>
                  <a:gd name="connsiteX38" fmla="*/ 207576 w 306851"/>
                  <a:gd name="connsiteY38" fmla="*/ 488763 h 1590168"/>
                  <a:gd name="connsiteX39" fmla="*/ 99275 w 306851"/>
                  <a:gd name="connsiteY39" fmla="*/ 488763 h 1590168"/>
                  <a:gd name="connsiteX40" fmla="*/ 9525 w 306851"/>
                  <a:gd name="connsiteY40" fmla="*/ 0 h 1590168"/>
                  <a:gd name="connsiteX41" fmla="*/ 306851 w 306851"/>
                  <a:gd name="connsiteY41" fmla="*/ 371475 h 1590168"/>
                  <a:gd name="connsiteX42" fmla="*/ 306851 w 306851"/>
                  <a:gd name="connsiteY42" fmla="*/ 1590168 h 1590168"/>
                  <a:gd name="connsiteX43" fmla="*/ 0 w 306851"/>
                  <a:gd name="connsiteY43" fmla="*/ 1590168 h 1590168"/>
                  <a:gd name="connsiteX44" fmla="*/ 9525 w 306851"/>
                  <a:gd name="connsiteY44" fmla="*/ 0 h 1590168"/>
                  <a:gd name="connsiteX0" fmla="*/ 99275 w 306851"/>
                  <a:gd name="connsiteY0" fmla="*/ 1342636 h 1590168"/>
                  <a:gd name="connsiteX1" fmla="*/ 99275 w 306851"/>
                  <a:gd name="connsiteY1" fmla="*/ 1396929 h 1590168"/>
                  <a:gd name="connsiteX2" fmla="*/ 207576 w 306851"/>
                  <a:gd name="connsiteY2" fmla="*/ 1396929 h 1590168"/>
                  <a:gd name="connsiteX3" fmla="*/ 207576 w 306851"/>
                  <a:gd name="connsiteY3" fmla="*/ 1342636 h 1590168"/>
                  <a:gd name="connsiteX4" fmla="*/ 99275 w 306851"/>
                  <a:gd name="connsiteY4" fmla="*/ 1342636 h 1590168"/>
                  <a:gd name="connsiteX5" fmla="*/ 99275 w 306851"/>
                  <a:gd name="connsiteY5" fmla="*/ 1220654 h 1590168"/>
                  <a:gd name="connsiteX6" fmla="*/ 99275 w 306851"/>
                  <a:gd name="connsiteY6" fmla="*/ 1274947 h 1590168"/>
                  <a:gd name="connsiteX7" fmla="*/ 207576 w 306851"/>
                  <a:gd name="connsiteY7" fmla="*/ 1274947 h 1590168"/>
                  <a:gd name="connsiteX8" fmla="*/ 207576 w 306851"/>
                  <a:gd name="connsiteY8" fmla="*/ 1220654 h 1590168"/>
                  <a:gd name="connsiteX9" fmla="*/ 99275 w 306851"/>
                  <a:gd name="connsiteY9" fmla="*/ 1220654 h 1590168"/>
                  <a:gd name="connsiteX10" fmla="*/ 99275 w 306851"/>
                  <a:gd name="connsiteY10" fmla="*/ 1098673 h 1590168"/>
                  <a:gd name="connsiteX11" fmla="*/ 99275 w 306851"/>
                  <a:gd name="connsiteY11" fmla="*/ 1152965 h 1590168"/>
                  <a:gd name="connsiteX12" fmla="*/ 207576 w 306851"/>
                  <a:gd name="connsiteY12" fmla="*/ 1152965 h 1590168"/>
                  <a:gd name="connsiteX13" fmla="*/ 207576 w 306851"/>
                  <a:gd name="connsiteY13" fmla="*/ 1098673 h 1590168"/>
                  <a:gd name="connsiteX14" fmla="*/ 99275 w 306851"/>
                  <a:gd name="connsiteY14" fmla="*/ 1098673 h 1590168"/>
                  <a:gd name="connsiteX15" fmla="*/ 99275 w 306851"/>
                  <a:gd name="connsiteY15" fmla="*/ 976691 h 1590168"/>
                  <a:gd name="connsiteX16" fmla="*/ 99275 w 306851"/>
                  <a:gd name="connsiteY16" fmla="*/ 1030983 h 1590168"/>
                  <a:gd name="connsiteX17" fmla="*/ 207576 w 306851"/>
                  <a:gd name="connsiteY17" fmla="*/ 1030983 h 1590168"/>
                  <a:gd name="connsiteX18" fmla="*/ 207576 w 306851"/>
                  <a:gd name="connsiteY18" fmla="*/ 976691 h 1590168"/>
                  <a:gd name="connsiteX19" fmla="*/ 99275 w 306851"/>
                  <a:gd name="connsiteY19" fmla="*/ 976691 h 1590168"/>
                  <a:gd name="connsiteX20" fmla="*/ 99275 w 306851"/>
                  <a:gd name="connsiteY20" fmla="*/ 854709 h 1590168"/>
                  <a:gd name="connsiteX21" fmla="*/ 99275 w 306851"/>
                  <a:gd name="connsiteY21" fmla="*/ 909001 h 1590168"/>
                  <a:gd name="connsiteX22" fmla="*/ 207576 w 306851"/>
                  <a:gd name="connsiteY22" fmla="*/ 909001 h 1590168"/>
                  <a:gd name="connsiteX23" fmla="*/ 207576 w 306851"/>
                  <a:gd name="connsiteY23" fmla="*/ 854709 h 1590168"/>
                  <a:gd name="connsiteX24" fmla="*/ 99275 w 306851"/>
                  <a:gd name="connsiteY24" fmla="*/ 854709 h 1590168"/>
                  <a:gd name="connsiteX25" fmla="*/ 99275 w 306851"/>
                  <a:gd name="connsiteY25" fmla="*/ 732727 h 1590168"/>
                  <a:gd name="connsiteX26" fmla="*/ 99275 w 306851"/>
                  <a:gd name="connsiteY26" fmla="*/ 787019 h 1590168"/>
                  <a:gd name="connsiteX27" fmla="*/ 207576 w 306851"/>
                  <a:gd name="connsiteY27" fmla="*/ 787019 h 1590168"/>
                  <a:gd name="connsiteX28" fmla="*/ 207576 w 306851"/>
                  <a:gd name="connsiteY28" fmla="*/ 732727 h 1590168"/>
                  <a:gd name="connsiteX29" fmla="*/ 99275 w 306851"/>
                  <a:gd name="connsiteY29" fmla="*/ 732727 h 1590168"/>
                  <a:gd name="connsiteX30" fmla="*/ 99275 w 306851"/>
                  <a:gd name="connsiteY30" fmla="*/ 610745 h 1590168"/>
                  <a:gd name="connsiteX31" fmla="*/ 99275 w 306851"/>
                  <a:gd name="connsiteY31" fmla="*/ 665038 h 1590168"/>
                  <a:gd name="connsiteX32" fmla="*/ 207576 w 306851"/>
                  <a:gd name="connsiteY32" fmla="*/ 665038 h 1590168"/>
                  <a:gd name="connsiteX33" fmla="*/ 207576 w 306851"/>
                  <a:gd name="connsiteY33" fmla="*/ 610745 h 1590168"/>
                  <a:gd name="connsiteX34" fmla="*/ 99275 w 306851"/>
                  <a:gd name="connsiteY34" fmla="*/ 610745 h 1590168"/>
                  <a:gd name="connsiteX35" fmla="*/ 99275 w 306851"/>
                  <a:gd name="connsiteY35" fmla="*/ 488763 h 1590168"/>
                  <a:gd name="connsiteX36" fmla="*/ 99275 w 306851"/>
                  <a:gd name="connsiteY36" fmla="*/ 543056 h 1590168"/>
                  <a:gd name="connsiteX37" fmla="*/ 207576 w 306851"/>
                  <a:gd name="connsiteY37" fmla="*/ 543056 h 1590168"/>
                  <a:gd name="connsiteX38" fmla="*/ 207576 w 306851"/>
                  <a:gd name="connsiteY38" fmla="*/ 488763 h 1590168"/>
                  <a:gd name="connsiteX39" fmla="*/ 99275 w 306851"/>
                  <a:gd name="connsiteY39" fmla="*/ 488763 h 1590168"/>
                  <a:gd name="connsiteX40" fmla="*/ 0 w 306851"/>
                  <a:gd name="connsiteY40" fmla="*/ 0 h 1590168"/>
                  <a:gd name="connsiteX41" fmla="*/ 306851 w 306851"/>
                  <a:gd name="connsiteY41" fmla="*/ 371475 h 1590168"/>
                  <a:gd name="connsiteX42" fmla="*/ 306851 w 306851"/>
                  <a:gd name="connsiteY42" fmla="*/ 1590168 h 1590168"/>
                  <a:gd name="connsiteX43" fmla="*/ 0 w 306851"/>
                  <a:gd name="connsiteY43" fmla="*/ 1590168 h 1590168"/>
                  <a:gd name="connsiteX44" fmla="*/ 0 w 306851"/>
                  <a:gd name="connsiteY44" fmla="*/ 0 h 1590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06851" h="1590168">
                    <a:moveTo>
                      <a:pt x="99275" y="1342636"/>
                    </a:moveTo>
                    <a:lnTo>
                      <a:pt x="99275" y="1396929"/>
                    </a:lnTo>
                    <a:lnTo>
                      <a:pt x="207576" y="1396929"/>
                    </a:lnTo>
                    <a:lnTo>
                      <a:pt x="207576" y="1342636"/>
                    </a:lnTo>
                    <a:lnTo>
                      <a:pt x="99275" y="1342636"/>
                    </a:lnTo>
                    <a:close/>
                    <a:moveTo>
                      <a:pt x="99275" y="1220654"/>
                    </a:moveTo>
                    <a:lnTo>
                      <a:pt x="99275" y="1274947"/>
                    </a:lnTo>
                    <a:lnTo>
                      <a:pt x="207576" y="1274947"/>
                    </a:lnTo>
                    <a:lnTo>
                      <a:pt x="207576" y="1220654"/>
                    </a:lnTo>
                    <a:lnTo>
                      <a:pt x="99275" y="1220654"/>
                    </a:lnTo>
                    <a:close/>
                    <a:moveTo>
                      <a:pt x="99275" y="1098673"/>
                    </a:moveTo>
                    <a:lnTo>
                      <a:pt x="99275" y="1152965"/>
                    </a:lnTo>
                    <a:lnTo>
                      <a:pt x="207576" y="1152965"/>
                    </a:lnTo>
                    <a:lnTo>
                      <a:pt x="207576" y="1098673"/>
                    </a:lnTo>
                    <a:lnTo>
                      <a:pt x="99275" y="1098673"/>
                    </a:lnTo>
                    <a:close/>
                    <a:moveTo>
                      <a:pt x="99275" y="976691"/>
                    </a:moveTo>
                    <a:lnTo>
                      <a:pt x="99275" y="1030983"/>
                    </a:lnTo>
                    <a:lnTo>
                      <a:pt x="207576" y="1030983"/>
                    </a:lnTo>
                    <a:lnTo>
                      <a:pt x="207576" y="976691"/>
                    </a:lnTo>
                    <a:lnTo>
                      <a:pt x="99275" y="976691"/>
                    </a:lnTo>
                    <a:close/>
                    <a:moveTo>
                      <a:pt x="99275" y="854709"/>
                    </a:moveTo>
                    <a:lnTo>
                      <a:pt x="99275" y="909001"/>
                    </a:lnTo>
                    <a:lnTo>
                      <a:pt x="207576" y="909001"/>
                    </a:lnTo>
                    <a:lnTo>
                      <a:pt x="207576" y="854709"/>
                    </a:lnTo>
                    <a:lnTo>
                      <a:pt x="99275" y="854709"/>
                    </a:lnTo>
                    <a:close/>
                    <a:moveTo>
                      <a:pt x="99275" y="732727"/>
                    </a:moveTo>
                    <a:lnTo>
                      <a:pt x="99275" y="787019"/>
                    </a:lnTo>
                    <a:lnTo>
                      <a:pt x="207576" y="787019"/>
                    </a:lnTo>
                    <a:lnTo>
                      <a:pt x="207576" y="732727"/>
                    </a:lnTo>
                    <a:lnTo>
                      <a:pt x="99275" y="732727"/>
                    </a:lnTo>
                    <a:close/>
                    <a:moveTo>
                      <a:pt x="99275" y="610745"/>
                    </a:moveTo>
                    <a:lnTo>
                      <a:pt x="99275" y="665038"/>
                    </a:lnTo>
                    <a:lnTo>
                      <a:pt x="207576" y="665038"/>
                    </a:lnTo>
                    <a:lnTo>
                      <a:pt x="207576" y="610745"/>
                    </a:lnTo>
                    <a:lnTo>
                      <a:pt x="99275" y="610745"/>
                    </a:lnTo>
                    <a:close/>
                    <a:moveTo>
                      <a:pt x="99275" y="488763"/>
                    </a:moveTo>
                    <a:lnTo>
                      <a:pt x="99275" y="543056"/>
                    </a:lnTo>
                    <a:lnTo>
                      <a:pt x="207576" y="543056"/>
                    </a:lnTo>
                    <a:lnTo>
                      <a:pt x="207576" y="488763"/>
                    </a:lnTo>
                    <a:lnTo>
                      <a:pt x="99275" y="488763"/>
                    </a:lnTo>
                    <a:close/>
                    <a:moveTo>
                      <a:pt x="0" y="0"/>
                    </a:moveTo>
                    <a:lnTo>
                      <a:pt x="306851" y="371475"/>
                    </a:lnTo>
                    <a:lnTo>
                      <a:pt x="306851" y="1590168"/>
                    </a:lnTo>
                    <a:lnTo>
                      <a:pt x="0" y="1590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026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xmlns="" id="{B2AD73A5-152E-4424-89CE-9BF6CBA0DB5D}"/>
                  </a:ext>
                </a:extLst>
              </p:cNvPr>
              <p:cNvSpPr/>
              <p:nvPr/>
            </p:nvSpPr>
            <p:spPr>
              <a:xfrm>
                <a:off x="4310739" y="3286263"/>
                <a:ext cx="532405" cy="970323"/>
              </a:xfrm>
              <a:custGeom>
                <a:avLst/>
                <a:gdLst>
                  <a:gd name="connsiteX0" fmla="*/ 475422 w 923439"/>
                  <a:gd name="connsiteY0" fmla="*/ 855427 h 1647670"/>
                  <a:gd name="connsiteX1" fmla="*/ 475422 w 923439"/>
                  <a:gd name="connsiteY1" fmla="*/ 969146 h 1647670"/>
                  <a:gd name="connsiteX2" fmla="*/ 589141 w 923439"/>
                  <a:gd name="connsiteY2" fmla="*/ 969146 h 1647670"/>
                  <a:gd name="connsiteX3" fmla="*/ 589141 w 923439"/>
                  <a:gd name="connsiteY3" fmla="*/ 855427 h 1647670"/>
                  <a:gd name="connsiteX4" fmla="*/ 334298 w 923439"/>
                  <a:gd name="connsiteY4" fmla="*/ 855427 h 1647670"/>
                  <a:gd name="connsiteX5" fmla="*/ 334298 w 923439"/>
                  <a:gd name="connsiteY5" fmla="*/ 969146 h 1647670"/>
                  <a:gd name="connsiteX6" fmla="*/ 448017 w 923439"/>
                  <a:gd name="connsiteY6" fmla="*/ 969146 h 1647670"/>
                  <a:gd name="connsiteX7" fmla="*/ 448017 w 923439"/>
                  <a:gd name="connsiteY7" fmla="*/ 855427 h 1647670"/>
                  <a:gd name="connsiteX8" fmla="*/ 475422 w 923439"/>
                  <a:gd name="connsiteY8" fmla="*/ 709876 h 1647670"/>
                  <a:gd name="connsiteX9" fmla="*/ 475422 w 923439"/>
                  <a:gd name="connsiteY9" fmla="*/ 823595 h 1647670"/>
                  <a:gd name="connsiteX10" fmla="*/ 589141 w 923439"/>
                  <a:gd name="connsiteY10" fmla="*/ 823595 h 1647670"/>
                  <a:gd name="connsiteX11" fmla="*/ 589141 w 923439"/>
                  <a:gd name="connsiteY11" fmla="*/ 709876 h 1647670"/>
                  <a:gd name="connsiteX12" fmla="*/ 334298 w 923439"/>
                  <a:gd name="connsiteY12" fmla="*/ 709876 h 1647670"/>
                  <a:gd name="connsiteX13" fmla="*/ 334298 w 923439"/>
                  <a:gd name="connsiteY13" fmla="*/ 823595 h 1647670"/>
                  <a:gd name="connsiteX14" fmla="*/ 448017 w 923439"/>
                  <a:gd name="connsiteY14" fmla="*/ 823595 h 1647670"/>
                  <a:gd name="connsiteX15" fmla="*/ 448017 w 923439"/>
                  <a:gd name="connsiteY15" fmla="*/ 709876 h 1647670"/>
                  <a:gd name="connsiteX16" fmla="*/ 475422 w 923439"/>
                  <a:gd name="connsiteY16" fmla="*/ 500489 h 1647670"/>
                  <a:gd name="connsiteX17" fmla="*/ 475422 w 923439"/>
                  <a:gd name="connsiteY17" fmla="*/ 614208 h 1647670"/>
                  <a:gd name="connsiteX18" fmla="*/ 589141 w 923439"/>
                  <a:gd name="connsiteY18" fmla="*/ 614208 h 1647670"/>
                  <a:gd name="connsiteX19" fmla="*/ 589141 w 923439"/>
                  <a:gd name="connsiteY19" fmla="*/ 500489 h 1647670"/>
                  <a:gd name="connsiteX20" fmla="*/ 334298 w 923439"/>
                  <a:gd name="connsiteY20" fmla="*/ 500489 h 1647670"/>
                  <a:gd name="connsiteX21" fmla="*/ 334298 w 923439"/>
                  <a:gd name="connsiteY21" fmla="*/ 614208 h 1647670"/>
                  <a:gd name="connsiteX22" fmla="*/ 448017 w 923439"/>
                  <a:gd name="connsiteY22" fmla="*/ 614208 h 1647670"/>
                  <a:gd name="connsiteX23" fmla="*/ 448017 w 923439"/>
                  <a:gd name="connsiteY23" fmla="*/ 500489 h 1647670"/>
                  <a:gd name="connsiteX24" fmla="*/ 475422 w 923439"/>
                  <a:gd name="connsiteY24" fmla="*/ 354938 h 1647670"/>
                  <a:gd name="connsiteX25" fmla="*/ 475422 w 923439"/>
                  <a:gd name="connsiteY25" fmla="*/ 468657 h 1647670"/>
                  <a:gd name="connsiteX26" fmla="*/ 589141 w 923439"/>
                  <a:gd name="connsiteY26" fmla="*/ 468657 h 1647670"/>
                  <a:gd name="connsiteX27" fmla="*/ 589141 w 923439"/>
                  <a:gd name="connsiteY27" fmla="*/ 354938 h 1647670"/>
                  <a:gd name="connsiteX28" fmla="*/ 334298 w 923439"/>
                  <a:gd name="connsiteY28" fmla="*/ 354938 h 1647670"/>
                  <a:gd name="connsiteX29" fmla="*/ 334298 w 923439"/>
                  <a:gd name="connsiteY29" fmla="*/ 468657 h 1647670"/>
                  <a:gd name="connsiteX30" fmla="*/ 448017 w 923439"/>
                  <a:gd name="connsiteY30" fmla="*/ 468657 h 1647670"/>
                  <a:gd name="connsiteX31" fmla="*/ 448017 w 923439"/>
                  <a:gd name="connsiteY31" fmla="*/ 354938 h 1647670"/>
                  <a:gd name="connsiteX32" fmla="*/ 461720 w 923439"/>
                  <a:gd name="connsiteY32" fmla="*/ 0 h 1647670"/>
                  <a:gd name="connsiteX33" fmla="*/ 923439 w 923439"/>
                  <a:gd name="connsiteY33" fmla="*/ 308459 h 1647670"/>
                  <a:gd name="connsiteX34" fmla="*/ 768082 w 923439"/>
                  <a:gd name="connsiteY34" fmla="*/ 308459 h 1647670"/>
                  <a:gd name="connsiteX35" fmla="*/ 768082 w 923439"/>
                  <a:gd name="connsiteY35" fmla="*/ 1647670 h 1647670"/>
                  <a:gd name="connsiteX36" fmla="*/ 155357 w 923439"/>
                  <a:gd name="connsiteY36" fmla="*/ 1647670 h 1647670"/>
                  <a:gd name="connsiteX37" fmla="*/ 155357 w 923439"/>
                  <a:gd name="connsiteY37" fmla="*/ 308459 h 1647670"/>
                  <a:gd name="connsiteX38" fmla="*/ 0 w 923439"/>
                  <a:gd name="connsiteY38" fmla="*/ 308459 h 1647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23439" h="1647670">
                    <a:moveTo>
                      <a:pt x="475422" y="855427"/>
                    </a:moveTo>
                    <a:lnTo>
                      <a:pt x="475422" y="969146"/>
                    </a:lnTo>
                    <a:lnTo>
                      <a:pt x="589141" y="969146"/>
                    </a:lnTo>
                    <a:lnTo>
                      <a:pt x="589141" y="855427"/>
                    </a:lnTo>
                    <a:close/>
                    <a:moveTo>
                      <a:pt x="334298" y="855427"/>
                    </a:moveTo>
                    <a:lnTo>
                      <a:pt x="334298" y="969146"/>
                    </a:lnTo>
                    <a:lnTo>
                      <a:pt x="448017" y="969146"/>
                    </a:lnTo>
                    <a:lnTo>
                      <a:pt x="448017" y="855427"/>
                    </a:lnTo>
                    <a:close/>
                    <a:moveTo>
                      <a:pt x="475422" y="709876"/>
                    </a:moveTo>
                    <a:lnTo>
                      <a:pt x="475422" y="823595"/>
                    </a:lnTo>
                    <a:lnTo>
                      <a:pt x="589141" y="823595"/>
                    </a:lnTo>
                    <a:lnTo>
                      <a:pt x="589141" y="709876"/>
                    </a:lnTo>
                    <a:close/>
                    <a:moveTo>
                      <a:pt x="334298" y="709876"/>
                    </a:moveTo>
                    <a:lnTo>
                      <a:pt x="334298" y="823595"/>
                    </a:lnTo>
                    <a:lnTo>
                      <a:pt x="448017" y="823595"/>
                    </a:lnTo>
                    <a:lnTo>
                      <a:pt x="448017" y="709876"/>
                    </a:lnTo>
                    <a:close/>
                    <a:moveTo>
                      <a:pt x="475422" y="500489"/>
                    </a:moveTo>
                    <a:lnTo>
                      <a:pt x="475422" y="614208"/>
                    </a:lnTo>
                    <a:lnTo>
                      <a:pt x="589141" y="614208"/>
                    </a:lnTo>
                    <a:lnTo>
                      <a:pt x="589141" y="500489"/>
                    </a:lnTo>
                    <a:close/>
                    <a:moveTo>
                      <a:pt x="334298" y="500489"/>
                    </a:moveTo>
                    <a:lnTo>
                      <a:pt x="334298" y="614208"/>
                    </a:lnTo>
                    <a:lnTo>
                      <a:pt x="448017" y="614208"/>
                    </a:lnTo>
                    <a:lnTo>
                      <a:pt x="448017" y="500489"/>
                    </a:lnTo>
                    <a:close/>
                    <a:moveTo>
                      <a:pt x="475422" y="354938"/>
                    </a:moveTo>
                    <a:lnTo>
                      <a:pt x="475422" y="468657"/>
                    </a:lnTo>
                    <a:lnTo>
                      <a:pt x="589141" y="468657"/>
                    </a:lnTo>
                    <a:lnTo>
                      <a:pt x="589141" y="354938"/>
                    </a:lnTo>
                    <a:close/>
                    <a:moveTo>
                      <a:pt x="334298" y="354938"/>
                    </a:moveTo>
                    <a:lnTo>
                      <a:pt x="334298" y="468657"/>
                    </a:lnTo>
                    <a:lnTo>
                      <a:pt x="448017" y="468657"/>
                    </a:lnTo>
                    <a:lnTo>
                      <a:pt x="448017" y="354938"/>
                    </a:lnTo>
                    <a:close/>
                    <a:moveTo>
                      <a:pt x="461720" y="0"/>
                    </a:moveTo>
                    <a:lnTo>
                      <a:pt x="923439" y="308459"/>
                    </a:lnTo>
                    <a:lnTo>
                      <a:pt x="768082" y="308459"/>
                    </a:lnTo>
                    <a:lnTo>
                      <a:pt x="768082" y="1647670"/>
                    </a:lnTo>
                    <a:lnTo>
                      <a:pt x="155357" y="1647670"/>
                    </a:lnTo>
                    <a:lnTo>
                      <a:pt x="155357" y="308459"/>
                    </a:lnTo>
                    <a:lnTo>
                      <a:pt x="0" y="3084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82097D85-AD29-468F-93DF-059351CB873C}"/>
                  </a:ext>
                </a:extLst>
              </p:cNvPr>
              <p:cNvSpPr/>
              <p:nvPr/>
            </p:nvSpPr>
            <p:spPr>
              <a:xfrm>
                <a:off x="7531101" y="3229418"/>
                <a:ext cx="202983" cy="1027168"/>
              </a:xfrm>
              <a:custGeom>
                <a:avLst/>
                <a:gdLst>
                  <a:gd name="connsiteX0" fmla="*/ 99275 w 306850"/>
                  <a:gd name="connsiteY0" fmla="*/ 1096373 h 1339211"/>
                  <a:gd name="connsiteX1" fmla="*/ 99275 w 306850"/>
                  <a:gd name="connsiteY1" fmla="*/ 1150665 h 1339211"/>
                  <a:gd name="connsiteX2" fmla="*/ 207575 w 306850"/>
                  <a:gd name="connsiteY2" fmla="*/ 1150665 h 1339211"/>
                  <a:gd name="connsiteX3" fmla="*/ 207575 w 306850"/>
                  <a:gd name="connsiteY3" fmla="*/ 1096373 h 1339211"/>
                  <a:gd name="connsiteX4" fmla="*/ 99275 w 306850"/>
                  <a:gd name="connsiteY4" fmla="*/ 974391 h 1339211"/>
                  <a:gd name="connsiteX5" fmla="*/ 99275 w 306850"/>
                  <a:gd name="connsiteY5" fmla="*/ 1028684 h 1339211"/>
                  <a:gd name="connsiteX6" fmla="*/ 207575 w 306850"/>
                  <a:gd name="connsiteY6" fmla="*/ 1028684 h 1339211"/>
                  <a:gd name="connsiteX7" fmla="*/ 207575 w 306850"/>
                  <a:gd name="connsiteY7" fmla="*/ 974391 h 1339211"/>
                  <a:gd name="connsiteX8" fmla="*/ 99275 w 306850"/>
                  <a:gd name="connsiteY8" fmla="*/ 852409 h 1339211"/>
                  <a:gd name="connsiteX9" fmla="*/ 99275 w 306850"/>
                  <a:gd name="connsiteY9" fmla="*/ 906702 h 1339211"/>
                  <a:gd name="connsiteX10" fmla="*/ 207575 w 306850"/>
                  <a:gd name="connsiteY10" fmla="*/ 906702 h 1339211"/>
                  <a:gd name="connsiteX11" fmla="*/ 207575 w 306850"/>
                  <a:gd name="connsiteY11" fmla="*/ 852409 h 1339211"/>
                  <a:gd name="connsiteX12" fmla="*/ 99275 w 306850"/>
                  <a:gd name="connsiteY12" fmla="*/ 730427 h 1339211"/>
                  <a:gd name="connsiteX13" fmla="*/ 99275 w 306850"/>
                  <a:gd name="connsiteY13" fmla="*/ 784720 h 1339211"/>
                  <a:gd name="connsiteX14" fmla="*/ 207575 w 306850"/>
                  <a:gd name="connsiteY14" fmla="*/ 784720 h 1339211"/>
                  <a:gd name="connsiteX15" fmla="*/ 207575 w 306850"/>
                  <a:gd name="connsiteY15" fmla="*/ 730427 h 1339211"/>
                  <a:gd name="connsiteX16" fmla="*/ 99275 w 306850"/>
                  <a:gd name="connsiteY16" fmla="*/ 608446 h 1339211"/>
                  <a:gd name="connsiteX17" fmla="*/ 99275 w 306850"/>
                  <a:gd name="connsiteY17" fmla="*/ 662738 h 1339211"/>
                  <a:gd name="connsiteX18" fmla="*/ 207575 w 306850"/>
                  <a:gd name="connsiteY18" fmla="*/ 662738 h 1339211"/>
                  <a:gd name="connsiteX19" fmla="*/ 207575 w 306850"/>
                  <a:gd name="connsiteY19" fmla="*/ 608446 h 1339211"/>
                  <a:gd name="connsiteX20" fmla="*/ 99275 w 306850"/>
                  <a:gd name="connsiteY20" fmla="*/ 486464 h 1339211"/>
                  <a:gd name="connsiteX21" fmla="*/ 99275 w 306850"/>
                  <a:gd name="connsiteY21" fmla="*/ 540756 h 1339211"/>
                  <a:gd name="connsiteX22" fmla="*/ 207575 w 306850"/>
                  <a:gd name="connsiteY22" fmla="*/ 540756 h 1339211"/>
                  <a:gd name="connsiteX23" fmla="*/ 207575 w 306850"/>
                  <a:gd name="connsiteY23" fmla="*/ 486464 h 1339211"/>
                  <a:gd name="connsiteX24" fmla="*/ 99275 w 306850"/>
                  <a:gd name="connsiteY24" fmla="*/ 364482 h 1339211"/>
                  <a:gd name="connsiteX25" fmla="*/ 99275 w 306850"/>
                  <a:gd name="connsiteY25" fmla="*/ 418774 h 1339211"/>
                  <a:gd name="connsiteX26" fmla="*/ 207575 w 306850"/>
                  <a:gd name="connsiteY26" fmla="*/ 418774 h 1339211"/>
                  <a:gd name="connsiteX27" fmla="*/ 207575 w 306850"/>
                  <a:gd name="connsiteY27" fmla="*/ 364482 h 1339211"/>
                  <a:gd name="connsiteX28" fmla="*/ 99275 w 306850"/>
                  <a:gd name="connsiteY28" fmla="*/ 242500 h 1339211"/>
                  <a:gd name="connsiteX29" fmla="*/ 99275 w 306850"/>
                  <a:gd name="connsiteY29" fmla="*/ 296792 h 1339211"/>
                  <a:gd name="connsiteX30" fmla="*/ 207575 w 306850"/>
                  <a:gd name="connsiteY30" fmla="*/ 296792 h 1339211"/>
                  <a:gd name="connsiteX31" fmla="*/ 207575 w 306850"/>
                  <a:gd name="connsiteY31" fmla="*/ 242500 h 1339211"/>
                  <a:gd name="connsiteX32" fmla="*/ 99275 w 306850"/>
                  <a:gd name="connsiteY32" fmla="*/ 120518 h 1339211"/>
                  <a:gd name="connsiteX33" fmla="*/ 99275 w 306850"/>
                  <a:gd name="connsiteY33" fmla="*/ 174811 h 1339211"/>
                  <a:gd name="connsiteX34" fmla="*/ 207575 w 306850"/>
                  <a:gd name="connsiteY34" fmla="*/ 174811 h 1339211"/>
                  <a:gd name="connsiteX35" fmla="*/ 207575 w 306850"/>
                  <a:gd name="connsiteY35" fmla="*/ 120518 h 1339211"/>
                  <a:gd name="connsiteX36" fmla="*/ 0 w 306850"/>
                  <a:gd name="connsiteY36" fmla="*/ 0 h 1339211"/>
                  <a:gd name="connsiteX37" fmla="*/ 306850 w 306850"/>
                  <a:gd name="connsiteY37" fmla="*/ 0 h 1339211"/>
                  <a:gd name="connsiteX38" fmla="*/ 306850 w 306850"/>
                  <a:gd name="connsiteY38" fmla="*/ 1339211 h 1339211"/>
                  <a:gd name="connsiteX39" fmla="*/ 0 w 306850"/>
                  <a:gd name="connsiteY39" fmla="*/ 1339211 h 1339211"/>
                  <a:gd name="connsiteX0" fmla="*/ 99275 w 306850"/>
                  <a:gd name="connsiteY0" fmla="*/ 1277348 h 1520186"/>
                  <a:gd name="connsiteX1" fmla="*/ 99275 w 306850"/>
                  <a:gd name="connsiteY1" fmla="*/ 1331640 h 1520186"/>
                  <a:gd name="connsiteX2" fmla="*/ 207575 w 306850"/>
                  <a:gd name="connsiteY2" fmla="*/ 1331640 h 1520186"/>
                  <a:gd name="connsiteX3" fmla="*/ 207575 w 306850"/>
                  <a:gd name="connsiteY3" fmla="*/ 1277348 h 1520186"/>
                  <a:gd name="connsiteX4" fmla="*/ 99275 w 306850"/>
                  <a:gd name="connsiteY4" fmla="*/ 1277348 h 1520186"/>
                  <a:gd name="connsiteX5" fmla="*/ 99275 w 306850"/>
                  <a:gd name="connsiteY5" fmla="*/ 1155366 h 1520186"/>
                  <a:gd name="connsiteX6" fmla="*/ 99275 w 306850"/>
                  <a:gd name="connsiteY6" fmla="*/ 1209659 h 1520186"/>
                  <a:gd name="connsiteX7" fmla="*/ 207575 w 306850"/>
                  <a:gd name="connsiteY7" fmla="*/ 1209659 h 1520186"/>
                  <a:gd name="connsiteX8" fmla="*/ 207575 w 306850"/>
                  <a:gd name="connsiteY8" fmla="*/ 1155366 h 1520186"/>
                  <a:gd name="connsiteX9" fmla="*/ 99275 w 306850"/>
                  <a:gd name="connsiteY9" fmla="*/ 1155366 h 1520186"/>
                  <a:gd name="connsiteX10" fmla="*/ 99275 w 306850"/>
                  <a:gd name="connsiteY10" fmla="*/ 1033384 h 1520186"/>
                  <a:gd name="connsiteX11" fmla="*/ 99275 w 306850"/>
                  <a:gd name="connsiteY11" fmla="*/ 1087677 h 1520186"/>
                  <a:gd name="connsiteX12" fmla="*/ 207575 w 306850"/>
                  <a:gd name="connsiteY12" fmla="*/ 1087677 h 1520186"/>
                  <a:gd name="connsiteX13" fmla="*/ 207575 w 306850"/>
                  <a:gd name="connsiteY13" fmla="*/ 1033384 h 1520186"/>
                  <a:gd name="connsiteX14" fmla="*/ 99275 w 306850"/>
                  <a:gd name="connsiteY14" fmla="*/ 1033384 h 1520186"/>
                  <a:gd name="connsiteX15" fmla="*/ 99275 w 306850"/>
                  <a:gd name="connsiteY15" fmla="*/ 911402 h 1520186"/>
                  <a:gd name="connsiteX16" fmla="*/ 99275 w 306850"/>
                  <a:gd name="connsiteY16" fmla="*/ 965695 h 1520186"/>
                  <a:gd name="connsiteX17" fmla="*/ 207575 w 306850"/>
                  <a:gd name="connsiteY17" fmla="*/ 965695 h 1520186"/>
                  <a:gd name="connsiteX18" fmla="*/ 207575 w 306850"/>
                  <a:gd name="connsiteY18" fmla="*/ 911402 h 1520186"/>
                  <a:gd name="connsiteX19" fmla="*/ 99275 w 306850"/>
                  <a:gd name="connsiteY19" fmla="*/ 911402 h 1520186"/>
                  <a:gd name="connsiteX20" fmla="*/ 99275 w 306850"/>
                  <a:gd name="connsiteY20" fmla="*/ 789421 h 1520186"/>
                  <a:gd name="connsiteX21" fmla="*/ 99275 w 306850"/>
                  <a:gd name="connsiteY21" fmla="*/ 843713 h 1520186"/>
                  <a:gd name="connsiteX22" fmla="*/ 207575 w 306850"/>
                  <a:gd name="connsiteY22" fmla="*/ 843713 h 1520186"/>
                  <a:gd name="connsiteX23" fmla="*/ 207575 w 306850"/>
                  <a:gd name="connsiteY23" fmla="*/ 789421 h 1520186"/>
                  <a:gd name="connsiteX24" fmla="*/ 99275 w 306850"/>
                  <a:gd name="connsiteY24" fmla="*/ 789421 h 1520186"/>
                  <a:gd name="connsiteX25" fmla="*/ 99275 w 306850"/>
                  <a:gd name="connsiteY25" fmla="*/ 667439 h 1520186"/>
                  <a:gd name="connsiteX26" fmla="*/ 99275 w 306850"/>
                  <a:gd name="connsiteY26" fmla="*/ 721731 h 1520186"/>
                  <a:gd name="connsiteX27" fmla="*/ 207575 w 306850"/>
                  <a:gd name="connsiteY27" fmla="*/ 721731 h 1520186"/>
                  <a:gd name="connsiteX28" fmla="*/ 207575 w 306850"/>
                  <a:gd name="connsiteY28" fmla="*/ 667439 h 1520186"/>
                  <a:gd name="connsiteX29" fmla="*/ 99275 w 306850"/>
                  <a:gd name="connsiteY29" fmla="*/ 667439 h 1520186"/>
                  <a:gd name="connsiteX30" fmla="*/ 99275 w 306850"/>
                  <a:gd name="connsiteY30" fmla="*/ 545457 h 1520186"/>
                  <a:gd name="connsiteX31" fmla="*/ 99275 w 306850"/>
                  <a:gd name="connsiteY31" fmla="*/ 599749 h 1520186"/>
                  <a:gd name="connsiteX32" fmla="*/ 207575 w 306850"/>
                  <a:gd name="connsiteY32" fmla="*/ 599749 h 1520186"/>
                  <a:gd name="connsiteX33" fmla="*/ 207575 w 306850"/>
                  <a:gd name="connsiteY33" fmla="*/ 545457 h 1520186"/>
                  <a:gd name="connsiteX34" fmla="*/ 99275 w 306850"/>
                  <a:gd name="connsiteY34" fmla="*/ 545457 h 1520186"/>
                  <a:gd name="connsiteX35" fmla="*/ 99275 w 306850"/>
                  <a:gd name="connsiteY35" fmla="*/ 423475 h 1520186"/>
                  <a:gd name="connsiteX36" fmla="*/ 99275 w 306850"/>
                  <a:gd name="connsiteY36" fmla="*/ 477767 h 1520186"/>
                  <a:gd name="connsiteX37" fmla="*/ 207575 w 306850"/>
                  <a:gd name="connsiteY37" fmla="*/ 477767 h 1520186"/>
                  <a:gd name="connsiteX38" fmla="*/ 207575 w 306850"/>
                  <a:gd name="connsiteY38" fmla="*/ 423475 h 1520186"/>
                  <a:gd name="connsiteX39" fmla="*/ 99275 w 306850"/>
                  <a:gd name="connsiteY39" fmla="*/ 423475 h 1520186"/>
                  <a:gd name="connsiteX40" fmla="*/ 99275 w 306850"/>
                  <a:gd name="connsiteY40" fmla="*/ 301493 h 1520186"/>
                  <a:gd name="connsiteX41" fmla="*/ 99275 w 306850"/>
                  <a:gd name="connsiteY41" fmla="*/ 355786 h 1520186"/>
                  <a:gd name="connsiteX42" fmla="*/ 207575 w 306850"/>
                  <a:gd name="connsiteY42" fmla="*/ 355786 h 1520186"/>
                  <a:gd name="connsiteX43" fmla="*/ 207575 w 306850"/>
                  <a:gd name="connsiteY43" fmla="*/ 301493 h 1520186"/>
                  <a:gd name="connsiteX44" fmla="*/ 99275 w 306850"/>
                  <a:gd name="connsiteY44" fmla="*/ 301493 h 1520186"/>
                  <a:gd name="connsiteX45" fmla="*/ 0 w 306850"/>
                  <a:gd name="connsiteY45" fmla="*/ 180975 h 1520186"/>
                  <a:gd name="connsiteX46" fmla="*/ 297325 w 306850"/>
                  <a:gd name="connsiteY46" fmla="*/ 0 h 1520186"/>
                  <a:gd name="connsiteX47" fmla="*/ 306850 w 306850"/>
                  <a:gd name="connsiteY47" fmla="*/ 1520186 h 1520186"/>
                  <a:gd name="connsiteX48" fmla="*/ 0 w 306850"/>
                  <a:gd name="connsiteY48" fmla="*/ 1520186 h 1520186"/>
                  <a:gd name="connsiteX49" fmla="*/ 0 w 306850"/>
                  <a:gd name="connsiteY49" fmla="*/ 180975 h 1520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306850" h="1520186">
                    <a:moveTo>
                      <a:pt x="99275" y="1277348"/>
                    </a:moveTo>
                    <a:lnTo>
                      <a:pt x="99275" y="1331640"/>
                    </a:lnTo>
                    <a:lnTo>
                      <a:pt x="207575" y="1331640"/>
                    </a:lnTo>
                    <a:lnTo>
                      <a:pt x="207575" y="1277348"/>
                    </a:lnTo>
                    <a:lnTo>
                      <a:pt x="99275" y="1277348"/>
                    </a:lnTo>
                    <a:close/>
                    <a:moveTo>
                      <a:pt x="99275" y="1155366"/>
                    </a:moveTo>
                    <a:lnTo>
                      <a:pt x="99275" y="1209659"/>
                    </a:lnTo>
                    <a:lnTo>
                      <a:pt x="207575" y="1209659"/>
                    </a:lnTo>
                    <a:lnTo>
                      <a:pt x="207575" y="1155366"/>
                    </a:lnTo>
                    <a:lnTo>
                      <a:pt x="99275" y="1155366"/>
                    </a:lnTo>
                    <a:close/>
                    <a:moveTo>
                      <a:pt x="99275" y="1033384"/>
                    </a:moveTo>
                    <a:lnTo>
                      <a:pt x="99275" y="1087677"/>
                    </a:lnTo>
                    <a:lnTo>
                      <a:pt x="207575" y="1087677"/>
                    </a:lnTo>
                    <a:lnTo>
                      <a:pt x="207575" y="1033384"/>
                    </a:lnTo>
                    <a:lnTo>
                      <a:pt x="99275" y="1033384"/>
                    </a:lnTo>
                    <a:close/>
                    <a:moveTo>
                      <a:pt x="99275" y="911402"/>
                    </a:moveTo>
                    <a:lnTo>
                      <a:pt x="99275" y="965695"/>
                    </a:lnTo>
                    <a:lnTo>
                      <a:pt x="207575" y="965695"/>
                    </a:lnTo>
                    <a:lnTo>
                      <a:pt x="207575" y="911402"/>
                    </a:lnTo>
                    <a:lnTo>
                      <a:pt x="99275" y="911402"/>
                    </a:lnTo>
                    <a:close/>
                    <a:moveTo>
                      <a:pt x="99275" y="789421"/>
                    </a:moveTo>
                    <a:lnTo>
                      <a:pt x="99275" y="843713"/>
                    </a:lnTo>
                    <a:lnTo>
                      <a:pt x="207575" y="843713"/>
                    </a:lnTo>
                    <a:lnTo>
                      <a:pt x="207575" y="789421"/>
                    </a:lnTo>
                    <a:lnTo>
                      <a:pt x="99275" y="789421"/>
                    </a:lnTo>
                    <a:close/>
                    <a:moveTo>
                      <a:pt x="99275" y="667439"/>
                    </a:moveTo>
                    <a:lnTo>
                      <a:pt x="99275" y="721731"/>
                    </a:lnTo>
                    <a:lnTo>
                      <a:pt x="207575" y="721731"/>
                    </a:lnTo>
                    <a:lnTo>
                      <a:pt x="207575" y="667439"/>
                    </a:lnTo>
                    <a:lnTo>
                      <a:pt x="99275" y="667439"/>
                    </a:lnTo>
                    <a:close/>
                    <a:moveTo>
                      <a:pt x="99275" y="545457"/>
                    </a:moveTo>
                    <a:lnTo>
                      <a:pt x="99275" y="599749"/>
                    </a:lnTo>
                    <a:lnTo>
                      <a:pt x="207575" y="599749"/>
                    </a:lnTo>
                    <a:lnTo>
                      <a:pt x="207575" y="545457"/>
                    </a:lnTo>
                    <a:lnTo>
                      <a:pt x="99275" y="545457"/>
                    </a:lnTo>
                    <a:close/>
                    <a:moveTo>
                      <a:pt x="99275" y="423475"/>
                    </a:moveTo>
                    <a:lnTo>
                      <a:pt x="99275" y="477767"/>
                    </a:lnTo>
                    <a:lnTo>
                      <a:pt x="207575" y="477767"/>
                    </a:lnTo>
                    <a:lnTo>
                      <a:pt x="207575" y="423475"/>
                    </a:lnTo>
                    <a:lnTo>
                      <a:pt x="99275" y="423475"/>
                    </a:lnTo>
                    <a:close/>
                    <a:moveTo>
                      <a:pt x="99275" y="301493"/>
                    </a:moveTo>
                    <a:lnTo>
                      <a:pt x="99275" y="355786"/>
                    </a:lnTo>
                    <a:lnTo>
                      <a:pt x="207575" y="355786"/>
                    </a:lnTo>
                    <a:lnTo>
                      <a:pt x="207575" y="301493"/>
                    </a:lnTo>
                    <a:lnTo>
                      <a:pt x="99275" y="301493"/>
                    </a:lnTo>
                    <a:close/>
                    <a:moveTo>
                      <a:pt x="0" y="180975"/>
                    </a:moveTo>
                    <a:lnTo>
                      <a:pt x="297325" y="0"/>
                    </a:lnTo>
                    <a:lnTo>
                      <a:pt x="306850" y="1520186"/>
                    </a:lnTo>
                    <a:lnTo>
                      <a:pt x="0" y="1520186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026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xmlns="" id="{8AB19738-EE19-4B71-AF87-297FFDD95F5F}"/>
                  </a:ext>
                </a:extLst>
              </p:cNvPr>
              <p:cNvSpPr/>
              <p:nvPr/>
            </p:nvSpPr>
            <p:spPr>
              <a:xfrm>
                <a:off x="7673737" y="3386055"/>
                <a:ext cx="602196" cy="870531"/>
              </a:xfrm>
              <a:custGeom>
                <a:avLst/>
                <a:gdLst>
                  <a:gd name="connsiteX0" fmla="*/ 238494 w 462454"/>
                  <a:gd name="connsiteY0" fmla="*/ 563076 h 870531"/>
                  <a:gd name="connsiteX1" fmla="*/ 238494 w 462454"/>
                  <a:gd name="connsiteY1" fmla="*/ 715154 h 870531"/>
                  <a:gd name="connsiteX2" fmla="*/ 324676 w 462454"/>
                  <a:gd name="connsiteY2" fmla="*/ 715154 h 870531"/>
                  <a:gd name="connsiteX3" fmla="*/ 324676 w 462454"/>
                  <a:gd name="connsiteY3" fmla="*/ 563076 h 870531"/>
                  <a:gd name="connsiteX4" fmla="*/ 238494 w 462454"/>
                  <a:gd name="connsiteY4" fmla="*/ 353251 h 870531"/>
                  <a:gd name="connsiteX5" fmla="*/ 238494 w 462454"/>
                  <a:gd name="connsiteY5" fmla="*/ 505329 h 870531"/>
                  <a:gd name="connsiteX6" fmla="*/ 324676 w 462454"/>
                  <a:gd name="connsiteY6" fmla="*/ 505329 h 870531"/>
                  <a:gd name="connsiteX7" fmla="*/ 324676 w 462454"/>
                  <a:gd name="connsiteY7" fmla="*/ 353251 h 870531"/>
                  <a:gd name="connsiteX8" fmla="*/ 231227 w 462454"/>
                  <a:gd name="connsiteY8" fmla="*/ 0 h 870531"/>
                  <a:gd name="connsiteX9" fmla="*/ 462454 w 462454"/>
                  <a:gd name="connsiteY9" fmla="*/ 308459 h 870531"/>
                  <a:gd name="connsiteX10" fmla="*/ 384652 w 462454"/>
                  <a:gd name="connsiteY10" fmla="*/ 308459 h 870531"/>
                  <a:gd name="connsiteX11" fmla="*/ 384652 w 462454"/>
                  <a:gd name="connsiteY11" fmla="*/ 870531 h 870531"/>
                  <a:gd name="connsiteX12" fmla="*/ 77802 w 462454"/>
                  <a:gd name="connsiteY12" fmla="*/ 870531 h 870531"/>
                  <a:gd name="connsiteX13" fmla="*/ 77802 w 462454"/>
                  <a:gd name="connsiteY13" fmla="*/ 308459 h 870531"/>
                  <a:gd name="connsiteX14" fmla="*/ 0 w 462454"/>
                  <a:gd name="connsiteY14" fmla="*/ 308459 h 870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62454" h="870531">
                    <a:moveTo>
                      <a:pt x="238494" y="563076"/>
                    </a:moveTo>
                    <a:lnTo>
                      <a:pt x="238494" y="715154"/>
                    </a:lnTo>
                    <a:lnTo>
                      <a:pt x="324676" y="715154"/>
                    </a:lnTo>
                    <a:lnTo>
                      <a:pt x="324676" y="563076"/>
                    </a:lnTo>
                    <a:close/>
                    <a:moveTo>
                      <a:pt x="238494" y="353251"/>
                    </a:moveTo>
                    <a:lnTo>
                      <a:pt x="238494" y="505329"/>
                    </a:lnTo>
                    <a:lnTo>
                      <a:pt x="324676" y="505329"/>
                    </a:lnTo>
                    <a:lnTo>
                      <a:pt x="324676" y="353251"/>
                    </a:lnTo>
                    <a:close/>
                    <a:moveTo>
                      <a:pt x="231227" y="0"/>
                    </a:moveTo>
                    <a:lnTo>
                      <a:pt x="462454" y="308459"/>
                    </a:lnTo>
                    <a:lnTo>
                      <a:pt x="384652" y="308459"/>
                    </a:lnTo>
                    <a:lnTo>
                      <a:pt x="384652" y="870531"/>
                    </a:lnTo>
                    <a:lnTo>
                      <a:pt x="77802" y="870531"/>
                    </a:lnTo>
                    <a:lnTo>
                      <a:pt x="77802" y="308459"/>
                    </a:lnTo>
                    <a:lnTo>
                      <a:pt x="0" y="3084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CB06252B-9018-4237-8DB9-10D51B4066CB}"/>
                  </a:ext>
                </a:extLst>
              </p:cNvPr>
              <p:cNvSpPr/>
              <p:nvPr/>
            </p:nvSpPr>
            <p:spPr>
              <a:xfrm>
                <a:off x="7084624" y="3097854"/>
                <a:ext cx="399552" cy="1158732"/>
              </a:xfrm>
              <a:custGeom>
                <a:avLst/>
                <a:gdLst>
                  <a:gd name="connsiteX0" fmla="*/ 159201 w 408118"/>
                  <a:gd name="connsiteY0" fmla="*/ 578755 h 1158732"/>
                  <a:gd name="connsiteX1" fmla="*/ 159201 w 408118"/>
                  <a:gd name="connsiteY1" fmla="*/ 665832 h 1158732"/>
                  <a:gd name="connsiteX2" fmla="*/ 248917 w 408118"/>
                  <a:gd name="connsiteY2" fmla="*/ 665832 h 1158732"/>
                  <a:gd name="connsiteX3" fmla="*/ 248917 w 408118"/>
                  <a:gd name="connsiteY3" fmla="*/ 578755 h 1158732"/>
                  <a:gd name="connsiteX4" fmla="*/ 159201 w 408118"/>
                  <a:gd name="connsiteY4" fmla="*/ 578755 h 1158732"/>
                  <a:gd name="connsiteX5" fmla="*/ 278823 w 408118"/>
                  <a:gd name="connsiteY5" fmla="*/ 576996 h 1158732"/>
                  <a:gd name="connsiteX6" fmla="*/ 278823 w 408118"/>
                  <a:gd name="connsiteY6" fmla="*/ 664073 h 1158732"/>
                  <a:gd name="connsiteX7" fmla="*/ 365020 w 408118"/>
                  <a:gd name="connsiteY7" fmla="*/ 664073 h 1158732"/>
                  <a:gd name="connsiteX8" fmla="*/ 365020 w 408118"/>
                  <a:gd name="connsiteY8" fmla="*/ 576996 h 1158732"/>
                  <a:gd name="connsiteX9" fmla="*/ 278823 w 408118"/>
                  <a:gd name="connsiteY9" fmla="*/ 576996 h 1158732"/>
                  <a:gd name="connsiteX10" fmla="*/ 43979 w 408118"/>
                  <a:gd name="connsiteY10" fmla="*/ 576996 h 1158732"/>
                  <a:gd name="connsiteX11" fmla="*/ 43979 w 408118"/>
                  <a:gd name="connsiteY11" fmla="*/ 664952 h 1158732"/>
                  <a:gd name="connsiteX12" fmla="*/ 131935 w 408118"/>
                  <a:gd name="connsiteY12" fmla="*/ 665832 h 1158732"/>
                  <a:gd name="connsiteX13" fmla="*/ 132814 w 408118"/>
                  <a:gd name="connsiteY13" fmla="*/ 576996 h 1158732"/>
                  <a:gd name="connsiteX14" fmla="*/ 43979 w 408118"/>
                  <a:gd name="connsiteY14" fmla="*/ 576996 h 1158732"/>
                  <a:gd name="connsiteX15" fmla="*/ 160960 w 408118"/>
                  <a:gd name="connsiteY15" fmla="*/ 449459 h 1158732"/>
                  <a:gd name="connsiteX16" fmla="*/ 160960 w 408118"/>
                  <a:gd name="connsiteY16" fmla="*/ 539174 h 1158732"/>
                  <a:gd name="connsiteX17" fmla="*/ 248917 w 408118"/>
                  <a:gd name="connsiteY17" fmla="*/ 539174 h 1158732"/>
                  <a:gd name="connsiteX18" fmla="*/ 248917 w 408118"/>
                  <a:gd name="connsiteY18" fmla="*/ 449459 h 1158732"/>
                  <a:gd name="connsiteX19" fmla="*/ 160960 w 408118"/>
                  <a:gd name="connsiteY19" fmla="*/ 449459 h 1158732"/>
                  <a:gd name="connsiteX20" fmla="*/ 44858 w 408118"/>
                  <a:gd name="connsiteY20" fmla="*/ 449459 h 1158732"/>
                  <a:gd name="connsiteX21" fmla="*/ 44858 w 408118"/>
                  <a:gd name="connsiteY21" fmla="*/ 539174 h 1158732"/>
                  <a:gd name="connsiteX22" fmla="*/ 131935 w 408118"/>
                  <a:gd name="connsiteY22" fmla="*/ 539174 h 1158732"/>
                  <a:gd name="connsiteX23" fmla="*/ 131935 w 408118"/>
                  <a:gd name="connsiteY23" fmla="*/ 449459 h 1158732"/>
                  <a:gd name="connsiteX24" fmla="*/ 44858 w 408118"/>
                  <a:gd name="connsiteY24" fmla="*/ 449459 h 1158732"/>
                  <a:gd name="connsiteX25" fmla="*/ 278823 w 408118"/>
                  <a:gd name="connsiteY25" fmla="*/ 448579 h 1158732"/>
                  <a:gd name="connsiteX26" fmla="*/ 278823 w 408118"/>
                  <a:gd name="connsiteY26" fmla="*/ 538295 h 1158732"/>
                  <a:gd name="connsiteX27" fmla="*/ 365020 w 408118"/>
                  <a:gd name="connsiteY27" fmla="*/ 538295 h 1158732"/>
                  <a:gd name="connsiteX28" fmla="*/ 365020 w 408118"/>
                  <a:gd name="connsiteY28" fmla="*/ 448579 h 1158732"/>
                  <a:gd name="connsiteX29" fmla="*/ 278823 w 408118"/>
                  <a:gd name="connsiteY29" fmla="*/ 448579 h 1158732"/>
                  <a:gd name="connsiteX30" fmla="*/ 277943 w 408118"/>
                  <a:gd name="connsiteY30" fmla="*/ 318403 h 1158732"/>
                  <a:gd name="connsiteX31" fmla="*/ 277943 w 408118"/>
                  <a:gd name="connsiteY31" fmla="*/ 408999 h 1158732"/>
                  <a:gd name="connsiteX32" fmla="*/ 366779 w 408118"/>
                  <a:gd name="connsiteY32" fmla="*/ 408999 h 1158732"/>
                  <a:gd name="connsiteX33" fmla="*/ 366779 w 408118"/>
                  <a:gd name="connsiteY33" fmla="*/ 318403 h 1158732"/>
                  <a:gd name="connsiteX34" fmla="*/ 277943 w 408118"/>
                  <a:gd name="connsiteY34" fmla="*/ 318403 h 1158732"/>
                  <a:gd name="connsiteX35" fmla="*/ 159201 w 408118"/>
                  <a:gd name="connsiteY35" fmla="*/ 318403 h 1158732"/>
                  <a:gd name="connsiteX36" fmla="*/ 159201 w 408118"/>
                  <a:gd name="connsiteY36" fmla="*/ 407239 h 1158732"/>
                  <a:gd name="connsiteX37" fmla="*/ 249797 w 408118"/>
                  <a:gd name="connsiteY37" fmla="*/ 407239 h 1158732"/>
                  <a:gd name="connsiteX38" fmla="*/ 249797 w 408118"/>
                  <a:gd name="connsiteY38" fmla="*/ 318403 h 1158732"/>
                  <a:gd name="connsiteX39" fmla="*/ 159201 w 408118"/>
                  <a:gd name="connsiteY39" fmla="*/ 318403 h 1158732"/>
                  <a:gd name="connsiteX40" fmla="*/ 43979 w 408118"/>
                  <a:gd name="connsiteY40" fmla="*/ 318403 h 1158732"/>
                  <a:gd name="connsiteX41" fmla="*/ 43979 w 408118"/>
                  <a:gd name="connsiteY41" fmla="*/ 408119 h 1158732"/>
                  <a:gd name="connsiteX42" fmla="*/ 131935 w 408118"/>
                  <a:gd name="connsiteY42" fmla="*/ 408119 h 1158732"/>
                  <a:gd name="connsiteX43" fmla="*/ 131935 w 408118"/>
                  <a:gd name="connsiteY43" fmla="*/ 318403 h 1158732"/>
                  <a:gd name="connsiteX44" fmla="*/ 43979 w 408118"/>
                  <a:gd name="connsiteY44" fmla="*/ 318403 h 1158732"/>
                  <a:gd name="connsiteX45" fmla="*/ 43098 w 408118"/>
                  <a:gd name="connsiteY45" fmla="*/ 187348 h 1158732"/>
                  <a:gd name="connsiteX46" fmla="*/ 43098 w 408118"/>
                  <a:gd name="connsiteY46" fmla="*/ 279702 h 1158732"/>
                  <a:gd name="connsiteX47" fmla="*/ 132814 w 408118"/>
                  <a:gd name="connsiteY47" fmla="*/ 279702 h 1158732"/>
                  <a:gd name="connsiteX48" fmla="*/ 132814 w 408118"/>
                  <a:gd name="connsiteY48" fmla="*/ 187348 h 1158732"/>
                  <a:gd name="connsiteX49" fmla="*/ 43098 w 408118"/>
                  <a:gd name="connsiteY49" fmla="*/ 187348 h 1158732"/>
                  <a:gd name="connsiteX50" fmla="*/ 43979 w 408118"/>
                  <a:gd name="connsiteY50" fmla="*/ 60690 h 1158732"/>
                  <a:gd name="connsiteX51" fmla="*/ 43979 w 408118"/>
                  <a:gd name="connsiteY51" fmla="*/ 152166 h 1158732"/>
                  <a:gd name="connsiteX52" fmla="*/ 133694 w 408118"/>
                  <a:gd name="connsiteY52" fmla="*/ 152166 h 1158732"/>
                  <a:gd name="connsiteX53" fmla="*/ 133694 w 408118"/>
                  <a:gd name="connsiteY53" fmla="*/ 60690 h 1158732"/>
                  <a:gd name="connsiteX54" fmla="*/ 43979 w 408118"/>
                  <a:gd name="connsiteY54" fmla="*/ 60690 h 1158732"/>
                  <a:gd name="connsiteX55" fmla="*/ 0 w 408118"/>
                  <a:gd name="connsiteY55" fmla="*/ 0 h 1158732"/>
                  <a:gd name="connsiteX56" fmla="*/ 155702 w 408118"/>
                  <a:gd name="connsiteY56" fmla="*/ 0 h 1158732"/>
                  <a:gd name="connsiteX57" fmla="*/ 155702 w 408118"/>
                  <a:gd name="connsiteY57" fmla="*/ 281913 h 1158732"/>
                  <a:gd name="connsiteX58" fmla="*/ 277943 w 408118"/>
                  <a:gd name="connsiteY58" fmla="*/ 281913 h 1158732"/>
                  <a:gd name="connsiteX59" fmla="*/ 277943 w 408118"/>
                  <a:gd name="connsiteY59" fmla="*/ 282341 h 1158732"/>
                  <a:gd name="connsiteX60" fmla="*/ 366779 w 408118"/>
                  <a:gd name="connsiteY60" fmla="*/ 282341 h 1158732"/>
                  <a:gd name="connsiteX61" fmla="*/ 366779 w 408118"/>
                  <a:gd name="connsiteY61" fmla="*/ 281913 h 1158732"/>
                  <a:gd name="connsiteX62" fmla="*/ 408118 w 408118"/>
                  <a:gd name="connsiteY62" fmla="*/ 281913 h 1158732"/>
                  <a:gd name="connsiteX63" fmla="*/ 408118 w 408118"/>
                  <a:gd name="connsiteY63" fmla="*/ 1158732 h 1158732"/>
                  <a:gd name="connsiteX64" fmla="*/ 0 w 408118"/>
                  <a:gd name="connsiteY64" fmla="*/ 1158732 h 1158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408118" h="1158732">
                    <a:moveTo>
                      <a:pt x="159201" y="578755"/>
                    </a:moveTo>
                    <a:cubicBezTo>
                      <a:pt x="159201" y="608660"/>
                      <a:pt x="159201" y="638565"/>
                      <a:pt x="159201" y="665832"/>
                    </a:cubicBezTo>
                    <a:cubicBezTo>
                      <a:pt x="189986" y="668470"/>
                      <a:pt x="222530" y="665832"/>
                      <a:pt x="248917" y="665832"/>
                    </a:cubicBezTo>
                    <a:cubicBezTo>
                      <a:pt x="248917" y="634168"/>
                      <a:pt x="248917" y="608660"/>
                      <a:pt x="248917" y="578755"/>
                    </a:cubicBezTo>
                    <a:cubicBezTo>
                      <a:pt x="217253" y="578755"/>
                      <a:pt x="188227" y="578755"/>
                      <a:pt x="159201" y="578755"/>
                    </a:cubicBezTo>
                    <a:close/>
                    <a:moveTo>
                      <a:pt x="278823" y="576996"/>
                    </a:moveTo>
                    <a:cubicBezTo>
                      <a:pt x="278823" y="606901"/>
                      <a:pt x="278823" y="632408"/>
                      <a:pt x="278823" y="664073"/>
                    </a:cubicBezTo>
                    <a:cubicBezTo>
                      <a:pt x="311366" y="664073"/>
                      <a:pt x="346549" y="664952"/>
                      <a:pt x="365020" y="664073"/>
                    </a:cubicBezTo>
                    <a:cubicBezTo>
                      <a:pt x="365020" y="632408"/>
                      <a:pt x="365020" y="606021"/>
                      <a:pt x="365020" y="576996"/>
                    </a:cubicBezTo>
                    <a:cubicBezTo>
                      <a:pt x="335114" y="576996"/>
                      <a:pt x="306968" y="576996"/>
                      <a:pt x="278823" y="576996"/>
                    </a:cubicBezTo>
                    <a:close/>
                    <a:moveTo>
                      <a:pt x="43979" y="576996"/>
                    </a:moveTo>
                    <a:cubicBezTo>
                      <a:pt x="43979" y="605142"/>
                      <a:pt x="43979" y="638565"/>
                      <a:pt x="43979" y="664952"/>
                    </a:cubicBezTo>
                    <a:cubicBezTo>
                      <a:pt x="81799" y="664952"/>
                      <a:pt x="105548" y="664073"/>
                      <a:pt x="131935" y="665832"/>
                    </a:cubicBezTo>
                    <a:cubicBezTo>
                      <a:pt x="131935" y="631529"/>
                      <a:pt x="132814" y="602503"/>
                      <a:pt x="132814" y="576996"/>
                    </a:cubicBezTo>
                    <a:cubicBezTo>
                      <a:pt x="102030" y="576996"/>
                      <a:pt x="73884" y="576996"/>
                      <a:pt x="43979" y="576996"/>
                    </a:cubicBezTo>
                    <a:close/>
                    <a:moveTo>
                      <a:pt x="160960" y="449459"/>
                    </a:moveTo>
                    <a:cubicBezTo>
                      <a:pt x="160960" y="481123"/>
                      <a:pt x="160960" y="509268"/>
                      <a:pt x="160960" y="539174"/>
                    </a:cubicBezTo>
                    <a:cubicBezTo>
                      <a:pt x="189986" y="539174"/>
                      <a:pt x="217253" y="539174"/>
                      <a:pt x="248917" y="539174"/>
                    </a:cubicBezTo>
                    <a:cubicBezTo>
                      <a:pt x="248917" y="506630"/>
                      <a:pt x="248917" y="477604"/>
                      <a:pt x="248917" y="449459"/>
                    </a:cubicBezTo>
                    <a:cubicBezTo>
                      <a:pt x="218132" y="449459"/>
                      <a:pt x="189107" y="449459"/>
                      <a:pt x="160960" y="449459"/>
                    </a:cubicBezTo>
                    <a:close/>
                    <a:moveTo>
                      <a:pt x="44858" y="449459"/>
                    </a:moveTo>
                    <a:cubicBezTo>
                      <a:pt x="44858" y="481123"/>
                      <a:pt x="44858" y="509268"/>
                      <a:pt x="44858" y="539174"/>
                    </a:cubicBezTo>
                    <a:cubicBezTo>
                      <a:pt x="75643" y="539174"/>
                      <a:pt x="102910" y="539174"/>
                      <a:pt x="131935" y="539174"/>
                    </a:cubicBezTo>
                    <a:cubicBezTo>
                      <a:pt x="131935" y="505751"/>
                      <a:pt x="131935" y="477604"/>
                      <a:pt x="131935" y="449459"/>
                    </a:cubicBezTo>
                    <a:cubicBezTo>
                      <a:pt x="100271" y="449459"/>
                      <a:pt x="72125" y="449459"/>
                      <a:pt x="44858" y="449459"/>
                    </a:cubicBezTo>
                    <a:close/>
                    <a:moveTo>
                      <a:pt x="278823" y="448579"/>
                    </a:moveTo>
                    <a:cubicBezTo>
                      <a:pt x="278823" y="479364"/>
                      <a:pt x="278823" y="508389"/>
                      <a:pt x="278823" y="538295"/>
                    </a:cubicBezTo>
                    <a:cubicBezTo>
                      <a:pt x="308727" y="538295"/>
                      <a:pt x="335994" y="538295"/>
                      <a:pt x="365020" y="538295"/>
                    </a:cubicBezTo>
                    <a:cubicBezTo>
                      <a:pt x="365020" y="507510"/>
                      <a:pt x="365020" y="478484"/>
                      <a:pt x="365020" y="448579"/>
                    </a:cubicBezTo>
                    <a:cubicBezTo>
                      <a:pt x="335994" y="448579"/>
                      <a:pt x="308727" y="448579"/>
                      <a:pt x="278823" y="448579"/>
                    </a:cubicBezTo>
                    <a:close/>
                    <a:moveTo>
                      <a:pt x="277943" y="318403"/>
                    </a:moveTo>
                    <a:cubicBezTo>
                      <a:pt x="277943" y="350067"/>
                      <a:pt x="277943" y="379094"/>
                      <a:pt x="277943" y="408999"/>
                    </a:cubicBezTo>
                    <a:cubicBezTo>
                      <a:pt x="309607" y="408999"/>
                      <a:pt x="337753" y="408999"/>
                      <a:pt x="366779" y="408999"/>
                    </a:cubicBezTo>
                    <a:cubicBezTo>
                      <a:pt x="366779" y="378214"/>
                      <a:pt x="366779" y="349187"/>
                      <a:pt x="366779" y="318403"/>
                    </a:cubicBezTo>
                    <a:cubicBezTo>
                      <a:pt x="336873" y="318403"/>
                      <a:pt x="307848" y="318403"/>
                      <a:pt x="277943" y="318403"/>
                    </a:cubicBezTo>
                    <a:close/>
                    <a:moveTo>
                      <a:pt x="159201" y="318403"/>
                    </a:moveTo>
                    <a:cubicBezTo>
                      <a:pt x="159201" y="349187"/>
                      <a:pt x="159201" y="378214"/>
                      <a:pt x="159201" y="407239"/>
                    </a:cubicBezTo>
                    <a:cubicBezTo>
                      <a:pt x="190866" y="407239"/>
                      <a:pt x="219892" y="407239"/>
                      <a:pt x="249797" y="407239"/>
                    </a:cubicBezTo>
                    <a:cubicBezTo>
                      <a:pt x="249797" y="376454"/>
                      <a:pt x="249797" y="349187"/>
                      <a:pt x="249797" y="318403"/>
                    </a:cubicBezTo>
                    <a:cubicBezTo>
                      <a:pt x="217253" y="318403"/>
                      <a:pt x="188227" y="318403"/>
                      <a:pt x="159201" y="318403"/>
                    </a:cubicBezTo>
                    <a:close/>
                    <a:moveTo>
                      <a:pt x="43979" y="318403"/>
                    </a:moveTo>
                    <a:cubicBezTo>
                      <a:pt x="43979" y="349187"/>
                      <a:pt x="43979" y="378214"/>
                      <a:pt x="43979" y="408119"/>
                    </a:cubicBezTo>
                    <a:cubicBezTo>
                      <a:pt x="74764" y="408119"/>
                      <a:pt x="102910" y="408119"/>
                      <a:pt x="131935" y="408119"/>
                    </a:cubicBezTo>
                    <a:cubicBezTo>
                      <a:pt x="131935" y="376454"/>
                      <a:pt x="131935" y="347429"/>
                      <a:pt x="131935" y="318403"/>
                    </a:cubicBezTo>
                    <a:cubicBezTo>
                      <a:pt x="100271" y="318403"/>
                      <a:pt x="72125" y="318403"/>
                      <a:pt x="43979" y="318403"/>
                    </a:cubicBezTo>
                    <a:close/>
                    <a:moveTo>
                      <a:pt x="43098" y="187348"/>
                    </a:moveTo>
                    <a:cubicBezTo>
                      <a:pt x="43098" y="219892"/>
                      <a:pt x="43098" y="249797"/>
                      <a:pt x="43098" y="279702"/>
                    </a:cubicBezTo>
                    <a:cubicBezTo>
                      <a:pt x="74764" y="279702"/>
                      <a:pt x="104668" y="279702"/>
                      <a:pt x="132814" y="279702"/>
                    </a:cubicBezTo>
                    <a:cubicBezTo>
                      <a:pt x="132814" y="247159"/>
                      <a:pt x="132814" y="218133"/>
                      <a:pt x="132814" y="187348"/>
                    </a:cubicBezTo>
                    <a:cubicBezTo>
                      <a:pt x="102030" y="187348"/>
                      <a:pt x="73884" y="187348"/>
                      <a:pt x="43098" y="187348"/>
                    </a:cubicBezTo>
                    <a:close/>
                    <a:moveTo>
                      <a:pt x="43979" y="60690"/>
                    </a:moveTo>
                    <a:cubicBezTo>
                      <a:pt x="43979" y="93234"/>
                      <a:pt x="43979" y="122259"/>
                      <a:pt x="43979" y="152166"/>
                    </a:cubicBezTo>
                    <a:cubicBezTo>
                      <a:pt x="75643" y="152166"/>
                      <a:pt x="103789" y="152166"/>
                      <a:pt x="133694" y="152166"/>
                    </a:cubicBezTo>
                    <a:cubicBezTo>
                      <a:pt x="133694" y="121380"/>
                      <a:pt x="133694" y="93234"/>
                      <a:pt x="133694" y="60690"/>
                    </a:cubicBezTo>
                    <a:cubicBezTo>
                      <a:pt x="101151" y="60690"/>
                      <a:pt x="72125" y="60690"/>
                      <a:pt x="43979" y="60690"/>
                    </a:cubicBezTo>
                    <a:close/>
                    <a:moveTo>
                      <a:pt x="0" y="0"/>
                    </a:moveTo>
                    <a:lnTo>
                      <a:pt x="155702" y="0"/>
                    </a:lnTo>
                    <a:lnTo>
                      <a:pt x="155702" y="281913"/>
                    </a:lnTo>
                    <a:lnTo>
                      <a:pt x="277943" y="281913"/>
                    </a:lnTo>
                    <a:lnTo>
                      <a:pt x="277943" y="282341"/>
                    </a:lnTo>
                    <a:cubicBezTo>
                      <a:pt x="307848" y="282341"/>
                      <a:pt x="334235" y="282341"/>
                      <a:pt x="366779" y="282341"/>
                    </a:cubicBezTo>
                    <a:lnTo>
                      <a:pt x="366779" y="281913"/>
                    </a:lnTo>
                    <a:lnTo>
                      <a:pt x="408118" y="281913"/>
                    </a:lnTo>
                    <a:lnTo>
                      <a:pt x="408118" y="1158732"/>
                    </a:lnTo>
                    <a:lnTo>
                      <a:pt x="0" y="1158732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sz="135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xmlns="" id="{D816686D-75D3-419F-AC85-6CA2FEEB76FB}"/>
                  </a:ext>
                </a:extLst>
              </p:cNvPr>
              <p:cNvSpPr/>
              <p:nvPr/>
            </p:nvSpPr>
            <p:spPr>
              <a:xfrm flipH="1">
                <a:off x="4055658" y="3389508"/>
                <a:ext cx="299970" cy="869936"/>
              </a:xfrm>
              <a:custGeom>
                <a:avLst/>
                <a:gdLst>
                  <a:gd name="connsiteX0" fmla="*/ 159201 w 408118"/>
                  <a:gd name="connsiteY0" fmla="*/ 578755 h 1158732"/>
                  <a:gd name="connsiteX1" fmla="*/ 159201 w 408118"/>
                  <a:gd name="connsiteY1" fmla="*/ 665832 h 1158732"/>
                  <a:gd name="connsiteX2" fmla="*/ 248917 w 408118"/>
                  <a:gd name="connsiteY2" fmla="*/ 665832 h 1158732"/>
                  <a:gd name="connsiteX3" fmla="*/ 248917 w 408118"/>
                  <a:gd name="connsiteY3" fmla="*/ 578755 h 1158732"/>
                  <a:gd name="connsiteX4" fmla="*/ 159201 w 408118"/>
                  <a:gd name="connsiteY4" fmla="*/ 578755 h 1158732"/>
                  <a:gd name="connsiteX5" fmla="*/ 278823 w 408118"/>
                  <a:gd name="connsiteY5" fmla="*/ 576996 h 1158732"/>
                  <a:gd name="connsiteX6" fmla="*/ 278823 w 408118"/>
                  <a:gd name="connsiteY6" fmla="*/ 664073 h 1158732"/>
                  <a:gd name="connsiteX7" fmla="*/ 365020 w 408118"/>
                  <a:gd name="connsiteY7" fmla="*/ 664073 h 1158732"/>
                  <a:gd name="connsiteX8" fmla="*/ 365020 w 408118"/>
                  <a:gd name="connsiteY8" fmla="*/ 576996 h 1158732"/>
                  <a:gd name="connsiteX9" fmla="*/ 278823 w 408118"/>
                  <a:gd name="connsiteY9" fmla="*/ 576996 h 1158732"/>
                  <a:gd name="connsiteX10" fmla="*/ 43979 w 408118"/>
                  <a:gd name="connsiteY10" fmla="*/ 576996 h 1158732"/>
                  <a:gd name="connsiteX11" fmla="*/ 43979 w 408118"/>
                  <a:gd name="connsiteY11" fmla="*/ 664952 h 1158732"/>
                  <a:gd name="connsiteX12" fmla="*/ 131935 w 408118"/>
                  <a:gd name="connsiteY12" fmla="*/ 665832 h 1158732"/>
                  <a:gd name="connsiteX13" fmla="*/ 132814 w 408118"/>
                  <a:gd name="connsiteY13" fmla="*/ 576996 h 1158732"/>
                  <a:gd name="connsiteX14" fmla="*/ 43979 w 408118"/>
                  <a:gd name="connsiteY14" fmla="*/ 576996 h 1158732"/>
                  <a:gd name="connsiteX15" fmla="*/ 160960 w 408118"/>
                  <a:gd name="connsiteY15" fmla="*/ 449459 h 1158732"/>
                  <a:gd name="connsiteX16" fmla="*/ 160960 w 408118"/>
                  <a:gd name="connsiteY16" fmla="*/ 539174 h 1158732"/>
                  <a:gd name="connsiteX17" fmla="*/ 248917 w 408118"/>
                  <a:gd name="connsiteY17" fmla="*/ 539174 h 1158732"/>
                  <a:gd name="connsiteX18" fmla="*/ 248917 w 408118"/>
                  <a:gd name="connsiteY18" fmla="*/ 449459 h 1158732"/>
                  <a:gd name="connsiteX19" fmla="*/ 160960 w 408118"/>
                  <a:gd name="connsiteY19" fmla="*/ 449459 h 1158732"/>
                  <a:gd name="connsiteX20" fmla="*/ 44858 w 408118"/>
                  <a:gd name="connsiteY20" fmla="*/ 449459 h 1158732"/>
                  <a:gd name="connsiteX21" fmla="*/ 44858 w 408118"/>
                  <a:gd name="connsiteY21" fmla="*/ 539174 h 1158732"/>
                  <a:gd name="connsiteX22" fmla="*/ 131935 w 408118"/>
                  <a:gd name="connsiteY22" fmla="*/ 539174 h 1158732"/>
                  <a:gd name="connsiteX23" fmla="*/ 131935 w 408118"/>
                  <a:gd name="connsiteY23" fmla="*/ 449459 h 1158732"/>
                  <a:gd name="connsiteX24" fmla="*/ 44858 w 408118"/>
                  <a:gd name="connsiteY24" fmla="*/ 449459 h 1158732"/>
                  <a:gd name="connsiteX25" fmla="*/ 278823 w 408118"/>
                  <a:gd name="connsiteY25" fmla="*/ 448579 h 1158732"/>
                  <a:gd name="connsiteX26" fmla="*/ 278823 w 408118"/>
                  <a:gd name="connsiteY26" fmla="*/ 538295 h 1158732"/>
                  <a:gd name="connsiteX27" fmla="*/ 365020 w 408118"/>
                  <a:gd name="connsiteY27" fmla="*/ 538295 h 1158732"/>
                  <a:gd name="connsiteX28" fmla="*/ 365020 w 408118"/>
                  <a:gd name="connsiteY28" fmla="*/ 448579 h 1158732"/>
                  <a:gd name="connsiteX29" fmla="*/ 278823 w 408118"/>
                  <a:gd name="connsiteY29" fmla="*/ 448579 h 1158732"/>
                  <a:gd name="connsiteX30" fmla="*/ 277943 w 408118"/>
                  <a:gd name="connsiteY30" fmla="*/ 318403 h 1158732"/>
                  <a:gd name="connsiteX31" fmla="*/ 277943 w 408118"/>
                  <a:gd name="connsiteY31" fmla="*/ 408999 h 1158732"/>
                  <a:gd name="connsiteX32" fmla="*/ 366779 w 408118"/>
                  <a:gd name="connsiteY32" fmla="*/ 408999 h 1158732"/>
                  <a:gd name="connsiteX33" fmla="*/ 366779 w 408118"/>
                  <a:gd name="connsiteY33" fmla="*/ 318403 h 1158732"/>
                  <a:gd name="connsiteX34" fmla="*/ 277943 w 408118"/>
                  <a:gd name="connsiteY34" fmla="*/ 318403 h 1158732"/>
                  <a:gd name="connsiteX35" fmla="*/ 159201 w 408118"/>
                  <a:gd name="connsiteY35" fmla="*/ 318403 h 1158732"/>
                  <a:gd name="connsiteX36" fmla="*/ 159201 w 408118"/>
                  <a:gd name="connsiteY36" fmla="*/ 407239 h 1158732"/>
                  <a:gd name="connsiteX37" fmla="*/ 249797 w 408118"/>
                  <a:gd name="connsiteY37" fmla="*/ 407239 h 1158732"/>
                  <a:gd name="connsiteX38" fmla="*/ 249797 w 408118"/>
                  <a:gd name="connsiteY38" fmla="*/ 318403 h 1158732"/>
                  <a:gd name="connsiteX39" fmla="*/ 159201 w 408118"/>
                  <a:gd name="connsiteY39" fmla="*/ 318403 h 1158732"/>
                  <a:gd name="connsiteX40" fmla="*/ 43979 w 408118"/>
                  <a:gd name="connsiteY40" fmla="*/ 318403 h 1158732"/>
                  <a:gd name="connsiteX41" fmla="*/ 43979 w 408118"/>
                  <a:gd name="connsiteY41" fmla="*/ 408119 h 1158732"/>
                  <a:gd name="connsiteX42" fmla="*/ 131935 w 408118"/>
                  <a:gd name="connsiteY42" fmla="*/ 408119 h 1158732"/>
                  <a:gd name="connsiteX43" fmla="*/ 131935 w 408118"/>
                  <a:gd name="connsiteY43" fmla="*/ 318403 h 1158732"/>
                  <a:gd name="connsiteX44" fmla="*/ 43979 w 408118"/>
                  <a:gd name="connsiteY44" fmla="*/ 318403 h 1158732"/>
                  <a:gd name="connsiteX45" fmla="*/ 43098 w 408118"/>
                  <a:gd name="connsiteY45" fmla="*/ 187348 h 1158732"/>
                  <a:gd name="connsiteX46" fmla="*/ 43098 w 408118"/>
                  <a:gd name="connsiteY46" fmla="*/ 279702 h 1158732"/>
                  <a:gd name="connsiteX47" fmla="*/ 132814 w 408118"/>
                  <a:gd name="connsiteY47" fmla="*/ 279702 h 1158732"/>
                  <a:gd name="connsiteX48" fmla="*/ 132814 w 408118"/>
                  <a:gd name="connsiteY48" fmla="*/ 187348 h 1158732"/>
                  <a:gd name="connsiteX49" fmla="*/ 43098 w 408118"/>
                  <a:gd name="connsiteY49" fmla="*/ 187348 h 1158732"/>
                  <a:gd name="connsiteX50" fmla="*/ 43979 w 408118"/>
                  <a:gd name="connsiteY50" fmla="*/ 60690 h 1158732"/>
                  <a:gd name="connsiteX51" fmla="*/ 43979 w 408118"/>
                  <a:gd name="connsiteY51" fmla="*/ 152166 h 1158732"/>
                  <a:gd name="connsiteX52" fmla="*/ 133694 w 408118"/>
                  <a:gd name="connsiteY52" fmla="*/ 152166 h 1158732"/>
                  <a:gd name="connsiteX53" fmla="*/ 133694 w 408118"/>
                  <a:gd name="connsiteY53" fmla="*/ 60690 h 1158732"/>
                  <a:gd name="connsiteX54" fmla="*/ 43979 w 408118"/>
                  <a:gd name="connsiteY54" fmla="*/ 60690 h 1158732"/>
                  <a:gd name="connsiteX55" fmla="*/ 0 w 408118"/>
                  <a:gd name="connsiteY55" fmla="*/ 0 h 1158732"/>
                  <a:gd name="connsiteX56" fmla="*/ 155702 w 408118"/>
                  <a:gd name="connsiteY56" fmla="*/ 0 h 1158732"/>
                  <a:gd name="connsiteX57" fmla="*/ 155702 w 408118"/>
                  <a:gd name="connsiteY57" fmla="*/ 281913 h 1158732"/>
                  <a:gd name="connsiteX58" fmla="*/ 277943 w 408118"/>
                  <a:gd name="connsiteY58" fmla="*/ 281913 h 1158732"/>
                  <a:gd name="connsiteX59" fmla="*/ 277943 w 408118"/>
                  <a:gd name="connsiteY59" fmla="*/ 282341 h 1158732"/>
                  <a:gd name="connsiteX60" fmla="*/ 366779 w 408118"/>
                  <a:gd name="connsiteY60" fmla="*/ 282341 h 1158732"/>
                  <a:gd name="connsiteX61" fmla="*/ 366779 w 408118"/>
                  <a:gd name="connsiteY61" fmla="*/ 281913 h 1158732"/>
                  <a:gd name="connsiteX62" fmla="*/ 408118 w 408118"/>
                  <a:gd name="connsiteY62" fmla="*/ 281913 h 1158732"/>
                  <a:gd name="connsiteX63" fmla="*/ 408118 w 408118"/>
                  <a:gd name="connsiteY63" fmla="*/ 1158732 h 1158732"/>
                  <a:gd name="connsiteX64" fmla="*/ 0 w 408118"/>
                  <a:gd name="connsiteY64" fmla="*/ 1158732 h 1158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408118" h="1158732">
                    <a:moveTo>
                      <a:pt x="159201" y="578755"/>
                    </a:moveTo>
                    <a:cubicBezTo>
                      <a:pt x="159201" y="608660"/>
                      <a:pt x="159201" y="638565"/>
                      <a:pt x="159201" y="665832"/>
                    </a:cubicBezTo>
                    <a:cubicBezTo>
                      <a:pt x="189986" y="668470"/>
                      <a:pt x="222530" y="665832"/>
                      <a:pt x="248917" y="665832"/>
                    </a:cubicBezTo>
                    <a:cubicBezTo>
                      <a:pt x="248917" y="634168"/>
                      <a:pt x="248917" y="608660"/>
                      <a:pt x="248917" y="578755"/>
                    </a:cubicBezTo>
                    <a:cubicBezTo>
                      <a:pt x="217253" y="578755"/>
                      <a:pt x="188227" y="578755"/>
                      <a:pt x="159201" y="578755"/>
                    </a:cubicBezTo>
                    <a:close/>
                    <a:moveTo>
                      <a:pt x="278823" y="576996"/>
                    </a:moveTo>
                    <a:cubicBezTo>
                      <a:pt x="278823" y="606901"/>
                      <a:pt x="278823" y="632408"/>
                      <a:pt x="278823" y="664073"/>
                    </a:cubicBezTo>
                    <a:cubicBezTo>
                      <a:pt x="311366" y="664073"/>
                      <a:pt x="346549" y="664952"/>
                      <a:pt x="365020" y="664073"/>
                    </a:cubicBezTo>
                    <a:cubicBezTo>
                      <a:pt x="365020" y="632408"/>
                      <a:pt x="365020" y="606021"/>
                      <a:pt x="365020" y="576996"/>
                    </a:cubicBezTo>
                    <a:cubicBezTo>
                      <a:pt x="335114" y="576996"/>
                      <a:pt x="306968" y="576996"/>
                      <a:pt x="278823" y="576996"/>
                    </a:cubicBezTo>
                    <a:close/>
                    <a:moveTo>
                      <a:pt x="43979" y="576996"/>
                    </a:moveTo>
                    <a:cubicBezTo>
                      <a:pt x="43979" y="605142"/>
                      <a:pt x="43979" y="638565"/>
                      <a:pt x="43979" y="664952"/>
                    </a:cubicBezTo>
                    <a:cubicBezTo>
                      <a:pt x="81799" y="664952"/>
                      <a:pt x="105548" y="664073"/>
                      <a:pt x="131935" y="665832"/>
                    </a:cubicBezTo>
                    <a:cubicBezTo>
                      <a:pt x="131935" y="631529"/>
                      <a:pt x="132814" y="602503"/>
                      <a:pt x="132814" y="576996"/>
                    </a:cubicBezTo>
                    <a:cubicBezTo>
                      <a:pt x="102030" y="576996"/>
                      <a:pt x="73884" y="576996"/>
                      <a:pt x="43979" y="576996"/>
                    </a:cubicBezTo>
                    <a:close/>
                    <a:moveTo>
                      <a:pt x="160960" y="449459"/>
                    </a:moveTo>
                    <a:cubicBezTo>
                      <a:pt x="160960" y="481123"/>
                      <a:pt x="160960" y="509268"/>
                      <a:pt x="160960" y="539174"/>
                    </a:cubicBezTo>
                    <a:cubicBezTo>
                      <a:pt x="189986" y="539174"/>
                      <a:pt x="217253" y="539174"/>
                      <a:pt x="248917" y="539174"/>
                    </a:cubicBezTo>
                    <a:cubicBezTo>
                      <a:pt x="248917" y="506630"/>
                      <a:pt x="248917" y="477604"/>
                      <a:pt x="248917" y="449459"/>
                    </a:cubicBezTo>
                    <a:cubicBezTo>
                      <a:pt x="218132" y="449459"/>
                      <a:pt x="189107" y="449459"/>
                      <a:pt x="160960" y="449459"/>
                    </a:cubicBezTo>
                    <a:close/>
                    <a:moveTo>
                      <a:pt x="44858" y="449459"/>
                    </a:moveTo>
                    <a:cubicBezTo>
                      <a:pt x="44858" y="481123"/>
                      <a:pt x="44858" y="509268"/>
                      <a:pt x="44858" y="539174"/>
                    </a:cubicBezTo>
                    <a:cubicBezTo>
                      <a:pt x="75643" y="539174"/>
                      <a:pt x="102910" y="539174"/>
                      <a:pt x="131935" y="539174"/>
                    </a:cubicBezTo>
                    <a:cubicBezTo>
                      <a:pt x="131935" y="505751"/>
                      <a:pt x="131935" y="477604"/>
                      <a:pt x="131935" y="449459"/>
                    </a:cubicBezTo>
                    <a:cubicBezTo>
                      <a:pt x="100271" y="449459"/>
                      <a:pt x="72125" y="449459"/>
                      <a:pt x="44858" y="449459"/>
                    </a:cubicBezTo>
                    <a:close/>
                    <a:moveTo>
                      <a:pt x="278823" y="448579"/>
                    </a:moveTo>
                    <a:cubicBezTo>
                      <a:pt x="278823" y="479364"/>
                      <a:pt x="278823" y="508389"/>
                      <a:pt x="278823" y="538295"/>
                    </a:cubicBezTo>
                    <a:cubicBezTo>
                      <a:pt x="308727" y="538295"/>
                      <a:pt x="335994" y="538295"/>
                      <a:pt x="365020" y="538295"/>
                    </a:cubicBezTo>
                    <a:cubicBezTo>
                      <a:pt x="365020" y="507510"/>
                      <a:pt x="365020" y="478484"/>
                      <a:pt x="365020" y="448579"/>
                    </a:cubicBezTo>
                    <a:cubicBezTo>
                      <a:pt x="335994" y="448579"/>
                      <a:pt x="308727" y="448579"/>
                      <a:pt x="278823" y="448579"/>
                    </a:cubicBezTo>
                    <a:close/>
                    <a:moveTo>
                      <a:pt x="277943" y="318403"/>
                    </a:moveTo>
                    <a:cubicBezTo>
                      <a:pt x="277943" y="350067"/>
                      <a:pt x="277943" y="379094"/>
                      <a:pt x="277943" y="408999"/>
                    </a:cubicBezTo>
                    <a:cubicBezTo>
                      <a:pt x="309607" y="408999"/>
                      <a:pt x="337753" y="408999"/>
                      <a:pt x="366779" y="408999"/>
                    </a:cubicBezTo>
                    <a:cubicBezTo>
                      <a:pt x="366779" y="378214"/>
                      <a:pt x="366779" y="349187"/>
                      <a:pt x="366779" y="318403"/>
                    </a:cubicBezTo>
                    <a:cubicBezTo>
                      <a:pt x="336873" y="318403"/>
                      <a:pt x="307848" y="318403"/>
                      <a:pt x="277943" y="318403"/>
                    </a:cubicBezTo>
                    <a:close/>
                    <a:moveTo>
                      <a:pt x="159201" y="318403"/>
                    </a:moveTo>
                    <a:cubicBezTo>
                      <a:pt x="159201" y="349187"/>
                      <a:pt x="159201" y="378214"/>
                      <a:pt x="159201" y="407239"/>
                    </a:cubicBezTo>
                    <a:cubicBezTo>
                      <a:pt x="190866" y="407239"/>
                      <a:pt x="219892" y="407239"/>
                      <a:pt x="249797" y="407239"/>
                    </a:cubicBezTo>
                    <a:cubicBezTo>
                      <a:pt x="249797" y="376454"/>
                      <a:pt x="249797" y="349187"/>
                      <a:pt x="249797" y="318403"/>
                    </a:cubicBezTo>
                    <a:cubicBezTo>
                      <a:pt x="217253" y="318403"/>
                      <a:pt x="188227" y="318403"/>
                      <a:pt x="159201" y="318403"/>
                    </a:cubicBezTo>
                    <a:close/>
                    <a:moveTo>
                      <a:pt x="43979" y="318403"/>
                    </a:moveTo>
                    <a:cubicBezTo>
                      <a:pt x="43979" y="349187"/>
                      <a:pt x="43979" y="378214"/>
                      <a:pt x="43979" y="408119"/>
                    </a:cubicBezTo>
                    <a:cubicBezTo>
                      <a:pt x="74764" y="408119"/>
                      <a:pt x="102910" y="408119"/>
                      <a:pt x="131935" y="408119"/>
                    </a:cubicBezTo>
                    <a:cubicBezTo>
                      <a:pt x="131935" y="376454"/>
                      <a:pt x="131935" y="347429"/>
                      <a:pt x="131935" y="318403"/>
                    </a:cubicBezTo>
                    <a:cubicBezTo>
                      <a:pt x="100271" y="318403"/>
                      <a:pt x="72125" y="318403"/>
                      <a:pt x="43979" y="318403"/>
                    </a:cubicBezTo>
                    <a:close/>
                    <a:moveTo>
                      <a:pt x="43098" y="187348"/>
                    </a:moveTo>
                    <a:cubicBezTo>
                      <a:pt x="43098" y="219892"/>
                      <a:pt x="43098" y="249797"/>
                      <a:pt x="43098" y="279702"/>
                    </a:cubicBezTo>
                    <a:cubicBezTo>
                      <a:pt x="74764" y="279702"/>
                      <a:pt x="104668" y="279702"/>
                      <a:pt x="132814" y="279702"/>
                    </a:cubicBezTo>
                    <a:cubicBezTo>
                      <a:pt x="132814" y="247159"/>
                      <a:pt x="132814" y="218133"/>
                      <a:pt x="132814" y="187348"/>
                    </a:cubicBezTo>
                    <a:cubicBezTo>
                      <a:pt x="102030" y="187348"/>
                      <a:pt x="73884" y="187348"/>
                      <a:pt x="43098" y="187348"/>
                    </a:cubicBezTo>
                    <a:close/>
                    <a:moveTo>
                      <a:pt x="43979" y="60690"/>
                    </a:moveTo>
                    <a:cubicBezTo>
                      <a:pt x="43979" y="93234"/>
                      <a:pt x="43979" y="122259"/>
                      <a:pt x="43979" y="152166"/>
                    </a:cubicBezTo>
                    <a:cubicBezTo>
                      <a:pt x="75643" y="152166"/>
                      <a:pt x="103789" y="152166"/>
                      <a:pt x="133694" y="152166"/>
                    </a:cubicBezTo>
                    <a:cubicBezTo>
                      <a:pt x="133694" y="121380"/>
                      <a:pt x="133694" y="93234"/>
                      <a:pt x="133694" y="60690"/>
                    </a:cubicBezTo>
                    <a:cubicBezTo>
                      <a:pt x="101151" y="60690"/>
                      <a:pt x="72125" y="60690"/>
                      <a:pt x="43979" y="60690"/>
                    </a:cubicBezTo>
                    <a:close/>
                    <a:moveTo>
                      <a:pt x="0" y="0"/>
                    </a:moveTo>
                    <a:lnTo>
                      <a:pt x="155702" y="0"/>
                    </a:lnTo>
                    <a:lnTo>
                      <a:pt x="155702" y="281913"/>
                    </a:lnTo>
                    <a:lnTo>
                      <a:pt x="277943" y="281913"/>
                    </a:lnTo>
                    <a:lnTo>
                      <a:pt x="277943" y="282341"/>
                    </a:lnTo>
                    <a:cubicBezTo>
                      <a:pt x="307848" y="282341"/>
                      <a:pt x="334235" y="282341"/>
                      <a:pt x="366779" y="282341"/>
                    </a:cubicBezTo>
                    <a:lnTo>
                      <a:pt x="366779" y="281913"/>
                    </a:lnTo>
                    <a:lnTo>
                      <a:pt x="408118" y="281913"/>
                    </a:lnTo>
                    <a:lnTo>
                      <a:pt x="408118" y="1158732"/>
                    </a:lnTo>
                    <a:lnTo>
                      <a:pt x="0" y="1158732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sz="1350"/>
              </a:p>
            </p:txBody>
          </p:sp>
        </p:grpSp>
      </p:grpSp>
      <p:grpSp>
        <p:nvGrpSpPr>
          <p:cNvPr id="8" name="Group 47">
            <a:extLst>
              <a:ext uri="{FF2B5EF4-FFF2-40B4-BE49-F238E27FC236}">
                <a16:creationId xmlns:a16="http://schemas.microsoft.com/office/drawing/2014/main" xmlns="" id="{FE17257E-496D-43B5-AF2E-E2A20B9FBD10}"/>
              </a:ext>
            </a:extLst>
          </p:cNvPr>
          <p:cNvGrpSpPr/>
          <p:nvPr userDrawn="1"/>
        </p:nvGrpSpPr>
        <p:grpSpPr>
          <a:xfrm>
            <a:off x="0" y="6593207"/>
            <a:ext cx="12192000" cy="283845"/>
            <a:chOff x="0" y="6593205"/>
            <a:chExt cx="12192000" cy="28384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xmlns="" id="{909A48D2-D68F-4890-A42F-5BB72CFCCFD6}"/>
                </a:ext>
              </a:extLst>
            </p:cNvPr>
            <p:cNvSpPr/>
            <p:nvPr/>
          </p:nvSpPr>
          <p:spPr>
            <a:xfrm>
              <a:off x="0" y="6593205"/>
              <a:ext cx="12192000" cy="2743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xmlns="" id="{F59F2605-0DF1-4906-A75E-0ED8566A8648}"/>
                </a:ext>
              </a:extLst>
            </p:cNvPr>
            <p:cNvSpPr/>
            <p:nvPr/>
          </p:nvSpPr>
          <p:spPr>
            <a:xfrm>
              <a:off x="0" y="6684645"/>
              <a:ext cx="12192000" cy="182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xmlns="" id="{0E70C75D-A69D-47EF-91AF-4C580B47C566}"/>
                </a:ext>
              </a:extLst>
            </p:cNvPr>
            <p:cNvSpPr/>
            <p:nvPr/>
          </p:nvSpPr>
          <p:spPr>
            <a:xfrm>
              <a:off x="0" y="6785610"/>
              <a:ext cx="12192000" cy="91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="" xmlns:p14="http://schemas.microsoft.com/office/powerpoint/2010/main" val="805282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7512B79D-C6A8-43E2-A76D-BA0E68B3A751}" type="datetimeFigureOut">
              <a:rPr lang="en-US"/>
              <a:pPr/>
              <a:t>4/19/2022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1B2E4418-C77B-4631-93F0-23D16ACC7A7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4493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E9402-50C2-46B9-BCCD-2D354A19B023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7FBCC-56F1-4B38-8756-9DBF088B8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79961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jpe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jpeg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7" Type="http://schemas.openxmlformats.org/officeDocument/2006/relationships/image" Target="../media/image5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jpeg"/><Relationship Id="rId5" Type="http://schemas.openxmlformats.org/officeDocument/2006/relationships/image" Target="../media/image55.jpeg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eg"/><Relationship Id="rId3" Type="http://schemas.openxmlformats.org/officeDocument/2006/relationships/image" Target="../media/image60.jpe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jpeg"/><Relationship Id="rId5" Type="http://schemas.openxmlformats.org/officeDocument/2006/relationships/image" Target="../media/image62.jpeg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 descr="Farm.jpg"/>
          <p:cNvPicPr>
            <a:picLocks noChangeAspect="1"/>
          </p:cNvPicPr>
          <p:nvPr/>
        </p:nvPicPr>
        <p:blipFill>
          <a:blip r:embed="rId3"/>
          <a:srcRect l="1823" r="1823"/>
          <a:stretch>
            <a:fillRect/>
          </a:stretch>
        </p:blipFill>
        <p:spPr bwMode="auto">
          <a:xfrm>
            <a:off x="0" y="8626"/>
            <a:ext cx="12192000" cy="708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13"/>
          <p:cNvSpPr>
            <a:spLocks noChangeArrowheads="1"/>
          </p:cNvSpPr>
          <p:nvPr/>
        </p:nvSpPr>
        <p:spPr bwMode="auto">
          <a:xfrm>
            <a:off x="235131" y="2737132"/>
            <a:ext cx="11721737" cy="2000548"/>
          </a:xfrm>
          <a:prstGeom prst="rect">
            <a:avLst/>
          </a:prstGeom>
          <a:solidFill>
            <a:srgbClr val="00B050"/>
          </a:solidFill>
          <a:ln/>
          <a:ex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300" dirty="0">
                <a:ln w="19050" cmpd="sng">
                  <a:solidFill>
                    <a:srgbClr val="FFFF00"/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Miriam" pitchFamily="34" charset="-79"/>
                <a:cs typeface="Miriam" pitchFamily="34" charset="-79"/>
              </a:rPr>
              <a:t>National Conference</a:t>
            </a:r>
          </a:p>
          <a:p>
            <a:pPr algn="ctr" defTabSz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iriam" pitchFamily="34" charset="-79"/>
                <a:cs typeface="Miriam" pitchFamily="34" charset="-79"/>
              </a:rPr>
              <a:t>On</a:t>
            </a:r>
            <a:r>
              <a:rPr lang="en-US" sz="32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Miriam" pitchFamily="34" charset="-79"/>
                <a:cs typeface="Miriam" pitchFamily="34" charset="-79"/>
              </a:rPr>
              <a:t>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300" dirty="0">
                <a:ln w="3175" cmpd="sng">
                  <a:noFill/>
                  <a:prstDash val="solid"/>
                  <a:miter lim="800000"/>
                </a:ln>
                <a:solidFill>
                  <a:schemeClr val="tx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Miriam" pitchFamily="34" charset="-79"/>
                <a:cs typeface="Miriam" pitchFamily="34" charset="-79"/>
              </a:rPr>
              <a:t>Agriculture For</a:t>
            </a:r>
            <a:r>
              <a:rPr lang="gu-IN" sz="3200" b="1" spc="300" dirty="0">
                <a:ln w="3175" cmpd="sng">
                  <a:noFill/>
                  <a:prstDash val="solid"/>
                  <a:miter lim="800000"/>
                </a:ln>
                <a:solidFill>
                  <a:schemeClr val="tx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Miriam" pitchFamily="34" charset="-79"/>
                <a:cs typeface="Miriam" pitchFamily="34" charset="-79"/>
              </a:rPr>
              <a:t> </a:t>
            </a:r>
            <a:r>
              <a:rPr lang="en-US" sz="3200" b="1" spc="300" dirty="0">
                <a:ln w="3175" cmpd="sng">
                  <a:noFill/>
                  <a:prstDash val="solid"/>
                  <a:miter lim="800000"/>
                </a:ln>
                <a:solidFill>
                  <a:schemeClr val="tx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Miriam" pitchFamily="34" charset="-79"/>
                <a:cs typeface="Miriam" pitchFamily="34" charset="-79"/>
              </a:rPr>
              <a:t>Kharif Campaign 2022</a:t>
            </a:r>
            <a:endParaRPr lang="en-US" sz="2400" b="1" dirty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Miriam" pitchFamily="34" charset="-79"/>
              <a:cs typeface="Miriam" pitchFamily="34" charset="-79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iriam" pitchFamily="34" charset="-79"/>
                <a:cs typeface="Miriam" pitchFamily="34" charset="-79"/>
              </a:rPr>
              <a:t>19 April 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9200" y="5534562"/>
            <a:ext cx="98378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chemeClr val="bg1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  <a:outerShdw blurRad="50800" algn="tl" rotWithShape="0">
                    <a:srgbClr val="000000"/>
                  </a:outerShdw>
                </a:effectLst>
                <a:latin typeface="+mn-lt"/>
              </a:rPr>
              <a:t>Directorate </a:t>
            </a:r>
            <a:r>
              <a:rPr lang="en-US" sz="2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chemeClr val="bg1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  <a:outerShdw blurRad="50800" algn="tl" rotWithShape="0">
                    <a:srgbClr val="000000"/>
                  </a:outerShdw>
                </a:effectLst>
                <a:latin typeface="+mn-lt"/>
              </a:rPr>
              <a:t>of Agriculture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chemeClr val="bg1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  <a:outerShdw blurRad="50800" algn="tl" rotWithShape="0">
                    <a:srgbClr val="000000"/>
                  </a:outerShdw>
                </a:effectLst>
                <a:latin typeface="+mn-lt"/>
              </a:rPr>
              <a:t>Gujarat State</a:t>
            </a:r>
            <a:endParaRPr lang="en-US" sz="2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solidFill>
                <a:schemeClr val="bg1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  <a:outerShdw blurRad="50800" algn="tl" rotWithShape="0">
                  <a:srgbClr val="000000"/>
                </a:outerShdw>
              </a:effectLst>
              <a:latin typeface="+mn-lt"/>
            </a:endParaRPr>
          </a:p>
        </p:txBody>
      </p:sp>
      <p:pic>
        <p:nvPicPr>
          <p:cNvPr id="10" name="Picture 9" descr="Description: C:\Users\admin\Desktop\1111\national-emblem-of-india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A"/>
              </a:clrFrom>
              <a:clrTo>
                <a:srgbClr val="FFFFFA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754" y="813180"/>
            <a:ext cx="1013073" cy="1317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4068615" y="6356351"/>
            <a:ext cx="3860800" cy="365125"/>
          </a:xfrm>
        </p:spPr>
        <p:txBody>
          <a:bodyPr/>
          <a:lstStyle/>
          <a:p>
            <a:pPr algn="ctr">
              <a:defRPr/>
            </a:pPr>
            <a:fld id="{723E04AE-F2CE-4C11-BCED-8B525B0E9974}" type="slidenum">
              <a:rPr lang="en-US">
                <a:solidFill>
                  <a:schemeClr val="tx1"/>
                </a:solidFill>
              </a:rPr>
              <a:pPr algn="ctr">
                <a:defRPr/>
              </a:p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88" name="Text Box 24"/>
          <p:cNvSpPr txBox="1">
            <a:spLocks noChangeArrowheads="1"/>
          </p:cNvSpPr>
          <p:nvPr/>
        </p:nvSpPr>
        <p:spPr bwMode="auto">
          <a:xfrm>
            <a:off x="558519" y="1402879"/>
            <a:ext cx="7680385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8788" indent="-458788" fontAlgn="auto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Font typeface="Wingdings" pitchFamily="2" charset="2"/>
              <a:buChar char="Ø"/>
              <a:defRPr/>
            </a:pPr>
            <a:r>
              <a:rPr lang="en-US" sz="2800" dirty="0" smtClean="0">
                <a:ln w="0"/>
                <a:latin typeface="+mn-lt"/>
                <a:cs typeface="Times New Roman" pitchFamily="18" charset="0"/>
              </a:rPr>
              <a:t>1600 Km Long Coastal Belt </a:t>
            </a:r>
          </a:p>
          <a:p>
            <a:pPr marL="458788" indent="-458788" fontAlgn="auto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Font typeface="Wingdings" pitchFamily="2" charset="2"/>
              <a:buChar char="Ø"/>
              <a:defRPr/>
            </a:pPr>
            <a:r>
              <a:rPr lang="en-US" sz="2800" dirty="0" smtClean="0">
                <a:ln w="0"/>
                <a:latin typeface="+mn-lt"/>
                <a:cs typeface="Times New Roman" pitchFamily="18" charset="0"/>
              </a:rPr>
              <a:t>Diversified Crops And Cropping Systems</a:t>
            </a:r>
          </a:p>
          <a:p>
            <a:pPr marL="458788" indent="-458788" fontAlgn="auto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Font typeface="Wingdings" pitchFamily="2" charset="2"/>
              <a:buChar char="Ø"/>
              <a:defRPr/>
            </a:pPr>
            <a:r>
              <a:rPr lang="en-US" sz="2800" dirty="0" smtClean="0">
                <a:ln w="0"/>
                <a:latin typeface="+mn-lt"/>
                <a:cs typeface="Times New Roman" pitchFamily="18" charset="0"/>
              </a:rPr>
              <a:t>Climatic Diversities </a:t>
            </a:r>
          </a:p>
          <a:p>
            <a:pPr marL="458788" indent="-458788" fontAlgn="auto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Font typeface="Wingdings" pitchFamily="2" charset="2"/>
              <a:buChar char="Ø"/>
              <a:defRPr/>
            </a:pPr>
            <a:r>
              <a:rPr lang="en-US" sz="2800" dirty="0" smtClean="0">
                <a:ln w="0"/>
                <a:latin typeface="+mn-lt"/>
                <a:cs typeface="Times New Roman" pitchFamily="18" charset="0"/>
              </a:rPr>
              <a:t>Good Transport Facilities  - Ports &amp; Airports</a:t>
            </a:r>
          </a:p>
          <a:p>
            <a:pPr marL="458788" indent="-458788" fontAlgn="auto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Font typeface="Wingdings" pitchFamily="2" charset="2"/>
              <a:buChar char="Ø"/>
              <a:defRPr/>
            </a:pPr>
            <a:r>
              <a:rPr lang="en-US" sz="2800" dirty="0" smtClean="0">
                <a:ln w="0"/>
                <a:latin typeface="+mn-lt"/>
                <a:cs typeface="Times New Roman" pitchFamily="18" charset="0"/>
              </a:rPr>
              <a:t>Strong Agriculture Marketing System</a:t>
            </a:r>
          </a:p>
          <a:p>
            <a:pPr marL="458788" indent="-458788" fontAlgn="auto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Font typeface="Wingdings" pitchFamily="2" charset="2"/>
              <a:buChar char="Ø"/>
              <a:defRPr/>
            </a:pPr>
            <a:r>
              <a:rPr lang="en-US" sz="2800" dirty="0" smtClean="0">
                <a:ln w="0"/>
                <a:latin typeface="+mn-lt"/>
                <a:cs typeface="Times New Roman" pitchFamily="18" charset="0"/>
              </a:rPr>
              <a:t>Agro Based Industries &amp; Co-operatives</a:t>
            </a:r>
          </a:p>
          <a:p>
            <a:pPr marL="458788" indent="-458788" fontAlgn="auto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Font typeface="Wingdings" pitchFamily="2" charset="2"/>
              <a:buChar char="Ø"/>
              <a:defRPr/>
            </a:pPr>
            <a:r>
              <a:rPr lang="en-US" sz="2800" dirty="0" smtClean="0">
                <a:ln w="0"/>
                <a:latin typeface="+mn-lt"/>
                <a:cs typeface="Times New Roman" pitchFamily="18" charset="0"/>
              </a:rPr>
              <a:t>Enterprising Farmers Having Business Instincts</a:t>
            </a:r>
          </a:p>
        </p:txBody>
      </p:sp>
      <p:pic>
        <p:nvPicPr>
          <p:cNvPr id="11289" name="Picture 25" descr="transpor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94615" y="95527"/>
            <a:ext cx="3012444" cy="15717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94614" y="1776267"/>
            <a:ext cx="3012445" cy="15947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5" descr="0-39-00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894614" y="3439080"/>
            <a:ext cx="3012445" cy="15875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 11"/>
          <p:cNvSpPr/>
          <p:nvPr/>
        </p:nvSpPr>
        <p:spPr>
          <a:xfrm>
            <a:off x="429486" y="176887"/>
            <a:ext cx="762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 smtClean="0">
                <a:ln w="0"/>
                <a:cs typeface="Times New Roman" pitchFamily="18" charset="0"/>
              </a:rPr>
              <a:t>ADVANTAGE GUJARAT</a:t>
            </a:r>
            <a:endParaRPr lang="en-IN" sz="4000" dirty="0"/>
          </a:p>
        </p:txBody>
      </p:sp>
      <p:pic>
        <p:nvPicPr>
          <p:cNvPr id="11" name="Picture 14"/>
          <p:cNvPicPr>
            <a:picLocks noChangeAspect="1" noChangeArrowheads="1"/>
          </p:cNvPicPr>
          <p:nvPr/>
        </p:nvPicPr>
        <p:blipFill>
          <a:blip r:embed="rId5" cstate="print">
            <a:extLst/>
          </a:blip>
          <a:srcRect/>
          <a:stretch>
            <a:fillRect/>
          </a:stretch>
        </p:blipFill>
        <p:spPr bwMode="auto">
          <a:xfrm>
            <a:off x="394334" y="5133843"/>
            <a:ext cx="2506873" cy="15706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13" name="Picture 8" descr="gnut field"/>
          <p:cNvPicPr>
            <a:picLocks noChangeAspect="1" noChangeArrowheads="1"/>
          </p:cNvPicPr>
          <p:nvPr/>
        </p:nvPicPr>
        <p:blipFill>
          <a:blip r:embed="rId6" cstate="print">
            <a:extLst/>
          </a:blip>
          <a:srcRect/>
          <a:stretch>
            <a:fillRect/>
          </a:stretch>
        </p:blipFill>
        <p:spPr bwMode="auto">
          <a:xfrm>
            <a:off x="3103416" y="5133842"/>
            <a:ext cx="2670644" cy="15876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14" name="Picture 13" descr="Scan0016"/>
          <p:cNvPicPr>
            <a:picLocks noChangeAspect="1" noChangeArrowheads="1"/>
          </p:cNvPicPr>
          <p:nvPr/>
        </p:nvPicPr>
        <p:blipFill>
          <a:blip r:embed="rId7" cstate="print">
            <a:extLst/>
          </a:blip>
          <a:srcRect/>
          <a:stretch>
            <a:fillRect/>
          </a:stretch>
        </p:blipFill>
        <p:spPr bwMode="auto">
          <a:xfrm>
            <a:off x="5976269" y="5133843"/>
            <a:ext cx="2716137" cy="15706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15" name="Picture 3" descr="Bajra"/>
          <p:cNvPicPr>
            <a:picLocks noChangeAspect="1" noChangeArrowheads="1"/>
          </p:cNvPicPr>
          <p:nvPr/>
        </p:nvPicPr>
        <p:blipFill>
          <a:blip r:embed="rId8" cstate="print">
            <a:extLst/>
          </a:blip>
          <a:srcRect/>
          <a:stretch>
            <a:fillRect/>
          </a:stretch>
        </p:blipFill>
        <p:spPr bwMode="auto">
          <a:xfrm>
            <a:off x="8894615" y="5133842"/>
            <a:ext cx="3012444" cy="15740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F373113-18F1-4443-9A8E-5EF06C1D2F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" name="Freeform: Shape 51">
            <a:extLst>
              <a:ext uri="{FF2B5EF4-FFF2-40B4-BE49-F238E27FC236}">
                <a16:creationId xmlns:a16="http://schemas.microsoft.com/office/drawing/2014/main" xmlns="" id="{8F99D053-FB83-41F1-B2CB-C10918BC99BC}"/>
              </a:ext>
            </a:extLst>
          </p:cNvPr>
          <p:cNvSpPr/>
          <p:nvPr/>
        </p:nvSpPr>
        <p:spPr>
          <a:xfrm>
            <a:off x="10770576" y="2337441"/>
            <a:ext cx="868885" cy="2360918"/>
          </a:xfrm>
          <a:custGeom>
            <a:avLst/>
            <a:gdLst>
              <a:gd name="connsiteX0" fmla="*/ 1168400 w 1168400"/>
              <a:gd name="connsiteY0" fmla="*/ 0 h 2360918"/>
              <a:gd name="connsiteX1" fmla="*/ 1168400 w 1168400"/>
              <a:gd name="connsiteY1" fmla="*/ 2360918 h 2360918"/>
              <a:gd name="connsiteX2" fmla="*/ 1060340 w 1168400"/>
              <a:gd name="connsiteY2" fmla="*/ 2355461 h 2360918"/>
              <a:gd name="connsiteX3" fmla="*/ 0 w 1168400"/>
              <a:gd name="connsiteY3" fmla="*/ 1180459 h 2360918"/>
              <a:gd name="connsiteX4" fmla="*/ 1060340 w 1168400"/>
              <a:gd name="connsiteY4" fmla="*/ 5457 h 236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8400" h="2360918">
                <a:moveTo>
                  <a:pt x="1168400" y="0"/>
                </a:moveTo>
                <a:lnTo>
                  <a:pt x="1168400" y="2360918"/>
                </a:lnTo>
                <a:lnTo>
                  <a:pt x="1060340" y="2355461"/>
                </a:lnTo>
                <a:cubicBezTo>
                  <a:pt x="464762" y="2294977"/>
                  <a:pt x="0" y="1791994"/>
                  <a:pt x="0" y="1180459"/>
                </a:cubicBezTo>
                <a:cubicBezTo>
                  <a:pt x="0" y="568924"/>
                  <a:pt x="464762" y="65941"/>
                  <a:pt x="1060340" y="5457"/>
                </a:cubicBezTo>
                <a:close/>
              </a:path>
            </a:pathLst>
          </a:custGeom>
          <a:solidFill>
            <a:srgbClr val="52CD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F4373C1-3934-47C3-8F36-E2FB2615CA87}"/>
              </a:ext>
            </a:extLst>
          </p:cNvPr>
          <p:cNvSpPr txBox="1"/>
          <p:nvPr/>
        </p:nvSpPr>
        <p:spPr>
          <a:xfrm rot="16200000">
            <a:off x="10185379" y="3263961"/>
            <a:ext cx="1992087" cy="507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b="1" dirty="0">
                <a:solidFill>
                  <a:srgbClr val="F0EEF0"/>
                </a:solidFill>
                <a:latin typeface="Tw Cen MT" panose="020B0602020104020603" pitchFamily="34" charset="0"/>
              </a:rPr>
              <a:t>work area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933" y="2384318"/>
            <a:ext cx="1657350" cy="13985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9BCE1F0-A71E-4D4B-BE6A-A381604C28D2}"/>
              </a:ext>
            </a:extLst>
          </p:cNvPr>
          <p:cNvSpPr txBox="1"/>
          <p:nvPr/>
        </p:nvSpPr>
        <p:spPr>
          <a:xfrm>
            <a:off x="5119879" y="3782911"/>
            <a:ext cx="1479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w Cen MT" panose="020B0602020104020603" pitchFamily="34" charset="0"/>
              </a:rPr>
              <a:t>53.20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9BCE1F0-A71E-4D4B-BE6A-A381604C28D2}"/>
              </a:ext>
            </a:extLst>
          </p:cNvPr>
          <p:cNvSpPr txBox="1"/>
          <p:nvPr/>
        </p:nvSpPr>
        <p:spPr>
          <a:xfrm>
            <a:off x="4966624" y="4490796"/>
            <a:ext cx="1785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w Cen MT" panose="020B0602020104020603" pitchFamily="34" charset="0"/>
              </a:rPr>
              <a:t>Land Holders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9593" y="4183019"/>
            <a:ext cx="6014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5D7373"/>
                </a:solidFill>
                <a:latin typeface="Tw Cen MT" panose="020B0602020104020603" pitchFamily="34" charset="0"/>
              </a:rPr>
              <a:t>Lakh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595" y="5098763"/>
            <a:ext cx="1323233" cy="644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18" y="5098763"/>
            <a:ext cx="1323234" cy="644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043" y="5097732"/>
            <a:ext cx="1325694" cy="644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7767" y="5097732"/>
            <a:ext cx="1325694" cy="644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7491" y="5097732"/>
            <a:ext cx="1325694" cy="644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8531" y="5098764"/>
            <a:ext cx="1323573" cy="64336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878530" y="5822268"/>
            <a:ext cx="13173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5D7373"/>
                </a:solidFill>
                <a:latin typeface="Tw Cen MT" panose="020B0602020104020603" pitchFamily="34" charset="0"/>
              </a:rPr>
              <a:t>Landholding wise</a:t>
            </a:r>
            <a:endParaRPr lang="en-IN" sz="1400" dirty="0"/>
          </a:p>
        </p:txBody>
      </p:sp>
      <p:sp>
        <p:nvSpPr>
          <p:cNvPr id="17" name="Rectangle 16"/>
          <p:cNvSpPr/>
          <p:nvPr/>
        </p:nvSpPr>
        <p:spPr>
          <a:xfrm>
            <a:off x="3298594" y="5822268"/>
            <a:ext cx="13173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w Cen MT" panose="020B0602020104020603" pitchFamily="34" charset="0"/>
              </a:rPr>
              <a:t>20.18 Lakh</a:t>
            </a:r>
          </a:p>
          <a:p>
            <a:pPr algn="ctr"/>
            <a:r>
              <a:rPr lang="en-US" sz="1400" dirty="0">
                <a:latin typeface="Tw Cen MT" panose="020B0602020104020603" pitchFamily="34" charset="0"/>
              </a:rPr>
              <a:t>(38%)</a:t>
            </a:r>
            <a:endParaRPr lang="en-IN" sz="1400" dirty="0"/>
          </a:p>
        </p:txBody>
      </p:sp>
      <p:sp>
        <p:nvSpPr>
          <p:cNvPr id="18" name="Rectangle 17"/>
          <p:cNvSpPr/>
          <p:nvPr/>
        </p:nvSpPr>
        <p:spPr>
          <a:xfrm>
            <a:off x="3289069" y="5445618"/>
            <a:ext cx="13173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92D050"/>
                </a:solidFill>
                <a:latin typeface="Tw Cen MT" panose="020B0602020104020603" pitchFamily="34" charset="0"/>
              </a:rPr>
              <a:t>Marginal</a:t>
            </a:r>
            <a:endParaRPr lang="en-IN" b="1" dirty="0">
              <a:solidFill>
                <a:srgbClr val="92D05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872288" y="5500562"/>
            <a:ext cx="13173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classification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24206" y="5445618"/>
            <a:ext cx="13173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Small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85700" y="5192785"/>
            <a:ext cx="13173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EC630"/>
                </a:solidFill>
                <a:latin typeface="Tw Cen MT" panose="020B0602020104020603" pitchFamily="34" charset="0"/>
              </a:rPr>
              <a:t>Semi Medium</a:t>
            </a:r>
            <a:endParaRPr lang="en-IN" b="1" dirty="0">
              <a:solidFill>
                <a:srgbClr val="FEC63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542355" y="5469783"/>
            <a:ext cx="13173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52CDC0"/>
                </a:solidFill>
                <a:latin typeface="Tw Cen MT" panose="020B0602020104020603" pitchFamily="34" charset="0"/>
              </a:rPr>
              <a:t>Medium</a:t>
            </a:r>
            <a:endParaRPr lang="en-IN" b="1" dirty="0">
              <a:solidFill>
                <a:srgbClr val="52CDC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0602" y="5441439"/>
            <a:ext cx="13173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5969"/>
                </a:solidFill>
                <a:latin typeface="Tw Cen MT" panose="020B0602020104020603" pitchFamily="34" charset="0"/>
              </a:rPr>
              <a:t>Large</a:t>
            </a:r>
            <a:endParaRPr lang="en-IN" b="1" dirty="0">
              <a:solidFill>
                <a:srgbClr val="FF5969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718318" y="5822268"/>
            <a:ext cx="13173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w Cen MT" panose="020B0602020104020603" pitchFamily="34" charset="0"/>
              </a:rPr>
              <a:t>16.16 Lakh</a:t>
            </a:r>
          </a:p>
          <a:p>
            <a:pPr algn="ctr"/>
            <a:r>
              <a:rPr lang="en-US" sz="1400" dirty="0">
                <a:latin typeface="Tw Cen MT" panose="020B0602020104020603" pitchFamily="34" charset="0"/>
              </a:rPr>
              <a:t>(30%)</a:t>
            </a:r>
            <a:endParaRPr lang="en-IN" sz="1400" dirty="0"/>
          </a:p>
        </p:txBody>
      </p:sp>
      <p:sp>
        <p:nvSpPr>
          <p:cNvPr id="25" name="Rectangle 24"/>
          <p:cNvSpPr/>
          <p:nvPr/>
        </p:nvSpPr>
        <p:spPr>
          <a:xfrm>
            <a:off x="6130336" y="5822268"/>
            <a:ext cx="13173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w Cen MT" panose="020B0602020104020603" pitchFamily="34" charset="0"/>
              </a:rPr>
              <a:t>11.50 Lakh</a:t>
            </a:r>
          </a:p>
          <a:p>
            <a:pPr algn="ctr"/>
            <a:r>
              <a:rPr lang="en-US" sz="1400" dirty="0">
                <a:latin typeface="Tw Cen MT" panose="020B0602020104020603" pitchFamily="34" charset="0"/>
              </a:rPr>
              <a:t>(22%)</a:t>
            </a:r>
            <a:endParaRPr lang="en-IN" sz="1400" dirty="0"/>
          </a:p>
        </p:txBody>
      </p:sp>
      <p:sp>
        <p:nvSpPr>
          <p:cNvPr id="26" name="Rectangle 25"/>
          <p:cNvSpPr/>
          <p:nvPr/>
        </p:nvSpPr>
        <p:spPr>
          <a:xfrm>
            <a:off x="7542354" y="5822268"/>
            <a:ext cx="13173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w Cen MT" panose="020B0602020104020603" pitchFamily="34" charset="0"/>
              </a:rPr>
              <a:t>4.96 Lakh</a:t>
            </a:r>
          </a:p>
          <a:p>
            <a:pPr algn="ctr"/>
            <a:r>
              <a:rPr lang="en-US" sz="1400" dirty="0">
                <a:latin typeface="Tw Cen MT" panose="020B0602020104020603" pitchFamily="34" charset="0"/>
              </a:rPr>
              <a:t>(9%)</a:t>
            </a:r>
            <a:endParaRPr lang="en-IN" sz="1400" dirty="0"/>
          </a:p>
        </p:txBody>
      </p:sp>
      <p:sp>
        <p:nvSpPr>
          <p:cNvPr id="27" name="Rectangle 26"/>
          <p:cNvSpPr/>
          <p:nvPr/>
        </p:nvSpPr>
        <p:spPr>
          <a:xfrm>
            <a:off x="8981665" y="5822268"/>
            <a:ext cx="13173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w Cen MT" panose="020B0602020104020603" pitchFamily="34" charset="0"/>
              </a:rPr>
              <a:t>0.40 Lakh</a:t>
            </a:r>
          </a:p>
          <a:p>
            <a:pPr algn="ctr"/>
            <a:r>
              <a:rPr lang="en-US" sz="1400" dirty="0">
                <a:latin typeface="Tw Cen MT" panose="020B0602020104020603" pitchFamily="34" charset="0"/>
              </a:rPr>
              <a:t>(1%)</a:t>
            </a:r>
            <a:endParaRPr lang="en-IN" sz="1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9">
            <a:clrChange>
              <a:clrFrom>
                <a:srgbClr val="FDFDFC"/>
              </a:clrFrom>
              <a:clrTo>
                <a:srgbClr val="FDFDFC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19" y="558657"/>
            <a:ext cx="2295525" cy="199072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79BCE1F0-A71E-4D4B-BE6A-A381604C28D2}"/>
              </a:ext>
            </a:extLst>
          </p:cNvPr>
          <p:cNvSpPr txBox="1"/>
          <p:nvPr/>
        </p:nvSpPr>
        <p:spPr>
          <a:xfrm>
            <a:off x="2540408" y="2286109"/>
            <a:ext cx="1479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Tw Cen MT" panose="020B0602020104020603" pitchFamily="34" charset="0"/>
              </a:rPr>
              <a:t>98 </a:t>
            </a:r>
            <a:endParaRPr lang="en-US" sz="3200" b="1" dirty="0">
              <a:latin typeface="Tw Cen MT" panose="020B06020201040206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79BCE1F0-A71E-4D4B-BE6A-A381604C28D2}"/>
              </a:ext>
            </a:extLst>
          </p:cNvPr>
          <p:cNvSpPr txBox="1"/>
          <p:nvPr/>
        </p:nvSpPr>
        <p:spPr>
          <a:xfrm>
            <a:off x="2405626" y="3037640"/>
            <a:ext cx="1785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Tw Cen MT" panose="020B0602020104020603" pitchFamily="34" charset="0"/>
              </a:rPr>
              <a:t>Operational Area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82562" y="2725770"/>
            <a:ext cx="9829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5D7373"/>
                </a:solidFill>
                <a:latin typeface="Tw Cen MT" panose="020B0602020104020603" pitchFamily="34" charset="0"/>
              </a:rPr>
              <a:t>Lakh Ha.</a:t>
            </a:r>
            <a:endParaRPr lang="en-IN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561" y="894540"/>
            <a:ext cx="2758163" cy="162731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79BCE1F0-A71E-4D4B-BE6A-A381604C28D2}"/>
              </a:ext>
            </a:extLst>
          </p:cNvPr>
          <p:cNvSpPr txBox="1"/>
          <p:nvPr/>
        </p:nvSpPr>
        <p:spPr>
          <a:xfrm>
            <a:off x="7687674" y="2370547"/>
            <a:ext cx="1479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w Cen MT" panose="020B0602020104020603" pitchFamily="34" charset="0"/>
              </a:rPr>
              <a:t>20+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51067" y="2846632"/>
            <a:ext cx="1225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5D7373"/>
                </a:solidFill>
                <a:latin typeface="Tw Cen MT" panose="020B0602020104020603" pitchFamily="34" charset="0"/>
              </a:rPr>
              <a:t>Field Crops</a:t>
            </a:r>
            <a:endParaRPr lang="en-IN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190" y="307550"/>
            <a:ext cx="1288172" cy="9586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5" name="Rectangle 34"/>
          <p:cNvSpPr/>
          <p:nvPr/>
        </p:nvSpPr>
        <p:spPr>
          <a:xfrm>
            <a:off x="9265920" y="1474628"/>
            <a:ext cx="28580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>
                <a:solidFill>
                  <a:srgbClr val="5D7373"/>
                </a:solidFill>
                <a:latin typeface="Tw Cen MT" panose="020B0602020104020603" pitchFamily="34" charset="0"/>
              </a:rPr>
              <a:t>Net Irrigated Area : 44.32 Lakh Ha</a:t>
            </a:r>
            <a:r>
              <a:rPr lang="en-US" sz="1400" b="1" dirty="0" smtClean="0">
                <a:solidFill>
                  <a:srgbClr val="5D7373"/>
                </a:solidFill>
                <a:latin typeface="Tw Cen MT" panose="020B0602020104020603" pitchFamily="34" charset="0"/>
              </a:rPr>
              <a:t>.</a:t>
            </a:r>
            <a:endParaRPr lang="en-US" sz="1400" b="1" dirty="0">
              <a:solidFill>
                <a:srgbClr val="5D7373"/>
              </a:solidFill>
              <a:latin typeface="Tw Cen MT" panose="020B0602020104020603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647452" y="4358807"/>
            <a:ext cx="31333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 smtClean="0">
                <a:solidFill>
                  <a:srgbClr val="5D7373"/>
                </a:solidFill>
                <a:latin typeface="Tw Cen MT" panose="020B0602020104020603" pitchFamily="34" charset="0"/>
              </a:rPr>
              <a:t>Av. Land holding : 1.88 </a:t>
            </a:r>
            <a:r>
              <a:rPr lang="en-US" sz="1600" b="1" dirty="0">
                <a:solidFill>
                  <a:srgbClr val="5D7373"/>
                </a:solidFill>
                <a:latin typeface="Tw Cen MT" panose="020B0602020104020603" pitchFamily="34" charset="0"/>
              </a:rPr>
              <a:t>Ha</a:t>
            </a:r>
            <a:r>
              <a:rPr lang="en-US" sz="1600" b="1" dirty="0" smtClean="0">
                <a:solidFill>
                  <a:srgbClr val="5D7373"/>
                </a:solidFill>
                <a:latin typeface="Tw Cen MT" panose="020B0602020104020603" pitchFamily="34" charset="0"/>
              </a:rPr>
              <a:t>.</a:t>
            </a:r>
            <a:endParaRPr lang="en-US" sz="1600" b="1" dirty="0">
              <a:solidFill>
                <a:srgbClr val="5D7373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5548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ChangeArrowheads="1"/>
          </p:cNvSpPr>
          <p:nvPr/>
        </p:nvSpPr>
        <p:spPr bwMode="auto">
          <a:xfrm>
            <a:off x="2235201" y="314980"/>
            <a:ext cx="8127999" cy="52322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2800" b="1" dirty="0">
                <a:solidFill>
                  <a:srgbClr val="002060"/>
                </a:solidFill>
                <a:latin typeface="Albertus Extra Bold" pitchFamily="34" charset="0"/>
                <a:cs typeface="Arial" charset="0"/>
              </a:rPr>
              <a:t>PRIDE OF GUJARAT</a:t>
            </a: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="" xmlns:p14="http://schemas.microsoft.com/office/powerpoint/2010/main" val="2611182372"/>
              </p:ext>
            </p:extLst>
          </p:nvPr>
        </p:nvGraphicFramePr>
        <p:xfrm>
          <a:off x="365457" y="1096370"/>
          <a:ext cx="11603629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="" xmlns:p14="http://schemas.microsoft.com/office/powerpoint/2010/main" val="3115417741"/>
              </p:ext>
            </p:extLst>
          </p:nvPr>
        </p:nvGraphicFramePr>
        <p:xfrm>
          <a:off x="1139483" y="940857"/>
          <a:ext cx="10607040" cy="5743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235201" y="246743"/>
            <a:ext cx="8127999" cy="52322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2800" b="1" dirty="0">
                <a:solidFill>
                  <a:srgbClr val="002060"/>
                </a:solidFill>
                <a:latin typeface="Albertus Extra Bold" pitchFamily="34" charset="0"/>
                <a:cs typeface="Arial" charset="0"/>
              </a:rPr>
              <a:t>PRIDE OF GUJARAT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72999" y="6581001"/>
            <a:ext cx="561367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 fontAlgn="t">
              <a:spcBef>
                <a:spcPct val="20000"/>
              </a:spcBef>
              <a:spcAft>
                <a:spcPct val="0"/>
              </a:spcAft>
            </a:pPr>
            <a:r>
              <a:rPr lang="pt-BR" sz="1200" b="1" i="1" dirty="0">
                <a:solidFill>
                  <a:srgbClr val="25390F"/>
                </a:solidFill>
                <a:latin typeface="+mj-lt"/>
                <a:cs typeface="Arabic Typesetting" panose="03020402040406030203" pitchFamily="66" charset="-78"/>
              </a:rPr>
              <a:t>2020-21 data As Per Final Estimate  &amp;  </a:t>
            </a:r>
            <a:r>
              <a:rPr lang="en-US" sz="1200" b="1" i="1" dirty="0">
                <a:solidFill>
                  <a:srgbClr val="25390F"/>
                </a:solidFill>
                <a:latin typeface="+mj-lt"/>
                <a:cs typeface="Arabic Typesetting" panose="03020402040406030203" pitchFamily="66" charset="-78"/>
              </a:rPr>
              <a:t>2021-22   data As per  3</a:t>
            </a:r>
            <a:r>
              <a:rPr lang="en-US" sz="1200" b="1" i="1" baseline="30000" dirty="0">
                <a:solidFill>
                  <a:srgbClr val="25390F"/>
                </a:solidFill>
                <a:latin typeface="+mj-lt"/>
                <a:cs typeface="Arabic Typesetting" panose="03020402040406030203" pitchFamily="66" charset="-78"/>
              </a:rPr>
              <a:t>rd</a:t>
            </a:r>
            <a:r>
              <a:rPr lang="en-US" sz="1200" b="1" i="1" dirty="0">
                <a:solidFill>
                  <a:srgbClr val="25390F"/>
                </a:solidFill>
                <a:latin typeface="+mj-lt"/>
                <a:cs typeface="Arabic Typesetting" panose="03020402040406030203" pitchFamily="66" charset="-78"/>
              </a:rPr>
              <a:t> Adv. Estimate.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08538432"/>
              </p:ext>
            </p:extLst>
          </p:nvPr>
        </p:nvGraphicFramePr>
        <p:xfrm>
          <a:off x="805638" y="289380"/>
          <a:ext cx="10481480" cy="621157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483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976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30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86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8997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066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6470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5415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109483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33238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108015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</a:tblGrid>
              <a:tr h="662284"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en-US" sz="3200" u="none" strike="noStrike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Production scenario of last 5 year</a:t>
                      </a:r>
                      <a:endParaRPr lang="en-US" sz="32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5682">
                <a:tc gridSpan="11">
                  <a:txBody>
                    <a:bodyPr/>
                    <a:lstStyle/>
                    <a:p>
                      <a:pPr algn="r" fontAlgn="b"/>
                      <a:r>
                        <a:rPr lang="en-US" sz="1600" b="1" i="1" u="none" strike="noStrike" dirty="0">
                          <a:effectLst/>
                          <a:latin typeface="+mn-lt"/>
                        </a:rPr>
                        <a:t>Area in lakh ha. &amp; </a:t>
                      </a:r>
                      <a:r>
                        <a:rPr lang="en-US" sz="1600" b="1" i="1" u="none" strike="noStrike" dirty="0" smtClean="0">
                          <a:effectLst/>
                          <a:latin typeface="+mn-lt"/>
                        </a:rPr>
                        <a:t>Production</a:t>
                      </a:r>
                      <a:r>
                        <a:rPr lang="en-US" sz="1600" b="1" i="1" u="none" strike="noStrike" dirty="0">
                          <a:effectLst/>
                          <a:latin typeface="+mn-lt"/>
                        </a:rPr>
                        <a:t>. In lakh Tones;  </a:t>
                      </a:r>
                      <a:endParaRPr lang="en-US" sz="1600" b="1" i="1" u="none" strike="noStrike" dirty="0" smtClean="0">
                        <a:effectLst/>
                        <a:latin typeface="+mn-lt"/>
                      </a:endParaRPr>
                    </a:p>
                    <a:p>
                      <a:pPr algn="r" fontAlgn="b"/>
                      <a:r>
                        <a:rPr lang="en-US" sz="1600" b="1" i="1" u="none" strike="noStrike" dirty="0" smtClean="0">
                          <a:effectLst/>
                          <a:latin typeface="+mn-lt"/>
                        </a:rPr>
                        <a:t>Cotton production</a:t>
                      </a:r>
                      <a:r>
                        <a:rPr lang="en-US" sz="1600" b="1" i="1" u="none" strike="noStrike" dirty="0">
                          <a:effectLst/>
                          <a:latin typeface="+mn-lt"/>
                        </a:rPr>
                        <a:t>. in </a:t>
                      </a:r>
                      <a:r>
                        <a:rPr lang="en-US" sz="1600" b="1" i="1" u="none" strike="noStrike" dirty="0" err="1">
                          <a:effectLst/>
                          <a:latin typeface="+mn-lt"/>
                        </a:rPr>
                        <a:t>lakh</a:t>
                      </a:r>
                      <a:r>
                        <a:rPr lang="en-US" sz="1600" b="1" i="1" u="none" strike="noStrike" dirty="0">
                          <a:effectLst/>
                          <a:latin typeface="+mn-lt"/>
                        </a:rPr>
                        <a:t> bales</a:t>
                      </a:r>
                      <a:endParaRPr lang="en-US" sz="1600" b="1" i="1" u="none" strike="noStrike" dirty="0">
                        <a:solidFill>
                          <a:srgbClr val="403152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4543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Crops/</a:t>
                      </a:r>
                    </a:p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18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2017-18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18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2018-19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18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2019-20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18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2020-21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18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2021-22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06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Area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Production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Area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Production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Area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Production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Area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Production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Area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Production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9772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Cereals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28.27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68.26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25.33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61.33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32.55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85.14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31.82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83.24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30.24</a:t>
                      </a:r>
                      <a:endParaRPr lang="en-IN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82.49</a:t>
                      </a:r>
                      <a:endParaRPr lang="en-IN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9772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Pulses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9.08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9.43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6.62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6.79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9.02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10.58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13.97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19.68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17.44</a:t>
                      </a:r>
                      <a:endParaRPr lang="en-IN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27.01</a:t>
                      </a:r>
                      <a:endParaRPr lang="en-IN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9772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Oilseed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27.54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61.70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25.45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37.38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28.64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66.52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34.39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62.30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34.11</a:t>
                      </a:r>
                      <a:endParaRPr lang="en-IN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69.75</a:t>
                      </a:r>
                      <a:endParaRPr lang="en-IN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79772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Cotton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26.26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101.13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26.60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63.03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26.55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86.24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22.71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72.17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22.46</a:t>
                      </a:r>
                      <a:endParaRPr lang="en-IN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75.57</a:t>
                      </a:r>
                      <a:endParaRPr lang="en-IN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7460">
                <a:tc gridSpan="11">
                  <a:txBody>
                    <a:bodyPr/>
                    <a:lstStyle/>
                    <a:p>
                      <a:pPr algn="l" rtl="0" fontAlgn="b"/>
                      <a:endParaRPr lang="pt-BR" sz="10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46198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27921731"/>
              </p:ext>
            </p:extLst>
          </p:nvPr>
        </p:nvGraphicFramePr>
        <p:xfrm>
          <a:off x="1219200" y="1099334"/>
          <a:ext cx="9237497" cy="576567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089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4232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2467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3898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5620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8190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1484497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703340"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US" sz="2000" u="none" strike="noStrike" dirty="0">
                          <a:effectLst/>
                        </a:rPr>
                        <a:t> CROP </a:t>
                      </a:r>
                    </a:p>
                    <a:p>
                      <a:pPr algn="l" rtl="0" fontAlgn="b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2000" u="none" strike="noStrike" dirty="0">
                          <a:effectLst/>
                        </a:rPr>
                        <a:t>Area </a:t>
                      </a:r>
                      <a:r>
                        <a:rPr lang="en-US" sz="2000" u="none" strike="noStrike" dirty="0" smtClean="0">
                          <a:effectLst/>
                        </a:rPr>
                        <a:t>(lakh </a:t>
                      </a:r>
                      <a:r>
                        <a:rPr lang="en-US" sz="2000" u="none" strike="noStrike" dirty="0">
                          <a:effectLst/>
                        </a:rPr>
                        <a:t>ha</a:t>
                      </a:r>
                      <a:r>
                        <a:rPr lang="en-US" sz="2000" u="none" strike="noStrike" dirty="0" smtClean="0">
                          <a:effectLst/>
                        </a:rPr>
                        <a:t>.)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5358" marR="5358" marT="5358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2000" u="none" strike="noStrike" dirty="0" smtClean="0">
                          <a:effectLst/>
                        </a:rPr>
                        <a:t>Production (lakh MT)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5358" marR="5358" marT="5358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2000" u="none" strike="noStrike" dirty="0">
                          <a:effectLst/>
                        </a:rPr>
                        <a:t>Productivity </a:t>
                      </a:r>
                      <a:r>
                        <a:rPr lang="en-US" sz="2000" u="none" strike="noStrike" dirty="0" smtClean="0">
                          <a:effectLst/>
                        </a:rPr>
                        <a:t>(Kg/ha)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5358" marR="5358" marT="5358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2515">
                <a:tc vMerge="1">
                  <a:txBody>
                    <a:bodyPr/>
                    <a:lstStyle/>
                    <a:p>
                      <a:pPr algn="l" rtl="0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Normal</a:t>
                      </a:r>
                      <a:endParaRPr kumimoji="0" 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2022-23</a:t>
                      </a:r>
                      <a:endParaRPr kumimoji="0" 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Normal</a:t>
                      </a:r>
                      <a:endParaRPr kumimoji="0" 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2022-23</a:t>
                      </a:r>
                      <a:endParaRPr kumimoji="0" 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Normal</a:t>
                      </a:r>
                      <a:endParaRPr kumimoji="0" 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2022-23</a:t>
                      </a:r>
                      <a:endParaRPr kumimoji="0" 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 anchor="ctr" horzOverflow="overflow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542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u="none" strike="noStrike" dirty="0">
                          <a:effectLst/>
                        </a:rPr>
                        <a:t>Rice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8.32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8.50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18.59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20.40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2234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2400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39264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u="none" strike="noStrike" dirty="0" err="1">
                          <a:effectLst/>
                        </a:rPr>
                        <a:t>Jowar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0.31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0.25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0.45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 smtClean="0">
                          <a:effectLst/>
                        </a:rPr>
                        <a:t>0.40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1435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1500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3542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u="none" strike="noStrike" dirty="0" err="1">
                          <a:effectLst/>
                        </a:rPr>
                        <a:t>Bajra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1.75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1.80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2.73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 smtClean="0">
                          <a:effectLst/>
                        </a:rPr>
                        <a:t>3.00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1560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1700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3542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u="none" strike="noStrike" dirty="0">
                          <a:effectLst/>
                        </a:rPr>
                        <a:t>Maize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2.99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3.00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4.79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 smtClean="0">
                          <a:effectLst/>
                        </a:rPr>
                        <a:t>5.00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1599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1700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911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u="none" strike="noStrike" dirty="0">
                          <a:effectLst/>
                        </a:rPr>
                        <a:t>Other cereals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u="none" strike="noStrike" dirty="0" smtClean="0"/>
                        <a:t>0.12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0.10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u="none" strike="noStrike" dirty="0" smtClean="0"/>
                        <a:t>0.12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0.10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932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 smtClean="0">
                          <a:effectLst/>
                        </a:rPr>
                        <a:t>1000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2911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1" u="none" strike="noStrike" dirty="0">
                          <a:effectLst/>
                        </a:rPr>
                        <a:t>Total cereals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kern="1200" dirty="0" smtClean="0">
                          <a:effectLst/>
                        </a:rPr>
                        <a:t>13.50</a:t>
                      </a:r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13.65</a:t>
                      </a:r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kern="1200" dirty="0" smtClean="0">
                          <a:effectLst/>
                        </a:rPr>
                        <a:t>26.67</a:t>
                      </a:r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28.90</a:t>
                      </a:r>
                      <a:endParaRPr lang="en-IN" sz="20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308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u="none" strike="noStrike" dirty="0" err="1">
                          <a:effectLst/>
                        </a:rPr>
                        <a:t>Tur</a:t>
                      </a:r>
                      <a:r>
                        <a:rPr lang="en-US" sz="2000" u="none" strike="noStrike" dirty="0">
                          <a:effectLst/>
                        </a:rPr>
                        <a:t> (</a:t>
                      </a:r>
                      <a:r>
                        <a:rPr lang="en-US" sz="2000" u="none" strike="noStrike" dirty="0" err="1">
                          <a:effectLst/>
                        </a:rPr>
                        <a:t>Arhar</a:t>
                      </a:r>
                      <a:r>
                        <a:rPr lang="en-US" sz="2000" u="none" strike="noStrike" dirty="0">
                          <a:effectLst/>
                        </a:rPr>
                        <a:t>)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2.36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2.50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2.68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 smtClean="0">
                          <a:effectLst/>
                        </a:rPr>
                        <a:t>3.10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1135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1250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4233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u="none" strike="noStrike" dirty="0" err="1">
                          <a:effectLst/>
                        </a:rPr>
                        <a:t>Moong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0.82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1.00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0.39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 smtClean="0">
                          <a:effectLst/>
                        </a:rPr>
                        <a:t>0.50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478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550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4410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u="none" strike="noStrike" dirty="0">
                          <a:effectLst/>
                        </a:rPr>
                        <a:t>Math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smtClean="0">
                          <a:effectLst/>
                        </a:rPr>
                        <a:t>0.13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0.25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0.047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 smtClean="0">
                          <a:effectLst/>
                        </a:rPr>
                        <a:t>0.15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365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500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4410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u="none" strike="noStrike" dirty="0" err="1">
                          <a:effectLst/>
                        </a:rPr>
                        <a:t>Udad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smtClean="0">
                          <a:effectLst/>
                        </a:rPr>
                        <a:t>0.97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1.50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0.60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 smtClean="0">
                          <a:effectLst/>
                        </a:rPr>
                        <a:t>1.00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616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</a:rPr>
                        <a:t>700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27816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0" u="none" strike="noStrike" dirty="0">
                          <a:effectLst/>
                        </a:rPr>
                        <a:t>Other pulses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 smtClean="0">
                          <a:effectLst/>
                        </a:rPr>
                        <a:t>0.03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 smtClean="0">
                          <a:effectLst/>
                        </a:rPr>
                        <a:t>0.05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 smtClean="0">
                          <a:effectLst/>
                        </a:rPr>
                        <a:t>0.021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 smtClean="0">
                          <a:effectLst/>
                        </a:rPr>
                        <a:t>0.05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</a:rPr>
                        <a:t>592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 smtClean="0">
                          <a:effectLst/>
                        </a:rPr>
                        <a:t>700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2911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1" u="none" strike="noStrike" dirty="0">
                          <a:effectLst/>
                        </a:rPr>
                        <a:t>Total pulses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kern="1200" dirty="0" smtClean="0">
                          <a:effectLst/>
                        </a:rPr>
                        <a:t>4.32</a:t>
                      </a:r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5.30</a:t>
                      </a:r>
                      <a:endParaRPr lang="en-IN" sz="20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kern="1200" dirty="0" smtClean="0">
                          <a:effectLst/>
                        </a:rPr>
                        <a:t>3.74</a:t>
                      </a:r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3350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1" u="none" strike="noStrike" dirty="0">
                          <a:effectLst/>
                        </a:rPr>
                        <a:t>Total food grains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58" marR="5358" marT="53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kern="1200" dirty="0" smtClean="0">
                          <a:effectLst/>
                        </a:rPr>
                        <a:t>17.82</a:t>
                      </a:r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kern="1200" dirty="0" smtClean="0">
                          <a:effectLst/>
                        </a:rPr>
                        <a:t>30.41</a:t>
                      </a:r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406959">
                <a:tc gridSpan="7"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25390F"/>
                        </a:solidFill>
                        <a:effectLst/>
                        <a:latin typeface="+mn-lt"/>
                        <a:cs typeface="Arabic Typesetting" panose="03020402040406030203" pitchFamily="66" charset="-78"/>
                      </a:endParaRPr>
                    </a:p>
                  </a:txBody>
                  <a:tcPr marL="5358" marR="5358" marT="5358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208162" y="341701"/>
            <a:ext cx="58114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514350">
              <a:spcBef>
                <a:spcPct val="0"/>
              </a:spcBef>
            </a:pPr>
            <a:r>
              <a:rPr lang="en-US" sz="2800" b="1" u="sng" dirty="0">
                <a:solidFill>
                  <a:srgbClr val="FF0000"/>
                </a:solidFill>
                <a:latin typeface="Calibri"/>
              </a:rPr>
              <a:t>Crop-wise Projections for Kharif 2022 </a:t>
            </a:r>
          </a:p>
        </p:txBody>
      </p:sp>
    </p:spTree>
    <p:extLst>
      <p:ext uri="{BB962C8B-B14F-4D97-AF65-F5344CB8AC3E}">
        <p14:creationId xmlns="" xmlns:p14="http://schemas.microsoft.com/office/powerpoint/2010/main" val="102083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10525477"/>
              </p:ext>
            </p:extLst>
          </p:nvPr>
        </p:nvGraphicFramePr>
        <p:xfrm>
          <a:off x="670560" y="863032"/>
          <a:ext cx="9968131" cy="488146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034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60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250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216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5240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5399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1205004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547757"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CROP </a:t>
                      </a:r>
                    </a:p>
                  </a:txBody>
                  <a:tcPr marL="5121" marR="5121" marT="5121" marB="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Area </a:t>
                      </a:r>
                      <a:r>
                        <a:rPr lang="en-US" sz="20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lakh</a:t>
                      </a:r>
                      <a:r>
                        <a:rPr lang="en-US" sz="2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ha.</a:t>
                      </a:r>
                    </a:p>
                  </a:txBody>
                  <a:tcPr marL="5358" marR="5358" marT="5358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Production </a:t>
                      </a:r>
                      <a:r>
                        <a:rPr lang="en-US" sz="20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lakh </a:t>
                      </a:r>
                      <a:r>
                        <a:rPr lang="en-US" sz="2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MT</a:t>
                      </a:r>
                    </a:p>
                  </a:txBody>
                  <a:tcPr marL="5358" marR="5358" marT="5358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Productivity  Kg/ha</a:t>
                      </a:r>
                    </a:p>
                  </a:txBody>
                  <a:tcPr marL="5358" marR="5358" marT="5358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258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51435" marR="51435" marT="25718" marB="2571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2022-23</a:t>
                      </a:r>
                      <a:endParaRPr kumimoji="0" 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51435" marR="51435" marT="25718" marB="2571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2022-23</a:t>
                      </a:r>
                      <a:endParaRPr kumimoji="0" 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51435" marR="51435" marT="25718" marB="2571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2022-23</a:t>
                      </a:r>
                    </a:p>
                  </a:txBody>
                  <a:tcPr marL="51435" marR="51435" marT="25718" marB="25718" anchor="ctr" horzOverflow="overflow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128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Groundnut</a:t>
                      </a:r>
                    </a:p>
                  </a:txBody>
                  <a:tcPr marL="5121" marR="5121" marT="512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17.66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20.00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35.46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46.00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2008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128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Castor</a:t>
                      </a:r>
                    </a:p>
                  </a:txBody>
                  <a:tcPr marL="5121" marR="5121" marT="512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6.37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6.50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12.41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13.60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1947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2100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4128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Sesamum</a:t>
                      </a:r>
                      <a:endParaRPr lang="en-US" sz="2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21" marR="5121" marT="512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1.11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361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4128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Soybean </a:t>
                      </a:r>
                    </a:p>
                  </a:txBody>
                  <a:tcPr marL="5121" marR="5121" marT="512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1.29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1.76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1373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1600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645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oilseeds</a:t>
                      </a:r>
                    </a:p>
                  </a:txBody>
                  <a:tcPr marL="5121" marR="5121" marT="512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0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26.42</a:t>
                      </a:r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0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30.30</a:t>
                      </a:r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0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50.03</a:t>
                      </a:r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64.02</a:t>
                      </a:r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IN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4128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Cotton</a:t>
                      </a:r>
                    </a:p>
                  </a:txBody>
                  <a:tcPr marL="5121" marR="5121" marT="512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25.28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24.00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73.81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91.74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496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4128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Tobacco</a:t>
                      </a:r>
                    </a:p>
                  </a:txBody>
                  <a:tcPr marL="5121" marR="5121" marT="512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1946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1950</a:t>
                      </a:r>
                      <a:endParaRPr lang="en-IN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58" marR="5358" marT="535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503725">
                <a:tc gridSpan="7"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.                             </a:t>
                      </a:r>
                      <a:endParaRPr lang="en-US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121" marR="5121" marT="5121" marB="0"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04" marR="9104" marT="9104" marB="0"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04" marR="9104" marT="9104" marB="0"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04" marR="9104" marT="9104" marB="0"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04" marR="9104" marT="9104" marB="0"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04" marR="9104" marT="9104" marB="0"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04" marR="9104" marT="9104" marB="0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181335" y="262148"/>
            <a:ext cx="58114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514350">
              <a:spcBef>
                <a:spcPct val="0"/>
              </a:spcBef>
            </a:pPr>
            <a:r>
              <a:rPr lang="en-US" sz="2800" b="1" u="sng" dirty="0">
                <a:solidFill>
                  <a:srgbClr val="FF0000"/>
                </a:solidFill>
              </a:rPr>
              <a:t>Crop-wise Projections </a:t>
            </a:r>
            <a:r>
              <a:rPr lang="en-US" sz="2800" b="1" u="sng" dirty="0">
                <a:solidFill>
                  <a:srgbClr val="FF0000"/>
                </a:solidFill>
                <a:latin typeface="Calibri"/>
              </a:rPr>
              <a:t>for Kharif 2022 </a:t>
            </a:r>
          </a:p>
        </p:txBody>
      </p:sp>
      <p:sp>
        <p:nvSpPr>
          <p:cNvPr id="6" name="Rectangle 70"/>
          <p:cNvSpPr>
            <a:spLocks noChangeArrowheads="1"/>
          </p:cNvSpPr>
          <p:nvPr/>
        </p:nvSpPr>
        <p:spPr bwMode="auto">
          <a:xfrm>
            <a:off x="7524238" y="5306516"/>
            <a:ext cx="2007706" cy="257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/>
        </p:style>
        <p:txBody>
          <a:bodyPr wrap="none" anchor="ctr"/>
          <a:lstStyle/>
          <a:p>
            <a:pPr algn="ctr" defTabSz="514350"/>
            <a:r>
              <a:rPr lang="en-US" sz="1400" dirty="0">
                <a:solidFill>
                  <a:srgbClr val="002060"/>
                </a:solidFill>
                <a:latin typeface="Calibri"/>
                <a:cs typeface="Arial" charset="0"/>
              </a:rPr>
              <a:t>**Cotton prod. In lakh bales</a:t>
            </a:r>
          </a:p>
        </p:txBody>
      </p:sp>
    </p:spTree>
    <p:extLst>
      <p:ext uri="{BB962C8B-B14F-4D97-AF65-F5344CB8AC3E}">
        <p14:creationId xmlns="" xmlns:p14="http://schemas.microsoft.com/office/powerpoint/2010/main" val="4059221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78E3B017-E6AF-455A-ADF7-A3F63293A835}" type="slidenum">
              <a:rPr lang="en-US" sz="1400"/>
              <a:pPr algn="r" eaLnBrk="1" hangingPunct="1"/>
              <a:t>9</a:t>
            </a:fld>
            <a:endParaRPr lang="en-US" sz="1400"/>
          </a:p>
        </p:txBody>
      </p:sp>
      <p:pic>
        <p:nvPicPr>
          <p:cNvPr id="260099" name="Picture 3" descr="Se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6200"/>
            <a:ext cx="9144000" cy="6645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029803" y="2006551"/>
            <a:ext cx="68125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smtClean="0">
                <a:solidFill>
                  <a:schemeClr val="bg1"/>
                </a:solidFill>
              </a:rPr>
              <a:t>PREPAREDNESS FOR </a:t>
            </a:r>
          </a:p>
          <a:p>
            <a:pPr algn="ctr"/>
            <a:r>
              <a:rPr lang="en-US" sz="7200" b="1" dirty="0" smtClean="0">
                <a:solidFill>
                  <a:schemeClr val="bg1"/>
                </a:solidFill>
              </a:rPr>
              <a:t>KHARIF 2022</a:t>
            </a:r>
            <a:endParaRPr 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261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176447254"/>
              </p:ext>
            </p:extLst>
          </p:nvPr>
        </p:nvGraphicFramePr>
        <p:xfrm>
          <a:off x="408744" y="1343890"/>
          <a:ext cx="7829004" cy="54469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495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657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156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490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7490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7222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/>
                        <a:t>Sr. No.</a:t>
                      </a:r>
                      <a:endParaRPr lang="en-US" sz="2000" b="1" i="0" u="none" strike="noStrike" dirty="0">
                        <a:solidFill>
                          <a:srgbClr val="00206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7144" marR="7144" marT="7144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/>
                        <a:t>Crop </a:t>
                      </a:r>
                      <a:endParaRPr lang="en-US" sz="2000" b="1" i="0" u="none" strike="noStrike" dirty="0">
                        <a:solidFill>
                          <a:srgbClr val="00206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7144" marR="7144" marT="7144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/>
                        <a:t>Requirement </a:t>
                      </a:r>
                    </a:p>
                    <a:p>
                      <a:pPr algn="ctr" fontAlgn="ctr"/>
                      <a:r>
                        <a:rPr lang="en-US" sz="2000" b="1" u="none" strike="noStrike" dirty="0"/>
                        <a:t>(in quintals)</a:t>
                      </a:r>
                      <a:endParaRPr lang="en-US" sz="2000" b="1" i="0" u="none" strike="noStrike" dirty="0">
                        <a:solidFill>
                          <a:srgbClr val="00206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7144" marR="7144" marT="7144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/>
                        <a:t>Availability  </a:t>
                      </a:r>
                    </a:p>
                    <a:p>
                      <a:pPr algn="ctr" fontAlgn="ctr"/>
                      <a:r>
                        <a:rPr lang="en-US" sz="2000" b="1" u="none" strike="noStrike" dirty="0"/>
                        <a:t>(in quintals)</a:t>
                      </a:r>
                      <a:endParaRPr lang="en-US" sz="2000" b="1" i="0" u="none" strike="noStrike" dirty="0">
                        <a:solidFill>
                          <a:srgbClr val="00206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7144" marR="7144" marT="7144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/>
                        <a:t>Surplus</a:t>
                      </a:r>
                    </a:p>
                    <a:p>
                      <a:pPr algn="ctr" fontAlgn="ctr"/>
                      <a:r>
                        <a:rPr lang="en-US" sz="2000" b="1" u="none" strike="noStrike" kern="1200" dirty="0"/>
                        <a:t>(in quintals)</a:t>
                      </a:r>
                      <a:endParaRPr lang="en-US" sz="2000" b="1" i="0" u="none" strike="noStrike" dirty="0">
                        <a:solidFill>
                          <a:srgbClr val="00206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7144" marR="7144" marT="7144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52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/>
                        <a:t>1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Maize</a:t>
                      </a:r>
                    </a:p>
                  </a:txBody>
                  <a:tcPr marL="27000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60000</a:t>
                      </a:r>
                    </a:p>
                  </a:txBody>
                  <a:tcPr marL="27000" marR="27000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60695</a:t>
                      </a:r>
                    </a:p>
                  </a:txBody>
                  <a:tcPr marL="27000" marR="27000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695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52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/>
                        <a:t>2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Bajara</a:t>
                      </a:r>
                      <a:endParaRPr lang="en-US" sz="2000" dirty="0"/>
                    </a:p>
                  </a:txBody>
                  <a:tcPr marL="27000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6000</a:t>
                      </a:r>
                    </a:p>
                  </a:txBody>
                  <a:tcPr marL="27000" marR="27000" marT="7144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6750</a:t>
                      </a:r>
                    </a:p>
                  </a:txBody>
                  <a:tcPr marL="27000" marR="27000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750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52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/>
                        <a:t>3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Castor</a:t>
                      </a:r>
                    </a:p>
                  </a:txBody>
                  <a:tcPr marL="27000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32500</a:t>
                      </a:r>
                    </a:p>
                  </a:txBody>
                  <a:tcPr marL="27000" marR="27000" marT="7144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33648</a:t>
                      </a:r>
                    </a:p>
                  </a:txBody>
                  <a:tcPr marL="27000" marR="27000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1148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23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/>
                        <a:t>4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Cotton </a:t>
                      </a:r>
                      <a:r>
                        <a:rPr lang="en-US" sz="2000" dirty="0" err="1"/>
                        <a:t>Hy</a:t>
                      </a:r>
                      <a:r>
                        <a:rPr lang="en-US" sz="2000" dirty="0"/>
                        <a:t>.+ </a:t>
                      </a:r>
                      <a:endParaRPr lang="en-US" sz="2000" dirty="0" smtClean="0"/>
                    </a:p>
                    <a:p>
                      <a:pPr algn="ctr"/>
                      <a:r>
                        <a:rPr lang="en-US" sz="2000" dirty="0" smtClean="0"/>
                        <a:t>variety</a:t>
                      </a:r>
                      <a:endParaRPr lang="en-US" sz="2000" dirty="0"/>
                    </a:p>
                  </a:txBody>
                  <a:tcPr marL="27000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63000</a:t>
                      </a:r>
                    </a:p>
                  </a:txBody>
                  <a:tcPr marL="27000" marR="27000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63974</a:t>
                      </a:r>
                    </a:p>
                  </a:txBody>
                  <a:tcPr marL="27000" marR="27000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974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52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/>
                        <a:t>5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Paddy</a:t>
                      </a:r>
                    </a:p>
                  </a:txBody>
                  <a:tcPr marL="27000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123000</a:t>
                      </a:r>
                    </a:p>
                  </a:txBody>
                  <a:tcPr marL="27000" marR="27000" marT="7144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128420</a:t>
                      </a:r>
                    </a:p>
                  </a:txBody>
                  <a:tcPr marL="27000" marR="27000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5420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52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/>
                        <a:t>6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Black gram</a:t>
                      </a:r>
                    </a:p>
                  </a:txBody>
                  <a:tcPr marL="27000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marL="27000" marR="27000" marT="7144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10253</a:t>
                      </a:r>
                    </a:p>
                  </a:txBody>
                  <a:tcPr marL="27000" marR="27000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253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52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kern="1200" dirty="0"/>
                        <a:t> 7</a:t>
                      </a:r>
                      <a:endParaRPr lang="en-US" sz="2000" b="0" i="0" u="none" strike="noStrike" kern="1200" dirty="0">
                        <a:solidFill>
                          <a:srgbClr val="0070C0"/>
                        </a:solidFill>
                        <a:latin typeface="+mj-lt"/>
                        <a:ea typeface="+mn-ea"/>
                        <a:cs typeface="Times New Roman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Green gram</a:t>
                      </a:r>
                    </a:p>
                  </a:txBody>
                  <a:tcPr marL="27000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marL="27000" marR="27000" marT="7144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10406</a:t>
                      </a:r>
                    </a:p>
                  </a:txBody>
                  <a:tcPr marL="27000" marR="27000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406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52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kern="1200" dirty="0"/>
                        <a:t>8</a:t>
                      </a:r>
                      <a:endParaRPr lang="en-US" sz="2000" b="0" i="0" u="none" strike="noStrike" kern="1200" dirty="0">
                        <a:solidFill>
                          <a:srgbClr val="0070C0"/>
                        </a:solidFill>
                        <a:latin typeface="+mj-lt"/>
                        <a:ea typeface="+mn-ea"/>
                        <a:cs typeface="Times New Roman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Pigeonpea</a:t>
                      </a:r>
                      <a:endParaRPr lang="en-US" sz="2000" dirty="0"/>
                    </a:p>
                  </a:txBody>
                  <a:tcPr marL="27000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22081</a:t>
                      </a:r>
                    </a:p>
                  </a:txBody>
                  <a:tcPr marL="27000" marR="27000" marT="7144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22481</a:t>
                      </a:r>
                    </a:p>
                  </a:txBody>
                  <a:tcPr marL="27000" marR="27000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529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b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Groundnut</a:t>
                      </a:r>
                    </a:p>
                  </a:txBody>
                  <a:tcPr marL="27000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868000</a:t>
                      </a:r>
                    </a:p>
                  </a:txBody>
                  <a:tcPr marL="27000" marR="27000" marT="7144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872617</a:t>
                      </a:r>
                    </a:p>
                  </a:txBody>
                  <a:tcPr marL="27000" marR="27000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4617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6840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b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Seasamum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000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2500</a:t>
                      </a:r>
                    </a:p>
                  </a:txBody>
                  <a:tcPr marL="27000" marR="27000" marT="7144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2587</a:t>
                      </a:r>
                    </a:p>
                  </a:txBody>
                  <a:tcPr marL="27000" marR="27000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6840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b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Soyabean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000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88500</a:t>
                      </a:r>
                    </a:p>
                  </a:txBody>
                  <a:tcPr marL="27000" marR="27000" marT="7144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88782</a:t>
                      </a:r>
                    </a:p>
                  </a:txBody>
                  <a:tcPr marL="27000" marR="27000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282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48740">
                <a:tc>
                  <a:txBody>
                    <a:bodyPr/>
                    <a:lstStyle/>
                    <a:p>
                      <a:pPr algn="l" fontAlgn="ctr"/>
                      <a:endParaRPr lang="en-US" sz="2000" b="1" i="0" u="none" strike="noStrike" kern="1200" dirty="0">
                        <a:solidFill>
                          <a:srgbClr val="0070C0"/>
                        </a:solidFill>
                        <a:latin typeface="+mj-lt"/>
                        <a:ea typeface="+mn-ea"/>
                        <a:cs typeface="Times New Roman" pitchFamily="18" charset="0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kern="1200" dirty="0"/>
                        <a:t>TOTAL</a:t>
                      </a:r>
                      <a:endParaRPr lang="en-US" sz="2000" b="1" i="0" u="none" strike="noStrike" kern="1200" dirty="0">
                        <a:solidFill>
                          <a:srgbClr val="0070C0"/>
                        </a:solidFill>
                        <a:latin typeface="+mj-lt"/>
                        <a:ea typeface="+mn-ea"/>
                        <a:cs typeface="Times New Roman" pitchFamily="18" charset="0"/>
                      </a:endParaRPr>
                    </a:p>
                  </a:txBody>
                  <a:tcPr marL="27000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12,85,581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13,00,613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15,033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45660" y="151328"/>
            <a:ext cx="1022713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 fontAlgn="b">
              <a:defRPr/>
            </a:pPr>
            <a:r>
              <a:rPr lang="en-US" sz="3200" b="1" u="sng" dirty="0">
                <a:solidFill>
                  <a:srgbClr val="002060"/>
                </a:solidFill>
                <a:latin typeface="Calibri"/>
              </a:rPr>
              <a:t>REQUIREMENT AND AVILABILITY OF  CERTIFIED/QUALITY  SEEDS FOR  KHARIF 2022</a:t>
            </a:r>
            <a:endParaRPr lang="en-US" sz="3200" b="1" u="sng" dirty="0">
              <a:solidFill>
                <a:srgbClr val="002060"/>
              </a:solidFill>
              <a:latin typeface="Arial"/>
            </a:endParaRPr>
          </a:p>
        </p:txBody>
      </p:sp>
      <p:pic>
        <p:nvPicPr>
          <p:cNvPr id="4" name="Picture 3" descr="C:\Users\nsc\Downloads\WhatsApp Image 2022-02-14 at 17.15.36.jpeg"/>
          <p:cNvPicPr/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397" y="689827"/>
            <a:ext cx="3238809" cy="2094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C:\Users\nsc\Downloads\WhatsApp Image 2022-02-14 at 16.59.04.jpeg"/>
          <p:cNvPicPr/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397" y="2826323"/>
            <a:ext cx="3206408" cy="205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C:\Users\nsc\Downloads\WhatsApp Image 2021-09-24 at 16.47.51.jpeg"/>
          <p:cNvPicPr/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397" y="4918364"/>
            <a:ext cx="3206408" cy="18690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210585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0175" y="474241"/>
            <a:ext cx="6898770" cy="642709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GB" sz="4000" u="sng" dirty="0">
                <a:solidFill>
                  <a:srgbClr val="C00000"/>
                </a:solidFill>
                <a:latin typeface="+mn-lt"/>
              </a:rPr>
              <a:t>Product wise Fertilizer Allocation </a:t>
            </a:r>
            <a:r>
              <a:rPr lang="en-GB" sz="4000" u="sng" dirty="0" smtClean="0">
                <a:solidFill>
                  <a:srgbClr val="C00000"/>
                </a:solidFill>
                <a:latin typeface="+mn-lt"/>
              </a:rPr>
              <a:t>for 2022 (In </a:t>
            </a:r>
            <a:r>
              <a:rPr lang="en-GB" sz="4000" u="sng" dirty="0">
                <a:solidFill>
                  <a:srgbClr val="C00000"/>
                </a:solidFill>
                <a:latin typeface="+mn-lt"/>
              </a:rPr>
              <a:t>MT)</a:t>
            </a:r>
            <a:r>
              <a:rPr lang="en-GB" sz="2800" u="sng" dirty="0">
                <a:solidFill>
                  <a:srgbClr val="C00000"/>
                </a:solidFill>
                <a:latin typeface="+mn-lt"/>
              </a:rPr>
              <a:t>  </a:t>
            </a:r>
            <a:endParaRPr lang="en-US" sz="2800" u="sng" dirty="0">
              <a:solidFill>
                <a:srgbClr val="C00000"/>
              </a:solidFill>
              <a:latin typeface="+mn-lt"/>
            </a:endParaRPr>
          </a:p>
        </p:txBody>
      </p:sp>
      <p:graphicFrame>
        <p:nvGraphicFramePr>
          <p:cNvPr id="273527" name="Group 119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="" xmlns:p14="http://schemas.microsoft.com/office/powerpoint/2010/main" val="1632899484"/>
              </p:ext>
            </p:extLst>
          </p:nvPr>
        </p:nvGraphicFramePr>
        <p:xfrm>
          <a:off x="250175" y="1551713"/>
          <a:ext cx="7185121" cy="4905435"/>
        </p:xfrm>
        <a:graphic>
          <a:graphicData uri="http://schemas.openxmlformats.org/drawingml/2006/table">
            <a:tbl>
              <a:tblPr/>
              <a:tblGrid>
                <a:gridCol w="1176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0410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3003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796496"/>
              </a:tblGrid>
              <a:tr h="56847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Product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0" lang="en-GB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dirty="0" smtClean="0">
                          <a:solidFill>
                            <a:srgbClr val="002060"/>
                          </a:solidFill>
                          <a:latin typeface="+mn-lt"/>
                        </a:rPr>
                        <a:t>Kharif : 2021</a:t>
                      </a:r>
                      <a:endParaRPr lang="en-US" sz="2000" b="1" dirty="0" smtClean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Demand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Sanctioned for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Kharif 2022</a:t>
                      </a:r>
                      <a:endParaRPr kumimoji="0" lang="en-GB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744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Requirement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Allocation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Supply</a:t>
                      </a:r>
                      <a:endParaRPr kumimoji="0" lang="en-GB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485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Urea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11,50,000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11,77,319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10,00,790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11,50,000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46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DAP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2,50,000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2,59,030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2,69,092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3,00,000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485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MOP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60,000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63,280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48,886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55,000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46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NPK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3,10,000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3,37,550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3,15,661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3,10,000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5" marR="68585"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959" y="3932255"/>
            <a:ext cx="4184625" cy="25387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955" y="1503269"/>
            <a:ext cx="4133247" cy="240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35297" y="140257"/>
            <a:ext cx="46352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POS Machine </a:t>
            </a:r>
            <a:r>
              <a:rPr lang="en-US" sz="2400" b="1" dirty="0" smtClean="0"/>
              <a:t>– </a:t>
            </a:r>
            <a:r>
              <a:rPr lang="en-US" sz="2400" b="1" dirty="0"/>
              <a:t>selling of Fertilizer under DBT </a:t>
            </a:r>
            <a:r>
              <a:rPr lang="en-US" sz="2400" b="1" dirty="0" smtClean="0"/>
              <a:t>scheme from February, 2018</a:t>
            </a:r>
            <a:endParaRPr lang="en-IN" sz="2400" b="1" dirty="0"/>
          </a:p>
        </p:txBody>
      </p:sp>
    </p:spTree>
    <p:extLst>
      <p:ext uri="{BB962C8B-B14F-4D97-AF65-F5344CB8AC3E}">
        <p14:creationId xmlns="" xmlns:p14="http://schemas.microsoft.com/office/powerpoint/2010/main" val="184423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867400"/>
            <a:ext cx="9144000" cy="0"/>
          </a:xfrm>
          <a:prstGeom prst="line">
            <a:avLst/>
          </a:prstGeom>
          <a:ln w="76200">
            <a:solidFill>
              <a:srgbClr val="B94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7EBCD7C-090E-4EFA-A7F9-7BA731A1B794}"/>
              </a:ext>
            </a:extLst>
          </p:cNvPr>
          <p:cNvSpPr/>
          <p:nvPr/>
        </p:nvSpPr>
        <p:spPr>
          <a:xfrm>
            <a:off x="3419475" y="906915"/>
            <a:ext cx="5276850" cy="2855460"/>
          </a:xfrm>
          <a:prstGeom prst="rect">
            <a:avLst/>
          </a:prstGeom>
          <a:solidFill>
            <a:srgbClr val="FB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4800" spc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New </a:t>
            </a:r>
            <a:r>
              <a:rPr lang="en-US" sz="4800" spc="6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Initiatives</a:t>
            </a:r>
          </a:p>
          <a:p>
            <a:pPr algn="ctr" defTabSz="685800"/>
            <a:r>
              <a:rPr lang="en-US" sz="3200" spc="6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(already Implemented)</a:t>
            </a:r>
            <a:endParaRPr lang="en-US" sz="3200" spc="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anose="04040905080B02020502" pitchFamily="82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E6A1091-DE55-49A6-A041-68D96E6F0E03}"/>
              </a:ext>
            </a:extLst>
          </p:cNvPr>
          <p:cNvCxnSpPr>
            <a:cxnSpLocks/>
          </p:cNvCxnSpPr>
          <p:nvPr/>
        </p:nvCxnSpPr>
        <p:spPr>
          <a:xfrm>
            <a:off x="5299714" y="1714501"/>
            <a:ext cx="5160680" cy="0"/>
          </a:xfrm>
          <a:prstGeom prst="line">
            <a:avLst/>
          </a:prstGeom>
          <a:ln>
            <a:solidFill>
              <a:srgbClr val="B94F4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33368" y="124845"/>
            <a:ext cx="3086392" cy="2209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 descr="WhatsApp Image 2021-01-18 at 10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786" y="103994"/>
            <a:ext cx="3091958" cy="22306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3" y="3938989"/>
            <a:ext cx="5582630" cy="26195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612" y="3142231"/>
            <a:ext cx="2562225" cy="34163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="" xmlns:p14="http://schemas.microsoft.com/office/powerpoint/2010/main" val="40152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93901" y="5952308"/>
            <a:ext cx="9144000" cy="0"/>
          </a:xfrm>
          <a:prstGeom prst="line">
            <a:avLst/>
          </a:prstGeom>
          <a:ln w="76200">
            <a:solidFill>
              <a:srgbClr val="B94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7EBCD7C-090E-4EFA-A7F9-7BA731A1B794}"/>
              </a:ext>
            </a:extLst>
          </p:cNvPr>
          <p:cNvSpPr/>
          <p:nvPr/>
        </p:nvSpPr>
        <p:spPr>
          <a:xfrm>
            <a:off x="715619" y="1306335"/>
            <a:ext cx="4064199" cy="1600199"/>
          </a:xfrm>
          <a:prstGeom prst="rect">
            <a:avLst/>
          </a:prstGeom>
          <a:solidFill>
            <a:srgbClr val="D39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1"/>
          </a:p>
        </p:txBody>
      </p:sp>
      <p:sp>
        <p:nvSpPr>
          <p:cNvPr id="6" name="Rectangle 5"/>
          <p:cNvSpPr/>
          <p:nvPr/>
        </p:nvSpPr>
        <p:spPr>
          <a:xfrm>
            <a:off x="2058309" y="70948"/>
            <a:ext cx="79042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On </a:t>
            </a:r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Farm Storage Structure Scheme</a:t>
            </a:r>
            <a:r>
              <a:rPr lang="gu-IN" sz="2800" b="1" u="sng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endParaRPr lang="en-US" sz="2800" b="1" u="sng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7EBCD7C-090E-4EFA-A7F9-7BA731A1B794}"/>
              </a:ext>
            </a:extLst>
          </p:cNvPr>
          <p:cNvSpPr/>
          <p:nvPr/>
        </p:nvSpPr>
        <p:spPr>
          <a:xfrm>
            <a:off x="715619" y="3356114"/>
            <a:ext cx="4064200" cy="2850844"/>
          </a:xfrm>
          <a:prstGeom prst="rect">
            <a:avLst/>
          </a:prstGeom>
          <a:solidFill>
            <a:srgbClr val="FB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1"/>
          </a:p>
        </p:txBody>
      </p:sp>
      <p:sp>
        <p:nvSpPr>
          <p:cNvPr id="10" name="Rectangle 9"/>
          <p:cNvSpPr/>
          <p:nvPr/>
        </p:nvSpPr>
        <p:spPr>
          <a:xfrm>
            <a:off x="847435" y="1295536"/>
            <a:ext cx="3441700" cy="1662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1500" b="1" dirty="0">
                <a:solidFill>
                  <a:srgbClr val="25390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Objectives of Scheme</a:t>
            </a:r>
            <a:r>
              <a:rPr lang="gu-IN" sz="1500" b="1" dirty="0">
                <a:solidFill>
                  <a:srgbClr val="25390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IN" sz="1500" b="1" dirty="0">
              <a:solidFill>
                <a:srgbClr val="25390F"/>
              </a:solidFill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257175" indent="-25717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02124"/>
                </a:solidFill>
              </a:rPr>
              <a:t>Farmers can protect their produce from rains, storms, etc. after harvest.</a:t>
            </a:r>
            <a:r>
              <a:rPr lang="en-US" sz="1600" b="1" dirty="0"/>
              <a:t> 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solidFill>
                  <a:srgbClr val="202124"/>
                </a:solidFill>
              </a:rPr>
              <a:t>Storing and selling at a good price can get them more returns.</a:t>
            </a:r>
            <a:r>
              <a:rPr lang="en-US" sz="1600" b="1" dirty="0"/>
              <a:t> </a:t>
            </a:r>
            <a:r>
              <a:rPr lang="en-IN" sz="1600" b="1" dirty="0"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endParaRPr lang="en-IN" sz="1600" b="1" dirty="0"/>
          </a:p>
        </p:txBody>
      </p:sp>
      <p:sp>
        <p:nvSpPr>
          <p:cNvPr id="11" name="Rectangle 10"/>
          <p:cNvSpPr/>
          <p:nvPr/>
        </p:nvSpPr>
        <p:spPr>
          <a:xfrm>
            <a:off x="715618" y="3351497"/>
            <a:ext cx="4064200" cy="235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1600" b="1" dirty="0">
                <a:solidFill>
                  <a:srgbClr val="25390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Scheme Detail</a:t>
            </a:r>
            <a:r>
              <a:rPr lang="gu-IN" sz="1600" b="1" dirty="0">
                <a:solidFill>
                  <a:srgbClr val="25390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IN" sz="1600" b="1" dirty="0">
              <a:solidFill>
                <a:srgbClr val="25390F"/>
              </a:solidFill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Small storage structure on farm.  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Minimum size of storage structure is </a:t>
            </a:r>
          </a:p>
          <a:p>
            <a:pPr algn="just">
              <a:lnSpc>
                <a:spcPct val="115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     330 square feet.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Unit Cost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: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Rs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. 1.00 lakh</a:t>
            </a:r>
            <a:endParaRPr lang="gu-IN" sz="1600" b="1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Subsidy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: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50%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or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Rs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. 50,000/-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Financial Provision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: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Rs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. 142.40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Crore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 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Physical Target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: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28480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32695" y="742238"/>
            <a:ext cx="2524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B94F4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Scheme Implementation</a:t>
            </a:r>
            <a:endParaRPr lang="en-IN" b="1" dirty="0">
              <a:solidFill>
                <a:srgbClr val="B94F4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E6A1091-DE55-49A6-A041-68D96E6F0E03}"/>
              </a:ext>
            </a:extLst>
          </p:cNvPr>
          <p:cNvCxnSpPr>
            <a:cxnSpLocks/>
          </p:cNvCxnSpPr>
          <p:nvPr/>
        </p:nvCxnSpPr>
        <p:spPr>
          <a:xfrm>
            <a:off x="5448610" y="1111362"/>
            <a:ext cx="5160680" cy="0"/>
          </a:xfrm>
          <a:prstGeom prst="line">
            <a:avLst/>
          </a:prstGeom>
          <a:ln>
            <a:solidFill>
              <a:srgbClr val="B94F4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283147" y="1212246"/>
            <a:ext cx="53102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Total Online Application : 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1,06,383</a:t>
            </a:r>
          </a:p>
          <a:p>
            <a:pPr marL="257175" indent="-257175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Construction Time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150 Days</a:t>
            </a:r>
            <a:endParaRPr lang="gu-IN" sz="1600" b="1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Construction  Verification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15 Days after receiving subsidy claim documents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257175" indent="-257175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Subsidy payment to farmer’s </a:t>
            </a:r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account 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24001" y="936846"/>
            <a:ext cx="65" cy="18371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1903" rIns="0" bIns="-11903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b="1" dirty="0"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936846"/>
            <a:ext cx="65" cy="18371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1903" rIns="0" bIns="-11903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b="1" dirty="0">
              <a:latin typeface="Arial" panose="020B0604020202020204" pitchFamily="34" charset="0"/>
            </a:endParaRPr>
          </a:p>
        </p:txBody>
      </p:sp>
      <p:pic>
        <p:nvPicPr>
          <p:cNvPr id="13" name="Picture 12" descr="C:\Users\Dell\AppData\Local\Microsoft\Windows\Temporary Internet Files\Content.Word\goda2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06068" y="3339575"/>
            <a:ext cx="3134813" cy="24663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49090" y="3291510"/>
            <a:ext cx="2976780" cy="24730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192881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6566043"/>
            <a:ext cx="9144000" cy="0"/>
          </a:xfrm>
          <a:prstGeom prst="line">
            <a:avLst/>
          </a:prstGeom>
          <a:ln w="76200">
            <a:solidFill>
              <a:srgbClr val="EF7D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84343" y="249335"/>
            <a:ext cx="114960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 smtClean="0"/>
              <a:t>Financial </a:t>
            </a:r>
            <a:r>
              <a:rPr lang="en-US" sz="2800" b="1" u="sng" dirty="0"/>
              <a:t>Assistance on Purchase of Medium Size Goods Carriage Vehicles for Transport of Agricultural Products under Kisan </a:t>
            </a:r>
            <a:r>
              <a:rPr lang="en-US" sz="2800" b="1" u="sng" dirty="0" err="1"/>
              <a:t>Parivahan</a:t>
            </a:r>
            <a:r>
              <a:rPr lang="en-US" sz="2800" b="1" u="sng" dirty="0"/>
              <a:t> Scheme</a:t>
            </a:r>
            <a:endParaRPr lang="en-US" sz="2800" b="1" dirty="0"/>
          </a:p>
        </p:txBody>
      </p:sp>
      <p:sp>
        <p:nvSpPr>
          <p:cNvPr id="10" name="Rectangle 9"/>
          <p:cNvSpPr/>
          <p:nvPr/>
        </p:nvSpPr>
        <p:spPr>
          <a:xfrm>
            <a:off x="484342" y="1401502"/>
            <a:ext cx="4420166" cy="15434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b="1" dirty="0">
                <a:solidFill>
                  <a:srgbClr val="25390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Objectives</a:t>
            </a:r>
            <a:r>
              <a:rPr lang="en-U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b="1" dirty="0">
                <a:solidFill>
                  <a:srgbClr val="25390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of Scheme</a:t>
            </a:r>
            <a:r>
              <a:rPr lang="gu-IN" b="1" dirty="0">
                <a:solidFill>
                  <a:srgbClr val="25390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IN" b="1" dirty="0">
              <a:solidFill>
                <a:srgbClr val="25390F"/>
              </a:solidFill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 err="1">
                <a:solidFill>
                  <a:srgbClr val="202124"/>
                </a:solidFill>
              </a:rPr>
              <a:t>Kisan</a:t>
            </a:r>
            <a:r>
              <a:rPr lang="en-US" sz="1600" b="1" dirty="0">
                <a:solidFill>
                  <a:srgbClr val="202124"/>
                </a:solidFill>
              </a:rPr>
              <a:t> Parivahan Yojana as a link between </a:t>
            </a:r>
            <a:r>
              <a:rPr lang="en-US" sz="1600" b="1" dirty="0" err="1">
                <a:solidFill>
                  <a:srgbClr val="202124"/>
                </a:solidFill>
              </a:rPr>
              <a:t>Kisan</a:t>
            </a:r>
            <a:r>
              <a:rPr lang="en-US" sz="1600" b="1" dirty="0">
                <a:solidFill>
                  <a:srgbClr val="202124"/>
                </a:solidFill>
              </a:rPr>
              <a:t> </a:t>
            </a:r>
            <a:r>
              <a:rPr lang="en-US" sz="1600" b="1" dirty="0" err="1">
                <a:solidFill>
                  <a:srgbClr val="202124"/>
                </a:solidFill>
              </a:rPr>
              <a:t>Udan</a:t>
            </a:r>
            <a:r>
              <a:rPr lang="en-US" sz="1600" b="1" dirty="0">
                <a:solidFill>
                  <a:srgbClr val="202124"/>
                </a:solidFill>
              </a:rPr>
              <a:t> and </a:t>
            </a:r>
            <a:r>
              <a:rPr lang="en-US" sz="1600" b="1" dirty="0" err="1">
                <a:solidFill>
                  <a:srgbClr val="202124"/>
                </a:solidFill>
              </a:rPr>
              <a:t>Kisan</a:t>
            </a:r>
            <a:r>
              <a:rPr lang="en-US" sz="1600" b="1" dirty="0">
                <a:solidFill>
                  <a:srgbClr val="202124"/>
                </a:solidFill>
              </a:rPr>
              <a:t> Rail Yojana</a:t>
            </a:r>
            <a:r>
              <a:rPr lang="en-US" sz="700" b="1" dirty="0"/>
              <a:t> </a:t>
            </a:r>
            <a:endParaRPr lang="en-US" sz="1200" b="1" dirty="0"/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solidFill>
                  <a:srgbClr val="202124"/>
                </a:solidFill>
              </a:rPr>
              <a:t>Farmers will be able to deliver their produce to other markets timely and get higher returns</a:t>
            </a:r>
            <a:r>
              <a:rPr lang="en-US" sz="700" b="1" dirty="0"/>
              <a:t> </a:t>
            </a:r>
            <a:endParaRPr lang="en-US" sz="1200" b="1" dirty="0"/>
          </a:p>
        </p:txBody>
      </p:sp>
      <p:sp>
        <p:nvSpPr>
          <p:cNvPr id="11" name="Rectangle 10"/>
          <p:cNvSpPr/>
          <p:nvPr/>
        </p:nvSpPr>
        <p:spPr>
          <a:xfrm>
            <a:off x="457827" y="3166821"/>
            <a:ext cx="4446681" cy="26761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b="1" dirty="0">
                <a:solidFill>
                  <a:srgbClr val="25390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Scheme Detail</a:t>
            </a:r>
            <a:r>
              <a:rPr lang="gu-IN" b="1" dirty="0">
                <a:solidFill>
                  <a:srgbClr val="25390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IN" b="1" dirty="0">
              <a:solidFill>
                <a:srgbClr val="25390F"/>
              </a:solidFill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loading capacity from 600 kg to 1500 kg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Subsidy Amount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: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25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to 35%</a:t>
            </a:r>
            <a:endParaRPr lang="gu-IN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714375" lvl="1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General &amp; Other farmers-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lvl="1" algn="just">
              <a:lnSpc>
                <a:spcPct val="115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      25% Or Rs.50000/-</a:t>
            </a:r>
            <a:endParaRPr lang="gu-IN" sz="1600" b="1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714375" lvl="1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Small, Marginal, Women, ST, SC farmers- 35% or Rs.75000/-</a:t>
            </a:r>
            <a:endParaRPr lang="gu-IN" sz="1600" b="1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Financial Provision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r>
              <a:rPr lang="en-US" sz="16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Rs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. 15 </a:t>
            </a:r>
            <a:r>
              <a:rPr lang="en-US" sz="16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Crore</a:t>
            </a:r>
            <a:endParaRPr lang="gu-IN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Physical Target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: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2500</a:t>
            </a:r>
            <a:endParaRPr lang="gu-IN" b="1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E6A1091-DE55-49A6-A041-68D96E6F0E03}"/>
              </a:ext>
            </a:extLst>
          </p:cNvPr>
          <p:cNvCxnSpPr>
            <a:cxnSpLocks/>
          </p:cNvCxnSpPr>
          <p:nvPr/>
        </p:nvCxnSpPr>
        <p:spPr>
          <a:xfrm>
            <a:off x="5299714" y="1635150"/>
            <a:ext cx="5160680" cy="0"/>
          </a:xfrm>
          <a:prstGeom prst="line">
            <a:avLst/>
          </a:prstGeom>
          <a:ln>
            <a:solidFill>
              <a:srgbClr val="EF7D0B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283146" y="1645134"/>
            <a:ext cx="62576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Total Online Application : 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4795</a:t>
            </a:r>
          </a:p>
          <a:p>
            <a:pPr marL="257175" indent="-257175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Beneficiaries purchase vehicle and submit documents to office </a:t>
            </a:r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Within 60 days of presaction date</a:t>
            </a:r>
            <a:endParaRPr lang="gu-IN" sz="1600" b="1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Verification Work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15 Days after receiving subsidy claim documents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257175" indent="-257175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Subsidy payment to farmer’s </a:t>
            </a:r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account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19482" y="1291472"/>
            <a:ext cx="2524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B94F4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Scheme Implementation</a:t>
            </a:r>
            <a:endParaRPr lang="en-IN" b="1" dirty="0">
              <a:solidFill>
                <a:srgbClr val="B94F4F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07606" y="1077164"/>
            <a:ext cx="65" cy="18371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1903" rIns="0" bIns="-11903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b="1" dirty="0"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936846"/>
            <a:ext cx="65" cy="18371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1903" rIns="0" bIns="-11903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b="1" dirty="0"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4001" y="936846"/>
            <a:ext cx="65" cy="18371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1903" rIns="0" bIns="-11903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b="1" dirty="0">
              <a:latin typeface="Arial" panose="020B0604020202020204" pitchFamily="34" charset="0"/>
            </a:endParaRPr>
          </a:p>
        </p:txBody>
      </p:sp>
      <p:pic>
        <p:nvPicPr>
          <p:cNvPr id="14" name="Picture 13" descr="IMG_20210118_105139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19483" y="4002103"/>
            <a:ext cx="3241044" cy="2217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WhatsApp Image 2021-01-18 at 10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99992" y="3974392"/>
            <a:ext cx="3280378" cy="2217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3143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6633851"/>
            <a:ext cx="9144000" cy="0"/>
          </a:xfrm>
          <a:prstGeom prst="line">
            <a:avLst/>
          </a:prstGeom>
          <a:ln w="76200">
            <a:solidFill>
              <a:srgbClr val="EF7D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72347" y="105589"/>
            <a:ext cx="84745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Scheme </a:t>
            </a:r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for providing Assistance on Purchase of Smartphone by the farmers</a:t>
            </a:r>
            <a:endParaRPr lang="en-IN" sz="2800" b="1" u="sng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3982" y="1219016"/>
            <a:ext cx="5030497" cy="259147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1600" b="1" dirty="0">
                <a:solidFill>
                  <a:srgbClr val="25390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Objectives</a:t>
            </a:r>
            <a:r>
              <a:rPr lang="en-US" sz="16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sz="1600" b="1" dirty="0">
                <a:solidFill>
                  <a:srgbClr val="25390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of Scheme</a:t>
            </a:r>
            <a:r>
              <a:rPr lang="gu-IN" sz="1600" b="1" dirty="0">
                <a:solidFill>
                  <a:srgbClr val="25390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IN" sz="1600" b="1" dirty="0">
              <a:solidFill>
                <a:srgbClr val="25390F"/>
              </a:solidFill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algn="just"/>
            <a:r>
              <a:rPr lang="en-US" sz="1600" b="1" u="sng" dirty="0"/>
              <a:t>Benefits to Farmers</a:t>
            </a:r>
            <a:r>
              <a:rPr lang="en-US" sz="1600" b="1" dirty="0"/>
              <a:t>: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b="1" dirty="0"/>
              <a:t>Weather forecast  &amp; Rain forecast information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b="1" dirty="0"/>
              <a:t>Potential pest infestation information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b="1" dirty="0"/>
              <a:t>Latest farming methods information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b="1" dirty="0"/>
              <a:t>Techniques of pest &amp; disease control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b="1" dirty="0"/>
              <a:t>Information regarding agriculture department schemes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b="1" dirty="0"/>
              <a:t>Online application for getting assistance in different Agriculture schemes by farmers.</a:t>
            </a:r>
            <a:endParaRPr lang="en-US" sz="1400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07606" y="1077164"/>
            <a:ext cx="65" cy="18371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1903" rIns="0" bIns="-11903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b="1" dirty="0"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936846"/>
            <a:ext cx="65" cy="18371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1903" rIns="0" bIns="-11903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b="1" dirty="0"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4001" y="936846"/>
            <a:ext cx="65" cy="18371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1903" rIns="0" bIns="-11903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b="1" dirty="0">
              <a:latin typeface="Arial" panose="020B0604020202020204" pitchFamily="34" charset="0"/>
            </a:endParaRPr>
          </a:p>
        </p:txBody>
      </p:sp>
      <p:pic>
        <p:nvPicPr>
          <p:cNvPr id="16" name="Picture 2" descr="C:\Users\admin\Downloads\164977019133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274" y="1693874"/>
            <a:ext cx="6375942" cy="453446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6883951" y="1132423"/>
            <a:ext cx="3764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7030A0"/>
                </a:solidFill>
              </a:rPr>
              <a:t>Smartphone Distribution </a:t>
            </a:r>
            <a:r>
              <a:rPr lang="en-US" b="1" u="sng" dirty="0" err="1">
                <a:solidFill>
                  <a:srgbClr val="7030A0"/>
                </a:solidFill>
              </a:rPr>
              <a:t>Programme</a:t>
            </a:r>
            <a:endParaRPr lang="en-US" b="1" u="sng" dirty="0">
              <a:solidFill>
                <a:srgbClr val="7030A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4800" y="4084666"/>
            <a:ext cx="5178922" cy="15296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25390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Scheme Detail</a:t>
            </a:r>
            <a:r>
              <a:rPr lang="gu-IN" sz="1600" b="1" u="sng" dirty="0">
                <a:solidFill>
                  <a:srgbClr val="25390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IN" sz="1600" b="1" u="sng" dirty="0">
              <a:solidFill>
                <a:srgbClr val="25390F"/>
              </a:solidFill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endParaRPr lang="en-US" sz="1000" b="1" u="sng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u="sng" dirty="0" smtClean="0"/>
              <a:t>Assistance Rate</a:t>
            </a:r>
            <a:r>
              <a:rPr lang="en-US" sz="1600" b="1" dirty="0" smtClean="0"/>
              <a:t>: 40% </a:t>
            </a:r>
            <a:r>
              <a:rPr lang="en-US" sz="1600" b="1" dirty="0" smtClean="0">
                <a:ea typeface="Calibri" panose="020F0502020204030204" pitchFamily="34" charset="0"/>
                <a:cs typeface="SHREE_GUJ_OTF_0768" panose="02000600000000000000" pitchFamily="2"/>
              </a:rPr>
              <a:t>assistance</a:t>
            </a:r>
            <a:r>
              <a:rPr lang="en-US" sz="1600" b="1" dirty="0" smtClean="0"/>
              <a:t> on the purchase price of smartphone or </a:t>
            </a:r>
            <a:r>
              <a:rPr lang="en-US" sz="1600" b="1" dirty="0" err="1" smtClean="0"/>
              <a:t>Rs</a:t>
            </a:r>
            <a:r>
              <a:rPr lang="en-US" sz="1600" b="1" dirty="0" smtClean="0"/>
              <a:t>. 6000/- whichever is less</a:t>
            </a: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1600" b="1" dirty="0" smtClean="0">
                <a:ea typeface="Calibri" panose="020F0502020204030204" pitchFamily="34" charset="0"/>
                <a:cs typeface="SHREE_GUJ_OTF_0768" panose="02000600000000000000" pitchFamily="2"/>
              </a:rPr>
              <a:t>Financial Provision</a:t>
            </a:r>
            <a:r>
              <a:rPr lang="gu-IN" sz="1600" b="1" dirty="0" smtClean="0">
                <a:ea typeface="Calibri" panose="020F0502020204030204" pitchFamily="34" charset="0"/>
                <a:cs typeface="SHREE_GUJ_OTF_0768" panose="02000600000000000000" pitchFamily="2"/>
              </a:rPr>
              <a:t> :</a:t>
            </a:r>
            <a:r>
              <a:rPr lang="gu-IN" sz="1600" b="1" dirty="0" smtClean="0">
                <a:solidFill>
                  <a:prstClr val="black"/>
                </a:solidFill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sz="1600" b="1" dirty="0" smtClean="0"/>
              <a:t>Rs.10 </a:t>
            </a:r>
            <a:r>
              <a:rPr lang="en-US" sz="1600" b="1" dirty="0" err="1" smtClean="0"/>
              <a:t>crore</a:t>
            </a:r>
            <a:r>
              <a:rPr lang="en-US" sz="1600" b="1" dirty="0" smtClean="0"/>
              <a:t> for 16,667 Smartphone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 smtClean="0"/>
              <a:t>Total No. of Applications received :-</a:t>
            </a:r>
            <a:r>
              <a:rPr lang="en-US" sz="1600" b="1" u="sng" dirty="0" smtClean="0"/>
              <a:t>33,079</a:t>
            </a:r>
            <a:endParaRPr lang="en-US" sz="1600" b="1" u="sng" dirty="0"/>
          </a:p>
        </p:txBody>
      </p:sp>
    </p:spTree>
    <p:extLst>
      <p:ext uri="{BB962C8B-B14F-4D97-AF65-F5344CB8AC3E}">
        <p14:creationId xmlns="" xmlns:p14="http://schemas.microsoft.com/office/powerpoint/2010/main" val="61704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867400"/>
            <a:ext cx="9144000" cy="0"/>
          </a:xfrm>
          <a:prstGeom prst="line">
            <a:avLst/>
          </a:prstGeom>
          <a:ln w="76200">
            <a:solidFill>
              <a:srgbClr val="B94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7EBCD7C-090E-4EFA-A7F9-7BA731A1B794}"/>
              </a:ext>
            </a:extLst>
          </p:cNvPr>
          <p:cNvSpPr/>
          <p:nvPr/>
        </p:nvSpPr>
        <p:spPr>
          <a:xfrm>
            <a:off x="2870405" y="906915"/>
            <a:ext cx="6067574" cy="3139410"/>
          </a:xfrm>
          <a:prstGeom prst="rect">
            <a:avLst/>
          </a:prstGeom>
          <a:solidFill>
            <a:srgbClr val="FB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4800" spc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New </a:t>
            </a:r>
            <a:r>
              <a:rPr lang="en-US" sz="4800" spc="6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Initiatives</a:t>
            </a:r>
          </a:p>
          <a:p>
            <a:pPr algn="ctr" defTabSz="685800"/>
            <a:r>
              <a:rPr lang="en-US" sz="2800" spc="6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(To be implemented)</a:t>
            </a:r>
            <a:endParaRPr lang="en-US" sz="3600" spc="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anose="04040905080B02020502" pitchFamily="82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E6A1091-DE55-49A6-A041-68D96E6F0E03}"/>
              </a:ext>
            </a:extLst>
          </p:cNvPr>
          <p:cNvCxnSpPr>
            <a:cxnSpLocks/>
          </p:cNvCxnSpPr>
          <p:nvPr/>
        </p:nvCxnSpPr>
        <p:spPr>
          <a:xfrm>
            <a:off x="5299714" y="1714501"/>
            <a:ext cx="5160680" cy="0"/>
          </a:xfrm>
          <a:prstGeom prst="line">
            <a:avLst/>
          </a:prstGeom>
          <a:ln>
            <a:solidFill>
              <a:srgbClr val="B94F4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C:\Users\lenovo2\Desktop\drone im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612" y="0"/>
            <a:ext cx="2612985" cy="1820781"/>
          </a:xfrm>
          <a:prstGeom prst="rect">
            <a:avLst/>
          </a:prstGeom>
          <a:ln w="38100" cap="sq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" descr="C:\Users\lenovo2\Desktop\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7744" y="1941151"/>
            <a:ext cx="2048719" cy="19695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" y="4181949"/>
            <a:ext cx="3205868" cy="23791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967BF674-BB47-4EF0-8F61-D7F8FB64E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776" y="3743364"/>
            <a:ext cx="3294802" cy="29325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107" y="4026731"/>
            <a:ext cx="1425586" cy="25343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907" y="75927"/>
            <a:ext cx="3147142" cy="23529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276468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940879"/>
            <a:ext cx="9144000" cy="0"/>
          </a:xfrm>
          <a:prstGeom prst="line">
            <a:avLst/>
          </a:prstGeom>
          <a:ln w="76200">
            <a:solidFill>
              <a:srgbClr val="C184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7EBCD7C-090E-4EFA-A7F9-7BA731A1B794}"/>
              </a:ext>
            </a:extLst>
          </p:cNvPr>
          <p:cNvSpPr/>
          <p:nvPr/>
        </p:nvSpPr>
        <p:spPr>
          <a:xfrm>
            <a:off x="221321" y="1504658"/>
            <a:ext cx="5004730" cy="1810044"/>
          </a:xfrm>
          <a:prstGeom prst="rect">
            <a:avLst/>
          </a:prstGeom>
          <a:solidFill>
            <a:srgbClr val="D6AE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0891" y="247447"/>
            <a:ext cx="1124276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To assist farmers in purchasing </a:t>
            </a:r>
            <a:r>
              <a:rPr lang="en-US" sz="28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"</a:t>
            </a:r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SANEDO-</a:t>
            </a:r>
            <a:r>
              <a:rPr lang="en-IN" sz="2800" b="1" u="sng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Agricultural </a:t>
            </a:r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equipment</a:t>
            </a:r>
            <a:r>
              <a:rPr lang="en-US" sz="28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”</a:t>
            </a:r>
          </a:p>
          <a:p>
            <a:pPr algn="ctr"/>
            <a:r>
              <a:rPr lang="en-US" sz="28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“VOCAL FOR LOCAL”</a:t>
            </a:r>
            <a:endParaRPr lang="gu-IN" sz="2800" b="1" u="sng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7EBCD7C-090E-4EFA-A7F9-7BA731A1B794}"/>
              </a:ext>
            </a:extLst>
          </p:cNvPr>
          <p:cNvSpPr/>
          <p:nvPr/>
        </p:nvSpPr>
        <p:spPr>
          <a:xfrm>
            <a:off x="261257" y="3356265"/>
            <a:ext cx="4964793" cy="2404333"/>
          </a:xfrm>
          <a:prstGeom prst="rect">
            <a:avLst/>
          </a:prstGeom>
          <a:solidFill>
            <a:srgbClr val="F1E3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7592" y="1771949"/>
            <a:ext cx="4854221" cy="1224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Objectives of Scheme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/>
              <a:t>Multipurpose </a:t>
            </a:r>
            <a:r>
              <a:rPr lang="en-US" sz="1600" b="1" dirty="0" smtClean="0"/>
              <a:t>vehicle </a:t>
            </a:r>
            <a:r>
              <a:rPr lang="en-US" sz="1600" b="1" dirty="0" smtClean="0"/>
              <a:t>for </a:t>
            </a:r>
            <a:r>
              <a:rPr lang="en-US" sz="1600" b="1" dirty="0" smtClean="0"/>
              <a:t>different </a:t>
            </a:r>
            <a:r>
              <a:rPr lang="en-US" sz="1600" b="1" dirty="0"/>
              <a:t>farm operations.</a:t>
            </a:r>
            <a:endParaRPr lang="gu-IN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/>
              <a:t>Farmers who have less land cannot afford to purchase tractors, encourage to use </a:t>
            </a:r>
            <a:r>
              <a:rPr lang="en-US" sz="1600" b="1" dirty="0" err="1"/>
              <a:t>Sanedo</a:t>
            </a:r>
            <a:r>
              <a:rPr lang="en-US" sz="1600" b="1" dirty="0"/>
              <a:t> </a:t>
            </a:r>
            <a:endParaRPr lang="gu-IN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1257" y="3326072"/>
            <a:ext cx="4964794" cy="2109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Scheme Detail</a:t>
            </a:r>
            <a:r>
              <a:rPr lang="gu-IN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10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horse power engine.</a:t>
            </a:r>
            <a:endParaRPr lang="gu-IN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Used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for various </a:t>
            </a:r>
            <a:r>
              <a:rPr lang="en-US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operations</a:t>
            </a:r>
            <a:r>
              <a:rPr lang="en-US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such as intercropping, sowing, spraying </a:t>
            </a:r>
            <a:r>
              <a:rPr lang="en-US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etc</a:t>
            </a:r>
            <a:r>
              <a:rPr lang="en-US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gu-IN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endParaRPr lang="gu-IN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Subsidy Amount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25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% or </a:t>
            </a:r>
            <a:r>
              <a:rPr lang="en-US" sz="16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Rs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. 25,000/- 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Financial Provision :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Rs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. 10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Crore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 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Physical Target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4,000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E6A1091-DE55-49A6-A041-68D96E6F0E03}"/>
              </a:ext>
            </a:extLst>
          </p:cNvPr>
          <p:cNvCxnSpPr>
            <a:cxnSpLocks/>
          </p:cNvCxnSpPr>
          <p:nvPr/>
        </p:nvCxnSpPr>
        <p:spPr>
          <a:xfrm>
            <a:off x="5299714" y="1627425"/>
            <a:ext cx="5160680" cy="0"/>
          </a:xfrm>
          <a:prstGeom prst="line">
            <a:avLst/>
          </a:prstGeom>
          <a:ln>
            <a:solidFill>
              <a:srgbClr val="C184F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307042" y="1208569"/>
            <a:ext cx="27951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66F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Scheme Implementation</a:t>
            </a:r>
            <a:endParaRPr lang="en-IN" sz="2000" b="1" dirty="0">
              <a:solidFill>
                <a:srgbClr val="FF66FF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24001" y="936846"/>
            <a:ext cx="65" cy="18371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1903" rIns="0" bIns="-11903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b="1" dirty="0"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65986" y="1655080"/>
            <a:ext cx="631641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Beneficiaries purchase vehicle and submit documents to office </a:t>
            </a:r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Within 60 days of </a:t>
            </a:r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pre </a:t>
            </a:r>
            <a:r>
              <a:rPr lang="en-US" sz="16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saction</a:t>
            </a:r>
            <a:endParaRPr lang="gu-IN" sz="1600" b="1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Verification Work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15 Days after receiving subsidy claim documents</a:t>
            </a:r>
            <a:r>
              <a:rPr lang="gu-IN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257175" indent="-257175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Subsidy payment to farmer’s </a:t>
            </a:r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account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298" y="3326779"/>
            <a:ext cx="4821383" cy="29983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50885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867400"/>
            <a:ext cx="9144000" cy="0"/>
          </a:xfrm>
          <a:prstGeom prst="line">
            <a:avLst/>
          </a:prstGeom>
          <a:ln w="76200">
            <a:solidFill>
              <a:srgbClr val="B94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7EBCD7C-090E-4EFA-A7F9-7BA731A1B794}"/>
              </a:ext>
            </a:extLst>
          </p:cNvPr>
          <p:cNvSpPr/>
          <p:nvPr/>
        </p:nvSpPr>
        <p:spPr>
          <a:xfrm>
            <a:off x="520896" y="1345955"/>
            <a:ext cx="5994204" cy="913676"/>
          </a:xfrm>
          <a:prstGeom prst="rect">
            <a:avLst/>
          </a:prstGeom>
          <a:solidFill>
            <a:srgbClr val="D39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18969" y="333755"/>
            <a:ext cx="8442218" cy="1164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8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Use </a:t>
            </a:r>
            <a:r>
              <a:rPr lang="en-IN" sz="2800" b="1" u="sng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of Drone Technology </a:t>
            </a:r>
            <a:r>
              <a:rPr lang="gu-IN" sz="2800" b="1" u="sng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(</a:t>
            </a:r>
            <a:r>
              <a:rPr lang="en-IN" sz="2800" b="1" u="sng" dirty="0" err="1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Krushi</a:t>
            </a:r>
            <a:r>
              <a:rPr lang="en-IN" sz="2800" b="1" u="sng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IN" sz="2800" b="1" u="sng" dirty="0" err="1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Viman</a:t>
            </a:r>
            <a:r>
              <a:rPr lang="en-IN" sz="2800" b="1" u="sng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) in Agriculture </a:t>
            </a:r>
          </a:p>
          <a:p>
            <a:pPr algn="ctr"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gu-IN" sz="2100" b="1" cap="all" dirty="0">
              <a:ln w="3175" cmpd="sng">
                <a:noFill/>
              </a:ln>
              <a:solidFill>
                <a:srgbClr val="ED7D31">
                  <a:lumMod val="50000"/>
                </a:srgbClr>
              </a:solidFill>
              <a:latin typeface="Calibri"/>
              <a:cs typeface="Shruti" panose="02000500000000000000" pitchFamily="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7EBCD7C-090E-4EFA-A7F9-7BA731A1B794}"/>
              </a:ext>
            </a:extLst>
          </p:cNvPr>
          <p:cNvSpPr/>
          <p:nvPr/>
        </p:nvSpPr>
        <p:spPr>
          <a:xfrm>
            <a:off x="520897" y="2497016"/>
            <a:ext cx="5921467" cy="3701568"/>
          </a:xfrm>
          <a:prstGeom prst="rect">
            <a:avLst/>
          </a:prstGeom>
          <a:solidFill>
            <a:srgbClr val="FB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0593" y="1345955"/>
            <a:ext cx="5967071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lnSpc>
                <a:spcPct val="115000"/>
              </a:lnSpc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Objective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IN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257175" indent="-257175" algn="just" defTabSz="6858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E" sz="1600" b="1" dirty="0">
                <a:solidFill>
                  <a:prstClr val="black"/>
                </a:solidFill>
                <a:latin typeface="Calibri"/>
              </a:rPr>
              <a:t>To save time, water, crop protection chemicals and </a:t>
            </a:r>
          </a:p>
          <a:p>
            <a:pPr marL="257175" indent="-257175" algn="just" defTabSz="6858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E" sz="1600" b="1" dirty="0">
                <a:solidFill>
                  <a:prstClr val="black"/>
                </a:solidFill>
                <a:latin typeface="Calibri"/>
              </a:rPr>
              <a:t>To resolve the problem of farm labour shortage </a:t>
            </a:r>
            <a:r>
              <a:rPr lang="en-IE" sz="1600" b="1" dirty="0" smtClean="0">
                <a:solidFill>
                  <a:prstClr val="black"/>
                </a:solidFill>
                <a:latin typeface="Calibri"/>
              </a:rPr>
              <a:t> </a:t>
            </a:r>
            <a:r>
              <a:rPr lang="en-IN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endParaRPr lang="en-IN" sz="16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0896" y="2513413"/>
            <a:ext cx="5921468" cy="3307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lnSpc>
                <a:spcPct val="115000"/>
              </a:lnSpc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Brief about scheme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US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69081" indent="-269081" algn="just" defTabSz="6858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1 </a:t>
            </a: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ha of land can be sprayed only in 20 minutes with 25 litre of water and </a:t>
            </a:r>
            <a:r>
              <a:rPr lang="en-IN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farm chemicals can be used effectively. </a:t>
            </a:r>
            <a:endParaRPr lang="en-IN" sz="1600" b="1" dirty="0" smtClean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69081" indent="-269081" algn="just" defTabSz="6858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Assistance for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five </a:t>
            </a:r>
            <a:r>
              <a:rPr lang="en-US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time spray in one acre </a:t>
            </a:r>
          </a:p>
          <a:p>
            <a:pPr marL="269081" indent="-269081" algn="just" defTabSz="6858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Rate </a:t>
            </a: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of Assistance 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90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%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or Rs.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500 whichever is </a:t>
            </a:r>
            <a:r>
              <a:rPr lang="en-US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less per spray (Max </a:t>
            </a:r>
            <a:r>
              <a:rPr lang="en-US" sz="1600" b="1" dirty="0" err="1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Rs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.</a:t>
            </a:r>
            <a:r>
              <a:rPr lang="en-US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2500/- per acre)</a:t>
            </a:r>
            <a:r>
              <a:rPr lang="gu-IN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endParaRPr lang="en-IN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69081" indent="-269081" algn="just" defTabSz="6858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Budget Provision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Rs. 35.00 crore 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 </a:t>
            </a:r>
            <a:endParaRPr lang="en-US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69081" indent="-269081" algn="just" defTabSz="6858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Physical Target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1,40,000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acres</a:t>
            </a:r>
            <a:endParaRPr lang="en-US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69081" indent="-269081" algn="just" defTabSz="685800">
              <a:lnSpc>
                <a:spcPct val="150000"/>
              </a:lnSpc>
              <a:buFont typeface="Wingdings" pitchFamily="2" charset="2"/>
              <a:buChar char="§"/>
            </a:pPr>
            <a:endParaRPr lang="gu-IN" sz="15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</p:txBody>
      </p:sp>
      <p:pic>
        <p:nvPicPr>
          <p:cNvPr id="12" name="Picture 2" descr="C:\Users\lenovo2\Desktop\drone im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49729" y="1367512"/>
            <a:ext cx="3311458" cy="1820781"/>
          </a:xfrm>
          <a:prstGeom prst="rect">
            <a:avLst/>
          </a:prstGeom>
          <a:ln w="38100" cap="sq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" descr="C:\Users\lenovo2\Desktop\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49729" y="3358158"/>
            <a:ext cx="3134074" cy="2840426"/>
          </a:xfrm>
          <a:prstGeom prst="ellipse">
            <a:avLst/>
          </a:prstGeom>
          <a:ln w="63500" cap="rnd">
            <a:solidFill>
              <a:schemeClr val="accent2">
                <a:lumMod val="75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="" xmlns:p14="http://schemas.microsoft.com/office/powerpoint/2010/main" val="50946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6302832"/>
            <a:ext cx="9144000" cy="0"/>
          </a:xfrm>
          <a:prstGeom prst="line">
            <a:avLst/>
          </a:prstGeom>
          <a:ln w="76200">
            <a:solidFill>
              <a:srgbClr val="B94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18607" y="394461"/>
            <a:ext cx="108334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2800" b="1" u="sng" dirty="0" smtClean="0"/>
              <a:t>Assistance  for </a:t>
            </a:r>
            <a:r>
              <a:rPr lang="en-IN" sz="2800" b="1" u="sng" dirty="0"/>
              <a:t>Solar Power </a:t>
            </a:r>
            <a:r>
              <a:rPr lang="en-IN" sz="2800" b="1" u="sng" dirty="0" smtClean="0"/>
              <a:t>Unit/Kit</a:t>
            </a:r>
            <a:endParaRPr lang="gu-IN" sz="2400" b="1" cap="all" dirty="0">
              <a:ln w="3175" cmpd="sng">
                <a:noFill/>
              </a:ln>
              <a:solidFill>
                <a:srgbClr val="ED7D31">
                  <a:lumMod val="50000"/>
                </a:srgb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28275" y="1570224"/>
            <a:ext cx="5161089" cy="9417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 defTabSz="685800">
              <a:lnSpc>
                <a:spcPct val="115000"/>
              </a:lnSpc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Objective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IN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34290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To prevent agricultural crop damage caused by wild/Stray animals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7976" y="3158149"/>
            <a:ext cx="5169798" cy="19389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 defTabSz="685800">
              <a:lnSpc>
                <a:spcPct val="150000"/>
              </a:lnSpc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Brief about scheme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US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Rate of Assistance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: </a:t>
            </a: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50%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of purchase cost of </a:t>
            </a: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Solar Power Unit/Kit 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(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Maximum u</a:t>
            </a:r>
            <a:r>
              <a:rPr lang="en-IN" sz="16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pto</a:t>
            </a: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  <a:r>
              <a:rPr lang="en-IN" sz="16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Rs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. </a:t>
            </a: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15,000/-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) </a:t>
            </a: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IN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Farmer </a:t>
            </a: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will erect wire fence on his own cost according to need and local situation </a:t>
            </a:r>
            <a:endParaRPr lang="gu-IN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Budget Provision 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Rs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. </a:t>
            </a: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20 </a:t>
            </a:r>
            <a:r>
              <a:rPr lang="en-IN" sz="16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crore</a:t>
            </a:r>
            <a:endParaRPr lang="en-IN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No. of Beneficiary Farmers : Approx. </a:t>
            </a:r>
            <a:r>
              <a:rPr lang="en-IN" sz="16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13,000 </a:t>
            </a:r>
            <a:endParaRPr lang="gu-IN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67BF674-BB47-4EF0-8F61-D7F8FB64E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894" y="1570224"/>
            <a:ext cx="5004482" cy="408323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5817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6302832"/>
            <a:ext cx="9144000" cy="0"/>
          </a:xfrm>
          <a:prstGeom prst="line">
            <a:avLst/>
          </a:prstGeom>
          <a:ln w="76200">
            <a:solidFill>
              <a:srgbClr val="B94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3474" y="159328"/>
            <a:ext cx="108334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/>
              <a:t>Name of scheme </a:t>
            </a:r>
            <a:r>
              <a:rPr lang="en-IN" sz="2400" b="1" dirty="0" smtClean="0"/>
              <a:t>: </a:t>
            </a:r>
            <a:r>
              <a:rPr lang="en-US" sz="2400" b="1" dirty="0" smtClean="0"/>
              <a:t>Mission </a:t>
            </a:r>
            <a:r>
              <a:rPr lang="en-US" sz="2400" b="1" dirty="0"/>
              <a:t>Honeybee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26423" y="1171643"/>
            <a:ext cx="5161089" cy="13603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 defTabSz="685800">
              <a:lnSpc>
                <a:spcPct val="115000"/>
              </a:lnSpc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Objective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IN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257175" indent="-25717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 smtClean="0"/>
              <a:t>Promotion </a:t>
            </a:r>
            <a:r>
              <a:rPr lang="en-US" sz="1600" dirty="0"/>
              <a:t>of bee keeping.</a:t>
            </a:r>
          </a:p>
          <a:p>
            <a:pPr marL="257175" indent="-25717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 smtClean="0"/>
              <a:t>To Increase </a:t>
            </a:r>
            <a:r>
              <a:rPr lang="en-US" sz="1600" dirty="0"/>
              <a:t>horticulture production through high pollination through bee keeping</a:t>
            </a:r>
            <a:r>
              <a:rPr lang="en-US" sz="1600" dirty="0" smtClean="0"/>
              <a:t>.</a:t>
            </a:r>
          </a:p>
          <a:p>
            <a:pPr marL="257175" indent="-25717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 smtClean="0"/>
              <a:t>Supplementary </a:t>
            </a:r>
            <a:r>
              <a:rPr lang="en-US" sz="1600" dirty="0"/>
              <a:t>income.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423" y="3082665"/>
            <a:ext cx="5169798" cy="21605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 defTabSz="685800">
              <a:lnSpc>
                <a:spcPct val="150000"/>
              </a:lnSpc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Brief about scheme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US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dirty="0"/>
              <a:t>Subsidy on honey bee colony / Hives, honey </a:t>
            </a:r>
            <a:r>
              <a:rPr lang="en-US" sz="1600" dirty="0" smtClean="0"/>
              <a:t>extractor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1600" dirty="0" smtClean="0"/>
              <a:t>Support </a:t>
            </a:r>
            <a:r>
              <a:rPr lang="en-IN" sz="1600" dirty="0"/>
              <a:t>for processing, packaging, cold room </a:t>
            </a:r>
            <a:r>
              <a:rPr lang="en-IN" sz="1600" dirty="0" smtClean="0"/>
              <a:t>unit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1600" dirty="0" smtClean="0"/>
              <a:t>Seminars and </a:t>
            </a:r>
            <a:r>
              <a:rPr lang="en-IN" sz="1600" dirty="0"/>
              <a:t>training as well as bee </a:t>
            </a:r>
            <a:r>
              <a:rPr lang="en-IN" sz="1600" dirty="0" smtClean="0"/>
              <a:t>support </a:t>
            </a:r>
            <a:r>
              <a:rPr lang="en-IN" sz="1600" dirty="0"/>
              <a:t>establish bee clinic, Management support. </a:t>
            </a:r>
            <a:endParaRPr lang="en-IN" sz="1600" dirty="0" smtClean="0"/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1600" dirty="0" smtClean="0"/>
              <a:t>Project </a:t>
            </a:r>
            <a:r>
              <a:rPr lang="en-IN" sz="1600" dirty="0"/>
              <a:t>base proposal has to be submitted</a:t>
            </a:r>
            <a:endParaRPr lang="en-IN" sz="1600" dirty="0" smtClean="0"/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dirty="0" smtClean="0">
                <a:ea typeface="Calibri" panose="020F0502020204030204" pitchFamily="34" charset="0"/>
                <a:cs typeface="SHREE_GUJ_OTF_0768" panose="02000600000000000000" pitchFamily="2"/>
              </a:rPr>
              <a:t>Financial </a:t>
            </a:r>
            <a:r>
              <a:rPr lang="en-US" sz="1600" dirty="0">
                <a:ea typeface="Calibri" panose="020F0502020204030204" pitchFamily="34" charset="0"/>
                <a:cs typeface="SHREE_GUJ_OTF_0768" panose="02000600000000000000" pitchFamily="2"/>
              </a:rPr>
              <a:t>Provision</a:t>
            </a:r>
            <a:r>
              <a:rPr lang="gu-IN" sz="1600" dirty="0">
                <a:ea typeface="Calibri" panose="020F0502020204030204" pitchFamily="34" charset="0"/>
                <a:cs typeface="SHREE_GUJ_OTF_0768" panose="02000600000000000000" pitchFamily="2"/>
              </a:rPr>
              <a:t> : </a:t>
            </a:r>
            <a:r>
              <a:rPr lang="en-US" sz="1600" dirty="0" err="1">
                <a:ea typeface="Calibri" panose="020F0502020204030204" pitchFamily="34" charset="0"/>
                <a:cs typeface="SHREE_GUJ_OTF_0768" panose="02000600000000000000" pitchFamily="2"/>
              </a:rPr>
              <a:t>Rs</a:t>
            </a:r>
            <a:r>
              <a:rPr lang="en-US" sz="1600" dirty="0">
                <a:ea typeface="Calibri" panose="020F0502020204030204" pitchFamily="34" charset="0"/>
                <a:cs typeface="SHREE_GUJ_OTF_0768" panose="02000600000000000000" pitchFamily="2"/>
              </a:rPr>
              <a:t>. </a:t>
            </a:r>
            <a:r>
              <a:rPr lang="en-US" sz="1600" b="1" dirty="0" smtClean="0"/>
              <a:t>10 crore</a:t>
            </a:r>
            <a:endParaRPr lang="gu-IN" sz="1600" dirty="0">
              <a:ea typeface="Calibri" panose="020F0502020204030204" pitchFamily="34" charset="0"/>
              <a:cs typeface="SHREE_GUJ_OTF_0768" panose="02000600000000000000" pitchFamily="2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E6A1091-DE55-49A6-A041-68D96E6F0E03}"/>
              </a:ext>
            </a:extLst>
          </p:cNvPr>
          <p:cNvCxnSpPr>
            <a:cxnSpLocks/>
          </p:cNvCxnSpPr>
          <p:nvPr/>
        </p:nvCxnSpPr>
        <p:spPr>
          <a:xfrm>
            <a:off x="5687465" y="974271"/>
            <a:ext cx="5160680" cy="0"/>
          </a:xfrm>
          <a:prstGeom prst="line">
            <a:avLst/>
          </a:prstGeom>
          <a:ln>
            <a:solidFill>
              <a:srgbClr val="B94F4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507013" y="1171643"/>
            <a:ext cx="6096000" cy="149143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1600" b="1" dirty="0"/>
              <a:t>The beneficiaries of the </a:t>
            </a:r>
            <a:r>
              <a:rPr lang="en-IN" sz="1600" b="1" dirty="0" smtClean="0"/>
              <a:t>scheme : Registered </a:t>
            </a:r>
            <a:r>
              <a:rPr lang="en-IN" sz="1600" b="1" dirty="0"/>
              <a:t>farmer group, FPO, FPC, “A” grade co-operative societies, private institutions, horticulture department / agriculture department / all four agricultural universities / KVKs of the state as well as individual beneficiaries. </a:t>
            </a:r>
            <a:endParaRPr lang="en-IN" sz="1600" b="1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5759889" y="651220"/>
            <a:ext cx="27951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66F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Scheme Implementation</a:t>
            </a:r>
            <a:endParaRPr lang="en-IN" sz="2000" b="1" dirty="0">
              <a:solidFill>
                <a:srgbClr val="FF66FF"/>
              </a:solidFill>
            </a:endParaRPr>
          </a:p>
        </p:txBody>
      </p:sp>
      <p:pic>
        <p:nvPicPr>
          <p:cNvPr id="1026" name="Picture 2" descr="Why to Opt for Bee-Keeping 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944" y="3147391"/>
            <a:ext cx="3054753" cy="20958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211" y="3145272"/>
            <a:ext cx="2730017" cy="20410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129975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6302832"/>
            <a:ext cx="9144000" cy="0"/>
          </a:xfrm>
          <a:prstGeom prst="line">
            <a:avLst/>
          </a:prstGeom>
          <a:ln w="76200">
            <a:solidFill>
              <a:srgbClr val="B94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3474" y="324793"/>
            <a:ext cx="108334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/>
              <a:t>Name of </a:t>
            </a:r>
            <a:r>
              <a:rPr lang="en-IN" sz="2400" b="1" dirty="0" smtClean="0"/>
              <a:t>scheme : </a:t>
            </a:r>
            <a:r>
              <a:rPr lang="en-US" sz="2400" b="1" dirty="0"/>
              <a:t>Mission </a:t>
            </a:r>
            <a:r>
              <a:rPr lang="en-US" sz="2400" b="1" dirty="0" err="1"/>
              <a:t>Kamlam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17713" y="1439595"/>
            <a:ext cx="5161089" cy="18528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 defTabSz="685800">
              <a:lnSpc>
                <a:spcPct val="115000"/>
              </a:lnSpc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Objective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IN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257175" indent="-25717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To promote the plantation of </a:t>
            </a:r>
            <a:r>
              <a:rPr lang="en-US" sz="1600" dirty="0" err="1"/>
              <a:t>Kamalam</a:t>
            </a:r>
            <a:r>
              <a:rPr lang="en-US" sz="1600" dirty="0"/>
              <a:t> (Dragon fruit)  as it has nutritive values, medicinal and antioxidant qualities to control many diseases. </a:t>
            </a:r>
            <a:r>
              <a:rPr lang="en-US" sz="1600" dirty="0" smtClean="0"/>
              <a:t> </a:t>
            </a:r>
          </a:p>
          <a:p>
            <a:pPr marL="257175" indent="-25717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 smtClean="0"/>
              <a:t>To increase </a:t>
            </a:r>
            <a:r>
              <a:rPr lang="en-US" sz="1600" dirty="0"/>
              <a:t>the </a:t>
            </a:r>
            <a:r>
              <a:rPr lang="en-US" sz="1600" dirty="0" smtClean="0"/>
              <a:t> </a:t>
            </a:r>
            <a:r>
              <a:rPr lang="en-US" sz="1600" dirty="0"/>
              <a:t>export. </a:t>
            </a:r>
            <a:endParaRPr lang="en-IN" sz="1600" dirty="0"/>
          </a:p>
        </p:txBody>
      </p:sp>
      <p:sp>
        <p:nvSpPr>
          <p:cNvPr id="11" name="Rectangle 10"/>
          <p:cNvSpPr/>
          <p:nvPr/>
        </p:nvSpPr>
        <p:spPr>
          <a:xfrm>
            <a:off x="217714" y="3558013"/>
            <a:ext cx="5169798" cy="18774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 defTabSz="685800">
              <a:lnSpc>
                <a:spcPct val="150000"/>
              </a:lnSpc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Brief about scheme</a:t>
            </a:r>
            <a:r>
              <a:rPr lang="gu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US" sz="1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Unit cost: 6 lakh/ha</a:t>
            </a:r>
            <a:endParaRPr lang="gu-IN" sz="1600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Subsidy</a:t>
            </a:r>
            <a:r>
              <a:rPr lang="gu-IN" sz="1600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: </a:t>
            </a:r>
            <a:r>
              <a:rPr lang="en-IN" sz="1600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50 </a:t>
            </a:r>
            <a:r>
              <a:rPr 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% - Max 3 </a:t>
            </a:r>
            <a:r>
              <a:rPr lang="en-IN" sz="1600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lakh/ha</a:t>
            </a:r>
            <a:r>
              <a:rPr 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(General - up to 1 ha), </a:t>
            </a:r>
          </a:p>
          <a:p>
            <a:pPr algn="just">
              <a:lnSpc>
                <a:spcPct val="115000"/>
              </a:lnSpc>
            </a:pPr>
            <a:r>
              <a:rPr 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                      75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% Max </a:t>
            </a:r>
            <a:r>
              <a:rPr 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4.5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lakh/ha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(</a:t>
            </a:r>
            <a:r>
              <a:rPr 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SC/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ST - up to </a:t>
            </a:r>
            <a:r>
              <a:rPr 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1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ha</a:t>
            </a:r>
            <a:r>
              <a:rPr 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) 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Financial Provision</a:t>
            </a:r>
            <a:r>
              <a:rPr lang="gu-IN" sz="1600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: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Rs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. </a:t>
            </a:r>
            <a:r>
              <a:rPr 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10 </a:t>
            </a:r>
            <a:r>
              <a:rPr lang="en-IN" sz="1600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crore</a:t>
            </a:r>
            <a:endParaRPr lang="gu-IN" sz="1600" dirty="0">
              <a:latin typeface="Calibri" panose="020F0502020204030204" pitchFamily="34" charset="0"/>
              <a:ea typeface="Calibri" panose="020F0502020204030204" pitchFamily="34" charset="0"/>
              <a:cs typeface="SHREE_GUJ_OTF_0768" panose="020006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Physical Target</a:t>
            </a:r>
            <a:r>
              <a:rPr lang="gu-IN" sz="1600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444 ha</a:t>
            </a:r>
            <a:r>
              <a:rPr lang="gu-IN" sz="1600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E6A1091-DE55-49A6-A041-68D96E6F0E03}"/>
              </a:ext>
            </a:extLst>
          </p:cNvPr>
          <p:cNvCxnSpPr>
            <a:cxnSpLocks/>
          </p:cNvCxnSpPr>
          <p:nvPr/>
        </p:nvCxnSpPr>
        <p:spPr>
          <a:xfrm>
            <a:off x="5687465" y="1424447"/>
            <a:ext cx="5160680" cy="0"/>
          </a:xfrm>
          <a:prstGeom prst="line">
            <a:avLst/>
          </a:prstGeom>
          <a:ln>
            <a:solidFill>
              <a:srgbClr val="B94F4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495116" y="1485966"/>
            <a:ext cx="6096000" cy="13665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Project based scheme including New plantation, irrigation, farm mechanization, on farm pack house/collection unit,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vermi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 compost unit, GAP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certificate,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mulching for horticulture crops.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59889" y="862240"/>
            <a:ext cx="27951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66FF"/>
                </a:solidFill>
                <a:latin typeface="Calibri" panose="020F0502020204030204" pitchFamily="34" charset="0"/>
                <a:ea typeface="Calibri" panose="020F0502020204030204" pitchFamily="34" charset="0"/>
                <a:cs typeface="SHREE_GUJ_OTF_0768" panose="02000600000000000000" pitchFamily="2"/>
              </a:rPr>
              <a:t>Scheme Implementation</a:t>
            </a:r>
            <a:endParaRPr lang="en-IN" sz="2000" b="1" dirty="0">
              <a:solidFill>
                <a:srgbClr val="FF66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759" y="3300545"/>
            <a:ext cx="3655631" cy="19520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116" y="3328681"/>
            <a:ext cx="2602694" cy="19520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245757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2057400" y="225718"/>
            <a:ext cx="8588522" cy="396000"/>
          </a:xfrm>
          <a:prstGeom prst="roundRect">
            <a:avLst>
              <a:gd name="adj" fmla="val 38048"/>
            </a:avLst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en-US" sz="2800" b="1" dirty="0">
                <a:solidFill>
                  <a:schemeClr val="tx1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Natural Farming in Gujarat state</a:t>
            </a:r>
            <a:endParaRPr lang="en-IN" sz="2800" b="1" dirty="0">
              <a:solidFill>
                <a:schemeClr val="tx1"/>
              </a:solidFill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524000" y="531812"/>
            <a:ext cx="9167101" cy="2382"/>
          </a:xfrm>
          <a:prstGeom prst="line">
            <a:avLst/>
          </a:prstGeom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285750" y="1070237"/>
            <a:ext cx="9376995" cy="418576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ts val="600"/>
              </a:spcBef>
            </a:pPr>
            <a:r>
              <a:rPr lang="en-US" b="1" dirty="0" smtClean="0">
                <a:solidFill>
                  <a:srgbClr val="00B05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Extension </a:t>
            </a:r>
            <a:r>
              <a:rPr lang="en-US" b="1" dirty="0">
                <a:solidFill>
                  <a:srgbClr val="00B05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Activities </a:t>
            </a:r>
            <a:endParaRPr lang="gu-IN" b="1" dirty="0">
              <a:solidFill>
                <a:srgbClr val="00B050"/>
              </a:solidFill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  <a:p>
            <a:pPr marL="457200" indent="-228600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Workshop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: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5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workshops  for promotion of Natural Farming </a:t>
            </a:r>
          </a:p>
          <a:p>
            <a:pPr marL="457200" indent="-228600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Trainings : For Farmers, Farmers’ Friend, Master Trainers &amp; Extension workers </a:t>
            </a:r>
          </a:p>
          <a:p>
            <a:pPr marL="457200" indent="-228600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Publicity Campaign: Book, Success stories, Hand bill, Films, Quickies, Calendar etc.  </a:t>
            </a:r>
          </a:p>
          <a:p>
            <a:pPr algn="just" fontAlgn="base">
              <a:spcBef>
                <a:spcPts val="600"/>
              </a:spcBef>
            </a:pPr>
            <a:r>
              <a:rPr lang="en-US" b="1" dirty="0" smtClean="0">
                <a:solidFill>
                  <a:srgbClr val="00B05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Events, </a:t>
            </a:r>
            <a:r>
              <a:rPr lang="en-US" b="1" dirty="0">
                <a:solidFill>
                  <a:srgbClr val="00B05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Exhibition &amp; Market support</a:t>
            </a:r>
          </a:p>
          <a:p>
            <a:pPr marL="400050" indent="-228600" algn="just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Amrut Aahar Mahotsav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: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Organized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in all districts from 25-31/12/2020 </a:t>
            </a:r>
            <a:endParaRPr lang="en-US" b="1" dirty="0" smtClean="0"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  <a:p>
            <a:pPr marL="400050" indent="-228600" algn="just" fontAlgn="base">
              <a:spcBef>
                <a:spcPts val="600"/>
              </a:spcBef>
            </a:pP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                                                   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767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Farmers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participated,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516 stall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and sale: Rs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. 48.64 lakh </a:t>
            </a:r>
          </a:p>
          <a:p>
            <a:pPr marL="400050" indent="-228600" algn="just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Farm Fresh Festival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: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In </a:t>
            </a:r>
            <a:r>
              <a:rPr lang="en-US" b="1" dirty="0" err="1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Ahmedabad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on Dated 7-9/03/21 </a:t>
            </a:r>
            <a:endParaRPr lang="en-US" b="1" dirty="0" smtClean="0"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  <a:p>
            <a:pPr marL="400050" indent="-228600" algn="just" fontAlgn="base">
              <a:spcBef>
                <a:spcPts val="600"/>
              </a:spcBef>
            </a:pP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                                            selling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of  natural produce of Rs. 49.30 lakh by 74 farmers</a:t>
            </a:r>
          </a:p>
          <a:p>
            <a:pPr marL="400050" indent="-228600" algn="just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Formation </a:t>
            </a: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of  85 FPOs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for market of Natural Farming products</a:t>
            </a:r>
          </a:p>
          <a:p>
            <a:pPr marL="400050" indent="-228600" algn="just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Gram </a:t>
            </a: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Hat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under Rural development department are developed  for marketing of Natural produce and sell by FPOs  </a:t>
            </a:r>
          </a:p>
        </p:txBody>
      </p:sp>
      <p:pic>
        <p:nvPicPr>
          <p:cNvPr id="20" name="Picture 1" descr="new-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585" t="15273" r="14188" b="12616"/>
          <a:stretch>
            <a:fillRect/>
          </a:stretch>
        </p:blipFill>
        <p:spPr bwMode="auto">
          <a:xfrm>
            <a:off x="11063073" y="-57150"/>
            <a:ext cx="939593" cy="1260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" descr="E:\1.SPNF\LOGO\GUJ\PRAKRUTIK KRUSHI - GUJARATI - 17-1-2022.png"/>
          <p:cNvPicPr>
            <a:picLocks noChangeAspect="1" noChangeArrowheads="1"/>
          </p:cNvPicPr>
          <p:nvPr/>
        </p:nvPicPr>
        <p:blipFill>
          <a:blip r:embed="rId4" cstate="print"/>
          <a:srcRect l="3504" t="3504" r="5401" b="1898"/>
          <a:stretch>
            <a:fillRect/>
          </a:stretch>
        </p:blipFill>
        <p:spPr bwMode="auto">
          <a:xfrm>
            <a:off x="65741" y="31759"/>
            <a:ext cx="1086287" cy="102087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2862841" cy="365125"/>
          </a:xfrm>
        </p:spPr>
        <p:txBody>
          <a:bodyPr/>
          <a:lstStyle/>
          <a:p>
            <a:fld id="{B6F15528-21DE-4FAA-801E-634DDDAF4B2B}" type="slidenum">
              <a:rPr lang="en-US" b="1" smtClean="0"/>
              <a:pPr/>
              <a:t>22</a:t>
            </a:fld>
            <a:endParaRPr lang="en-US" b="1" dirty="0"/>
          </a:p>
        </p:txBody>
      </p:sp>
      <p:pic>
        <p:nvPicPr>
          <p:cNvPr id="9" name="Picture 4" descr="G:\PHOTO\SPNF\SPNF Training\Female In training.jpg"/>
          <p:cNvPicPr>
            <a:picLocks noChangeAspect="1" noChangeArrowheads="1"/>
          </p:cNvPicPr>
          <p:nvPr/>
        </p:nvPicPr>
        <p:blipFill>
          <a:blip r:embed="rId5" cstate="print"/>
          <a:srcRect l="12500"/>
          <a:stretch>
            <a:fillRect/>
          </a:stretch>
        </p:blipFill>
        <p:spPr bwMode="auto">
          <a:xfrm>
            <a:off x="9662745" y="1376255"/>
            <a:ext cx="2459659" cy="2876550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2" descr="H:\1.SPNF\4.Gujarat Farm Fresh Materials\PHOTO\DSC_5997.JPG"/>
          <p:cNvPicPr>
            <a:picLocks noChangeAspect="1" noChangeArrowheads="1"/>
          </p:cNvPicPr>
          <p:nvPr/>
        </p:nvPicPr>
        <p:blipFill>
          <a:blip r:embed="rId6" cstate="print"/>
          <a:srcRect l="8511" t="8898"/>
          <a:stretch>
            <a:fillRect/>
          </a:stretch>
        </p:blipFill>
        <p:spPr bwMode="auto">
          <a:xfrm>
            <a:off x="9662746" y="4358706"/>
            <a:ext cx="2378456" cy="236276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pic>
      <p:pic>
        <p:nvPicPr>
          <p:cNvPr id="11" name="Picture 3" descr="H:\1.SPNF\AMRUT AHAR\PHOTOS\Bhavnagar.jpeg"/>
          <p:cNvPicPr>
            <a:picLocks noChangeAspect="1" noChangeArrowheads="1"/>
          </p:cNvPicPr>
          <p:nvPr/>
        </p:nvPicPr>
        <p:blipFill>
          <a:blip r:embed="rId7" cstate="print"/>
          <a:srcRect l="9687" t="41417" r="17188" b="26341"/>
          <a:stretch>
            <a:fillRect/>
          </a:stretch>
        </p:blipFill>
        <p:spPr bwMode="auto">
          <a:xfrm>
            <a:off x="4362450" y="5036344"/>
            <a:ext cx="4857749" cy="18216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338137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2057400" y="61200"/>
            <a:ext cx="8229600" cy="396000"/>
          </a:xfrm>
          <a:prstGeom prst="roundRect">
            <a:avLst>
              <a:gd name="adj" fmla="val 38048"/>
            </a:avLst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solidFill>
                  <a:schemeClr val="tx1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Natural Farming in Gujarat state.</a:t>
            </a:r>
            <a:endParaRPr lang="en-IN" sz="1600" b="1" dirty="0">
              <a:solidFill>
                <a:schemeClr val="tx1"/>
              </a:solidFill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524000" y="531812"/>
            <a:ext cx="8784000" cy="1588"/>
          </a:xfrm>
          <a:prstGeom prst="line">
            <a:avLst/>
          </a:prstGeom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269966" y="855201"/>
            <a:ext cx="8721633" cy="5863144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ts val="600"/>
              </a:spcBef>
            </a:pPr>
            <a:r>
              <a:rPr lang="en-US" sz="2000" b="1" dirty="0">
                <a:solidFill>
                  <a:srgbClr val="00B05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Government </a:t>
            </a:r>
            <a:r>
              <a:rPr lang="en-US" sz="2000" b="1" dirty="0" smtClean="0">
                <a:solidFill>
                  <a:srgbClr val="00B05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Incentives</a:t>
            </a:r>
            <a:endParaRPr lang="en-US" sz="2000" b="1" dirty="0">
              <a:solidFill>
                <a:srgbClr val="00B050"/>
              </a:solidFill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  <a:p>
            <a:pPr marL="285750" indent="-285750" algn="just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600" b="1" u="sng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Scheme </a:t>
            </a:r>
            <a:r>
              <a:rPr lang="en-US" sz="1600" b="1" u="sng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for maintenance of indigenous cow  for Natural Farming </a:t>
            </a:r>
            <a:endParaRPr lang="en-US" sz="1600" b="1" u="sng" dirty="0" smtClean="0"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  <a:p>
            <a:pPr marL="519112" indent="-171450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Financial Assistance of </a:t>
            </a:r>
            <a:r>
              <a:rPr lang="en-US" sz="1600" b="1" dirty="0" err="1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Rs</a:t>
            </a: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. 900/- per month (Rs.10,800/- per annum) for the maintenance of one indigenous cow to farm family who are doing natural farming.</a:t>
            </a:r>
          </a:p>
          <a:p>
            <a:pPr marL="519112" indent="-171450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Budget provision : </a:t>
            </a:r>
            <a:r>
              <a:rPr lang="en-US" sz="1600" b="1" dirty="0" err="1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Rs</a:t>
            </a: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. </a:t>
            </a:r>
            <a:r>
              <a:rPr lang="en-US" sz="1600" b="1" dirty="0" smtClean="0">
                <a:solidFill>
                  <a:srgbClr val="00206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213 </a:t>
            </a:r>
            <a:r>
              <a:rPr lang="en-US" sz="1600" b="1" dirty="0" err="1" smtClean="0">
                <a:solidFill>
                  <a:srgbClr val="00206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Crore</a:t>
            </a:r>
            <a:r>
              <a:rPr lang="en-US" sz="1600" b="1" dirty="0" smtClean="0">
                <a:solidFill>
                  <a:srgbClr val="00206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for FY 2022-23 </a:t>
            </a:r>
            <a:endParaRPr lang="en-US" sz="1600" b="1" dirty="0">
              <a:solidFill>
                <a:srgbClr val="002060"/>
              </a:solidFill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  <a:p>
            <a:pPr marL="347662" algn="just" fontAlgn="base">
              <a:spcBef>
                <a:spcPts val="600"/>
              </a:spcBef>
            </a:pPr>
            <a:endParaRPr lang="en-US" sz="400" b="1" u="sng" dirty="0" smtClean="0">
              <a:solidFill>
                <a:srgbClr val="002060"/>
              </a:solidFill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  <a:p>
            <a:pPr marL="288925" indent="-288925" algn="just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600" b="1" u="sng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Special </a:t>
            </a:r>
            <a:r>
              <a:rPr lang="en-US" sz="1600" b="1" u="sng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scheme for Dang district for 100% Chemical  free Natural Farming </a:t>
            </a:r>
            <a:r>
              <a:rPr lang="en-US" sz="1600" b="1" u="sng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district</a:t>
            </a:r>
          </a:p>
          <a:p>
            <a:pPr marL="519112" indent="-171450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Financial Assistance </a:t>
            </a: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of </a:t>
            </a:r>
            <a:r>
              <a:rPr lang="en-US" sz="1600" b="1" dirty="0" err="1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Rs</a:t>
            </a: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. 10,000/- per farmer per ha for first two year for natural </a:t>
            </a:r>
            <a:r>
              <a:rPr lang="en-US" sz="1600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farming</a:t>
            </a: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marL="519112" indent="-171450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Provision for establishment of marketing structure – </a:t>
            </a:r>
            <a:r>
              <a:rPr lang="en-US" sz="1600" b="1" dirty="0" err="1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Rs</a:t>
            </a: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. 1.5 </a:t>
            </a:r>
            <a:r>
              <a:rPr lang="en-US" sz="1600" b="1" dirty="0" err="1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crore</a:t>
            </a:r>
            <a:endParaRPr lang="en-US" sz="1600" b="1" dirty="0" smtClean="0"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  <a:p>
            <a:pPr marL="519112" indent="-171450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Help for certification of natural products- </a:t>
            </a:r>
            <a:r>
              <a:rPr lang="en-US" sz="1600" b="1" dirty="0" err="1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Rs</a:t>
            </a: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. 10 </a:t>
            </a:r>
            <a:r>
              <a:rPr lang="en-US" sz="1600" b="1" dirty="0" err="1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crore</a:t>
            </a:r>
            <a:endParaRPr lang="en-US" sz="1600" b="1" dirty="0" smtClean="0"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  <a:p>
            <a:pPr marL="519112" indent="-171450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Budget provision </a:t>
            </a:r>
            <a:r>
              <a:rPr lang="en-US" sz="1600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: </a:t>
            </a:r>
            <a:r>
              <a:rPr lang="en-US" sz="1600" b="1" dirty="0" err="1">
                <a:solidFill>
                  <a:srgbClr val="00206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Rs</a:t>
            </a:r>
            <a:r>
              <a:rPr lang="en-US" sz="1600" b="1" dirty="0" smtClean="0">
                <a:solidFill>
                  <a:srgbClr val="00206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. 31.50 </a:t>
            </a:r>
            <a:r>
              <a:rPr lang="en-US" sz="1600" b="1" dirty="0" err="1" smtClean="0">
                <a:solidFill>
                  <a:srgbClr val="00206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Crore</a:t>
            </a:r>
            <a:r>
              <a:rPr lang="en-US" sz="1600" b="1" dirty="0" smtClean="0">
                <a:solidFill>
                  <a:srgbClr val="00206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b="1" dirty="0">
                <a:solidFill>
                  <a:srgbClr val="00206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for FY </a:t>
            </a:r>
            <a:r>
              <a:rPr lang="en-US" sz="1600" b="1" dirty="0" smtClean="0">
                <a:solidFill>
                  <a:srgbClr val="00206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2022-23</a:t>
            </a:r>
            <a:endParaRPr lang="en-US" sz="1600" b="1" dirty="0">
              <a:solidFill>
                <a:srgbClr val="002060"/>
              </a:solidFill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  <a:p>
            <a:pPr marL="347662" algn="just" fontAlgn="base">
              <a:spcBef>
                <a:spcPts val="600"/>
              </a:spcBef>
            </a:pPr>
            <a:endParaRPr lang="en-US" sz="1600" dirty="0">
              <a:solidFill>
                <a:srgbClr val="002060"/>
              </a:solidFill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  <a:p>
            <a:pPr algn="just" fontAlgn="base">
              <a:spcBef>
                <a:spcPts val="600"/>
              </a:spcBef>
            </a:pPr>
            <a:r>
              <a:rPr lang="en-US" sz="2000" b="1" dirty="0" smtClean="0">
                <a:solidFill>
                  <a:srgbClr val="00B05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New </a:t>
            </a:r>
            <a:r>
              <a:rPr lang="en-US" sz="2000" b="1" dirty="0">
                <a:solidFill>
                  <a:srgbClr val="00B05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Initiatives </a:t>
            </a:r>
            <a:endParaRPr lang="en-US" sz="2000" b="1" dirty="0" smtClean="0">
              <a:solidFill>
                <a:srgbClr val="00B050"/>
              </a:solidFill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  <a:p>
            <a:pPr marL="517525" lvl="2" indent="-174625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The </a:t>
            </a:r>
            <a:r>
              <a:rPr lang="en-US" sz="1600" b="1" dirty="0" err="1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Dangs</a:t>
            </a: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District – </a:t>
            </a:r>
            <a:r>
              <a:rPr lang="en-US" sz="1600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Declared</a:t>
            </a: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as “100% Chemical Free &amp; Natural Farming District” – Special scheme for farmers of Dang district.</a:t>
            </a:r>
          </a:p>
          <a:p>
            <a:pPr marL="517525" lvl="2" indent="-174625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Formation </a:t>
            </a:r>
            <a:r>
              <a:rPr lang="en-US" sz="1600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of “Gujarat </a:t>
            </a:r>
            <a:r>
              <a:rPr lang="en-US" sz="1600" b="1" dirty="0" err="1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Prakrutik</a:t>
            </a:r>
            <a:r>
              <a:rPr lang="en-US" sz="1600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b="1" dirty="0" err="1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Krushi</a:t>
            </a:r>
            <a:r>
              <a:rPr lang="en-US" sz="1600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b="1" dirty="0" err="1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Vikas</a:t>
            </a:r>
            <a:r>
              <a:rPr lang="en-US" sz="1600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Board”</a:t>
            </a:r>
          </a:p>
          <a:p>
            <a:pPr marL="517525" lvl="2" indent="-174625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Formation of committee to develop syllabus </a:t>
            </a:r>
            <a:r>
              <a:rPr lang="en-US" sz="1600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&amp; curriculum on Natural </a:t>
            </a: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Farming</a:t>
            </a:r>
          </a:p>
          <a:p>
            <a:pPr marL="517525" lvl="2" indent="-174625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Establishment </a:t>
            </a:r>
            <a:r>
              <a:rPr lang="en-US" sz="1600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of Gujarat Organic University</a:t>
            </a:r>
          </a:p>
        </p:txBody>
      </p:sp>
      <p:pic>
        <p:nvPicPr>
          <p:cNvPr id="20" name="Picture 1" descr="new-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585" t="15273" r="14188" b="12616"/>
          <a:stretch>
            <a:fillRect/>
          </a:stretch>
        </p:blipFill>
        <p:spPr bwMode="auto">
          <a:xfrm>
            <a:off x="11069782" y="109302"/>
            <a:ext cx="897082" cy="960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" descr="E:\1.SPNF\LOGO\GUJ\PRAKRUTIK KRUSHI - GUJARATI - 17-1-2022.png"/>
          <p:cNvPicPr>
            <a:picLocks noChangeAspect="1" noChangeArrowheads="1"/>
          </p:cNvPicPr>
          <p:nvPr/>
        </p:nvPicPr>
        <p:blipFill>
          <a:blip r:embed="rId4" cstate="print"/>
          <a:srcRect l="3504" t="3504" r="5401" b="1898"/>
          <a:stretch>
            <a:fillRect/>
          </a:stretch>
        </p:blipFill>
        <p:spPr bwMode="auto">
          <a:xfrm>
            <a:off x="429710" y="89775"/>
            <a:ext cx="810289" cy="76229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tx1"/>
                </a:solidFill>
              </a:rPr>
              <a:pPr/>
              <a:t>23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0" name="Picture 9" descr="E:\PHOTO\SPNF\DANG Programme 19\Picture3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069385" y="3399192"/>
            <a:ext cx="2855323" cy="18225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 descr="H:\05.12.20\Kheda\Pushpaben Somabhai Patel, Village.Vina, Ta. Nadiad, Dist.Kheda - Copy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148988" y="1121450"/>
            <a:ext cx="2691264" cy="17178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131145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2286000" y="61200"/>
            <a:ext cx="7848600" cy="396000"/>
          </a:xfrm>
          <a:prstGeom prst="roundRect">
            <a:avLst>
              <a:gd name="adj" fmla="val 38048"/>
            </a:avLst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en-US" sz="2000" b="1" dirty="0">
                <a:solidFill>
                  <a:schemeClr val="tx1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Pre- Vibrant &amp; National Conclave on Natural Farming</a:t>
            </a:r>
            <a:endParaRPr lang="en-IN" sz="2000" b="1" dirty="0">
              <a:solidFill>
                <a:schemeClr val="tx1"/>
              </a:solidFill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524000" y="531812"/>
            <a:ext cx="8784000" cy="1588"/>
          </a:xfrm>
          <a:prstGeom prst="line">
            <a:avLst/>
          </a:prstGeom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524000" y="531812"/>
            <a:ext cx="8784000" cy="1588"/>
          </a:xfrm>
          <a:prstGeom prst="line">
            <a:avLst/>
          </a:prstGeom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495800" y="3540037"/>
            <a:ext cx="65902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Natural Farming Theme Pavilion </a:t>
            </a:r>
            <a:endParaRPr lang="gu-IN" b="1" dirty="0">
              <a:solidFill>
                <a:srgbClr val="C00000"/>
              </a:solidFill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  <a:p>
            <a:pPr algn="just"/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Special information on natural farming and success stories of farmers engaged in natural farming as well as farm products were displayed.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5800" y="4981309"/>
            <a:ext cx="65902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Natural Farming Stall</a:t>
            </a:r>
            <a:r>
              <a:rPr lang="gu-IN" b="1" dirty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</a:p>
          <a:p>
            <a:pPr algn="just"/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About </a:t>
            </a: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20 stalls of farmers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engaged in natural farming were set up in which about 40 farmers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had displayed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and sold their farm produce.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9600" y="959892"/>
            <a:ext cx="66664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Inauguration Ceremony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under chairmanship of the Hon. Governor &amp; Hon. Union Minister of Animal Husbandry </a:t>
            </a:r>
          </a:p>
          <a:p>
            <a:pPr algn="just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14</a:t>
            </a:r>
            <a:r>
              <a:rPr lang="en-US" b="1" baseline="30000" dirty="0" smtClean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th</a:t>
            </a:r>
            <a:r>
              <a:rPr lang="en-US" b="1" dirty="0" smtClean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December</a:t>
            </a: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, 2021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, Anand Agriculture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University.</a:t>
            </a:r>
            <a:endParaRPr lang="en-US" b="1" dirty="0">
              <a:latin typeface="Cambria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45127" y="6324601"/>
            <a:ext cx="1014152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14</a:t>
            </a:r>
            <a:r>
              <a:rPr lang="en-US" b="1" baseline="30000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th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to 16</a:t>
            </a:r>
            <a:r>
              <a:rPr lang="en-US" b="1" baseline="30000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th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December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, 21 - Approximately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34,500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progressive farmers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visited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from all districts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76400" y="740222"/>
            <a:ext cx="2667000" cy="1219200"/>
          </a:xfrm>
          <a:prstGeom prst="roundRect">
            <a:avLst/>
          </a:prstGeom>
          <a:blipFill>
            <a:blip r:embed="rId3" cstate="print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1676400" y="3540036"/>
            <a:ext cx="2667000" cy="1219200"/>
          </a:xfrm>
          <a:prstGeom prst="roundRect">
            <a:avLst/>
          </a:prstGeom>
          <a:blipFill>
            <a:blip r:embed="rId4" cstate="print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1676400" y="4981308"/>
            <a:ext cx="2667000" cy="1219200"/>
          </a:xfrm>
          <a:prstGeom prst="roundRect">
            <a:avLst/>
          </a:prstGeom>
          <a:blipFill>
            <a:blip r:embed="rId5" cstate="print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" descr="new-1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585" t="15273" r="14188" b="12616"/>
          <a:stretch>
            <a:fillRect/>
          </a:stretch>
        </p:blipFill>
        <p:spPr bwMode="auto">
          <a:xfrm>
            <a:off x="11086036" y="1"/>
            <a:ext cx="981272" cy="1373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2" descr="E:\1.SPNF\LOGO\GUJ\PRAKRUTIK KRUSHI - GUJARATI - 17-1-2022.png"/>
          <p:cNvPicPr>
            <a:picLocks noChangeAspect="1" noChangeArrowheads="1"/>
          </p:cNvPicPr>
          <p:nvPr/>
        </p:nvPicPr>
        <p:blipFill>
          <a:blip r:embed="rId7" cstate="print"/>
          <a:srcRect l="3504" t="3504" r="5401" b="1898"/>
          <a:stretch>
            <a:fillRect/>
          </a:stretch>
        </p:blipFill>
        <p:spPr bwMode="auto">
          <a:xfrm>
            <a:off x="180102" y="-1"/>
            <a:ext cx="1327863" cy="130232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9350829" y="6356350"/>
            <a:ext cx="27432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419600" y="2035627"/>
            <a:ext cx="66664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National Conclave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at Amul, Anand on Natural Farming with virtual presence of the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Hon. Prime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Minister on </a:t>
            </a:r>
            <a:r>
              <a:rPr lang="en-US" b="1" dirty="0" smtClean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16</a:t>
            </a:r>
            <a:r>
              <a:rPr lang="en-US" b="1" baseline="30000" dirty="0" smtClean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th</a:t>
            </a:r>
            <a:r>
              <a:rPr lang="en-US" b="1" dirty="0" smtClean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 December</a:t>
            </a: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b="1" dirty="0" smtClean="0">
                <a:solidFill>
                  <a:srgbClr val="C0000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2021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Hon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. Union Home Minister, Hon. Governor, Hon. Union Minister of Agri., Hon. Chief Minister, Ministers &amp; distinguished </a:t>
            </a:r>
            <a:r>
              <a:rPr lang="en-US" b="1" dirty="0" smtClean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dignitaries were remained </a:t>
            </a:r>
            <a:r>
              <a:rPr lang="en-US" b="1" dirty="0"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present.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76400" y="2111827"/>
            <a:ext cx="2667000" cy="1219200"/>
          </a:xfrm>
          <a:prstGeom prst="roundRect">
            <a:avLst/>
          </a:prstGeom>
          <a:blipFill>
            <a:blip r:embed="rId8" cstate="print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8059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93901" y="5952308"/>
            <a:ext cx="9144000" cy="0"/>
          </a:xfrm>
          <a:prstGeom prst="line">
            <a:avLst/>
          </a:prstGeom>
          <a:ln w="76200">
            <a:solidFill>
              <a:srgbClr val="B94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7EBCD7C-090E-4EFA-A7F9-7BA731A1B794}"/>
              </a:ext>
            </a:extLst>
          </p:cNvPr>
          <p:cNvSpPr/>
          <p:nvPr/>
        </p:nvSpPr>
        <p:spPr>
          <a:xfrm>
            <a:off x="554182" y="860478"/>
            <a:ext cx="5541818" cy="2100202"/>
          </a:xfrm>
          <a:prstGeom prst="rect">
            <a:avLst/>
          </a:prstGeom>
          <a:solidFill>
            <a:srgbClr val="D39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1"/>
          </a:p>
        </p:txBody>
      </p:sp>
      <p:sp>
        <p:nvSpPr>
          <p:cNvPr id="6" name="Rectangle 5"/>
          <p:cNvSpPr/>
          <p:nvPr/>
        </p:nvSpPr>
        <p:spPr>
          <a:xfrm>
            <a:off x="1752601" y="228600"/>
            <a:ext cx="86867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2400" b="1" u="sng" dirty="0" smtClean="0">
                <a:solidFill>
                  <a:srgbClr val="00206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Formation </a:t>
            </a:r>
            <a:r>
              <a:rPr lang="en-US" sz="2400" b="1" u="sng" dirty="0">
                <a:solidFill>
                  <a:srgbClr val="002060"/>
                </a:solidFill>
                <a:latin typeface="Cambria" pitchFamily="18" charset="0"/>
                <a:ea typeface="Arial Unicode MS" pitchFamily="34" charset="-128"/>
                <a:cs typeface="Arial Unicode MS" pitchFamily="34" charset="-128"/>
              </a:rPr>
              <a:t>of “Gujarat Prakrutik Krushi Vikas Board” </a:t>
            </a:r>
          </a:p>
          <a:p>
            <a:pPr algn="just"/>
            <a:endParaRPr lang="en-US" sz="2400" b="1" u="sng" dirty="0">
              <a:latin typeface="Cambria" pitchFamily="18" charset="0"/>
              <a:ea typeface="Calibri" panose="020F0502020204030204" pitchFamily="34" charset="0"/>
              <a:cs typeface="SHREE_GUJ_OTF_0768" panose="02000600000000000000" pitchFamily="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7EBCD7C-090E-4EFA-A7F9-7BA731A1B794}"/>
              </a:ext>
            </a:extLst>
          </p:cNvPr>
          <p:cNvSpPr/>
          <p:nvPr/>
        </p:nvSpPr>
        <p:spPr>
          <a:xfrm>
            <a:off x="554182" y="3314702"/>
            <a:ext cx="5541819" cy="2552699"/>
          </a:xfrm>
          <a:prstGeom prst="rect">
            <a:avLst/>
          </a:prstGeom>
          <a:solidFill>
            <a:srgbClr val="FB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1"/>
          </a:p>
        </p:txBody>
      </p:sp>
      <p:sp>
        <p:nvSpPr>
          <p:cNvPr id="10" name="Rectangle 9"/>
          <p:cNvSpPr/>
          <p:nvPr/>
        </p:nvSpPr>
        <p:spPr>
          <a:xfrm>
            <a:off x="554182" y="860477"/>
            <a:ext cx="554181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u="sng" dirty="0">
                <a:solidFill>
                  <a:srgbClr val="25390F"/>
                </a:solidFill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Objectives </a:t>
            </a:r>
            <a:r>
              <a:rPr lang="gu-IN" sz="1600" b="1" u="sng" dirty="0">
                <a:solidFill>
                  <a:srgbClr val="25390F"/>
                </a:solidFill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IN" sz="1600" b="1" u="sng" dirty="0">
              <a:solidFill>
                <a:srgbClr val="25390F"/>
              </a:solidFill>
              <a:latin typeface="Cambria" pitchFamily="18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257175" indent="-257175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02124"/>
                </a:solidFill>
                <a:latin typeface="Cambria" pitchFamily="18" charset="0"/>
              </a:rPr>
              <a:t>Increase area under Natural Farming. </a:t>
            </a:r>
          </a:p>
          <a:p>
            <a:pPr marL="257175" indent="-257175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02124"/>
                </a:solidFill>
                <a:latin typeface="Cambria" pitchFamily="18" charset="0"/>
              </a:rPr>
              <a:t>Provide continuous guidance for natural farming system</a:t>
            </a:r>
          </a:p>
          <a:p>
            <a:pPr marL="257175" indent="-257175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02124"/>
                </a:solidFill>
                <a:latin typeface="Cambria" pitchFamily="18" charset="0"/>
              </a:rPr>
              <a:t>Provide incentives to farmers for natural farming</a:t>
            </a:r>
          </a:p>
          <a:p>
            <a:pPr marL="257175" indent="-257175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02124"/>
                </a:solidFill>
                <a:latin typeface="Cambria" pitchFamily="18" charset="0"/>
              </a:rPr>
              <a:t>Strengthen the marketing structure for natural farming products.</a:t>
            </a:r>
          </a:p>
          <a:p>
            <a:pPr marL="257175" indent="-257175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02124"/>
                </a:solidFill>
                <a:latin typeface="Cambria" pitchFamily="18" charset="0"/>
              </a:rPr>
              <a:t>Help for certification of natural farming products. </a:t>
            </a:r>
            <a:endParaRPr lang="en-IN" sz="1600" b="1" dirty="0">
              <a:solidFill>
                <a:srgbClr val="202124"/>
              </a:solidFill>
              <a:latin typeface="Cambria" pitchFamily="18" charset="0"/>
            </a:endParaRPr>
          </a:p>
          <a:p>
            <a:pPr marL="257175" indent="-257175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202124"/>
              </a:solidFill>
              <a:latin typeface="Cambria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4182" y="3352801"/>
            <a:ext cx="5389418" cy="2615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1600" b="1" u="sng" dirty="0">
                <a:solidFill>
                  <a:srgbClr val="25390F"/>
                </a:solidFill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Detail</a:t>
            </a:r>
            <a:r>
              <a:rPr lang="gu-IN" sz="1600" b="1" u="sng" dirty="0">
                <a:solidFill>
                  <a:srgbClr val="25390F"/>
                </a:solidFill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: </a:t>
            </a:r>
            <a:endParaRPr lang="en-IN" sz="1600" b="1" u="sng" dirty="0">
              <a:solidFill>
                <a:srgbClr val="25390F"/>
              </a:solidFill>
              <a:latin typeface="Cambria" pitchFamily="18" charset="0"/>
              <a:ea typeface="Calibri" panose="020F0502020204030204" pitchFamily="34" charset="0"/>
              <a:cs typeface="Shruti" panose="02000500000000000000" pitchFamily="2"/>
            </a:endParaRP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Training &amp; Exposure visit are main component 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Develop Model Farms 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Publicity campaign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Conclave &amp; Mega seminars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Marketing structure for Natural farming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Natural farming Certification &amp; Hand holdings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Pesticide residue testing for Agricultural products </a:t>
            </a:r>
          </a:p>
          <a:p>
            <a:pPr marL="257175" indent="-257175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Total Financial Provision</a:t>
            </a:r>
            <a:r>
              <a:rPr lang="gu-IN" sz="1600" b="1" dirty="0"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 : </a:t>
            </a:r>
            <a:r>
              <a:rPr lang="en-US" sz="1600" b="1" u="sng" dirty="0">
                <a:solidFill>
                  <a:srgbClr val="FF0000"/>
                </a:solidFill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Rs. 100  Crore </a:t>
            </a:r>
            <a:r>
              <a:rPr lang="gu-IN" sz="1600" b="1" u="sng" dirty="0">
                <a:solidFill>
                  <a:srgbClr val="FF0000"/>
                </a:solidFill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6026" y="780216"/>
            <a:ext cx="2770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B94F4F"/>
                </a:solidFill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Scheme Implementation</a:t>
            </a:r>
            <a:endParaRPr lang="en-IN" b="1" dirty="0">
              <a:solidFill>
                <a:srgbClr val="B94F4F"/>
              </a:solidFill>
              <a:latin typeface="Cambria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E6A1091-DE55-49A6-A041-68D96E6F0E03}"/>
              </a:ext>
            </a:extLst>
          </p:cNvPr>
          <p:cNvCxnSpPr>
            <a:cxnSpLocks/>
          </p:cNvCxnSpPr>
          <p:nvPr/>
        </p:nvCxnSpPr>
        <p:spPr>
          <a:xfrm flipV="1">
            <a:off x="6477000" y="1210983"/>
            <a:ext cx="4132290" cy="35925"/>
          </a:xfrm>
          <a:prstGeom prst="line">
            <a:avLst/>
          </a:prstGeom>
          <a:ln>
            <a:solidFill>
              <a:srgbClr val="B94F4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77000" y="1446275"/>
            <a:ext cx="41163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 dirty="0" smtClean="0"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Formation of </a:t>
            </a:r>
            <a:r>
              <a:rPr lang="en-US" sz="1600" b="1" dirty="0"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Gujarat Prakrutik Krushi Vikas Board </a:t>
            </a:r>
          </a:p>
          <a:p>
            <a:pPr marL="257175" indent="-257175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State level Apex body headed by Hon. Chief Minister</a:t>
            </a:r>
          </a:p>
          <a:p>
            <a:pPr marL="257175" indent="-257175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Cambria" pitchFamily="18" charset="0"/>
                <a:ea typeface="Calibri" panose="020F0502020204030204" pitchFamily="34" charset="0"/>
                <a:cs typeface="SHREE_GUJ_OTF_0768" panose="02000600000000000000" pitchFamily="2"/>
              </a:rPr>
              <a:t>State level Task Force headed by Hon. Chief Secretary 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24001" y="936846"/>
            <a:ext cx="65" cy="18371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1903" rIns="0" bIns="-11903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b="1" dirty="0"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936846"/>
            <a:ext cx="65" cy="18371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1903" rIns="0" bIns="-11903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04573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1040534" y="5583239"/>
            <a:ext cx="1020233" cy="1100137"/>
            <a:chOff x="3652" y="365"/>
            <a:chExt cx="307" cy="460"/>
          </a:xfrm>
        </p:grpSpPr>
        <p:sp>
          <p:nvSpPr>
            <p:cNvPr id="34822" name="Freeform 7"/>
            <p:cNvSpPr>
              <a:spLocks/>
            </p:cNvSpPr>
            <p:nvPr/>
          </p:nvSpPr>
          <p:spPr bwMode="auto">
            <a:xfrm>
              <a:off x="3652" y="365"/>
              <a:ext cx="131" cy="455"/>
            </a:xfrm>
            <a:custGeom>
              <a:avLst/>
              <a:gdLst>
                <a:gd name="T0" fmla="*/ 35 w 138"/>
                <a:gd name="T1" fmla="*/ 96 h 476"/>
                <a:gd name="T2" fmla="*/ 32 w 138"/>
                <a:gd name="T3" fmla="*/ 110 h 476"/>
                <a:gd name="T4" fmla="*/ 28 w 138"/>
                <a:gd name="T5" fmla="*/ 116 h 476"/>
                <a:gd name="T6" fmla="*/ 25 w 138"/>
                <a:gd name="T7" fmla="*/ 120 h 476"/>
                <a:gd name="T8" fmla="*/ 24 w 138"/>
                <a:gd name="T9" fmla="*/ 125 h 476"/>
                <a:gd name="T10" fmla="*/ 31 w 138"/>
                <a:gd name="T11" fmla="*/ 116 h 476"/>
                <a:gd name="T12" fmla="*/ 37 w 138"/>
                <a:gd name="T13" fmla="*/ 100 h 476"/>
                <a:gd name="T14" fmla="*/ 39 w 138"/>
                <a:gd name="T15" fmla="*/ 109 h 476"/>
                <a:gd name="T16" fmla="*/ 35 w 138"/>
                <a:gd name="T17" fmla="*/ 133 h 476"/>
                <a:gd name="T18" fmla="*/ 32 w 138"/>
                <a:gd name="T19" fmla="*/ 139 h 476"/>
                <a:gd name="T20" fmla="*/ 26 w 138"/>
                <a:gd name="T21" fmla="*/ 148 h 476"/>
                <a:gd name="T22" fmla="*/ 19 w 138"/>
                <a:gd name="T23" fmla="*/ 161 h 476"/>
                <a:gd name="T24" fmla="*/ 18 w 138"/>
                <a:gd name="T25" fmla="*/ 149 h 476"/>
                <a:gd name="T26" fmla="*/ 17 w 138"/>
                <a:gd name="T27" fmla="*/ 142 h 476"/>
                <a:gd name="T28" fmla="*/ 16 w 138"/>
                <a:gd name="T29" fmla="*/ 139 h 476"/>
                <a:gd name="T30" fmla="*/ 5 w 138"/>
                <a:gd name="T31" fmla="*/ 110 h 476"/>
                <a:gd name="T32" fmla="*/ 0 w 138"/>
                <a:gd name="T33" fmla="*/ 1 h 476"/>
                <a:gd name="T34" fmla="*/ 9 w 138"/>
                <a:gd name="T35" fmla="*/ 94 h 476"/>
                <a:gd name="T36" fmla="*/ 9 w 138"/>
                <a:gd name="T37" fmla="*/ 105 h 476"/>
                <a:gd name="T38" fmla="*/ 10 w 138"/>
                <a:gd name="T39" fmla="*/ 109 h 476"/>
                <a:gd name="T40" fmla="*/ 17 w 138"/>
                <a:gd name="T41" fmla="*/ 116 h 476"/>
                <a:gd name="T42" fmla="*/ 14 w 138"/>
                <a:gd name="T43" fmla="*/ 107 h 476"/>
                <a:gd name="T44" fmla="*/ 9 w 138"/>
                <a:gd name="T45" fmla="*/ 89 h 476"/>
                <a:gd name="T46" fmla="*/ 9 w 138"/>
                <a:gd name="T47" fmla="*/ 66 h 476"/>
                <a:gd name="T48" fmla="*/ 10 w 138"/>
                <a:gd name="T49" fmla="*/ 73 h 476"/>
                <a:gd name="T50" fmla="*/ 17 w 138"/>
                <a:gd name="T51" fmla="*/ 89 h 476"/>
                <a:gd name="T52" fmla="*/ 19 w 138"/>
                <a:gd name="T53" fmla="*/ 91 h 476"/>
                <a:gd name="T54" fmla="*/ 18 w 138"/>
                <a:gd name="T55" fmla="*/ 83 h 476"/>
                <a:gd name="T56" fmla="*/ 16 w 138"/>
                <a:gd name="T57" fmla="*/ 77 h 476"/>
                <a:gd name="T58" fmla="*/ 12 w 138"/>
                <a:gd name="T59" fmla="*/ 69 h 476"/>
                <a:gd name="T60" fmla="*/ 9 w 138"/>
                <a:gd name="T61" fmla="*/ 58 h 476"/>
                <a:gd name="T62" fmla="*/ 13 w 138"/>
                <a:gd name="T63" fmla="*/ 18 h 476"/>
                <a:gd name="T64" fmla="*/ 13 w 138"/>
                <a:gd name="T65" fmla="*/ 43 h 476"/>
                <a:gd name="T66" fmla="*/ 17 w 138"/>
                <a:gd name="T67" fmla="*/ 50 h 476"/>
                <a:gd name="T68" fmla="*/ 19 w 138"/>
                <a:gd name="T69" fmla="*/ 55 h 476"/>
                <a:gd name="T70" fmla="*/ 19 w 138"/>
                <a:gd name="T71" fmla="*/ 54 h 476"/>
                <a:gd name="T72" fmla="*/ 17 w 138"/>
                <a:gd name="T73" fmla="*/ 43 h 476"/>
                <a:gd name="T74" fmla="*/ 17 w 138"/>
                <a:gd name="T75" fmla="*/ 34 h 476"/>
                <a:gd name="T76" fmla="*/ 20 w 138"/>
                <a:gd name="T77" fmla="*/ 27 h 476"/>
                <a:gd name="T78" fmla="*/ 21 w 138"/>
                <a:gd name="T79" fmla="*/ 30 h 476"/>
                <a:gd name="T80" fmla="*/ 22 w 138"/>
                <a:gd name="T81" fmla="*/ 26 h 476"/>
                <a:gd name="T82" fmla="*/ 24 w 138"/>
                <a:gd name="T83" fmla="*/ 53 h 476"/>
                <a:gd name="T84" fmla="*/ 23 w 138"/>
                <a:gd name="T85" fmla="*/ 64 h 476"/>
                <a:gd name="T86" fmla="*/ 22 w 138"/>
                <a:gd name="T87" fmla="*/ 70 h 476"/>
                <a:gd name="T88" fmla="*/ 23 w 138"/>
                <a:gd name="T89" fmla="*/ 70 h 476"/>
                <a:gd name="T90" fmla="*/ 25 w 138"/>
                <a:gd name="T91" fmla="*/ 61 h 476"/>
                <a:gd name="T92" fmla="*/ 26 w 138"/>
                <a:gd name="T93" fmla="*/ 54 h 476"/>
                <a:gd name="T94" fmla="*/ 28 w 138"/>
                <a:gd name="T95" fmla="*/ 75 h 476"/>
                <a:gd name="T96" fmla="*/ 26 w 138"/>
                <a:gd name="T97" fmla="*/ 90 h 476"/>
                <a:gd name="T98" fmla="*/ 24 w 138"/>
                <a:gd name="T99" fmla="*/ 95 h 476"/>
                <a:gd name="T100" fmla="*/ 23 w 138"/>
                <a:gd name="T101" fmla="*/ 101 h 476"/>
                <a:gd name="T102" fmla="*/ 27 w 138"/>
                <a:gd name="T103" fmla="*/ 91 h 476"/>
                <a:gd name="T104" fmla="*/ 28 w 138"/>
                <a:gd name="T105" fmla="*/ 88 h 476"/>
                <a:gd name="T106" fmla="*/ 28 w 138"/>
                <a:gd name="T107" fmla="*/ 84 h 47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38"/>
                <a:gd name="T163" fmla="*/ 0 h 476"/>
                <a:gd name="T164" fmla="*/ 138 w 138"/>
                <a:gd name="T165" fmla="*/ 476 h 47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38" h="476">
                  <a:moveTo>
                    <a:pt x="109" y="217"/>
                  </a:moveTo>
                  <a:lnTo>
                    <a:pt x="109" y="1"/>
                  </a:lnTo>
                  <a:lnTo>
                    <a:pt x="119" y="1"/>
                  </a:lnTo>
                  <a:lnTo>
                    <a:pt x="119" y="217"/>
                  </a:lnTo>
                  <a:lnTo>
                    <a:pt x="119" y="283"/>
                  </a:lnTo>
                  <a:lnTo>
                    <a:pt x="117" y="310"/>
                  </a:lnTo>
                  <a:lnTo>
                    <a:pt x="117" y="312"/>
                  </a:lnTo>
                  <a:lnTo>
                    <a:pt x="115" y="315"/>
                  </a:lnTo>
                  <a:lnTo>
                    <a:pt x="114" y="319"/>
                  </a:lnTo>
                  <a:lnTo>
                    <a:pt x="112" y="325"/>
                  </a:lnTo>
                  <a:lnTo>
                    <a:pt x="109" y="329"/>
                  </a:lnTo>
                  <a:lnTo>
                    <a:pt x="107" y="335"/>
                  </a:lnTo>
                  <a:lnTo>
                    <a:pt x="104" y="339"/>
                  </a:lnTo>
                  <a:lnTo>
                    <a:pt x="102" y="339"/>
                  </a:lnTo>
                  <a:lnTo>
                    <a:pt x="102" y="341"/>
                  </a:lnTo>
                  <a:lnTo>
                    <a:pt x="101" y="342"/>
                  </a:lnTo>
                  <a:lnTo>
                    <a:pt x="98" y="343"/>
                  </a:lnTo>
                  <a:lnTo>
                    <a:pt x="97" y="346"/>
                  </a:lnTo>
                  <a:lnTo>
                    <a:pt x="94" y="349"/>
                  </a:lnTo>
                  <a:lnTo>
                    <a:pt x="91" y="352"/>
                  </a:lnTo>
                  <a:lnTo>
                    <a:pt x="88" y="355"/>
                  </a:lnTo>
                  <a:lnTo>
                    <a:pt x="86" y="356"/>
                  </a:lnTo>
                  <a:lnTo>
                    <a:pt x="83" y="359"/>
                  </a:lnTo>
                  <a:lnTo>
                    <a:pt x="81" y="362"/>
                  </a:lnTo>
                  <a:lnTo>
                    <a:pt x="80" y="365"/>
                  </a:lnTo>
                  <a:lnTo>
                    <a:pt x="79" y="366"/>
                  </a:lnTo>
                  <a:lnTo>
                    <a:pt x="79" y="367"/>
                  </a:lnTo>
                  <a:lnTo>
                    <a:pt x="79" y="369"/>
                  </a:lnTo>
                  <a:lnTo>
                    <a:pt x="77" y="369"/>
                  </a:lnTo>
                  <a:lnTo>
                    <a:pt x="76" y="384"/>
                  </a:lnTo>
                  <a:lnTo>
                    <a:pt x="93" y="363"/>
                  </a:lnTo>
                  <a:lnTo>
                    <a:pt x="98" y="356"/>
                  </a:lnTo>
                  <a:lnTo>
                    <a:pt x="104" y="350"/>
                  </a:lnTo>
                  <a:lnTo>
                    <a:pt x="109" y="343"/>
                  </a:lnTo>
                  <a:lnTo>
                    <a:pt x="115" y="336"/>
                  </a:lnTo>
                  <a:lnTo>
                    <a:pt x="119" y="329"/>
                  </a:lnTo>
                  <a:lnTo>
                    <a:pt x="124" y="322"/>
                  </a:lnTo>
                  <a:lnTo>
                    <a:pt x="126" y="314"/>
                  </a:lnTo>
                  <a:lnTo>
                    <a:pt x="128" y="304"/>
                  </a:lnTo>
                  <a:lnTo>
                    <a:pt x="128" y="297"/>
                  </a:lnTo>
                  <a:lnTo>
                    <a:pt x="128" y="1"/>
                  </a:lnTo>
                  <a:lnTo>
                    <a:pt x="138" y="1"/>
                  </a:lnTo>
                  <a:lnTo>
                    <a:pt x="138" y="310"/>
                  </a:lnTo>
                  <a:lnTo>
                    <a:pt x="138" y="312"/>
                  </a:lnTo>
                  <a:lnTo>
                    <a:pt x="138" y="315"/>
                  </a:lnTo>
                  <a:lnTo>
                    <a:pt x="136" y="319"/>
                  </a:lnTo>
                  <a:lnTo>
                    <a:pt x="136" y="328"/>
                  </a:lnTo>
                  <a:lnTo>
                    <a:pt x="135" y="339"/>
                  </a:lnTo>
                  <a:lnTo>
                    <a:pt x="132" y="350"/>
                  </a:lnTo>
                  <a:lnTo>
                    <a:pt x="129" y="365"/>
                  </a:lnTo>
                  <a:lnTo>
                    <a:pt x="125" y="379"/>
                  </a:lnTo>
                  <a:lnTo>
                    <a:pt x="119" y="393"/>
                  </a:lnTo>
                  <a:lnTo>
                    <a:pt x="119" y="394"/>
                  </a:lnTo>
                  <a:lnTo>
                    <a:pt x="118" y="396"/>
                  </a:lnTo>
                  <a:lnTo>
                    <a:pt x="117" y="398"/>
                  </a:lnTo>
                  <a:lnTo>
                    <a:pt x="115" y="401"/>
                  </a:lnTo>
                  <a:lnTo>
                    <a:pt x="114" y="404"/>
                  </a:lnTo>
                  <a:lnTo>
                    <a:pt x="111" y="408"/>
                  </a:lnTo>
                  <a:lnTo>
                    <a:pt x="108" y="412"/>
                  </a:lnTo>
                  <a:lnTo>
                    <a:pt x="107" y="417"/>
                  </a:lnTo>
                  <a:lnTo>
                    <a:pt x="102" y="422"/>
                  </a:lnTo>
                  <a:lnTo>
                    <a:pt x="100" y="427"/>
                  </a:lnTo>
                  <a:lnTo>
                    <a:pt x="95" y="432"/>
                  </a:lnTo>
                  <a:lnTo>
                    <a:pt x="91" y="436"/>
                  </a:lnTo>
                  <a:lnTo>
                    <a:pt x="88" y="441"/>
                  </a:lnTo>
                  <a:lnTo>
                    <a:pt x="84" y="446"/>
                  </a:lnTo>
                  <a:lnTo>
                    <a:pt x="80" y="453"/>
                  </a:lnTo>
                  <a:lnTo>
                    <a:pt x="76" y="460"/>
                  </a:lnTo>
                  <a:lnTo>
                    <a:pt x="76" y="476"/>
                  </a:lnTo>
                  <a:lnTo>
                    <a:pt x="63" y="476"/>
                  </a:lnTo>
                  <a:lnTo>
                    <a:pt x="62" y="445"/>
                  </a:lnTo>
                  <a:lnTo>
                    <a:pt x="60" y="443"/>
                  </a:lnTo>
                  <a:lnTo>
                    <a:pt x="60" y="442"/>
                  </a:lnTo>
                  <a:lnTo>
                    <a:pt x="60" y="439"/>
                  </a:lnTo>
                  <a:lnTo>
                    <a:pt x="59" y="436"/>
                  </a:lnTo>
                  <a:lnTo>
                    <a:pt x="59" y="434"/>
                  </a:lnTo>
                  <a:lnTo>
                    <a:pt x="59" y="429"/>
                  </a:lnTo>
                  <a:lnTo>
                    <a:pt x="57" y="427"/>
                  </a:lnTo>
                  <a:lnTo>
                    <a:pt x="57" y="422"/>
                  </a:lnTo>
                  <a:lnTo>
                    <a:pt x="56" y="419"/>
                  </a:lnTo>
                  <a:lnTo>
                    <a:pt x="55" y="417"/>
                  </a:lnTo>
                  <a:lnTo>
                    <a:pt x="55" y="414"/>
                  </a:lnTo>
                  <a:lnTo>
                    <a:pt x="53" y="412"/>
                  </a:lnTo>
                  <a:lnTo>
                    <a:pt x="52" y="411"/>
                  </a:lnTo>
                  <a:lnTo>
                    <a:pt x="52" y="410"/>
                  </a:lnTo>
                  <a:lnTo>
                    <a:pt x="42" y="397"/>
                  </a:lnTo>
                  <a:lnTo>
                    <a:pt x="33" y="386"/>
                  </a:lnTo>
                  <a:lnTo>
                    <a:pt x="25" y="373"/>
                  </a:lnTo>
                  <a:lnTo>
                    <a:pt x="19" y="362"/>
                  </a:lnTo>
                  <a:lnTo>
                    <a:pt x="11" y="342"/>
                  </a:lnTo>
                  <a:lnTo>
                    <a:pt x="5" y="324"/>
                  </a:lnTo>
                  <a:lnTo>
                    <a:pt x="2" y="308"/>
                  </a:lnTo>
                  <a:lnTo>
                    <a:pt x="1" y="295"/>
                  </a:lnTo>
                  <a:lnTo>
                    <a:pt x="1" y="288"/>
                  </a:lnTo>
                  <a:lnTo>
                    <a:pt x="1" y="286"/>
                  </a:lnTo>
                  <a:lnTo>
                    <a:pt x="0" y="277"/>
                  </a:lnTo>
                  <a:lnTo>
                    <a:pt x="0" y="1"/>
                  </a:lnTo>
                  <a:lnTo>
                    <a:pt x="9" y="1"/>
                  </a:lnTo>
                  <a:lnTo>
                    <a:pt x="9" y="250"/>
                  </a:lnTo>
                  <a:lnTo>
                    <a:pt x="11" y="269"/>
                  </a:lnTo>
                  <a:lnTo>
                    <a:pt x="11" y="272"/>
                  </a:lnTo>
                  <a:lnTo>
                    <a:pt x="11" y="276"/>
                  </a:lnTo>
                  <a:lnTo>
                    <a:pt x="11" y="280"/>
                  </a:lnTo>
                  <a:lnTo>
                    <a:pt x="12" y="287"/>
                  </a:lnTo>
                  <a:lnTo>
                    <a:pt x="15" y="293"/>
                  </a:lnTo>
                  <a:lnTo>
                    <a:pt x="19" y="300"/>
                  </a:lnTo>
                  <a:lnTo>
                    <a:pt x="24" y="305"/>
                  </a:lnTo>
                  <a:lnTo>
                    <a:pt x="28" y="310"/>
                  </a:lnTo>
                  <a:lnTo>
                    <a:pt x="31" y="312"/>
                  </a:lnTo>
                  <a:lnTo>
                    <a:pt x="32" y="314"/>
                  </a:lnTo>
                  <a:lnTo>
                    <a:pt x="35" y="317"/>
                  </a:lnTo>
                  <a:lnTo>
                    <a:pt x="36" y="318"/>
                  </a:lnTo>
                  <a:lnTo>
                    <a:pt x="39" y="321"/>
                  </a:lnTo>
                  <a:lnTo>
                    <a:pt x="40" y="322"/>
                  </a:lnTo>
                  <a:lnTo>
                    <a:pt x="45" y="326"/>
                  </a:lnTo>
                  <a:lnTo>
                    <a:pt x="48" y="329"/>
                  </a:lnTo>
                  <a:lnTo>
                    <a:pt x="50" y="334"/>
                  </a:lnTo>
                  <a:lnTo>
                    <a:pt x="52" y="338"/>
                  </a:lnTo>
                  <a:lnTo>
                    <a:pt x="55" y="341"/>
                  </a:lnTo>
                  <a:lnTo>
                    <a:pt x="56" y="343"/>
                  </a:lnTo>
                  <a:lnTo>
                    <a:pt x="57" y="346"/>
                  </a:lnTo>
                  <a:lnTo>
                    <a:pt x="57" y="348"/>
                  </a:lnTo>
                  <a:lnTo>
                    <a:pt x="57" y="349"/>
                  </a:lnTo>
                  <a:lnTo>
                    <a:pt x="59" y="336"/>
                  </a:lnTo>
                  <a:lnTo>
                    <a:pt x="53" y="325"/>
                  </a:lnTo>
                  <a:lnTo>
                    <a:pt x="48" y="315"/>
                  </a:lnTo>
                  <a:lnTo>
                    <a:pt x="36" y="305"/>
                  </a:lnTo>
                  <a:lnTo>
                    <a:pt x="29" y="295"/>
                  </a:lnTo>
                  <a:lnTo>
                    <a:pt x="24" y="284"/>
                  </a:lnTo>
                  <a:lnTo>
                    <a:pt x="21" y="274"/>
                  </a:lnTo>
                  <a:lnTo>
                    <a:pt x="19" y="267"/>
                  </a:lnTo>
                  <a:lnTo>
                    <a:pt x="19" y="260"/>
                  </a:lnTo>
                  <a:lnTo>
                    <a:pt x="19" y="256"/>
                  </a:lnTo>
                  <a:lnTo>
                    <a:pt x="19" y="255"/>
                  </a:lnTo>
                  <a:lnTo>
                    <a:pt x="18" y="0"/>
                  </a:lnTo>
                  <a:lnTo>
                    <a:pt x="28" y="1"/>
                  </a:lnTo>
                  <a:lnTo>
                    <a:pt x="28" y="177"/>
                  </a:lnTo>
                  <a:lnTo>
                    <a:pt x="31" y="193"/>
                  </a:lnTo>
                  <a:lnTo>
                    <a:pt x="31" y="195"/>
                  </a:lnTo>
                  <a:lnTo>
                    <a:pt x="32" y="200"/>
                  </a:lnTo>
                  <a:lnTo>
                    <a:pt x="35" y="205"/>
                  </a:lnTo>
                  <a:lnTo>
                    <a:pt x="36" y="211"/>
                  </a:lnTo>
                  <a:lnTo>
                    <a:pt x="39" y="217"/>
                  </a:lnTo>
                  <a:lnTo>
                    <a:pt x="40" y="222"/>
                  </a:lnTo>
                  <a:lnTo>
                    <a:pt x="43" y="229"/>
                  </a:lnTo>
                  <a:lnTo>
                    <a:pt x="48" y="238"/>
                  </a:lnTo>
                  <a:lnTo>
                    <a:pt x="52" y="246"/>
                  </a:lnTo>
                  <a:lnTo>
                    <a:pt x="55" y="255"/>
                  </a:lnTo>
                  <a:lnTo>
                    <a:pt x="57" y="260"/>
                  </a:lnTo>
                  <a:lnTo>
                    <a:pt x="60" y="265"/>
                  </a:lnTo>
                  <a:lnTo>
                    <a:pt x="62" y="269"/>
                  </a:lnTo>
                  <a:lnTo>
                    <a:pt x="63" y="270"/>
                  </a:lnTo>
                  <a:lnTo>
                    <a:pt x="63" y="272"/>
                  </a:lnTo>
                  <a:lnTo>
                    <a:pt x="63" y="270"/>
                  </a:lnTo>
                  <a:lnTo>
                    <a:pt x="63" y="267"/>
                  </a:lnTo>
                  <a:lnTo>
                    <a:pt x="63" y="265"/>
                  </a:lnTo>
                  <a:lnTo>
                    <a:pt x="63" y="260"/>
                  </a:lnTo>
                  <a:lnTo>
                    <a:pt x="62" y="255"/>
                  </a:lnTo>
                  <a:lnTo>
                    <a:pt x="62" y="250"/>
                  </a:lnTo>
                  <a:lnTo>
                    <a:pt x="60" y="248"/>
                  </a:lnTo>
                  <a:lnTo>
                    <a:pt x="59" y="245"/>
                  </a:lnTo>
                  <a:lnTo>
                    <a:pt x="59" y="242"/>
                  </a:lnTo>
                  <a:lnTo>
                    <a:pt x="57" y="239"/>
                  </a:lnTo>
                  <a:lnTo>
                    <a:pt x="56" y="236"/>
                  </a:lnTo>
                  <a:lnTo>
                    <a:pt x="55" y="234"/>
                  </a:lnTo>
                  <a:lnTo>
                    <a:pt x="53" y="231"/>
                  </a:lnTo>
                  <a:lnTo>
                    <a:pt x="52" y="228"/>
                  </a:lnTo>
                  <a:lnTo>
                    <a:pt x="52" y="226"/>
                  </a:lnTo>
                  <a:lnTo>
                    <a:pt x="50" y="225"/>
                  </a:lnTo>
                  <a:lnTo>
                    <a:pt x="49" y="219"/>
                  </a:lnTo>
                  <a:lnTo>
                    <a:pt x="46" y="214"/>
                  </a:lnTo>
                  <a:lnTo>
                    <a:pt x="45" y="208"/>
                  </a:lnTo>
                  <a:lnTo>
                    <a:pt x="43" y="203"/>
                  </a:lnTo>
                  <a:lnTo>
                    <a:pt x="42" y="198"/>
                  </a:lnTo>
                  <a:lnTo>
                    <a:pt x="40" y="195"/>
                  </a:lnTo>
                  <a:lnTo>
                    <a:pt x="40" y="193"/>
                  </a:lnTo>
                  <a:lnTo>
                    <a:pt x="38" y="180"/>
                  </a:lnTo>
                  <a:lnTo>
                    <a:pt x="38" y="172"/>
                  </a:lnTo>
                  <a:lnTo>
                    <a:pt x="38" y="1"/>
                  </a:lnTo>
                  <a:lnTo>
                    <a:pt x="46" y="1"/>
                  </a:lnTo>
                  <a:lnTo>
                    <a:pt x="46" y="5"/>
                  </a:lnTo>
                  <a:lnTo>
                    <a:pt x="46" y="17"/>
                  </a:lnTo>
                  <a:lnTo>
                    <a:pt x="46" y="32"/>
                  </a:lnTo>
                  <a:lnTo>
                    <a:pt x="46" y="50"/>
                  </a:lnTo>
                  <a:lnTo>
                    <a:pt x="46" y="70"/>
                  </a:lnTo>
                  <a:lnTo>
                    <a:pt x="46" y="88"/>
                  </a:lnTo>
                  <a:lnTo>
                    <a:pt x="46" y="102"/>
                  </a:lnTo>
                  <a:lnTo>
                    <a:pt x="46" y="110"/>
                  </a:lnTo>
                  <a:lnTo>
                    <a:pt x="46" y="117"/>
                  </a:lnTo>
                  <a:lnTo>
                    <a:pt x="46" y="124"/>
                  </a:lnTo>
                  <a:lnTo>
                    <a:pt x="48" y="128"/>
                  </a:lnTo>
                  <a:lnTo>
                    <a:pt x="49" y="132"/>
                  </a:lnTo>
                  <a:lnTo>
                    <a:pt x="50" y="136"/>
                  </a:lnTo>
                  <a:lnTo>
                    <a:pt x="52" y="139"/>
                  </a:lnTo>
                  <a:lnTo>
                    <a:pt x="53" y="142"/>
                  </a:lnTo>
                  <a:lnTo>
                    <a:pt x="55" y="145"/>
                  </a:lnTo>
                  <a:lnTo>
                    <a:pt x="56" y="149"/>
                  </a:lnTo>
                  <a:lnTo>
                    <a:pt x="57" y="152"/>
                  </a:lnTo>
                  <a:lnTo>
                    <a:pt x="59" y="156"/>
                  </a:lnTo>
                  <a:lnTo>
                    <a:pt x="59" y="159"/>
                  </a:lnTo>
                  <a:lnTo>
                    <a:pt x="60" y="162"/>
                  </a:lnTo>
                  <a:lnTo>
                    <a:pt x="62" y="164"/>
                  </a:lnTo>
                  <a:lnTo>
                    <a:pt x="62" y="166"/>
                  </a:lnTo>
                  <a:lnTo>
                    <a:pt x="62" y="167"/>
                  </a:lnTo>
                  <a:lnTo>
                    <a:pt x="62" y="166"/>
                  </a:lnTo>
                  <a:lnTo>
                    <a:pt x="62" y="164"/>
                  </a:lnTo>
                  <a:lnTo>
                    <a:pt x="62" y="163"/>
                  </a:lnTo>
                  <a:lnTo>
                    <a:pt x="63" y="159"/>
                  </a:lnTo>
                  <a:lnTo>
                    <a:pt x="62" y="155"/>
                  </a:lnTo>
                  <a:lnTo>
                    <a:pt x="62" y="149"/>
                  </a:lnTo>
                  <a:lnTo>
                    <a:pt x="60" y="142"/>
                  </a:lnTo>
                  <a:lnTo>
                    <a:pt x="59" y="133"/>
                  </a:lnTo>
                  <a:lnTo>
                    <a:pt x="57" y="129"/>
                  </a:lnTo>
                  <a:lnTo>
                    <a:pt x="57" y="125"/>
                  </a:lnTo>
                  <a:lnTo>
                    <a:pt x="56" y="121"/>
                  </a:lnTo>
                  <a:lnTo>
                    <a:pt x="56" y="115"/>
                  </a:lnTo>
                  <a:lnTo>
                    <a:pt x="56" y="110"/>
                  </a:lnTo>
                  <a:lnTo>
                    <a:pt x="56" y="105"/>
                  </a:lnTo>
                  <a:lnTo>
                    <a:pt x="55" y="102"/>
                  </a:lnTo>
                  <a:lnTo>
                    <a:pt x="55" y="1"/>
                  </a:lnTo>
                  <a:lnTo>
                    <a:pt x="63" y="1"/>
                  </a:lnTo>
                  <a:lnTo>
                    <a:pt x="64" y="67"/>
                  </a:lnTo>
                  <a:lnTo>
                    <a:pt x="64" y="69"/>
                  </a:lnTo>
                  <a:lnTo>
                    <a:pt x="64" y="71"/>
                  </a:lnTo>
                  <a:lnTo>
                    <a:pt x="64" y="76"/>
                  </a:lnTo>
                  <a:lnTo>
                    <a:pt x="66" y="81"/>
                  </a:lnTo>
                  <a:lnTo>
                    <a:pt x="66" y="86"/>
                  </a:lnTo>
                  <a:lnTo>
                    <a:pt x="67" y="88"/>
                  </a:lnTo>
                  <a:lnTo>
                    <a:pt x="69" y="90"/>
                  </a:lnTo>
                  <a:lnTo>
                    <a:pt x="70" y="88"/>
                  </a:lnTo>
                  <a:lnTo>
                    <a:pt x="70" y="86"/>
                  </a:lnTo>
                  <a:lnTo>
                    <a:pt x="71" y="83"/>
                  </a:lnTo>
                  <a:lnTo>
                    <a:pt x="71" y="80"/>
                  </a:lnTo>
                  <a:lnTo>
                    <a:pt x="73" y="77"/>
                  </a:lnTo>
                  <a:lnTo>
                    <a:pt x="73" y="76"/>
                  </a:lnTo>
                  <a:lnTo>
                    <a:pt x="73" y="74"/>
                  </a:lnTo>
                  <a:lnTo>
                    <a:pt x="73" y="73"/>
                  </a:lnTo>
                  <a:lnTo>
                    <a:pt x="73" y="1"/>
                  </a:lnTo>
                  <a:lnTo>
                    <a:pt x="83" y="1"/>
                  </a:lnTo>
                  <a:lnTo>
                    <a:pt x="83" y="153"/>
                  </a:lnTo>
                  <a:lnTo>
                    <a:pt x="83" y="155"/>
                  </a:lnTo>
                  <a:lnTo>
                    <a:pt x="81" y="157"/>
                  </a:lnTo>
                  <a:lnTo>
                    <a:pt x="81" y="160"/>
                  </a:lnTo>
                  <a:lnTo>
                    <a:pt x="81" y="164"/>
                  </a:lnTo>
                  <a:lnTo>
                    <a:pt x="80" y="170"/>
                  </a:lnTo>
                  <a:lnTo>
                    <a:pt x="80" y="176"/>
                  </a:lnTo>
                  <a:lnTo>
                    <a:pt x="79" y="180"/>
                  </a:lnTo>
                  <a:lnTo>
                    <a:pt x="77" y="186"/>
                  </a:lnTo>
                  <a:lnTo>
                    <a:pt x="76" y="190"/>
                  </a:lnTo>
                  <a:lnTo>
                    <a:pt x="74" y="195"/>
                  </a:lnTo>
                  <a:lnTo>
                    <a:pt x="74" y="198"/>
                  </a:lnTo>
                  <a:lnTo>
                    <a:pt x="74" y="203"/>
                  </a:lnTo>
                  <a:lnTo>
                    <a:pt x="74" y="205"/>
                  </a:lnTo>
                  <a:lnTo>
                    <a:pt x="74" y="207"/>
                  </a:lnTo>
                  <a:lnTo>
                    <a:pt x="74" y="208"/>
                  </a:lnTo>
                  <a:lnTo>
                    <a:pt x="76" y="207"/>
                  </a:lnTo>
                  <a:lnTo>
                    <a:pt x="77" y="205"/>
                  </a:lnTo>
                  <a:lnTo>
                    <a:pt x="77" y="204"/>
                  </a:lnTo>
                  <a:lnTo>
                    <a:pt x="79" y="201"/>
                  </a:lnTo>
                  <a:lnTo>
                    <a:pt x="81" y="197"/>
                  </a:lnTo>
                  <a:lnTo>
                    <a:pt x="83" y="194"/>
                  </a:lnTo>
                  <a:lnTo>
                    <a:pt x="84" y="188"/>
                  </a:lnTo>
                  <a:lnTo>
                    <a:pt x="86" y="186"/>
                  </a:lnTo>
                  <a:lnTo>
                    <a:pt x="86" y="181"/>
                  </a:lnTo>
                  <a:lnTo>
                    <a:pt x="87" y="177"/>
                  </a:lnTo>
                  <a:lnTo>
                    <a:pt x="88" y="173"/>
                  </a:lnTo>
                  <a:lnTo>
                    <a:pt x="90" y="169"/>
                  </a:lnTo>
                  <a:lnTo>
                    <a:pt x="91" y="164"/>
                  </a:lnTo>
                  <a:lnTo>
                    <a:pt x="91" y="163"/>
                  </a:lnTo>
                  <a:lnTo>
                    <a:pt x="91" y="162"/>
                  </a:lnTo>
                  <a:lnTo>
                    <a:pt x="91" y="1"/>
                  </a:lnTo>
                  <a:lnTo>
                    <a:pt x="101" y="1"/>
                  </a:lnTo>
                  <a:lnTo>
                    <a:pt x="101" y="214"/>
                  </a:lnTo>
                  <a:lnTo>
                    <a:pt x="100" y="217"/>
                  </a:lnTo>
                  <a:lnTo>
                    <a:pt x="100" y="219"/>
                  </a:lnTo>
                  <a:lnTo>
                    <a:pt x="98" y="225"/>
                  </a:lnTo>
                  <a:lnTo>
                    <a:pt x="97" y="232"/>
                  </a:lnTo>
                  <a:lnTo>
                    <a:pt x="94" y="239"/>
                  </a:lnTo>
                  <a:lnTo>
                    <a:pt x="93" y="248"/>
                  </a:lnTo>
                  <a:lnTo>
                    <a:pt x="88" y="256"/>
                  </a:lnTo>
                  <a:lnTo>
                    <a:pt x="87" y="263"/>
                  </a:lnTo>
                  <a:lnTo>
                    <a:pt x="86" y="267"/>
                  </a:lnTo>
                  <a:lnTo>
                    <a:pt x="83" y="272"/>
                  </a:lnTo>
                  <a:lnTo>
                    <a:pt x="81" y="274"/>
                  </a:lnTo>
                  <a:lnTo>
                    <a:pt x="80" y="277"/>
                  </a:lnTo>
                  <a:lnTo>
                    <a:pt x="80" y="280"/>
                  </a:lnTo>
                  <a:lnTo>
                    <a:pt x="79" y="281"/>
                  </a:lnTo>
                  <a:lnTo>
                    <a:pt x="79" y="284"/>
                  </a:lnTo>
                  <a:lnTo>
                    <a:pt x="77" y="287"/>
                  </a:lnTo>
                  <a:lnTo>
                    <a:pt x="77" y="291"/>
                  </a:lnTo>
                  <a:lnTo>
                    <a:pt x="77" y="294"/>
                  </a:lnTo>
                  <a:lnTo>
                    <a:pt x="77" y="297"/>
                  </a:lnTo>
                  <a:lnTo>
                    <a:pt x="77" y="298"/>
                  </a:lnTo>
                  <a:lnTo>
                    <a:pt x="77" y="301"/>
                  </a:lnTo>
                  <a:lnTo>
                    <a:pt x="77" y="303"/>
                  </a:lnTo>
                  <a:lnTo>
                    <a:pt x="90" y="274"/>
                  </a:lnTo>
                  <a:lnTo>
                    <a:pt x="91" y="272"/>
                  </a:lnTo>
                  <a:lnTo>
                    <a:pt x="93" y="269"/>
                  </a:lnTo>
                  <a:lnTo>
                    <a:pt x="94" y="267"/>
                  </a:lnTo>
                  <a:lnTo>
                    <a:pt x="94" y="265"/>
                  </a:lnTo>
                  <a:lnTo>
                    <a:pt x="95" y="263"/>
                  </a:lnTo>
                  <a:lnTo>
                    <a:pt x="97" y="260"/>
                  </a:lnTo>
                  <a:lnTo>
                    <a:pt x="97" y="259"/>
                  </a:lnTo>
                  <a:lnTo>
                    <a:pt x="98" y="257"/>
                  </a:lnTo>
                  <a:lnTo>
                    <a:pt x="98" y="256"/>
                  </a:lnTo>
                  <a:lnTo>
                    <a:pt x="100" y="255"/>
                  </a:lnTo>
                  <a:lnTo>
                    <a:pt x="100" y="252"/>
                  </a:lnTo>
                  <a:lnTo>
                    <a:pt x="101" y="248"/>
                  </a:lnTo>
                  <a:lnTo>
                    <a:pt x="102" y="243"/>
                  </a:lnTo>
                  <a:lnTo>
                    <a:pt x="104" y="239"/>
                  </a:lnTo>
                  <a:lnTo>
                    <a:pt x="109" y="217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3" name="Freeform 8"/>
            <p:cNvSpPr>
              <a:spLocks/>
            </p:cNvSpPr>
            <p:nvPr/>
          </p:nvSpPr>
          <p:spPr bwMode="auto">
            <a:xfrm>
              <a:off x="3859" y="525"/>
              <a:ext cx="32" cy="30"/>
            </a:xfrm>
            <a:custGeom>
              <a:avLst/>
              <a:gdLst>
                <a:gd name="T0" fmla="*/ 16 w 33"/>
                <a:gd name="T1" fmla="*/ 3 h 31"/>
                <a:gd name="T2" fmla="*/ 16 w 33"/>
                <a:gd name="T3" fmla="*/ 5 h 31"/>
                <a:gd name="T4" fmla="*/ 16 w 33"/>
                <a:gd name="T5" fmla="*/ 6 h 31"/>
                <a:gd name="T6" fmla="*/ 16 w 33"/>
                <a:gd name="T7" fmla="*/ 9 h 31"/>
                <a:gd name="T8" fmla="*/ 16 w 33"/>
                <a:gd name="T9" fmla="*/ 10 h 31"/>
                <a:gd name="T10" fmla="*/ 16 w 33"/>
                <a:gd name="T11" fmla="*/ 12 h 31"/>
                <a:gd name="T12" fmla="*/ 16 w 33"/>
                <a:gd name="T13" fmla="*/ 13 h 31"/>
                <a:gd name="T14" fmla="*/ 16 w 33"/>
                <a:gd name="T15" fmla="*/ 14 h 31"/>
                <a:gd name="T16" fmla="*/ 16 w 33"/>
                <a:gd name="T17" fmla="*/ 15 h 31"/>
                <a:gd name="T18" fmla="*/ 16 w 33"/>
                <a:gd name="T19" fmla="*/ 15 h 31"/>
                <a:gd name="T20" fmla="*/ 16 w 33"/>
                <a:gd name="T21" fmla="*/ 15 h 31"/>
                <a:gd name="T22" fmla="*/ 16 w 33"/>
                <a:gd name="T23" fmla="*/ 15 h 31"/>
                <a:gd name="T24" fmla="*/ 16 w 33"/>
                <a:gd name="T25" fmla="*/ 15 h 31"/>
                <a:gd name="T26" fmla="*/ 16 w 33"/>
                <a:gd name="T27" fmla="*/ 15 h 31"/>
                <a:gd name="T28" fmla="*/ 16 w 33"/>
                <a:gd name="T29" fmla="*/ 15 h 31"/>
                <a:gd name="T30" fmla="*/ 16 w 33"/>
                <a:gd name="T31" fmla="*/ 15 h 31"/>
                <a:gd name="T32" fmla="*/ 16 w 33"/>
                <a:gd name="T33" fmla="*/ 15 h 31"/>
                <a:gd name="T34" fmla="*/ 16 w 33"/>
                <a:gd name="T35" fmla="*/ 15 h 31"/>
                <a:gd name="T36" fmla="*/ 15 w 33"/>
                <a:gd name="T37" fmla="*/ 15 h 31"/>
                <a:gd name="T38" fmla="*/ 12 w 33"/>
                <a:gd name="T39" fmla="*/ 15 h 31"/>
                <a:gd name="T40" fmla="*/ 11 w 33"/>
                <a:gd name="T41" fmla="*/ 15 h 31"/>
                <a:gd name="T42" fmla="*/ 8 w 33"/>
                <a:gd name="T43" fmla="*/ 15 h 31"/>
                <a:gd name="T44" fmla="*/ 7 w 33"/>
                <a:gd name="T45" fmla="*/ 15 h 31"/>
                <a:gd name="T46" fmla="*/ 5 w 33"/>
                <a:gd name="T47" fmla="*/ 15 h 31"/>
                <a:gd name="T48" fmla="*/ 4 w 33"/>
                <a:gd name="T49" fmla="*/ 15 h 31"/>
                <a:gd name="T50" fmla="*/ 2 w 33"/>
                <a:gd name="T51" fmla="*/ 15 h 31"/>
                <a:gd name="T52" fmla="*/ 2 w 33"/>
                <a:gd name="T53" fmla="*/ 15 h 31"/>
                <a:gd name="T54" fmla="*/ 1 w 33"/>
                <a:gd name="T55" fmla="*/ 15 h 31"/>
                <a:gd name="T56" fmla="*/ 1 w 33"/>
                <a:gd name="T57" fmla="*/ 15 h 31"/>
                <a:gd name="T58" fmla="*/ 0 w 33"/>
                <a:gd name="T59" fmla="*/ 14 h 31"/>
                <a:gd name="T60" fmla="*/ 1 w 33"/>
                <a:gd name="T61" fmla="*/ 12 h 31"/>
                <a:gd name="T62" fmla="*/ 1 w 33"/>
                <a:gd name="T63" fmla="*/ 10 h 31"/>
                <a:gd name="T64" fmla="*/ 1 w 33"/>
                <a:gd name="T65" fmla="*/ 7 h 31"/>
                <a:gd name="T66" fmla="*/ 1 w 33"/>
                <a:gd name="T67" fmla="*/ 6 h 31"/>
                <a:gd name="T68" fmla="*/ 2 w 33"/>
                <a:gd name="T69" fmla="*/ 5 h 31"/>
                <a:gd name="T70" fmla="*/ 4 w 33"/>
                <a:gd name="T71" fmla="*/ 3 h 31"/>
                <a:gd name="T72" fmla="*/ 5 w 33"/>
                <a:gd name="T73" fmla="*/ 2 h 31"/>
                <a:gd name="T74" fmla="*/ 7 w 33"/>
                <a:gd name="T75" fmla="*/ 2 h 31"/>
                <a:gd name="T76" fmla="*/ 9 w 33"/>
                <a:gd name="T77" fmla="*/ 2 h 31"/>
                <a:gd name="T78" fmla="*/ 11 w 33"/>
                <a:gd name="T79" fmla="*/ 0 h 31"/>
                <a:gd name="T80" fmla="*/ 14 w 33"/>
                <a:gd name="T81" fmla="*/ 2 h 31"/>
                <a:gd name="T82" fmla="*/ 14 w 33"/>
                <a:gd name="T83" fmla="*/ 2 h 31"/>
                <a:gd name="T84" fmla="*/ 15 w 33"/>
                <a:gd name="T85" fmla="*/ 2 h 31"/>
                <a:gd name="T86" fmla="*/ 16 w 33"/>
                <a:gd name="T87" fmla="*/ 2 h 31"/>
                <a:gd name="T88" fmla="*/ 16 w 33"/>
                <a:gd name="T89" fmla="*/ 3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3"/>
                <a:gd name="T136" fmla="*/ 0 h 31"/>
                <a:gd name="T137" fmla="*/ 33 w 33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3" h="31">
                  <a:moveTo>
                    <a:pt x="22" y="3"/>
                  </a:moveTo>
                  <a:lnTo>
                    <a:pt x="23" y="3"/>
                  </a:lnTo>
                  <a:lnTo>
                    <a:pt x="23" y="5"/>
                  </a:lnTo>
                  <a:lnTo>
                    <a:pt x="25" y="5"/>
                  </a:lnTo>
                  <a:lnTo>
                    <a:pt x="26" y="6"/>
                  </a:lnTo>
                  <a:lnTo>
                    <a:pt x="28" y="6"/>
                  </a:lnTo>
                  <a:lnTo>
                    <a:pt x="29" y="7"/>
                  </a:lnTo>
                  <a:lnTo>
                    <a:pt x="29" y="9"/>
                  </a:lnTo>
                  <a:lnTo>
                    <a:pt x="30" y="9"/>
                  </a:lnTo>
                  <a:lnTo>
                    <a:pt x="30" y="10"/>
                  </a:lnTo>
                  <a:lnTo>
                    <a:pt x="32" y="10"/>
                  </a:lnTo>
                  <a:lnTo>
                    <a:pt x="32" y="12"/>
                  </a:lnTo>
                  <a:lnTo>
                    <a:pt x="32" y="13"/>
                  </a:lnTo>
                  <a:lnTo>
                    <a:pt x="33" y="13"/>
                  </a:lnTo>
                  <a:lnTo>
                    <a:pt x="33" y="14"/>
                  </a:lnTo>
                  <a:lnTo>
                    <a:pt x="33" y="16"/>
                  </a:lnTo>
                  <a:lnTo>
                    <a:pt x="33" y="17"/>
                  </a:lnTo>
                  <a:lnTo>
                    <a:pt x="33" y="19"/>
                  </a:lnTo>
                  <a:lnTo>
                    <a:pt x="33" y="20"/>
                  </a:lnTo>
                  <a:lnTo>
                    <a:pt x="33" y="21"/>
                  </a:lnTo>
                  <a:lnTo>
                    <a:pt x="33" y="23"/>
                  </a:lnTo>
                  <a:lnTo>
                    <a:pt x="33" y="26"/>
                  </a:lnTo>
                  <a:lnTo>
                    <a:pt x="32" y="26"/>
                  </a:lnTo>
                  <a:lnTo>
                    <a:pt x="32" y="27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5" y="31"/>
                  </a:lnTo>
                  <a:lnTo>
                    <a:pt x="23" y="31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8" y="31"/>
                  </a:lnTo>
                  <a:lnTo>
                    <a:pt x="16" y="31"/>
                  </a:lnTo>
                  <a:lnTo>
                    <a:pt x="15" y="31"/>
                  </a:lnTo>
                  <a:lnTo>
                    <a:pt x="14" y="30"/>
                  </a:lnTo>
                  <a:lnTo>
                    <a:pt x="12" y="30"/>
                  </a:lnTo>
                  <a:lnTo>
                    <a:pt x="11" y="30"/>
                  </a:lnTo>
                  <a:lnTo>
                    <a:pt x="9" y="28"/>
                  </a:lnTo>
                  <a:lnTo>
                    <a:pt x="8" y="28"/>
                  </a:lnTo>
                  <a:lnTo>
                    <a:pt x="7" y="27"/>
                  </a:lnTo>
                  <a:lnTo>
                    <a:pt x="5" y="27"/>
                  </a:lnTo>
                  <a:lnTo>
                    <a:pt x="5" y="26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7"/>
                  </a:lnTo>
                  <a:lnTo>
                    <a:pt x="1" y="6"/>
                  </a:lnTo>
                  <a:lnTo>
                    <a:pt x="2" y="5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7" y="2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22" y="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4" name="Freeform 9"/>
            <p:cNvSpPr>
              <a:spLocks/>
            </p:cNvSpPr>
            <p:nvPr/>
          </p:nvSpPr>
          <p:spPr bwMode="auto">
            <a:xfrm>
              <a:off x="3826" y="482"/>
              <a:ext cx="8" cy="29"/>
            </a:xfrm>
            <a:custGeom>
              <a:avLst/>
              <a:gdLst>
                <a:gd name="T0" fmla="*/ 4 w 8"/>
                <a:gd name="T1" fmla="*/ 3 h 31"/>
                <a:gd name="T2" fmla="*/ 4 w 8"/>
                <a:gd name="T3" fmla="*/ 6 h 31"/>
                <a:gd name="T4" fmla="*/ 5 w 8"/>
                <a:gd name="T5" fmla="*/ 7 h 31"/>
                <a:gd name="T6" fmla="*/ 5 w 8"/>
                <a:gd name="T7" fmla="*/ 7 h 31"/>
                <a:gd name="T8" fmla="*/ 5 w 8"/>
                <a:gd name="T9" fmla="*/ 7 h 31"/>
                <a:gd name="T10" fmla="*/ 7 w 8"/>
                <a:gd name="T11" fmla="*/ 7 h 31"/>
                <a:gd name="T12" fmla="*/ 7 w 8"/>
                <a:gd name="T13" fmla="*/ 7 h 31"/>
                <a:gd name="T14" fmla="*/ 7 w 8"/>
                <a:gd name="T15" fmla="*/ 7 h 31"/>
                <a:gd name="T16" fmla="*/ 8 w 8"/>
                <a:gd name="T17" fmla="*/ 7 h 31"/>
                <a:gd name="T18" fmla="*/ 7 w 8"/>
                <a:gd name="T19" fmla="*/ 7 h 31"/>
                <a:gd name="T20" fmla="*/ 7 w 8"/>
                <a:gd name="T21" fmla="*/ 7 h 31"/>
                <a:gd name="T22" fmla="*/ 7 w 8"/>
                <a:gd name="T23" fmla="*/ 7 h 31"/>
                <a:gd name="T24" fmla="*/ 5 w 8"/>
                <a:gd name="T25" fmla="*/ 7 h 31"/>
                <a:gd name="T26" fmla="*/ 5 w 8"/>
                <a:gd name="T27" fmla="*/ 7 h 31"/>
                <a:gd name="T28" fmla="*/ 4 w 8"/>
                <a:gd name="T29" fmla="*/ 7 h 31"/>
                <a:gd name="T30" fmla="*/ 4 w 8"/>
                <a:gd name="T31" fmla="*/ 7 h 31"/>
                <a:gd name="T32" fmla="*/ 4 w 8"/>
                <a:gd name="T33" fmla="*/ 7 h 31"/>
                <a:gd name="T34" fmla="*/ 3 w 8"/>
                <a:gd name="T35" fmla="*/ 7 h 31"/>
                <a:gd name="T36" fmla="*/ 1 w 8"/>
                <a:gd name="T37" fmla="*/ 7 h 31"/>
                <a:gd name="T38" fmla="*/ 1 w 8"/>
                <a:gd name="T39" fmla="*/ 7 h 31"/>
                <a:gd name="T40" fmla="*/ 1 w 8"/>
                <a:gd name="T41" fmla="*/ 7 h 31"/>
                <a:gd name="T42" fmla="*/ 0 w 8"/>
                <a:gd name="T43" fmla="*/ 7 h 31"/>
                <a:gd name="T44" fmla="*/ 0 w 8"/>
                <a:gd name="T45" fmla="*/ 7 h 31"/>
                <a:gd name="T46" fmla="*/ 0 w 8"/>
                <a:gd name="T47" fmla="*/ 7 h 31"/>
                <a:gd name="T48" fmla="*/ 0 w 8"/>
                <a:gd name="T49" fmla="*/ 7 h 31"/>
                <a:gd name="T50" fmla="*/ 0 w 8"/>
                <a:gd name="T51" fmla="*/ 7 h 31"/>
                <a:gd name="T52" fmla="*/ 0 w 8"/>
                <a:gd name="T53" fmla="*/ 7 h 31"/>
                <a:gd name="T54" fmla="*/ 0 w 8"/>
                <a:gd name="T55" fmla="*/ 6 h 31"/>
                <a:gd name="T56" fmla="*/ 0 w 8"/>
                <a:gd name="T57" fmla="*/ 4 h 31"/>
                <a:gd name="T58" fmla="*/ 0 w 8"/>
                <a:gd name="T59" fmla="*/ 3 h 31"/>
                <a:gd name="T60" fmla="*/ 0 w 8"/>
                <a:gd name="T61" fmla="*/ 2 h 31"/>
                <a:gd name="T62" fmla="*/ 0 w 8"/>
                <a:gd name="T63" fmla="*/ 0 h 31"/>
                <a:gd name="T64" fmla="*/ 1 w 8"/>
                <a:gd name="T65" fmla="*/ 0 h 31"/>
                <a:gd name="T66" fmla="*/ 1 w 8"/>
                <a:gd name="T67" fmla="*/ 0 h 31"/>
                <a:gd name="T68" fmla="*/ 1 w 8"/>
                <a:gd name="T69" fmla="*/ 0 h 31"/>
                <a:gd name="T70" fmla="*/ 1 w 8"/>
                <a:gd name="T71" fmla="*/ 0 h 31"/>
                <a:gd name="T72" fmla="*/ 3 w 8"/>
                <a:gd name="T73" fmla="*/ 0 h 31"/>
                <a:gd name="T74" fmla="*/ 3 w 8"/>
                <a:gd name="T75" fmla="*/ 0 h 31"/>
                <a:gd name="T76" fmla="*/ 4 w 8"/>
                <a:gd name="T77" fmla="*/ 2 h 31"/>
                <a:gd name="T78" fmla="*/ 4 w 8"/>
                <a:gd name="T79" fmla="*/ 2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"/>
                <a:gd name="T121" fmla="*/ 0 h 31"/>
                <a:gd name="T122" fmla="*/ 8 w 8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" h="31">
                  <a:moveTo>
                    <a:pt x="4" y="3"/>
                  </a:moveTo>
                  <a:lnTo>
                    <a:pt x="4" y="3"/>
                  </a:lnTo>
                  <a:lnTo>
                    <a:pt x="4" y="4"/>
                  </a:lnTo>
                  <a:lnTo>
                    <a:pt x="4" y="6"/>
                  </a:lnTo>
                  <a:lnTo>
                    <a:pt x="4" y="7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7" y="20"/>
                  </a:lnTo>
                  <a:lnTo>
                    <a:pt x="7" y="21"/>
                  </a:lnTo>
                  <a:lnTo>
                    <a:pt x="7" y="23"/>
                  </a:lnTo>
                  <a:lnTo>
                    <a:pt x="7" y="24"/>
                  </a:lnTo>
                  <a:lnTo>
                    <a:pt x="8" y="26"/>
                  </a:lnTo>
                  <a:lnTo>
                    <a:pt x="8" y="27"/>
                  </a:lnTo>
                  <a:lnTo>
                    <a:pt x="7" y="28"/>
                  </a:lnTo>
                  <a:lnTo>
                    <a:pt x="7" y="30"/>
                  </a:lnTo>
                  <a:lnTo>
                    <a:pt x="5" y="31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1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3" y="0"/>
                  </a:lnTo>
                  <a:lnTo>
                    <a:pt x="4" y="2"/>
                  </a:lnTo>
                  <a:lnTo>
                    <a:pt x="4" y="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5" name="Freeform 10"/>
            <p:cNvSpPr>
              <a:spLocks/>
            </p:cNvSpPr>
            <p:nvPr/>
          </p:nvSpPr>
          <p:spPr bwMode="auto">
            <a:xfrm>
              <a:off x="3826" y="446"/>
              <a:ext cx="8" cy="35"/>
            </a:xfrm>
            <a:custGeom>
              <a:avLst/>
              <a:gdLst>
                <a:gd name="T0" fmla="*/ 5 w 8"/>
                <a:gd name="T1" fmla="*/ 7 h 37"/>
                <a:gd name="T2" fmla="*/ 5 w 8"/>
                <a:gd name="T3" fmla="*/ 9 h 37"/>
                <a:gd name="T4" fmla="*/ 5 w 8"/>
                <a:gd name="T5" fmla="*/ 9 h 37"/>
                <a:gd name="T6" fmla="*/ 5 w 8"/>
                <a:gd name="T7" fmla="*/ 9 h 37"/>
                <a:gd name="T8" fmla="*/ 7 w 8"/>
                <a:gd name="T9" fmla="*/ 9 h 37"/>
                <a:gd name="T10" fmla="*/ 7 w 8"/>
                <a:gd name="T11" fmla="*/ 9 h 37"/>
                <a:gd name="T12" fmla="*/ 8 w 8"/>
                <a:gd name="T13" fmla="*/ 9 h 37"/>
                <a:gd name="T14" fmla="*/ 8 w 8"/>
                <a:gd name="T15" fmla="*/ 9 h 37"/>
                <a:gd name="T16" fmla="*/ 7 w 8"/>
                <a:gd name="T17" fmla="*/ 9 h 37"/>
                <a:gd name="T18" fmla="*/ 7 w 8"/>
                <a:gd name="T19" fmla="*/ 9 h 37"/>
                <a:gd name="T20" fmla="*/ 7 w 8"/>
                <a:gd name="T21" fmla="*/ 9 h 37"/>
                <a:gd name="T22" fmla="*/ 7 w 8"/>
                <a:gd name="T23" fmla="*/ 9 h 37"/>
                <a:gd name="T24" fmla="*/ 5 w 8"/>
                <a:gd name="T25" fmla="*/ 9 h 37"/>
                <a:gd name="T26" fmla="*/ 4 w 8"/>
                <a:gd name="T27" fmla="*/ 9 h 37"/>
                <a:gd name="T28" fmla="*/ 4 w 8"/>
                <a:gd name="T29" fmla="*/ 9 h 37"/>
                <a:gd name="T30" fmla="*/ 3 w 8"/>
                <a:gd name="T31" fmla="*/ 9 h 37"/>
                <a:gd name="T32" fmla="*/ 3 w 8"/>
                <a:gd name="T33" fmla="*/ 9 h 37"/>
                <a:gd name="T34" fmla="*/ 1 w 8"/>
                <a:gd name="T35" fmla="*/ 9 h 37"/>
                <a:gd name="T36" fmla="*/ 1 w 8"/>
                <a:gd name="T37" fmla="*/ 9 h 37"/>
                <a:gd name="T38" fmla="*/ 0 w 8"/>
                <a:gd name="T39" fmla="*/ 9 h 37"/>
                <a:gd name="T40" fmla="*/ 0 w 8"/>
                <a:gd name="T41" fmla="*/ 9 h 37"/>
                <a:gd name="T42" fmla="*/ 0 w 8"/>
                <a:gd name="T43" fmla="*/ 7 h 37"/>
                <a:gd name="T44" fmla="*/ 0 w 8"/>
                <a:gd name="T45" fmla="*/ 6 h 37"/>
                <a:gd name="T46" fmla="*/ 0 w 8"/>
                <a:gd name="T47" fmla="*/ 3 h 37"/>
                <a:gd name="T48" fmla="*/ 0 w 8"/>
                <a:gd name="T49" fmla="*/ 3 h 37"/>
                <a:gd name="T50" fmla="*/ 1 w 8"/>
                <a:gd name="T51" fmla="*/ 2 h 37"/>
                <a:gd name="T52" fmla="*/ 1 w 8"/>
                <a:gd name="T53" fmla="*/ 2 h 37"/>
                <a:gd name="T54" fmla="*/ 1 w 8"/>
                <a:gd name="T55" fmla="*/ 0 h 37"/>
                <a:gd name="T56" fmla="*/ 3 w 8"/>
                <a:gd name="T57" fmla="*/ 0 h 37"/>
                <a:gd name="T58" fmla="*/ 3 w 8"/>
                <a:gd name="T59" fmla="*/ 0 h 37"/>
                <a:gd name="T60" fmla="*/ 4 w 8"/>
                <a:gd name="T61" fmla="*/ 2 h 37"/>
                <a:gd name="T62" fmla="*/ 4 w 8"/>
                <a:gd name="T63" fmla="*/ 2 h 37"/>
                <a:gd name="T64" fmla="*/ 4 w 8"/>
                <a:gd name="T65" fmla="*/ 3 h 37"/>
                <a:gd name="T66" fmla="*/ 5 w 8"/>
                <a:gd name="T67" fmla="*/ 4 h 3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8"/>
                <a:gd name="T103" fmla="*/ 0 h 37"/>
                <a:gd name="T104" fmla="*/ 8 w 8"/>
                <a:gd name="T105" fmla="*/ 37 h 3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8" h="37">
                  <a:moveTo>
                    <a:pt x="5" y="4"/>
                  </a:moveTo>
                  <a:lnTo>
                    <a:pt x="5" y="7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7" y="20"/>
                  </a:lnTo>
                  <a:lnTo>
                    <a:pt x="7" y="23"/>
                  </a:lnTo>
                  <a:lnTo>
                    <a:pt x="7" y="26"/>
                  </a:lnTo>
                  <a:lnTo>
                    <a:pt x="7" y="27"/>
                  </a:lnTo>
                  <a:lnTo>
                    <a:pt x="8" y="28"/>
                  </a:lnTo>
                  <a:lnTo>
                    <a:pt x="8" y="30"/>
                  </a:lnTo>
                  <a:lnTo>
                    <a:pt x="8" y="31"/>
                  </a:lnTo>
                  <a:lnTo>
                    <a:pt x="8" y="33"/>
                  </a:lnTo>
                  <a:lnTo>
                    <a:pt x="7" y="34"/>
                  </a:lnTo>
                  <a:lnTo>
                    <a:pt x="7" y="35"/>
                  </a:lnTo>
                  <a:lnTo>
                    <a:pt x="5" y="35"/>
                  </a:lnTo>
                  <a:lnTo>
                    <a:pt x="5" y="37"/>
                  </a:lnTo>
                  <a:lnTo>
                    <a:pt x="4" y="37"/>
                  </a:lnTo>
                  <a:lnTo>
                    <a:pt x="3" y="37"/>
                  </a:lnTo>
                  <a:lnTo>
                    <a:pt x="3" y="35"/>
                  </a:lnTo>
                  <a:lnTo>
                    <a:pt x="1" y="35"/>
                  </a:lnTo>
                  <a:lnTo>
                    <a:pt x="1" y="34"/>
                  </a:lnTo>
                  <a:lnTo>
                    <a:pt x="1" y="33"/>
                  </a:lnTo>
                  <a:lnTo>
                    <a:pt x="0" y="31"/>
                  </a:lnTo>
                  <a:lnTo>
                    <a:pt x="0" y="30"/>
                  </a:lnTo>
                  <a:lnTo>
                    <a:pt x="0" y="28"/>
                  </a:lnTo>
                  <a:lnTo>
                    <a:pt x="0" y="27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3"/>
                  </a:lnTo>
                  <a:lnTo>
                    <a:pt x="5" y="4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6" name="Freeform 11"/>
            <p:cNvSpPr>
              <a:spLocks/>
            </p:cNvSpPr>
            <p:nvPr/>
          </p:nvSpPr>
          <p:spPr bwMode="auto">
            <a:xfrm>
              <a:off x="3826" y="514"/>
              <a:ext cx="8" cy="28"/>
            </a:xfrm>
            <a:custGeom>
              <a:avLst/>
              <a:gdLst>
                <a:gd name="T0" fmla="*/ 109 w 7"/>
                <a:gd name="T1" fmla="*/ 2 h 31"/>
                <a:gd name="T2" fmla="*/ 109 w 7"/>
                <a:gd name="T3" fmla="*/ 5 h 31"/>
                <a:gd name="T4" fmla="*/ 109 w 7"/>
                <a:gd name="T5" fmla="*/ 5 h 31"/>
                <a:gd name="T6" fmla="*/ 125 w 7"/>
                <a:gd name="T7" fmla="*/ 5 h 31"/>
                <a:gd name="T8" fmla="*/ 125 w 7"/>
                <a:gd name="T9" fmla="*/ 5 h 31"/>
                <a:gd name="T10" fmla="*/ 163 w 7"/>
                <a:gd name="T11" fmla="*/ 5 h 31"/>
                <a:gd name="T12" fmla="*/ 163 w 7"/>
                <a:gd name="T13" fmla="*/ 5 h 31"/>
                <a:gd name="T14" fmla="*/ 163 w 7"/>
                <a:gd name="T15" fmla="*/ 5 h 31"/>
                <a:gd name="T16" fmla="*/ 163 w 7"/>
                <a:gd name="T17" fmla="*/ 5 h 31"/>
                <a:gd name="T18" fmla="*/ 163 w 7"/>
                <a:gd name="T19" fmla="*/ 5 h 31"/>
                <a:gd name="T20" fmla="*/ 163 w 7"/>
                <a:gd name="T21" fmla="*/ 5 h 31"/>
                <a:gd name="T22" fmla="*/ 163 w 7"/>
                <a:gd name="T23" fmla="*/ 5 h 31"/>
                <a:gd name="T24" fmla="*/ 125 w 7"/>
                <a:gd name="T25" fmla="*/ 5 h 31"/>
                <a:gd name="T26" fmla="*/ 125 w 7"/>
                <a:gd name="T27" fmla="*/ 5 h 31"/>
                <a:gd name="T28" fmla="*/ 109 w 7"/>
                <a:gd name="T29" fmla="*/ 5 h 31"/>
                <a:gd name="T30" fmla="*/ 109 w 7"/>
                <a:gd name="T31" fmla="*/ 5 h 31"/>
                <a:gd name="T32" fmla="*/ 109 w 7"/>
                <a:gd name="T33" fmla="*/ 5 h 31"/>
                <a:gd name="T34" fmla="*/ 3 w 7"/>
                <a:gd name="T35" fmla="*/ 5 h 31"/>
                <a:gd name="T36" fmla="*/ 1 w 7"/>
                <a:gd name="T37" fmla="*/ 5 h 31"/>
                <a:gd name="T38" fmla="*/ 1 w 7"/>
                <a:gd name="T39" fmla="*/ 5 h 31"/>
                <a:gd name="T40" fmla="*/ 1 w 7"/>
                <a:gd name="T41" fmla="*/ 5 h 31"/>
                <a:gd name="T42" fmla="*/ 0 w 7"/>
                <a:gd name="T43" fmla="*/ 5 h 31"/>
                <a:gd name="T44" fmla="*/ 0 w 7"/>
                <a:gd name="T45" fmla="*/ 5 h 31"/>
                <a:gd name="T46" fmla="*/ 0 w 7"/>
                <a:gd name="T47" fmla="*/ 5 h 31"/>
                <a:gd name="T48" fmla="*/ 0 w 7"/>
                <a:gd name="T49" fmla="*/ 5 h 31"/>
                <a:gd name="T50" fmla="*/ 0 w 7"/>
                <a:gd name="T51" fmla="*/ 5 h 31"/>
                <a:gd name="T52" fmla="*/ 0 w 7"/>
                <a:gd name="T53" fmla="*/ 5 h 31"/>
                <a:gd name="T54" fmla="*/ 0 w 7"/>
                <a:gd name="T55" fmla="*/ 5 h 31"/>
                <a:gd name="T56" fmla="*/ 0 w 7"/>
                <a:gd name="T57" fmla="*/ 4 h 31"/>
                <a:gd name="T58" fmla="*/ 0 w 7"/>
                <a:gd name="T59" fmla="*/ 2 h 31"/>
                <a:gd name="T60" fmla="*/ 0 w 7"/>
                <a:gd name="T61" fmla="*/ 1 h 31"/>
                <a:gd name="T62" fmla="*/ 0 w 7"/>
                <a:gd name="T63" fmla="*/ 0 h 31"/>
                <a:gd name="T64" fmla="*/ 1 w 7"/>
                <a:gd name="T65" fmla="*/ 0 h 31"/>
                <a:gd name="T66" fmla="*/ 1 w 7"/>
                <a:gd name="T67" fmla="*/ 0 h 31"/>
                <a:gd name="T68" fmla="*/ 1 w 7"/>
                <a:gd name="T69" fmla="*/ 0 h 31"/>
                <a:gd name="T70" fmla="*/ 1 w 7"/>
                <a:gd name="T71" fmla="*/ 0 h 31"/>
                <a:gd name="T72" fmla="*/ 3 w 7"/>
                <a:gd name="T73" fmla="*/ 0 h 31"/>
                <a:gd name="T74" fmla="*/ 3 w 7"/>
                <a:gd name="T75" fmla="*/ 0 h 31"/>
                <a:gd name="T76" fmla="*/ 109 w 7"/>
                <a:gd name="T77" fmla="*/ 1 h 31"/>
                <a:gd name="T78" fmla="*/ 109 w 7"/>
                <a:gd name="T79" fmla="*/ 1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"/>
                <a:gd name="T121" fmla="*/ 0 h 31"/>
                <a:gd name="T122" fmla="*/ 7 w 7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" h="31">
                  <a:moveTo>
                    <a:pt x="4" y="1"/>
                  </a:moveTo>
                  <a:lnTo>
                    <a:pt x="4" y="2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7"/>
                  </a:lnTo>
                  <a:lnTo>
                    <a:pt x="4" y="8"/>
                  </a:lnTo>
                  <a:lnTo>
                    <a:pt x="5" y="9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5" y="15"/>
                  </a:lnTo>
                  <a:lnTo>
                    <a:pt x="5" y="17"/>
                  </a:lnTo>
                  <a:lnTo>
                    <a:pt x="7" y="19"/>
                  </a:lnTo>
                  <a:lnTo>
                    <a:pt x="7" y="21"/>
                  </a:lnTo>
                  <a:lnTo>
                    <a:pt x="7" y="22"/>
                  </a:lnTo>
                  <a:lnTo>
                    <a:pt x="7" y="24"/>
                  </a:lnTo>
                  <a:lnTo>
                    <a:pt x="7" y="25"/>
                  </a:lnTo>
                  <a:lnTo>
                    <a:pt x="7" y="26"/>
                  </a:lnTo>
                  <a:lnTo>
                    <a:pt x="7" y="28"/>
                  </a:lnTo>
                  <a:lnTo>
                    <a:pt x="7" y="29"/>
                  </a:lnTo>
                  <a:lnTo>
                    <a:pt x="5" y="29"/>
                  </a:lnTo>
                  <a:lnTo>
                    <a:pt x="5" y="31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3" y="29"/>
                  </a:lnTo>
                  <a:lnTo>
                    <a:pt x="1" y="29"/>
                  </a:lnTo>
                  <a:lnTo>
                    <a:pt x="1" y="28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3" y="0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7" name="Freeform 12"/>
            <p:cNvSpPr>
              <a:spLocks/>
            </p:cNvSpPr>
            <p:nvPr/>
          </p:nvSpPr>
          <p:spPr bwMode="auto">
            <a:xfrm>
              <a:off x="3859" y="495"/>
              <a:ext cx="32" cy="30"/>
            </a:xfrm>
            <a:custGeom>
              <a:avLst/>
              <a:gdLst>
                <a:gd name="T0" fmla="*/ 16 w 33"/>
                <a:gd name="T1" fmla="*/ 3 h 31"/>
                <a:gd name="T2" fmla="*/ 16 w 33"/>
                <a:gd name="T3" fmla="*/ 5 h 31"/>
                <a:gd name="T4" fmla="*/ 16 w 33"/>
                <a:gd name="T5" fmla="*/ 6 h 31"/>
                <a:gd name="T6" fmla="*/ 16 w 33"/>
                <a:gd name="T7" fmla="*/ 7 h 31"/>
                <a:gd name="T8" fmla="*/ 16 w 33"/>
                <a:gd name="T9" fmla="*/ 9 h 31"/>
                <a:gd name="T10" fmla="*/ 16 w 33"/>
                <a:gd name="T11" fmla="*/ 10 h 31"/>
                <a:gd name="T12" fmla="*/ 16 w 33"/>
                <a:gd name="T13" fmla="*/ 12 h 31"/>
                <a:gd name="T14" fmla="*/ 16 w 33"/>
                <a:gd name="T15" fmla="*/ 14 h 31"/>
                <a:gd name="T16" fmla="*/ 16 w 33"/>
                <a:gd name="T17" fmla="*/ 15 h 31"/>
                <a:gd name="T18" fmla="*/ 16 w 33"/>
                <a:gd name="T19" fmla="*/ 15 h 31"/>
                <a:gd name="T20" fmla="*/ 16 w 33"/>
                <a:gd name="T21" fmla="*/ 15 h 31"/>
                <a:gd name="T22" fmla="*/ 16 w 33"/>
                <a:gd name="T23" fmla="*/ 15 h 31"/>
                <a:gd name="T24" fmla="*/ 16 w 33"/>
                <a:gd name="T25" fmla="*/ 15 h 31"/>
                <a:gd name="T26" fmla="*/ 16 w 33"/>
                <a:gd name="T27" fmla="*/ 15 h 31"/>
                <a:gd name="T28" fmla="*/ 16 w 33"/>
                <a:gd name="T29" fmla="*/ 15 h 31"/>
                <a:gd name="T30" fmla="*/ 16 w 33"/>
                <a:gd name="T31" fmla="*/ 15 h 31"/>
                <a:gd name="T32" fmla="*/ 16 w 33"/>
                <a:gd name="T33" fmla="*/ 15 h 31"/>
                <a:gd name="T34" fmla="*/ 16 w 33"/>
                <a:gd name="T35" fmla="*/ 15 h 31"/>
                <a:gd name="T36" fmla="*/ 15 w 33"/>
                <a:gd name="T37" fmla="*/ 15 h 31"/>
                <a:gd name="T38" fmla="*/ 12 w 33"/>
                <a:gd name="T39" fmla="*/ 15 h 31"/>
                <a:gd name="T40" fmla="*/ 11 w 33"/>
                <a:gd name="T41" fmla="*/ 15 h 31"/>
                <a:gd name="T42" fmla="*/ 8 w 33"/>
                <a:gd name="T43" fmla="*/ 15 h 31"/>
                <a:gd name="T44" fmla="*/ 7 w 33"/>
                <a:gd name="T45" fmla="*/ 15 h 31"/>
                <a:gd name="T46" fmla="*/ 5 w 33"/>
                <a:gd name="T47" fmla="*/ 15 h 31"/>
                <a:gd name="T48" fmla="*/ 4 w 33"/>
                <a:gd name="T49" fmla="*/ 15 h 31"/>
                <a:gd name="T50" fmla="*/ 2 w 33"/>
                <a:gd name="T51" fmla="*/ 15 h 31"/>
                <a:gd name="T52" fmla="*/ 2 w 33"/>
                <a:gd name="T53" fmla="*/ 15 h 31"/>
                <a:gd name="T54" fmla="*/ 1 w 33"/>
                <a:gd name="T55" fmla="*/ 15 h 31"/>
                <a:gd name="T56" fmla="*/ 1 w 33"/>
                <a:gd name="T57" fmla="*/ 15 h 31"/>
                <a:gd name="T58" fmla="*/ 0 w 33"/>
                <a:gd name="T59" fmla="*/ 14 h 31"/>
                <a:gd name="T60" fmla="*/ 1 w 33"/>
                <a:gd name="T61" fmla="*/ 12 h 31"/>
                <a:gd name="T62" fmla="*/ 1 w 33"/>
                <a:gd name="T63" fmla="*/ 10 h 31"/>
                <a:gd name="T64" fmla="*/ 1 w 33"/>
                <a:gd name="T65" fmla="*/ 7 h 31"/>
                <a:gd name="T66" fmla="*/ 1 w 33"/>
                <a:gd name="T67" fmla="*/ 6 h 31"/>
                <a:gd name="T68" fmla="*/ 2 w 33"/>
                <a:gd name="T69" fmla="*/ 5 h 31"/>
                <a:gd name="T70" fmla="*/ 4 w 33"/>
                <a:gd name="T71" fmla="*/ 3 h 31"/>
                <a:gd name="T72" fmla="*/ 5 w 33"/>
                <a:gd name="T73" fmla="*/ 2 h 31"/>
                <a:gd name="T74" fmla="*/ 7 w 33"/>
                <a:gd name="T75" fmla="*/ 0 h 31"/>
                <a:gd name="T76" fmla="*/ 9 w 33"/>
                <a:gd name="T77" fmla="*/ 0 h 31"/>
                <a:gd name="T78" fmla="*/ 11 w 33"/>
                <a:gd name="T79" fmla="*/ 0 h 31"/>
                <a:gd name="T80" fmla="*/ 14 w 33"/>
                <a:gd name="T81" fmla="*/ 0 h 31"/>
                <a:gd name="T82" fmla="*/ 14 w 33"/>
                <a:gd name="T83" fmla="*/ 0 h 31"/>
                <a:gd name="T84" fmla="*/ 15 w 33"/>
                <a:gd name="T85" fmla="*/ 2 h 31"/>
                <a:gd name="T86" fmla="*/ 16 w 33"/>
                <a:gd name="T87" fmla="*/ 2 h 31"/>
                <a:gd name="T88" fmla="*/ 16 w 33"/>
                <a:gd name="T89" fmla="*/ 3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3"/>
                <a:gd name="T136" fmla="*/ 0 h 31"/>
                <a:gd name="T137" fmla="*/ 33 w 33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3" h="31">
                  <a:moveTo>
                    <a:pt x="22" y="3"/>
                  </a:moveTo>
                  <a:lnTo>
                    <a:pt x="23" y="3"/>
                  </a:lnTo>
                  <a:lnTo>
                    <a:pt x="25" y="5"/>
                  </a:lnTo>
                  <a:lnTo>
                    <a:pt x="26" y="5"/>
                  </a:lnTo>
                  <a:lnTo>
                    <a:pt x="28" y="6"/>
                  </a:lnTo>
                  <a:lnTo>
                    <a:pt x="29" y="6"/>
                  </a:lnTo>
                  <a:lnTo>
                    <a:pt x="29" y="7"/>
                  </a:lnTo>
                  <a:lnTo>
                    <a:pt x="30" y="9"/>
                  </a:lnTo>
                  <a:lnTo>
                    <a:pt x="32" y="10"/>
                  </a:lnTo>
                  <a:lnTo>
                    <a:pt x="32" y="12"/>
                  </a:lnTo>
                  <a:lnTo>
                    <a:pt x="33" y="13"/>
                  </a:lnTo>
                  <a:lnTo>
                    <a:pt x="33" y="14"/>
                  </a:lnTo>
                  <a:lnTo>
                    <a:pt x="33" y="17"/>
                  </a:lnTo>
                  <a:lnTo>
                    <a:pt x="33" y="19"/>
                  </a:lnTo>
                  <a:lnTo>
                    <a:pt x="33" y="20"/>
                  </a:lnTo>
                  <a:lnTo>
                    <a:pt x="33" y="21"/>
                  </a:lnTo>
                  <a:lnTo>
                    <a:pt x="33" y="23"/>
                  </a:lnTo>
                  <a:lnTo>
                    <a:pt x="33" y="24"/>
                  </a:lnTo>
                  <a:lnTo>
                    <a:pt x="32" y="26"/>
                  </a:lnTo>
                  <a:lnTo>
                    <a:pt x="32" y="27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8" y="30"/>
                  </a:lnTo>
                  <a:lnTo>
                    <a:pt x="26" y="31"/>
                  </a:lnTo>
                  <a:lnTo>
                    <a:pt x="25" y="31"/>
                  </a:lnTo>
                  <a:lnTo>
                    <a:pt x="23" y="31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8" y="31"/>
                  </a:lnTo>
                  <a:lnTo>
                    <a:pt x="16" y="30"/>
                  </a:lnTo>
                  <a:lnTo>
                    <a:pt x="15" y="30"/>
                  </a:lnTo>
                  <a:lnTo>
                    <a:pt x="14" y="30"/>
                  </a:lnTo>
                  <a:lnTo>
                    <a:pt x="12" y="30"/>
                  </a:lnTo>
                  <a:lnTo>
                    <a:pt x="11" y="28"/>
                  </a:lnTo>
                  <a:lnTo>
                    <a:pt x="9" y="28"/>
                  </a:lnTo>
                  <a:lnTo>
                    <a:pt x="8" y="28"/>
                  </a:lnTo>
                  <a:lnTo>
                    <a:pt x="7" y="27"/>
                  </a:lnTo>
                  <a:lnTo>
                    <a:pt x="5" y="26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7"/>
                  </a:lnTo>
                  <a:lnTo>
                    <a:pt x="1" y="6"/>
                  </a:lnTo>
                  <a:lnTo>
                    <a:pt x="2" y="5"/>
                  </a:lnTo>
                  <a:lnTo>
                    <a:pt x="2" y="3"/>
                  </a:lnTo>
                  <a:lnTo>
                    <a:pt x="4" y="3"/>
                  </a:lnTo>
                  <a:lnTo>
                    <a:pt x="5" y="2"/>
                  </a:lnTo>
                  <a:lnTo>
                    <a:pt x="7" y="2"/>
                  </a:lnTo>
                  <a:lnTo>
                    <a:pt x="7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22" y="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8" name="Freeform 13"/>
            <p:cNvSpPr>
              <a:spLocks/>
            </p:cNvSpPr>
            <p:nvPr/>
          </p:nvSpPr>
          <p:spPr bwMode="auto">
            <a:xfrm>
              <a:off x="3859" y="587"/>
              <a:ext cx="32" cy="28"/>
            </a:xfrm>
            <a:custGeom>
              <a:avLst/>
              <a:gdLst>
                <a:gd name="T0" fmla="*/ 16 w 33"/>
                <a:gd name="T1" fmla="*/ 3 h 31"/>
                <a:gd name="T2" fmla="*/ 16 w 33"/>
                <a:gd name="T3" fmla="*/ 4 h 31"/>
                <a:gd name="T4" fmla="*/ 16 w 33"/>
                <a:gd name="T5" fmla="*/ 5 h 31"/>
                <a:gd name="T6" fmla="*/ 16 w 33"/>
                <a:gd name="T7" fmla="*/ 5 h 31"/>
                <a:gd name="T8" fmla="*/ 16 w 33"/>
                <a:gd name="T9" fmla="*/ 5 h 31"/>
                <a:gd name="T10" fmla="*/ 16 w 33"/>
                <a:gd name="T11" fmla="*/ 5 h 31"/>
                <a:gd name="T12" fmla="*/ 16 w 33"/>
                <a:gd name="T13" fmla="*/ 5 h 31"/>
                <a:gd name="T14" fmla="*/ 16 w 33"/>
                <a:gd name="T15" fmla="*/ 5 h 31"/>
                <a:gd name="T16" fmla="*/ 16 w 33"/>
                <a:gd name="T17" fmla="*/ 5 h 31"/>
                <a:gd name="T18" fmla="*/ 16 w 33"/>
                <a:gd name="T19" fmla="*/ 5 h 31"/>
                <a:gd name="T20" fmla="*/ 16 w 33"/>
                <a:gd name="T21" fmla="*/ 5 h 31"/>
                <a:gd name="T22" fmla="*/ 16 w 33"/>
                <a:gd name="T23" fmla="*/ 5 h 31"/>
                <a:gd name="T24" fmla="*/ 16 w 33"/>
                <a:gd name="T25" fmla="*/ 5 h 31"/>
                <a:gd name="T26" fmla="*/ 16 w 33"/>
                <a:gd name="T27" fmla="*/ 5 h 31"/>
                <a:gd name="T28" fmla="*/ 16 w 33"/>
                <a:gd name="T29" fmla="*/ 5 h 31"/>
                <a:gd name="T30" fmla="*/ 16 w 33"/>
                <a:gd name="T31" fmla="*/ 5 h 31"/>
                <a:gd name="T32" fmla="*/ 16 w 33"/>
                <a:gd name="T33" fmla="*/ 5 h 31"/>
                <a:gd name="T34" fmla="*/ 16 w 33"/>
                <a:gd name="T35" fmla="*/ 5 h 31"/>
                <a:gd name="T36" fmla="*/ 15 w 33"/>
                <a:gd name="T37" fmla="*/ 5 h 31"/>
                <a:gd name="T38" fmla="*/ 12 w 33"/>
                <a:gd name="T39" fmla="*/ 5 h 31"/>
                <a:gd name="T40" fmla="*/ 11 w 33"/>
                <a:gd name="T41" fmla="*/ 5 h 31"/>
                <a:gd name="T42" fmla="*/ 8 w 33"/>
                <a:gd name="T43" fmla="*/ 5 h 31"/>
                <a:gd name="T44" fmla="*/ 7 w 33"/>
                <a:gd name="T45" fmla="*/ 5 h 31"/>
                <a:gd name="T46" fmla="*/ 5 w 33"/>
                <a:gd name="T47" fmla="*/ 5 h 31"/>
                <a:gd name="T48" fmla="*/ 4 w 33"/>
                <a:gd name="T49" fmla="*/ 5 h 31"/>
                <a:gd name="T50" fmla="*/ 2 w 33"/>
                <a:gd name="T51" fmla="*/ 5 h 31"/>
                <a:gd name="T52" fmla="*/ 2 w 33"/>
                <a:gd name="T53" fmla="*/ 5 h 31"/>
                <a:gd name="T54" fmla="*/ 1 w 33"/>
                <a:gd name="T55" fmla="*/ 5 h 31"/>
                <a:gd name="T56" fmla="*/ 1 w 33"/>
                <a:gd name="T57" fmla="*/ 5 h 31"/>
                <a:gd name="T58" fmla="*/ 0 w 33"/>
                <a:gd name="T59" fmla="*/ 5 h 31"/>
                <a:gd name="T60" fmla="*/ 1 w 33"/>
                <a:gd name="T61" fmla="*/ 5 h 31"/>
                <a:gd name="T62" fmla="*/ 1 w 33"/>
                <a:gd name="T63" fmla="*/ 5 h 31"/>
                <a:gd name="T64" fmla="*/ 1 w 33"/>
                <a:gd name="T65" fmla="*/ 5 h 31"/>
                <a:gd name="T66" fmla="*/ 1 w 33"/>
                <a:gd name="T67" fmla="*/ 5 h 31"/>
                <a:gd name="T68" fmla="*/ 2 w 33"/>
                <a:gd name="T69" fmla="*/ 4 h 31"/>
                <a:gd name="T70" fmla="*/ 4 w 33"/>
                <a:gd name="T71" fmla="*/ 3 h 31"/>
                <a:gd name="T72" fmla="*/ 5 w 33"/>
                <a:gd name="T73" fmla="*/ 1 h 31"/>
                <a:gd name="T74" fmla="*/ 7 w 33"/>
                <a:gd name="T75" fmla="*/ 0 h 31"/>
                <a:gd name="T76" fmla="*/ 9 w 33"/>
                <a:gd name="T77" fmla="*/ 0 h 31"/>
                <a:gd name="T78" fmla="*/ 11 w 33"/>
                <a:gd name="T79" fmla="*/ 0 h 31"/>
                <a:gd name="T80" fmla="*/ 14 w 33"/>
                <a:gd name="T81" fmla="*/ 0 h 31"/>
                <a:gd name="T82" fmla="*/ 14 w 33"/>
                <a:gd name="T83" fmla="*/ 0 h 31"/>
                <a:gd name="T84" fmla="*/ 15 w 33"/>
                <a:gd name="T85" fmla="*/ 0 h 31"/>
                <a:gd name="T86" fmla="*/ 16 w 33"/>
                <a:gd name="T87" fmla="*/ 1 h 31"/>
                <a:gd name="T88" fmla="*/ 16 w 33"/>
                <a:gd name="T89" fmla="*/ 3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3"/>
                <a:gd name="T136" fmla="*/ 0 h 31"/>
                <a:gd name="T137" fmla="*/ 33 w 33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3" h="31">
                  <a:moveTo>
                    <a:pt x="22" y="3"/>
                  </a:moveTo>
                  <a:lnTo>
                    <a:pt x="23" y="3"/>
                  </a:lnTo>
                  <a:lnTo>
                    <a:pt x="25" y="4"/>
                  </a:lnTo>
                  <a:lnTo>
                    <a:pt x="26" y="4"/>
                  </a:lnTo>
                  <a:lnTo>
                    <a:pt x="28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30" y="8"/>
                  </a:lnTo>
                  <a:lnTo>
                    <a:pt x="32" y="10"/>
                  </a:lnTo>
                  <a:lnTo>
                    <a:pt x="32" y="11"/>
                  </a:lnTo>
                  <a:lnTo>
                    <a:pt x="33" y="12"/>
                  </a:lnTo>
                  <a:lnTo>
                    <a:pt x="33" y="14"/>
                  </a:lnTo>
                  <a:lnTo>
                    <a:pt x="33" y="17"/>
                  </a:lnTo>
                  <a:lnTo>
                    <a:pt x="33" y="18"/>
                  </a:lnTo>
                  <a:lnTo>
                    <a:pt x="33" y="19"/>
                  </a:lnTo>
                  <a:lnTo>
                    <a:pt x="33" y="21"/>
                  </a:lnTo>
                  <a:lnTo>
                    <a:pt x="33" y="22"/>
                  </a:lnTo>
                  <a:lnTo>
                    <a:pt x="33" y="24"/>
                  </a:lnTo>
                  <a:lnTo>
                    <a:pt x="32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8" y="29"/>
                  </a:lnTo>
                  <a:lnTo>
                    <a:pt x="26" y="31"/>
                  </a:lnTo>
                  <a:lnTo>
                    <a:pt x="25" y="31"/>
                  </a:lnTo>
                  <a:lnTo>
                    <a:pt x="23" y="31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8" y="31"/>
                  </a:lnTo>
                  <a:lnTo>
                    <a:pt x="16" y="29"/>
                  </a:lnTo>
                  <a:lnTo>
                    <a:pt x="15" y="29"/>
                  </a:lnTo>
                  <a:lnTo>
                    <a:pt x="14" y="29"/>
                  </a:lnTo>
                  <a:lnTo>
                    <a:pt x="12" y="29"/>
                  </a:lnTo>
                  <a:lnTo>
                    <a:pt x="11" y="28"/>
                  </a:lnTo>
                  <a:lnTo>
                    <a:pt x="9" y="28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7" y="26"/>
                  </a:lnTo>
                  <a:lnTo>
                    <a:pt x="5" y="25"/>
                  </a:lnTo>
                  <a:lnTo>
                    <a:pt x="4" y="24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2" y="4"/>
                  </a:lnTo>
                  <a:lnTo>
                    <a:pt x="2" y="3"/>
                  </a:lnTo>
                  <a:lnTo>
                    <a:pt x="4" y="3"/>
                  </a:lnTo>
                  <a:lnTo>
                    <a:pt x="5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6" y="1"/>
                  </a:lnTo>
                  <a:lnTo>
                    <a:pt x="22" y="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9" name="Freeform 14"/>
            <p:cNvSpPr>
              <a:spLocks/>
            </p:cNvSpPr>
            <p:nvPr/>
          </p:nvSpPr>
          <p:spPr bwMode="auto">
            <a:xfrm>
              <a:off x="3859" y="557"/>
              <a:ext cx="32" cy="30"/>
            </a:xfrm>
            <a:custGeom>
              <a:avLst/>
              <a:gdLst>
                <a:gd name="T0" fmla="*/ 16 w 33"/>
                <a:gd name="T1" fmla="*/ 3 h 31"/>
                <a:gd name="T2" fmla="*/ 16 w 33"/>
                <a:gd name="T3" fmla="*/ 3 h 31"/>
                <a:gd name="T4" fmla="*/ 16 w 33"/>
                <a:gd name="T5" fmla="*/ 4 h 31"/>
                <a:gd name="T6" fmla="*/ 16 w 33"/>
                <a:gd name="T7" fmla="*/ 7 h 31"/>
                <a:gd name="T8" fmla="*/ 16 w 33"/>
                <a:gd name="T9" fmla="*/ 8 h 31"/>
                <a:gd name="T10" fmla="*/ 16 w 33"/>
                <a:gd name="T11" fmla="*/ 10 h 31"/>
                <a:gd name="T12" fmla="*/ 16 w 33"/>
                <a:gd name="T13" fmla="*/ 11 h 31"/>
                <a:gd name="T14" fmla="*/ 16 w 33"/>
                <a:gd name="T15" fmla="*/ 12 h 31"/>
                <a:gd name="T16" fmla="*/ 16 w 33"/>
                <a:gd name="T17" fmla="*/ 15 h 31"/>
                <a:gd name="T18" fmla="*/ 16 w 33"/>
                <a:gd name="T19" fmla="*/ 15 h 31"/>
                <a:gd name="T20" fmla="*/ 16 w 33"/>
                <a:gd name="T21" fmla="*/ 15 h 31"/>
                <a:gd name="T22" fmla="*/ 16 w 33"/>
                <a:gd name="T23" fmla="*/ 15 h 31"/>
                <a:gd name="T24" fmla="*/ 16 w 33"/>
                <a:gd name="T25" fmla="*/ 15 h 31"/>
                <a:gd name="T26" fmla="*/ 16 w 33"/>
                <a:gd name="T27" fmla="*/ 15 h 31"/>
                <a:gd name="T28" fmla="*/ 16 w 33"/>
                <a:gd name="T29" fmla="*/ 15 h 31"/>
                <a:gd name="T30" fmla="*/ 16 w 33"/>
                <a:gd name="T31" fmla="*/ 15 h 31"/>
                <a:gd name="T32" fmla="*/ 16 w 33"/>
                <a:gd name="T33" fmla="*/ 15 h 31"/>
                <a:gd name="T34" fmla="*/ 16 w 33"/>
                <a:gd name="T35" fmla="*/ 15 h 31"/>
                <a:gd name="T36" fmla="*/ 15 w 33"/>
                <a:gd name="T37" fmla="*/ 15 h 31"/>
                <a:gd name="T38" fmla="*/ 12 w 33"/>
                <a:gd name="T39" fmla="*/ 15 h 31"/>
                <a:gd name="T40" fmla="*/ 11 w 33"/>
                <a:gd name="T41" fmla="*/ 15 h 31"/>
                <a:gd name="T42" fmla="*/ 8 w 33"/>
                <a:gd name="T43" fmla="*/ 15 h 31"/>
                <a:gd name="T44" fmla="*/ 7 w 33"/>
                <a:gd name="T45" fmla="*/ 15 h 31"/>
                <a:gd name="T46" fmla="*/ 5 w 33"/>
                <a:gd name="T47" fmla="*/ 15 h 31"/>
                <a:gd name="T48" fmla="*/ 4 w 33"/>
                <a:gd name="T49" fmla="*/ 15 h 31"/>
                <a:gd name="T50" fmla="*/ 2 w 33"/>
                <a:gd name="T51" fmla="*/ 15 h 31"/>
                <a:gd name="T52" fmla="*/ 2 w 33"/>
                <a:gd name="T53" fmla="*/ 15 h 31"/>
                <a:gd name="T54" fmla="*/ 1 w 33"/>
                <a:gd name="T55" fmla="*/ 15 h 31"/>
                <a:gd name="T56" fmla="*/ 1 w 33"/>
                <a:gd name="T57" fmla="*/ 15 h 31"/>
                <a:gd name="T58" fmla="*/ 0 w 33"/>
                <a:gd name="T59" fmla="*/ 12 h 31"/>
                <a:gd name="T60" fmla="*/ 1 w 33"/>
                <a:gd name="T61" fmla="*/ 11 h 31"/>
                <a:gd name="T62" fmla="*/ 1 w 33"/>
                <a:gd name="T63" fmla="*/ 8 h 31"/>
                <a:gd name="T64" fmla="*/ 1 w 33"/>
                <a:gd name="T65" fmla="*/ 7 h 31"/>
                <a:gd name="T66" fmla="*/ 1 w 33"/>
                <a:gd name="T67" fmla="*/ 4 h 31"/>
                <a:gd name="T68" fmla="*/ 2 w 33"/>
                <a:gd name="T69" fmla="*/ 3 h 31"/>
                <a:gd name="T70" fmla="*/ 4 w 33"/>
                <a:gd name="T71" fmla="*/ 1 h 31"/>
                <a:gd name="T72" fmla="*/ 5 w 33"/>
                <a:gd name="T73" fmla="*/ 1 h 31"/>
                <a:gd name="T74" fmla="*/ 7 w 33"/>
                <a:gd name="T75" fmla="*/ 0 h 31"/>
                <a:gd name="T76" fmla="*/ 9 w 33"/>
                <a:gd name="T77" fmla="*/ 0 h 31"/>
                <a:gd name="T78" fmla="*/ 11 w 33"/>
                <a:gd name="T79" fmla="*/ 0 h 31"/>
                <a:gd name="T80" fmla="*/ 14 w 33"/>
                <a:gd name="T81" fmla="*/ 0 h 31"/>
                <a:gd name="T82" fmla="*/ 14 w 33"/>
                <a:gd name="T83" fmla="*/ 0 h 31"/>
                <a:gd name="T84" fmla="*/ 15 w 33"/>
                <a:gd name="T85" fmla="*/ 0 h 31"/>
                <a:gd name="T86" fmla="*/ 16 w 33"/>
                <a:gd name="T87" fmla="*/ 0 h 31"/>
                <a:gd name="T88" fmla="*/ 16 w 33"/>
                <a:gd name="T89" fmla="*/ 1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3"/>
                <a:gd name="T136" fmla="*/ 0 h 31"/>
                <a:gd name="T137" fmla="*/ 33 w 33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3" h="31">
                  <a:moveTo>
                    <a:pt x="22" y="1"/>
                  </a:moveTo>
                  <a:lnTo>
                    <a:pt x="23" y="3"/>
                  </a:lnTo>
                  <a:lnTo>
                    <a:pt x="25" y="3"/>
                  </a:lnTo>
                  <a:lnTo>
                    <a:pt x="26" y="4"/>
                  </a:lnTo>
                  <a:lnTo>
                    <a:pt x="28" y="4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30" y="8"/>
                  </a:lnTo>
                  <a:lnTo>
                    <a:pt x="32" y="8"/>
                  </a:lnTo>
                  <a:lnTo>
                    <a:pt x="32" y="10"/>
                  </a:lnTo>
                  <a:lnTo>
                    <a:pt x="32" y="11"/>
                  </a:lnTo>
                  <a:lnTo>
                    <a:pt x="33" y="12"/>
                  </a:lnTo>
                  <a:lnTo>
                    <a:pt x="33" y="14"/>
                  </a:lnTo>
                  <a:lnTo>
                    <a:pt x="33" y="15"/>
                  </a:lnTo>
                  <a:lnTo>
                    <a:pt x="33" y="18"/>
                  </a:lnTo>
                  <a:lnTo>
                    <a:pt x="33" y="19"/>
                  </a:lnTo>
                  <a:lnTo>
                    <a:pt x="33" y="21"/>
                  </a:lnTo>
                  <a:lnTo>
                    <a:pt x="33" y="22"/>
                  </a:lnTo>
                  <a:lnTo>
                    <a:pt x="33" y="24"/>
                  </a:lnTo>
                  <a:lnTo>
                    <a:pt x="32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5" y="31"/>
                  </a:lnTo>
                  <a:lnTo>
                    <a:pt x="23" y="31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29"/>
                  </a:lnTo>
                  <a:lnTo>
                    <a:pt x="18" y="29"/>
                  </a:lnTo>
                  <a:lnTo>
                    <a:pt x="16" y="29"/>
                  </a:lnTo>
                  <a:lnTo>
                    <a:pt x="15" y="29"/>
                  </a:lnTo>
                  <a:lnTo>
                    <a:pt x="14" y="29"/>
                  </a:lnTo>
                  <a:lnTo>
                    <a:pt x="12" y="28"/>
                  </a:lnTo>
                  <a:lnTo>
                    <a:pt x="11" y="28"/>
                  </a:lnTo>
                  <a:lnTo>
                    <a:pt x="9" y="28"/>
                  </a:lnTo>
                  <a:lnTo>
                    <a:pt x="8" y="26"/>
                  </a:lnTo>
                  <a:lnTo>
                    <a:pt x="7" y="26"/>
                  </a:lnTo>
                  <a:lnTo>
                    <a:pt x="7" y="25"/>
                  </a:lnTo>
                  <a:lnTo>
                    <a:pt x="5" y="25"/>
                  </a:lnTo>
                  <a:lnTo>
                    <a:pt x="4" y="24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0" y="12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4" y="1"/>
                  </a:lnTo>
                  <a:lnTo>
                    <a:pt x="5" y="1"/>
                  </a:lnTo>
                  <a:lnTo>
                    <a:pt x="7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0" name="Freeform 15"/>
            <p:cNvSpPr>
              <a:spLocks/>
            </p:cNvSpPr>
            <p:nvPr/>
          </p:nvSpPr>
          <p:spPr bwMode="auto">
            <a:xfrm>
              <a:off x="3859" y="647"/>
              <a:ext cx="32" cy="28"/>
            </a:xfrm>
            <a:custGeom>
              <a:avLst/>
              <a:gdLst>
                <a:gd name="T0" fmla="*/ 16 w 33"/>
                <a:gd name="T1" fmla="*/ 1 h 31"/>
                <a:gd name="T2" fmla="*/ 16 w 33"/>
                <a:gd name="T3" fmla="*/ 3 h 31"/>
                <a:gd name="T4" fmla="*/ 16 w 33"/>
                <a:gd name="T5" fmla="*/ 4 h 31"/>
                <a:gd name="T6" fmla="*/ 16 w 33"/>
                <a:gd name="T7" fmla="*/ 5 h 31"/>
                <a:gd name="T8" fmla="*/ 16 w 33"/>
                <a:gd name="T9" fmla="*/ 5 h 31"/>
                <a:gd name="T10" fmla="*/ 16 w 33"/>
                <a:gd name="T11" fmla="*/ 5 h 31"/>
                <a:gd name="T12" fmla="*/ 16 w 33"/>
                <a:gd name="T13" fmla="*/ 5 h 31"/>
                <a:gd name="T14" fmla="*/ 16 w 33"/>
                <a:gd name="T15" fmla="*/ 5 h 31"/>
                <a:gd name="T16" fmla="*/ 16 w 33"/>
                <a:gd name="T17" fmla="*/ 5 h 31"/>
                <a:gd name="T18" fmla="*/ 16 w 33"/>
                <a:gd name="T19" fmla="*/ 5 h 31"/>
                <a:gd name="T20" fmla="*/ 16 w 33"/>
                <a:gd name="T21" fmla="*/ 5 h 31"/>
                <a:gd name="T22" fmla="*/ 16 w 33"/>
                <a:gd name="T23" fmla="*/ 5 h 31"/>
                <a:gd name="T24" fmla="*/ 16 w 33"/>
                <a:gd name="T25" fmla="*/ 5 h 31"/>
                <a:gd name="T26" fmla="*/ 16 w 33"/>
                <a:gd name="T27" fmla="*/ 5 h 31"/>
                <a:gd name="T28" fmla="*/ 16 w 33"/>
                <a:gd name="T29" fmla="*/ 5 h 31"/>
                <a:gd name="T30" fmla="*/ 16 w 33"/>
                <a:gd name="T31" fmla="*/ 5 h 31"/>
                <a:gd name="T32" fmla="*/ 16 w 33"/>
                <a:gd name="T33" fmla="*/ 5 h 31"/>
                <a:gd name="T34" fmla="*/ 16 w 33"/>
                <a:gd name="T35" fmla="*/ 5 h 31"/>
                <a:gd name="T36" fmla="*/ 15 w 33"/>
                <a:gd name="T37" fmla="*/ 5 h 31"/>
                <a:gd name="T38" fmla="*/ 12 w 33"/>
                <a:gd name="T39" fmla="*/ 5 h 31"/>
                <a:gd name="T40" fmla="*/ 11 w 33"/>
                <a:gd name="T41" fmla="*/ 5 h 31"/>
                <a:gd name="T42" fmla="*/ 8 w 33"/>
                <a:gd name="T43" fmla="*/ 5 h 31"/>
                <a:gd name="T44" fmla="*/ 7 w 33"/>
                <a:gd name="T45" fmla="*/ 5 h 31"/>
                <a:gd name="T46" fmla="*/ 5 w 33"/>
                <a:gd name="T47" fmla="*/ 5 h 31"/>
                <a:gd name="T48" fmla="*/ 4 w 33"/>
                <a:gd name="T49" fmla="*/ 5 h 31"/>
                <a:gd name="T50" fmla="*/ 2 w 33"/>
                <a:gd name="T51" fmla="*/ 5 h 31"/>
                <a:gd name="T52" fmla="*/ 2 w 33"/>
                <a:gd name="T53" fmla="*/ 5 h 31"/>
                <a:gd name="T54" fmla="*/ 1 w 33"/>
                <a:gd name="T55" fmla="*/ 5 h 31"/>
                <a:gd name="T56" fmla="*/ 1 w 33"/>
                <a:gd name="T57" fmla="*/ 5 h 31"/>
                <a:gd name="T58" fmla="*/ 0 w 33"/>
                <a:gd name="T59" fmla="*/ 5 h 31"/>
                <a:gd name="T60" fmla="*/ 1 w 33"/>
                <a:gd name="T61" fmla="*/ 5 h 31"/>
                <a:gd name="T62" fmla="*/ 1 w 33"/>
                <a:gd name="T63" fmla="*/ 5 h 31"/>
                <a:gd name="T64" fmla="*/ 1 w 33"/>
                <a:gd name="T65" fmla="*/ 5 h 31"/>
                <a:gd name="T66" fmla="*/ 1 w 33"/>
                <a:gd name="T67" fmla="*/ 4 h 31"/>
                <a:gd name="T68" fmla="*/ 2 w 33"/>
                <a:gd name="T69" fmla="*/ 3 h 31"/>
                <a:gd name="T70" fmla="*/ 4 w 33"/>
                <a:gd name="T71" fmla="*/ 1 h 31"/>
                <a:gd name="T72" fmla="*/ 5 w 33"/>
                <a:gd name="T73" fmla="*/ 0 h 31"/>
                <a:gd name="T74" fmla="*/ 7 w 33"/>
                <a:gd name="T75" fmla="*/ 0 h 31"/>
                <a:gd name="T76" fmla="*/ 9 w 33"/>
                <a:gd name="T77" fmla="*/ 0 h 31"/>
                <a:gd name="T78" fmla="*/ 11 w 33"/>
                <a:gd name="T79" fmla="*/ 0 h 31"/>
                <a:gd name="T80" fmla="*/ 14 w 33"/>
                <a:gd name="T81" fmla="*/ 0 h 31"/>
                <a:gd name="T82" fmla="*/ 14 w 33"/>
                <a:gd name="T83" fmla="*/ 0 h 31"/>
                <a:gd name="T84" fmla="*/ 15 w 33"/>
                <a:gd name="T85" fmla="*/ 0 h 31"/>
                <a:gd name="T86" fmla="*/ 16 w 33"/>
                <a:gd name="T87" fmla="*/ 0 h 31"/>
                <a:gd name="T88" fmla="*/ 16 w 33"/>
                <a:gd name="T89" fmla="*/ 1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3"/>
                <a:gd name="T136" fmla="*/ 0 h 31"/>
                <a:gd name="T137" fmla="*/ 33 w 33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3" h="31">
                  <a:moveTo>
                    <a:pt x="22" y="1"/>
                  </a:moveTo>
                  <a:lnTo>
                    <a:pt x="23" y="1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6" y="4"/>
                  </a:lnTo>
                  <a:lnTo>
                    <a:pt x="28" y="4"/>
                  </a:lnTo>
                  <a:lnTo>
                    <a:pt x="29" y="6"/>
                  </a:lnTo>
                  <a:lnTo>
                    <a:pt x="29" y="7"/>
                  </a:lnTo>
                  <a:lnTo>
                    <a:pt x="30" y="7"/>
                  </a:lnTo>
                  <a:lnTo>
                    <a:pt x="30" y="9"/>
                  </a:lnTo>
                  <a:lnTo>
                    <a:pt x="32" y="9"/>
                  </a:lnTo>
                  <a:lnTo>
                    <a:pt x="32" y="10"/>
                  </a:lnTo>
                  <a:lnTo>
                    <a:pt x="32" y="11"/>
                  </a:lnTo>
                  <a:lnTo>
                    <a:pt x="33" y="13"/>
                  </a:lnTo>
                  <a:lnTo>
                    <a:pt x="33" y="14"/>
                  </a:lnTo>
                  <a:lnTo>
                    <a:pt x="33" y="16"/>
                  </a:lnTo>
                  <a:lnTo>
                    <a:pt x="33" y="17"/>
                  </a:lnTo>
                  <a:lnTo>
                    <a:pt x="33" y="20"/>
                  </a:lnTo>
                  <a:lnTo>
                    <a:pt x="33" y="21"/>
                  </a:lnTo>
                  <a:lnTo>
                    <a:pt x="33" y="23"/>
                  </a:lnTo>
                  <a:lnTo>
                    <a:pt x="33" y="24"/>
                  </a:lnTo>
                  <a:lnTo>
                    <a:pt x="32" y="25"/>
                  </a:lnTo>
                  <a:lnTo>
                    <a:pt x="32" y="27"/>
                  </a:lnTo>
                  <a:lnTo>
                    <a:pt x="30" y="28"/>
                  </a:lnTo>
                  <a:lnTo>
                    <a:pt x="29" y="28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25" y="30"/>
                  </a:lnTo>
                  <a:lnTo>
                    <a:pt x="23" y="31"/>
                  </a:lnTo>
                  <a:lnTo>
                    <a:pt x="22" y="31"/>
                  </a:lnTo>
                  <a:lnTo>
                    <a:pt x="21" y="30"/>
                  </a:lnTo>
                  <a:lnTo>
                    <a:pt x="19" y="30"/>
                  </a:lnTo>
                  <a:lnTo>
                    <a:pt x="18" y="30"/>
                  </a:lnTo>
                  <a:lnTo>
                    <a:pt x="16" y="30"/>
                  </a:lnTo>
                  <a:lnTo>
                    <a:pt x="15" y="30"/>
                  </a:lnTo>
                  <a:lnTo>
                    <a:pt x="14" y="30"/>
                  </a:lnTo>
                  <a:lnTo>
                    <a:pt x="12" y="28"/>
                  </a:lnTo>
                  <a:lnTo>
                    <a:pt x="11" y="28"/>
                  </a:lnTo>
                  <a:lnTo>
                    <a:pt x="9" y="28"/>
                  </a:lnTo>
                  <a:lnTo>
                    <a:pt x="8" y="27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5" y="25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1" y="20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1" name="Freeform 16"/>
            <p:cNvSpPr>
              <a:spLocks/>
            </p:cNvSpPr>
            <p:nvPr/>
          </p:nvSpPr>
          <p:spPr bwMode="auto">
            <a:xfrm>
              <a:off x="3859" y="615"/>
              <a:ext cx="32" cy="30"/>
            </a:xfrm>
            <a:custGeom>
              <a:avLst/>
              <a:gdLst>
                <a:gd name="T0" fmla="*/ 16 w 33"/>
                <a:gd name="T1" fmla="*/ 3 h 31"/>
                <a:gd name="T2" fmla="*/ 16 w 33"/>
                <a:gd name="T3" fmla="*/ 4 h 31"/>
                <a:gd name="T4" fmla="*/ 16 w 33"/>
                <a:gd name="T5" fmla="*/ 5 h 31"/>
                <a:gd name="T6" fmla="*/ 16 w 33"/>
                <a:gd name="T7" fmla="*/ 7 h 31"/>
                <a:gd name="T8" fmla="*/ 16 w 33"/>
                <a:gd name="T9" fmla="*/ 10 h 31"/>
                <a:gd name="T10" fmla="*/ 16 w 33"/>
                <a:gd name="T11" fmla="*/ 11 h 31"/>
                <a:gd name="T12" fmla="*/ 16 w 33"/>
                <a:gd name="T13" fmla="*/ 12 h 31"/>
                <a:gd name="T14" fmla="*/ 16 w 33"/>
                <a:gd name="T15" fmla="*/ 14 h 31"/>
                <a:gd name="T16" fmla="*/ 16 w 33"/>
                <a:gd name="T17" fmla="*/ 15 h 31"/>
                <a:gd name="T18" fmla="*/ 16 w 33"/>
                <a:gd name="T19" fmla="*/ 15 h 31"/>
                <a:gd name="T20" fmla="*/ 16 w 33"/>
                <a:gd name="T21" fmla="*/ 15 h 31"/>
                <a:gd name="T22" fmla="*/ 16 w 33"/>
                <a:gd name="T23" fmla="*/ 15 h 31"/>
                <a:gd name="T24" fmla="*/ 16 w 33"/>
                <a:gd name="T25" fmla="*/ 15 h 31"/>
                <a:gd name="T26" fmla="*/ 16 w 33"/>
                <a:gd name="T27" fmla="*/ 15 h 31"/>
                <a:gd name="T28" fmla="*/ 16 w 33"/>
                <a:gd name="T29" fmla="*/ 15 h 31"/>
                <a:gd name="T30" fmla="*/ 16 w 33"/>
                <a:gd name="T31" fmla="*/ 15 h 31"/>
                <a:gd name="T32" fmla="*/ 16 w 33"/>
                <a:gd name="T33" fmla="*/ 15 h 31"/>
                <a:gd name="T34" fmla="*/ 16 w 33"/>
                <a:gd name="T35" fmla="*/ 15 h 31"/>
                <a:gd name="T36" fmla="*/ 15 w 33"/>
                <a:gd name="T37" fmla="*/ 15 h 31"/>
                <a:gd name="T38" fmla="*/ 12 w 33"/>
                <a:gd name="T39" fmla="*/ 15 h 31"/>
                <a:gd name="T40" fmla="*/ 11 w 33"/>
                <a:gd name="T41" fmla="*/ 15 h 31"/>
                <a:gd name="T42" fmla="*/ 9 w 33"/>
                <a:gd name="T43" fmla="*/ 15 h 31"/>
                <a:gd name="T44" fmla="*/ 7 w 33"/>
                <a:gd name="T45" fmla="*/ 15 h 31"/>
                <a:gd name="T46" fmla="*/ 5 w 33"/>
                <a:gd name="T47" fmla="*/ 15 h 31"/>
                <a:gd name="T48" fmla="*/ 4 w 33"/>
                <a:gd name="T49" fmla="*/ 15 h 31"/>
                <a:gd name="T50" fmla="*/ 2 w 33"/>
                <a:gd name="T51" fmla="*/ 15 h 31"/>
                <a:gd name="T52" fmla="*/ 2 w 33"/>
                <a:gd name="T53" fmla="*/ 15 h 31"/>
                <a:gd name="T54" fmla="*/ 1 w 33"/>
                <a:gd name="T55" fmla="*/ 15 h 31"/>
                <a:gd name="T56" fmla="*/ 1 w 33"/>
                <a:gd name="T57" fmla="*/ 15 h 31"/>
                <a:gd name="T58" fmla="*/ 0 w 33"/>
                <a:gd name="T59" fmla="*/ 14 h 31"/>
                <a:gd name="T60" fmla="*/ 1 w 33"/>
                <a:gd name="T61" fmla="*/ 11 h 31"/>
                <a:gd name="T62" fmla="*/ 1 w 33"/>
                <a:gd name="T63" fmla="*/ 10 h 31"/>
                <a:gd name="T64" fmla="*/ 1 w 33"/>
                <a:gd name="T65" fmla="*/ 7 h 31"/>
                <a:gd name="T66" fmla="*/ 1 w 33"/>
                <a:gd name="T67" fmla="*/ 5 h 31"/>
                <a:gd name="T68" fmla="*/ 2 w 33"/>
                <a:gd name="T69" fmla="*/ 4 h 31"/>
                <a:gd name="T70" fmla="*/ 4 w 33"/>
                <a:gd name="T71" fmla="*/ 3 h 31"/>
                <a:gd name="T72" fmla="*/ 5 w 33"/>
                <a:gd name="T73" fmla="*/ 1 h 31"/>
                <a:gd name="T74" fmla="*/ 7 w 33"/>
                <a:gd name="T75" fmla="*/ 1 h 31"/>
                <a:gd name="T76" fmla="*/ 9 w 33"/>
                <a:gd name="T77" fmla="*/ 0 h 31"/>
                <a:gd name="T78" fmla="*/ 11 w 33"/>
                <a:gd name="T79" fmla="*/ 0 h 31"/>
                <a:gd name="T80" fmla="*/ 14 w 33"/>
                <a:gd name="T81" fmla="*/ 0 h 31"/>
                <a:gd name="T82" fmla="*/ 14 w 33"/>
                <a:gd name="T83" fmla="*/ 1 h 31"/>
                <a:gd name="T84" fmla="*/ 15 w 33"/>
                <a:gd name="T85" fmla="*/ 1 h 31"/>
                <a:gd name="T86" fmla="*/ 16 w 33"/>
                <a:gd name="T87" fmla="*/ 1 h 31"/>
                <a:gd name="T88" fmla="*/ 16 w 33"/>
                <a:gd name="T89" fmla="*/ 3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3"/>
                <a:gd name="T136" fmla="*/ 0 h 31"/>
                <a:gd name="T137" fmla="*/ 33 w 33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3" h="31">
                  <a:moveTo>
                    <a:pt x="22" y="3"/>
                  </a:moveTo>
                  <a:lnTo>
                    <a:pt x="23" y="3"/>
                  </a:lnTo>
                  <a:lnTo>
                    <a:pt x="23" y="4"/>
                  </a:lnTo>
                  <a:lnTo>
                    <a:pt x="25" y="4"/>
                  </a:lnTo>
                  <a:lnTo>
                    <a:pt x="26" y="4"/>
                  </a:lnTo>
                  <a:lnTo>
                    <a:pt x="28" y="5"/>
                  </a:lnTo>
                  <a:lnTo>
                    <a:pt x="29" y="7"/>
                  </a:lnTo>
                  <a:lnTo>
                    <a:pt x="30" y="8"/>
                  </a:lnTo>
                  <a:lnTo>
                    <a:pt x="30" y="10"/>
                  </a:lnTo>
                  <a:lnTo>
                    <a:pt x="32" y="10"/>
                  </a:lnTo>
                  <a:lnTo>
                    <a:pt x="32" y="11"/>
                  </a:lnTo>
                  <a:lnTo>
                    <a:pt x="32" y="12"/>
                  </a:lnTo>
                  <a:lnTo>
                    <a:pt x="33" y="12"/>
                  </a:lnTo>
                  <a:lnTo>
                    <a:pt x="33" y="14"/>
                  </a:lnTo>
                  <a:lnTo>
                    <a:pt x="33" y="15"/>
                  </a:lnTo>
                  <a:lnTo>
                    <a:pt x="33" y="17"/>
                  </a:lnTo>
                  <a:lnTo>
                    <a:pt x="33" y="18"/>
                  </a:lnTo>
                  <a:lnTo>
                    <a:pt x="33" y="19"/>
                  </a:lnTo>
                  <a:lnTo>
                    <a:pt x="33" y="21"/>
                  </a:lnTo>
                  <a:lnTo>
                    <a:pt x="33" y="22"/>
                  </a:lnTo>
                  <a:lnTo>
                    <a:pt x="33" y="24"/>
                  </a:lnTo>
                  <a:lnTo>
                    <a:pt x="32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8" y="29"/>
                  </a:lnTo>
                  <a:lnTo>
                    <a:pt x="26" y="31"/>
                  </a:lnTo>
                  <a:lnTo>
                    <a:pt x="25" y="31"/>
                  </a:lnTo>
                  <a:lnTo>
                    <a:pt x="23" y="31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8" y="31"/>
                  </a:lnTo>
                  <a:lnTo>
                    <a:pt x="16" y="31"/>
                  </a:lnTo>
                  <a:lnTo>
                    <a:pt x="15" y="29"/>
                  </a:lnTo>
                  <a:lnTo>
                    <a:pt x="14" y="29"/>
                  </a:lnTo>
                  <a:lnTo>
                    <a:pt x="12" y="29"/>
                  </a:lnTo>
                  <a:lnTo>
                    <a:pt x="11" y="29"/>
                  </a:lnTo>
                  <a:lnTo>
                    <a:pt x="9" y="28"/>
                  </a:lnTo>
                  <a:lnTo>
                    <a:pt x="8" y="28"/>
                  </a:lnTo>
                  <a:lnTo>
                    <a:pt x="7" y="26"/>
                  </a:lnTo>
                  <a:lnTo>
                    <a:pt x="5" y="26"/>
                  </a:lnTo>
                  <a:lnTo>
                    <a:pt x="5" y="25"/>
                  </a:lnTo>
                  <a:lnTo>
                    <a:pt x="4" y="25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1" y="21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2" y="4"/>
                  </a:lnTo>
                  <a:lnTo>
                    <a:pt x="2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1"/>
                  </a:lnTo>
                  <a:lnTo>
                    <a:pt x="7" y="1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22" y="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2" name="Freeform 17"/>
            <p:cNvSpPr>
              <a:spLocks/>
            </p:cNvSpPr>
            <p:nvPr/>
          </p:nvSpPr>
          <p:spPr bwMode="auto">
            <a:xfrm>
              <a:off x="3859" y="705"/>
              <a:ext cx="32" cy="30"/>
            </a:xfrm>
            <a:custGeom>
              <a:avLst/>
              <a:gdLst>
                <a:gd name="T0" fmla="*/ 16 w 33"/>
                <a:gd name="T1" fmla="*/ 3 h 31"/>
                <a:gd name="T2" fmla="*/ 16 w 33"/>
                <a:gd name="T3" fmla="*/ 4 h 31"/>
                <a:gd name="T4" fmla="*/ 16 w 33"/>
                <a:gd name="T5" fmla="*/ 6 h 31"/>
                <a:gd name="T6" fmla="*/ 16 w 33"/>
                <a:gd name="T7" fmla="*/ 7 h 31"/>
                <a:gd name="T8" fmla="*/ 16 w 33"/>
                <a:gd name="T9" fmla="*/ 9 h 31"/>
                <a:gd name="T10" fmla="*/ 16 w 33"/>
                <a:gd name="T11" fmla="*/ 10 h 31"/>
                <a:gd name="T12" fmla="*/ 16 w 33"/>
                <a:gd name="T13" fmla="*/ 13 h 31"/>
                <a:gd name="T14" fmla="*/ 16 w 33"/>
                <a:gd name="T15" fmla="*/ 14 h 31"/>
                <a:gd name="T16" fmla="*/ 16 w 33"/>
                <a:gd name="T17" fmla="*/ 15 h 31"/>
                <a:gd name="T18" fmla="*/ 16 w 33"/>
                <a:gd name="T19" fmla="*/ 15 h 31"/>
                <a:gd name="T20" fmla="*/ 16 w 33"/>
                <a:gd name="T21" fmla="*/ 15 h 31"/>
                <a:gd name="T22" fmla="*/ 16 w 33"/>
                <a:gd name="T23" fmla="*/ 15 h 31"/>
                <a:gd name="T24" fmla="*/ 16 w 33"/>
                <a:gd name="T25" fmla="*/ 15 h 31"/>
                <a:gd name="T26" fmla="*/ 16 w 33"/>
                <a:gd name="T27" fmla="*/ 15 h 31"/>
                <a:gd name="T28" fmla="*/ 16 w 33"/>
                <a:gd name="T29" fmla="*/ 15 h 31"/>
                <a:gd name="T30" fmla="*/ 16 w 33"/>
                <a:gd name="T31" fmla="*/ 15 h 31"/>
                <a:gd name="T32" fmla="*/ 16 w 33"/>
                <a:gd name="T33" fmla="*/ 15 h 31"/>
                <a:gd name="T34" fmla="*/ 16 w 33"/>
                <a:gd name="T35" fmla="*/ 15 h 31"/>
                <a:gd name="T36" fmla="*/ 15 w 33"/>
                <a:gd name="T37" fmla="*/ 15 h 31"/>
                <a:gd name="T38" fmla="*/ 12 w 33"/>
                <a:gd name="T39" fmla="*/ 15 h 31"/>
                <a:gd name="T40" fmla="*/ 11 w 33"/>
                <a:gd name="T41" fmla="*/ 15 h 31"/>
                <a:gd name="T42" fmla="*/ 8 w 33"/>
                <a:gd name="T43" fmla="*/ 15 h 31"/>
                <a:gd name="T44" fmla="*/ 7 w 33"/>
                <a:gd name="T45" fmla="*/ 15 h 31"/>
                <a:gd name="T46" fmla="*/ 5 w 33"/>
                <a:gd name="T47" fmla="*/ 15 h 31"/>
                <a:gd name="T48" fmla="*/ 4 w 33"/>
                <a:gd name="T49" fmla="*/ 15 h 31"/>
                <a:gd name="T50" fmla="*/ 2 w 33"/>
                <a:gd name="T51" fmla="*/ 15 h 31"/>
                <a:gd name="T52" fmla="*/ 2 w 33"/>
                <a:gd name="T53" fmla="*/ 15 h 31"/>
                <a:gd name="T54" fmla="*/ 1 w 33"/>
                <a:gd name="T55" fmla="*/ 15 h 31"/>
                <a:gd name="T56" fmla="*/ 1 w 33"/>
                <a:gd name="T57" fmla="*/ 15 h 31"/>
                <a:gd name="T58" fmla="*/ 0 w 33"/>
                <a:gd name="T59" fmla="*/ 14 h 31"/>
                <a:gd name="T60" fmla="*/ 1 w 33"/>
                <a:gd name="T61" fmla="*/ 11 h 31"/>
                <a:gd name="T62" fmla="*/ 1 w 33"/>
                <a:gd name="T63" fmla="*/ 10 h 31"/>
                <a:gd name="T64" fmla="*/ 1 w 33"/>
                <a:gd name="T65" fmla="*/ 7 h 31"/>
                <a:gd name="T66" fmla="*/ 1 w 33"/>
                <a:gd name="T67" fmla="*/ 6 h 31"/>
                <a:gd name="T68" fmla="*/ 2 w 33"/>
                <a:gd name="T69" fmla="*/ 4 h 31"/>
                <a:gd name="T70" fmla="*/ 4 w 33"/>
                <a:gd name="T71" fmla="*/ 3 h 31"/>
                <a:gd name="T72" fmla="*/ 5 w 33"/>
                <a:gd name="T73" fmla="*/ 1 h 31"/>
                <a:gd name="T74" fmla="*/ 7 w 33"/>
                <a:gd name="T75" fmla="*/ 1 h 31"/>
                <a:gd name="T76" fmla="*/ 9 w 33"/>
                <a:gd name="T77" fmla="*/ 0 h 31"/>
                <a:gd name="T78" fmla="*/ 11 w 33"/>
                <a:gd name="T79" fmla="*/ 0 h 31"/>
                <a:gd name="T80" fmla="*/ 14 w 33"/>
                <a:gd name="T81" fmla="*/ 0 h 31"/>
                <a:gd name="T82" fmla="*/ 14 w 33"/>
                <a:gd name="T83" fmla="*/ 0 h 31"/>
                <a:gd name="T84" fmla="*/ 15 w 33"/>
                <a:gd name="T85" fmla="*/ 1 h 31"/>
                <a:gd name="T86" fmla="*/ 16 w 33"/>
                <a:gd name="T87" fmla="*/ 1 h 31"/>
                <a:gd name="T88" fmla="*/ 16 w 33"/>
                <a:gd name="T89" fmla="*/ 3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3"/>
                <a:gd name="T136" fmla="*/ 0 h 31"/>
                <a:gd name="T137" fmla="*/ 33 w 33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3" h="31">
                  <a:moveTo>
                    <a:pt x="22" y="3"/>
                  </a:moveTo>
                  <a:lnTo>
                    <a:pt x="23" y="3"/>
                  </a:lnTo>
                  <a:lnTo>
                    <a:pt x="25" y="4"/>
                  </a:lnTo>
                  <a:lnTo>
                    <a:pt x="26" y="4"/>
                  </a:lnTo>
                  <a:lnTo>
                    <a:pt x="28" y="6"/>
                  </a:lnTo>
                  <a:lnTo>
                    <a:pt x="29" y="7"/>
                  </a:lnTo>
                  <a:lnTo>
                    <a:pt x="30" y="9"/>
                  </a:lnTo>
                  <a:lnTo>
                    <a:pt x="32" y="10"/>
                  </a:lnTo>
                  <a:lnTo>
                    <a:pt x="32" y="11"/>
                  </a:lnTo>
                  <a:lnTo>
                    <a:pt x="32" y="13"/>
                  </a:lnTo>
                  <a:lnTo>
                    <a:pt x="33" y="13"/>
                  </a:lnTo>
                  <a:lnTo>
                    <a:pt x="33" y="14"/>
                  </a:lnTo>
                  <a:lnTo>
                    <a:pt x="33" y="17"/>
                  </a:lnTo>
                  <a:lnTo>
                    <a:pt x="33" y="18"/>
                  </a:lnTo>
                  <a:lnTo>
                    <a:pt x="33" y="20"/>
                  </a:lnTo>
                  <a:lnTo>
                    <a:pt x="33" y="21"/>
                  </a:lnTo>
                  <a:lnTo>
                    <a:pt x="33" y="23"/>
                  </a:lnTo>
                  <a:lnTo>
                    <a:pt x="33" y="24"/>
                  </a:lnTo>
                  <a:lnTo>
                    <a:pt x="32" y="25"/>
                  </a:lnTo>
                  <a:lnTo>
                    <a:pt x="32" y="27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8" y="30"/>
                  </a:lnTo>
                  <a:lnTo>
                    <a:pt x="26" y="31"/>
                  </a:lnTo>
                  <a:lnTo>
                    <a:pt x="25" y="31"/>
                  </a:lnTo>
                  <a:lnTo>
                    <a:pt x="23" y="31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8" y="31"/>
                  </a:lnTo>
                  <a:lnTo>
                    <a:pt x="16" y="31"/>
                  </a:lnTo>
                  <a:lnTo>
                    <a:pt x="15" y="30"/>
                  </a:lnTo>
                  <a:lnTo>
                    <a:pt x="14" y="30"/>
                  </a:lnTo>
                  <a:lnTo>
                    <a:pt x="12" y="30"/>
                  </a:lnTo>
                  <a:lnTo>
                    <a:pt x="11" y="28"/>
                  </a:lnTo>
                  <a:lnTo>
                    <a:pt x="9" y="28"/>
                  </a:lnTo>
                  <a:lnTo>
                    <a:pt x="8" y="28"/>
                  </a:lnTo>
                  <a:lnTo>
                    <a:pt x="7" y="27"/>
                  </a:lnTo>
                  <a:lnTo>
                    <a:pt x="5" y="25"/>
                  </a:lnTo>
                  <a:lnTo>
                    <a:pt x="4" y="25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7"/>
                  </a:lnTo>
                  <a:lnTo>
                    <a:pt x="1" y="6"/>
                  </a:lnTo>
                  <a:lnTo>
                    <a:pt x="2" y="4"/>
                  </a:lnTo>
                  <a:lnTo>
                    <a:pt x="2" y="3"/>
                  </a:lnTo>
                  <a:lnTo>
                    <a:pt x="4" y="3"/>
                  </a:lnTo>
                  <a:lnTo>
                    <a:pt x="5" y="1"/>
                  </a:lnTo>
                  <a:lnTo>
                    <a:pt x="7" y="1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22" y="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3" name="Freeform 18"/>
            <p:cNvSpPr>
              <a:spLocks/>
            </p:cNvSpPr>
            <p:nvPr/>
          </p:nvSpPr>
          <p:spPr bwMode="auto">
            <a:xfrm>
              <a:off x="3859" y="675"/>
              <a:ext cx="32" cy="30"/>
            </a:xfrm>
            <a:custGeom>
              <a:avLst/>
              <a:gdLst>
                <a:gd name="T0" fmla="*/ 16 w 33"/>
                <a:gd name="T1" fmla="*/ 3 h 31"/>
                <a:gd name="T2" fmla="*/ 16 w 33"/>
                <a:gd name="T3" fmla="*/ 4 h 31"/>
                <a:gd name="T4" fmla="*/ 16 w 33"/>
                <a:gd name="T5" fmla="*/ 6 h 31"/>
                <a:gd name="T6" fmla="*/ 16 w 33"/>
                <a:gd name="T7" fmla="*/ 7 h 31"/>
                <a:gd name="T8" fmla="*/ 16 w 33"/>
                <a:gd name="T9" fmla="*/ 9 h 31"/>
                <a:gd name="T10" fmla="*/ 16 w 33"/>
                <a:gd name="T11" fmla="*/ 10 h 31"/>
                <a:gd name="T12" fmla="*/ 16 w 33"/>
                <a:gd name="T13" fmla="*/ 11 h 31"/>
                <a:gd name="T14" fmla="*/ 16 w 33"/>
                <a:gd name="T15" fmla="*/ 13 h 31"/>
                <a:gd name="T16" fmla="*/ 16 w 33"/>
                <a:gd name="T17" fmla="*/ 15 h 31"/>
                <a:gd name="T18" fmla="*/ 16 w 33"/>
                <a:gd name="T19" fmla="*/ 15 h 31"/>
                <a:gd name="T20" fmla="*/ 16 w 33"/>
                <a:gd name="T21" fmla="*/ 15 h 31"/>
                <a:gd name="T22" fmla="*/ 16 w 33"/>
                <a:gd name="T23" fmla="*/ 15 h 31"/>
                <a:gd name="T24" fmla="*/ 16 w 33"/>
                <a:gd name="T25" fmla="*/ 15 h 31"/>
                <a:gd name="T26" fmla="*/ 16 w 33"/>
                <a:gd name="T27" fmla="*/ 15 h 31"/>
                <a:gd name="T28" fmla="*/ 16 w 33"/>
                <a:gd name="T29" fmla="*/ 15 h 31"/>
                <a:gd name="T30" fmla="*/ 16 w 33"/>
                <a:gd name="T31" fmla="*/ 15 h 31"/>
                <a:gd name="T32" fmla="*/ 16 w 33"/>
                <a:gd name="T33" fmla="*/ 15 h 31"/>
                <a:gd name="T34" fmla="*/ 16 w 33"/>
                <a:gd name="T35" fmla="*/ 15 h 31"/>
                <a:gd name="T36" fmla="*/ 15 w 33"/>
                <a:gd name="T37" fmla="*/ 15 h 31"/>
                <a:gd name="T38" fmla="*/ 12 w 33"/>
                <a:gd name="T39" fmla="*/ 15 h 31"/>
                <a:gd name="T40" fmla="*/ 11 w 33"/>
                <a:gd name="T41" fmla="*/ 15 h 31"/>
                <a:gd name="T42" fmla="*/ 8 w 33"/>
                <a:gd name="T43" fmla="*/ 15 h 31"/>
                <a:gd name="T44" fmla="*/ 7 w 33"/>
                <a:gd name="T45" fmla="*/ 15 h 31"/>
                <a:gd name="T46" fmla="*/ 5 w 33"/>
                <a:gd name="T47" fmla="*/ 15 h 31"/>
                <a:gd name="T48" fmla="*/ 4 w 33"/>
                <a:gd name="T49" fmla="*/ 15 h 31"/>
                <a:gd name="T50" fmla="*/ 2 w 33"/>
                <a:gd name="T51" fmla="*/ 15 h 31"/>
                <a:gd name="T52" fmla="*/ 2 w 33"/>
                <a:gd name="T53" fmla="*/ 15 h 31"/>
                <a:gd name="T54" fmla="*/ 1 w 33"/>
                <a:gd name="T55" fmla="*/ 15 h 31"/>
                <a:gd name="T56" fmla="*/ 1 w 33"/>
                <a:gd name="T57" fmla="*/ 15 h 31"/>
                <a:gd name="T58" fmla="*/ 0 w 33"/>
                <a:gd name="T59" fmla="*/ 14 h 31"/>
                <a:gd name="T60" fmla="*/ 1 w 33"/>
                <a:gd name="T61" fmla="*/ 11 h 31"/>
                <a:gd name="T62" fmla="*/ 1 w 33"/>
                <a:gd name="T63" fmla="*/ 9 h 31"/>
                <a:gd name="T64" fmla="*/ 1 w 33"/>
                <a:gd name="T65" fmla="*/ 7 h 31"/>
                <a:gd name="T66" fmla="*/ 1 w 33"/>
                <a:gd name="T67" fmla="*/ 4 h 31"/>
                <a:gd name="T68" fmla="*/ 2 w 33"/>
                <a:gd name="T69" fmla="*/ 3 h 31"/>
                <a:gd name="T70" fmla="*/ 4 w 33"/>
                <a:gd name="T71" fmla="*/ 3 h 31"/>
                <a:gd name="T72" fmla="*/ 5 w 33"/>
                <a:gd name="T73" fmla="*/ 1 h 31"/>
                <a:gd name="T74" fmla="*/ 7 w 33"/>
                <a:gd name="T75" fmla="*/ 0 h 31"/>
                <a:gd name="T76" fmla="*/ 9 w 33"/>
                <a:gd name="T77" fmla="*/ 0 h 31"/>
                <a:gd name="T78" fmla="*/ 11 w 33"/>
                <a:gd name="T79" fmla="*/ 0 h 31"/>
                <a:gd name="T80" fmla="*/ 14 w 33"/>
                <a:gd name="T81" fmla="*/ 0 h 31"/>
                <a:gd name="T82" fmla="*/ 14 w 33"/>
                <a:gd name="T83" fmla="*/ 0 h 31"/>
                <a:gd name="T84" fmla="*/ 15 w 33"/>
                <a:gd name="T85" fmla="*/ 0 h 31"/>
                <a:gd name="T86" fmla="*/ 16 w 33"/>
                <a:gd name="T87" fmla="*/ 0 h 31"/>
                <a:gd name="T88" fmla="*/ 16 w 33"/>
                <a:gd name="T89" fmla="*/ 1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3"/>
                <a:gd name="T136" fmla="*/ 0 h 31"/>
                <a:gd name="T137" fmla="*/ 33 w 33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3" h="31">
                  <a:moveTo>
                    <a:pt x="22" y="1"/>
                  </a:moveTo>
                  <a:lnTo>
                    <a:pt x="23" y="3"/>
                  </a:lnTo>
                  <a:lnTo>
                    <a:pt x="25" y="4"/>
                  </a:lnTo>
                  <a:lnTo>
                    <a:pt x="26" y="4"/>
                  </a:lnTo>
                  <a:lnTo>
                    <a:pt x="28" y="6"/>
                  </a:lnTo>
                  <a:lnTo>
                    <a:pt x="29" y="6"/>
                  </a:lnTo>
                  <a:lnTo>
                    <a:pt x="29" y="7"/>
                  </a:lnTo>
                  <a:lnTo>
                    <a:pt x="30" y="9"/>
                  </a:lnTo>
                  <a:lnTo>
                    <a:pt x="32" y="10"/>
                  </a:lnTo>
                  <a:lnTo>
                    <a:pt x="32" y="11"/>
                  </a:lnTo>
                  <a:lnTo>
                    <a:pt x="33" y="13"/>
                  </a:lnTo>
                  <a:lnTo>
                    <a:pt x="33" y="14"/>
                  </a:lnTo>
                  <a:lnTo>
                    <a:pt x="33" y="16"/>
                  </a:lnTo>
                  <a:lnTo>
                    <a:pt x="33" y="18"/>
                  </a:lnTo>
                  <a:lnTo>
                    <a:pt x="33" y="20"/>
                  </a:lnTo>
                  <a:lnTo>
                    <a:pt x="33" y="21"/>
                  </a:lnTo>
                  <a:lnTo>
                    <a:pt x="33" y="23"/>
                  </a:lnTo>
                  <a:lnTo>
                    <a:pt x="33" y="24"/>
                  </a:lnTo>
                  <a:lnTo>
                    <a:pt x="32" y="25"/>
                  </a:lnTo>
                  <a:lnTo>
                    <a:pt x="32" y="27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25" y="31"/>
                  </a:lnTo>
                  <a:lnTo>
                    <a:pt x="23" y="31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8" y="30"/>
                  </a:lnTo>
                  <a:lnTo>
                    <a:pt x="16" y="30"/>
                  </a:lnTo>
                  <a:lnTo>
                    <a:pt x="15" y="30"/>
                  </a:lnTo>
                  <a:lnTo>
                    <a:pt x="14" y="30"/>
                  </a:lnTo>
                  <a:lnTo>
                    <a:pt x="12" y="30"/>
                  </a:lnTo>
                  <a:lnTo>
                    <a:pt x="12" y="28"/>
                  </a:lnTo>
                  <a:lnTo>
                    <a:pt x="11" y="28"/>
                  </a:lnTo>
                  <a:lnTo>
                    <a:pt x="9" y="28"/>
                  </a:lnTo>
                  <a:lnTo>
                    <a:pt x="8" y="28"/>
                  </a:lnTo>
                  <a:lnTo>
                    <a:pt x="8" y="27"/>
                  </a:lnTo>
                  <a:lnTo>
                    <a:pt x="7" y="27"/>
                  </a:lnTo>
                  <a:lnTo>
                    <a:pt x="5" y="25"/>
                  </a:lnTo>
                  <a:lnTo>
                    <a:pt x="4" y="24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1" y="20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4" y="3"/>
                  </a:lnTo>
                  <a:lnTo>
                    <a:pt x="5" y="1"/>
                  </a:lnTo>
                  <a:lnTo>
                    <a:pt x="7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6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4" name="Freeform 19"/>
            <p:cNvSpPr>
              <a:spLocks/>
            </p:cNvSpPr>
            <p:nvPr/>
          </p:nvSpPr>
          <p:spPr bwMode="auto">
            <a:xfrm>
              <a:off x="3859" y="765"/>
              <a:ext cx="32" cy="30"/>
            </a:xfrm>
            <a:custGeom>
              <a:avLst/>
              <a:gdLst>
                <a:gd name="T0" fmla="*/ 16 w 33"/>
                <a:gd name="T1" fmla="*/ 3 h 31"/>
                <a:gd name="T2" fmla="*/ 16 w 33"/>
                <a:gd name="T3" fmla="*/ 3 h 31"/>
                <a:gd name="T4" fmla="*/ 16 w 33"/>
                <a:gd name="T5" fmla="*/ 5 h 31"/>
                <a:gd name="T6" fmla="*/ 16 w 33"/>
                <a:gd name="T7" fmla="*/ 8 h 31"/>
                <a:gd name="T8" fmla="*/ 16 w 33"/>
                <a:gd name="T9" fmla="*/ 9 h 31"/>
                <a:gd name="T10" fmla="*/ 16 w 33"/>
                <a:gd name="T11" fmla="*/ 10 h 31"/>
                <a:gd name="T12" fmla="*/ 16 w 33"/>
                <a:gd name="T13" fmla="*/ 12 h 31"/>
                <a:gd name="T14" fmla="*/ 16 w 33"/>
                <a:gd name="T15" fmla="*/ 13 h 31"/>
                <a:gd name="T16" fmla="*/ 16 w 33"/>
                <a:gd name="T17" fmla="*/ 15 h 31"/>
                <a:gd name="T18" fmla="*/ 16 w 33"/>
                <a:gd name="T19" fmla="*/ 15 h 31"/>
                <a:gd name="T20" fmla="*/ 16 w 33"/>
                <a:gd name="T21" fmla="*/ 15 h 31"/>
                <a:gd name="T22" fmla="*/ 16 w 33"/>
                <a:gd name="T23" fmla="*/ 15 h 31"/>
                <a:gd name="T24" fmla="*/ 16 w 33"/>
                <a:gd name="T25" fmla="*/ 15 h 31"/>
                <a:gd name="T26" fmla="*/ 16 w 33"/>
                <a:gd name="T27" fmla="*/ 15 h 31"/>
                <a:gd name="T28" fmla="*/ 16 w 33"/>
                <a:gd name="T29" fmla="*/ 15 h 31"/>
                <a:gd name="T30" fmla="*/ 16 w 33"/>
                <a:gd name="T31" fmla="*/ 15 h 31"/>
                <a:gd name="T32" fmla="*/ 16 w 33"/>
                <a:gd name="T33" fmla="*/ 15 h 31"/>
                <a:gd name="T34" fmla="*/ 16 w 33"/>
                <a:gd name="T35" fmla="*/ 15 h 31"/>
                <a:gd name="T36" fmla="*/ 15 w 33"/>
                <a:gd name="T37" fmla="*/ 15 h 31"/>
                <a:gd name="T38" fmla="*/ 12 w 33"/>
                <a:gd name="T39" fmla="*/ 15 h 31"/>
                <a:gd name="T40" fmla="*/ 11 w 33"/>
                <a:gd name="T41" fmla="*/ 15 h 31"/>
                <a:gd name="T42" fmla="*/ 9 w 33"/>
                <a:gd name="T43" fmla="*/ 15 h 31"/>
                <a:gd name="T44" fmla="*/ 7 w 33"/>
                <a:gd name="T45" fmla="*/ 15 h 31"/>
                <a:gd name="T46" fmla="*/ 5 w 33"/>
                <a:gd name="T47" fmla="*/ 15 h 31"/>
                <a:gd name="T48" fmla="*/ 4 w 33"/>
                <a:gd name="T49" fmla="*/ 15 h 31"/>
                <a:gd name="T50" fmla="*/ 2 w 33"/>
                <a:gd name="T51" fmla="*/ 15 h 31"/>
                <a:gd name="T52" fmla="*/ 2 w 33"/>
                <a:gd name="T53" fmla="*/ 15 h 31"/>
                <a:gd name="T54" fmla="*/ 1 w 33"/>
                <a:gd name="T55" fmla="*/ 15 h 31"/>
                <a:gd name="T56" fmla="*/ 1 w 33"/>
                <a:gd name="T57" fmla="*/ 15 h 31"/>
                <a:gd name="T58" fmla="*/ 0 w 33"/>
                <a:gd name="T59" fmla="*/ 13 h 31"/>
                <a:gd name="T60" fmla="*/ 1 w 33"/>
                <a:gd name="T61" fmla="*/ 12 h 31"/>
                <a:gd name="T62" fmla="*/ 1 w 33"/>
                <a:gd name="T63" fmla="*/ 9 h 31"/>
                <a:gd name="T64" fmla="*/ 1 w 33"/>
                <a:gd name="T65" fmla="*/ 8 h 31"/>
                <a:gd name="T66" fmla="*/ 1 w 33"/>
                <a:gd name="T67" fmla="*/ 5 h 31"/>
                <a:gd name="T68" fmla="*/ 2 w 33"/>
                <a:gd name="T69" fmla="*/ 3 h 31"/>
                <a:gd name="T70" fmla="*/ 4 w 33"/>
                <a:gd name="T71" fmla="*/ 2 h 31"/>
                <a:gd name="T72" fmla="*/ 5 w 33"/>
                <a:gd name="T73" fmla="*/ 2 h 31"/>
                <a:gd name="T74" fmla="*/ 7 w 33"/>
                <a:gd name="T75" fmla="*/ 0 h 31"/>
                <a:gd name="T76" fmla="*/ 9 w 33"/>
                <a:gd name="T77" fmla="*/ 0 h 31"/>
                <a:gd name="T78" fmla="*/ 11 w 33"/>
                <a:gd name="T79" fmla="*/ 0 h 31"/>
                <a:gd name="T80" fmla="*/ 14 w 33"/>
                <a:gd name="T81" fmla="*/ 0 h 31"/>
                <a:gd name="T82" fmla="*/ 14 w 33"/>
                <a:gd name="T83" fmla="*/ 0 h 31"/>
                <a:gd name="T84" fmla="*/ 15 w 33"/>
                <a:gd name="T85" fmla="*/ 0 h 31"/>
                <a:gd name="T86" fmla="*/ 16 w 33"/>
                <a:gd name="T87" fmla="*/ 0 h 31"/>
                <a:gd name="T88" fmla="*/ 16 w 33"/>
                <a:gd name="T89" fmla="*/ 2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3"/>
                <a:gd name="T136" fmla="*/ 0 h 31"/>
                <a:gd name="T137" fmla="*/ 33 w 33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3" h="31">
                  <a:moveTo>
                    <a:pt x="22" y="2"/>
                  </a:moveTo>
                  <a:lnTo>
                    <a:pt x="23" y="3"/>
                  </a:lnTo>
                  <a:lnTo>
                    <a:pt x="25" y="3"/>
                  </a:lnTo>
                  <a:lnTo>
                    <a:pt x="26" y="5"/>
                  </a:lnTo>
                  <a:lnTo>
                    <a:pt x="28" y="5"/>
                  </a:lnTo>
                  <a:lnTo>
                    <a:pt x="29" y="6"/>
                  </a:lnTo>
                  <a:lnTo>
                    <a:pt x="29" y="8"/>
                  </a:lnTo>
                  <a:lnTo>
                    <a:pt x="30" y="9"/>
                  </a:lnTo>
                  <a:lnTo>
                    <a:pt x="32" y="10"/>
                  </a:lnTo>
                  <a:lnTo>
                    <a:pt x="32" y="12"/>
                  </a:lnTo>
                  <a:lnTo>
                    <a:pt x="33" y="13"/>
                  </a:lnTo>
                  <a:lnTo>
                    <a:pt x="33" y="15"/>
                  </a:lnTo>
                  <a:lnTo>
                    <a:pt x="33" y="16"/>
                  </a:lnTo>
                  <a:lnTo>
                    <a:pt x="33" y="19"/>
                  </a:lnTo>
                  <a:lnTo>
                    <a:pt x="33" y="20"/>
                  </a:lnTo>
                  <a:lnTo>
                    <a:pt x="33" y="22"/>
                  </a:lnTo>
                  <a:lnTo>
                    <a:pt x="33" y="23"/>
                  </a:lnTo>
                  <a:lnTo>
                    <a:pt x="33" y="24"/>
                  </a:lnTo>
                  <a:lnTo>
                    <a:pt x="32" y="26"/>
                  </a:lnTo>
                  <a:lnTo>
                    <a:pt x="32" y="27"/>
                  </a:lnTo>
                  <a:lnTo>
                    <a:pt x="30" y="29"/>
                  </a:lnTo>
                  <a:lnTo>
                    <a:pt x="29" y="29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25" y="31"/>
                  </a:lnTo>
                  <a:lnTo>
                    <a:pt x="23" y="31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0"/>
                  </a:lnTo>
                  <a:lnTo>
                    <a:pt x="18" y="30"/>
                  </a:lnTo>
                  <a:lnTo>
                    <a:pt x="16" y="30"/>
                  </a:lnTo>
                  <a:lnTo>
                    <a:pt x="15" y="30"/>
                  </a:lnTo>
                  <a:lnTo>
                    <a:pt x="14" y="30"/>
                  </a:lnTo>
                  <a:lnTo>
                    <a:pt x="12" y="29"/>
                  </a:lnTo>
                  <a:lnTo>
                    <a:pt x="11" y="29"/>
                  </a:lnTo>
                  <a:lnTo>
                    <a:pt x="9" y="29"/>
                  </a:lnTo>
                  <a:lnTo>
                    <a:pt x="8" y="27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5" y="26"/>
                  </a:lnTo>
                  <a:lnTo>
                    <a:pt x="4" y="24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1" y="15"/>
                  </a:lnTo>
                  <a:lnTo>
                    <a:pt x="0" y="13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6"/>
                  </a:lnTo>
                  <a:lnTo>
                    <a:pt x="1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7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22" y="2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5" name="Freeform 20"/>
            <p:cNvSpPr>
              <a:spLocks/>
            </p:cNvSpPr>
            <p:nvPr/>
          </p:nvSpPr>
          <p:spPr bwMode="auto">
            <a:xfrm>
              <a:off x="3859" y="735"/>
              <a:ext cx="32" cy="30"/>
            </a:xfrm>
            <a:custGeom>
              <a:avLst/>
              <a:gdLst>
                <a:gd name="T0" fmla="*/ 16 w 33"/>
                <a:gd name="T1" fmla="*/ 2 h 30"/>
                <a:gd name="T2" fmla="*/ 16 w 33"/>
                <a:gd name="T3" fmla="*/ 3 h 30"/>
                <a:gd name="T4" fmla="*/ 16 w 33"/>
                <a:gd name="T5" fmla="*/ 5 h 30"/>
                <a:gd name="T6" fmla="*/ 16 w 33"/>
                <a:gd name="T7" fmla="*/ 8 h 30"/>
                <a:gd name="T8" fmla="*/ 16 w 33"/>
                <a:gd name="T9" fmla="*/ 9 h 30"/>
                <a:gd name="T10" fmla="*/ 16 w 33"/>
                <a:gd name="T11" fmla="*/ 10 h 30"/>
                <a:gd name="T12" fmla="*/ 16 w 33"/>
                <a:gd name="T13" fmla="*/ 12 h 30"/>
                <a:gd name="T14" fmla="*/ 16 w 33"/>
                <a:gd name="T15" fmla="*/ 13 h 30"/>
                <a:gd name="T16" fmla="*/ 16 w 33"/>
                <a:gd name="T17" fmla="*/ 16 h 30"/>
                <a:gd name="T18" fmla="*/ 16 w 33"/>
                <a:gd name="T19" fmla="*/ 19 h 30"/>
                <a:gd name="T20" fmla="*/ 16 w 33"/>
                <a:gd name="T21" fmla="*/ 23 h 30"/>
                <a:gd name="T22" fmla="*/ 16 w 33"/>
                <a:gd name="T23" fmla="*/ 26 h 30"/>
                <a:gd name="T24" fmla="*/ 16 w 33"/>
                <a:gd name="T25" fmla="*/ 27 h 30"/>
                <a:gd name="T26" fmla="*/ 16 w 33"/>
                <a:gd name="T27" fmla="*/ 30 h 30"/>
                <a:gd name="T28" fmla="*/ 16 w 33"/>
                <a:gd name="T29" fmla="*/ 30 h 30"/>
                <a:gd name="T30" fmla="*/ 16 w 33"/>
                <a:gd name="T31" fmla="*/ 30 h 30"/>
                <a:gd name="T32" fmla="*/ 16 w 33"/>
                <a:gd name="T33" fmla="*/ 30 h 30"/>
                <a:gd name="T34" fmla="*/ 16 w 33"/>
                <a:gd name="T35" fmla="*/ 30 h 30"/>
                <a:gd name="T36" fmla="*/ 15 w 33"/>
                <a:gd name="T37" fmla="*/ 30 h 30"/>
                <a:gd name="T38" fmla="*/ 12 w 33"/>
                <a:gd name="T39" fmla="*/ 29 h 30"/>
                <a:gd name="T40" fmla="*/ 11 w 33"/>
                <a:gd name="T41" fmla="*/ 29 h 30"/>
                <a:gd name="T42" fmla="*/ 9 w 33"/>
                <a:gd name="T43" fmla="*/ 27 h 30"/>
                <a:gd name="T44" fmla="*/ 7 w 33"/>
                <a:gd name="T45" fmla="*/ 27 h 30"/>
                <a:gd name="T46" fmla="*/ 5 w 33"/>
                <a:gd name="T47" fmla="*/ 26 h 30"/>
                <a:gd name="T48" fmla="*/ 4 w 33"/>
                <a:gd name="T49" fmla="*/ 24 h 30"/>
                <a:gd name="T50" fmla="*/ 2 w 33"/>
                <a:gd name="T51" fmla="*/ 23 h 30"/>
                <a:gd name="T52" fmla="*/ 2 w 33"/>
                <a:gd name="T53" fmla="*/ 22 h 30"/>
                <a:gd name="T54" fmla="*/ 1 w 33"/>
                <a:gd name="T55" fmla="*/ 19 h 30"/>
                <a:gd name="T56" fmla="*/ 1 w 33"/>
                <a:gd name="T57" fmla="*/ 16 h 30"/>
                <a:gd name="T58" fmla="*/ 0 w 33"/>
                <a:gd name="T59" fmla="*/ 13 h 30"/>
                <a:gd name="T60" fmla="*/ 1 w 33"/>
                <a:gd name="T61" fmla="*/ 10 h 30"/>
                <a:gd name="T62" fmla="*/ 1 w 33"/>
                <a:gd name="T63" fmla="*/ 9 h 30"/>
                <a:gd name="T64" fmla="*/ 1 w 33"/>
                <a:gd name="T65" fmla="*/ 6 h 30"/>
                <a:gd name="T66" fmla="*/ 1 w 33"/>
                <a:gd name="T67" fmla="*/ 5 h 30"/>
                <a:gd name="T68" fmla="*/ 2 w 33"/>
                <a:gd name="T69" fmla="*/ 3 h 30"/>
                <a:gd name="T70" fmla="*/ 4 w 33"/>
                <a:gd name="T71" fmla="*/ 2 h 30"/>
                <a:gd name="T72" fmla="*/ 5 w 33"/>
                <a:gd name="T73" fmla="*/ 0 h 30"/>
                <a:gd name="T74" fmla="*/ 7 w 33"/>
                <a:gd name="T75" fmla="*/ 0 h 30"/>
                <a:gd name="T76" fmla="*/ 9 w 33"/>
                <a:gd name="T77" fmla="*/ 0 h 30"/>
                <a:gd name="T78" fmla="*/ 11 w 33"/>
                <a:gd name="T79" fmla="*/ 0 h 30"/>
                <a:gd name="T80" fmla="*/ 14 w 33"/>
                <a:gd name="T81" fmla="*/ 0 h 30"/>
                <a:gd name="T82" fmla="*/ 14 w 33"/>
                <a:gd name="T83" fmla="*/ 0 h 30"/>
                <a:gd name="T84" fmla="*/ 15 w 33"/>
                <a:gd name="T85" fmla="*/ 0 h 30"/>
                <a:gd name="T86" fmla="*/ 16 w 33"/>
                <a:gd name="T87" fmla="*/ 0 h 30"/>
                <a:gd name="T88" fmla="*/ 16 w 33"/>
                <a:gd name="T89" fmla="*/ 2 h 3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3"/>
                <a:gd name="T136" fmla="*/ 0 h 30"/>
                <a:gd name="T137" fmla="*/ 33 w 33"/>
                <a:gd name="T138" fmla="*/ 30 h 3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3" h="30">
                  <a:moveTo>
                    <a:pt x="22" y="2"/>
                  </a:moveTo>
                  <a:lnTo>
                    <a:pt x="23" y="2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6" y="5"/>
                  </a:lnTo>
                  <a:lnTo>
                    <a:pt x="28" y="5"/>
                  </a:lnTo>
                  <a:lnTo>
                    <a:pt x="29" y="6"/>
                  </a:lnTo>
                  <a:lnTo>
                    <a:pt x="29" y="8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32" y="9"/>
                  </a:lnTo>
                  <a:lnTo>
                    <a:pt x="32" y="10"/>
                  </a:lnTo>
                  <a:lnTo>
                    <a:pt x="32" y="12"/>
                  </a:lnTo>
                  <a:lnTo>
                    <a:pt x="33" y="12"/>
                  </a:lnTo>
                  <a:lnTo>
                    <a:pt x="33" y="13"/>
                  </a:lnTo>
                  <a:lnTo>
                    <a:pt x="33" y="15"/>
                  </a:lnTo>
                  <a:lnTo>
                    <a:pt x="33" y="16"/>
                  </a:lnTo>
                  <a:lnTo>
                    <a:pt x="33" y="17"/>
                  </a:lnTo>
                  <a:lnTo>
                    <a:pt x="33" y="19"/>
                  </a:lnTo>
                  <a:lnTo>
                    <a:pt x="33" y="20"/>
                  </a:lnTo>
                  <a:lnTo>
                    <a:pt x="33" y="23"/>
                  </a:lnTo>
                  <a:lnTo>
                    <a:pt x="33" y="24"/>
                  </a:lnTo>
                  <a:lnTo>
                    <a:pt x="32" y="26"/>
                  </a:lnTo>
                  <a:lnTo>
                    <a:pt x="32" y="27"/>
                  </a:lnTo>
                  <a:lnTo>
                    <a:pt x="30" y="27"/>
                  </a:lnTo>
                  <a:lnTo>
                    <a:pt x="29" y="29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25" y="30"/>
                  </a:lnTo>
                  <a:lnTo>
                    <a:pt x="23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0"/>
                  </a:lnTo>
                  <a:lnTo>
                    <a:pt x="18" y="30"/>
                  </a:lnTo>
                  <a:lnTo>
                    <a:pt x="16" y="30"/>
                  </a:lnTo>
                  <a:lnTo>
                    <a:pt x="15" y="30"/>
                  </a:lnTo>
                  <a:lnTo>
                    <a:pt x="14" y="29"/>
                  </a:lnTo>
                  <a:lnTo>
                    <a:pt x="12" y="29"/>
                  </a:lnTo>
                  <a:lnTo>
                    <a:pt x="11" y="29"/>
                  </a:lnTo>
                  <a:lnTo>
                    <a:pt x="9" y="29"/>
                  </a:lnTo>
                  <a:lnTo>
                    <a:pt x="9" y="27"/>
                  </a:lnTo>
                  <a:lnTo>
                    <a:pt x="8" y="27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5" y="26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4" y="23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1" y="15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6"/>
                  </a:lnTo>
                  <a:lnTo>
                    <a:pt x="1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22" y="2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6" name="Freeform 21"/>
            <p:cNvSpPr>
              <a:spLocks/>
            </p:cNvSpPr>
            <p:nvPr/>
          </p:nvSpPr>
          <p:spPr bwMode="auto">
            <a:xfrm>
              <a:off x="3859" y="795"/>
              <a:ext cx="32" cy="30"/>
            </a:xfrm>
            <a:custGeom>
              <a:avLst/>
              <a:gdLst>
                <a:gd name="T0" fmla="*/ 16 w 33"/>
                <a:gd name="T1" fmla="*/ 3 h 31"/>
                <a:gd name="T2" fmla="*/ 16 w 33"/>
                <a:gd name="T3" fmla="*/ 5 h 31"/>
                <a:gd name="T4" fmla="*/ 16 w 33"/>
                <a:gd name="T5" fmla="*/ 6 h 31"/>
                <a:gd name="T6" fmla="*/ 16 w 33"/>
                <a:gd name="T7" fmla="*/ 8 h 31"/>
                <a:gd name="T8" fmla="*/ 16 w 33"/>
                <a:gd name="T9" fmla="*/ 9 h 31"/>
                <a:gd name="T10" fmla="*/ 16 w 33"/>
                <a:gd name="T11" fmla="*/ 10 h 31"/>
                <a:gd name="T12" fmla="*/ 16 w 33"/>
                <a:gd name="T13" fmla="*/ 12 h 31"/>
                <a:gd name="T14" fmla="*/ 16 w 33"/>
                <a:gd name="T15" fmla="*/ 15 h 31"/>
                <a:gd name="T16" fmla="*/ 16 w 33"/>
                <a:gd name="T17" fmla="*/ 15 h 31"/>
                <a:gd name="T18" fmla="*/ 16 w 33"/>
                <a:gd name="T19" fmla="*/ 15 h 31"/>
                <a:gd name="T20" fmla="*/ 16 w 33"/>
                <a:gd name="T21" fmla="*/ 15 h 31"/>
                <a:gd name="T22" fmla="*/ 16 w 33"/>
                <a:gd name="T23" fmla="*/ 15 h 31"/>
                <a:gd name="T24" fmla="*/ 16 w 33"/>
                <a:gd name="T25" fmla="*/ 15 h 31"/>
                <a:gd name="T26" fmla="*/ 16 w 33"/>
                <a:gd name="T27" fmla="*/ 15 h 31"/>
                <a:gd name="T28" fmla="*/ 16 w 33"/>
                <a:gd name="T29" fmla="*/ 15 h 31"/>
                <a:gd name="T30" fmla="*/ 16 w 33"/>
                <a:gd name="T31" fmla="*/ 15 h 31"/>
                <a:gd name="T32" fmla="*/ 16 w 33"/>
                <a:gd name="T33" fmla="*/ 15 h 31"/>
                <a:gd name="T34" fmla="*/ 16 w 33"/>
                <a:gd name="T35" fmla="*/ 15 h 31"/>
                <a:gd name="T36" fmla="*/ 15 w 33"/>
                <a:gd name="T37" fmla="*/ 15 h 31"/>
                <a:gd name="T38" fmla="*/ 12 w 33"/>
                <a:gd name="T39" fmla="*/ 15 h 31"/>
                <a:gd name="T40" fmla="*/ 11 w 33"/>
                <a:gd name="T41" fmla="*/ 15 h 31"/>
                <a:gd name="T42" fmla="*/ 8 w 33"/>
                <a:gd name="T43" fmla="*/ 15 h 31"/>
                <a:gd name="T44" fmla="*/ 7 w 33"/>
                <a:gd name="T45" fmla="*/ 15 h 31"/>
                <a:gd name="T46" fmla="*/ 5 w 33"/>
                <a:gd name="T47" fmla="*/ 15 h 31"/>
                <a:gd name="T48" fmla="*/ 4 w 33"/>
                <a:gd name="T49" fmla="*/ 15 h 31"/>
                <a:gd name="T50" fmla="*/ 2 w 33"/>
                <a:gd name="T51" fmla="*/ 15 h 31"/>
                <a:gd name="T52" fmla="*/ 2 w 33"/>
                <a:gd name="T53" fmla="*/ 15 h 31"/>
                <a:gd name="T54" fmla="*/ 1 w 33"/>
                <a:gd name="T55" fmla="*/ 15 h 31"/>
                <a:gd name="T56" fmla="*/ 1 w 33"/>
                <a:gd name="T57" fmla="*/ 15 h 31"/>
                <a:gd name="T58" fmla="*/ 0 w 33"/>
                <a:gd name="T59" fmla="*/ 15 h 31"/>
                <a:gd name="T60" fmla="*/ 1 w 33"/>
                <a:gd name="T61" fmla="*/ 12 h 31"/>
                <a:gd name="T62" fmla="*/ 1 w 33"/>
                <a:gd name="T63" fmla="*/ 9 h 31"/>
                <a:gd name="T64" fmla="*/ 1 w 33"/>
                <a:gd name="T65" fmla="*/ 8 h 31"/>
                <a:gd name="T66" fmla="*/ 1 w 33"/>
                <a:gd name="T67" fmla="*/ 6 h 31"/>
                <a:gd name="T68" fmla="*/ 2 w 33"/>
                <a:gd name="T69" fmla="*/ 5 h 31"/>
                <a:gd name="T70" fmla="*/ 4 w 33"/>
                <a:gd name="T71" fmla="*/ 3 h 31"/>
                <a:gd name="T72" fmla="*/ 5 w 33"/>
                <a:gd name="T73" fmla="*/ 2 h 31"/>
                <a:gd name="T74" fmla="*/ 7 w 33"/>
                <a:gd name="T75" fmla="*/ 0 h 31"/>
                <a:gd name="T76" fmla="*/ 9 w 33"/>
                <a:gd name="T77" fmla="*/ 0 h 31"/>
                <a:gd name="T78" fmla="*/ 11 w 33"/>
                <a:gd name="T79" fmla="*/ 0 h 31"/>
                <a:gd name="T80" fmla="*/ 14 w 33"/>
                <a:gd name="T81" fmla="*/ 0 h 31"/>
                <a:gd name="T82" fmla="*/ 14 w 33"/>
                <a:gd name="T83" fmla="*/ 0 h 31"/>
                <a:gd name="T84" fmla="*/ 15 w 33"/>
                <a:gd name="T85" fmla="*/ 0 h 31"/>
                <a:gd name="T86" fmla="*/ 16 w 33"/>
                <a:gd name="T87" fmla="*/ 2 h 31"/>
                <a:gd name="T88" fmla="*/ 16 w 33"/>
                <a:gd name="T89" fmla="*/ 2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3"/>
                <a:gd name="T136" fmla="*/ 0 h 31"/>
                <a:gd name="T137" fmla="*/ 33 w 33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3" h="31">
                  <a:moveTo>
                    <a:pt x="22" y="3"/>
                  </a:moveTo>
                  <a:lnTo>
                    <a:pt x="23" y="3"/>
                  </a:lnTo>
                  <a:lnTo>
                    <a:pt x="25" y="5"/>
                  </a:lnTo>
                  <a:lnTo>
                    <a:pt x="26" y="5"/>
                  </a:lnTo>
                  <a:lnTo>
                    <a:pt x="28" y="6"/>
                  </a:lnTo>
                  <a:lnTo>
                    <a:pt x="29" y="6"/>
                  </a:lnTo>
                  <a:lnTo>
                    <a:pt x="29" y="8"/>
                  </a:lnTo>
                  <a:lnTo>
                    <a:pt x="30" y="9"/>
                  </a:lnTo>
                  <a:lnTo>
                    <a:pt x="32" y="10"/>
                  </a:lnTo>
                  <a:lnTo>
                    <a:pt x="32" y="12"/>
                  </a:lnTo>
                  <a:lnTo>
                    <a:pt x="33" y="13"/>
                  </a:lnTo>
                  <a:lnTo>
                    <a:pt x="33" y="15"/>
                  </a:lnTo>
                  <a:lnTo>
                    <a:pt x="33" y="17"/>
                  </a:lnTo>
                  <a:lnTo>
                    <a:pt x="33" y="19"/>
                  </a:lnTo>
                  <a:lnTo>
                    <a:pt x="33" y="20"/>
                  </a:lnTo>
                  <a:lnTo>
                    <a:pt x="33" y="22"/>
                  </a:lnTo>
                  <a:lnTo>
                    <a:pt x="33" y="23"/>
                  </a:lnTo>
                  <a:lnTo>
                    <a:pt x="33" y="24"/>
                  </a:lnTo>
                  <a:lnTo>
                    <a:pt x="32" y="26"/>
                  </a:lnTo>
                  <a:lnTo>
                    <a:pt x="32" y="27"/>
                  </a:lnTo>
                  <a:lnTo>
                    <a:pt x="30" y="29"/>
                  </a:lnTo>
                  <a:lnTo>
                    <a:pt x="29" y="30"/>
                  </a:lnTo>
                  <a:lnTo>
                    <a:pt x="28" y="30"/>
                  </a:lnTo>
                  <a:lnTo>
                    <a:pt x="26" y="31"/>
                  </a:lnTo>
                  <a:lnTo>
                    <a:pt x="25" y="31"/>
                  </a:lnTo>
                  <a:lnTo>
                    <a:pt x="23" y="31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8" y="31"/>
                  </a:lnTo>
                  <a:lnTo>
                    <a:pt x="16" y="30"/>
                  </a:lnTo>
                  <a:lnTo>
                    <a:pt x="15" y="30"/>
                  </a:lnTo>
                  <a:lnTo>
                    <a:pt x="14" y="30"/>
                  </a:lnTo>
                  <a:lnTo>
                    <a:pt x="12" y="30"/>
                  </a:lnTo>
                  <a:lnTo>
                    <a:pt x="11" y="29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8" y="27"/>
                  </a:lnTo>
                  <a:lnTo>
                    <a:pt x="7" y="27"/>
                  </a:lnTo>
                  <a:lnTo>
                    <a:pt x="5" y="26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6"/>
                  </a:lnTo>
                  <a:lnTo>
                    <a:pt x="2" y="5"/>
                  </a:lnTo>
                  <a:lnTo>
                    <a:pt x="2" y="3"/>
                  </a:lnTo>
                  <a:lnTo>
                    <a:pt x="4" y="3"/>
                  </a:lnTo>
                  <a:lnTo>
                    <a:pt x="5" y="2"/>
                  </a:lnTo>
                  <a:lnTo>
                    <a:pt x="7" y="2"/>
                  </a:lnTo>
                  <a:lnTo>
                    <a:pt x="7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2" y="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7" name="Freeform 22"/>
            <p:cNvSpPr>
              <a:spLocks/>
            </p:cNvSpPr>
            <p:nvPr/>
          </p:nvSpPr>
          <p:spPr bwMode="auto">
            <a:xfrm>
              <a:off x="3834" y="508"/>
              <a:ext cx="25" cy="30"/>
            </a:xfrm>
            <a:custGeom>
              <a:avLst/>
              <a:gdLst>
                <a:gd name="T0" fmla="*/ 6 w 27"/>
                <a:gd name="T1" fmla="*/ 15 h 31"/>
                <a:gd name="T2" fmla="*/ 6 w 27"/>
                <a:gd name="T3" fmla="*/ 15 h 31"/>
                <a:gd name="T4" fmla="*/ 6 w 27"/>
                <a:gd name="T5" fmla="*/ 15 h 31"/>
                <a:gd name="T6" fmla="*/ 6 w 27"/>
                <a:gd name="T7" fmla="*/ 15 h 31"/>
                <a:gd name="T8" fmla="*/ 6 w 27"/>
                <a:gd name="T9" fmla="*/ 15 h 31"/>
                <a:gd name="T10" fmla="*/ 6 w 27"/>
                <a:gd name="T11" fmla="*/ 15 h 31"/>
                <a:gd name="T12" fmla="*/ 6 w 27"/>
                <a:gd name="T13" fmla="*/ 15 h 31"/>
                <a:gd name="T14" fmla="*/ 6 w 27"/>
                <a:gd name="T15" fmla="*/ 15 h 31"/>
                <a:gd name="T16" fmla="*/ 6 w 27"/>
                <a:gd name="T17" fmla="*/ 15 h 31"/>
                <a:gd name="T18" fmla="*/ 6 w 27"/>
                <a:gd name="T19" fmla="*/ 15 h 31"/>
                <a:gd name="T20" fmla="*/ 6 w 27"/>
                <a:gd name="T21" fmla="*/ 15 h 31"/>
                <a:gd name="T22" fmla="*/ 6 w 27"/>
                <a:gd name="T23" fmla="*/ 15 h 31"/>
                <a:gd name="T24" fmla="*/ 6 w 27"/>
                <a:gd name="T25" fmla="*/ 15 h 31"/>
                <a:gd name="T26" fmla="*/ 6 w 27"/>
                <a:gd name="T27" fmla="*/ 15 h 31"/>
                <a:gd name="T28" fmla="*/ 5 w 27"/>
                <a:gd name="T29" fmla="*/ 15 h 31"/>
                <a:gd name="T30" fmla="*/ 4 w 27"/>
                <a:gd name="T31" fmla="*/ 15 h 31"/>
                <a:gd name="T32" fmla="*/ 3 w 27"/>
                <a:gd name="T33" fmla="*/ 15 h 31"/>
                <a:gd name="T34" fmla="*/ 1 w 27"/>
                <a:gd name="T35" fmla="*/ 13 h 31"/>
                <a:gd name="T36" fmla="*/ 1 w 27"/>
                <a:gd name="T37" fmla="*/ 10 h 31"/>
                <a:gd name="T38" fmla="*/ 1 w 27"/>
                <a:gd name="T39" fmla="*/ 7 h 31"/>
                <a:gd name="T40" fmla="*/ 1 w 27"/>
                <a:gd name="T41" fmla="*/ 4 h 31"/>
                <a:gd name="T42" fmla="*/ 3 w 27"/>
                <a:gd name="T43" fmla="*/ 3 h 31"/>
                <a:gd name="T44" fmla="*/ 4 w 27"/>
                <a:gd name="T45" fmla="*/ 0 h 31"/>
                <a:gd name="T46" fmla="*/ 5 w 27"/>
                <a:gd name="T47" fmla="*/ 0 h 31"/>
                <a:gd name="T48" fmla="*/ 6 w 27"/>
                <a:gd name="T49" fmla="*/ 0 h 31"/>
                <a:gd name="T50" fmla="*/ 6 w 27"/>
                <a:gd name="T51" fmla="*/ 0 h 31"/>
                <a:gd name="T52" fmla="*/ 6 w 27"/>
                <a:gd name="T53" fmla="*/ 0 h 31"/>
                <a:gd name="T54" fmla="*/ 6 w 27"/>
                <a:gd name="T55" fmla="*/ 1 h 31"/>
                <a:gd name="T56" fmla="*/ 6 w 27"/>
                <a:gd name="T57" fmla="*/ 3 h 31"/>
                <a:gd name="T58" fmla="*/ 6 w 27"/>
                <a:gd name="T59" fmla="*/ 4 h 31"/>
                <a:gd name="T60" fmla="*/ 6 w 27"/>
                <a:gd name="T61" fmla="*/ 6 h 31"/>
                <a:gd name="T62" fmla="*/ 6 w 27"/>
                <a:gd name="T63" fmla="*/ 7 h 31"/>
                <a:gd name="T64" fmla="*/ 6 w 27"/>
                <a:gd name="T65" fmla="*/ 8 h 31"/>
                <a:gd name="T66" fmla="*/ 6 w 27"/>
                <a:gd name="T67" fmla="*/ 13 h 31"/>
                <a:gd name="T68" fmla="*/ 6 w 27"/>
                <a:gd name="T69" fmla="*/ 15 h 31"/>
                <a:gd name="T70" fmla="*/ 6 w 27"/>
                <a:gd name="T71" fmla="*/ 15 h 31"/>
                <a:gd name="T72" fmla="*/ 6 w 27"/>
                <a:gd name="T73" fmla="*/ 15 h 31"/>
                <a:gd name="T74" fmla="*/ 6 w 27"/>
                <a:gd name="T75" fmla="*/ 15 h 31"/>
                <a:gd name="T76" fmla="*/ 6 w 27"/>
                <a:gd name="T77" fmla="*/ 15 h 31"/>
                <a:gd name="T78" fmla="*/ 6 w 27"/>
                <a:gd name="T79" fmla="*/ 15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1"/>
                <a:gd name="T122" fmla="*/ 27 w 27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1">
                  <a:moveTo>
                    <a:pt x="25" y="27"/>
                  </a:moveTo>
                  <a:lnTo>
                    <a:pt x="25" y="27"/>
                  </a:lnTo>
                  <a:lnTo>
                    <a:pt x="25" y="28"/>
                  </a:lnTo>
                  <a:lnTo>
                    <a:pt x="24" y="30"/>
                  </a:lnTo>
                  <a:lnTo>
                    <a:pt x="22" y="30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8" y="31"/>
                  </a:lnTo>
                  <a:lnTo>
                    <a:pt x="17" y="31"/>
                  </a:lnTo>
                  <a:lnTo>
                    <a:pt x="15" y="31"/>
                  </a:lnTo>
                  <a:lnTo>
                    <a:pt x="14" y="30"/>
                  </a:lnTo>
                  <a:lnTo>
                    <a:pt x="12" y="30"/>
                  </a:lnTo>
                  <a:lnTo>
                    <a:pt x="11" y="28"/>
                  </a:lnTo>
                  <a:lnTo>
                    <a:pt x="10" y="28"/>
                  </a:lnTo>
                  <a:lnTo>
                    <a:pt x="10" y="27"/>
                  </a:lnTo>
                  <a:lnTo>
                    <a:pt x="8" y="27"/>
                  </a:lnTo>
                  <a:lnTo>
                    <a:pt x="8" y="25"/>
                  </a:lnTo>
                  <a:lnTo>
                    <a:pt x="7" y="24"/>
                  </a:lnTo>
                  <a:lnTo>
                    <a:pt x="5" y="23"/>
                  </a:lnTo>
                  <a:lnTo>
                    <a:pt x="5" y="21"/>
                  </a:lnTo>
                  <a:lnTo>
                    <a:pt x="4" y="20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1" y="15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4"/>
                  </a:lnTo>
                  <a:lnTo>
                    <a:pt x="1" y="3"/>
                  </a:lnTo>
                  <a:lnTo>
                    <a:pt x="3" y="3"/>
                  </a:lnTo>
                  <a:lnTo>
                    <a:pt x="3" y="1"/>
                  </a:lnTo>
                  <a:lnTo>
                    <a:pt x="4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5" y="3"/>
                  </a:lnTo>
                  <a:lnTo>
                    <a:pt x="17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8" y="6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21" y="7"/>
                  </a:lnTo>
                  <a:lnTo>
                    <a:pt x="21" y="8"/>
                  </a:lnTo>
                  <a:lnTo>
                    <a:pt x="22" y="10"/>
                  </a:lnTo>
                  <a:lnTo>
                    <a:pt x="24" y="13"/>
                  </a:lnTo>
                  <a:lnTo>
                    <a:pt x="24" y="14"/>
                  </a:lnTo>
                  <a:lnTo>
                    <a:pt x="25" y="15"/>
                  </a:lnTo>
                  <a:lnTo>
                    <a:pt x="25" y="18"/>
                  </a:lnTo>
                  <a:lnTo>
                    <a:pt x="27" y="20"/>
                  </a:lnTo>
                  <a:lnTo>
                    <a:pt x="27" y="23"/>
                  </a:lnTo>
                  <a:lnTo>
                    <a:pt x="27" y="24"/>
                  </a:lnTo>
                  <a:lnTo>
                    <a:pt x="25" y="24"/>
                  </a:lnTo>
                  <a:lnTo>
                    <a:pt x="25" y="25"/>
                  </a:lnTo>
                  <a:lnTo>
                    <a:pt x="25" y="27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8" name="Freeform 23"/>
            <p:cNvSpPr>
              <a:spLocks/>
            </p:cNvSpPr>
            <p:nvPr/>
          </p:nvSpPr>
          <p:spPr bwMode="auto">
            <a:xfrm>
              <a:off x="3834" y="538"/>
              <a:ext cx="25" cy="30"/>
            </a:xfrm>
            <a:custGeom>
              <a:avLst/>
              <a:gdLst>
                <a:gd name="T0" fmla="*/ 6 w 27"/>
                <a:gd name="T1" fmla="*/ 8 h 32"/>
                <a:gd name="T2" fmla="*/ 6 w 27"/>
                <a:gd name="T3" fmla="*/ 8 h 32"/>
                <a:gd name="T4" fmla="*/ 6 w 27"/>
                <a:gd name="T5" fmla="*/ 8 h 32"/>
                <a:gd name="T6" fmla="*/ 6 w 27"/>
                <a:gd name="T7" fmla="*/ 8 h 32"/>
                <a:gd name="T8" fmla="*/ 6 w 27"/>
                <a:gd name="T9" fmla="*/ 8 h 32"/>
                <a:gd name="T10" fmla="*/ 6 w 27"/>
                <a:gd name="T11" fmla="*/ 8 h 32"/>
                <a:gd name="T12" fmla="*/ 6 w 27"/>
                <a:gd name="T13" fmla="*/ 8 h 32"/>
                <a:gd name="T14" fmla="*/ 6 w 27"/>
                <a:gd name="T15" fmla="*/ 8 h 32"/>
                <a:gd name="T16" fmla="*/ 6 w 27"/>
                <a:gd name="T17" fmla="*/ 8 h 32"/>
                <a:gd name="T18" fmla="*/ 6 w 27"/>
                <a:gd name="T19" fmla="*/ 8 h 32"/>
                <a:gd name="T20" fmla="*/ 6 w 27"/>
                <a:gd name="T21" fmla="*/ 8 h 32"/>
                <a:gd name="T22" fmla="*/ 6 w 27"/>
                <a:gd name="T23" fmla="*/ 8 h 32"/>
                <a:gd name="T24" fmla="*/ 6 w 27"/>
                <a:gd name="T25" fmla="*/ 8 h 32"/>
                <a:gd name="T26" fmla="*/ 6 w 27"/>
                <a:gd name="T27" fmla="*/ 8 h 32"/>
                <a:gd name="T28" fmla="*/ 5 w 27"/>
                <a:gd name="T29" fmla="*/ 8 h 32"/>
                <a:gd name="T30" fmla="*/ 4 w 27"/>
                <a:gd name="T31" fmla="*/ 8 h 32"/>
                <a:gd name="T32" fmla="*/ 3 w 27"/>
                <a:gd name="T33" fmla="*/ 8 h 32"/>
                <a:gd name="T34" fmla="*/ 1 w 27"/>
                <a:gd name="T35" fmla="*/ 8 h 32"/>
                <a:gd name="T36" fmla="*/ 1 w 27"/>
                <a:gd name="T37" fmla="*/ 8 h 32"/>
                <a:gd name="T38" fmla="*/ 1 w 27"/>
                <a:gd name="T39" fmla="*/ 8 h 32"/>
                <a:gd name="T40" fmla="*/ 1 w 27"/>
                <a:gd name="T41" fmla="*/ 6 h 32"/>
                <a:gd name="T42" fmla="*/ 3 w 27"/>
                <a:gd name="T43" fmla="*/ 3 h 32"/>
                <a:gd name="T44" fmla="*/ 4 w 27"/>
                <a:gd name="T45" fmla="*/ 1 h 32"/>
                <a:gd name="T46" fmla="*/ 5 w 27"/>
                <a:gd name="T47" fmla="*/ 0 h 32"/>
                <a:gd name="T48" fmla="*/ 6 w 27"/>
                <a:gd name="T49" fmla="*/ 0 h 32"/>
                <a:gd name="T50" fmla="*/ 6 w 27"/>
                <a:gd name="T51" fmla="*/ 0 h 32"/>
                <a:gd name="T52" fmla="*/ 6 w 27"/>
                <a:gd name="T53" fmla="*/ 1 h 32"/>
                <a:gd name="T54" fmla="*/ 6 w 27"/>
                <a:gd name="T55" fmla="*/ 1 h 32"/>
                <a:gd name="T56" fmla="*/ 6 w 27"/>
                <a:gd name="T57" fmla="*/ 3 h 32"/>
                <a:gd name="T58" fmla="*/ 6 w 27"/>
                <a:gd name="T59" fmla="*/ 4 h 32"/>
                <a:gd name="T60" fmla="*/ 6 w 27"/>
                <a:gd name="T61" fmla="*/ 6 h 32"/>
                <a:gd name="T62" fmla="*/ 6 w 27"/>
                <a:gd name="T63" fmla="*/ 7 h 32"/>
                <a:gd name="T64" fmla="*/ 6 w 27"/>
                <a:gd name="T65" fmla="*/ 8 h 32"/>
                <a:gd name="T66" fmla="*/ 6 w 27"/>
                <a:gd name="T67" fmla="*/ 8 h 32"/>
                <a:gd name="T68" fmla="*/ 6 w 27"/>
                <a:gd name="T69" fmla="*/ 8 h 32"/>
                <a:gd name="T70" fmla="*/ 6 w 27"/>
                <a:gd name="T71" fmla="*/ 8 h 32"/>
                <a:gd name="T72" fmla="*/ 6 w 27"/>
                <a:gd name="T73" fmla="*/ 8 h 32"/>
                <a:gd name="T74" fmla="*/ 6 w 27"/>
                <a:gd name="T75" fmla="*/ 8 h 32"/>
                <a:gd name="T76" fmla="*/ 6 w 27"/>
                <a:gd name="T77" fmla="*/ 8 h 32"/>
                <a:gd name="T78" fmla="*/ 6 w 27"/>
                <a:gd name="T79" fmla="*/ 8 h 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2"/>
                <a:gd name="T122" fmla="*/ 27 w 27"/>
                <a:gd name="T123" fmla="*/ 32 h 3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2">
                  <a:moveTo>
                    <a:pt x="25" y="27"/>
                  </a:moveTo>
                  <a:lnTo>
                    <a:pt x="25" y="28"/>
                  </a:lnTo>
                  <a:lnTo>
                    <a:pt x="25" y="30"/>
                  </a:lnTo>
                  <a:lnTo>
                    <a:pt x="24" y="30"/>
                  </a:lnTo>
                  <a:lnTo>
                    <a:pt x="24" y="31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21" y="32"/>
                  </a:lnTo>
                  <a:lnTo>
                    <a:pt x="19" y="32"/>
                  </a:lnTo>
                  <a:lnTo>
                    <a:pt x="18" y="32"/>
                  </a:lnTo>
                  <a:lnTo>
                    <a:pt x="17" y="32"/>
                  </a:lnTo>
                  <a:lnTo>
                    <a:pt x="15" y="32"/>
                  </a:lnTo>
                  <a:lnTo>
                    <a:pt x="15" y="31"/>
                  </a:lnTo>
                  <a:lnTo>
                    <a:pt x="14" y="31"/>
                  </a:lnTo>
                  <a:lnTo>
                    <a:pt x="12" y="31"/>
                  </a:lnTo>
                  <a:lnTo>
                    <a:pt x="12" y="30"/>
                  </a:lnTo>
                  <a:lnTo>
                    <a:pt x="11" y="30"/>
                  </a:lnTo>
                  <a:lnTo>
                    <a:pt x="10" y="28"/>
                  </a:lnTo>
                  <a:lnTo>
                    <a:pt x="8" y="27"/>
                  </a:lnTo>
                  <a:lnTo>
                    <a:pt x="8" y="25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5" y="24"/>
                  </a:lnTo>
                  <a:lnTo>
                    <a:pt x="5" y="23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0" y="10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4"/>
                  </a:lnTo>
                  <a:lnTo>
                    <a:pt x="3" y="3"/>
                  </a:lnTo>
                  <a:lnTo>
                    <a:pt x="4" y="1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2" y="1"/>
                  </a:lnTo>
                  <a:lnTo>
                    <a:pt x="14" y="1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6"/>
                  </a:lnTo>
                  <a:lnTo>
                    <a:pt x="19" y="7"/>
                  </a:lnTo>
                  <a:lnTo>
                    <a:pt x="21" y="8"/>
                  </a:lnTo>
                  <a:lnTo>
                    <a:pt x="21" y="10"/>
                  </a:lnTo>
                  <a:lnTo>
                    <a:pt x="22" y="11"/>
                  </a:lnTo>
                  <a:lnTo>
                    <a:pt x="24" y="13"/>
                  </a:lnTo>
                  <a:lnTo>
                    <a:pt x="24" y="15"/>
                  </a:lnTo>
                  <a:lnTo>
                    <a:pt x="25" y="17"/>
                  </a:lnTo>
                  <a:lnTo>
                    <a:pt x="25" y="18"/>
                  </a:lnTo>
                  <a:lnTo>
                    <a:pt x="27" y="21"/>
                  </a:lnTo>
                  <a:lnTo>
                    <a:pt x="27" y="23"/>
                  </a:lnTo>
                  <a:lnTo>
                    <a:pt x="27" y="24"/>
                  </a:lnTo>
                  <a:lnTo>
                    <a:pt x="25" y="25"/>
                  </a:lnTo>
                  <a:lnTo>
                    <a:pt x="25" y="27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9" name="Freeform 24"/>
            <p:cNvSpPr>
              <a:spLocks/>
            </p:cNvSpPr>
            <p:nvPr/>
          </p:nvSpPr>
          <p:spPr bwMode="auto">
            <a:xfrm>
              <a:off x="3834" y="568"/>
              <a:ext cx="25" cy="30"/>
            </a:xfrm>
            <a:custGeom>
              <a:avLst/>
              <a:gdLst>
                <a:gd name="T0" fmla="*/ 6 w 27"/>
                <a:gd name="T1" fmla="*/ 15 h 31"/>
                <a:gd name="T2" fmla="*/ 6 w 27"/>
                <a:gd name="T3" fmla="*/ 15 h 31"/>
                <a:gd name="T4" fmla="*/ 6 w 27"/>
                <a:gd name="T5" fmla="*/ 15 h 31"/>
                <a:gd name="T6" fmla="*/ 6 w 27"/>
                <a:gd name="T7" fmla="*/ 15 h 31"/>
                <a:gd name="T8" fmla="*/ 6 w 27"/>
                <a:gd name="T9" fmla="*/ 15 h 31"/>
                <a:gd name="T10" fmla="*/ 6 w 27"/>
                <a:gd name="T11" fmla="*/ 15 h 31"/>
                <a:gd name="T12" fmla="*/ 6 w 27"/>
                <a:gd name="T13" fmla="*/ 15 h 31"/>
                <a:gd name="T14" fmla="*/ 6 w 27"/>
                <a:gd name="T15" fmla="*/ 15 h 31"/>
                <a:gd name="T16" fmla="*/ 6 w 27"/>
                <a:gd name="T17" fmla="*/ 15 h 31"/>
                <a:gd name="T18" fmla="*/ 6 w 27"/>
                <a:gd name="T19" fmla="*/ 15 h 31"/>
                <a:gd name="T20" fmla="*/ 6 w 27"/>
                <a:gd name="T21" fmla="*/ 15 h 31"/>
                <a:gd name="T22" fmla="*/ 6 w 27"/>
                <a:gd name="T23" fmla="*/ 15 h 31"/>
                <a:gd name="T24" fmla="*/ 6 w 27"/>
                <a:gd name="T25" fmla="*/ 15 h 31"/>
                <a:gd name="T26" fmla="*/ 6 w 27"/>
                <a:gd name="T27" fmla="*/ 15 h 31"/>
                <a:gd name="T28" fmla="*/ 5 w 27"/>
                <a:gd name="T29" fmla="*/ 15 h 31"/>
                <a:gd name="T30" fmla="*/ 4 w 27"/>
                <a:gd name="T31" fmla="*/ 15 h 31"/>
                <a:gd name="T32" fmla="*/ 3 w 27"/>
                <a:gd name="T33" fmla="*/ 15 h 31"/>
                <a:gd name="T34" fmla="*/ 1 w 27"/>
                <a:gd name="T35" fmla="*/ 14 h 31"/>
                <a:gd name="T36" fmla="*/ 1 w 27"/>
                <a:gd name="T37" fmla="*/ 12 h 31"/>
                <a:gd name="T38" fmla="*/ 1 w 27"/>
                <a:gd name="T39" fmla="*/ 7 h 31"/>
                <a:gd name="T40" fmla="*/ 1 w 27"/>
                <a:gd name="T41" fmla="*/ 5 h 31"/>
                <a:gd name="T42" fmla="*/ 3 w 27"/>
                <a:gd name="T43" fmla="*/ 3 h 31"/>
                <a:gd name="T44" fmla="*/ 4 w 27"/>
                <a:gd name="T45" fmla="*/ 2 h 31"/>
                <a:gd name="T46" fmla="*/ 5 w 27"/>
                <a:gd name="T47" fmla="*/ 0 h 31"/>
                <a:gd name="T48" fmla="*/ 6 w 27"/>
                <a:gd name="T49" fmla="*/ 0 h 31"/>
                <a:gd name="T50" fmla="*/ 6 w 27"/>
                <a:gd name="T51" fmla="*/ 0 h 31"/>
                <a:gd name="T52" fmla="*/ 6 w 27"/>
                <a:gd name="T53" fmla="*/ 0 h 31"/>
                <a:gd name="T54" fmla="*/ 6 w 27"/>
                <a:gd name="T55" fmla="*/ 2 h 31"/>
                <a:gd name="T56" fmla="*/ 6 w 27"/>
                <a:gd name="T57" fmla="*/ 3 h 31"/>
                <a:gd name="T58" fmla="*/ 6 w 27"/>
                <a:gd name="T59" fmla="*/ 5 h 31"/>
                <a:gd name="T60" fmla="*/ 6 w 27"/>
                <a:gd name="T61" fmla="*/ 6 h 31"/>
                <a:gd name="T62" fmla="*/ 6 w 27"/>
                <a:gd name="T63" fmla="*/ 7 h 31"/>
                <a:gd name="T64" fmla="*/ 6 w 27"/>
                <a:gd name="T65" fmla="*/ 9 h 31"/>
                <a:gd name="T66" fmla="*/ 6 w 27"/>
                <a:gd name="T67" fmla="*/ 10 h 31"/>
                <a:gd name="T68" fmla="*/ 6 w 27"/>
                <a:gd name="T69" fmla="*/ 12 h 31"/>
                <a:gd name="T70" fmla="*/ 6 w 27"/>
                <a:gd name="T71" fmla="*/ 14 h 31"/>
                <a:gd name="T72" fmla="*/ 6 w 27"/>
                <a:gd name="T73" fmla="*/ 15 h 31"/>
                <a:gd name="T74" fmla="*/ 6 w 27"/>
                <a:gd name="T75" fmla="*/ 15 h 31"/>
                <a:gd name="T76" fmla="*/ 6 w 27"/>
                <a:gd name="T77" fmla="*/ 15 h 31"/>
                <a:gd name="T78" fmla="*/ 6 w 27"/>
                <a:gd name="T79" fmla="*/ 15 h 31"/>
                <a:gd name="T80" fmla="*/ 6 w 27"/>
                <a:gd name="T81" fmla="*/ 15 h 31"/>
                <a:gd name="T82" fmla="*/ 6 w 27"/>
                <a:gd name="T83" fmla="*/ 15 h 31"/>
                <a:gd name="T84" fmla="*/ 6 w 27"/>
                <a:gd name="T85" fmla="*/ 15 h 31"/>
                <a:gd name="T86" fmla="*/ 6 w 27"/>
                <a:gd name="T87" fmla="*/ 15 h 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7"/>
                <a:gd name="T133" fmla="*/ 0 h 31"/>
                <a:gd name="T134" fmla="*/ 27 w 27"/>
                <a:gd name="T135" fmla="*/ 31 h 3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7" h="31">
                  <a:moveTo>
                    <a:pt x="25" y="27"/>
                  </a:moveTo>
                  <a:lnTo>
                    <a:pt x="25" y="29"/>
                  </a:lnTo>
                  <a:lnTo>
                    <a:pt x="24" y="30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8" y="31"/>
                  </a:lnTo>
                  <a:lnTo>
                    <a:pt x="17" y="31"/>
                  </a:lnTo>
                  <a:lnTo>
                    <a:pt x="15" y="31"/>
                  </a:lnTo>
                  <a:lnTo>
                    <a:pt x="14" y="31"/>
                  </a:lnTo>
                  <a:lnTo>
                    <a:pt x="12" y="30"/>
                  </a:lnTo>
                  <a:lnTo>
                    <a:pt x="11" y="30"/>
                  </a:lnTo>
                  <a:lnTo>
                    <a:pt x="11" y="29"/>
                  </a:lnTo>
                  <a:lnTo>
                    <a:pt x="10" y="29"/>
                  </a:lnTo>
                  <a:lnTo>
                    <a:pt x="10" y="27"/>
                  </a:lnTo>
                  <a:lnTo>
                    <a:pt x="8" y="27"/>
                  </a:lnTo>
                  <a:lnTo>
                    <a:pt x="8" y="26"/>
                  </a:lnTo>
                  <a:lnTo>
                    <a:pt x="7" y="24"/>
                  </a:lnTo>
                  <a:lnTo>
                    <a:pt x="5" y="23"/>
                  </a:lnTo>
                  <a:lnTo>
                    <a:pt x="4" y="22"/>
                  </a:lnTo>
                  <a:lnTo>
                    <a:pt x="4" y="20"/>
                  </a:lnTo>
                  <a:lnTo>
                    <a:pt x="3" y="19"/>
                  </a:lnTo>
                  <a:lnTo>
                    <a:pt x="3" y="17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0" y="9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5"/>
                  </a:lnTo>
                  <a:lnTo>
                    <a:pt x="3" y="3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5" y="2"/>
                  </a:lnTo>
                  <a:lnTo>
                    <a:pt x="15" y="3"/>
                  </a:lnTo>
                  <a:lnTo>
                    <a:pt x="17" y="5"/>
                  </a:lnTo>
                  <a:lnTo>
                    <a:pt x="18" y="6"/>
                  </a:lnTo>
                  <a:lnTo>
                    <a:pt x="19" y="7"/>
                  </a:lnTo>
                  <a:lnTo>
                    <a:pt x="21" y="9"/>
                  </a:lnTo>
                  <a:lnTo>
                    <a:pt x="21" y="10"/>
                  </a:lnTo>
                  <a:lnTo>
                    <a:pt x="22" y="10"/>
                  </a:lnTo>
                  <a:lnTo>
                    <a:pt x="22" y="12"/>
                  </a:lnTo>
                  <a:lnTo>
                    <a:pt x="24" y="13"/>
                  </a:lnTo>
                  <a:lnTo>
                    <a:pt x="24" y="14"/>
                  </a:lnTo>
                  <a:lnTo>
                    <a:pt x="25" y="16"/>
                  </a:lnTo>
                  <a:lnTo>
                    <a:pt x="25" y="17"/>
                  </a:lnTo>
                  <a:lnTo>
                    <a:pt x="25" y="19"/>
                  </a:lnTo>
                  <a:lnTo>
                    <a:pt x="27" y="20"/>
                  </a:lnTo>
                  <a:lnTo>
                    <a:pt x="27" y="22"/>
                  </a:lnTo>
                  <a:lnTo>
                    <a:pt x="27" y="23"/>
                  </a:lnTo>
                  <a:lnTo>
                    <a:pt x="27" y="24"/>
                  </a:lnTo>
                  <a:lnTo>
                    <a:pt x="25" y="24"/>
                  </a:lnTo>
                  <a:lnTo>
                    <a:pt x="25" y="26"/>
                  </a:lnTo>
                  <a:lnTo>
                    <a:pt x="25" y="27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0" name="Freeform 25"/>
            <p:cNvSpPr>
              <a:spLocks/>
            </p:cNvSpPr>
            <p:nvPr/>
          </p:nvSpPr>
          <p:spPr bwMode="auto">
            <a:xfrm>
              <a:off x="3834" y="598"/>
              <a:ext cx="25" cy="31"/>
            </a:xfrm>
            <a:custGeom>
              <a:avLst/>
              <a:gdLst>
                <a:gd name="T0" fmla="*/ 6 w 27"/>
                <a:gd name="T1" fmla="*/ 8 h 33"/>
                <a:gd name="T2" fmla="*/ 6 w 27"/>
                <a:gd name="T3" fmla="*/ 8 h 33"/>
                <a:gd name="T4" fmla="*/ 6 w 27"/>
                <a:gd name="T5" fmla="*/ 8 h 33"/>
                <a:gd name="T6" fmla="*/ 6 w 27"/>
                <a:gd name="T7" fmla="*/ 8 h 33"/>
                <a:gd name="T8" fmla="*/ 6 w 27"/>
                <a:gd name="T9" fmla="*/ 8 h 33"/>
                <a:gd name="T10" fmla="*/ 6 w 27"/>
                <a:gd name="T11" fmla="*/ 8 h 33"/>
                <a:gd name="T12" fmla="*/ 6 w 27"/>
                <a:gd name="T13" fmla="*/ 8 h 33"/>
                <a:gd name="T14" fmla="*/ 6 w 27"/>
                <a:gd name="T15" fmla="*/ 8 h 33"/>
                <a:gd name="T16" fmla="*/ 6 w 27"/>
                <a:gd name="T17" fmla="*/ 8 h 33"/>
                <a:gd name="T18" fmla="*/ 6 w 27"/>
                <a:gd name="T19" fmla="*/ 8 h 33"/>
                <a:gd name="T20" fmla="*/ 6 w 27"/>
                <a:gd name="T21" fmla="*/ 8 h 33"/>
                <a:gd name="T22" fmla="*/ 6 w 27"/>
                <a:gd name="T23" fmla="*/ 8 h 33"/>
                <a:gd name="T24" fmla="*/ 6 w 27"/>
                <a:gd name="T25" fmla="*/ 8 h 33"/>
                <a:gd name="T26" fmla="*/ 6 w 27"/>
                <a:gd name="T27" fmla="*/ 8 h 33"/>
                <a:gd name="T28" fmla="*/ 5 w 27"/>
                <a:gd name="T29" fmla="*/ 8 h 33"/>
                <a:gd name="T30" fmla="*/ 4 w 27"/>
                <a:gd name="T31" fmla="*/ 8 h 33"/>
                <a:gd name="T32" fmla="*/ 3 w 27"/>
                <a:gd name="T33" fmla="*/ 8 h 33"/>
                <a:gd name="T34" fmla="*/ 1 w 27"/>
                <a:gd name="T35" fmla="*/ 8 h 33"/>
                <a:gd name="T36" fmla="*/ 1 w 27"/>
                <a:gd name="T37" fmla="*/ 8 h 33"/>
                <a:gd name="T38" fmla="*/ 1 w 27"/>
                <a:gd name="T39" fmla="*/ 8 h 33"/>
                <a:gd name="T40" fmla="*/ 1 w 27"/>
                <a:gd name="T41" fmla="*/ 6 h 33"/>
                <a:gd name="T42" fmla="*/ 3 w 27"/>
                <a:gd name="T43" fmla="*/ 3 h 33"/>
                <a:gd name="T44" fmla="*/ 4 w 27"/>
                <a:gd name="T45" fmla="*/ 2 h 33"/>
                <a:gd name="T46" fmla="*/ 5 w 27"/>
                <a:gd name="T47" fmla="*/ 2 h 33"/>
                <a:gd name="T48" fmla="*/ 6 w 27"/>
                <a:gd name="T49" fmla="*/ 0 h 33"/>
                <a:gd name="T50" fmla="*/ 6 w 27"/>
                <a:gd name="T51" fmla="*/ 2 h 33"/>
                <a:gd name="T52" fmla="*/ 6 w 27"/>
                <a:gd name="T53" fmla="*/ 2 h 33"/>
                <a:gd name="T54" fmla="*/ 6 w 27"/>
                <a:gd name="T55" fmla="*/ 3 h 33"/>
                <a:gd name="T56" fmla="*/ 6 w 27"/>
                <a:gd name="T57" fmla="*/ 5 h 33"/>
                <a:gd name="T58" fmla="*/ 6 w 27"/>
                <a:gd name="T59" fmla="*/ 6 h 33"/>
                <a:gd name="T60" fmla="*/ 6 w 27"/>
                <a:gd name="T61" fmla="*/ 7 h 33"/>
                <a:gd name="T62" fmla="*/ 6 w 27"/>
                <a:gd name="T63" fmla="*/ 8 h 33"/>
                <a:gd name="T64" fmla="*/ 6 w 27"/>
                <a:gd name="T65" fmla="*/ 8 h 33"/>
                <a:gd name="T66" fmla="*/ 6 w 27"/>
                <a:gd name="T67" fmla="*/ 8 h 33"/>
                <a:gd name="T68" fmla="*/ 6 w 27"/>
                <a:gd name="T69" fmla="*/ 8 h 33"/>
                <a:gd name="T70" fmla="*/ 6 w 27"/>
                <a:gd name="T71" fmla="*/ 8 h 33"/>
                <a:gd name="T72" fmla="*/ 6 w 27"/>
                <a:gd name="T73" fmla="*/ 8 h 33"/>
                <a:gd name="T74" fmla="*/ 6 w 27"/>
                <a:gd name="T75" fmla="*/ 8 h 33"/>
                <a:gd name="T76" fmla="*/ 6 w 27"/>
                <a:gd name="T77" fmla="*/ 8 h 33"/>
                <a:gd name="T78" fmla="*/ 6 w 27"/>
                <a:gd name="T79" fmla="*/ 8 h 3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3"/>
                <a:gd name="T122" fmla="*/ 27 w 27"/>
                <a:gd name="T123" fmla="*/ 33 h 3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3">
                  <a:moveTo>
                    <a:pt x="25" y="29"/>
                  </a:moveTo>
                  <a:lnTo>
                    <a:pt x="25" y="29"/>
                  </a:lnTo>
                  <a:lnTo>
                    <a:pt x="25" y="30"/>
                  </a:lnTo>
                  <a:lnTo>
                    <a:pt x="24" y="30"/>
                  </a:lnTo>
                  <a:lnTo>
                    <a:pt x="24" y="31"/>
                  </a:lnTo>
                  <a:lnTo>
                    <a:pt x="22" y="31"/>
                  </a:lnTo>
                  <a:lnTo>
                    <a:pt x="21" y="33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7" y="33"/>
                  </a:lnTo>
                  <a:lnTo>
                    <a:pt x="15" y="33"/>
                  </a:lnTo>
                  <a:lnTo>
                    <a:pt x="14" y="31"/>
                  </a:lnTo>
                  <a:lnTo>
                    <a:pt x="12" y="31"/>
                  </a:lnTo>
                  <a:lnTo>
                    <a:pt x="11" y="30"/>
                  </a:lnTo>
                  <a:lnTo>
                    <a:pt x="10" y="29"/>
                  </a:lnTo>
                  <a:lnTo>
                    <a:pt x="8" y="29"/>
                  </a:lnTo>
                  <a:lnTo>
                    <a:pt x="8" y="27"/>
                  </a:lnTo>
                  <a:lnTo>
                    <a:pt x="7" y="26"/>
                  </a:lnTo>
                  <a:lnTo>
                    <a:pt x="5" y="24"/>
                  </a:lnTo>
                  <a:lnTo>
                    <a:pt x="5" y="23"/>
                  </a:lnTo>
                  <a:lnTo>
                    <a:pt x="4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1" y="9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5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7" y="2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7" y="5"/>
                  </a:lnTo>
                  <a:lnTo>
                    <a:pt x="17" y="6"/>
                  </a:lnTo>
                  <a:lnTo>
                    <a:pt x="18" y="6"/>
                  </a:lnTo>
                  <a:lnTo>
                    <a:pt x="18" y="7"/>
                  </a:lnTo>
                  <a:lnTo>
                    <a:pt x="19" y="7"/>
                  </a:lnTo>
                  <a:lnTo>
                    <a:pt x="19" y="9"/>
                  </a:lnTo>
                  <a:lnTo>
                    <a:pt x="21" y="9"/>
                  </a:lnTo>
                  <a:lnTo>
                    <a:pt x="21" y="10"/>
                  </a:lnTo>
                  <a:lnTo>
                    <a:pt x="22" y="12"/>
                  </a:lnTo>
                  <a:lnTo>
                    <a:pt x="24" y="14"/>
                  </a:lnTo>
                  <a:lnTo>
                    <a:pt x="24" y="16"/>
                  </a:lnTo>
                  <a:lnTo>
                    <a:pt x="25" y="17"/>
                  </a:lnTo>
                  <a:lnTo>
                    <a:pt x="25" y="20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27" y="26"/>
                  </a:lnTo>
                  <a:lnTo>
                    <a:pt x="25" y="26"/>
                  </a:lnTo>
                  <a:lnTo>
                    <a:pt x="25" y="27"/>
                  </a:lnTo>
                  <a:lnTo>
                    <a:pt x="25" y="29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1" name="Freeform 26"/>
            <p:cNvSpPr>
              <a:spLocks/>
            </p:cNvSpPr>
            <p:nvPr/>
          </p:nvSpPr>
          <p:spPr bwMode="auto">
            <a:xfrm>
              <a:off x="3834" y="629"/>
              <a:ext cx="25" cy="30"/>
            </a:xfrm>
            <a:custGeom>
              <a:avLst/>
              <a:gdLst>
                <a:gd name="T0" fmla="*/ 6 w 27"/>
                <a:gd name="T1" fmla="*/ 8 h 32"/>
                <a:gd name="T2" fmla="*/ 6 w 27"/>
                <a:gd name="T3" fmla="*/ 8 h 32"/>
                <a:gd name="T4" fmla="*/ 6 w 27"/>
                <a:gd name="T5" fmla="*/ 8 h 32"/>
                <a:gd name="T6" fmla="*/ 6 w 27"/>
                <a:gd name="T7" fmla="*/ 8 h 32"/>
                <a:gd name="T8" fmla="*/ 6 w 27"/>
                <a:gd name="T9" fmla="*/ 8 h 32"/>
                <a:gd name="T10" fmla="*/ 6 w 27"/>
                <a:gd name="T11" fmla="*/ 8 h 32"/>
                <a:gd name="T12" fmla="*/ 6 w 27"/>
                <a:gd name="T13" fmla="*/ 8 h 32"/>
                <a:gd name="T14" fmla="*/ 6 w 27"/>
                <a:gd name="T15" fmla="*/ 8 h 32"/>
                <a:gd name="T16" fmla="*/ 6 w 27"/>
                <a:gd name="T17" fmla="*/ 8 h 32"/>
                <a:gd name="T18" fmla="*/ 6 w 27"/>
                <a:gd name="T19" fmla="*/ 8 h 32"/>
                <a:gd name="T20" fmla="*/ 6 w 27"/>
                <a:gd name="T21" fmla="*/ 8 h 32"/>
                <a:gd name="T22" fmla="*/ 6 w 27"/>
                <a:gd name="T23" fmla="*/ 8 h 32"/>
                <a:gd name="T24" fmla="*/ 6 w 27"/>
                <a:gd name="T25" fmla="*/ 8 h 32"/>
                <a:gd name="T26" fmla="*/ 6 w 27"/>
                <a:gd name="T27" fmla="*/ 8 h 32"/>
                <a:gd name="T28" fmla="*/ 5 w 27"/>
                <a:gd name="T29" fmla="*/ 8 h 32"/>
                <a:gd name="T30" fmla="*/ 4 w 27"/>
                <a:gd name="T31" fmla="*/ 8 h 32"/>
                <a:gd name="T32" fmla="*/ 3 w 27"/>
                <a:gd name="T33" fmla="*/ 8 h 32"/>
                <a:gd name="T34" fmla="*/ 1 w 27"/>
                <a:gd name="T35" fmla="*/ 8 h 32"/>
                <a:gd name="T36" fmla="*/ 1 w 27"/>
                <a:gd name="T37" fmla="*/ 8 h 32"/>
                <a:gd name="T38" fmla="*/ 1 w 27"/>
                <a:gd name="T39" fmla="*/ 8 h 32"/>
                <a:gd name="T40" fmla="*/ 1 w 27"/>
                <a:gd name="T41" fmla="*/ 5 h 32"/>
                <a:gd name="T42" fmla="*/ 3 w 27"/>
                <a:gd name="T43" fmla="*/ 3 h 32"/>
                <a:gd name="T44" fmla="*/ 4 w 27"/>
                <a:gd name="T45" fmla="*/ 1 h 32"/>
                <a:gd name="T46" fmla="*/ 5 w 27"/>
                <a:gd name="T47" fmla="*/ 0 h 32"/>
                <a:gd name="T48" fmla="*/ 6 w 27"/>
                <a:gd name="T49" fmla="*/ 0 h 32"/>
                <a:gd name="T50" fmla="*/ 6 w 27"/>
                <a:gd name="T51" fmla="*/ 0 h 32"/>
                <a:gd name="T52" fmla="*/ 6 w 27"/>
                <a:gd name="T53" fmla="*/ 1 h 32"/>
                <a:gd name="T54" fmla="*/ 6 w 27"/>
                <a:gd name="T55" fmla="*/ 1 h 32"/>
                <a:gd name="T56" fmla="*/ 6 w 27"/>
                <a:gd name="T57" fmla="*/ 3 h 32"/>
                <a:gd name="T58" fmla="*/ 6 w 27"/>
                <a:gd name="T59" fmla="*/ 4 h 32"/>
                <a:gd name="T60" fmla="*/ 6 w 27"/>
                <a:gd name="T61" fmla="*/ 5 h 32"/>
                <a:gd name="T62" fmla="*/ 6 w 27"/>
                <a:gd name="T63" fmla="*/ 7 h 32"/>
                <a:gd name="T64" fmla="*/ 6 w 27"/>
                <a:gd name="T65" fmla="*/ 8 h 32"/>
                <a:gd name="T66" fmla="*/ 6 w 27"/>
                <a:gd name="T67" fmla="*/ 8 h 32"/>
                <a:gd name="T68" fmla="*/ 6 w 27"/>
                <a:gd name="T69" fmla="*/ 8 h 32"/>
                <a:gd name="T70" fmla="*/ 6 w 27"/>
                <a:gd name="T71" fmla="*/ 8 h 32"/>
                <a:gd name="T72" fmla="*/ 6 w 27"/>
                <a:gd name="T73" fmla="*/ 8 h 32"/>
                <a:gd name="T74" fmla="*/ 6 w 27"/>
                <a:gd name="T75" fmla="*/ 8 h 32"/>
                <a:gd name="T76" fmla="*/ 6 w 27"/>
                <a:gd name="T77" fmla="*/ 8 h 32"/>
                <a:gd name="T78" fmla="*/ 6 w 27"/>
                <a:gd name="T79" fmla="*/ 8 h 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2"/>
                <a:gd name="T122" fmla="*/ 27 w 27"/>
                <a:gd name="T123" fmla="*/ 32 h 3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2">
                  <a:moveTo>
                    <a:pt x="25" y="27"/>
                  </a:moveTo>
                  <a:lnTo>
                    <a:pt x="25" y="28"/>
                  </a:lnTo>
                  <a:lnTo>
                    <a:pt x="25" y="29"/>
                  </a:lnTo>
                  <a:lnTo>
                    <a:pt x="24" y="29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21" y="32"/>
                  </a:lnTo>
                  <a:lnTo>
                    <a:pt x="19" y="32"/>
                  </a:lnTo>
                  <a:lnTo>
                    <a:pt x="18" y="32"/>
                  </a:lnTo>
                  <a:lnTo>
                    <a:pt x="17" y="32"/>
                  </a:lnTo>
                  <a:lnTo>
                    <a:pt x="15" y="31"/>
                  </a:lnTo>
                  <a:lnTo>
                    <a:pt x="14" y="31"/>
                  </a:lnTo>
                  <a:lnTo>
                    <a:pt x="12" y="31"/>
                  </a:lnTo>
                  <a:lnTo>
                    <a:pt x="12" y="29"/>
                  </a:lnTo>
                  <a:lnTo>
                    <a:pt x="11" y="29"/>
                  </a:lnTo>
                  <a:lnTo>
                    <a:pt x="11" y="28"/>
                  </a:lnTo>
                  <a:lnTo>
                    <a:pt x="10" y="28"/>
                  </a:lnTo>
                  <a:lnTo>
                    <a:pt x="8" y="27"/>
                  </a:lnTo>
                  <a:lnTo>
                    <a:pt x="8" y="25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5" y="24"/>
                  </a:lnTo>
                  <a:lnTo>
                    <a:pt x="5" y="22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0" y="10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4"/>
                  </a:lnTo>
                  <a:lnTo>
                    <a:pt x="3" y="3"/>
                  </a:lnTo>
                  <a:lnTo>
                    <a:pt x="4" y="1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2" y="1"/>
                  </a:lnTo>
                  <a:lnTo>
                    <a:pt x="14" y="1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5"/>
                  </a:lnTo>
                  <a:lnTo>
                    <a:pt x="19" y="7"/>
                  </a:lnTo>
                  <a:lnTo>
                    <a:pt x="21" y="8"/>
                  </a:lnTo>
                  <a:lnTo>
                    <a:pt x="21" y="10"/>
                  </a:lnTo>
                  <a:lnTo>
                    <a:pt x="22" y="11"/>
                  </a:lnTo>
                  <a:lnTo>
                    <a:pt x="24" y="12"/>
                  </a:lnTo>
                  <a:lnTo>
                    <a:pt x="24" y="14"/>
                  </a:lnTo>
                  <a:lnTo>
                    <a:pt x="25" y="17"/>
                  </a:lnTo>
                  <a:lnTo>
                    <a:pt x="25" y="18"/>
                  </a:lnTo>
                  <a:lnTo>
                    <a:pt x="27" y="21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25" y="25"/>
                  </a:lnTo>
                  <a:lnTo>
                    <a:pt x="25" y="27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2" name="Freeform 27"/>
            <p:cNvSpPr>
              <a:spLocks/>
            </p:cNvSpPr>
            <p:nvPr/>
          </p:nvSpPr>
          <p:spPr bwMode="auto">
            <a:xfrm>
              <a:off x="3834" y="659"/>
              <a:ext cx="25" cy="30"/>
            </a:xfrm>
            <a:custGeom>
              <a:avLst/>
              <a:gdLst>
                <a:gd name="T0" fmla="*/ 6 w 27"/>
                <a:gd name="T1" fmla="*/ 15 h 31"/>
                <a:gd name="T2" fmla="*/ 6 w 27"/>
                <a:gd name="T3" fmla="*/ 15 h 31"/>
                <a:gd name="T4" fmla="*/ 6 w 27"/>
                <a:gd name="T5" fmla="*/ 15 h 31"/>
                <a:gd name="T6" fmla="*/ 6 w 27"/>
                <a:gd name="T7" fmla="*/ 15 h 31"/>
                <a:gd name="T8" fmla="*/ 6 w 27"/>
                <a:gd name="T9" fmla="*/ 15 h 31"/>
                <a:gd name="T10" fmla="*/ 6 w 27"/>
                <a:gd name="T11" fmla="*/ 15 h 31"/>
                <a:gd name="T12" fmla="*/ 6 w 27"/>
                <a:gd name="T13" fmla="*/ 15 h 31"/>
                <a:gd name="T14" fmla="*/ 6 w 27"/>
                <a:gd name="T15" fmla="*/ 15 h 31"/>
                <a:gd name="T16" fmla="*/ 6 w 27"/>
                <a:gd name="T17" fmla="*/ 15 h 31"/>
                <a:gd name="T18" fmla="*/ 6 w 27"/>
                <a:gd name="T19" fmla="*/ 15 h 31"/>
                <a:gd name="T20" fmla="*/ 6 w 27"/>
                <a:gd name="T21" fmla="*/ 15 h 31"/>
                <a:gd name="T22" fmla="*/ 6 w 27"/>
                <a:gd name="T23" fmla="*/ 15 h 31"/>
                <a:gd name="T24" fmla="*/ 6 w 27"/>
                <a:gd name="T25" fmla="*/ 15 h 31"/>
                <a:gd name="T26" fmla="*/ 6 w 27"/>
                <a:gd name="T27" fmla="*/ 15 h 31"/>
                <a:gd name="T28" fmla="*/ 5 w 27"/>
                <a:gd name="T29" fmla="*/ 15 h 31"/>
                <a:gd name="T30" fmla="*/ 4 w 27"/>
                <a:gd name="T31" fmla="*/ 15 h 31"/>
                <a:gd name="T32" fmla="*/ 3 w 27"/>
                <a:gd name="T33" fmla="*/ 15 h 31"/>
                <a:gd name="T34" fmla="*/ 1 w 27"/>
                <a:gd name="T35" fmla="*/ 14 h 31"/>
                <a:gd name="T36" fmla="*/ 1 w 27"/>
                <a:gd name="T37" fmla="*/ 10 h 31"/>
                <a:gd name="T38" fmla="*/ 1 w 27"/>
                <a:gd name="T39" fmla="*/ 7 h 31"/>
                <a:gd name="T40" fmla="*/ 1 w 27"/>
                <a:gd name="T41" fmla="*/ 4 h 31"/>
                <a:gd name="T42" fmla="*/ 3 w 27"/>
                <a:gd name="T43" fmla="*/ 3 h 31"/>
                <a:gd name="T44" fmla="*/ 4 w 27"/>
                <a:gd name="T45" fmla="*/ 2 h 31"/>
                <a:gd name="T46" fmla="*/ 5 w 27"/>
                <a:gd name="T47" fmla="*/ 0 h 31"/>
                <a:gd name="T48" fmla="*/ 6 w 27"/>
                <a:gd name="T49" fmla="*/ 0 h 31"/>
                <a:gd name="T50" fmla="*/ 6 w 27"/>
                <a:gd name="T51" fmla="*/ 0 h 31"/>
                <a:gd name="T52" fmla="*/ 6 w 27"/>
                <a:gd name="T53" fmla="*/ 0 h 31"/>
                <a:gd name="T54" fmla="*/ 6 w 27"/>
                <a:gd name="T55" fmla="*/ 2 h 31"/>
                <a:gd name="T56" fmla="*/ 6 w 27"/>
                <a:gd name="T57" fmla="*/ 3 h 31"/>
                <a:gd name="T58" fmla="*/ 6 w 27"/>
                <a:gd name="T59" fmla="*/ 4 h 31"/>
                <a:gd name="T60" fmla="*/ 6 w 27"/>
                <a:gd name="T61" fmla="*/ 6 h 31"/>
                <a:gd name="T62" fmla="*/ 6 w 27"/>
                <a:gd name="T63" fmla="*/ 7 h 31"/>
                <a:gd name="T64" fmla="*/ 6 w 27"/>
                <a:gd name="T65" fmla="*/ 9 h 31"/>
                <a:gd name="T66" fmla="*/ 6 w 27"/>
                <a:gd name="T67" fmla="*/ 13 h 31"/>
                <a:gd name="T68" fmla="*/ 6 w 27"/>
                <a:gd name="T69" fmla="*/ 15 h 31"/>
                <a:gd name="T70" fmla="*/ 6 w 27"/>
                <a:gd name="T71" fmla="*/ 15 h 31"/>
                <a:gd name="T72" fmla="*/ 6 w 27"/>
                <a:gd name="T73" fmla="*/ 15 h 31"/>
                <a:gd name="T74" fmla="*/ 6 w 27"/>
                <a:gd name="T75" fmla="*/ 15 h 31"/>
                <a:gd name="T76" fmla="*/ 6 w 27"/>
                <a:gd name="T77" fmla="*/ 15 h 31"/>
                <a:gd name="T78" fmla="*/ 6 w 27"/>
                <a:gd name="T79" fmla="*/ 15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1"/>
                <a:gd name="T122" fmla="*/ 27 w 27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1">
                  <a:moveTo>
                    <a:pt x="25" y="27"/>
                  </a:moveTo>
                  <a:lnTo>
                    <a:pt x="25" y="28"/>
                  </a:lnTo>
                  <a:lnTo>
                    <a:pt x="24" y="30"/>
                  </a:lnTo>
                  <a:lnTo>
                    <a:pt x="22" y="30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8" y="31"/>
                  </a:lnTo>
                  <a:lnTo>
                    <a:pt x="17" y="31"/>
                  </a:lnTo>
                  <a:lnTo>
                    <a:pt x="15" y="31"/>
                  </a:lnTo>
                  <a:lnTo>
                    <a:pt x="14" y="31"/>
                  </a:lnTo>
                  <a:lnTo>
                    <a:pt x="12" y="30"/>
                  </a:lnTo>
                  <a:lnTo>
                    <a:pt x="11" y="28"/>
                  </a:lnTo>
                  <a:lnTo>
                    <a:pt x="10" y="28"/>
                  </a:lnTo>
                  <a:lnTo>
                    <a:pt x="10" y="27"/>
                  </a:lnTo>
                  <a:lnTo>
                    <a:pt x="8" y="27"/>
                  </a:lnTo>
                  <a:lnTo>
                    <a:pt x="8" y="26"/>
                  </a:lnTo>
                  <a:lnTo>
                    <a:pt x="7" y="24"/>
                  </a:lnTo>
                  <a:lnTo>
                    <a:pt x="5" y="23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0"/>
                  </a:lnTo>
                  <a:lnTo>
                    <a:pt x="0" y="9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4"/>
                  </a:lnTo>
                  <a:lnTo>
                    <a:pt x="1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5" y="2"/>
                  </a:lnTo>
                  <a:lnTo>
                    <a:pt x="15" y="3"/>
                  </a:lnTo>
                  <a:lnTo>
                    <a:pt x="17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8" y="6"/>
                  </a:lnTo>
                  <a:lnTo>
                    <a:pt x="19" y="7"/>
                  </a:lnTo>
                  <a:lnTo>
                    <a:pt x="21" y="7"/>
                  </a:lnTo>
                  <a:lnTo>
                    <a:pt x="21" y="9"/>
                  </a:lnTo>
                  <a:lnTo>
                    <a:pt x="22" y="11"/>
                  </a:lnTo>
                  <a:lnTo>
                    <a:pt x="24" y="13"/>
                  </a:lnTo>
                  <a:lnTo>
                    <a:pt x="24" y="14"/>
                  </a:lnTo>
                  <a:lnTo>
                    <a:pt x="25" y="17"/>
                  </a:lnTo>
                  <a:lnTo>
                    <a:pt x="25" y="18"/>
                  </a:lnTo>
                  <a:lnTo>
                    <a:pt x="27" y="21"/>
                  </a:lnTo>
                  <a:lnTo>
                    <a:pt x="27" y="23"/>
                  </a:lnTo>
                  <a:lnTo>
                    <a:pt x="27" y="24"/>
                  </a:lnTo>
                  <a:lnTo>
                    <a:pt x="25" y="24"/>
                  </a:lnTo>
                  <a:lnTo>
                    <a:pt x="25" y="26"/>
                  </a:lnTo>
                  <a:lnTo>
                    <a:pt x="25" y="27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3" name="Freeform 28"/>
            <p:cNvSpPr>
              <a:spLocks/>
            </p:cNvSpPr>
            <p:nvPr/>
          </p:nvSpPr>
          <p:spPr bwMode="auto">
            <a:xfrm>
              <a:off x="3834" y="689"/>
              <a:ext cx="25" cy="32"/>
            </a:xfrm>
            <a:custGeom>
              <a:avLst/>
              <a:gdLst>
                <a:gd name="T0" fmla="*/ 6 w 27"/>
                <a:gd name="T1" fmla="*/ 16 h 33"/>
                <a:gd name="T2" fmla="*/ 6 w 27"/>
                <a:gd name="T3" fmla="*/ 16 h 33"/>
                <a:gd name="T4" fmla="*/ 6 w 27"/>
                <a:gd name="T5" fmla="*/ 16 h 33"/>
                <a:gd name="T6" fmla="*/ 6 w 27"/>
                <a:gd name="T7" fmla="*/ 16 h 33"/>
                <a:gd name="T8" fmla="*/ 6 w 27"/>
                <a:gd name="T9" fmla="*/ 16 h 33"/>
                <a:gd name="T10" fmla="*/ 6 w 27"/>
                <a:gd name="T11" fmla="*/ 16 h 33"/>
                <a:gd name="T12" fmla="*/ 6 w 27"/>
                <a:gd name="T13" fmla="*/ 16 h 33"/>
                <a:gd name="T14" fmla="*/ 6 w 27"/>
                <a:gd name="T15" fmla="*/ 16 h 33"/>
                <a:gd name="T16" fmla="*/ 6 w 27"/>
                <a:gd name="T17" fmla="*/ 16 h 33"/>
                <a:gd name="T18" fmla="*/ 6 w 27"/>
                <a:gd name="T19" fmla="*/ 16 h 33"/>
                <a:gd name="T20" fmla="*/ 6 w 27"/>
                <a:gd name="T21" fmla="*/ 16 h 33"/>
                <a:gd name="T22" fmla="*/ 6 w 27"/>
                <a:gd name="T23" fmla="*/ 16 h 33"/>
                <a:gd name="T24" fmla="*/ 6 w 27"/>
                <a:gd name="T25" fmla="*/ 16 h 33"/>
                <a:gd name="T26" fmla="*/ 6 w 27"/>
                <a:gd name="T27" fmla="*/ 16 h 33"/>
                <a:gd name="T28" fmla="*/ 5 w 27"/>
                <a:gd name="T29" fmla="*/ 16 h 33"/>
                <a:gd name="T30" fmla="*/ 4 w 27"/>
                <a:gd name="T31" fmla="*/ 16 h 33"/>
                <a:gd name="T32" fmla="*/ 3 w 27"/>
                <a:gd name="T33" fmla="*/ 16 h 33"/>
                <a:gd name="T34" fmla="*/ 1 w 27"/>
                <a:gd name="T35" fmla="*/ 14 h 33"/>
                <a:gd name="T36" fmla="*/ 1 w 27"/>
                <a:gd name="T37" fmla="*/ 11 h 33"/>
                <a:gd name="T38" fmla="*/ 1 w 27"/>
                <a:gd name="T39" fmla="*/ 9 h 33"/>
                <a:gd name="T40" fmla="*/ 1 w 27"/>
                <a:gd name="T41" fmla="*/ 6 h 33"/>
                <a:gd name="T42" fmla="*/ 3 w 27"/>
                <a:gd name="T43" fmla="*/ 3 h 33"/>
                <a:gd name="T44" fmla="*/ 4 w 27"/>
                <a:gd name="T45" fmla="*/ 2 h 33"/>
                <a:gd name="T46" fmla="*/ 5 w 27"/>
                <a:gd name="T47" fmla="*/ 2 h 33"/>
                <a:gd name="T48" fmla="*/ 6 w 27"/>
                <a:gd name="T49" fmla="*/ 0 h 33"/>
                <a:gd name="T50" fmla="*/ 6 w 27"/>
                <a:gd name="T51" fmla="*/ 0 h 33"/>
                <a:gd name="T52" fmla="*/ 6 w 27"/>
                <a:gd name="T53" fmla="*/ 2 h 33"/>
                <a:gd name="T54" fmla="*/ 6 w 27"/>
                <a:gd name="T55" fmla="*/ 3 h 33"/>
                <a:gd name="T56" fmla="*/ 6 w 27"/>
                <a:gd name="T57" fmla="*/ 4 h 33"/>
                <a:gd name="T58" fmla="*/ 6 w 27"/>
                <a:gd name="T59" fmla="*/ 6 h 33"/>
                <a:gd name="T60" fmla="*/ 6 w 27"/>
                <a:gd name="T61" fmla="*/ 7 h 33"/>
                <a:gd name="T62" fmla="*/ 6 w 27"/>
                <a:gd name="T63" fmla="*/ 9 h 33"/>
                <a:gd name="T64" fmla="*/ 6 w 27"/>
                <a:gd name="T65" fmla="*/ 10 h 33"/>
                <a:gd name="T66" fmla="*/ 6 w 27"/>
                <a:gd name="T67" fmla="*/ 13 h 33"/>
                <a:gd name="T68" fmla="*/ 6 w 27"/>
                <a:gd name="T69" fmla="*/ 16 h 33"/>
                <a:gd name="T70" fmla="*/ 6 w 27"/>
                <a:gd name="T71" fmla="*/ 16 h 33"/>
                <a:gd name="T72" fmla="*/ 6 w 27"/>
                <a:gd name="T73" fmla="*/ 16 h 33"/>
                <a:gd name="T74" fmla="*/ 6 w 27"/>
                <a:gd name="T75" fmla="*/ 16 h 33"/>
                <a:gd name="T76" fmla="*/ 6 w 27"/>
                <a:gd name="T77" fmla="*/ 16 h 33"/>
                <a:gd name="T78" fmla="*/ 6 w 27"/>
                <a:gd name="T79" fmla="*/ 16 h 3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3"/>
                <a:gd name="T122" fmla="*/ 27 w 27"/>
                <a:gd name="T123" fmla="*/ 33 h 3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3">
                  <a:moveTo>
                    <a:pt x="25" y="28"/>
                  </a:moveTo>
                  <a:lnTo>
                    <a:pt x="25" y="28"/>
                  </a:lnTo>
                  <a:lnTo>
                    <a:pt x="25" y="30"/>
                  </a:lnTo>
                  <a:lnTo>
                    <a:pt x="24" y="30"/>
                  </a:lnTo>
                  <a:lnTo>
                    <a:pt x="24" y="31"/>
                  </a:lnTo>
                  <a:lnTo>
                    <a:pt x="22" y="31"/>
                  </a:lnTo>
                  <a:lnTo>
                    <a:pt x="21" y="33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7" y="33"/>
                  </a:lnTo>
                  <a:lnTo>
                    <a:pt x="15" y="33"/>
                  </a:lnTo>
                  <a:lnTo>
                    <a:pt x="14" y="31"/>
                  </a:lnTo>
                  <a:lnTo>
                    <a:pt x="12" y="31"/>
                  </a:lnTo>
                  <a:lnTo>
                    <a:pt x="12" y="30"/>
                  </a:lnTo>
                  <a:lnTo>
                    <a:pt x="11" y="30"/>
                  </a:lnTo>
                  <a:lnTo>
                    <a:pt x="10" y="28"/>
                  </a:lnTo>
                  <a:lnTo>
                    <a:pt x="8" y="28"/>
                  </a:lnTo>
                  <a:lnTo>
                    <a:pt x="8" y="27"/>
                  </a:lnTo>
                  <a:lnTo>
                    <a:pt x="7" y="26"/>
                  </a:lnTo>
                  <a:lnTo>
                    <a:pt x="7" y="24"/>
                  </a:lnTo>
                  <a:lnTo>
                    <a:pt x="5" y="24"/>
                  </a:lnTo>
                  <a:lnTo>
                    <a:pt x="5" y="23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0" y="10"/>
                  </a:lnTo>
                  <a:lnTo>
                    <a:pt x="1" y="9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4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7" y="6"/>
                  </a:lnTo>
                  <a:lnTo>
                    <a:pt x="18" y="6"/>
                  </a:lnTo>
                  <a:lnTo>
                    <a:pt x="18" y="7"/>
                  </a:lnTo>
                  <a:lnTo>
                    <a:pt x="19" y="7"/>
                  </a:lnTo>
                  <a:lnTo>
                    <a:pt x="19" y="9"/>
                  </a:lnTo>
                  <a:lnTo>
                    <a:pt x="21" y="9"/>
                  </a:lnTo>
                  <a:lnTo>
                    <a:pt x="21" y="10"/>
                  </a:lnTo>
                  <a:lnTo>
                    <a:pt x="22" y="11"/>
                  </a:lnTo>
                  <a:lnTo>
                    <a:pt x="24" y="13"/>
                  </a:lnTo>
                  <a:lnTo>
                    <a:pt x="24" y="16"/>
                  </a:lnTo>
                  <a:lnTo>
                    <a:pt x="25" y="17"/>
                  </a:lnTo>
                  <a:lnTo>
                    <a:pt x="25" y="20"/>
                  </a:lnTo>
                  <a:lnTo>
                    <a:pt x="27" y="21"/>
                  </a:lnTo>
                  <a:lnTo>
                    <a:pt x="27" y="24"/>
                  </a:lnTo>
                  <a:lnTo>
                    <a:pt x="27" y="26"/>
                  </a:lnTo>
                  <a:lnTo>
                    <a:pt x="25" y="26"/>
                  </a:lnTo>
                  <a:lnTo>
                    <a:pt x="25" y="27"/>
                  </a:lnTo>
                  <a:lnTo>
                    <a:pt x="25" y="28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4" name="Freeform 29"/>
            <p:cNvSpPr>
              <a:spLocks/>
            </p:cNvSpPr>
            <p:nvPr/>
          </p:nvSpPr>
          <p:spPr bwMode="auto">
            <a:xfrm>
              <a:off x="3834" y="721"/>
              <a:ext cx="25" cy="30"/>
            </a:xfrm>
            <a:custGeom>
              <a:avLst/>
              <a:gdLst>
                <a:gd name="T0" fmla="*/ 6 w 27"/>
                <a:gd name="T1" fmla="*/ 8 h 32"/>
                <a:gd name="T2" fmla="*/ 6 w 27"/>
                <a:gd name="T3" fmla="*/ 8 h 32"/>
                <a:gd name="T4" fmla="*/ 6 w 27"/>
                <a:gd name="T5" fmla="*/ 8 h 32"/>
                <a:gd name="T6" fmla="*/ 6 w 27"/>
                <a:gd name="T7" fmla="*/ 8 h 32"/>
                <a:gd name="T8" fmla="*/ 6 w 27"/>
                <a:gd name="T9" fmla="*/ 8 h 32"/>
                <a:gd name="T10" fmla="*/ 6 w 27"/>
                <a:gd name="T11" fmla="*/ 8 h 32"/>
                <a:gd name="T12" fmla="*/ 6 w 27"/>
                <a:gd name="T13" fmla="*/ 8 h 32"/>
                <a:gd name="T14" fmla="*/ 6 w 27"/>
                <a:gd name="T15" fmla="*/ 8 h 32"/>
                <a:gd name="T16" fmla="*/ 6 w 27"/>
                <a:gd name="T17" fmla="*/ 8 h 32"/>
                <a:gd name="T18" fmla="*/ 6 w 27"/>
                <a:gd name="T19" fmla="*/ 8 h 32"/>
                <a:gd name="T20" fmla="*/ 6 w 27"/>
                <a:gd name="T21" fmla="*/ 8 h 32"/>
                <a:gd name="T22" fmla="*/ 6 w 27"/>
                <a:gd name="T23" fmla="*/ 8 h 32"/>
                <a:gd name="T24" fmla="*/ 6 w 27"/>
                <a:gd name="T25" fmla="*/ 8 h 32"/>
                <a:gd name="T26" fmla="*/ 6 w 27"/>
                <a:gd name="T27" fmla="*/ 8 h 32"/>
                <a:gd name="T28" fmla="*/ 5 w 27"/>
                <a:gd name="T29" fmla="*/ 8 h 32"/>
                <a:gd name="T30" fmla="*/ 4 w 27"/>
                <a:gd name="T31" fmla="*/ 8 h 32"/>
                <a:gd name="T32" fmla="*/ 3 w 27"/>
                <a:gd name="T33" fmla="*/ 8 h 32"/>
                <a:gd name="T34" fmla="*/ 1 w 27"/>
                <a:gd name="T35" fmla="*/ 8 h 32"/>
                <a:gd name="T36" fmla="*/ 1 w 27"/>
                <a:gd name="T37" fmla="*/ 8 h 32"/>
                <a:gd name="T38" fmla="*/ 1 w 27"/>
                <a:gd name="T39" fmla="*/ 8 h 32"/>
                <a:gd name="T40" fmla="*/ 1 w 27"/>
                <a:gd name="T41" fmla="*/ 5 h 32"/>
                <a:gd name="T42" fmla="*/ 3 w 27"/>
                <a:gd name="T43" fmla="*/ 2 h 32"/>
                <a:gd name="T44" fmla="*/ 4 w 27"/>
                <a:gd name="T45" fmla="*/ 1 h 32"/>
                <a:gd name="T46" fmla="*/ 5 w 27"/>
                <a:gd name="T47" fmla="*/ 0 h 32"/>
                <a:gd name="T48" fmla="*/ 6 w 27"/>
                <a:gd name="T49" fmla="*/ 0 h 32"/>
                <a:gd name="T50" fmla="*/ 6 w 27"/>
                <a:gd name="T51" fmla="*/ 0 h 32"/>
                <a:gd name="T52" fmla="*/ 6 w 27"/>
                <a:gd name="T53" fmla="*/ 1 h 32"/>
                <a:gd name="T54" fmla="*/ 6 w 27"/>
                <a:gd name="T55" fmla="*/ 1 h 32"/>
                <a:gd name="T56" fmla="*/ 6 w 27"/>
                <a:gd name="T57" fmla="*/ 2 h 32"/>
                <a:gd name="T58" fmla="*/ 6 w 27"/>
                <a:gd name="T59" fmla="*/ 4 h 32"/>
                <a:gd name="T60" fmla="*/ 6 w 27"/>
                <a:gd name="T61" fmla="*/ 5 h 32"/>
                <a:gd name="T62" fmla="*/ 6 w 27"/>
                <a:gd name="T63" fmla="*/ 7 h 32"/>
                <a:gd name="T64" fmla="*/ 6 w 27"/>
                <a:gd name="T65" fmla="*/ 8 h 32"/>
                <a:gd name="T66" fmla="*/ 6 w 27"/>
                <a:gd name="T67" fmla="*/ 8 h 32"/>
                <a:gd name="T68" fmla="*/ 6 w 27"/>
                <a:gd name="T69" fmla="*/ 8 h 32"/>
                <a:gd name="T70" fmla="*/ 6 w 27"/>
                <a:gd name="T71" fmla="*/ 8 h 32"/>
                <a:gd name="T72" fmla="*/ 6 w 27"/>
                <a:gd name="T73" fmla="*/ 8 h 32"/>
                <a:gd name="T74" fmla="*/ 6 w 27"/>
                <a:gd name="T75" fmla="*/ 8 h 32"/>
                <a:gd name="T76" fmla="*/ 6 w 27"/>
                <a:gd name="T77" fmla="*/ 8 h 32"/>
                <a:gd name="T78" fmla="*/ 6 w 27"/>
                <a:gd name="T79" fmla="*/ 8 h 32"/>
                <a:gd name="T80" fmla="*/ 6 w 27"/>
                <a:gd name="T81" fmla="*/ 8 h 32"/>
                <a:gd name="T82" fmla="*/ 6 w 27"/>
                <a:gd name="T83" fmla="*/ 8 h 32"/>
                <a:gd name="T84" fmla="*/ 6 w 27"/>
                <a:gd name="T85" fmla="*/ 8 h 32"/>
                <a:gd name="T86" fmla="*/ 6 w 27"/>
                <a:gd name="T87" fmla="*/ 8 h 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7"/>
                <a:gd name="T133" fmla="*/ 0 h 32"/>
                <a:gd name="T134" fmla="*/ 27 w 27"/>
                <a:gd name="T135" fmla="*/ 32 h 3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7" h="32">
                  <a:moveTo>
                    <a:pt x="25" y="26"/>
                  </a:moveTo>
                  <a:lnTo>
                    <a:pt x="25" y="28"/>
                  </a:lnTo>
                  <a:lnTo>
                    <a:pt x="24" y="29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2"/>
                  </a:lnTo>
                  <a:lnTo>
                    <a:pt x="18" y="32"/>
                  </a:lnTo>
                  <a:lnTo>
                    <a:pt x="17" y="32"/>
                  </a:lnTo>
                  <a:lnTo>
                    <a:pt x="15" y="31"/>
                  </a:lnTo>
                  <a:lnTo>
                    <a:pt x="14" y="31"/>
                  </a:lnTo>
                  <a:lnTo>
                    <a:pt x="12" y="29"/>
                  </a:lnTo>
                  <a:lnTo>
                    <a:pt x="11" y="29"/>
                  </a:lnTo>
                  <a:lnTo>
                    <a:pt x="11" y="28"/>
                  </a:lnTo>
                  <a:lnTo>
                    <a:pt x="10" y="28"/>
                  </a:lnTo>
                  <a:lnTo>
                    <a:pt x="8" y="26"/>
                  </a:lnTo>
                  <a:lnTo>
                    <a:pt x="8" y="25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5" y="22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8"/>
                  </a:lnTo>
                  <a:lnTo>
                    <a:pt x="3" y="16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0" y="9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4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1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2" y="1"/>
                  </a:lnTo>
                  <a:lnTo>
                    <a:pt x="14" y="1"/>
                  </a:lnTo>
                  <a:lnTo>
                    <a:pt x="15" y="2"/>
                  </a:lnTo>
                  <a:lnTo>
                    <a:pt x="17" y="4"/>
                  </a:lnTo>
                  <a:lnTo>
                    <a:pt x="18" y="5"/>
                  </a:lnTo>
                  <a:lnTo>
                    <a:pt x="19" y="7"/>
                  </a:lnTo>
                  <a:lnTo>
                    <a:pt x="21" y="8"/>
                  </a:lnTo>
                  <a:lnTo>
                    <a:pt x="21" y="9"/>
                  </a:lnTo>
                  <a:lnTo>
                    <a:pt x="22" y="9"/>
                  </a:lnTo>
                  <a:lnTo>
                    <a:pt x="22" y="11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4" y="14"/>
                  </a:lnTo>
                  <a:lnTo>
                    <a:pt x="24" y="15"/>
                  </a:lnTo>
                  <a:lnTo>
                    <a:pt x="25" y="15"/>
                  </a:lnTo>
                  <a:lnTo>
                    <a:pt x="25" y="16"/>
                  </a:lnTo>
                  <a:lnTo>
                    <a:pt x="25" y="18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25" y="25"/>
                  </a:lnTo>
                  <a:lnTo>
                    <a:pt x="25" y="26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5" name="Freeform 30"/>
            <p:cNvSpPr>
              <a:spLocks/>
            </p:cNvSpPr>
            <p:nvPr/>
          </p:nvSpPr>
          <p:spPr bwMode="auto">
            <a:xfrm>
              <a:off x="3834" y="751"/>
              <a:ext cx="25" cy="30"/>
            </a:xfrm>
            <a:custGeom>
              <a:avLst/>
              <a:gdLst>
                <a:gd name="T0" fmla="*/ 6 w 27"/>
                <a:gd name="T1" fmla="*/ 15 h 31"/>
                <a:gd name="T2" fmla="*/ 6 w 27"/>
                <a:gd name="T3" fmla="*/ 15 h 31"/>
                <a:gd name="T4" fmla="*/ 6 w 27"/>
                <a:gd name="T5" fmla="*/ 15 h 31"/>
                <a:gd name="T6" fmla="*/ 6 w 27"/>
                <a:gd name="T7" fmla="*/ 15 h 31"/>
                <a:gd name="T8" fmla="*/ 6 w 27"/>
                <a:gd name="T9" fmla="*/ 15 h 31"/>
                <a:gd name="T10" fmla="*/ 6 w 27"/>
                <a:gd name="T11" fmla="*/ 15 h 31"/>
                <a:gd name="T12" fmla="*/ 6 w 27"/>
                <a:gd name="T13" fmla="*/ 15 h 31"/>
                <a:gd name="T14" fmla="*/ 6 w 27"/>
                <a:gd name="T15" fmla="*/ 15 h 31"/>
                <a:gd name="T16" fmla="*/ 6 w 27"/>
                <a:gd name="T17" fmla="*/ 15 h 31"/>
                <a:gd name="T18" fmla="*/ 6 w 27"/>
                <a:gd name="T19" fmla="*/ 15 h 31"/>
                <a:gd name="T20" fmla="*/ 6 w 27"/>
                <a:gd name="T21" fmla="*/ 15 h 31"/>
                <a:gd name="T22" fmla="*/ 6 w 27"/>
                <a:gd name="T23" fmla="*/ 15 h 31"/>
                <a:gd name="T24" fmla="*/ 6 w 27"/>
                <a:gd name="T25" fmla="*/ 15 h 31"/>
                <a:gd name="T26" fmla="*/ 6 w 27"/>
                <a:gd name="T27" fmla="*/ 15 h 31"/>
                <a:gd name="T28" fmla="*/ 5 w 27"/>
                <a:gd name="T29" fmla="*/ 15 h 31"/>
                <a:gd name="T30" fmla="*/ 4 w 27"/>
                <a:gd name="T31" fmla="*/ 15 h 31"/>
                <a:gd name="T32" fmla="*/ 3 w 27"/>
                <a:gd name="T33" fmla="*/ 15 h 31"/>
                <a:gd name="T34" fmla="*/ 1 w 27"/>
                <a:gd name="T35" fmla="*/ 14 h 31"/>
                <a:gd name="T36" fmla="*/ 1 w 27"/>
                <a:gd name="T37" fmla="*/ 10 h 31"/>
                <a:gd name="T38" fmla="*/ 1 w 27"/>
                <a:gd name="T39" fmla="*/ 7 h 31"/>
                <a:gd name="T40" fmla="*/ 1 w 27"/>
                <a:gd name="T41" fmla="*/ 4 h 31"/>
                <a:gd name="T42" fmla="*/ 3 w 27"/>
                <a:gd name="T43" fmla="*/ 3 h 31"/>
                <a:gd name="T44" fmla="*/ 4 w 27"/>
                <a:gd name="T45" fmla="*/ 1 h 31"/>
                <a:gd name="T46" fmla="*/ 5 w 27"/>
                <a:gd name="T47" fmla="*/ 0 h 31"/>
                <a:gd name="T48" fmla="*/ 6 w 27"/>
                <a:gd name="T49" fmla="*/ 0 h 31"/>
                <a:gd name="T50" fmla="*/ 6 w 27"/>
                <a:gd name="T51" fmla="*/ 0 h 31"/>
                <a:gd name="T52" fmla="*/ 6 w 27"/>
                <a:gd name="T53" fmla="*/ 0 h 31"/>
                <a:gd name="T54" fmla="*/ 6 w 27"/>
                <a:gd name="T55" fmla="*/ 1 h 31"/>
                <a:gd name="T56" fmla="*/ 6 w 27"/>
                <a:gd name="T57" fmla="*/ 3 h 31"/>
                <a:gd name="T58" fmla="*/ 6 w 27"/>
                <a:gd name="T59" fmla="*/ 4 h 31"/>
                <a:gd name="T60" fmla="*/ 6 w 27"/>
                <a:gd name="T61" fmla="*/ 6 h 31"/>
                <a:gd name="T62" fmla="*/ 6 w 27"/>
                <a:gd name="T63" fmla="*/ 7 h 31"/>
                <a:gd name="T64" fmla="*/ 6 w 27"/>
                <a:gd name="T65" fmla="*/ 8 h 31"/>
                <a:gd name="T66" fmla="*/ 6 w 27"/>
                <a:gd name="T67" fmla="*/ 10 h 31"/>
                <a:gd name="T68" fmla="*/ 6 w 27"/>
                <a:gd name="T69" fmla="*/ 11 h 31"/>
                <a:gd name="T70" fmla="*/ 6 w 27"/>
                <a:gd name="T71" fmla="*/ 14 h 31"/>
                <a:gd name="T72" fmla="*/ 6 w 27"/>
                <a:gd name="T73" fmla="*/ 15 h 31"/>
                <a:gd name="T74" fmla="*/ 6 w 27"/>
                <a:gd name="T75" fmla="*/ 15 h 31"/>
                <a:gd name="T76" fmla="*/ 6 w 27"/>
                <a:gd name="T77" fmla="*/ 15 h 31"/>
                <a:gd name="T78" fmla="*/ 6 w 27"/>
                <a:gd name="T79" fmla="*/ 15 h 31"/>
                <a:gd name="T80" fmla="*/ 6 w 27"/>
                <a:gd name="T81" fmla="*/ 15 h 31"/>
                <a:gd name="T82" fmla="*/ 6 w 27"/>
                <a:gd name="T83" fmla="*/ 15 h 31"/>
                <a:gd name="T84" fmla="*/ 6 w 27"/>
                <a:gd name="T85" fmla="*/ 15 h 31"/>
                <a:gd name="T86" fmla="*/ 6 w 27"/>
                <a:gd name="T87" fmla="*/ 15 h 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7"/>
                <a:gd name="T133" fmla="*/ 0 h 31"/>
                <a:gd name="T134" fmla="*/ 27 w 27"/>
                <a:gd name="T135" fmla="*/ 31 h 3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7" h="31">
                  <a:moveTo>
                    <a:pt x="25" y="27"/>
                  </a:moveTo>
                  <a:lnTo>
                    <a:pt x="25" y="28"/>
                  </a:lnTo>
                  <a:lnTo>
                    <a:pt x="24" y="30"/>
                  </a:lnTo>
                  <a:lnTo>
                    <a:pt x="22" y="30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8" y="31"/>
                  </a:lnTo>
                  <a:lnTo>
                    <a:pt x="17" y="31"/>
                  </a:lnTo>
                  <a:lnTo>
                    <a:pt x="15" y="31"/>
                  </a:lnTo>
                  <a:lnTo>
                    <a:pt x="14" y="30"/>
                  </a:lnTo>
                  <a:lnTo>
                    <a:pt x="12" y="30"/>
                  </a:lnTo>
                  <a:lnTo>
                    <a:pt x="11" y="28"/>
                  </a:lnTo>
                  <a:lnTo>
                    <a:pt x="10" y="28"/>
                  </a:lnTo>
                  <a:lnTo>
                    <a:pt x="10" y="27"/>
                  </a:lnTo>
                  <a:lnTo>
                    <a:pt x="8" y="27"/>
                  </a:lnTo>
                  <a:lnTo>
                    <a:pt x="8" y="25"/>
                  </a:lnTo>
                  <a:lnTo>
                    <a:pt x="7" y="24"/>
                  </a:lnTo>
                  <a:lnTo>
                    <a:pt x="5" y="23"/>
                  </a:lnTo>
                  <a:lnTo>
                    <a:pt x="5" y="21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4"/>
                  </a:lnTo>
                  <a:lnTo>
                    <a:pt x="1" y="3"/>
                  </a:lnTo>
                  <a:lnTo>
                    <a:pt x="3" y="3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2" y="1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5" y="3"/>
                  </a:lnTo>
                  <a:lnTo>
                    <a:pt x="17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8" y="6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21" y="7"/>
                  </a:lnTo>
                  <a:lnTo>
                    <a:pt x="21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24" y="13"/>
                  </a:lnTo>
                  <a:lnTo>
                    <a:pt x="24" y="14"/>
                  </a:lnTo>
                  <a:lnTo>
                    <a:pt x="25" y="15"/>
                  </a:lnTo>
                  <a:lnTo>
                    <a:pt x="25" y="17"/>
                  </a:lnTo>
                  <a:lnTo>
                    <a:pt x="25" y="18"/>
                  </a:lnTo>
                  <a:lnTo>
                    <a:pt x="27" y="20"/>
                  </a:lnTo>
                  <a:lnTo>
                    <a:pt x="27" y="21"/>
                  </a:lnTo>
                  <a:lnTo>
                    <a:pt x="27" y="23"/>
                  </a:lnTo>
                  <a:lnTo>
                    <a:pt x="27" y="24"/>
                  </a:lnTo>
                  <a:lnTo>
                    <a:pt x="25" y="24"/>
                  </a:lnTo>
                  <a:lnTo>
                    <a:pt x="25" y="25"/>
                  </a:lnTo>
                  <a:lnTo>
                    <a:pt x="25" y="27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6" name="Freeform 31"/>
            <p:cNvSpPr>
              <a:spLocks/>
            </p:cNvSpPr>
            <p:nvPr/>
          </p:nvSpPr>
          <p:spPr bwMode="auto">
            <a:xfrm>
              <a:off x="3834" y="779"/>
              <a:ext cx="23" cy="32"/>
            </a:xfrm>
            <a:custGeom>
              <a:avLst/>
              <a:gdLst>
                <a:gd name="T0" fmla="*/ 6 w 25"/>
                <a:gd name="T1" fmla="*/ 28 h 32"/>
                <a:gd name="T2" fmla="*/ 6 w 25"/>
                <a:gd name="T3" fmla="*/ 29 h 32"/>
                <a:gd name="T4" fmla="*/ 6 w 25"/>
                <a:gd name="T5" fmla="*/ 31 h 32"/>
                <a:gd name="T6" fmla="*/ 6 w 25"/>
                <a:gd name="T7" fmla="*/ 31 h 32"/>
                <a:gd name="T8" fmla="*/ 6 w 25"/>
                <a:gd name="T9" fmla="*/ 32 h 32"/>
                <a:gd name="T10" fmla="*/ 6 w 25"/>
                <a:gd name="T11" fmla="*/ 32 h 32"/>
                <a:gd name="T12" fmla="*/ 6 w 25"/>
                <a:gd name="T13" fmla="*/ 32 h 32"/>
                <a:gd name="T14" fmla="*/ 6 w 25"/>
                <a:gd name="T15" fmla="*/ 31 h 32"/>
                <a:gd name="T16" fmla="*/ 6 w 25"/>
                <a:gd name="T17" fmla="*/ 31 h 32"/>
                <a:gd name="T18" fmla="*/ 6 w 25"/>
                <a:gd name="T19" fmla="*/ 29 h 32"/>
                <a:gd name="T20" fmla="*/ 6 w 25"/>
                <a:gd name="T21" fmla="*/ 28 h 32"/>
                <a:gd name="T22" fmla="*/ 6 w 25"/>
                <a:gd name="T23" fmla="*/ 26 h 32"/>
                <a:gd name="T24" fmla="*/ 6 w 25"/>
                <a:gd name="T25" fmla="*/ 25 h 32"/>
                <a:gd name="T26" fmla="*/ 5 w 25"/>
                <a:gd name="T27" fmla="*/ 24 h 32"/>
                <a:gd name="T28" fmla="*/ 4 w 25"/>
                <a:gd name="T29" fmla="*/ 22 h 32"/>
                <a:gd name="T30" fmla="*/ 3 w 25"/>
                <a:gd name="T31" fmla="*/ 19 h 32"/>
                <a:gd name="T32" fmla="*/ 3 w 25"/>
                <a:gd name="T33" fmla="*/ 16 h 32"/>
                <a:gd name="T34" fmla="*/ 1 w 25"/>
                <a:gd name="T35" fmla="*/ 14 h 32"/>
                <a:gd name="T36" fmla="*/ 0 w 25"/>
                <a:gd name="T37" fmla="*/ 11 h 32"/>
                <a:gd name="T38" fmla="*/ 0 w 25"/>
                <a:gd name="T39" fmla="*/ 8 h 32"/>
                <a:gd name="T40" fmla="*/ 1 w 25"/>
                <a:gd name="T41" fmla="*/ 5 h 32"/>
                <a:gd name="T42" fmla="*/ 1 w 25"/>
                <a:gd name="T43" fmla="*/ 2 h 32"/>
                <a:gd name="T44" fmla="*/ 4 w 25"/>
                <a:gd name="T45" fmla="*/ 1 h 32"/>
                <a:gd name="T46" fmla="*/ 5 w 25"/>
                <a:gd name="T47" fmla="*/ 0 h 32"/>
                <a:gd name="T48" fmla="*/ 6 w 25"/>
                <a:gd name="T49" fmla="*/ 0 h 32"/>
                <a:gd name="T50" fmla="*/ 6 w 25"/>
                <a:gd name="T51" fmla="*/ 0 h 32"/>
                <a:gd name="T52" fmla="*/ 6 w 25"/>
                <a:gd name="T53" fmla="*/ 1 h 32"/>
                <a:gd name="T54" fmla="*/ 6 w 25"/>
                <a:gd name="T55" fmla="*/ 1 h 32"/>
                <a:gd name="T56" fmla="*/ 6 w 25"/>
                <a:gd name="T57" fmla="*/ 2 h 32"/>
                <a:gd name="T58" fmla="*/ 6 w 25"/>
                <a:gd name="T59" fmla="*/ 4 h 32"/>
                <a:gd name="T60" fmla="*/ 6 w 25"/>
                <a:gd name="T61" fmla="*/ 5 h 32"/>
                <a:gd name="T62" fmla="*/ 6 w 25"/>
                <a:gd name="T63" fmla="*/ 7 h 32"/>
                <a:gd name="T64" fmla="*/ 6 w 25"/>
                <a:gd name="T65" fmla="*/ 8 h 32"/>
                <a:gd name="T66" fmla="*/ 6 w 25"/>
                <a:gd name="T67" fmla="*/ 9 h 32"/>
                <a:gd name="T68" fmla="*/ 6 w 25"/>
                <a:gd name="T69" fmla="*/ 12 h 32"/>
                <a:gd name="T70" fmla="*/ 6 w 25"/>
                <a:gd name="T71" fmla="*/ 14 h 32"/>
                <a:gd name="T72" fmla="*/ 6 w 25"/>
                <a:gd name="T73" fmla="*/ 15 h 32"/>
                <a:gd name="T74" fmla="*/ 6 w 25"/>
                <a:gd name="T75" fmla="*/ 18 h 32"/>
                <a:gd name="T76" fmla="*/ 6 w 25"/>
                <a:gd name="T77" fmla="*/ 19 h 32"/>
                <a:gd name="T78" fmla="*/ 6 w 25"/>
                <a:gd name="T79" fmla="*/ 22 h 32"/>
                <a:gd name="T80" fmla="*/ 6 w 25"/>
                <a:gd name="T81" fmla="*/ 24 h 32"/>
                <a:gd name="T82" fmla="*/ 6 w 25"/>
                <a:gd name="T83" fmla="*/ 24 h 32"/>
                <a:gd name="T84" fmla="*/ 6 w 25"/>
                <a:gd name="T85" fmla="*/ 25 h 32"/>
                <a:gd name="T86" fmla="*/ 6 w 25"/>
                <a:gd name="T87" fmla="*/ 26 h 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5"/>
                <a:gd name="T133" fmla="*/ 0 h 32"/>
                <a:gd name="T134" fmla="*/ 25 w 25"/>
                <a:gd name="T135" fmla="*/ 32 h 3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5" h="32">
                  <a:moveTo>
                    <a:pt x="25" y="26"/>
                  </a:moveTo>
                  <a:lnTo>
                    <a:pt x="25" y="28"/>
                  </a:lnTo>
                  <a:lnTo>
                    <a:pt x="24" y="29"/>
                  </a:lnTo>
                  <a:lnTo>
                    <a:pt x="24" y="31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2"/>
                  </a:lnTo>
                  <a:lnTo>
                    <a:pt x="18" y="32"/>
                  </a:lnTo>
                  <a:lnTo>
                    <a:pt x="17" y="32"/>
                  </a:lnTo>
                  <a:lnTo>
                    <a:pt x="15" y="32"/>
                  </a:lnTo>
                  <a:lnTo>
                    <a:pt x="14" y="31"/>
                  </a:lnTo>
                  <a:lnTo>
                    <a:pt x="12" y="31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8" y="26"/>
                  </a:lnTo>
                  <a:lnTo>
                    <a:pt x="7" y="25"/>
                  </a:lnTo>
                  <a:lnTo>
                    <a:pt x="5" y="24"/>
                  </a:lnTo>
                  <a:lnTo>
                    <a:pt x="4" y="22"/>
                  </a:lnTo>
                  <a:lnTo>
                    <a:pt x="4" y="21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6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7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2"/>
                  </a:lnTo>
                  <a:lnTo>
                    <a:pt x="3" y="2"/>
                  </a:lnTo>
                  <a:lnTo>
                    <a:pt x="4" y="1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4" y="1"/>
                  </a:lnTo>
                  <a:lnTo>
                    <a:pt x="14" y="2"/>
                  </a:lnTo>
                  <a:lnTo>
                    <a:pt x="15" y="2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18" y="7"/>
                  </a:lnTo>
                  <a:lnTo>
                    <a:pt x="19" y="7"/>
                  </a:lnTo>
                  <a:lnTo>
                    <a:pt x="19" y="8"/>
                  </a:lnTo>
                  <a:lnTo>
                    <a:pt x="21" y="8"/>
                  </a:lnTo>
                  <a:lnTo>
                    <a:pt x="21" y="9"/>
                  </a:lnTo>
                  <a:lnTo>
                    <a:pt x="22" y="9"/>
                  </a:lnTo>
                  <a:lnTo>
                    <a:pt x="22" y="11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4" y="14"/>
                  </a:lnTo>
                  <a:lnTo>
                    <a:pt x="24" y="15"/>
                  </a:lnTo>
                  <a:lnTo>
                    <a:pt x="25" y="15"/>
                  </a:lnTo>
                  <a:lnTo>
                    <a:pt x="25" y="16"/>
                  </a:lnTo>
                  <a:lnTo>
                    <a:pt x="25" y="18"/>
                  </a:lnTo>
                  <a:lnTo>
                    <a:pt x="25" y="19"/>
                  </a:lnTo>
                  <a:lnTo>
                    <a:pt x="25" y="21"/>
                  </a:lnTo>
                  <a:lnTo>
                    <a:pt x="25" y="22"/>
                  </a:lnTo>
                  <a:lnTo>
                    <a:pt x="25" y="24"/>
                  </a:lnTo>
                  <a:lnTo>
                    <a:pt x="25" y="25"/>
                  </a:lnTo>
                  <a:lnTo>
                    <a:pt x="25" y="26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7" name="Freeform 32"/>
            <p:cNvSpPr>
              <a:spLocks/>
            </p:cNvSpPr>
            <p:nvPr/>
          </p:nvSpPr>
          <p:spPr bwMode="auto">
            <a:xfrm>
              <a:off x="3826" y="542"/>
              <a:ext cx="8" cy="30"/>
            </a:xfrm>
            <a:custGeom>
              <a:avLst/>
              <a:gdLst>
                <a:gd name="T0" fmla="*/ 109 w 7"/>
                <a:gd name="T1" fmla="*/ 4 h 31"/>
                <a:gd name="T2" fmla="*/ 109 w 7"/>
                <a:gd name="T3" fmla="*/ 7 h 31"/>
                <a:gd name="T4" fmla="*/ 109 w 7"/>
                <a:gd name="T5" fmla="*/ 8 h 31"/>
                <a:gd name="T6" fmla="*/ 125 w 7"/>
                <a:gd name="T7" fmla="*/ 12 h 31"/>
                <a:gd name="T8" fmla="*/ 125 w 7"/>
                <a:gd name="T9" fmla="*/ 15 h 31"/>
                <a:gd name="T10" fmla="*/ 163 w 7"/>
                <a:gd name="T11" fmla="*/ 15 h 31"/>
                <a:gd name="T12" fmla="*/ 163 w 7"/>
                <a:gd name="T13" fmla="*/ 15 h 31"/>
                <a:gd name="T14" fmla="*/ 163 w 7"/>
                <a:gd name="T15" fmla="*/ 15 h 31"/>
                <a:gd name="T16" fmla="*/ 163 w 7"/>
                <a:gd name="T17" fmla="*/ 15 h 31"/>
                <a:gd name="T18" fmla="*/ 163 w 7"/>
                <a:gd name="T19" fmla="*/ 15 h 31"/>
                <a:gd name="T20" fmla="*/ 163 w 7"/>
                <a:gd name="T21" fmla="*/ 15 h 31"/>
                <a:gd name="T22" fmla="*/ 163 w 7"/>
                <a:gd name="T23" fmla="*/ 15 h 31"/>
                <a:gd name="T24" fmla="*/ 125 w 7"/>
                <a:gd name="T25" fmla="*/ 15 h 31"/>
                <a:gd name="T26" fmla="*/ 125 w 7"/>
                <a:gd name="T27" fmla="*/ 15 h 31"/>
                <a:gd name="T28" fmla="*/ 109 w 7"/>
                <a:gd name="T29" fmla="*/ 15 h 31"/>
                <a:gd name="T30" fmla="*/ 109 w 7"/>
                <a:gd name="T31" fmla="*/ 15 h 31"/>
                <a:gd name="T32" fmla="*/ 109 w 7"/>
                <a:gd name="T33" fmla="*/ 15 h 31"/>
                <a:gd name="T34" fmla="*/ 3 w 7"/>
                <a:gd name="T35" fmla="*/ 15 h 31"/>
                <a:gd name="T36" fmla="*/ 1 w 7"/>
                <a:gd name="T37" fmla="*/ 15 h 31"/>
                <a:gd name="T38" fmla="*/ 1 w 7"/>
                <a:gd name="T39" fmla="*/ 15 h 31"/>
                <a:gd name="T40" fmla="*/ 1 w 7"/>
                <a:gd name="T41" fmla="*/ 15 h 31"/>
                <a:gd name="T42" fmla="*/ 0 w 7"/>
                <a:gd name="T43" fmla="*/ 15 h 31"/>
                <a:gd name="T44" fmla="*/ 0 w 7"/>
                <a:gd name="T45" fmla="*/ 15 h 31"/>
                <a:gd name="T46" fmla="*/ 0 w 7"/>
                <a:gd name="T47" fmla="*/ 15 h 31"/>
                <a:gd name="T48" fmla="*/ 0 w 7"/>
                <a:gd name="T49" fmla="*/ 14 h 31"/>
                <a:gd name="T50" fmla="*/ 0 w 7"/>
                <a:gd name="T51" fmla="*/ 11 h 31"/>
                <a:gd name="T52" fmla="*/ 0 w 7"/>
                <a:gd name="T53" fmla="*/ 9 h 31"/>
                <a:gd name="T54" fmla="*/ 0 w 7"/>
                <a:gd name="T55" fmla="*/ 7 h 31"/>
                <a:gd name="T56" fmla="*/ 0 w 7"/>
                <a:gd name="T57" fmla="*/ 4 h 31"/>
                <a:gd name="T58" fmla="*/ 0 w 7"/>
                <a:gd name="T59" fmla="*/ 2 h 31"/>
                <a:gd name="T60" fmla="*/ 0 w 7"/>
                <a:gd name="T61" fmla="*/ 1 h 31"/>
                <a:gd name="T62" fmla="*/ 0 w 7"/>
                <a:gd name="T63" fmla="*/ 1 h 31"/>
                <a:gd name="T64" fmla="*/ 1 w 7"/>
                <a:gd name="T65" fmla="*/ 0 h 31"/>
                <a:gd name="T66" fmla="*/ 1 w 7"/>
                <a:gd name="T67" fmla="*/ 0 h 31"/>
                <a:gd name="T68" fmla="*/ 1 w 7"/>
                <a:gd name="T69" fmla="*/ 0 h 31"/>
                <a:gd name="T70" fmla="*/ 1 w 7"/>
                <a:gd name="T71" fmla="*/ 0 h 31"/>
                <a:gd name="T72" fmla="*/ 3 w 7"/>
                <a:gd name="T73" fmla="*/ 0 h 31"/>
                <a:gd name="T74" fmla="*/ 3 w 7"/>
                <a:gd name="T75" fmla="*/ 1 h 31"/>
                <a:gd name="T76" fmla="*/ 109 w 7"/>
                <a:gd name="T77" fmla="*/ 1 h 31"/>
                <a:gd name="T78" fmla="*/ 109 w 7"/>
                <a:gd name="T79" fmla="*/ 1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"/>
                <a:gd name="T121" fmla="*/ 0 h 31"/>
                <a:gd name="T122" fmla="*/ 7 w 7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" h="31">
                  <a:moveTo>
                    <a:pt x="4" y="2"/>
                  </a:moveTo>
                  <a:lnTo>
                    <a:pt x="4" y="4"/>
                  </a:lnTo>
                  <a:lnTo>
                    <a:pt x="4" y="5"/>
                  </a:lnTo>
                  <a:lnTo>
                    <a:pt x="4" y="7"/>
                  </a:lnTo>
                  <a:lnTo>
                    <a:pt x="4" y="8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5" y="14"/>
                  </a:lnTo>
                  <a:lnTo>
                    <a:pt x="5" y="15"/>
                  </a:lnTo>
                  <a:lnTo>
                    <a:pt x="5" y="18"/>
                  </a:lnTo>
                  <a:lnTo>
                    <a:pt x="7" y="19"/>
                  </a:lnTo>
                  <a:lnTo>
                    <a:pt x="7" y="21"/>
                  </a:lnTo>
                  <a:lnTo>
                    <a:pt x="7" y="22"/>
                  </a:lnTo>
                  <a:lnTo>
                    <a:pt x="7" y="24"/>
                  </a:lnTo>
                  <a:lnTo>
                    <a:pt x="7" y="25"/>
                  </a:lnTo>
                  <a:lnTo>
                    <a:pt x="7" y="26"/>
                  </a:lnTo>
                  <a:lnTo>
                    <a:pt x="7" y="28"/>
                  </a:lnTo>
                  <a:lnTo>
                    <a:pt x="7" y="29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3" y="29"/>
                  </a:lnTo>
                  <a:lnTo>
                    <a:pt x="1" y="29"/>
                  </a:lnTo>
                  <a:lnTo>
                    <a:pt x="1" y="28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8" name="Freeform 33"/>
            <p:cNvSpPr>
              <a:spLocks/>
            </p:cNvSpPr>
            <p:nvPr/>
          </p:nvSpPr>
          <p:spPr bwMode="auto">
            <a:xfrm>
              <a:off x="3826" y="574"/>
              <a:ext cx="8" cy="28"/>
            </a:xfrm>
            <a:custGeom>
              <a:avLst/>
              <a:gdLst>
                <a:gd name="T0" fmla="*/ 109 w 7"/>
                <a:gd name="T1" fmla="*/ 3 h 31"/>
                <a:gd name="T2" fmla="*/ 109 w 7"/>
                <a:gd name="T3" fmla="*/ 5 h 31"/>
                <a:gd name="T4" fmla="*/ 109 w 7"/>
                <a:gd name="T5" fmla="*/ 5 h 31"/>
                <a:gd name="T6" fmla="*/ 109 w 7"/>
                <a:gd name="T7" fmla="*/ 5 h 31"/>
                <a:gd name="T8" fmla="*/ 125 w 7"/>
                <a:gd name="T9" fmla="*/ 5 h 31"/>
                <a:gd name="T10" fmla="*/ 125 w 7"/>
                <a:gd name="T11" fmla="*/ 5 h 31"/>
                <a:gd name="T12" fmla="*/ 163 w 7"/>
                <a:gd name="T13" fmla="*/ 5 h 31"/>
                <a:gd name="T14" fmla="*/ 163 w 7"/>
                <a:gd name="T15" fmla="*/ 5 h 31"/>
                <a:gd name="T16" fmla="*/ 163 w 7"/>
                <a:gd name="T17" fmla="*/ 5 h 31"/>
                <a:gd name="T18" fmla="*/ 163 w 7"/>
                <a:gd name="T19" fmla="*/ 5 h 31"/>
                <a:gd name="T20" fmla="*/ 163 w 7"/>
                <a:gd name="T21" fmla="*/ 5 h 31"/>
                <a:gd name="T22" fmla="*/ 125 w 7"/>
                <a:gd name="T23" fmla="*/ 5 h 31"/>
                <a:gd name="T24" fmla="*/ 125 w 7"/>
                <a:gd name="T25" fmla="*/ 5 h 31"/>
                <a:gd name="T26" fmla="*/ 109 w 7"/>
                <a:gd name="T27" fmla="*/ 5 h 31"/>
                <a:gd name="T28" fmla="*/ 109 w 7"/>
                <a:gd name="T29" fmla="*/ 5 h 31"/>
                <a:gd name="T30" fmla="*/ 109 w 7"/>
                <a:gd name="T31" fmla="*/ 5 h 31"/>
                <a:gd name="T32" fmla="*/ 3 w 7"/>
                <a:gd name="T33" fmla="*/ 5 h 31"/>
                <a:gd name="T34" fmla="*/ 3 w 7"/>
                <a:gd name="T35" fmla="*/ 5 h 31"/>
                <a:gd name="T36" fmla="*/ 1 w 7"/>
                <a:gd name="T37" fmla="*/ 5 h 31"/>
                <a:gd name="T38" fmla="*/ 1 w 7"/>
                <a:gd name="T39" fmla="*/ 5 h 31"/>
                <a:gd name="T40" fmla="*/ 0 w 7"/>
                <a:gd name="T41" fmla="*/ 5 h 31"/>
                <a:gd name="T42" fmla="*/ 0 w 7"/>
                <a:gd name="T43" fmla="*/ 5 h 31"/>
                <a:gd name="T44" fmla="*/ 0 w 7"/>
                <a:gd name="T45" fmla="*/ 5 h 31"/>
                <a:gd name="T46" fmla="*/ 0 w 7"/>
                <a:gd name="T47" fmla="*/ 5 h 31"/>
                <a:gd name="T48" fmla="*/ 0 w 7"/>
                <a:gd name="T49" fmla="*/ 5 h 31"/>
                <a:gd name="T50" fmla="*/ 0 w 7"/>
                <a:gd name="T51" fmla="*/ 3 h 31"/>
                <a:gd name="T52" fmla="*/ 0 w 7"/>
                <a:gd name="T53" fmla="*/ 1 h 31"/>
                <a:gd name="T54" fmla="*/ 0 w 7"/>
                <a:gd name="T55" fmla="*/ 1 h 31"/>
                <a:gd name="T56" fmla="*/ 0 w 7"/>
                <a:gd name="T57" fmla="*/ 0 h 31"/>
                <a:gd name="T58" fmla="*/ 0 w 7"/>
                <a:gd name="T59" fmla="*/ 0 h 31"/>
                <a:gd name="T60" fmla="*/ 0 w 7"/>
                <a:gd name="T61" fmla="*/ 0 h 31"/>
                <a:gd name="T62" fmla="*/ 1 w 7"/>
                <a:gd name="T63" fmla="*/ 0 h 31"/>
                <a:gd name="T64" fmla="*/ 1 w 7"/>
                <a:gd name="T65" fmla="*/ 0 h 31"/>
                <a:gd name="T66" fmla="*/ 3 w 7"/>
                <a:gd name="T67" fmla="*/ 0 h 31"/>
                <a:gd name="T68" fmla="*/ 3 w 7"/>
                <a:gd name="T69" fmla="*/ 0 h 31"/>
                <a:gd name="T70" fmla="*/ 3 w 7"/>
                <a:gd name="T71" fmla="*/ 0 h 31"/>
                <a:gd name="T72" fmla="*/ 109 w 7"/>
                <a:gd name="T73" fmla="*/ 1 h 3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7"/>
                <a:gd name="T112" fmla="*/ 0 h 31"/>
                <a:gd name="T113" fmla="*/ 7 w 7"/>
                <a:gd name="T114" fmla="*/ 31 h 3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7" h="31">
                  <a:moveTo>
                    <a:pt x="4" y="1"/>
                  </a:moveTo>
                  <a:lnTo>
                    <a:pt x="4" y="3"/>
                  </a:lnTo>
                  <a:lnTo>
                    <a:pt x="4" y="4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8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5" y="13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7" y="20"/>
                  </a:lnTo>
                  <a:lnTo>
                    <a:pt x="7" y="21"/>
                  </a:lnTo>
                  <a:lnTo>
                    <a:pt x="7" y="23"/>
                  </a:lnTo>
                  <a:lnTo>
                    <a:pt x="7" y="24"/>
                  </a:lnTo>
                  <a:lnTo>
                    <a:pt x="7" y="25"/>
                  </a:lnTo>
                  <a:lnTo>
                    <a:pt x="7" y="27"/>
                  </a:lnTo>
                  <a:lnTo>
                    <a:pt x="7" y="28"/>
                  </a:lnTo>
                  <a:lnTo>
                    <a:pt x="7" y="30"/>
                  </a:lnTo>
                  <a:lnTo>
                    <a:pt x="5" y="30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3" y="0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9" name="Freeform 34"/>
            <p:cNvSpPr>
              <a:spLocks/>
            </p:cNvSpPr>
            <p:nvPr/>
          </p:nvSpPr>
          <p:spPr bwMode="auto">
            <a:xfrm>
              <a:off x="3826" y="602"/>
              <a:ext cx="8" cy="30"/>
            </a:xfrm>
            <a:custGeom>
              <a:avLst/>
              <a:gdLst>
                <a:gd name="T0" fmla="*/ 109 w 7"/>
                <a:gd name="T1" fmla="*/ 3 h 31"/>
                <a:gd name="T2" fmla="*/ 109 w 7"/>
                <a:gd name="T3" fmla="*/ 6 h 31"/>
                <a:gd name="T4" fmla="*/ 109 w 7"/>
                <a:gd name="T5" fmla="*/ 8 h 31"/>
                <a:gd name="T6" fmla="*/ 109 w 7"/>
                <a:gd name="T7" fmla="*/ 11 h 31"/>
                <a:gd name="T8" fmla="*/ 125 w 7"/>
                <a:gd name="T9" fmla="*/ 15 h 31"/>
                <a:gd name="T10" fmla="*/ 125 w 7"/>
                <a:gd name="T11" fmla="*/ 15 h 31"/>
                <a:gd name="T12" fmla="*/ 163 w 7"/>
                <a:gd name="T13" fmla="*/ 15 h 31"/>
                <a:gd name="T14" fmla="*/ 163 w 7"/>
                <a:gd name="T15" fmla="*/ 15 h 31"/>
                <a:gd name="T16" fmla="*/ 163 w 7"/>
                <a:gd name="T17" fmla="*/ 15 h 31"/>
                <a:gd name="T18" fmla="*/ 163 w 7"/>
                <a:gd name="T19" fmla="*/ 15 h 31"/>
                <a:gd name="T20" fmla="*/ 163 w 7"/>
                <a:gd name="T21" fmla="*/ 15 h 31"/>
                <a:gd name="T22" fmla="*/ 125 w 7"/>
                <a:gd name="T23" fmla="*/ 15 h 31"/>
                <a:gd name="T24" fmla="*/ 125 w 7"/>
                <a:gd name="T25" fmla="*/ 15 h 31"/>
                <a:gd name="T26" fmla="*/ 109 w 7"/>
                <a:gd name="T27" fmla="*/ 15 h 31"/>
                <a:gd name="T28" fmla="*/ 109 w 7"/>
                <a:gd name="T29" fmla="*/ 15 h 31"/>
                <a:gd name="T30" fmla="*/ 109 w 7"/>
                <a:gd name="T31" fmla="*/ 15 h 31"/>
                <a:gd name="T32" fmla="*/ 3 w 7"/>
                <a:gd name="T33" fmla="*/ 15 h 31"/>
                <a:gd name="T34" fmla="*/ 3 w 7"/>
                <a:gd name="T35" fmla="*/ 15 h 31"/>
                <a:gd name="T36" fmla="*/ 1 w 7"/>
                <a:gd name="T37" fmla="*/ 15 h 31"/>
                <a:gd name="T38" fmla="*/ 1 w 7"/>
                <a:gd name="T39" fmla="*/ 15 h 31"/>
                <a:gd name="T40" fmla="*/ 0 w 7"/>
                <a:gd name="T41" fmla="*/ 15 h 31"/>
                <a:gd name="T42" fmla="*/ 0 w 7"/>
                <a:gd name="T43" fmla="*/ 15 h 31"/>
                <a:gd name="T44" fmla="*/ 0 w 7"/>
                <a:gd name="T45" fmla="*/ 15 h 31"/>
                <a:gd name="T46" fmla="*/ 0 w 7"/>
                <a:gd name="T47" fmla="*/ 15 h 31"/>
                <a:gd name="T48" fmla="*/ 0 w 7"/>
                <a:gd name="T49" fmla="*/ 6 h 31"/>
                <a:gd name="T50" fmla="*/ 0 w 7"/>
                <a:gd name="T51" fmla="*/ 4 h 31"/>
                <a:gd name="T52" fmla="*/ 0 w 7"/>
                <a:gd name="T53" fmla="*/ 3 h 31"/>
                <a:gd name="T54" fmla="*/ 0 w 7"/>
                <a:gd name="T55" fmla="*/ 1 h 31"/>
                <a:gd name="T56" fmla="*/ 0 w 7"/>
                <a:gd name="T57" fmla="*/ 0 h 31"/>
                <a:gd name="T58" fmla="*/ 0 w 7"/>
                <a:gd name="T59" fmla="*/ 0 h 31"/>
                <a:gd name="T60" fmla="*/ 0 w 7"/>
                <a:gd name="T61" fmla="*/ 0 h 31"/>
                <a:gd name="T62" fmla="*/ 1 w 7"/>
                <a:gd name="T63" fmla="*/ 0 h 31"/>
                <a:gd name="T64" fmla="*/ 1 w 7"/>
                <a:gd name="T65" fmla="*/ 0 h 31"/>
                <a:gd name="T66" fmla="*/ 3 w 7"/>
                <a:gd name="T67" fmla="*/ 0 h 31"/>
                <a:gd name="T68" fmla="*/ 3 w 7"/>
                <a:gd name="T69" fmla="*/ 0 h 31"/>
                <a:gd name="T70" fmla="*/ 3 w 7"/>
                <a:gd name="T71" fmla="*/ 1 h 31"/>
                <a:gd name="T72" fmla="*/ 109 w 7"/>
                <a:gd name="T73" fmla="*/ 1 h 3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7"/>
                <a:gd name="T112" fmla="*/ 0 h 31"/>
                <a:gd name="T113" fmla="*/ 7 w 7"/>
                <a:gd name="T114" fmla="*/ 31 h 3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7" h="31">
                  <a:moveTo>
                    <a:pt x="4" y="3"/>
                  </a:moveTo>
                  <a:lnTo>
                    <a:pt x="4" y="3"/>
                  </a:lnTo>
                  <a:lnTo>
                    <a:pt x="4" y="4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8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5" y="13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20"/>
                  </a:lnTo>
                  <a:lnTo>
                    <a:pt x="7" y="21"/>
                  </a:lnTo>
                  <a:lnTo>
                    <a:pt x="7" y="23"/>
                  </a:lnTo>
                  <a:lnTo>
                    <a:pt x="7" y="24"/>
                  </a:lnTo>
                  <a:lnTo>
                    <a:pt x="7" y="25"/>
                  </a:lnTo>
                  <a:lnTo>
                    <a:pt x="7" y="27"/>
                  </a:lnTo>
                  <a:lnTo>
                    <a:pt x="7" y="28"/>
                  </a:lnTo>
                  <a:lnTo>
                    <a:pt x="7" y="30"/>
                  </a:lnTo>
                  <a:lnTo>
                    <a:pt x="5" y="30"/>
                  </a:lnTo>
                  <a:lnTo>
                    <a:pt x="5" y="31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0" name="Freeform 35"/>
            <p:cNvSpPr>
              <a:spLocks/>
            </p:cNvSpPr>
            <p:nvPr/>
          </p:nvSpPr>
          <p:spPr bwMode="auto">
            <a:xfrm>
              <a:off x="3826" y="632"/>
              <a:ext cx="8" cy="32"/>
            </a:xfrm>
            <a:custGeom>
              <a:avLst/>
              <a:gdLst>
                <a:gd name="T0" fmla="*/ 109 w 7"/>
                <a:gd name="T1" fmla="*/ 4 h 32"/>
                <a:gd name="T2" fmla="*/ 109 w 7"/>
                <a:gd name="T3" fmla="*/ 7 h 32"/>
                <a:gd name="T4" fmla="*/ 109 w 7"/>
                <a:gd name="T5" fmla="*/ 10 h 32"/>
                <a:gd name="T6" fmla="*/ 125 w 7"/>
                <a:gd name="T7" fmla="*/ 13 h 32"/>
                <a:gd name="T8" fmla="*/ 125 w 7"/>
                <a:gd name="T9" fmla="*/ 15 h 32"/>
                <a:gd name="T10" fmla="*/ 163 w 7"/>
                <a:gd name="T11" fmla="*/ 20 h 32"/>
                <a:gd name="T12" fmla="*/ 163 w 7"/>
                <a:gd name="T13" fmla="*/ 23 h 32"/>
                <a:gd name="T14" fmla="*/ 163 w 7"/>
                <a:gd name="T15" fmla="*/ 25 h 32"/>
                <a:gd name="T16" fmla="*/ 163 w 7"/>
                <a:gd name="T17" fmla="*/ 27 h 32"/>
                <a:gd name="T18" fmla="*/ 163 w 7"/>
                <a:gd name="T19" fmla="*/ 28 h 32"/>
                <a:gd name="T20" fmla="*/ 163 w 7"/>
                <a:gd name="T21" fmla="*/ 30 h 32"/>
                <a:gd name="T22" fmla="*/ 163 w 7"/>
                <a:gd name="T23" fmla="*/ 31 h 32"/>
                <a:gd name="T24" fmla="*/ 125 w 7"/>
                <a:gd name="T25" fmla="*/ 31 h 32"/>
                <a:gd name="T26" fmla="*/ 125 w 7"/>
                <a:gd name="T27" fmla="*/ 31 h 32"/>
                <a:gd name="T28" fmla="*/ 109 w 7"/>
                <a:gd name="T29" fmla="*/ 32 h 32"/>
                <a:gd name="T30" fmla="*/ 109 w 7"/>
                <a:gd name="T31" fmla="*/ 32 h 32"/>
                <a:gd name="T32" fmla="*/ 109 w 7"/>
                <a:gd name="T33" fmla="*/ 31 h 32"/>
                <a:gd name="T34" fmla="*/ 3 w 7"/>
                <a:gd name="T35" fmla="*/ 31 h 32"/>
                <a:gd name="T36" fmla="*/ 1 w 7"/>
                <a:gd name="T37" fmla="*/ 30 h 32"/>
                <a:gd name="T38" fmla="*/ 1 w 7"/>
                <a:gd name="T39" fmla="*/ 28 h 32"/>
                <a:gd name="T40" fmla="*/ 1 w 7"/>
                <a:gd name="T41" fmla="*/ 25 h 32"/>
                <a:gd name="T42" fmla="*/ 0 w 7"/>
                <a:gd name="T43" fmla="*/ 23 h 32"/>
                <a:gd name="T44" fmla="*/ 0 w 7"/>
                <a:gd name="T45" fmla="*/ 20 h 32"/>
                <a:gd name="T46" fmla="*/ 0 w 7"/>
                <a:gd name="T47" fmla="*/ 17 h 32"/>
                <a:gd name="T48" fmla="*/ 0 w 7"/>
                <a:gd name="T49" fmla="*/ 14 h 32"/>
                <a:gd name="T50" fmla="*/ 0 w 7"/>
                <a:gd name="T51" fmla="*/ 11 h 32"/>
                <a:gd name="T52" fmla="*/ 0 w 7"/>
                <a:gd name="T53" fmla="*/ 10 h 32"/>
                <a:gd name="T54" fmla="*/ 0 w 7"/>
                <a:gd name="T55" fmla="*/ 7 h 32"/>
                <a:gd name="T56" fmla="*/ 0 w 7"/>
                <a:gd name="T57" fmla="*/ 4 h 32"/>
                <a:gd name="T58" fmla="*/ 0 w 7"/>
                <a:gd name="T59" fmla="*/ 3 h 32"/>
                <a:gd name="T60" fmla="*/ 0 w 7"/>
                <a:gd name="T61" fmla="*/ 3 h 32"/>
                <a:gd name="T62" fmla="*/ 0 w 7"/>
                <a:gd name="T63" fmla="*/ 1 h 32"/>
                <a:gd name="T64" fmla="*/ 1 w 7"/>
                <a:gd name="T65" fmla="*/ 1 h 32"/>
                <a:gd name="T66" fmla="*/ 1 w 7"/>
                <a:gd name="T67" fmla="*/ 0 h 32"/>
                <a:gd name="T68" fmla="*/ 1 w 7"/>
                <a:gd name="T69" fmla="*/ 0 h 32"/>
                <a:gd name="T70" fmla="*/ 1 w 7"/>
                <a:gd name="T71" fmla="*/ 0 h 32"/>
                <a:gd name="T72" fmla="*/ 3 w 7"/>
                <a:gd name="T73" fmla="*/ 1 h 32"/>
                <a:gd name="T74" fmla="*/ 3 w 7"/>
                <a:gd name="T75" fmla="*/ 1 h 32"/>
                <a:gd name="T76" fmla="*/ 109 w 7"/>
                <a:gd name="T77" fmla="*/ 1 h 32"/>
                <a:gd name="T78" fmla="*/ 109 w 7"/>
                <a:gd name="T79" fmla="*/ 3 h 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"/>
                <a:gd name="T121" fmla="*/ 0 h 32"/>
                <a:gd name="T122" fmla="*/ 7 w 7"/>
                <a:gd name="T123" fmla="*/ 32 h 3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" h="32">
                  <a:moveTo>
                    <a:pt x="4" y="3"/>
                  </a:moveTo>
                  <a:lnTo>
                    <a:pt x="4" y="4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8"/>
                  </a:lnTo>
                  <a:lnTo>
                    <a:pt x="4" y="10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5" y="15"/>
                  </a:lnTo>
                  <a:lnTo>
                    <a:pt x="5" y="18"/>
                  </a:lnTo>
                  <a:lnTo>
                    <a:pt x="7" y="20"/>
                  </a:lnTo>
                  <a:lnTo>
                    <a:pt x="7" y="21"/>
                  </a:lnTo>
                  <a:lnTo>
                    <a:pt x="7" y="23"/>
                  </a:lnTo>
                  <a:lnTo>
                    <a:pt x="7" y="24"/>
                  </a:lnTo>
                  <a:lnTo>
                    <a:pt x="7" y="25"/>
                  </a:lnTo>
                  <a:lnTo>
                    <a:pt x="7" y="27"/>
                  </a:lnTo>
                  <a:lnTo>
                    <a:pt x="7" y="28"/>
                  </a:lnTo>
                  <a:lnTo>
                    <a:pt x="7" y="30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1" name="Freeform 36"/>
            <p:cNvSpPr>
              <a:spLocks/>
            </p:cNvSpPr>
            <p:nvPr/>
          </p:nvSpPr>
          <p:spPr bwMode="auto">
            <a:xfrm>
              <a:off x="3826" y="664"/>
              <a:ext cx="8" cy="28"/>
            </a:xfrm>
            <a:custGeom>
              <a:avLst/>
              <a:gdLst>
                <a:gd name="T0" fmla="*/ 109 w 7"/>
                <a:gd name="T1" fmla="*/ 3 h 31"/>
                <a:gd name="T2" fmla="*/ 109 w 7"/>
                <a:gd name="T3" fmla="*/ 5 h 31"/>
                <a:gd name="T4" fmla="*/ 109 w 7"/>
                <a:gd name="T5" fmla="*/ 5 h 31"/>
                <a:gd name="T6" fmla="*/ 109 w 7"/>
                <a:gd name="T7" fmla="*/ 5 h 31"/>
                <a:gd name="T8" fmla="*/ 125 w 7"/>
                <a:gd name="T9" fmla="*/ 5 h 31"/>
                <a:gd name="T10" fmla="*/ 125 w 7"/>
                <a:gd name="T11" fmla="*/ 5 h 31"/>
                <a:gd name="T12" fmla="*/ 163 w 7"/>
                <a:gd name="T13" fmla="*/ 5 h 31"/>
                <a:gd name="T14" fmla="*/ 163 w 7"/>
                <a:gd name="T15" fmla="*/ 5 h 31"/>
                <a:gd name="T16" fmla="*/ 163 w 7"/>
                <a:gd name="T17" fmla="*/ 5 h 31"/>
                <a:gd name="T18" fmla="*/ 163 w 7"/>
                <a:gd name="T19" fmla="*/ 5 h 31"/>
                <a:gd name="T20" fmla="*/ 163 w 7"/>
                <a:gd name="T21" fmla="*/ 5 h 31"/>
                <a:gd name="T22" fmla="*/ 125 w 7"/>
                <a:gd name="T23" fmla="*/ 5 h 31"/>
                <a:gd name="T24" fmla="*/ 125 w 7"/>
                <a:gd name="T25" fmla="*/ 5 h 31"/>
                <a:gd name="T26" fmla="*/ 109 w 7"/>
                <a:gd name="T27" fmla="*/ 5 h 31"/>
                <a:gd name="T28" fmla="*/ 109 w 7"/>
                <a:gd name="T29" fmla="*/ 5 h 31"/>
                <a:gd name="T30" fmla="*/ 109 w 7"/>
                <a:gd name="T31" fmla="*/ 5 h 31"/>
                <a:gd name="T32" fmla="*/ 3 w 7"/>
                <a:gd name="T33" fmla="*/ 5 h 31"/>
                <a:gd name="T34" fmla="*/ 3 w 7"/>
                <a:gd name="T35" fmla="*/ 5 h 31"/>
                <a:gd name="T36" fmla="*/ 1 w 7"/>
                <a:gd name="T37" fmla="*/ 5 h 31"/>
                <a:gd name="T38" fmla="*/ 1 w 7"/>
                <a:gd name="T39" fmla="*/ 5 h 31"/>
                <a:gd name="T40" fmla="*/ 0 w 7"/>
                <a:gd name="T41" fmla="*/ 5 h 31"/>
                <a:gd name="T42" fmla="*/ 0 w 7"/>
                <a:gd name="T43" fmla="*/ 5 h 31"/>
                <a:gd name="T44" fmla="*/ 0 w 7"/>
                <a:gd name="T45" fmla="*/ 5 h 31"/>
                <a:gd name="T46" fmla="*/ 0 w 7"/>
                <a:gd name="T47" fmla="*/ 5 h 31"/>
                <a:gd name="T48" fmla="*/ 0 w 7"/>
                <a:gd name="T49" fmla="*/ 5 h 31"/>
                <a:gd name="T50" fmla="*/ 0 w 7"/>
                <a:gd name="T51" fmla="*/ 3 h 31"/>
                <a:gd name="T52" fmla="*/ 0 w 7"/>
                <a:gd name="T53" fmla="*/ 3 h 31"/>
                <a:gd name="T54" fmla="*/ 0 w 7"/>
                <a:gd name="T55" fmla="*/ 2 h 31"/>
                <a:gd name="T56" fmla="*/ 0 w 7"/>
                <a:gd name="T57" fmla="*/ 0 h 31"/>
                <a:gd name="T58" fmla="*/ 0 w 7"/>
                <a:gd name="T59" fmla="*/ 0 h 31"/>
                <a:gd name="T60" fmla="*/ 1 w 7"/>
                <a:gd name="T61" fmla="*/ 0 h 31"/>
                <a:gd name="T62" fmla="*/ 1 w 7"/>
                <a:gd name="T63" fmla="*/ 0 h 31"/>
                <a:gd name="T64" fmla="*/ 1 w 7"/>
                <a:gd name="T65" fmla="*/ 0 h 31"/>
                <a:gd name="T66" fmla="*/ 3 w 7"/>
                <a:gd name="T67" fmla="*/ 0 h 31"/>
                <a:gd name="T68" fmla="*/ 3 w 7"/>
                <a:gd name="T69" fmla="*/ 2 h 31"/>
                <a:gd name="T70" fmla="*/ 109 w 7"/>
                <a:gd name="T71" fmla="*/ 2 h 31"/>
                <a:gd name="T72" fmla="*/ 109 w 7"/>
                <a:gd name="T73" fmla="*/ 3 h 3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7"/>
                <a:gd name="T112" fmla="*/ 0 h 31"/>
                <a:gd name="T113" fmla="*/ 7 w 7"/>
                <a:gd name="T114" fmla="*/ 31 h 3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7" h="31">
                  <a:moveTo>
                    <a:pt x="4" y="3"/>
                  </a:moveTo>
                  <a:lnTo>
                    <a:pt x="4" y="3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9"/>
                  </a:lnTo>
                  <a:lnTo>
                    <a:pt x="4" y="10"/>
                  </a:lnTo>
                  <a:lnTo>
                    <a:pt x="4" y="12"/>
                  </a:lnTo>
                  <a:lnTo>
                    <a:pt x="5" y="13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20"/>
                  </a:lnTo>
                  <a:lnTo>
                    <a:pt x="7" y="22"/>
                  </a:lnTo>
                  <a:lnTo>
                    <a:pt x="7" y="23"/>
                  </a:lnTo>
                  <a:lnTo>
                    <a:pt x="7" y="24"/>
                  </a:lnTo>
                  <a:lnTo>
                    <a:pt x="7" y="26"/>
                  </a:lnTo>
                  <a:lnTo>
                    <a:pt x="7" y="27"/>
                  </a:lnTo>
                  <a:lnTo>
                    <a:pt x="7" y="29"/>
                  </a:lnTo>
                  <a:lnTo>
                    <a:pt x="7" y="30"/>
                  </a:lnTo>
                  <a:lnTo>
                    <a:pt x="5" y="30"/>
                  </a:lnTo>
                  <a:lnTo>
                    <a:pt x="5" y="31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0" y="19"/>
                  </a:lnTo>
                  <a:lnTo>
                    <a:pt x="0" y="16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2" name="Freeform 37"/>
            <p:cNvSpPr>
              <a:spLocks/>
            </p:cNvSpPr>
            <p:nvPr/>
          </p:nvSpPr>
          <p:spPr bwMode="auto">
            <a:xfrm>
              <a:off x="3826" y="694"/>
              <a:ext cx="8" cy="30"/>
            </a:xfrm>
            <a:custGeom>
              <a:avLst/>
              <a:gdLst>
                <a:gd name="T0" fmla="*/ 4 w 8"/>
                <a:gd name="T1" fmla="*/ 3 h 31"/>
                <a:gd name="T2" fmla="*/ 4 w 8"/>
                <a:gd name="T3" fmla="*/ 5 h 31"/>
                <a:gd name="T4" fmla="*/ 5 w 8"/>
                <a:gd name="T5" fmla="*/ 8 h 31"/>
                <a:gd name="T6" fmla="*/ 5 w 8"/>
                <a:gd name="T7" fmla="*/ 11 h 31"/>
                <a:gd name="T8" fmla="*/ 5 w 8"/>
                <a:gd name="T9" fmla="*/ 15 h 31"/>
                <a:gd name="T10" fmla="*/ 7 w 8"/>
                <a:gd name="T11" fmla="*/ 15 h 31"/>
                <a:gd name="T12" fmla="*/ 7 w 8"/>
                <a:gd name="T13" fmla="*/ 15 h 31"/>
                <a:gd name="T14" fmla="*/ 8 w 8"/>
                <a:gd name="T15" fmla="*/ 15 h 31"/>
                <a:gd name="T16" fmla="*/ 8 w 8"/>
                <a:gd name="T17" fmla="*/ 15 h 31"/>
                <a:gd name="T18" fmla="*/ 8 w 8"/>
                <a:gd name="T19" fmla="*/ 15 h 31"/>
                <a:gd name="T20" fmla="*/ 7 w 8"/>
                <a:gd name="T21" fmla="*/ 15 h 31"/>
                <a:gd name="T22" fmla="*/ 7 w 8"/>
                <a:gd name="T23" fmla="*/ 15 h 31"/>
                <a:gd name="T24" fmla="*/ 5 w 8"/>
                <a:gd name="T25" fmla="*/ 15 h 31"/>
                <a:gd name="T26" fmla="*/ 5 w 8"/>
                <a:gd name="T27" fmla="*/ 15 h 31"/>
                <a:gd name="T28" fmla="*/ 4 w 8"/>
                <a:gd name="T29" fmla="*/ 15 h 31"/>
                <a:gd name="T30" fmla="*/ 4 w 8"/>
                <a:gd name="T31" fmla="*/ 15 h 31"/>
                <a:gd name="T32" fmla="*/ 4 w 8"/>
                <a:gd name="T33" fmla="*/ 15 h 31"/>
                <a:gd name="T34" fmla="*/ 3 w 8"/>
                <a:gd name="T35" fmla="*/ 15 h 31"/>
                <a:gd name="T36" fmla="*/ 3 w 8"/>
                <a:gd name="T37" fmla="*/ 15 h 31"/>
                <a:gd name="T38" fmla="*/ 1 w 8"/>
                <a:gd name="T39" fmla="*/ 15 h 31"/>
                <a:gd name="T40" fmla="*/ 1 w 8"/>
                <a:gd name="T41" fmla="*/ 15 h 31"/>
                <a:gd name="T42" fmla="*/ 1 w 8"/>
                <a:gd name="T43" fmla="*/ 15 h 31"/>
                <a:gd name="T44" fmla="*/ 0 w 8"/>
                <a:gd name="T45" fmla="*/ 15 h 31"/>
                <a:gd name="T46" fmla="*/ 0 w 8"/>
                <a:gd name="T47" fmla="*/ 15 h 31"/>
                <a:gd name="T48" fmla="*/ 0 w 8"/>
                <a:gd name="T49" fmla="*/ 12 h 31"/>
                <a:gd name="T50" fmla="*/ 0 w 8"/>
                <a:gd name="T51" fmla="*/ 11 h 31"/>
                <a:gd name="T52" fmla="*/ 0 w 8"/>
                <a:gd name="T53" fmla="*/ 8 h 31"/>
                <a:gd name="T54" fmla="*/ 0 w 8"/>
                <a:gd name="T55" fmla="*/ 5 h 31"/>
                <a:gd name="T56" fmla="*/ 0 w 8"/>
                <a:gd name="T57" fmla="*/ 3 h 31"/>
                <a:gd name="T58" fmla="*/ 0 w 8"/>
                <a:gd name="T59" fmla="*/ 3 h 31"/>
                <a:gd name="T60" fmla="*/ 0 w 8"/>
                <a:gd name="T61" fmla="*/ 1 h 31"/>
                <a:gd name="T62" fmla="*/ 1 w 8"/>
                <a:gd name="T63" fmla="*/ 0 h 31"/>
                <a:gd name="T64" fmla="*/ 1 w 8"/>
                <a:gd name="T65" fmla="*/ 0 h 31"/>
                <a:gd name="T66" fmla="*/ 1 w 8"/>
                <a:gd name="T67" fmla="*/ 0 h 31"/>
                <a:gd name="T68" fmla="*/ 1 w 8"/>
                <a:gd name="T69" fmla="*/ 0 h 31"/>
                <a:gd name="T70" fmla="*/ 1 w 8"/>
                <a:gd name="T71" fmla="*/ 0 h 31"/>
                <a:gd name="T72" fmla="*/ 3 w 8"/>
                <a:gd name="T73" fmla="*/ 0 h 31"/>
                <a:gd name="T74" fmla="*/ 3 w 8"/>
                <a:gd name="T75" fmla="*/ 0 h 31"/>
                <a:gd name="T76" fmla="*/ 4 w 8"/>
                <a:gd name="T77" fmla="*/ 0 h 31"/>
                <a:gd name="T78" fmla="*/ 4 w 8"/>
                <a:gd name="T79" fmla="*/ 1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"/>
                <a:gd name="T121" fmla="*/ 0 h 31"/>
                <a:gd name="T122" fmla="*/ 8 w 8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" h="31">
                  <a:moveTo>
                    <a:pt x="4" y="1"/>
                  </a:moveTo>
                  <a:lnTo>
                    <a:pt x="4" y="3"/>
                  </a:lnTo>
                  <a:lnTo>
                    <a:pt x="4" y="4"/>
                  </a:lnTo>
                  <a:lnTo>
                    <a:pt x="4" y="5"/>
                  </a:lnTo>
                  <a:lnTo>
                    <a:pt x="5" y="7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5" y="15"/>
                  </a:lnTo>
                  <a:lnTo>
                    <a:pt x="7" y="17"/>
                  </a:lnTo>
                  <a:lnTo>
                    <a:pt x="7" y="18"/>
                  </a:lnTo>
                  <a:lnTo>
                    <a:pt x="7" y="21"/>
                  </a:lnTo>
                  <a:lnTo>
                    <a:pt x="7" y="22"/>
                  </a:lnTo>
                  <a:lnTo>
                    <a:pt x="8" y="24"/>
                  </a:lnTo>
                  <a:lnTo>
                    <a:pt x="8" y="25"/>
                  </a:lnTo>
                  <a:lnTo>
                    <a:pt x="8" y="27"/>
                  </a:lnTo>
                  <a:lnTo>
                    <a:pt x="8" y="28"/>
                  </a:lnTo>
                  <a:lnTo>
                    <a:pt x="7" y="28"/>
                  </a:lnTo>
                  <a:lnTo>
                    <a:pt x="7" y="29"/>
                  </a:lnTo>
                  <a:lnTo>
                    <a:pt x="5" y="29"/>
                  </a:lnTo>
                  <a:lnTo>
                    <a:pt x="5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3" y="28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1" y="22"/>
                  </a:lnTo>
                  <a:lnTo>
                    <a:pt x="0" y="21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3" name="Freeform 38"/>
            <p:cNvSpPr>
              <a:spLocks/>
            </p:cNvSpPr>
            <p:nvPr/>
          </p:nvSpPr>
          <p:spPr bwMode="auto">
            <a:xfrm>
              <a:off x="3826" y="726"/>
              <a:ext cx="8" cy="30"/>
            </a:xfrm>
            <a:custGeom>
              <a:avLst/>
              <a:gdLst>
                <a:gd name="T0" fmla="*/ 109 w 7"/>
                <a:gd name="T1" fmla="*/ 3 h 31"/>
                <a:gd name="T2" fmla="*/ 109 w 7"/>
                <a:gd name="T3" fmla="*/ 6 h 31"/>
                <a:gd name="T4" fmla="*/ 109 w 7"/>
                <a:gd name="T5" fmla="*/ 9 h 31"/>
                <a:gd name="T6" fmla="*/ 125 w 7"/>
                <a:gd name="T7" fmla="*/ 11 h 31"/>
                <a:gd name="T8" fmla="*/ 125 w 7"/>
                <a:gd name="T9" fmla="*/ 15 h 31"/>
                <a:gd name="T10" fmla="*/ 163 w 7"/>
                <a:gd name="T11" fmla="*/ 15 h 31"/>
                <a:gd name="T12" fmla="*/ 163 w 7"/>
                <a:gd name="T13" fmla="*/ 15 h 31"/>
                <a:gd name="T14" fmla="*/ 163 w 7"/>
                <a:gd name="T15" fmla="*/ 15 h 31"/>
                <a:gd name="T16" fmla="*/ 163 w 7"/>
                <a:gd name="T17" fmla="*/ 15 h 31"/>
                <a:gd name="T18" fmla="*/ 163 w 7"/>
                <a:gd name="T19" fmla="*/ 15 h 31"/>
                <a:gd name="T20" fmla="*/ 163 w 7"/>
                <a:gd name="T21" fmla="*/ 15 h 31"/>
                <a:gd name="T22" fmla="*/ 163 w 7"/>
                <a:gd name="T23" fmla="*/ 15 h 31"/>
                <a:gd name="T24" fmla="*/ 125 w 7"/>
                <a:gd name="T25" fmla="*/ 15 h 31"/>
                <a:gd name="T26" fmla="*/ 125 w 7"/>
                <a:gd name="T27" fmla="*/ 15 h 31"/>
                <a:gd name="T28" fmla="*/ 109 w 7"/>
                <a:gd name="T29" fmla="*/ 15 h 31"/>
                <a:gd name="T30" fmla="*/ 109 w 7"/>
                <a:gd name="T31" fmla="*/ 15 h 31"/>
                <a:gd name="T32" fmla="*/ 109 w 7"/>
                <a:gd name="T33" fmla="*/ 15 h 31"/>
                <a:gd name="T34" fmla="*/ 3 w 7"/>
                <a:gd name="T35" fmla="*/ 15 h 31"/>
                <a:gd name="T36" fmla="*/ 1 w 7"/>
                <a:gd name="T37" fmla="*/ 15 h 31"/>
                <a:gd name="T38" fmla="*/ 1 w 7"/>
                <a:gd name="T39" fmla="*/ 15 h 31"/>
                <a:gd name="T40" fmla="*/ 1 w 7"/>
                <a:gd name="T41" fmla="*/ 15 h 31"/>
                <a:gd name="T42" fmla="*/ 0 w 7"/>
                <a:gd name="T43" fmla="*/ 15 h 31"/>
                <a:gd name="T44" fmla="*/ 0 w 7"/>
                <a:gd name="T45" fmla="*/ 15 h 31"/>
                <a:gd name="T46" fmla="*/ 0 w 7"/>
                <a:gd name="T47" fmla="*/ 15 h 31"/>
                <a:gd name="T48" fmla="*/ 0 w 7"/>
                <a:gd name="T49" fmla="*/ 13 h 31"/>
                <a:gd name="T50" fmla="*/ 0 w 7"/>
                <a:gd name="T51" fmla="*/ 11 h 31"/>
                <a:gd name="T52" fmla="*/ 0 w 7"/>
                <a:gd name="T53" fmla="*/ 9 h 31"/>
                <a:gd name="T54" fmla="*/ 0 w 7"/>
                <a:gd name="T55" fmla="*/ 6 h 31"/>
                <a:gd name="T56" fmla="*/ 0 w 7"/>
                <a:gd name="T57" fmla="*/ 4 h 31"/>
                <a:gd name="T58" fmla="*/ 0 w 7"/>
                <a:gd name="T59" fmla="*/ 3 h 31"/>
                <a:gd name="T60" fmla="*/ 0 w 7"/>
                <a:gd name="T61" fmla="*/ 2 h 31"/>
                <a:gd name="T62" fmla="*/ 0 w 7"/>
                <a:gd name="T63" fmla="*/ 0 h 31"/>
                <a:gd name="T64" fmla="*/ 1 w 7"/>
                <a:gd name="T65" fmla="*/ 0 h 31"/>
                <a:gd name="T66" fmla="*/ 1 w 7"/>
                <a:gd name="T67" fmla="*/ 0 h 31"/>
                <a:gd name="T68" fmla="*/ 1 w 7"/>
                <a:gd name="T69" fmla="*/ 0 h 31"/>
                <a:gd name="T70" fmla="*/ 1 w 7"/>
                <a:gd name="T71" fmla="*/ 0 h 31"/>
                <a:gd name="T72" fmla="*/ 3 w 7"/>
                <a:gd name="T73" fmla="*/ 0 h 31"/>
                <a:gd name="T74" fmla="*/ 3 w 7"/>
                <a:gd name="T75" fmla="*/ 0 h 31"/>
                <a:gd name="T76" fmla="*/ 109 w 7"/>
                <a:gd name="T77" fmla="*/ 2 h 31"/>
                <a:gd name="T78" fmla="*/ 109 w 7"/>
                <a:gd name="T79" fmla="*/ 2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"/>
                <a:gd name="T121" fmla="*/ 0 h 31"/>
                <a:gd name="T122" fmla="*/ 7 w 7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" h="31">
                  <a:moveTo>
                    <a:pt x="4" y="2"/>
                  </a:moveTo>
                  <a:lnTo>
                    <a:pt x="4" y="3"/>
                  </a:lnTo>
                  <a:lnTo>
                    <a:pt x="4" y="4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7" y="19"/>
                  </a:lnTo>
                  <a:lnTo>
                    <a:pt x="7" y="21"/>
                  </a:lnTo>
                  <a:lnTo>
                    <a:pt x="7" y="23"/>
                  </a:lnTo>
                  <a:lnTo>
                    <a:pt x="7" y="24"/>
                  </a:lnTo>
                  <a:lnTo>
                    <a:pt x="7" y="26"/>
                  </a:lnTo>
                  <a:lnTo>
                    <a:pt x="7" y="27"/>
                  </a:lnTo>
                  <a:lnTo>
                    <a:pt x="7" y="28"/>
                  </a:lnTo>
                  <a:lnTo>
                    <a:pt x="7" y="30"/>
                  </a:lnTo>
                  <a:lnTo>
                    <a:pt x="5" y="30"/>
                  </a:lnTo>
                  <a:lnTo>
                    <a:pt x="5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1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9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3" y="0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4" name="Freeform 39"/>
            <p:cNvSpPr>
              <a:spLocks/>
            </p:cNvSpPr>
            <p:nvPr/>
          </p:nvSpPr>
          <p:spPr bwMode="auto">
            <a:xfrm>
              <a:off x="3826" y="756"/>
              <a:ext cx="8" cy="30"/>
            </a:xfrm>
            <a:custGeom>
              <a:avLst/>
              <a:gdLst>
                <a:gd name="T0" fmla="*/ 109 w 7"/>
                <a:gd name="T1" fmla="*/ 4 h 33"/>
                <a:gd name="T2" fmla="*/ 109 w 7"/>
                <a:gd name="T3" fmla="*/ 5 h 33"/>
                <a:gd name="T4" fmla="*/ 109 w 7"/>
                <a:gd name="T5" fmla="*/ 5 h 33"/>
                <a:gd name="T6" fmla="*/ 125 w 7"/>
                <a:gd name="T7" fmla="*/ 5 h 33"/>
                <a:gd name="T8" fmla="*/ 125 w 7"/>
                <a:gd name="T9" fmla="*/ 5 h 33"/>
                <a:gd name="T10" fmla="*/ 163 w 7"/>
                <a:gd name="T11" fmla="*/ 5 h 33"/>
                <a:gd name="T12" fmla="*/ 163 w 7"/>
                <a:gd name="T13" fmla="*/ 5 h 33"/>
                <a:gd name="T14" fmla="*/ 163 w 7"/>
                <a:gd name="T15" fmla="*/ 5 h 33"/>
                <a:gd name="T16" fmla="*/ 163 w 7"/>
                <a:gd name="T17" fmla="*/ 5 h 33"/>
                <a:gd name="T18" fmla="*/ 163 w 7"/>
                <a:gd name="T19" fmla="*/ 5 h 33"/>
                <a:gd name="T20" fmla="*/ 163 w 7"/>
                <a:gd name="T21" fmla="*/ 5 h 33"/>
                <a:gd name="T22" fmla="*/ 163 w 7"/>
                <a:gd name="T23" fmla="*/ 5 h 33"/>
                <a:gd name="T24" fmla="*/ 125 w 7"/>
                <a:gd name="T25" fmla="*/ 5 h 33"/>
                <a:gd name="T26" fmla="*/ 125 w 7"/>
                <a:gd name="T27" fmla="*/ 5 h 33"/>
                <a:gd name="T28" fmla="*/ 109 w 7"/>
                <a:gd name="T29" fmla="*/ 5 h 33"/>
                <a:gd name="T30" fmla="*/ 109 w 7"/>
                <a:gd name="T31" fmla="*/ 5 h 33"/>
                <a:gd name="T32" fmla="*/ 109 w 7"/>
                <a:gd name="T33" fmla="*/ 5 h 33"/>
                <a:gd name="T34" fmla="*/ 3 w 7"/>
                <a:gd name="T35" fmla="*/ 5 h 33"/>
                <a:gd name="T36" fmla="*/ 1 w 7"/>
                <a:gd name="T37" fmla="*/ 5 h 33"/>
                <a:gd name="T38" fmla="*/ 1 w 7"/>
                <a:gd name="T39" fmla="*/ 5 h 33"/>
                <a:gd name="T40" fmla="*/ 1 w 7"/>
                <a:gd name="T41" fmla="*/ 5 h 33"/>
                <a:gd name="T42" fmla="*/ 0 w 7"/>
                <a:gd name="T43" fmla="*/ 5 h 33"/>
                <a:gd name="T44" fmla="*/ 0 w 7"/>
                <a:gd name="T45" fmla="*/ 5 h 33"/>
                <a:gd name="T46" fmla="*/ 0 w 7"/>
                <a:gd name="T47" fmla="*/ 5 h 33"/>
                <a:gd name="T48" fmla="*/ 0 w 7"/>
                <a:gd name="T49" fmla="*/ 5 h 33"/>
                <a:gd name="T50" fmla="*/ 0 w 7"/>
                <a:gd name="T51" fmla="*/ 5 h 33"/>
                <a:gd name="T52" fmla="*/ 0 w 7"/>
                <a:gd name="T53" fmla="*/ 5 h 33"/>
                <a:gd name="T54" fmla="*/ 0 w 7"/>
                <a:gd name="T55" fmla="*/ 5 h 33"/>
                <a:gd name="T56" fmla="*/ 0 w 7"/>
                <a:gd name="T57" fmla="*/ 4 h 33"/>
                <a:gd name="T58" fmla="*/ 0 w 7"/>
                <a:gd name="T59" fmla="*/ 3 h 33"/>
                <a:gd name="T60" fmla="*/ 0 w 7"/>
                <a:gd name="T61" fmla="*/ 3 h 33"/>
                <a:gd name="T62" fmla="*/ 0 w 7"/>
                <a:gd name="T63" fmla="*/ 2 h 33"/>
                <a:gd name="T64" fmla="*/ 1 w 7"/>
                <a:gd name="T65" fmla="*/ 2 h 33"/>
                <a:gd name="T66" fmla="*/ 1 w 7"/>
                <a:gd name="T67" fmla="*/ 2 h 33"/>
                <a:gd name="T68" fmla="*/ 1 w 7"/>
                <a:gd name="T69" fmla="*/ 0 h 33"/>
                <a:gd name="T70" fmla="*/ 1 w 7"/>
                <a:gd name="T71" fmla="*/ 2 h 33"/>
                <a:gd name="T72" fmla="*/ 3 w 7"/>
                <a:gd name="T73" fmla="*/ 2 h 33"/>
                <a:gd name="T74" fmla="*/ 3 w 7"/>
                <a:gd name="T75" fmla="*/ 2 h 33"/>
                <a:gd name="T76" fmla="*/ 109 w 7"/>
                <a:gd name="T77" fmla="*/ 2 h 33"/>
                <a:gd name="T78" fmla="*/ 109 w 7"/>
                <a:gd name="T79" fmla="*/ 3 h 3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"/>
                <a:gd name="T121" fmla="*/ 0 h 33"/>
                <a:gd name="T122" fmla="*/ 7 w 7"/>
                <a:gd name="T123" fmla="*/ 33 h 3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" h="33">
                  <a:moveTo>
                    <a:pt x="4" y="3"/>
                  </a:moveTo>
                  <a:lnTo>
                    <a:pt x="4" y="4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9"/>
                  </a:lnTo>
                  <a:lnTo>
                    <a:pt x="4" y="10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5" y="17"/>
                  </a:lnTo>
                  <a:lnTo>
                    <a:pt x="5" y="19"/>
                  </a:lnTo>
                  <a:lnTo>
                    <a:pt x="7" y="20"/>
                  </a:lnTo>
                  <a:lnTo>
                    <a:pt x="7" y="21"/>
                  </a:lnTo>
                  <a:lnTo>
                    <a:pt x="7" y="23"/>
                  </a:lnTo>
                  <a:lnTo>
                    <a:pt x="7" y="24"/>
                  </a:lnTo>
                  <a:lnTo>
                    <a:pt x="7" y="26"/>
                  </a:lnTo>
                  <a:lnTo>
                    <a:pt x="7" y="27"/>
                  </a:lnTo>
                  <a:lnTo>
                    <a:pt x="7" y="28"/>
                  </a:lnTo>
                  <a:lnTo>
                    <a:pt x="7" y="30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1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1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5" name="Freeform 40"/>
            <p:cNvSpPr>
              <a:spLocks/>
            </p:cNvSpPr>
            <p:nvPr/>
          </p:nvSpPr>
          <p:spPr bwMode="auto">
            <a:xfrm>
              <a:off x="3834" y="478"/>
              <a:ext cx="25" cy="30"/>
            </a:xfrm>
            <a:custGeom>
              <a:avLst/>
              <a:gdLst>
                <a:gd name="T0" fmla="*/ 6 w 27"/>
                <a:gd name="T1" fmla="*/ 15 h 31"/>
                <a:gd name="T2" fmla="*/ 6 w 27"/>
                <a:gd name="T3" fmla="*/ 15 h 31"/>
                <a:gd name="T4" fmla="*/ 6 w 27"/>
                <a:gd name="T5" fmla="*/ 15 h 31"/>
                <a:gd name="T6" fmla="*/ 6 w 27"/>
                <a:gd name="T7" fmla="*/ 15 h 31"/>
                <a:gd name="T8" fmla="*/ 6 w 27"/>
                <a:gd name="T9" fmla="*/ 15 h 31"/>
                <a:gd name="T10" fmla="*/ 6 w 27"/>
                <a:gd name="T11" fmla="*/ 15 h 31"/>
                <a:gd name="T12" fmla="*/ 6 w 27"/>
                <a:gd name="T13" fmla="*/ 15 h 31"/>
                <a:gd name="T14" fmla="*/ 6 w 27"/>
                <a:gd name="T15" fmla="*/ 15 h 31"/>
                <a:gd name="T16" fmla="*/ 6 w 27"/>
                <a:gd name="T17" fmla="*/ 15 h 31"/>
                <a:gd name="T18" fmla="*/ 6 w 27"/>
                <a:gd name="T19" fmla="*/ 15 h 31"/>
                <a:gd name="T20" fmla="*/ 6 w 27"/>
                <a:gd name="T21" fmla="*/ 15 h 31"/>
                <a:gd name="T22" fmla="*/ 6 w 27"/>
                <a:gd name="T23" fmla="*/ 15 h 31"/>
                <a:gd name="T24" fmla="*/ 6 w 27"/>
                <a:gd name="T25" fmla="*/ 15 h 31"/>
                <a:gd name="T26" fmla="*/ 6 w 27"/>
                <a:gd name="T27" fmla="*/ 15 h 31"/>
                <a:gd name="T28" fmla="*/ 5 w 27"/>
                <a:gd name="T29" fmla="*/ 15 h 31"/>
                <a:gd name="T30" fmla="*/ 4 w 27"/>
                <a:gd name="T31" fmla="*/ 15 h 31"/>
                <a:gd name="T32" fmla="*/ 3 w 27"/>
                <a:gd name="T33" fmla="*/ 15 h 31"/>
                <a:gd name="T34" fmla="*/ 1 w 27"/>
                <a:gd name="T35" fmla="*/ 14 h 31"/>
                <a:gd name="T36" fmla="*/ 1 w 27"/>
                <a:gd name="T37" fmla="*/ 10 h 31"/>
                <a:gd name="T38" fmla="*/ 1 w 27"/>
                <a:gd name="T39" fmla="*/ 7 h 31"/>
                <a:gd name="T40" fmla="*/ 1 w 27"/>
                <a:gd name="T41" fmla="*/ 4 h 31"/>
                <a:gd name="T42" fmla="*/ 3 w 27"/>
                <a:gd name="T43" fmla="*/ 3 h 31"/>
                <a:gd name="T44" fmla="*/ 4 w 27"/>
                <a:gd name="T45" fmla="*/ 1 h 31"/>
                <a:gd name="T46" fmla="*/ 5 w 27"/>
                <a:gd name="T47" fmla="*/ 0 h 31"/>
                <a:gd name="T48" fmla="*/ 6 w 27"/>
                <a:gd name="T49" fmla="*/ 0 h 31"/>
                <a:gd name="T50" fmla="*/ 6 w 27"/>
                <a:gd name="T51" fmla="*/ 0 h 31"/>
                <a:gd name="T52" fmla="*/ 6 w 27"/>
                <a:gd name="T53" fmla="*/ 0 h 31"/>
                <a:gd name="T54" fmla="*/ 6 w 27"/>
                <a:gd name="T55" fmla="*/ 1 h 31"/>
                <a:gd name="T56" fmla="*/ 6 w 27"/>
                <a:gd name="T57" fmla="*/ 3 h 31"/>
                <a:gd name="T58" fmla="*/ 6 w 27"/>
                <a:gd name="T59" fmla="*/ 4 h 31"/>
                <a:gd name="T60" fmla="*/ 6 w 27"/>
                <a:gd name="T61" fmla="*/ 6 h 31"/>
                <a:gd name="T62" fmla="*/ 6 w 27"/>
                <a:gd name="T63" fmla="*/ 7 h 31"/>
                <a:gd name="T64" fmla="*/ 6 w 27"/>
                <a:gd name="T65" fmla="*/ 8 h 31"/>
                <a:gd name="T66" fmla="*/ 6 w 27"/>
                <a:gd name="T67" fmla="*/ 10 h 31"/>
                <a:gd name="T68" fmla="*/ 6 w 27"/>
                <a:gd name="T69" fmla="*/ 11 h 31"/>
                <a:gd name="T70" fmla="*/ 6 w 27"/>
                <a:gd name="T71" fmla="*/ 13 h 31"/>
                <a:gd name="T72" fmla="*/ 6 w 27"/>
                <a:gd name="T73" fmla="*/ 15 h 31"/>
                <a:gd name="T74" fmla="*/ 6 w 27"/>
                <a:gd name="T75" fmla="*/ 15 h 31"/>
                <a:gd name="T76" fmla="*/ 6 w 27"/>
                <a:gd name="T77" fmla="*/ 15 h 31"/>
                <a:gd name="T78" fmla="*/ 6 w 27"/>
                <a:gd name="T79" fmla="*/ 15 h 31"/>
                <a:gd name="T80" fmla="*/ 6 w 27"/>
                <a:gd name="T81" fmla="*/ 15 h 31"/>
                <a:gd name="T82" fmla="*/ 6 w 27"/>
                <a:gd name="T83" fmla="*/ 15 h 31"/>
                <a:gd name="T84" fmla="*/ 6 w 27"/>
                <a:gd name="T85" fmla="*/ 15 h 31"/>
                <a:gd name="T86" fmla="*/ 6 w 27"/>
                <a:gd name="T87" fmla="*/ 15 h 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7"/>
                <a:gd name="T133" fmla="*/ 0 h 31"/>
                <a:gd name="T134" fmla="*/ 27 w 27"/>
                <a:gd name="T135" fmla="*/ 31 h 3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7" h="31">
                  <a:moveTo>
                    <a:pt x="25" y="27"/>
                  </a:moveTo>
                  <a:lnTo>
                    <a:pt x="25" y="27"/>
                  </a:lnTo>
                  <a:lnTo>
                    <a:pt x="25" y="28"/>
                  </a:lnTo>
                  <a:lnTo>
                    <a:pt x="24" y="30"/>
                  </a:lnTo>
                  <a:lnTo>
                    <a:pt x="22" y="30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8" y="31"/>
                  </a:lnTo>
                  <a:lnTo>
                    <a:pt x="17" y="31"/>
                  </a:lnTo>
                  <a:lnTo>
                    <a:pt x="15" y="31"/>
                  </a:lnTo>
                  <a:lnTo>
                    <a:pt x="14" y="30"/>
                  </a:lnTo>
                  <a:lnTo>
                    <a:pt x="12" y="30"/>
                  </a:lnTo>
                  <a:lnTo>
                    <a:pt x="11" y="28"/>
                  </a:lnTo>
                  <a:lnTo>
                    <a:pt x="10" y="28"/>
                  </a:lnTo>
                  <a:lnTo>
                    <a:pt x="10" y="27"/>
                  </a:lnTo>
                  <a:lnTo>
                    <a:pt x="8" y="27"/>
                  </a:lnTo>
                  <a:lnTo>
                    <a:pt x="8" y="25"/>
                  </a:lnTo>
                  <a:lnTo>
                    <a:pt x="7" y="24"/>
                  </a:lnTo>
                  <a:lnTo>
                    <a:pt x="5" y="23"/>
                  </a:lnTo>
                  <a:lnTo>
                    <a:pt x="5" y="21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4"/>
                  </a:lnTo>
                  <a:lnTo>
                    <a:pt x="1" y="3"/>
                  </a:lnTo>
                  <a:lnTo>
                    <a:pt x="3" y="3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5" y="3"/>
                  </a:lnTo>
                  <a:lnTo>
                    <a:pt x="17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8" y="6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21" y="7"/>
                  </a:lnTo>
                  <a:lnTo>
                    <a:pt x="21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24" y="13"/>
                  </a:lnTo>
                  <a:lnTo>
                    <a:pt x="24" y="14"/>
                  </a:lnTo>
                  <a:lnTo>
                    <a:pt x="25" y="15"/>
                  </a:lnTo>
                  <a:lnTo>
                    <a:pt x="25" y="17"/>
                  </a:lnTo>
                  <a:lnTo>
                    <a:pt x="25" y="18"/>
                  </a:lnTo>
                  <a:lnTo>
                    <a:pt x="27" y="20"/>
                  </a:lnTo>
                  <a:lnTo>
                    <a:pt x="27" y="21"/>
                  </a:lnTo>
                  <a:lnTo>
                    <a:pt x="27" y="23"/>
                  </a:lnTo>
                  <a:lnTo>
                    <a:pt x="27" y="24"/>
                  </a:lnTo>
                  <a:lnTo>
                    <a:pt x="25" y="24"/>
                  </a:lnTo>
                  <a:lnTo>
                    <a:pt x="25" y="25"/>
                  </a:lnTo>
                  <a:lnTo>
                    <a:pt x="25" y="27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6" name="Freeform 41"/>
            <p:cNvSpPr>
              <a:spLocks/>
            </p:cNvSpPr>
            <p:nvPr/>
          </p:nvSpPr>
          <p:spPr bwMode="auto">
            <a:xfrm>
              <a:off x="3894" y="525"/>
              <a:ext cx="32" cy="30"/>
            </a:xfrm>
            <a:custGeom>
              <a:avLst/>
              <a:gdLst>
                <a:gd name="T0" fmla="*/ 8 w 34"/>
                <a:gd name="T1" fmla="*/ 2 h 31"/>
                <a:gd name="T2" fmla="*/ 8 w 34"/>
                <a:gd name="T3" fmla="*/ 0 h 31"/>
                <a:gd name="T4" fmla="*/ 8 w 34"/>
                <a:gd name="T5" fmla="*/ 0 h 31"/>
                <a:gd name="T6" fmla="*/ 8 w 34"/>
                <a:gd name="T7" fmla="*/ 0 h 31"/>
                <a:gd name="T8" fmla="*/ 8 w 34"/>
                <a:gd name="T9" fmla="*/ 2 h 31"/>
                <a:gd name="T10" fmla="*/ 8 w 34"/>
                <a:gd name="T11" fmla="*/ 2 h 31"/>
                <a:gd name="T12" fmla="*/ 8 w 34"/>
                <a:gd name="T13" fmla="*/ 3 h 31"/>
                <a:gd name="T14" fmla="*/ 8 w 34"/>
                <a:gd name="T15" fmla="*/ 5 h 31"/>
                <a:gd name="T16" fmla="*/ 8 w 34"/>
                <a:gd name="T17" fmla="*/ 6 h 31"/>
                <a:gd name="T18" fmla="*/ 8 w 34"/>
                <a:gd name="T19" fmla="*/ 7 h 31"/>
                <a:gd name="T20" fmla="*/ 8 w 34"/>
                <a:gd name="T21" fmla="*/ 10 h 31"/>
                <a:gd name="T22" fmla="*/ 8 w 34"/>
                <a:gd name="T23" fmla="*/ 12 h 31"/>
                <a:gd name="T24" fmla="*/ 8 w 34"/>
                <a:gd name="T25" fmla="*/ 13 h 31"/>
                <a:gd name="T26" fmla="*/ 8 w 34"/>
                <a:gd name="T27" fmla="*/ 14 h 31"/>
                <a:gd name="T28" fmla="*/ 8 w 34"/>
                <a:gd name="T29" fmla="*/ 15 h 31"/>
                <a:gd name="T30" fmla="*/ 8 w 34"/>
                <a:gd name="T31" fmla="*/ 15 h 31"/>
                <a:gd name="T32" fmla="*/ 8 w 34"/>
                <a:gd name="T33" fmla="*/ 15 h 31"/>
                <a:gd name="T34" fmla="*/ 8 w 34"/>
                <a:gd name="T35" fmla="*/ 15 h 31"/>
                <a:gd name="T36" fmla="*/ 8 w 34"/>
                <a:gd name="T37" fmla="*/ 15 h 31"/>
                <a:gd name="T38" fmla="*/ 8 w 34"/>
                <a:gd name="T39" fmla="*/ 15 h 31"/>
                <a:gd name="T40" fmla="*/ 8 w 34"/>
                <a:gd name="T41" fmla="*/ 15 h 31"/>
                <a:gd name="T42" fmla="*/ 8 w 34"/>
                <a:gd name="T43" fmla="*/ 15 h 31"/>
                <a:gd name="T44" fmla="*/ 8 w 34"/>
                <a:gd name="T45" fmla="*/ 15 h 31"/>
                <a:gd name="T46" fmla="*/ 8 w 34"/>
                <a:gd name="T47" fmla="*/ 15 h 31"/>
                <a:gd name="T48" fmla="*/ 8 w 34"/>
                <a:gd name="T49" fmla="*/ 15 h 31"/>
                <a:gd name="T50" fmla="*/ 8 w 34"/>
                <a:gd name="T51" fmla="*/ 15 h 31"/>
                <a:gd name="T52" fmla="*/ 8 w 34"/>
                <a:gd name="T53" fmla="*/ 15 h 31"/>
                <a:gd name="T54" fmla="*/ 8 w 34"/>
                <a:gd name="T55" fmla="*/ 15 h 31"/>
                <a:gd name="T56" fmla="*/ 8 w 34"/>
                <a:gd name="T57" fmla="*/ 15 h 31"/>
                <a:gd name="T58" fmla="*/ 8 w 34"/>
                <a:gd name="T59" fmla="*/ 15 h 31"/>
                <a:gd name="T60" fmla="*/ 6 w 34"/>
                <a:gd name="T61" fmla="*/ 15 h 31"/>
                <a:gd name="T62" fmla="*/ 3 w 34"/>
                <a:gd name="T63" fmla="*/ 15 h 31"/>
                <a:gd name="T64" fmla="*/ 2 w 34"/>
                <a:gd name="T65" fmla="*/ 15 h 31"/>
                <a:gd name="T66" fmla="*/ 0 w 34"/>
                <a:gd name="T67" fmla="*/ 15 h 31"/>
                <a:gd name="T68" fmla="*/ 0 w 34"/>
                <a:gd name="T69" fmla="*/ 15 h 31"/>
                <a:gd name="T70" fmla="*/ 0 w 34"/>
                <a:gd name="T71" fmla="*/ 15 h 31"/>
                <a:gd name="T72" fmla="*/ 0 w 34"/>
                <a:gd name="T73" fmla="*/ 13 h 31"/>
                <a:gd name="T74" fmla="*/ 2 w 34"/>
                <a:gd name="T75" fmla="*/ 10 h 31"/>
                <a:gd name="T76" fmla="*/ 4 w 34"/>
                <a:gd name="T77" fmla="*/ 7 h 31"/>
                <a:gd name="T78" fmla="*/ 6 w 34"/>
                <a:gd name="T79" fmla="*/ 6 h 31"/>
                <a:gd name="T80" fmla="*/ 8 w 34"/>
                <a:gd name="T81" fmla="*/ 5 h 31"/>
                <a:gd name="T82" fmla="*/ 8 w 34"/>
                <a:gd name="T83" fmla="*/ 5 h 31"/>
                <a:gd name="T84" fmla="*/ 8 w 34"/>
                <a:gd name="T85" fmla="*/ 3 h 31"/>
                <a:gd name="T86" fmla="*/ 8 w 34"/>
                <a:gd name="T87" fmla="*/ 3 h 31"/>
                <a:gd name="T88" fmla="*/ 8 w 34"/>
                <a:gd name="T89" fmla="*/ 2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4"/>
                <a:gd name="T136" fmla="*/ 0 h 31"/>
                <a:gd name="T137" fmla="*/ 34 w 34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4" h="31">
                  <a:moveTo>
                    <a:pt x="17" y="2"/>
                  </a:moveTo>
                  <a:lnTo>
                    <a:pt x="17" y="2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8" y="2"/>
                  </a:lnTo>
                  <a:lnTo>
                    <a:pt x="30" y="2"/>
                  </a:lnTo>
                  <a:lnTo>
                    <a:pt x="30" y="3"/>
                  </a:lnTo>
                  <a:lnTo>
                    <a:pt x="31" y="3"/>
                  </a:lnTo>
                  <a:lnTo>
                    <a:pt x="31" y="5"/>
                  </a:lnTo>
                  <a:lnTo>
                    <a:pt x="33" y="6"/>
                  </a:lnTo>
                  <a:lnTo>
                    <a:pt x="33" y="7"/>
                  </a:lnTo>
                  <a:lnTo>
                    <a:pt x="33" y="9"/>
                  </a:lnTo>
                  <a:lnTo>
                    <a:pt x="33" y="10"/>
                  </a:lnTo>
                  <a:lnTo>
                    <a:pt x="34" y="12"/>
                  </a:lnTo>
                  <a:lnTo>
                    <a:pt x="34" y="13"/>
                  </a:lnTo>
                  <a:lnTo>
                    <a:pt x="34" y="14"/>
                  </a:lnTo>
                  <a:lnTo>
                    <a:pt x="34" y="16"/>
                  </a:lnTo>
                  <a:lnTo>
                    <a:pt x="33" y="17"/>
                  </a:lnTo>
                  <a:lnTo>
                    <a:pt x="33" y="19"/>
                  </a:lnTo>
                  <a:lnTo>
                    <a:pt x="33" y="20"/>
                  </a:lnTo>
                  <a:lnTo>
                    <a:pt x="33" y="21"/>
                  </a:lnTo>
                  <a:lnTo>
                    <a:pt x="31" y="23"/>
                  </a:lnTo>
                  <a:lnTo>
                    <a:pt x="31" y="24"/>
                  </a:lnTo>
                  <a:lnTo>
                    <a:pt x="30" y="26"/>
                  </a:lnTo>
                  <a:lnTo>
                    <a:pt x="28" y="26"/>
                  </a:lnTo>
                  <a:lnTo>
                    <a:pt x="27" y="27"/>
                  </a:lnTo>
                  <a:lnTo>
                    <a:pt x="25" y="28"/>
                  </a:lnTo>
                  <a:lnTo>
                    <a:pt x="24" y="28"/>
                  </a:lnTo>
                  <a:lnTo>
                    <a:pt x="23" y="30"/>
                  </a:lnTo>
                  <a:lnTo>
                    <a:pt x="21" y="30"/>
                  </a:lnTo>
                  <a:lnTo>
                    <a:pt x="20" y="30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1"/>
                  </a:lnTo>
                  <a:lnTo>
                    <a:pt x="14" y="31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9" y="31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3" y="27"/>
                  </a:lnTo>
                  <a:lnTo>
                    <a:pt x="2" y="26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6" y="6"/>
                  </a:lnTo>
                  <a:lnTo>
                    <a:pt x="7" y="5"/>
                  </a:lnTo>
                  <a:lnTo>
                    <a:pt x="9" y="5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7" y="2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7" name="Freeform 42"/>
            <p:cNvSpPr>
              <a:spLocks/>
            </p:cNvSpPr>
            <p:nvPr/>
          </p:nvSpPr>
          <p:spPr bwMode="auto">
            <a:xfrm>
              <a:off x="3949" y="479"/>
              <a:ext cx="10" cy="32"/>
            </a:xfrm>
            <a:custGeom>
              <a:avLst/>
              <a:gdLst>
                <a:gd name="T0" fmla="*/ 7 w 10"/>
                <a:gd name="T1" fmla="*/ 0 h 34"/>
                <a:gd name="T2" fmla="*/ 9 w 10"/>
                <a:gd name="T3" fmla="*/ 2 h 34"/>
                <a:gd name="T4" fmla="*/ 10 w 10"/>
                <a:gd name="T5" fmla="*/ 3 h 34"/>
                <a:gd name="T6" fmla="*/ 10 w 10"/>
                <a:gd name="T7" fmla="*/ 5 h 34"/>
                <a:gd name="T8" fmla="*/ 10 w 10"/>
                <a:gd name="T9" fmla="*/ 8 h 34"/>
                <a:gd name="T10" fmla="*/ 10 w 10"/>
                <a:gd name="T11" fmla="*/ 8 h 34"/>
                <a:gd name="T12" fmla="*/ 10 w 10"/>
                <a:gd name="T13" fmla="*/ 8 h 34"/>
                <a:gd name="T14" fmla="*/ 10 w 10"/>
                <a:gd name="T15" fmla="*/ 8 h 34"/>
                <a:gd name="T16" fmla="*/ 10 w 10"/>
                <a:gd name="T17" fmla="*/ 8 h 34"/>
                <a:gd name="T18" fmla="*/ 10 w 10"/>
                <a:gd name="T19" fmla="*/ 8 h 34"/>
                <a:gd name="T20" fmla="*/ 10 w 10"/>
                <a:gd name="T21" fmla="*/ 8 h 34"/>
                <a:gd name="T22" fmla="*/ 9 w 10"/>
                <a:gd name="T23" fmla="*/ 8 h 34"/>
                <a:gd name="T24" fmla="*/ 9 w 10"/>
                <a:gd name="T25" fmla="*/ 8 h 34"/>
                <a:gd name="T26" fmla="*/ 9 w 10"/>
                <a:gd name="T27" fmla="*/ 8 h 34"/>
                <a:gd name="T28" fmla="*/ 7 w 10"/>
                <a:gd name="T29" fmla="*/ 8 h 34"/>
                <a:gd name="T30" fmla="*/ 6 w 10"/>
                <a:gd name="T31" fmla="*/ 8 h 34"/>
                <a:gd name="T32" fmla="*/ 5 w 10"/>
                <a:gd name="T33" fmla="*/ 8 h 34"/>
                <a:gd name="T34" fmla="*/ 3 w 10"/>
                <a:gd name="T35" fmla="*/ 8 h 34"/>
                <a:gd name="T36" fmla="*/ 2 w 10"/>
                <a:gd name="T37" fmla="*/ 8 h 34"/>
                <a:gd name="T38" fmla="*/ 2 w 10"/>
                <a:gd name="T39" fmla="*/ 8 h 34"/>
                <a:gd name="T40" fmla="*/ 0 w 10"/>
                <a:gd name="T41" fmla="*/ 8 h 34"/>
                <a:gd name="T42" fmla="*/ 0 w 10"/>
                <a:gd name="T43" fmla="*/ 8 h 34"/>
                <a:gd name="T44" fmla="*/ 0 w 10"/>
                <a:gd name="T45" fmla="*/ 8 h 34"/>
                <a:gd name="T46" fmla="*/ 0 w 10"/>
                <a:gd name="T47" fmla="*/ 8 h 34"/>
                <a:gd name="T48" fmla="*/ 2 w 10"/>
                <a:gd name="T49" fmla="*/ 8 h 34"/>
                <a:gd name="T50" fmla="*/ 2 w 10"/>
                <a:gd name="T51" fmla="*/ 8 h 34"/>
                <a:gd name="T52" fmla="*/ 2 w 10"/>
                <a:gd name="T53" fmla="*/ 8 h 34"/>
                <a:gd name="T54" fmla="*/ 3 w 10"/>
                <a:gd name="T55" fmla="*/ 8 h 34"/>
                <a:gd name="T56" fmla="*/ 3 w 10"/>
                <a:gd name="T57" fmla="*/ 8 h 34"/>
                <a:gd name="T58" fmla="*/ 3 w 10"/>
                <a:gd name="T59" fmla="*/ 8 h 34"/>
                <a:gd name="T60" fmla="*/ 3 w 10"/>
                <a:gd name="T61" fmla="*/ 7 h 34"/>
                <a:gd name="T62" fmla="*/ 5 w 10"/>
                <a:gd name="T63" fmla="*/ 6 h 34"/>
                <a:gd name="T64" fmla="*/ 5 w 10"/>
                <a:gd name="T65" fmla="*/ 3 h 34"/>
                <a:gd name="T66" fmla="*/ 5 w 10"/>
                <a:gd name="T67" fmla="*/ 3 h 34"/>
                <a:gd name="T68" fmla="*/ 6 w 10"/>
                <a:gd name="T69" fmla="*/ 2 h 34"/>
                <a:gd name="T70" fmla="*/ 6 w 10"/>
                <a:gd name="T71" fmla="*/ 2 h 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0"/>
                <a:gd name="T109" fmla="*/ 0 h 34"/>
                <a:gd name="T110" fmla="*/ 10 w 10"/>
                <a:gd name="T111" fmla="*/ 34 h 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0" h="34">
                  <a:moveTo>
                    <a:pt x="7" y="2"/>
                  </a:moveTo>
                  <a:lnTo>
                    <a:pt x="7" y="0"/>
                  </a:lnTo>
                  <a:lnTo>
                    <a:pt x="9" y="0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0" y="3"/>
                  </a:lnTo>
                  <a:lnTo>
                    <a:pt x="10" y="5"/>
                  </a:lnTo>
                  <a:lnTo>
                    <a:pt x="10" y="7"/>
                  </a:lnTo>
                  <a:lnTo>
                    <a:pt x="10" y="9"/>
                  </a:lnTo>
                  <a:lnTo>
                    <a:pt x="10" y="10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10" y="16"/>
                  </a:lnTo>
                  <a:lnTo>
                    <a:pt x="10" y="17"/>
                  </a:lnTo>
                  <a:lnTo>
                    <a:pt x="10" y="19"/>
                  </a:lnTo>
                  <a:lnTo>
                    <a:pt x="10" y="20"/>
                  </a:lnTo>
                  <a:lnTo>
                    <a:pt x="10" y="22"/>
                  </a:lnTo>
                  <a:lnTo>
                    <a:pt x="10" y="23"/>
                  </a:lnTo>
                  <a:lnTo>
                    <a:pt x="10" y="24"/>
                  </a:lnTo>
                  <a:lnTo>
                    <a:pt x="10" y="26"/>
                  </a:lnTo>
                  <a:lnTo>
                    <a:pt x="9" y="27"/>
                  </a:lnTo>
                  <a:lnTo>
                    <a:pt x="9" y="29"/>
                  </a:lnTo>
                  <a:lnTo>
                    <a:pt x="9" y="30"/>
                  </a:lnTo>
                  <a:lnTo>
                    <a:pt x="9" y="31"/>
                  </a:lnTo>
                  <a:lnTo>
                    <a:pt x="7" y="33"/>
                  </a:lnTo>
                  <a:lnTo>
                    <a:pt x="7" y="34"/>
                  </a:lnTo>
                  <a:lnTo>
                    <a:pt x="6" y="34"/>
                  </a:lnTo>
                  <a:lnTo>
                    <a:pt x="5" y="34"/>
                  </a:lnTo>
                  <a:lnTo>
                    <a:pt x="3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0" y="31"/>
                  </a:lnTo>
                  <a:lnTo>
                    <a:pt x="0" y="30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2" y="20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6"/>
                  </a:lnTo>
                  <a:lnTo>
                    <a:pt x="5" y="6"/>
                  </a:lnTo>
                  <a:lnTo>
                    <a:pt x="5" y="5"/>
                  </a:lnTo>
                  <a:lnTo>
                    <a:pt x="5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7" y="2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8" name="Freeform 43"/>
            <p:cNvSpPr>
              <a:spLocks/>
            </p:cNvSpPr>
            <p:nvPr/>
          </p:nvSpPr>
          <p:spPr bwMode="auto">
            <a:xfrm>
              <a:off x="3951" y="448"/>
              <a:ext cx="8" cy="33"/>
            </a:xfrm>
            <a:custGeom>
              <a:avLst/>
              <a:gdLst>
                <a:gd name="T0" fmla="*/ 5 w 8"/>
                <a:gd name="T1" fmla="*/ 0 h 35"/>
                <a:gd name="T2" fmla="*/ 5 w 8"/>
                <a:gd name="T3" fmla="*/ 0 h 35"/>
                <a:gd name="T4" fmla="*/ 5 w 8"/>
                <a:gd name="T5" fmla="*/ 0 h 35"/>
                <a:gd name="T6" fmla="*/ 7 w 8"/>
                <a:gd name="T7" fmla="*/ 0 h 35"/>
                <a:gd name="T8" fmla="*/ 7 w 8"/>
                <a:gd name="T9" fmla="*/ 1 h 35"/>
                <a:gd name="T10" fmla="*/ 7 w 8"/>
                <a:gd name="T11" fmla="*/ 1 h 35"/>
                <a:gd name="T12" fmla="*/ 8 w 8"/>
                <a:gd name="T13" fmla="*/ 2 h 35"/>
                <a:gd name="T14" fmla="*/ 8 w 8"/>
                <a:gd name="T15" fmla="*/ 5 h 35"/>
                <a:gd name="T16" fmla="*/ 8 w 8"/>
                <a:gd name="T17" fmla="*/ 7 h 35"/>
                <a:gd name="T18" fmla="*/ 8 w 8"/>
                <a:gd name="T19" fmla="*/ 8 h 35"/>
                <a:gd name="T20" fmla="*/ 8 w 8"/>
                <a:gd name="T21" fmla="*/ 8 h 35"/>
                <a:gd name="T22" fmla="*/ 8 w 8"/>
                <a:gd name="T23" fmla="*/ 8 h 35"/>
                <a:gd name="T24" fmla="*/ 8 w 8"/>
                <a:gd name="T25" fmla="*/ 8 h 35"/>
                <a:gd name="T26" fmla="*/ 7 w 8"/>
                <a:gd name="T27" fmla="*/ 8 h 35"/>
                <a:gd name="T28" fmla="*/ 7 w 8"/>
                <a:gd name="T29" fmla="*/ 8 h 35"/>
                <a:gd name="T30" fmla="*/ 7 w 8"/>
                <a:gd name="T31" fmla="*/ 8 h 35"/>
                <a:gd name="T32" fmla="*/ 5 w 8"/>
                <a:gd name="T33" fmla="*/ 8 h 35"/>
                <a:gd name="T34" fmla="*/ 4 w 8"/>
                <a:gd name="T35" fmla="*/ 8 h 35"/>
                <a:gd name="T36" fmla="*/ 4 w 8"/>
                <a:gd name="T37" fmla="*/ 8 h 35"/>
                <a:gd name="T38" fmla="*/ 3 w 8"/>
                <a:gd name="T39" fmla="*/ 8 h 35"/>
                <a:gd name="T40" fmla="*/ 1 w 8"/>
                <a:gd name="T41" fmla="*/ 8 h 35"/>
                <a:gd name="T42" fmla="*/ 1 w 8"/>
                <a:gd name="T43" fmla="*/ 8 h 35"/>
                <a:gd name="T44" fmla="*/ 0 w 8"/>
                <a:gd name="T45" fmla="*/ 8 h 35"/>
                <a:gd name="T46" fmla="*/ 0 w 8"/>
                <a:gd name="T47" fmla="*/ 8 h 35"/>
                <a:gd name="T48" fmla="*/ 0 w 8"/>
                <a:gd name="T49" fmla="*/ 8 h 35"/>
                <a:gd name="T50" fmla="*/ 0 w 8"/>
                <a:gd name="T51" fmla="*/ 8 h 35"/>
                <a:gd name="T52" fmla="*/ 0 w 8"/>
                <a:gd name="T53" fmla="*/ 8 h 35"/>
                <a:gd name="T54" fmla="*/ 1 w 8"/>
                <a:gd name="T55" fmla="*/ 8 h 35"/>
                <a:gd name="T56" fmla="*/ 1 w 8"/>
                <a:gd name="T57" fmla="*/ 8 h 35"/>
                <a:gd name="T58" fmla="*/ 3 w 8"/>
                <a:gd name="T59" fmla="*/ 8 h 35"/>
                <a:gd name="T60" fmla="*/ 3 w 8"/>
                <a:gd name="T61" fmla="*/ 8 h 35"/>
                <a:gd name="T62" fmla="*/ 3 w 8"/>
                <a:gd name="T63" fmla="*/ 8 h 35"/>
                <a:gd name="T64" fmla="*/ 3 w 8"/>
                <a:gd name="T65" fmla="*/ 7 h 35"/>
                <a:gd name="T66" fmla="*/ 3 w 8"/>
                <a:gd name="T67" fmla="*/ 2 h 35"/>
                <a:gd name="T68" fmla="*/ 3 w 8"/>
                <a:gd name="T69" fmla="*/ 1 h 35"/>
                <a:gd name="T70" fmla="*/ 4 w 8"/>
                <a:gd name="T71" fmla="*/ 0 h 35"/>
                <a:gd name="T72" fmla="*/ 4 w 8"/>
                <a:gd name="T73" fmla="*/ 0 h 35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8"/>
                <a:gd name="T112" fmla="*/ 0 h 35"/>
                <a:gd name="T113" fmla="*/ 8 w 8"/>
                <a:gd name="T114" fmla="*/ 35 h 35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8" h="35">
                  <a:moveTo>
                    <a:pt x="5" y="0"/>
                  </a:moveTo>
                  <a:lnTo>
                    <a:pt x="5" y="0"/>
                  </a:lnTo>
                  <a:lnTo>
                    <a:pt x="7" y="0"/>
                  </a:lnTo>
                  <a:lnTo>
                    <a:pt x="7" y="1"/>
                  </a:lnTo>
                  <a:lnTo>
                    <a:pt x="8" y="2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7"/>
                  </a:lnTo>
                  <a:lnTo>
                    <a:pt x="8" y="8"/>
                  </a:lnTo>
                  <a:lnTo>
                    <a:pt x="8" y="9"/>
                  </a:lnTo>
                  <a:lnTo>
                    <a:pt x="8" y="12"/>
                  </a:lnTo>
                  <a:lnTo>
                    <a:pt x="8" y="14"/>
                  </a:lnTo>
                  <a:lnTo>
                    <a:pt x="8" y="15"/>
                  </a:lnTo>
                  <a:lnTo>
                    <a:pt x="8" y="18"/>
                  </a:lnTo>
                  <a:lnTo>
                    <a:pt x="8" y="19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7" y="29"/>
                  </a:lnTo>
                  <a:lnTo>
                    <a:pt x="7" y="31"/>
                  </a:lnTo>
                  <a:lnTo>
                    <a:pt x="7" y="32"/>
                  </a:lnTo>
                  <a:lnTo>
                    <a:pt x="5" y="33"/>
                  </a:lnTo>
                  <a:lnTo>
                    <a:pt x="5" y="35"/>
                  </a:lnTo>
                  <a:lnTo>
                    <a:pt x="4" y="35"/>
                  </a:lnTo>
                  <a:lnTo>
                    <a:pt x="3" y="35"/>
                  </a:lnTo>
                  <a:lnTo>
                    <a:pt x="1" y="35"/>
                  </a:lnTo>
                  <a:lnTo>
                    <a:pt x="1" y="33"/>
                  </a:lnTo>
                  <a:lnTo>
                    <a:pt x="0" y="33"/>
                  </a:lnTo>
                  <a:lnTo>
                    <a:pt x="0" y="32"/>
                  </a:lnTo>
                  <a:lnTo>
                    <a:pt x="0" y="31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1" y="22"/>
                  </a:lnTo>
                  <a:lnTo>
                    <a:pt x="1" y="21"/>
                  </a:lnTo>
                  <a:lnTo>
                    <a:pt x="1" y="19"/>
                  </a:lnTo>
                  <a:lnTo>
                    <a:pt x="1" y="16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3" y="9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9" name="Freeform 44"/>
            <p:cNvSpPr>
              <a:spLocks/>
            </p:cNvSpPr>
            <p:nvPr/>
          </p:nvSpPr>
          <p:spPr bwMode="auto">
            <a:xfrm>
              <a:off x="3951" y="511"/>
              <a:ext cx="8" cy="30"/>
            </a:xfrm>
            <a:custGeom>
              <a:avLst/>
              <a:gdLst>
                <a:gd name="T0" fmla="*/ 125 w 7"/>
                <a:gd name="T1" fmla="*/ 0 h 31"/>
                <a:gd name="T2" fmla="*/ 125 w 7"/>
                <a:gd name="T3" fmla="*/ 0 h 31"/>
                <a:gd name="T4" fmla="*/ 125 w 7"/>
                <a:gd name="T5" fmla="*/ 0 h 31"/>
                <a:gd name="T6" fmla="*/ 163 w 7"/>
                <a:gd name="T7" fmla="*/ 2 h 31"/>
                <a:gd name="T8" fmla="*/ 163 w 7"/>
                <a:gd name="T9" fmla="*/ 2 h 31"/>
                <a:gd name="T10" fmla="*/ 163 w 7"/>
                <a:gd name="T11" fmla="*/ 2 h 31"/>
                <a:gd name="T12" fmla="*/ 163 w 7"/>
                <a:gd name="T13" fmla="*/ 3 h 31"/>
                <a:gd name="T14" fmla="*/ 163 w 7"/>
                <a:gd name="T15" fmla="*/ 4 h 31"/>
                <a:gd name="T16" fmla="*/ 163 w 7"/>
                <a:gd name="T17" fmla="*/ 7 h 31"/>
                <a:gd name="T18" fmla="*/ 163 w 7"/>
                <a:gd name="T19" fmla="*/ 10 h 31"/>
                <a:gd name="T20" fmla="*/ 163 w 7"/>
                <a:gd name="T21" fmla="*/ 11 h 31"/>
                <a:gd name="T22" fmla="*/ 163 w 7"/>
                <a:gd name="T23" fmla="*/ 14 h 31"/>
                <a:gd name="T24" fmla="*/ 163 w 7"/>
                <a:gd name="T25" fmla="*/ 15 h 31"/>
                <a:gd name="T26" fmla="*/ 163 w 7"/>
                <a:gd name="T27" fmla="*/ 15 h 31"/>
                <a:gd name="T28" fmla="*/ 163 w 7"/>
                <a:gd name="T29" fmla="*/ 15 h 31"/>
                <a:gd name="T30" fmla="*/ 125 w 7"/>
                <a:gd name="T31" fmla="*/ 15 h 31"/>
                <a:gd name="T32" fmla="*/ 125 w 7"/>
                <a:gd name="T33" fmla="*/ 15 h 31"/>
                <a:gd name="T34" fmla="*/ 125 w 7"/>
                <a:gd name="T35" fmla="*/ 15 h 31"/>
                <a:gd name="T36" fmla="*/ 109 w 7"/>
                <a:gd name="T37" fmla="*/ 15 h 31"/>
                <a:gd name="T38" fmla="*/ 109 w 7"/>
                <a:gd name="T39" fmla="*/ 15 h 31"/>
                <a:gd name="T40" fmla="*/ 3 w 7"/>
                <a:gd name="T41" fmla="*/ 15 h 31"/>
                <a:gd name="T42" fmla="*/ 3 w 7"/>
                <a:gd name="T43" fmla="*/ 15 h 31"/>
                <a:gd name="T44" fmla="*/ 3 w 7"/>
                <a:gd name="T45" fmla="*/ 15 h 31"/>
                <a:gd name="T46" fmla="*/ 1 w 7"/>
                <a:gd name="T47" fmla="*/ 15 h 31"/>
                <a:gd name="T48" fmla="*/ 1 w 7"/>
                <a:gd name="T49" fmla="*/ 15 h 31"/>
                <a:gd name="T50" fmla="*/ 0 w 7"/>
                <a:gd name="T51" fmla="*/ 15 h 31"/>
                <a:gd name="T52" fmla="*/ 0 w 7"/>
                <a:gd name="T53" fmla="*/ 15 h 31"/>
                <a:gd name="T54" fmla="*/ 0 w 7"/>
                <a:gd name="T55" fmla="*/ 15 h 31"/>
                <a:gd name="T56" fmla="*/ 0 w 7"/>
                <a:gd name="T57" fmla="*/ 15 h 31"/>
                <a:gd name="T58" fmla="*/ 0 w 7"/>
                <a:gd name="T59" fmla="*/ 15 h 31"/>
                <a:gd name="T60" fmla="*/ 1 w 7"/>
                <a:gd name="T61" fmla="*/ 15 h 31"/>
                <a:gd name="T62" fmla="*/ 1 w 7"/>
                <a:gd name="T63" fmla="*/ 15 h 31"/>
                <a:gd name="T64" fmla="*/ 1 w 7"/>
                <a:gd name="T65" fmla="*/ 13 h 31"/>
                <a:gd name="T66" fmla="*/ 3 w 7"/>
                <a:gd name="T67" fmla="*/ 10 h 31"/>
                <a:gd name="T68" fmla="*/ 3 w 7"/>
                <a:gd name="T69" fmla="*/ 7 h 31"/>
                <a:gd name="T70" fmla="*/ 3 w 7"/>
                <a:gd name="T71" fmla="*/ 4 h 31"/>
                <a:gd name="T72" fmla="*/ 3 w 7"/>
                <a:gd name="T73" fmla="*/ 3 h 31"/>
                <a:gd name="T74" fmla="*/ 109 w 7"/>
                <a:gd name="T75" fmla="*/ 2 h 31"/>
                <a:gd name="T76" fmla="*/ 109 w 7"/>
                <a:gd name="T77" fmla="*/ 2 h 31"/>
                <a:gd name="T78" fmla="*/ 109 w 7"/>
                <a:gd name="T79" fmla="*/ 2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"/>
                <a:gd name="T121" fmla="*/ 0 h 31"/>
                <a:gd name="T122" fmla="*/ 7 w 7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" h="31">
                  <a:moveTo>
                    <a:pt x="5" y="0"/>
                  </a:moveTo>
                  <a:lnTo>
                    <a:pt x="5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7" y="3"/>
                  </a:lnTo>
                  <a:lnTo>
                    <a:pt x="7" y="4"/>
                  </a:lnTo>
                  <a:lnTo>
                    <a:pt x="7" y="6"/>
                  </a:lnTo>
                  <a:lnTo>
                    <a:pt x="7" y="7"/>
                  </a:lnTo>
                  <a:lnTo>
                    <a:pt x="7" y="9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7" y="16"/>
                  </a:lnTo>
                  <a:lnTo>
                    <a:pt x="7" y="17"/>
                  </a:lnTo>
                  <a:lnTo>
                    <a:pt x="7" y="19"/>
                  </a:lnTo>
                  <a:lnTo>
                    <a:pt x="7" y="20"/>
                  </a:lnTo>
                  <a:lnTo>
                    <a:pt x="7" y="21"/>
                  </a:lnTo>
                  <a:lnTo>
                    <a:pt x="7" y="23"/>
                  </a:lnTo>
                  <a:lnTo>
                    <a:pt x="7" y="24"/>
                  </a:lnTo>
                  <a:lnTo>
                    <a:pt x="5" y="26"/>
                  </a:lnTo>
                  <a:lnTo>
                    <a:pt x="5" y="27"/>
                  </a:lnTo>
                  <a:lnTo>
                    <a:pt x="5" y="28"/>
                  </a:lnTo>
                  <a:lnTo>
                    <a:pt x="5" y="30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31"/>
                  </a:lnTo>
                  <a:lnTo>
                    <a:pt x="0" y="30"/>
                  </a:lnTo>
                  <a:lnTo>
                    <a:pt x="0" y="28"/>
                  </a:lnTo>
                  <a:lnTo>
                    <a:pt x="0" y="27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6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2"/>
                  </a:lnTo>
                  <a:lnTo>
                    <a:pt x="4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0" name="Freeform 45"/>
            <p:cNvSpPr>
              <a:spLocks/>
            </p:cNvSpPr>
            <p:nvPr/>
          </p:nvSpPr>
          <p:spPr bwMode="auto">
            <a:xfrm>
              <a:off x="3894" y="495"/>
              <a:ext cx="32" cy="30"/>
            </a:xfrm>
            <a:custGeom>
              <a:avLst/>
              <a:gdLst>
                <a:gd name="T0" fmla="*/ 8 w 34"/>
                <a:gd name="T1" fmla="*/ 0 h 31"/>
                <a:gd name="T2" fmla="*/ 8 w 34"/>
                <a:gd name="T3" fmla="*/ 0 h 31"/>
                <a:gd name="T4" fmla="*/ 8 w 34"/>
                <a:gd name="T5" fmla="*/ 0 h 31"/>
                <a:gd name="T6" fmla="*/ 8 w 34"/>
                <a:gd name="T7" fmla="*/ 0 h 31"/>
                <a:gd name="T8" fmla="*/ 8 w 34"/>
                <a:gd name="T9" fmla="*/ 0 h 31"/>
                <a:gd name="T10" fmla="*/ 8 w 34"/>
                <a:gd name="T11" fmla="*/ 2 h 31"/>
                <a:gd name="T12" fmla="*/ 8 w 34"/>
                <a:gd name="T13" fmla="*/ 3 h 31"/>
                <a:gd name="T14" fmla="*/ 8 w 34"/>
                <a:gd name="T15" fmla="*/ 3 h 31"/>
                <a:gd name="T16" fmla="*/ 8 w 34"/>
                <a:gd name="T17" fmla="*/ 5 h 31"/>
                <a:gd name="T18" fmla="*/ 8 w 34"/>
                <a:gd name="T19" fmla="*/ 7 h 31"/>
                <a:gd name="T20" fmla="*/ 8 w 34"/>
                <a:gd name="T21" fmla="*/ 9 h 31"/>
                <a:gd name="T22" fmla="*/ 8 w 34"/>
                <a:gd name="T23" fmla="*/ 12 h 31"/>
                <a:gd name="T24" fmla="*/ 8 w 34"/>
                <a:gd name="T25" fmla="*/ 13 h 31"/>
                <a:gd name="T26" fmla="*/ 8 w 34"/>
                <a:gd name="T27" fmla="*/ 14 h 31"/>
                <a:gd name="T28" fmla="*/ 8 w 34"/>
                <a:gd name="T29" fmla="*/ 15 h 31"/>
                <a:gd name="T30" fmla="*/ 8 w 34"/>
                <a:gd name="T31" fmla="*/ 15 h 31"/>
                <a:gd name="T32" fmla="*/ 8 w 34"/>
                <a:gd name="T33" fmla="*/ 15 h 31"/>
                <a:gd name="T34" fmla="*/ 8 w 34"/>
                <a:gd name="T35" fmla="*/ 15 h 31"/>
                <a:gd name="T36" fmla="*/ 8 w 34"/>
                <a:gd name="T37" fmla="*/ 15 h 31"/>
                <a:gd name="T38" fmla="*/ 8 w 34"/>
                <a:gd name="T39" fmla="*/ 15 h 31"/>
                <a:gd name="T40" fmla="*/ 8 w 34"/>
                <a:gd name="T41" fmla="*/ 15 h 31"/>
                <a:gd name="T42" fmla="*/ 8 w 34"/>
                <a:gd name="T43" fmla="*/ 15 h 31"/>
                <a:gd name="T44" fmla="*/ 8 w 34"/>
                <a:gd name="T45" fmla="*/ 15 h 31"/>
                <a:gd name="T46" fmla="*/ 8 w 34"/>
                <a:gd name="T47" fmla="*/ 15 h 31"/>
                <a:gd name="T48" fmla="*/ 8 w 34"/>
                <a:gd name="T49" fmla="*/ 15 h 31"/>
                <a:gd name="T50" fmla="*/ 8 w 34"/>
                <a:gd name="T51" fmla="*/ 15 h 31"/>
                <a:gd name="T52" fmla="*/ 8 w 34"/>
                <a:gd name="T53" fmla="*/ 15 h 31"/>
                <a:gd name="T54" fmla="*/ 8 w 34"/>
                <a:gd name="T55" fmla="*/ 15 h 31"/>
                <a:gd name="T56" fmla="*/ 8 w 34"/>
                <a:gd name="T57" fmla="*/ 15 h 31"/>
                <a:gd name="T58" fmla="*/ 8 w 34"/>
                <a:gd name="T59" fmla="*/ 15 h 31"/>
                <a:gd name="T60" fmla="*/ 6 w 34"/>
                <a:gd name="T61" fmla="*/ 15 h 31"/>
                <a:gd name="T62" fmla="*/ 3 w 34"/>
                <a:gd name="T63" fmla="*/ 15 h 31"/>
                <a:gd name="T64" fmla="*/ 2 w 34"/>
                <a:gd name="T65" fmla="*/ 15 h 31"/>
                <a:gd name="T66" fmla="*/ 0 w 34"/>
                <a:gd name="T67" fmla="*/ 15 h 31"/>
                <a:gd name="T68" fmla="*/ 0 w 34"/>
                <a:gd name="T69" fmla="*/ 15 h 31"/>
                <a:gd name="T70" fmla="*/ 0 w 34"/>
                <a:gd name="T71" fmla="*/ 15 h 31"/>
                <a:gd name="T72" fmla="*/ 0 w 34"/>
                <a:gd name="T73" fmla="*/ 13 h 31"/>
                <a:gd name="T74" fmla="*/ 2 w 34"/>
                <a:gd name="T75" fmla="*/ 10 h 31"/>
                <a:gd name="T76" fmla="*/ 4 w 34"/>
                <a:gd name="T77" fmla="*/ 7 h 31"/>
                <a:gd name="T78" fmla="*/ 6 w 34"/>
                <a:gd name="T79" fmla="*/ 6 h 31"/>
                <a:gd name="T80" fmla="*/ 8 w 34"/>
                <a:gd name="T81" fmla="*/ 5 h 31"/>
                <a:gd name="T82" fmla="*/ 8 w 34"/>
                <a:gd name="T83" fmla="*/ 3 h 31"/>
                <a:gd name="T84" fmla="*/ 8 w 34"/>
                <a:gd name="T85" fmla="*/ 3 h 31"/>
                <a:gd name="T86" fmla="*/ 8 w 34"/>
                <a:gd name="T87" fmla="*/ 3 h 31"/>
                <a:gd name="T88" fmla="*/ 8 w 34"/>
                <a:gd name="T89" fmla="*/ 2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4"/>
                <a:gd name="T136" fmla="*/ 0 h 31"/>
                <a:gd name="T137" fmla="*/ 34 w 34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4" h="31">
                  <a:moveTo>
                    <a:pt x="17" y="2"/>
                  </a:move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7" y="2"/>
                  </a:lnTo>
                  <a:lnTo>
                    <a:pt x="28" y="2"/>
                  </a:lnTo>
                  <a:lnTo>
                    <a:pt x="30" y="2"/>
                  </a:lnTo>
                  <a:lnTo>
                    <a:pt x="30" y="3"/>
                  </a:lnTo>
                  <a:lnTo>
                    <a:pt x="31" y="3"/>
                  </a:lnTo>
                  <a:lnTo>
                    <a:pt x="31" y="5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3" y="7"/>
                  </a:lnTo>
                  <a:lnTo>
                    <a:pt x="33" y="9"/>
                  </a:lnTo>
                  <a:lnTo>
                    <a:pt x="33" y="10"/>
                  </a:lnTo>
                  <a:lnTo>
                    <a:pt x="34" y="12"/>
                  </a:lnTo>
                  <a:lnTo>
                    <a:pt x="34" y="13"/>
                  </a:lnTo>
                  <a:lnTo>
                    <a:pt x="34" y="14"/>
                  </a:lnTo>
                  <a:lnTo>
                    <a:pt x="34" y="16"/>
                  </a:lnTo>
                  <a:lnTo>
                    <a:pt x="33" y="16"/>
                  </a:lnTo>
                  <a:lnTo>
                    <a:pt x="33" y="17"/>
                  </a:lnTo>
                  <a:lnTo>
                    <a:pt x="33" y="19"/>
                  </a:lnTo>
                  <a:lnTo>
                    <a:pt x="33" y="20"/>
                  </a:lnTo>
                  <a:lnTo>
                    <a:pt x="33" y="21"/>
                  </a:lnTo>
                  <a:lnTo>
                    <a:pt x="31" y="23"/>
                  </a:lnTo>
                  <a:lnTo>
                    <a:pt x="31" y="24"/>
                  </a:lnTo>
                  <a:lnTo>
                    <a:pt x="30" y="24"/>
                  </a:lnTo>
                  <a:lnTo>
                    <a:pt x="30" y="26"/>
                  </a:lnTo>
                  <a:lnTo>
                    <a:pt x="28" y="26"/>
                  </a:lnTo>
                  <a:lnTo>
                    <a:pt x="27" y="27"/>
                  </a:lnTo>
                  <a:lnTo>
                    <a:pt x="25" y="27"/>
                  </a:lnTo>
                  <a:lnTo>
                    <a:pt x="25" y="28"/>
                  </a:lnTo>
                  <a:lnTo>
                    <a:pt x="24" y="28"/>
                  </a:lnTo>
                  <a:lnTo>
                    <a:pt x="23" y="28"/>
                  </a:lnTo>
                  <a:lnTo>
                    <a:pt x="21" y="28"/>
                  </a:lnTo>
                  <a:lnTo>
                    <a:pt x="21" y="30"/>
                  </a:lnTo>
                  <a:lnTo>
                    <a:pt x="20" y="30"/>
                  </a:lnTo>
                  <a:lnTo>
                    <a:pt x="18" y="30"/>
                  </a:lnTo>
                  <a:lnTo>
                    <a:pt x="17" y="30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4" y="31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9" y="31"/>
                  </a:lnTo>
                  <a:lnTo>
                    <a:pt x="7" y="30"/>
                  </a:lnTo>
                  <a:lnTo>
                    <a:pt x="6" y="30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3" y="27"/>
                  </a:lnTo>
                  <a:lnTo>
                    <a:pt x="2" y="26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9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4" y="6"/>
                  </a:lnTo>
                  <a:lnTo>
                    <a:pt x="6" y="6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17" y="2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1" name="Freeform 46"/>
            <p:cNvSpPr>
              <a:spLocks/>
            </p:cNvSpPr>
            <p:nvPr/>
          </p:nvSpPr>
          <p:spPr bwMode="auto">
            <a:xfrm>
              <a:off x="3894" y="587"/>
              <a:ext cx="32" cy="28"/>
            </a:xfrm>
            <a:custGeom>
              <a:avLst/>
              <a:gdLst>
                <a:gd name="T0" fmla="*/ 8 w 34"/>
                <a:gd name="T1" fmla="*/ 0 h 31"/>
                <a:gd name="T2" fmla="*/ 8 w 34"/>
                <a:gd name="T3" fmla="*/ 0 h 31"/>
                <a:gd name="T4" fmla="*/ 8 w 34"/>
                <a:gd name="T5" fmla="*/ 0 h 31"/>
                <a:gd name="T6" fmla="*/ 8 w 34"/>
                <a:gd name="T7" fmla="*/ 0 h 31"/>
                <a:gd name="T8" fmla="*/ 8 w 34"/>
                <a:gd name="T9" fmla="*/ 0 h 31"/>
                <a:gd name="T10" fmla="*/ 8 w 34"/>
                <a:gd name="T11" fmla="*/ 1 h 31"/>
                <a:gd name="T12" fmla="*/ 8 w 34"/>
                <a:gd name="T13" fmla="*/ 1 h 31"/>
                <a:gd name="T14" fmla="*/ 8 w 34"/>
                <a:gd name="T15" fmla="*/ 3 h 31"/>
                <a:gd name="T16" fmla="*/ 8 w 34"/>
                <a:gd name="T17" fmla="*/ 4 h 31"/>
                <a:gd name="T18" fmla="*/ 8 w 34"/>
                <a:gd name="T19" fmla="*/ 5 h 31"/>
                <a:gd name="T20" fmla="*/ 8 w 34"/>
                <a:gd name="T21" fmla="*/ 5 h 31"/>
                <a:gd name="T22" fmla="*/ 8 w 34"/>
                <a:gd name="T23" fmla="*/ 5 h 31"/>
                <a:gd name="T24" fmla="*/ 8 w 34"/>
                <a:gd name="T25" fmla="*/ 5 h 31"/>
                <a:gd name="T26" fmla="*/ 8 w 34"/>
                <a:gd name="T27" fmla="*/ 5 h 31"/>
                <a:gd name="T28" fmla="*/ 8 w 34"/>
                <a:gd name="T29" fmla="*/ 5 h 31"/>
                <a:gd name="T30" fmla="*/ 8 w 34"/>
                <a:gd name="T31" fmla="*/ 5 h 31"/>
                <a:gd name="T32" fmla="*/ 8 w 34"/>
                <a:gd name="T33" fmla="*/ 5 h 31"/>
                <a:gd name="T34" fmla="*/ 8 w 34"/>
                <a:gd name="T35" fmla="*/ 5 h 31"/>
                <a:gd name="T36" fmla="*/ 8 w 34"/>
                <a:gd name="T37" fmla="*/ 5 h 31"/>
                <a:gd name="T38" fmla="*/ 8 w 34"/>
                <a:gd name="T39" fmla="*/ 5 h 31"/>
                <a:gd name="T40" fmla="*/ 8 w 34"/>
                <a:gd name="T41" fmla="*/ 5 h 31"/>
                <a:gd name="T42" fmla="*/ 8 w 34"/>
                <a:gd name="T43" fmla="*/ 5 h 31"/>
                <a:gd name="T44" fmla="*/ 8 w 34"/>
                <a:gd name="T45" fmla="*/ 5 h 31"/>
                <a:gd name="T46" fmla="*/ 8 w 34"/>
                <a:gd name="T47" fmla="*/ 5 h 31"/>
                <a:gd name="T48" fmla="*/ 8 w 34"/>
                <a:gd name="T49" fmla="*/ 5 h 31"/>
                <a:gd name="T50" fmla="*/ 8 w 34"/>
                <a:gd name="T51" fmla="*/ 5 h 31"/>
                <a:gd name="T52" fmla="*/ 8 w 34"/>
                <a:gd name="T53" fmla="*/ 5 h 31"/>
                <a:gd name="T54" fmla="*/ 8 w 34"/>
                <a:gd name="T55" fmla="*/ 5 h 31"/>
                <a:gd name="T56" fmla="*/ 8 w 34"/>
                <a:gd name="T57" fmla="*/ 5 h 31"/>
                <a:gd name="T58" fmla="*/ 8 w 34"/>
                <a:gd name="T59" fmla="*/ 5 h 31"/>
                <a:gd name="T60" fmla="*/ 6 w 34"/>
                <a:gd name="T61" fmla="*/ 5 h 31"/>
                <a:gd name="T62" fmla="*/ 3 w 34"/>
                <a:gd name="T63" fmla="*/ 5 h 31"/>
                <a:gd name="T64" fmla="*/ 2 w 34"/>
                <a:gd name="T65" fmla="*/ 5 h 31"/>
                <a:gd name="T66" fmla="*/ 0 w 34"/>
                <a:gd name="T67" fmla="*/ 5 h 31"/>
                <a:gd name="T68" fmla="*/ 0 w 34"/>
                <a:gd name="T69" fmla="*/ 5 h 31"/>
                <a:gd name="T70" fmla="*/ 0 w 34"/>
                <a:gd name="T71" fmla="*/ 5 h 31"/>
                <a:gd name="T72" fmla="*/ 0 w 34"/>
                <a:gd name="T73" fmla="*/ 5 h 31"/>
                <a:gd name="T74" fmla="*/ 2 w 34"/>
                <a:gd name="T75" fmla="*/ 5 h 31"/>
                <a:gd name="T76" fmla="*/ 4 w 34"/>
                <a:gd name="T77" fmla="*/ 5 h 31"/>
                <a:gd name="T78" fmla="*/ 6 w 34"/>
                <a:gd name="T79" fmla="*/ 4 h 31"/>
                <a:gd name="T80" fmla="*/ 8 w 34"/>
                <a:gd name="T81" fmla="*/ 4 h 31"/>
                <a:gd name="T82" fmla="*/ 8 w 34"/>
                <a:gd name="T83" fmla="*/ 3 h 31"/>
                <a:gd name="T84" fmla="*/ 8 w 34"/>
                <a:gd name="T85" fmla="*/ 3 h 31"/>
                <a:gd name="T86" fmla="*/ 8 w 34"/>
                <a:gd name="T87" fmla="*/ 1 h 31"/>
                <a:gd name="T88" fmla="*/ 8 w 34"/>
                <a:gd name="T89" fmla="*/ 0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4"/>
                <a:gd name="T136" fmla="*/ 0 h 31"/>
                <a:gd name="T137" fmla="*/ 34 w 34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4" h="31">
                  <a:moveTo>
                    <a:pt x="17" y="0"/>
                  </a:move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1"/>
                  </a:lnTo>
                  <a:lnTo>
                    <a:pt x="31" y="3"/>
                  </a:lnTo>
                  <a:lnTo>
                    <a:pt x="31" y="4"/>
                  </a:lnTo>
                  <a:lnTo>
                    <a:pt x="33" y="4"/>
                  </a:lnTo>
                  <a:lnTo>
                    <a:pt x="33" y="5"/>
                  </a:lnTo>
                  <a:lnTo>
                    <a:pt x="33" y="7"/>
                  </a:lnTo>
                  <a:lnTo>
                    <a:pt x="33" y="8"/>
                  </a:lnTo>
                  <a:lnTo>
                    <a:pt x="33" y="10"/>
                  </a:lnTo>
                  <a:lnTo>
                    <a:pt x="34" y="11"/>
                  </a:lnTo>
                  <a:lnTo>
                    <a:pt x="34" y="12"/>
                  </a:lnTo>
                  <a:lnTo>
                    <a:pt x="34" y="14"/>
                  </a:lnTo>
                  <a:lnTo>
                    <a:pt x="34" y="15"/>
                  </a:lnTo>
                  <a:lnTo>
                    <a:pt x="33" y="15"/>
                  </a:lnTo>
                  <a:lnTo>
                    <a:pt x="33" y="17"/>
                  </a:lnTo>
                  <a:lnTo>
                    <a:pt x="33" y="18"/>
                  </a:lnTo>
                  <a:lnTo>
                    <a:pt x="33" y="19"/>
                  </a:lnTo>
                  <a:lnTo>
                    <a:pt x="33" y="21"/>
                  </a:lnTo>
                  <a:lnTo>
                    <a:pt x="31" y="22"/>
                  </a:lnTo>
                  <a:lnTo>
                    <a:pt x="31" y="24"/>
                  </a:lnTo>
                  <a:lnTo>
                    <a:pt x="30" y="24"/>
                  </a:lnTo>
                  <a:lnTo>
                    <a:pt x="30" y="25"/>
                  </a:lnTo>
                  <a:lnTo>
                    <a:pt x="28" y="25"/>
                  </a:lnTo>
                  <a:lnTo>
                    <a:pt x="27" y="25"/>
                  </a:lnTo>
                  <a:lnTo>
                    <a:pt x="27" y="26"/>
                  </a:lnTo>
                  <a:lnTo>
                    <a:pt x="25" y="26"/>
                  </a:lnTo>
                  <a:lnTo>
                    <a:pt x="25" y="28"/>
                  </a:lnTo>
                  <a:lnTo>
                    <a:pt x="24" y="28"/>
                  </a:lnTo>
                  <a:lnTo>
                    <a:pt x="23" y="28"/>
                  </a:lnTo>
                  <a:lnTo>
                    <a:pt x="21" y="28"/>
                  </a:lnTo>
                  <a:lnTo>
                    <a:pt x="20" y="29"/>
                  </a:lnTo>
                  <a:lnTo>
                    <a:pt x="18" y="29"/>
                  </a:lnTo>
                  <a:lnTo>
                    <a:pt x="17" y="29"/>
                  </a:lnTo>
                  <a:lnTo>
                    <a:pt x="16" y="29"/>
                  </a:lnTo>
                  <a:lnTo>
                    <a:pt x="14" y="31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9" y="31"/>
                  </a:lnTo>
                  <a:lnTo>
                    <a:pt x="7" y="29"/>
                  </a:lnTo>
                  <a:lnTo>
                    <a:pt x="6" y="29"/>
                  </a:lnTo>
                  <a:lnTo>
                    <a:pt x="4" y="28"/>
                  </a:lnTo>
                  <a:lnTo>
                    <a:pt x="3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0" y="18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3" y="8"/>
                  </a:lnTo>
                  <a:lnTo>
                    <a:pt x="4" y="7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4"/>
                  </a:lnTo>
                  <a:lnTo>
                    <a:pt x="9" y="4"/>
                  </a:lnTo>
                  <a:lnTo>
                    <a:pt x="9" y="3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1" y="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2" name="Freeform 47"/>
            <p:cNvSpPr>
              <a:spLocks/>
            </p:cNvSpPr>
            <p:nvPr/>
          </p:nvSpPr>
          <p:spPr bwMode="auto">
            <a:xfrm>
              <a:off x="3894" y="557"/>
              <a:ext cx="32" cy="26"/>
            </a:xfrm>
            <a:custGeom>
              <a:avLst/>
              <a:gdLst>
                <a:gd name="T0" fmla="*/ 8 w 34"/>
                <a:gd name="T1" fmla="*/ 0 h 29"/>
                <a:gd name="T2" fmla="*/ 8 w 34"/>
                <a:gd name="T3" fmla="*/ 0 h 29"/>
                <a:gd name="T4" fmla="*/ 8 w 34"/>
                <a:gd name="T5" fmla="*/ 0 h 29"/>
                <a:gd name="T6" fmla="*/ 8 w 34"/>
                <a:gd name="T7" fmla="*/ 0 h 29"/>
                <a:gd name="T8" fmla="*/ 8 w 34"/>
                <a:gd name="T9" fmla="*/ 0 h 29"/>
                <a:gd name="T10" fmla="*/ 8 w 34"/>
                <a:gd name="T11" fmla="*/ 0 h 29"/>
                <a:gd name="T12" fmla="*/ 8 w 34"/>
                <a:gd name="T13" fmla="*/ 1 h 29"/>
                <a:gd name="T14" fmla="*/ 8 w 34"/>
                <a:gd name="T15" fmla="*/ 3 h 29"/>
                <a:gd name="T16" fmla="*/ 8 w 34"/>
                <a:gd name="T17" fmla="*/ 4 h 29"/>
                <a:gd name="T18" fmla="*/ 8 w 34"/>
                <a:gd name="T19" fmla="*/ 4 h 29"/>
                <a:gd name="T20" fmla="*/ 8 w 34"/>
                <a:gd name="T21" fmla="*/ 4 h 29"/>
                <a:gd name="T22" fmla="*/ 8 w 34"/>
                <a:gd name="T23" fmla="*/ 4 h 29"/>
                <a:gd name="T24" fmla="*/ 8 w 34"/>
                <a:gd name="T25" fmla="*/ 4 h 29"/>
                <a:gd name="T26" fmla="*/ 8 w 34"/>
                <a:gd name="T27" fmla="*/ 4 h 29"/>
                <a:gd name="T28" fmla="*/ 8 w 34"/>
                <a:gd name="T29" fmla="*/ 4 h 29"/>
                <a:gd name="T30" fmla="*/ 8 w 34"/>
                <a:gd name="T31" fmla="*/ 4 h 29"/>
                <a:gd name="T32" fmla="*/ 8 w 34"/>
                <a:gd name="T33" fmla="*/ 4 h 29"/>
                <a:gd name="T34" fmla="*/ 8 w 34"/>
                <a:gd name="T35" fmla="*/ 4 h 29"/>
                <a:gd name="T36" fmla="*/ 8 w 34"/>
                <a:gd name="T37" fmla="*/ 4 h 29"/>
                <a:gd name="T38" fmla="*/ 8 w 34"/>
                <a:gd name="T39" fmla="*/ 4 h 29"/>
                <a:gd name="T40" fmla="*/ 8 w 34"/>
                <a:gd name="T41" fmla="*/ 4 h 29"/>
                <a:gd name="T42" fmla="*/ 8 w 34"/>
                <a:gd name="T43" fmla="*/ 4 h 29"/>
                <a:gd name="T44" fmla="*/ 8 w 34"/>
                <a:gd name="T45" fmla="*/ 4 h 29"/>
                <a:gd name="T46" fmla="*/ 8 w 34"/>
                <a:gd name="T47" fmla="*/ 4 h 29"/>
                <a:gd name="T48" fmla="*/ 8 w 34"/>
                <a:gd name="T49" fmla="*/ 4 h 29"/>
                <a:gd name="T50" fmla="*/ 8 w 34"/>
                <a:gd name="T51" fmla="*/ 4 h 29"/>
                <a:gd name="T52" fmla="*/ 8 w 34"/>
                <a:gd name="T53" fmla="*/ 4 h 29"/>
                <a:gd name="T54" fmla="*/ 8 w 34"/>
                <a:gd name="T55" fmla="*/ 4 h 29"/>
                <a:gd name="T56" fmla="*/ 8 w 34"/>
                <a:gd name="T57" fmla="*/ 4 h 29"/>
                <a:gd name="T58" fmla="*/ 8 w 34"/>
                <a:gd name="T59" fmla="*/ 4 h 29"/>
                <a:gd name="T60" fmla="*/ 6 w 34"/>
                <a:gd name="T61" fmla="*/ 4 h 29"/>
                <a:gd name="T62" fmla="*/ 3 w 34"/>
                <a:gd name="T63" fmla="*/ 4 h 29"/>
                <a:gd name="T64" fmla="*/ 2 w 34"/>
                <a:gd name="T65" fmla="*/ 4 h 29"/>
                <a:gd name="T66" fmla="*/ 0 w 34"/>
                <a:gd name="T67" fmla="*/ 4 h 29"/>
                <a:gd name="T68" fmla="*/ 0 w 34"/>
                <a:gd name="T69" fmla="*/ 4 h 29"/>
                <a:gd name="T70" fmla="*/ 0 w 34"/>
                <a:gd name="T71" fmla="*/ 4 h 29"/>
                <a:gd name="T72" fmla="*/ 0 w 34"/>
                <a:gd name="T73" fmla="*/ 4 h 29"/>
                <a:gd name="T74" fmla="*/ 2 w 34"/>
                <a:gd name="T75" fmla="*/ 4 h 29"/>
                <a:gd name="T76" fmla="*/ 4 w 34"/>
                <a:gd name="T77" fmla="*/ 4 h 29"/>
                <a:gd name="T78" fmla="*/ 6 w 34"/>
                <a:gd name="T79" fmla="*/ 4 h 29"/>
                <a:gd name="T80" fmla="*/ 8 w 34"/>
                <a:gd name="T81" fmla="*/ 3 h 29"/>
                <a:gd name="T82" fmla="*/ 8 w 34"/>
                <a:gd name="T83" fmla="*/ 3 h 29"/>
                <a:gd name="T84" fmla="*/ 8 w 34"/>
                <a:gd name="T85" fmla="*/ 3 h 29"/>
                <a:gd name="T86" fmla="*/ 8 w 34"/>
                <a:gd name="T87" fmla="*/ 1 h 29"/>
                <a:gd name="T88" fmla="*/ 8 w 34"/>
                <a:gd name="T89" fmla="*/ 0 h 2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4"/>
                <a:gd name="T136" fmla="*/ 0 h 29"/>
                <a:gd name="T137" fmla="*/ 34 w 34"/>
                <a:gd name="T138" fmla="*/ 29 h 29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4" h="29">
                  <a:moveTo>
                    <a:pt x="17" y="0"/>
                  </a:move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1" y="3"/>
                  </a:lnTo>
                  <a:lnTo>
                    <a:pt x="33" y="4"/>
                  </a:lnTo>
                  <a:lnTo>
                    <a:pt x="33" y="5"/>
                  </a:lnTo>
                  <a:lnTo>
                    <a:pt x="33" y="7"/>
                  </a:lnTo>
                  <a:lnTo>
                    <a:pt x="33" y="8"/>
                  </a:lnTo>
                  <a:lnTo>
                    <a:pt x="33" y="10"/>
                  </a:lnTo>
                  <a:lnTo>
                    <a:pt x="34" y="11"/>
                  </a:lnTo>
                  <a:lnTo>
                    <a:pt x="34" y="12"/>
                  </a:lnTo>
                  <a:lnTo>
                    <a:pt x="34" y="14"/>
                  </a:lnTo>
                  <a:lnTo>
                    <a:pt x="33" y="15"/>
                  </a:lnTo>
                  <a:lnTo>
                    <a:pt x="33" y="17"/>
                  </a:lnTo>
                  <a:lnTo>
                    <a:pt x="33" y="18"/>
                  </a:lnTo>
                  <a:lnTo>
                    <a:pt x="33" y="19"/>
                  </a:lnTo>
                  <a:lnTo>
                    <a:pt x="33" y="21"/>
                  </a:lnTo>
                  <a:lnTo>
                    <a:pt x="31" y="21"/>
                  </a:lnTo>
                  <a:lnTo>
                    <a:pt x="31" y="22"/>
                  </a:lnTo>
                  <a:lnTo>
                    <a:pt x="30" y="24"/>
                  </a:lnTo>
                  <a:lnTo>
                    <a:pt x="28" y="25"/>
                  </a:lnTo>
                  <a:lnTo>
                    <a:pt x="27" y="25"/>
                  </a:lnTo>
                  <a:lnTo>
                    <a:pt x="27" y="26"/>
                  </a:lnTo>
                  <a:lnTo>
                    <a:pt x="25" y="26"/>
                  </a:lnTo>
                  <a:lnTo>
                    <a:pt x="24" y="28"/>
                  </a:lnTo>
                  <a:lnTo>
                    <a:pt x="23" y="28"/>
                  </a:lnTo>
                  <a:lnTo>
                    <a:pt x="21" y="28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29"/>
                  </a:lnTo>
                  <a:lnTo>
                    <a:pt x="16" y="29"/>
                  </a:lnTo>
                  <a:lnTo>
                    <a:pt x="14" y="29"/>
                  </a:lnTo>
                  <a:lnTo>
                    <a:pt x="11" y="29"/>
                  </a:lnTo>
                  <a:lnTo>
                    <a:pt x="10" y="29"/>
                  </a:lnTo>
                  <a:lnTo>
                    <a:pt x="9" y="29"/>
                  </a:lnTo>
                  <a:lnTo>
                    <a:pt x="7" y="29"/>
                  </a:lnTo>
                  <a:lnTo>
                    <a:pt x="6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2" y="10"/>
                  </a:lnTo>
                  <a:lnTo>
                    <a:pt x="2" y="8"/>
                  </a:lnTo>
                  <a:lnTo>
                    <a:pt x="3" y="7"/>
                  </a:lnTo>
                  <a:lnTo>
                    <a:pt x="4" y="7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4"/>
                  </a:lnTo>
                  <a:lnTo>
                    <a:pt x="9" y="3"/>
                  </a:lnTo>
                  <a:lnTo>
                    <a:pt x="10" y="3"/>
                  </a:lnTo>
                  <a:lnTo>
                    <a:pt x="11" y="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3" name="Freeform 48"/>
            <p:cNvSpPr>
              <a:spLocks/>
            </p:cNvSpPr>
            <p:nvPr/>
          </p:nvSpPr>
          <p:spPr bwMode="auto">
            <a:xfrm>
              <a:off x="3894" y="645"/>
              <a:ext cx="32" cy="30"/>
            </a:xfrm>
            <a:custGeom>
              <a:avLst/>
              <a:gdLst>
                <a:gd name="T0" fmla="*/ 8 w 34"/>
                <a:gd name="T1" fmla="*/ 1 h 31"/>
                <a:gd name="T2" fmla="*/ 8 w 34"/>
                <a:gd name="T3" fmla="*/ 1 h 31"/>
                <a:gd name="T4" fmla="*/ 8 w 34"/>
                <a:gd name="T5" fmla="*/ 0 h 31"/>
                <a:gd name="T6" fmla="*/ 8 w 34"/>
                <a:gd name="T7" fmla="*/ 0 h 31"/>
                <a:gd name="T8" fmla="*/ 8 w 34"/>
                <a:gd name="T9" fmla="*/ 1 h 31"/>
                <a:gd name="T10" fmla="*/ 8 w 34"/>
                <a:gd name="T11" fmla="*/ 1 h 31"/>
                <a:gd name="T12" fmla="*/ 8 w 34"/>
                <a:gd name="T13" fmla="*/ 2 h 31"/>
                <a:gd name="T14" fmla="*/ 8 w 34"/>
                <a:gd name="T15" fmla="*/ 4 h 31"/>
                <a:gd name="T16" fmla="*/ 8 w 34"/>
                <a:gd name="T17" fmla="*/ 5 h 31"/>
                <a:gd name="T18" fmla="*/ 8 w 34"/>
                <a:gd name="T19" fmla="*/ 7 h 31"/>
                <a:gd name="T20" fmla="*/ 8 w 34"/>
                <a:gd name="T21" fmla="*/ 10 h 31"/>
                <a:gd name="T22" fmla="*/ 8 w 34"/>
                <a:gd name="T23" fmla="*/ 11 h 31"/>
                <a:gd name="T24" fmla="*/ 8 w 34"/>
                <a:gd name="T25" fmla="*/ 14 h 31"/>
                <a:gd name="T26" fmla="*/ 8 w 34"/>
                <a:gd name="T27" fmla="*/ 14 h 31"/>
                <a:gd name="T28" fmla="*/ 8 w 34"/>
                <a:gd name="T29" fmla="*/ 15 h 31"/>
                <a:gd name="T30" fmla="*/ 8 w 34"/>
                <a:gd name="T31" fmla="*/ 15 h 31"/>
                <a:gd name="T32" fmla="*/ 8 w 34"/>
                <a:gd name="T33" fmla="*/ 15 h 31"/>
                <a:gd name="T34" fmla="*/ 8 w 34"/>
                <a:gd name="T35" fmla="*/ 15 h 31"/>
                <a:gd name="T36" fmla="*/ 8 w 34"/>
                <a:gd name="T37" fmla="*/ 15 h 31"/>
                <a:gd name="T38" fmla="*/ 8 w 34"/>
                <a:gd name="T39" fmla="*/ 15 h 31"/>
                <a:gd name="T40" fmla="*/ 8 w 34"/>
                <a:gd name="T41" fmla="*/ 15 h 31"/>
                <a:gd name="T42" fmla="*/ 8 w 34"/>
                <a:gd name="T43" fmla="*/ 15 h 31"/>
                <a:gd name="T44" fmla="*/ 8 w 34"/>
                <a:gd name="T45" fmla="*/ 15 h 31"/>
                <a:gd name="T46" fmla="*/ 8 w 34"/>
                <a:gd name="T47" fmla="*/ 15 h 31"/>
                <a:gd name="T48" fmla="*/ 8 w 34"/>
                <a:gd name="T49" fmla="*/ 15 h 31"/>
                <a:gd name="T50" fmla="*/ 8 w 34"/>
                <a:gd name="T51" fmla="*/ 15 h 31"/>
                <a:gd name="T52" fmla="*/ 8 w 34"/>
                <a:gd name="T53" fmla="*/ 15 h 31"/>
                <a:gd name="T54" fmla="*/ 8 w 34"/>
                <a:gd name="T55" fmla="*/ 15 h 31"/>
                <a:gd name="T56" fmla="*/ 8 w 34"/>
                <a:gd name="T57" fmla="*/ 15 h 31"/>
                <a:gd name="T58" fmla="*/ 8 w 34"/>
                <a:gd name="T59" fmla="*/ 15 h 31"/>
                <a:gd name="T60" fmla="*/ 6 w 34"/>
                <a:gd name="T61" fmla="*/ 15 h 31"/>
                <a:gd name="T62" fmla="*/ 3 w 34"/>
                <a:gd name="T63" fmla="*/ 15 h 31"/>
                <a:gd name="T64" fmla="*/ 2 w 34"/>
                <a:gd name="T65" fmla="*/ 15 h 31"/>
                <a:gd name="T66" fmla="*/ 0 w 34"/>
                <a:gd name="T67" fmla="*/ 15 h 31"/>
                <a:gd name="T68" fmla="*/ 0 w 34"/>
                <a:gd name="T69" fmla="*/ 15 h 31"/>
                <a:gd name="T70" fmla="*/ 0 w 34"/>
                <a:gd name="T71" fmla="*/ 15 h 31"/>
                <a:gd name="T72" fmla="*/ 0 w 34"/>
                <a:gd name="T73" fmla="*/ 12 h 31"/>
                <a:gd name="T74" fmla="*/ 2 w 34"/>
                <a:gd name="T75" fmla="*/ 10 h 31"/>
                <a:gd name="T76" fmla="*/ 4 w 34"/>
                <a:gd name="T77" fmla="*/ 7 h 31"/>
                <a:gd name="T78" fmla="*/ 6 w 34"/>
                <a:gd name="T79" fmla="*/ 5 h 31"/>
                <a:gd name="T80" fmla="*/ 8 w 34"/>
                <a:gd name="T81" fmla="*/ 4 h 31"/>
                <a:gd name="T82" fmla="*/ 8 w 34"/>
                <a:gd name="T83" fmla="*/ 4 h 31"/>
                <a:gd name="T84" fmla="*/ 8 w 34"/>
                <a:gd name="T85" fmla="*/ 2 h 31"/>
                <a:gd name="T86" fmla="*/ 8 w 34"/>
                <a:gd name="T87" fmla="*/ 2 h 31"/>
                <a:gd name="T88" fmla="*/ 8 w 34"/>
                <a:gd name="T89" fmla="*/ 1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4"/>
                <a:gd name="T136" fmla="*/ 0 h 31"/>
                <a:gd name="T137" fmla="*/ 34 w 34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4" h="31">
                  <a:moveTo>
                    <a:pt x="17" y="1"/>
                  </a:moveTo>
                  <a:lnTo>
                    <a:pt x="17" y="1"/>
                  </a:lnTo>
                  <a:lnTo>
                    <a:pt x="18" y="1"/>
                  </a:lnTo>
                  <a:lnTo>
                    <a:pt x="20" y="1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1" y="2"/>
                  </a:lnTo>
                  <a:lnTo>
                    <a:pt x="31" y="4"/>
                  </a:lnTo>
                  <a:lnTo>
                    <a:pt x="33" y="5"/>
                  </a:lnTo>
                  <a:lnTo>
                    <a:pt x="33" y="7"/>
                  </a:lnTo>
                  <a:lnTo>
                    <a:pt x="33" y="8"/>
                  </a:lnTo>
                  <a:lnTo>
                    <a:pt x="33" y="10"/>
                  </a:lnTo>
                  <a:lnTo>
                    <a:pt x="33" y="11"/>
                  </a:lnTo>
                  <a:lnTo>
                    <a:pt x="34" y="11"/>
                  </a:lnTo>
                  <a:lnTo>
                    <a:pt x="34" y="12"/>
                  </a:lnTo>
                  <a:lnTo>
                    <a:pt x="34" y="14"/>
                  </a:lnTo>
                  <a:lnTo>
                    <a:pt x="34" y="15"/>
                  </a:lnTo>
                  <a:lnTo>
                    <a:pt x="33" y="17"/>
                  </a:lnTo>
                  <a:lnTo>
                    <a:pt x="33" y="18"/>
                  </a:lnTo>
                  <a:lnTo>
                    <a:pt x="33" y="19"/>
                  </a:lnTo>
                  <a:lnTo>
                    <a:pt x="33" y="21"/>
                  </a:lnTo>
                  <a:lnTo>
                    <a:pt x="31" y="22"/>
                  </a:lnTo>
                  <a:lnTo>
                    <a:pt x="31" y="24"/>
                  </a:lnTo>
                  <a:lnTo>
                    <a:pt x="30" y="25"/>
                  </a:lnTo>
                  <a:lnTo>
                    <a:pt x="28" y="26"/>
                  </a:lnTo>
                  <a:lnTo>
                    <a:pt x="27" y="26"/>
                  </a:lnTo>
                  <a:lnTo>
                    <a:pt x="25" y="28"/>
                  </a:lnTo>
                  <a:lnTo>
                    <a:pt x="24" y="28"/>
                  </a:lnTo>
                  <a:lnTo>
                    <a:pt x="23" y="29"/>
                  </a:lnTo>
                  <a:lnTo>
                    <a:pt x="21" y="29"/>
                  </a:lnTo>
                  <a:lnTo>
                    <a:pt x="20" y="29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6" y="31"/>
                  </a:lnTo>
                  <a:lnTo>
                    <a:pt x="14" y="31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9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4" y="29"/>
                  </a:lnTo>
                  <a:lnTo>
                    <a:pt x="3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3" y="8"/>
                  </a:lnTo>
                  <a:lnTo>
                    <a:pt x="4" y="7"/>
                  </a:lnTo>
                  <a:lnTo>
                    <a:pt x="6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11" y="2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4" name="Freeform 49"/>
            <p:cNvSpPr>
              <a:spLocks/>
            </p:cNvSpPr>
            <p:nvPr/>
          </p:nvSpPr>
          <p:spPr bwMode="auto">
            <a:xfrm>
              <a:off x="3894" y="615"/>
              <a:ext cx="32" cy="30"/>
            </a:xfrm>
            <a:custGeom>
              <a:avLst/>
              <a:gdLst>
                <a:gd name="T0" fmla="*/ 8 w 34"/>
                <a:gd name="T1" fmla="*/ 1 h 31"/>
                <a:gd name="T2" fmla="*/ 8 w 34"/>
                <a:gd name="T3" fmla="*/ 0 h 31"/>
                <a:gd name="T4" fmla="*/ 8 w 34"/>
                <a:gd name="T5" fmla="*/ 0 h 31"/>
                <a:gd name="T6" fmla="*/ 8 w 34"/>
                <a:gd name="T7" fmla="*/ 0 h 31"/>
                <a:gd name="T8" fmla="*/ 8 w 34"/>
                <a:gd name="T9" fmla="*/ 0 h 31"/>
                <a:gd name="T10" fmla="*/ 8 w 34"/>
                <a:gd name="T11" fmla="*/ 1 h 31"/>
                <a:gd name="T12" fmla="*/ 8 w 34"/>
                <a:gd name="T13" fmla="*/ 3 h 31"/>
                <a:gd name="T14" fmla="*/ 8 w 34"/>
                <a:gd name="T15" fmla="*/ 4 h 31"/>
                <a:gd name="T16" fmla="*/ 8 w 34"/>
                <a:gd name="T17" fmla="*/ 5 h 31"/>
                <a:gd name="T18" fmla="*/ 8 w 34"/>
                <a:gd name="T19" fmla="*/ 7 h 31"/>
                <a:gd name="T20" fmla="*/ 8 w 34"/>
                <a:gd name="T21" fmla="*/ 8 h 31"/>
                <a:gd name="T22" fmla="*/ 8 w 34"/>
                <a:gd name="T23" fmla="*/ 11 h 31"/>
                <a:gd name="T24" fmla="*/ 8 w 34"/>
                <a:gd name="T25" fmla="*/ 12 h 31"/>
                <a:gd name="T26" fmla="*/ 8 w 34"/>
                <a:gd name="T27" fmla="*/ 14 h 31"/>
                <a:gd name="T28" fmla="*/ 8 w 34"/>
                <a:gd name="T29" fmla="*/ 15 h 31"/>
                <a:gd name="T30" fmla="*/ 8 w 34"/>
                <a:gd name="T31" fmla="*/ 15 h 31"/>
                <a:gd name="T32" fmla="*/ 8 w 34"/>
                <a:gd name="T33" fmla="*/ 15 h 31"/>
                <a:gd name="T34" fmla="*/ 8 w 34"/>
                <a:gd name="T35" fmla="*/ 15 h 31"/>
                <a:gd name="T36" fmla="*/ 8 w 34"/>
                <a:gd name="T37" fmla="*/ 15 h 31"/>
                <a:gd name="T38" fmla="*/ 8 w 34"/>
                <a:gd name="T39" fmla="*/ 15 h 31"/>
                <a:gd name="T40" fmla="*/ 8 w 34"/>
                <a:gd name="T41" fmla="*/ 15 h 31"/>
                <a:gd name="T42" fmla="*/ 8 w 34"/>
                <a:gd name="T43" fmla="*/ 15 h 31"/>
                <a:gd name="T44" fmla="*/ 8 w 34"/>
                <a:gd name="T45" fmla="*/ 15 h 31"/>
                <a:gd name="T46" fmla="*/ 8 w 34"/>
                <a:gd name="T47" fmla="*/ 15 h 31"/>
                <a:gd name="T48" fmla="*/ 8 w 34"/>
                <a:gd name="T49" fmla="*/ 15 h 31"/>
                <a:gd name="T50" fmla="*/ 8 w 34"/>
                <a:gd name="T51" fmla="*/ 15 h 31"/>
                <a:gd name="T52" fmla="*/ 8 w 34"/>
                <a:gd name="T53" fmla="*/ 15 h 31"/>
                <a:gd name="T54" fmla="*/ 8 w 34"/>
                <a:gd name="T55" fmla="*/ 15 h 31"/>
                <a:gd name="T56" fmla="*/ 8 w 34"/>
                <a:gd name="T57" fmla="*/ 15 h 31"/>
                <a:gd name="T58" fmla="*/ 8 w 34"/>
                <a:gd name="T59" fmla="*/ 15 h 31"/>
                <a:gd name="T60" fmla="*/ 6 w 34"/>
                <a:gd name="T61" fmla="*/ 15 h 31"/>
                <a:gd name="T62" fmla="*/ 3 w 34"/>
                <a:gd name="T63" fmla="*/ 15 h 31"/>
                <a:gd name="T64" fmla="*/ 2 w 34"/>
                <a:gd name="T65" fmla="*/ 15 h 31"/>
                <a:gd name="T66" fmla="*/ 0 w 34"/>
                <a:gd name="T67" fmla="*/ 15 h 31"/>
                <a:gd name="T68" fmla="*/ 0 w 34"/>
                <a:gd name="T69" fmla="*/ 15 h 31"/>
                <a:gd name="T70" fmla="*/ 0 w 34"/>
                <a:gd name="T71" fmla="*/ 15 h 31"/>
                <a:gd name="T72" fmla="*/ 0 w 34"/>
                <a:gd name="T73" fmla="*/ 12 h 31"/>
                <a:gd name="T74" fmla="*/ 2 w 34"/>
                <a:gd name="T75" fmla="*/ 10 h 31"/>
                <a:gd name="T76" fmla="*/ 4 w 34"/>
                <a:gd name="T77" fmla="*/ 7 h 31"/>
                <a:gd name="T78" fmla="*/ 6 w 34"/>
                <a:gd name="T79" fmla="*/ 5 h 31"/>
                <a:gd name="T80" fmla="*/ 8 w 34"/>
                <a:gd name="T81" fmla="*/ 4 h 31"/>
                <a:gd name="T82" fmla="*/ 8 w 34"/>
                <a:gd name="T83" fmla="*/ 3 h 31"/>
                <a:gd name="T84" fmla="*/ 8 w 34"/>
                <a:gd name="T85" fmla="*/ 3 h 31"/>
                <a:gd name="T86" fmla="*/ 8 w 34"/>
                <a:gd name="T87" fmla="*/ 3 h 31"/>
                <a:gd name="T88" fmla="*/ 8 w 34"/>
                <a:gd name="T89" fmla="*/ 1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4"/>
                <a:gd name="T136" fmla="*/ 0 h 31"/>
                <a:gd name="T137" fmla="*/ 34 w 34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4" h="31">
                  <a:moveTo>
                    <a:pt x="17" y="1"/>
                  </a:moveTo>
                  <a:lnTo>
                    <a:pt x="17" y="1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30" y="1"/>
                  </a:lnTo>
                  <a:lnTo>
                    <a:pt x="30" y="3"/>
                  </a:lnTo>
                  <a:lnTo>
                    <a:pt x="31" y="3"/>
                  </a:lnTo>
                  <a:lnTo>
                    <a:pt x="31" y="4"/>
                  </a:lnTo>
                  <a:lnTo>
                    <a:pt x="33" y="5"/>
                  </a:lnTo>
                  <a:lnTo>
                    <a:pt x="33" y="7"/>
                  </a:lnTo>
                  <a:lnTo>
                    <a:pt x="33" y="8"/>
                  </a:lnTo>
                  <a:lnTo>
                    <a:pt x="33" y="10"/>
                  </a:lnTo>
                  <a:lnTo>
                    <a:pt x="34" y="11"/>
                  </a:lnTo>
                  <a:lnTo>
                    <a:pt x="34" y="12"/>
                  </a:lnTo>
                  <a:lnTo>
                    <a:pt x="34" y="14"/>
                  </a:lnTo>
                  <a:lnTo>
                    <a:pt x="34" y="15"/>
                  </a:lnTo>
                  <a:lnTo>
                    <a:pt x="33" y="17"/>
                  </a:lnTo>
                  <a:lnTo>
                    <a:pt x="33" y="18"/>
                  </a:lnTo>
                  <a:lnTo>
                    <a:pt x="33" y="19"/>
                  </a:lnTo>
                  <a:lnTo>
                    <a:pt x="33" y="21"/>
                  </a:lnTo>
                  <a:lnTo>
                    <a:pt x="31" y="22"/>
                  </a:lnTo>
                  <a:lnTo>
                    <a:pt x="31" y="24"/>
                  </a:lnTo>
                  <a:lnTo>
                    <a:pt x="30" y="25"/>
                  </a:lnTo>
                  <a:lnTo>
                    <a:pt x="28" y="25"/>
                  </a:lnTo>
                  <a:lnTo>
                    <a:pt x="27" y="26"/>
                  </a:lnTo>
                  <a:lnTo>
                    <a:pt x="25" y="26"/>
                  </a:lnTo>
                  <a:lnTo>
                    <a:pt x="25" y="28"/>
                  </a:lnTo>
                  <a:lnTo>
                    <a:pt x="24" y="28"/>
                  </a:lnTo>
                  <a:lnTo>
                    <a:pt x="23" y="28"/>
                  </a:lnTo>
                  <a:lnTo>
                    <a:pt x="21" y="29"/>
                  </a:lnTo>
                  <a:lnTo>
                    <a:pt x="20" y="29"/>
                  </a:lnTo>
                  <a:lnTo>
                    <a:pt x="18" y="29"/>
                  </a:lnTo>
                  <a:lnTo>
                    <a:pt x="17" y="29"/>
                  </a:lnTo>
                  <a:lnTo>
                    <a:pt x="16" y="31"/>
                  </a:lnTo>
                  <a:lnTo>
                    <a:pt x="14" y="31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9" y="31"/>
                  </a:lnTo>
                  <a:lnTo>
                    <a:pt x="7" y="31"/>
                  </a:lnTo>
                  <a:lnTo>
                    <a:pt x="6" y="29"/>
                  </a:lnTo>
                  <a:lnTo>
                    <a:pt x="4" y="29"/>
                  </a:lnTo>
                  <a:lnTo>
                    <a:pt x="3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3" y="8"/>
                  </a:lnTo>
                  <a:lnTo>
                    <a:pt x="4" y="7"/>
                  </a:lnTo>
                  <a:lnTo>
                    <a:pt x="4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4"/>
                  </a:lnTo>
                  <a:lnTo>
                    <a:pt x="9" y="3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5" name="Freeform 50"/>
            <p:cNvSpPr>
              <a:spLocks/>
            </p:cNvSpPr>
            <p:nvPr/>
          </p:nvSpPr>
          <p:spPr bwMode="auto">
            <a:xfrm>
              <a:off x="3894" y="705"/>
              <a:ext cx="32" cy="30"/>
            </a:xfrm>
            <a:custGeom>
              <a:avLst/>
              <a:gdLst>
                <a:gd name="T0" fmla="*/ 8 w 34"/>
                <a:gd name="T1" fmla="*/ 0 h 31"/>
                <a:gd name="T2" fmla="*/ 8 w 34"/>
                <a:gd name="T3" fmla="*/ 0 h 31"/>
                <a:gd name="T4" fmla="*/ 8 w 34"/>
                <a:gd name="T5" fmla="*/ 0 h 31"/>
                <a:gd name="T6" fmla="*/ 8 w 34"/>
                <a:gd name="T7" fmla="*/ 0 h 31"/>
                <a:gd name="T8" fmla="*/ 8 w 34"/>
                <a:gd name="T9" fmla="*/ 0 h 31"/>
                <a:gd name="T10" fmla="*/ 8 w 34"/>
                <a:gd name="T11" fmla="*/ 1 h 31"/>
                <a:gd name="T12" fmla="*/ 8 w 34"/>
                <a:gd name="T13" fmla="*/ 3 h 31"/>
                <a:gd name="T14" fmla="*/ 8 w 34"/>
                <a:gd name="T15" fmla="*/ 3 h 31"/>
                <a:gd name="T16" fmla="*/ 8 w 34"/>
                <a:gd name="T17" fmla="*/ 4 h 31"/>
                <a:gd name="T18" fmla="*/ 8 w 34"/>
                <a:gd name="T19" fmla="*/ 7 h 31"/>
                <a:gd name="T20" fmla="*/ 8 w 34"/>
                <a:gd name="T21" fmla="*/ 9 h 31"/>
                <a:gd name="T22" fmla="*/ 8 w 34"/>
                <a:gd name="T23" fmla="*/ 11 h 31"/>
                <a:gd name="T24" fmla="*/ 8 w 34"/>
                <a:gd name="T25" fmla="*/ 13 h 31"/>
                <a:gd name="T26" fmla="*/ 8 w 34"/>
                <a:gd name="T27" fmla="*/ 14 h 31"/>
                <a:gd name="T28" fmla="*/ 8 w 34"/>
                <a:gd name="T29" fmla="*/ 15 h 31"/>
                <a:gd name="T30" fmla="*/ 8 w 34"/>
                <a:gd name="T31" fmla="*/ 15 h 31"/>
                <a:gd name="T32" fmla="*/ 8 w 34"/>
                <a:gd name="T33" fmla="*/ 15 h 31"/>
                <a:gd name="T34" fmla="*/ 8 w 34"/>
                <a:gd name="T35" fmla="*/ 15 h 31"/>
                <a:gd name="T36" fmla="*/ 8 w 34"/>
                <a:gd name="T37" fmla="*/ 15 h 31"/>
                <a:gd name="T38" fmla="*/ 8 w 34"/>
                <a:gd name="T39" fmla="*/ 15 h 31"/>
                <a:gd name="T40" fmla="*/ 8 w 34"/>
                <a:gd name="T41" fmla="*/ 15 h 31"/>
                <a:gd name="T42" fmla="*/ 8 w 34"/>
                <a:gd name="T43" fmla="*/ 15 h 31"/>
                <a:gd name="T44" fmla="*/ 8 w 34"/>
                <a:gd name="T45" fmla="*/ 15 h 31"/>
                <a:gd name="T46" fmla="*/ 8 w 34"/>
                <a:gd name="T47" fmla="*/ 15 h 31"/>
                <a:gd name="T48" fmla="*/ 8 w 34"/>
                <a:gd name="T49" fmla="*/ 15 h 31"/>
                <a:gd name="T50" fmla="*/ 8 w 34"/>
                <a:gd name="T51" fmla="*/ 15 h 31"/>
                <a:gd name="T52" fmla="*/ 8 w 34"/>
                <a:gd name="T53" fmla="*/ 15 h 31"/>
                <a:gd name="T54" fmla="*/ 8 w 34"/>
                <a:gd name="T55" fmla="*/ 15 h 31"/>
                <a:gd name="T56" fmla="*/ 8 w 34"/>
                <a:gd name="T57" fmla="*/ 15 h 31"/>
                <a:gd name="T58" fmla="*/ 8 w 34"/>
                <a:gd name="T59" fmla="*/ 15 h 31"/>
                <a:gd name="T60" fmla="*/ 6 w 34"/>
                <a:gd name="T61" fmla="*/ 15 h 31"/>
                <a:gd name="T62" fmla="*/ 3 w 34"/>
                <a:gd name="T63" fmla="*/ 15 h 31"/>
                <a:gd name="T64" fmla="*/ 2 w 34"/>
                <a:gd name="T65" fmla="*/ 15 h 31"/>
                <a:gd name="T66" fmla="*/ 0 w 34"/>
                <a:gd name="T67" fmla="*/ 15 h 31"/>
                <a:gd name="T68" fmla="*/ 0 w 34"/>
                <a:gd name="T69" fmla="*/ 15 h 31"/>
                <a:gd name="T70" fmla="*/ 0 w 34"/>
                <a:gd name="T71" fmla="*/ 15 h 31"/>
                <a:gd name="T72" fmla="*/ 0 w 34"/>
                <a:gd name="T73" fmla="*/ 13 h 31"/>
                <a:gd name="T74" fmla="*/ 2 w 34"/>
                <a:gd name="T75" fmla="*/ 10 h 31"/>
                <a:gd name="T76" fmla="*/ 4 w 34"/>
                <a:gd name="T77" fmla="*/ 7 h 31"/>
                <a:gd name="T78" fmla="*/ 6 w 34"/>
                <a:gd name="T79" fmla="*/ 6 h 31"/>
                <a:gd name="T80" fmla="*/ 8 w 34"/>
                <a:gd name="T81" fmla="*/ 4 h 31"/>
                <a:gd name="T82" fmla="*/ 8 w 34"/>
                <a:gd name="T83" fmla="*/ 3 h 31"/>
                <a:gd name="T84" fmla="*/ 8 w 34"/>
                <a:gd name="T85" fmla="*/ 3 h 31"/>
                <a:gd name="T86" fmla="*/ 8 w 34"/>
                <a:gd name="T87" fmla="*/ 3 h 31"/>
                <a:gd name="T88" fmla="*/ 8 w 34"/>
                <a:gd name="T89" fmla="*/ 1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4"/>
                <a:gd name="T136" fmla="*/ 0 h 31"/>
                <a:gd name="T137" fmla="*/ 34 w 34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4" h="31">
                  <a:moveTo>
                    <a:pt x="17" y="1"/>
                  </a:move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30" y="1"/>
                  </a:lnTo>
                  <a:lnTo>
                    <a:pt x="30" y="3"/>
                  </a:lnTo>
                  <a:lnTo>
                    <a:pt x="31" y="3"/>
                  </a:lnTo>
                  <a:lnTo>
                    <a:pt x="31" y="4"/>
                  </a:lnTo>
                  <a:lnTo>
                    <a:pt x="33" y="4"/>
                  </a:lnTo>
                  <a:lnTo>
                    <a:pt x="33" y="6"/>
                  </a:lnTo>
                  <a:lnTo>
                    <a:pt x="33" y="7"/>
                  </a:lnTo>
                  <a:lnTo>
                    <a:pt x="33" y="9"/>
                  </a:lnTo>
                  <a:lnTo>
                    <a:pt x="33" y="10"/>
                  </a:lnTo>
                  <a:lnTo>
                    <a:pt x="34" y="11"/>
                  </a:lnTo>
                  <a:lnTo>
                    <a:pt x="34" y="13"/>
                  </a:lnTo>
                  <a:lnTo>
                    <a:pt x="34" y="14"/>
                  </a:lnTo>
                  <a:lnTo>
                    <a:pt x="34" y="16"/>
                  </a:lnTo>
                  <a:lnTo>
                    <a:pt x="33" y="16"/>
                  </a:lnTo>
                  <a:lnTo>
                    <a:pt x="33" y="17"/>
                  </a:lnTo>
                  <a:lnTo>
                    <a:pt x="33" y="18"/>
                  </a:lnTo>
                  <a:lnTo>
                    <a:pt x="33" y="20"/>
                  </a:lnTo>
                  <a:lnTo>
                    <a:pt x="33" y="21"/>
                  </a:lnTo>
                  <a:lnTo>
                    <a:pt x="31" y="23"/>
                  </a:lnTo>
                  <a:lnTo>
                    <a:pt x="31" y="24"/>
                  </a:lnTo>
                  <a:lnTo>
                    <a:pt x="30" y="24"/>
                  </a:lnTo>
                  <a:lnTo>
                    <a:pt x="30" y="25"/>
                  </a:lnTo>
                  <a:lnTo>
                    <a:pt x="28" y="25"/>
                  </a:lnTo>
                  <a:lnTo>
                    <a:pt x="27" y="27"/>
                  </a:lnTo>
                  <a:lnTo>
                    <a:pt x="25" y="27"/>
                  </a:lnTo>
                  <a:lnTo>
                    <a:pt x="25" y="28"/>
                  </a:lnTo>
                  <a:lnTo>
                    <a:pt x="24" y="28"/>
                  </a:lnTo>
                  <a:lnTo>
                    <a:pt x="23" y="28"/>
                  </a:lnTo>
                  <a:lnTo>
                    <a:pt x="21" y="28"/>
                  </a:lnTo>
                  <a:lnTo>
                    <a:pt x="21" y="30"/>
                  </a:lnTo>
                  <a:lnTo>
                    <a:pt x="20" y="30"/>
                  </a:lnTo>
                  <a:lnTo>
                    <a:pt x="18" y="30"/>
                  </a:lnTo>
                  <a:lnTo>
                    <a:pt x="17" y="30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4" y="31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9" y="31"/>
                  </a:lnTo>
                  <a:lnTo>
                    <a:pt x="7" y="30"/>
                  </a:lnTo>
                  <a:lnTo>
                    <a:pt x="6" y="30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3" y="27"/>
                  </a:lnTo>
                  <a:lnTo>
                    <a:pt x="2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4" y="6"/>
                  </a:lnTo>
                  <a:lnTo>
                    <a:pt x="6" y="6"/>
                  </a:lnTo>
                  <a:lnTo>
                    <a:pt x="7" y="4"/>
                  </a:lnTo>
                  <a:lnTo>
                    <a:pt x="9" y="4"/>
                  </a:lnTo>
                  <a:lnTo>
                    <a:pt x="9" y="3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3" y="1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6" name="Freeform 51"/>
            <p:cNvSpPr>
              <a:spLocks/>
            </p:cNvSpPr>
            <p:nvPr/>
          </p:nvSpPr>
          <p:spPr bwMode="auto">
            <a:xfrm>
              <a:off x="3894" y="675"/>
              <a:ext cx="32" cy="30"/>
            </a:xfrm>
            <a:custGeom>
              <a:avLst/>
              <a:gdLst>
                <a:gd name="T0" fmla="*/ 8 w 34"/>
                <a:gd name="T1" fmla="*/ 0 h 31"/>
                <a:gd name="T2" fmla="*/ 8 w 34"/>
                <a:gd name="T3" fmla="*/ 0 h 31"/>
                <a:gd name="T4" fmla="*/ 8 w 34"/>
                <a:gd name="T5" fmla="*/ 0 h 31"/>
                <a:gd name="T6" fmla="*/ 8 w 34"/>
                <a:gd name="T7" fmla="*/ 0 h 31"/>
                <a:gd name="T8" fmla="*/ 8 w 34"/>
                <a:gd name="T9" fmla="*/ 0 h 31"/>
                <a:gd name="T10" fmla="*/ 8 w 34"/>
                <a:gd name="T11" fmla="*/ 1 h 31"/>
                <a:gd name="T12" fmla="*/ 8 w 34"/>
                <a:gd name="T13" fmla="*/ 1 h 31"/>
                <a:gd name="T14" fmla="*/ 8 w 34"/>
                <a:gd name="T15" fmla="*/ 3 h 31"/>
                <a:gd name="T16" fmla="*/ 8 w 34"/>
                <a:gd name="T17" fmla="*/ 4 h 31"/>
                <a:gd name="T18" fmla="*/ 8 w 34"/>
                <a:gd name="T19" fmla="*/ 7 h 31"/>
                <a:gd name="T20" fmla="*/ 8 w 34"/>
                <a:gd name="T21" fmla="*/ 9 h 31"/>
                <a:gd name="T22" fmla="*/ 8 w 34"/>
                <a:gd name="T23" fmla="*/ 11 h 31"/>
                <a:gd name="T24" fmla="*/ 8 w 34"/>
                <a:gd name="T25" fmla="*/ 13 h 31"/>
                <a:gd name="T26" fmla="*/ 8 w 34"/>
                <a:gd name="T27" fmla="*/ 14 h 31"/>
                <a:gd name="T28" fmla="*/ 8 w 34"/>
                <a:gd name="T29" fmla="*/ 15 h 31"/>
                <a:gd name="T30" fmla="*/ 8 w 34"/>
                <a:gd name="T31" fmla="*/ 15 h 31"/>
                <a:gd name="T32" fmla="*/ 8 w 34"/>
                <a:gd name="T33" fmla="*/ 15 h 31"/>
                <a:gd name="T34" fmla="*/ 8 w 34"/>
                <a:gd name="T35" fmla="*/ 15 h 31"/>
                <a:gd name="T36" fmla="*/ 8 w 34"/>
                <a:gd name="T37" fmla="*/ 15 h 31"/>
                <a:gd name="T38" fmla="*/ 8 w 34"/>
                <a:gd name="T39" fmla="*/ 15 h 31"/>
                <a:gd name="T40" fmla="*/ 8 w 34"/>
                <a:gd name="T41" fmla="*/ 15 h 31"/>
                <a:gd name="T42" fmla="*/ 8 w 34"/>
                <a:gd name="T43" fmla="*/ 15 h 31"/>
                <a:gd name="T44" fmla="*/ 8 w 34"/>
                <a:gd name="T45" fmla="*/ 15 h 31"/>
                <a:gd name="T46" fmla="*/ 8 w 34"/>
                <a:gd name="T47" fmla="*/ 15 h 31"/>
                <a:gd name="T48" fmla="*/ 8 w 34"/>
                <a:gd name="T49" fmla="*/ 15 h 31"/>
                <a:gd name="T50" fmla="*/ 8 w 34"/>
                <a:gd name="T51" fmla="*/ 15 h 31"/>
                <a:gd name="T52" fmla="*/ 8 w 34"/>
                <a:gd name="T53" fmla="*/ 15 h 31"/>
                <a:gd name="T54" fmla="*/ 8 w 34"/>
                <a:gd name="T55" fmla="*/ 15 h 31"/>
                <a:gd name="T56" fmla="*/ 8 w 34"/>
                <a:gd name="T57" fmla="*/ 15 h 31"/>
                <a:gd name="T58" fmla="*/ 8 w 34"/>
                <a:gd name="T59" fmla="*/ 15 h 31"/>
                <a:gd name="T60" fmla="*/ 6 w 34"/>
                <a:gd name="T61" fmla="*/ 15 h 31"/>
                <a:gd name="T62" fmla="*/ 3 w 34"/>
                <a:gd name="T63" fmla="*/ 15 h 31"/>
                <a:gd name="T64" fmla="*/ 2 w 34"/>
                <a:gd name="T65" fmla="*/ 15 h 31"/>
                <a:gd name="T66" fmla="*/ 0 w 34"/>
                <a:gd name="T67" fmla="*/ 15 h 31"/>
                <a:gd name="T68" fmla="*/ 0 w 34"/>
                <a:gd name="T69" fmla="*/ 15 h 31"/>
                <a:gd name="T70" fmla="*/ 0 w 34"/>
                <a:gd name="T71" fmla="*/ 15 h 31"/>
                <a:gd name="T72" fmla="*/ 0 w 34"/>
                <a:gd name="T73" fmla="*/ 13 h 31"/>
                <a:gd name="T74" fmla="*/ 2 w 34"/>
                <a:gd name="T75" fmla="*/ 9 h 31"/>
                <a:gd name="T76" fmla="*/ 4 w 34"/>
                <a:gd name="T77" fmla="*/ 7 h 31"/>
                <a:gd name="T78" fmla="*/ 6 w 34"/>
                <a:gd name="T79" fmla="*/ 4 h 31"/>
                <a:gd name="T80" fmla="*/ 8 w 34"/>
                <a:gd name="T81" fmla="*/ 4 h 31"/>
                <a:gd name="T82" fmla="*/ 8 w 34"/>
                <a:gd name="T83" fmla="*/ 3 h 31"/>
                <a:gd name="T84" fmla="*/ 8 w 34"/>
                <a:gd name="T85" fmla="*/ 3 h 31"/>
                <a:gd name="T86" fmla="*/ 8 w 34"/>
                <a:gd name="T87" fmla="*/ 1 h 31"/>
                <a:gd name="T88" fmla="*/ 8 w 34"/>
                <a:gd name="T89" fmla="*/ 0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4"/>
                <a:gd name="T136" fmla="*/ 0 h 31"/>
                <a:gd name="T137" fmla="*/ 34 w 34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4" h="31">
                  <a:moveTo>
                    <a:pt x="17" y="0"/>
                  </a:move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1"/>
                  </a:lnTo>
                  <a:lnTo>
                    <a:pt x="31" y="3"/>
                  </a:lnTo>
                  <a:lnTo>
                    <a:pt x="31" y="4"/>
                  </a:lnTo>
                  <a:lnTo>
                    <a:pt x="33" y="4"/>
                  </a:lnTo>
                  <a:lnTo>
                    <a:pt x="33" y="6"/>
                  </a:lnTo>
                  <a:lnTo>
                    <a:pt x="33" y="7"/>
                  </a:lnTo>
                  <a:lnTo>
                    <a:pt x="33" y="9"/>
                  </a:lnTo>
                  <a:lnTo>
                    <a:pt x="33" y="10"/>
                  </a:lnTo>
                  <a:lnTo>
                    <a:pt x="34" y="11"/>
                  </a:lnTo>
                  <a:lnTo>
                    <a:pt x="34" y="13"/>
                  </a:lnTo>
                  <a:lnTo>
                    <a:pt x="34" y="14"/>
                  </a:lnTo>
                  <a:lnTo>
                    <a:pt x="34" y="16"/>
                  </a:lnTo>
                  <a:lnTo>
                    <a:pt x="33" y="16"/>
                  </a:lnTo>
                  <a:lnTo>
                    <a:pt x="33" y="17"/>
                  </a:lnTo>
                  <a:lnTo>
                    <a:pt x="33" y="18"/>
                  </a:lnTo>
                  <a:lnTo>
                    <a:pt x="33" y="20"/>
                  </a:lnTo>
                  <a:lnTo>
                    <a:pt x="33" y="21"/>
                  </a:lnTo>
                  <a:lnTo>
                    <a:pt x="31" y="21"/>
                  </a:lnTo>
                  <a:lnTo>
                    <a:pt x="31" y="23"/>
                  </a:lnTo>
                  <a:lnTo>
                    <a:pt x="31" y="24"/>
                  </a:lnTo>
                  <a:lnTo>
                    <a:pt x="30" y="24"/>
                  </a:lnTo>
                  <a:lnTo>
                    <a:pt x="30" y="25"/>
                  </a:lnTo>
                  <a:lnTo>
                    <a:pt x="28" y="25"/>
                  </a:lnTo>
                  <a:lnTo>
                    <a:pt x="27" y="25"/>
                  </a:lnTo>
                  <a:lnTo>
                    <a:pt x="27" y="27"/>
                  </a:lnTo>
                  <a:lnTo>
                    <a:pt x="25" y="27"/>
                  </a:lnTo>
                  <a:lnTo>
                    <a:pt x="24" y="28"/>
                  </a:lnTo>
                  <a:lnTo>
                    <a:pt x="23" y="28"/>
                  </a:lnTo>
                  <a:lnTo>
                    <a:pt x="21" y="28"/>
                  </a:lnTo>
                  <a:lnTo>
                    <a:pt x="20" y="30"/>
                  </a:lnTo>
                  <a:lnTo>
                    <a:pt x="18" y="30"/>
                  </a:lnTo>
                  <a:lnTo>
                    <a:pt x="17" y="30"/>
                  </a:lnTo>
                  <a:lnTo>
                    <a:pt x="16" y="30"/>
                  </a:lnTo>
                  <a:lnTo>
                    <a:pt x="14" y="30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7" y="30"/>
                  </a:lnTo>
                  <a:lnTo>
                    <a:pt x="6" y="30"/>
                  </a:lnTo>
                  <a:lnTo>
                    <a:pt x="4" y="28"/>
                  </a:lnTo>
                  <a:lnTo>
                    <a:pt x="3" y="28"/>
                  </a:lnTo>
                  <a:lnTo>
                    <a:pt x="3" y="27"/>
                  </a:lnTo>
                  <a:lnTo>
                    <a:pt x="2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2" y="10"/>
                  </a:lnTo>
                  <a:lnTo>
                    <a:pt x="2" y="9"/>
                  </a:lnTo>
                  <a:lnTo>
                    <a:pt x="3" y="7"/>
                  </a:lnTo>
                  <a:lnTo>
                    <a:pt x="4" y="7"/>
                  </a:lnTo>
                  <a:lnTo>
                    <a:pt x="4" y="6"/>
                  </a:lnTo>
                  <a:lnTo>
                    <a:pt x="6" y="4"/>
                  </a:lnTo>
                  <a:lnTo>
                    <a:pt x="7" y="4"/>
                  </a:lnTo>
                  <a:lnTo>
                    <a:pt x="9" y="4"/>
                  </a:lnTo>
                  <a:lnTo>
                    <a:pt x="9" y="3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1" y="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7" name="Freeform 52"/>
            <p:cNvSpPr>
              <a:spLocks/>
            </p:cNvSpPr>
            <p:nvPr/>
          </p:nvSpPr>
          <p:spPr bwMode="auto">
            <a:xfrm>
              <a:off x="3894" y="765"/>
              <a:ext cx="32" cy="28"/>
            </a:xfrm>
            <a:custGeom>
              <a:avLst/>
              <a:gdLst>
                <a:gd name="T0" fmla="*/ 8 w 34"/>
                <a:gd name="T1" fmla="*/ 0 h 30"/>
                <a:gd name="T2" fmla="*/ 8 w 34"/>
                <a:gd name="T3" fmla="*/ 0 h 30"/>
                <a:gd name="T4" fmla="*/ 8 w 34"/>
                <a:gd name="T5" fmla="*/ 0 h 30"/>
                <a:gd name="T6" fmla="*/ 8 w 34"/>
                <a:gd name="T7" fmla="*/ 0 h 30"/>
                <a:gd name="T8" fmla="*/ 8 w 34"/>
                <a:gd name="T9" fmla="*/ 0 h 30"/>
                <a:gd name="T10" fmla="*/ 8 w 34"/>
                <a:gd name="T11" fmla="*/ 0 h 30"/>
                <a:gd name="T12" fmla="*/ 8 w 34"/>
                <a:gd name="T13" fmla="*/ 2 h 30"/>
                <a:gd name="T14" fmla="*/ 8 w 34"/>
                <a:gd name="T15" fmla="*/ 3 h 30"/>
                <a:gd name="T16" fmla="*/ 8 w 34"/>
                <a:gd name="T17" fmla="*/ 5 h 30"/>
                <a:gd name="T18" fmla="*/ 8 w 34"/>
                <a:gd name="T19" fmla="*/ 6 h 30"/>
                <a:gd name="T20" fmla="*/ 8 w 34"/>
                <a:gd name="T21" fmla="*/ 7 h 30"/>
                <a:gd name="T22" fmla="*/ 8 w 34"/>
                <a:gd name="T23" fmla="*/ 7 h 30"/>
                <a:gd name="T24" fmla="*/ 8 w 34"/>
                <a:gd name="T25" fmla="*/ 7 h 30"/>
                <a:gd name="T26" fmla="*/ 8 w 34"/>
                <a:gd name="T27" fmla="*/ 7 h 30"/>
                <a:gd name="T28" fmla="*/ 8 w 34"/>
                <a:gd name="T29" fmla="*/ 7 h 30"/>
                <a:gd name="T30" fmla="*/ 8 w 34"/>
                <a:gd name="T31" fmla="*/ 7 h 30"/>
                <a:gd name="T32" fmla="*/ 8 w 34"/>
                <a:gd name="T33" fmla="*/ 7 h 30"/>
                <a:gd name="T34" fmla="*/ 8 w 34"/>
                <a:gd name="T35" fmla="*/ 7 h 30"/>
                <a:gd name="T36" fmla="*/ 8 w 34"/>
                <a:gd name="T37" fmla="*/ 7 h 30"/>
                <a:gd name="T38" fmla="*/ 8 w 34"/>
                <a:gd name="T39" fmla="*/ 7 h 30"/>
                <a:gd name="T40" fmla="*/ 8 w 34"/>
                <a:gd name="T41" fmla="*/ 7 h 30"/>
                <a:gd name="T42" fmla="*/ 8 w 34"/>
                <a:gd name="T43" fmla="*/ 7 h 30"/>
                <a:gd name="T44" fmla="*/ 8 w 34"/>
                <a:gd name="T45" fmla="*/ 7 h 30"/>
                <a:gd name="T46" fmla="*/ 8 w 34"/>
                <a:gd name="T47" fmla="*/ 7 h 30"/>
                <a:gd name="T48" fmla="*/ 8 w 34"/>
                <a:gd name="T49" fmla="*/ 7 h 30"/>
                <a:gd name="T50" fmla="*/ 8 w 34"/>
                <a:gd name="T51" fmla="*/ 7 h 30"/>
                <a:gd name="T52" fmla="*/ 8 w 34"/>
                <a:gd name="T53" fmla="*/ 7 h 30"/>
                <a:gd name="T54" fmla="*/ 8 w 34"/>
                <a:gd name="T55" fmla="*/ 7 h 30"/>
                <a:gd name="T56" fmla="*/ 8 w 34"/>
                <a:gd name="T57" fmla="*/ 7 h 30"/>
                <a:gd name="T58" fmla="*/ 8 w 34"/>
                <a:gd name="T59" fmla="*/ 7 h 30"/>
                <a:gd name="T60" fmla="*/ 6 w 34"/>
                <a:gd name="T61" fmla="*/ 7 h 30"/>
                <a:gd name="T62" fmla="*/ 3 w 34"/>
                <a:gd name="T63" fmla="*/ 7 h 30"/>
                <a:gd name="T64" fmla="*/ 2 w 34"/>
                <a:gd name="T65" fmla="*/ 7 h 30"/>
                <a:gd name="T66" fmla="*/ 0 w 34"/>
                <a:gd name="T67" fmla="*/ 7 h 30"/>
                <a:gd name="T68" fmla="*/ 0 w 34"/>
                <a:gd name="T69" fmla="*/ 7 h 30"/>
                <a:gd name="T70" fmla="*/ 0 w 34"/>
                <a:gd name="T71" fmla="*/ 7 h 30"/>
                <a:gd name="T72" fmla="*/ 0 w 34"/>
                <a:gd name="T73" fmla="*/ 7 h 30"/>
                <a:gd name="T74" fmla="*/ 2 w 34"/>
                <a:gd name="T75" fmla="*/ 7 h 30"/>
                <a:gd name="T76" fmla="*/ 4 w 34"/>
                <a:gd name="T77" fmla="*/ 7 h 30"/>
                <a:gd name="T78" fmla="*/ 6 w 34"/>
                <a:gd name="T79" fmla="*/ 5 h 30"/>
                <a:gd name="T80" fmla="*/ 8 w 34"/>
                <a:gd name="T81" fmla="*/ 3 h 30"/>
                <a:gd name="T82" fmla="*/ 8 w 34"/>
                <a:gd name="T83" fmla="*/ 3 h 30"/>
                <a:gd name="T84" fmla="*/ 8 w 34"/>
                <a:gd name="T85" fmla="*/ 3 h 30"/>
                <a:gd name="T86" fmla="*/ 8 w 34"/>
                <a:gd name="T87" fmla="*/ 2 h 30"/>
                <a:gd name="T88" fmla="*/ 8 w 34"/>
                <a:gd name="T89" fmla="*/ 0 h 3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4"/>
                <a:gd name="T136" fmla="*/ 0 h 30"/>
                <a:gd name="T137" fmla="*/ 34 w 34"/>
                <a:gd name="T138" fmla="*/ 30 h 3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4" h="30">
                  <a:moveTo>
                    <a:pt x="17" y="0"/>
                  </a:move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1" y="5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3" y="8"/>
                  </a:lnTo>
                  <a:lnTo>
                    <a:pt x="33" y="9"/>
                  </a:lnTo>
                  <a:lnTo>
                    <a:pt x="33" y="10"/>
                  </a:lnTo>
                  <a:lnTo>
                    <a:pt x="34" y="12"/>
                  </a:lnTo>
                  <a:lnTo>
                    <a:pt x="34" y="13"/>
                  </a:lnTo>
                  <a:lnTo>
                    <a:pt x="34" y="15"/>
                  </a:lnTo>
                  <a:lnTo>
                    <a:pt x="34" y="16"/>
                  </a:lnTo>
                  <a:lnTo>
                    <a:pt x="33" y="16"/>
                  </a:lnTo>
                  <a:lnTo>
                    <a:pt x="33" y="17"/>
                  </a:lnTo>
                  <a:lnTo>
                    <a:pt x="33" y="19"/>
                  </a:lnTo>
                  <a:lnTo>
                    <a:pt x="33" y="20"/>
                  </a:lnTo>
                  <a:lnTo>
                    <a:pt x="33" y="22"/>
                  </a:lnTo>
                  <a:lnTo>
                    <a:pt x="31" y="22"/>
                  </a:lnTo>
                  <a:lnTo>
                    <a:pt x="31" y="23"/>
                  </a:lnTo>
                  <a:lnTo>
                    <a:pt x="31" y="24"/>
                  </a:lnTo>
                  <a:lnTo>
                    <a:pt x="30" y="24"/>
                  </a:lnTo>
                  <a:lnTo>
                    <a:pt x="28" y="26"/>
                  </a:lnTo>
                  <a:lnTo>
                    <a:pt x="27" y="26"/>
                  </a:lnTo>
                  <a:lnTo>
                    <a:pt x="27" y="27"/>
                  </a:lnTo>
                  <a:lnTo>
                    <a:pt x="25" y="27"/>
                  </a:lnTo>
                  <a:lnTo>
                    <a:pt x="24" y="29"/>
                  </a:lnTo>
                  <a:lnTo>
                    <a:pt x="23" y="29"/>
                  </a:lnTo>
                  <a:lnTo>
                    <a:pt x="21" y="29"/>
                  </a:lnTo>
                  <a:lnTo>
                    <a:pt x="20" y="29"/>
                  </a:lnTo>
                  <a:lnTo>
                    <a:pt x="18" y="30"/>
                  </a:lnTo>
                  <a:lnTo>
                    <a:pt x="17" y="30"/>
                  </a:lnTo>
                  <a:lnTo>
                    <a:pt x="16" y="30"/>
                  </a:lnTo>
                  <a:lnTo>
                    <a:pt x="14" y="30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30"/>
                  </a:lnTo>
                  <a:lnTo>
                    <a:pt x="7" y="30"/>
                  </a:lnTo>
                  <a:lnTo>
                    <a:pt x="6" y="30"/>
                  </a:lnTo>
                  <a:lnTo>
                    <a:pt x="4" y="29"/>
                  </a:lnTo>
                  <a:lnTo>
                    <a:pt x="3" y="27"/>
                  </a:lnTo>
                  <a:lnTo>
                    <a:pt x="2" y="26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2" y="10"/>
                  </a:lnTo>
                  <a:lnTo>
                    <a:pt x="2" y="9"/>
                  </a:lnTo>
                  <a:lnTo>
                    <a:pt x="3" y="8"/>
                  </a:lnTo>
                  <a:lnTo>
                    <a:pt x="4" y="8"/>
                  </a:lnTo>
                  <a:lnTo>
                    <a:pt x="4" y="6"/>
                  </a:lnTo>
                  <a:lnTo>
                    <a:pt x="6" y="5"/>
                  </a:lnTo>
                  <a:lnTo>
                    <a:pt x="7" y="5"/>
                  </a:lnTo>
                  <a:lnTo>
                    <a:pt x="9" y="3"/>
                  </a:lnTo>
                  <a:lnTo>
                    <a:pt x="10" y="3"/>
                  </a:lnTo>
                  <a:lnTo>
                    <a:pt x="11" y="2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8" name="Freeform 53"/>
            <p:cNvSpPr>
              <a:spLocks/>
            </p:cNvSpPr>
            <p:nvPr/>
          </p:nvSpPr>
          <p:spPr bwMode="auto">
            <a:xfrm>
              <a:off x="3894" y="735"/>
              <a:ext cx="32" cy="30"/>
            </a:xfrm>
            <a:custGeom>
              <a:avLst/>
              <a:gdLst>
                <a:gd name="T0" fmla="*/ 8 w 34"/>
                <a:gd name="T1" fmla="*/ 1 h 31"/>
                <a:gd name="T2" fmla="*/ 8 w 34"/>
                <a:gd name="T3" fmla="*/ 0 h 31"/>
                <a:gd name="T4" fmla="*/ 8 w 34"/>
                <a:gd name="T5" fmla="*/ 0 h 31"/>
                <a:gd name="T6" fmla="*/ 8 w 34"/>
                <a:gd name="T7" fmla="*/ 0 h 31"/>
                <a:gd name="T8" fmla="*/ 8 w 34"/>
                <a:gd name="T9" fmla="*/ 1 h 31"/>
                <a:gd name="T10" fmla="*/ 8 w 34"/>
                <a:gd name="T11" fmla="*/ 1 h 31"/>
                <a:gd name="T12" fmla="*/ 8 w 34"/>
                <a:gd name="T13" fmla="*/ 3 h 31"/>
                <a:gd name="T14" fmla="*/ 8 w 34"/>
                <a:gd name="T15" fmla="*/ 4 h 31"/>
                <a:gd name="T16" fmla="*/ 8 w 34"/>
                <a:gd name="T17" fmla="*/ 6 h 31"/>
                <a:gd name="T18" fmla="*/ 8 w 34"/>
                <a:gd name="T19" fmla="*/ 7 h 31"/>
                <a:gd name="T20" fmla="*/ 8 w 34"/>
                <a:gd name="T21" fmla="*/ 10 h 31"/>
                <a:gd name="T22" fmla="*/ 8 w 34"/>
                <a:gd name="T23" fmla="*/ 11 h 31"/>
                <a:gd name="T24" fmla="*/ 8 w 34"/>
                <a:gd name="T25" fmla="*/ 13 h 31"/>
                <a:gd name="T26" fmla="*/ 8 w 34"/>
                <a:gd name="T27" fmla="*/ 14 h 31"/>
                <a:gd name="T28" fmla="*/ 8 w 34"/>
                <a:gd name="T29" fmla="*/ 15 h 31"/>
                <a:gd name="T30" fmla="*/ 8 w 34"/>
                <a:gd name="T31" fmla="*/ 15 h 31"/>
                <a:gd name="T32" fmla="*/ 8 w 34"/>
                <a:gd name="T33" fmla="*/ 15 h 31"/>
                <a:gd name="T34" fmla="*/ 8 w 34"/>
                <a:gd name="T35" fmla="*/ 15 h 31"/>
                <a:gd name="T36" fmla="*/ 8 w 34"/>
                <a:gd name="T37" fmla="*/ 15 h 31"/>
                <a:gd name="T38" fmla="*/ 8 w 34"/>
                <a:gd name="T39" fmla="*/ 15 h 31"/>
                <a:gd name="T40" fmla="*/ 8 w 34"/>
                <a:gd name="T41" fmla="*/ 15 h 31"/>
                <a:gd name="T42" fmla="*/ 8 w 34"/>
                <a:gd name="T43" fmla="*/ 15 h 31"/>
                <a:gd name="T44" fmla="*/ 8 w 34"/>
                <a:gd name="T45" fmla="*/ 15 h 31"/>
                <a:gd name="T46" fmla="*/ 8 w 34"/>
                <a:gd name="T47" fmla="*/ 15 h 31"/>
                <a:gd name="T48" fmla="*/ 8 w 34"/>
                <a:gd name="T49" fmla="*/ 15 h 31"/>
                <a:gd name="T50" fmla="*/ 8 w 34"/>
                <a:gd name="T51" fmla="*/ 15 h 31"/>
                <a:gd name="T52" fmla="*/ 8 w 34"/>
                <a:gd name="T53" fmla="*/ 15 h 31"/>
                <a:gd name="T54" fmla="*/ 8 w 34"/>
                <a:gd name="T55" fmla="*/ 15 h 31"/>
                <a:gd name="T56" fmla="*/ 8 w 34"/>
                <a:gd name="T57" fmla="*/ 15 h 31"/>
                <a:gd name="T58" fmla="*/ 8 w 34"/>
                <a:gd name="T59" fmla="*/ 15 h 31"/>
                <a:gd name="T60" fmla="*/ 6 w 34"/>
                <a:gd name="T61" fmla="*/ 15 h 31"/>
                <a:gd name="T62" fmla="*/ 3 w 34"/>
                <a:gd name="T63" fmla="*/ 15 h 31"/>
                <a:gd name="T64" fmla="*/ 2 w 34"/>
                <a:gd name="T65" fmla="*/ 15 h 31"/>
                <a:gd name="T66" fmla="*/ 0 w 34"/>
                <a:gd name="T67" fmla="*/ 15 h 31"/>
                <a:gd name="T68" fmla="*/ 0 w 34"/>
                <a:gd name="T69" fmla="*/ 15 h 31"/>
                <a:gd name="T70" fmla="*/ 0 w 34"/>
                <a:gd name="T71" fmla="*/ 15 h 31"/>
                <a:gd name="T72" fmla="*/ 0 w 34"/>
                <a:gd name="T73" fmla="*/ 13 h 31"/>
                <a:gd name="T74" fmla="*/ 2 w 34"/>
                <a:gd name="T75" fmla="*/ 10 h 31"/>
                <a:gd name="T76" fmla="*/ 4 w 34"/>
                <a:gd name="T77" fmla="*/ 7 h 31"/>
                <a:gd name="T78" fmla="*/ 6 w 34"/>
                <a:gd name="T79" fmla="*/ 6 h 31"/>
                <a:gd name="T80" fmla="*/ 8 w 34"/>
                <a:gd name="T81" fmla="*/ 4 h 31"/>
                <a:gd name="T82" fmla="*/ 8 w 34"/>
                <a:gd name="T83" fmla="*/ 4 h 31"/>
                <a:gd name="T84" fmla="*/ 8 w 34"/>
                <a:gd name="T85" fmla="*/ 3 h 31"/>
                <a:gd name="T86" fmla="*/ 8 w 34"/>
                <a:gd name="T87" fmla="*/ 3 h 31"/>
                <a:gd name="T88" fmla="*/ 8 w 34"/>
                <a:gd name="T89" fmla="*/ 3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4"/>
                <a:gd name="T136" fmla="*/ 0 h 31"/>
                <a:gd name="T137" fmla="*/ 34 w 34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4" h="31">
                  <a:moveTo>
                    <a:pt x="17" y="1"/>
                  </a:moveTo>
                  <a:lnTo>
                    <a:pt x="17" y="1"/>
                  </a:lnTo>
                  <a:lnTo>
                    <a:pt x="18" y="1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30" y="1"/>
                  </a:lnTo>
                  <a:lnTo>
                    <a:pt x="30" y="3"/>
                  </a:lnTo>
                  <a:lnTo>
                    <a:pt x="31" y="3"/>
                  </a:lnTo>
                  <a:lnTo>
                    <a:pt x="31" y="4"/>
                  </a:lnTo>
                  <a:lnTo>
                    <a:pt x="33" y="6"/>
                  </a:lnTo>
                  <a:lnTo>
                    <a:pt x="33" y="7"/>
                  </a:lnTo>
                  <a:lnTo>
                    <a:pt x="33" y="9"/>
                  </a:lnTo>
                  <a:lnTo>
                    <a:pt x="33" y="10"/>
                  </a:lnTo>
                  <a:lnTo>
                    <a:pt x="34" y="11"/>
                  </a:lnTo>
                  <a:lnTo>
                    <a:pt x="34" y="13"/>
                  </a:lnTo>
                  <a:lnTo>
                    <a:pt x="34" y="14"/>
                  </a:lnTo>
                  <a:lnTo>
                    <a:pt x="34" y="16"/>
                  </a:lnTo>
                  <a:lnTo>
                    <a:pt x="33" y="17"/>
                  </a:lnTo>
                  <a:lnTo>
                    <a:pt x="33" y="18"/>
                  </a:lnTo>
                  <a:lnTo>
                    <a:pt x="33" y="20"/>
                  </a:lnTo>
                  <a:lnTo>
                    <a:pt x="33" y="21"/>
                  </a:lnTo>
                  <a:lnTo>
                    <a:pt x="31" y="23"/>
                  </a:lnTo>
                  <a:lnTo>
                    <a:pt x="31" y="24"/>
                  </a:lnTo>
                  <a:lnTo>
                    <a:pt x="30" y="25"/>
                  </a:lnTo>
                  <a:lnTo>
                    <a:pt x="28" y="25"/>
                  </a:lnTo>
                  <a:lnTo>
                    <a:pt x="27" y="27"/>
                  </a:lnTo>
                  <a:lnTo>
                    <a:pt x="25" y="28"/>
                  </a:lnTo>
                  <a:lnTo>
                    <a:pt x="24" y="28"/>
                  </a:lnTo>
                  <a:lnTo>
                    <a:pt x="23" y="30"/>
                  </a:lnTo>
                  <a:lnTo>
                    <a:pt x="21" y="30"/>
                  </a:lnTo>
                  <a:lnTo>
                    <a:pt x="20" y="30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1"/>
                  </a:lnTo>
                  <a:lnTo>
                    <a:pt x="14" y="31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9" y="31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3" y="27"/>
                  </a:lnTo>
                  <a:lnTo>
                    <a:pt x="2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6" y="6"/>
                  </a:lnTo>
                  <a:lnTo>
                    <a:pt x="7" y="4"/>
                  </a:lnTo>
                  <a:lnTo>
                    <a:pt x="9" y="4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3" y="3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9" name="Freeform 54"/>
            <p:cNvSpPr>
              <a:spLocks/>
            </p:cNvSpPr>
            <p:nvPr/>
          </p:nvSpPr>
          <p:spPr bwMode="auto">
            <a:xfrm>
              <a:off x="3894" y="795"/>
              <a:ext cx="32" cy="30"/>
            </a:xfrm>
            <a:custGeom>
              <a:avLst/>
              <a:gdLst>
                <a:gd name="T0" fmla="*/ 8 w 34"/>
                <a:gd name="T1" fmla="*/ 0 h 31"/>
                <a:gd name="T2" fmla="*/ 8 w 34"/>
                <a:gd name="T3" fmla="*/ 0 h 31"/>
                <a:gd name="T4" fmla="*/ 8 w 34"/>
                <a:gd name="T5" fmla="*/ 0 h 31"/>
                <a:gd name="T6" fmla="*/ 8 w 34"/>
                <a:gd name="T7" fmla="*/ 0 h 31"/>
                <a:gd name="T8" fmla="*/ 8 w 34"/>
                <a:gd name="T9" fmla="*/ 0 h 31"/>
                <a:gd name="T10" fmla="*/ 8 w 34"/>
                <a:gd name="T11" fmla="*/ 2 h 31"/>
                <a:gd name="T12" fmla="*/ 8 w 34"/>
                <a:gd name="T13" fmla="*/ 2 h 31"/>
                <a:gd name="T14" fmla="*/ 8 w 34"/>
                <a:gd name="T15" fmla="*/ 3 h 31"/>
                <a:gd name="T16" fmla="*/ 8 w 34"/>
                <a:gd name="T17" fmla="*/ 5 h 31"/>
                <a:gd name="T18" fmla="*/ 8 w 34"/>
                <a:gd name="T19" fmla="*/ 8 h 31"/>
                <a:gd name="T20" fmla="*/ 8 w 34"/>
                <a:gd name="T21" fmla="*/ 9 h 31"/>
                <a:gd name="T22" fmla="*/ 8 w 34"/>
                <a:gd name="T23" fmla="*/ 12 h 31"/>
                <a:gd name="T24" fmla="*/ 8 w 34"/>
                <a:gd name="T25" fmla="*/ 13 h 31"/>
                <a:gd name="T26" fmla="*/ 8 w 34"/>
                <a:gd name="T27" fmla="*/ 15 h 31"/>
                <a:gd name="T28" fmla="*/ 8 w 34"/>
                <a:gd name="T29" fmla="*/ 15 h 31"/>
                <a:gd name="T30" fmla="*/ 8 w 34"/>
                <a:gd name="T31" fmla="*/ 15 h 31"/>
                <a:gd name="T32" fmla="*/ 8 w 34"/>
                <a:gd name="T33" fmla="*/ 15 h 31"/>
                <a:gd name="T34" fmla="*/ 8 w 34"/>
                <a:gd name="T35" fmla="*/ 15 h 31"/>
                <a:gd name="T36" fmla="*/ 8 w 34"/>
                <a:gd name="T37" fmla="*/ 15 h 31"/>
                <a:gd name="T38" fmla="*/ 8 w 34"/>
                <a:gd name="T39" fmla="*/ 15 h 31"/>
                <a:gd name="T40" fmla="*/ 8 w 34"/>
                <a:gd name="T41" fmla="*/ 15 h 31"/>
                <a:gd name="T42" fmla="*/ 8 w 34"/>
                <a:gd name="T43" fmla="*/ 15 h 31"/>
                <a:gd name="T44" fmla="*/ 8 w 34"/>
                <a:gd name="T45" fmla="*/ 15 h 31"/>
                <a:gd name="T46" fmla="*/ 8 w 34"/>
                <a:gd name="T47" fmla="*/ 15 h 31"/>
                <a:gd name="T48" fmla="*/ 8 w 34"/>
                <a:gd name="T49" fmla="*/ 15 h 31"/>
                <a:gd name="T50" fmla="*/ 8 w 34"/>
                <a:gd name="T51" fmla="*/ 15 h 31"/>
                <a:gd name="T52" fmla="*/ 8 w 34"/>
                <a:gd name="T53" fmla="*/ 15 h 31"/>
                <a:gd name="T54" fmla="*/ 8 w 34"/>
                <a:gd name="T55" fmla="*/ 15 h 31"/>
                <a:gd name="T56" fmla="*/ 8 w 34"/>
                <a:gd name="T57" fmla="*/ 15 h 31"/>
                <a:gd name="T58" fmla="*/ 8 w 34"/>
                <a:gd name="T59" fmla="*/ 15 h 31"/>
                <a:gd name="T60" fmla="*/ 6 w 34"/>
                <a:gd name="T61" fmla="*/ 15 h 31"/>
                <a:gd name="T62" fmla="*/ 3 w 34"/>
                <a:gd name="T63" fmla="*/ 15 h 31"/>
                <a:gd name="T64" fmla="*/ 2 w 34"/>
                <a:gd name="T65" fmla="*/ 15 h 31"/>
                <a:gd name="T66" fmla="*/ 0 w 34"/>
                <a:gd name="T67" fmla="*/ 15 h 31"/>
                <a:gd name="T68" fmla="*/ 0 w 34"/>
                <a:gd name="T69" fmla="*/ 15 h 31"/>
                <a:gd name="T70" fmla="*/ 0 w 34"/>
                <a:gd name="T71" fmla="*/ 15 h 31"/>
                <a:gd name="T72" fmla="*/ 0 w 34"/>
                <a:gd name="T73" fmla="*/ 13 h 31"/>
                <a:gd name="T74" fmla="*/ 2 w 34"/>
                <a:gd name="T75" fmla="*/ 10 h 31"/>
                <a:gd name="T76" fmla="*/ 4 w 34"/>
                <a:gd name="T77" fmla="*/ 8 h 31"/>
                <a:gd name="T78" fmla="*/ 6 w 34"/>
                <a:gd name="T79" fmla="*/ 6 h 31"/>
                <a:gd name="T80" fmla="*/ 8 w 34"/>
                <a:gd name="T81" fmla="*/ 5 h 31"/>
                <a:gd name="T82" fmla="*/ 8 w 34"/>
                <a:gd name="T83" fmla="*/ 3 h 31"/>
                <a:gd name="T84" fmla="*/ 8 w 34"/>
                <a:gd name="T85" fmla="*/ 3 h 31"/>
                <a:gd name="T86" fmla="*/ 8 w 34"/>
                <a:gd name="T87" fmla="*/ 3 h 31"/>
                <a:gd name="T88" fmla="*/ 8 w 34"/>
                <a:gd name="T89" fmla="*/ 0 h 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4"/>
                <a:gd name="T136" fmla="*/ 0 h 31"/>
                <a:gd name="T137" fmla="*/ 34 w 34"/>
                <a:gd name="T138" fmla="*/ 31 h 3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4" h="31">
                  <a:moveTo>
                    <a:pt x="17" y="0"/>
                  </a:move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1" y="5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3" y="8"/>
                  </a:lnTo>
                  <a:lnTo>
                    <a:pt x="33" y="9"/>
                  </a:lnTo>
                  <a:lnTo>
                    <a:pt x="33" y="10"/>
                  </a:lnTo>
                  <a:lnTo>
                    <a:pt x="34" y="12"/>
                  </a:lnTo>
                  <a:lnTo>
                    <a:pt x="34" y="13"/>
                  </a:lnTo>
                  <a:lnTo>
                    <a:pt x="34" y="15"/>
                  </a:lnTo>
                  <a:lnTo>
                    <a:pt x="34" y="16"/>
                  </a:lnTo>
                  <a:lnTo>
                    <a:pt x="33" y="16"/>
                  </a:lnTo>
                  <a:lnTo>
                    <a:pt x="33" y="17"/>
                  </a:lnTo>
                  <a:lnTo>
                    <a:pt x="33" y="19"/>
                  </a:lnTo>
                  <a:lnTo>
                    <a:pt x="33" y="20"/>
                  </a:lnTo>
                  <a:lnTo>
                    <a:pt x="33" y="22"/>
                  </a:lnTo>
                  <a:lnTo>
                    <a:pt x="31" y="23"/>
                  </a:lnTo>
                  <a:lnTo>
                    <a:pt x="31" y="24"/>
                  </a:lnTo>
                  <a:lnTo>
                    <a:pt x="30" y="24"/>
                  </a:lnTo>
                  <a:lnTo>
                    <a:pt x="30" y="26"/>
                  </a:lnTo>
                  <a:lnTo>
                    <a:pt x="28" y="26"/>
                  </a:lnTo>
                  <a:lnTo>
                    <a:pt x="27" y="26"/>
                  </a:lnTo>
                  <a:lnTo>
                    <a:pt x="27" y="27"/>
                  </a:lnTo>
                  <a:lnTo>
                    <a:pt x="25" y="27"/>
                  </a:lnTo>
                  <a:lnTo>
                    <a:pt x="25" y="29"/>
                  </a:lnTo>
                  <a:lnTo>
                    <a:pt x="24" y="29"/>
                  </a:lnTo>
                  <a:lnTo>
                    <a:pt x="23" y="29"/>
                  </a:lnTo>
                  <a:lnTo>
                    <a:pt x="21" y="29"/>
                  </a:lnTo>
                  <a:lnTo>
                    <a:pt x="21" y="30"/>
                  </a:lnTo>
                  <a:lnTo>
                    <a:pt x="20" y="30"/>
                  </a:lnTo>
                  <a:lnTo>
                    <a:pt x="18" y="30"/>
                  </a:lnTo>
                  <a:lnTo>
                    <a:pt x="17" y="30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4" y="31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9" y="31"/>
                  </a:lnTo>
                  <a:lnTo>
                    <a:pt x="7" y="30"/>
                  </a:lnTo>
                  <a:lnTo>
                    <a:pt x="6" y="30"/>
                  </a:lnTo>
                  <a:lnTo>
                    <a:pt x="4" y="29"/>
                  </a:lnTo>
                  <a:lnTo>
                    <a:pt x="3" y="29"/>
                  </a:lnTo>
                  <a:lnTo>
                    <a:pt x="3" y="27"/>
                  </a:lnTo>
                  <a:lnTo>
                    <a:pt x="2" y="26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0" y="19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8"/>
                  </a:lnTo>
                  <a:lnTo>
                    <a:pt x="4" y="6"/>
                  </a:lnTo>
                  <a:lnTo>
                    <a:pt x="6" y="6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0" name="Freeform 55"/>
            <p:cNvSpPr>
              <a:spLocks/>
            </p:cNvSpPr>
            <p:nvPr/>
          </p:nvSpPr>
          <p:spPr bwMode="auto">
            <a:xfrm>
              <a:off x="3926" y="506"/>
              <a:ext cx="25" cy="32"/>
            </a:xfrm>
            <a:custGeom>
              <a:avLst/>
              <a:gdLst>
                <a:gd name="T0" fmla="*/ 0 w 27"/>
                <a:gd name="T1" fmla="*/ 21 h 32"/>
                <a:gd name="T2" fmla="*/ 1 w 27"/>
                <a:gd name="T3" fmla="*/ 18 h 32"/>
                <a:gd name="T4" fmla="*/ 3 w 27"/>
                <a:gd name="T5" fmla="*/ 15 h 32"/>
                <a:gd name="T6" fmla="*/ 4 w 27"/>
                <a:gd name="T7" fmla="*/ 12 h 32"/>
                <a:gd name="T8" fmla="*/ 4 w 27"/>
                <a:gd name="T9" fmla="*/ 11 h 32"/>
                <a:gd name="T10" fmla="*/ 6 w 27"/>
                <a:gd name="T11" fmla="*/ 8 h 32"/>
                <a:gd name="T12" fmla="*/ 6 w 27"/>
                <a:gd name="T13" fmla="*/ 8 h 32"/>
                <a:gd name="T14" fmla="*/ 6 w 27"/>
                <a:gd name="T15" fmla="*/ 7 h 32"/>
                <a:gd name="T16" fmla="*/ 6 w 27"/>
                <a:gd name="T17" fmla="*/ 5 h 32"/>
                <a:gd name="T18" fmla="*/ 6 w 27"/>
                <a:gd name="T19" fmla="*/ 4 h 32"/>
                <a:gd name="T20" fmla="*/ 6 w 27"/>
                <a:gd name="T21" fmla="*/ 2 h 32"/>
                <a:gd name="T22" fmla="*/ 6 w 27"/>
                <a:gd name="T23" fmla="*/ 1 h 32"/>
                <a:gd name="T24" fmla="*/ 6 w 27"/>
                <a:gd name="T25" fmla="*/ 0 h 32"/>
                <a:gd name="T26" fmla="*/ 6 w 27"/>
                <a:gd name="T27" fmla="*/ 0 h 32"/>
                <a:gd name="T28" fmla="*/ 6 w 27"/>
                <a:gd name="T29" fmla="*/ 1 h 32"/>
                <a:gd name="T30" fmla="*/ 6 w 27"/>
                <a:gd name="T31" fmla="*/ 1 h 32"/>
                <a:gd name="T32" fmla="*/ 6 w 27"/>
                <a:gd name="T33" fmla="*/ 2 h 32"/>
                <a:gd name="T34" fmla="*/ 6 w 27"/>
                <a:gd name="T35" fmla="*/ 5 h 32"/>
                <a:gd name="T36" fmla="*/ 6 w 27"/>
                <a:gd name="T37" fmla="*/ 8 h 32"/>
                <a:gd name="T38" fmla="*/ 6 w 27"/>
                <a:gd name="T39" fmla="*/ 11 h 32"/>
                <a:gd name="T40" fmla="*/ 6 w 27"/>
                <a:gd name="T41" fmla="*/ 14 h 32"/>
                <a:gd name="T42" fmla="*/ 6 w 27"/>
                <a:gd name="T43" fmla="*/ 16 h 32"/>
                <a:gd name="T44" fmla="*/ 6 w 27"/>
                <a:gd name="T45" fmla="*/ 19 h 32"/>
                <a:gd name="T46" fmla="*/ 6 w 27"/>
                <a:gd name="T47" fmla="*/ 22 h 32"/>
                <a:gd name="T48" fmla="*/ 6 w 27"/>
                <a:gd name="T49" fmla="*/ 24 h 32"/>
                <a:gd name="T50" fmla="*/ 6 w 27"/>
                <a:gd name="T51" fmla="*/ 26 h 32"/>
                <a:gd name="T52" fmla="*/ 6 w 27"/>
                <a:gd name="T53" fmla="*/ 28 h 32"/>
                <a:gd name="T54" fmla="*/ 6 w 27"/>
                <a:gd name="T55" fmla="*/ 31 h 32"/>
                <a:gd name="T56" fmla="*/ 6 w 27"/>
                <a:gd name="T57" fmla="*/ 31 h 32"/>
                <a:gd name="T58" fmla="*/ 6 w 27"/>
                <a:gd name="T59" fmla="*/ 32 h 32"/>
                <a:gd name="T60" fmla="*/ 6 w 27"/>
                <a:gd name="T61" fmla="*/ 32 h 32"/>
                <a:gd name="T62" fmla="*/ 6 w 27"/>
                <a:gd name="T63" fmla="*/ 32 h 32"/>
                <a:gd name="T64" fmla="*/ 6 w 27"/>
                <a:gd name="T65" fmla="*/ 32 h 32"/>
                <a:gd name="T66" fmla="*/ 4 w 27"/>
                <a:gd name="T67" fmla="*/ 31 h 32"/>
                <a:gd name="T68" fmla="*/ 3 w 27"/>
                <a:gd name="T69" fmla="*/ 29 h 32"/>
                <a:gd name="T70" fmla="*/ 1 w 27"/>
                <a:gd name="T71" fmla="*/ 28 h 32"/>
                <a:gd name="T72" fmla="*/ 1 w 27"/>
                <a:gd name="T73" fmla="*/ 26 h 32"/>
                <a:gd name="T74" fmla="*/ 1 w 27"/>
                <a:gd name="T75" fmla="*/ 25 h 32"/>
                <a:gd name="T76" fmla="*/ 1 w 27"/>
                <a:gd name="T77" fmla="*/ 25 h 32"/>
                <a:gd name="T78" fmla="*/ 0 w 27"/>
                <a:gd name="T79" fmla="*/ 24 h 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2"/>
                <a:gd name="T122" fmla="*/ 27 w 27"/>
                <a:gd name="T123" fmla="*/ 32 h 3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2">
                  <a:moveTo>
                    <a:pt x="0" y="24"/>
                  </a:moveTo>
                  <a:lnTo>
                    <a:pt x="0" y="21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6" y="9"/>
                  </a:lnTo>
                  <a:lnTo>
                    <a:pt x="6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5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2"/>
                  </a:lnTo>
                  <a:lnTo>
                    <a:pt x="25" y="4"/>
                  </a:lnTo>
                  <a:lnTo>
                    <a:pt x="25" y="5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7" y="9"/>
                  </a:lnTo>
                  <a:lnTo>
                    <a:pt x="27" y="11"/>
                  </a:lnTo>
                  <a:lnTo>
                    <a:pt x="25" y="12"/>
                  </a:lnTo>
                  <a:lnTo>
                    <a:pt x="25" y="14"/>
                  </a:lnTo>
                  <a:lnTo>
                    <a:pt x="25" y="15"/>
                  </a:lnTo>
                  <a:lnTo>
                    <a:pt x="24" y="16"/>
                  </a:lnTo>
                  <a:lnTo>
                    <a:pt x="24" y="18"/>
                  </a:lnTo>
                  <a:lnTo>
                    <a:pt x="24" y="19"/>
                  </a:lnTo>
                  <a:lnTo>
                    <a:pt x="22" y="21"/>
                  </a:lnTo>
                  <a:lnTo>
                    <a:pt x="22" y="22"/>
                  </a:lnTo>
                  <a:lnTo>
                    <a:pt x="21" y="24"/>
                  </a:lnTo>
                  <a:lnTo>
                    <a:pt x="20" y="24"/>
                  </a:lnTo>
                  <a:lnTo>
                    <a:pt x="20" y="25"/>
                  </a:lnTo>
                  <a:lnTo>
                    <a:pt x="18" y="26"/>
                  </a:lnTo>
                  <a:lnTo>
                    <a:pt x="17" y="28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1"/>
                  </a:lnTo>
                  <a:lnTo>
                    <a:pt x="11" y="32"/>
                  </a:lnTo>
                  <a:lnTo>
                    <a:pt x="10" y="32"/>
                  </a:lnTo>
                  <a:lnTo>
                    <a:pt x="8" y="32"/>
                  </a:lnTo>
                  <a:lnTo>
                    <a:pt x="7" y="32"/>
                  </a:lnTo>
                  <a:lnTo>
                    <a:pt x="6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1" name="Freeform 56"/>
            <p:cNvSpPr>
              <a:spLocks/>
            </p:cNvSpPr>
            <p:nvPr/>
          </p:nvSpPr>
          <p:spPr bwMode="auto">
            <a:xfrm>
              <a:off x="3926" y="538"/>
              <a:ext cx="25" cy="30"/>
            </a:xfrm>
            <a:custGeom>
              <a:avLst/>
              <a:gdLst>
                <a:gd name="T0" fmla="*/ 0 w 27"/>
                <a:gd name="T1" fmla="*/ 8 h 32"/>
                <a:gd name="T2" fmla="*/ 1 w 27"/>
                <a:gd name="T3" fmla="*/ 8 h 32"/>
                <a:gd name="T4" fmla="*/ 3 w 27"/>
                <a:gd name="T5" fmla="*/ 8 h 32"/>
                <a:gd name="T6" fmla="*/ 4 w 27"/>
                <a:gd name="T7" fmla="*/ 8 h 32"/>
                <a:gd name="T8" fmla="*/ 4 w 27"/>
                <a:gd name="T9" fmla="*/ 8 h 32"/>
                <a:gd name="T10" fmla="*/ 6 w 27"/>
                <a:gd name="T11" fmla="*/ 8 h 32"/>
                <a:gd name="T12" fmla="*/ 6 w 27"/>
                <a:gd name="T13" fmla="*/ 7 h 32"/>
                <a:gd name="T14" fmla="*/ 6 w 27"/>
                <a:gd name="T15" fmla="*/ 6 h 32"/>
                <a:gd name="T16" fmla="*/ 6 w 27"/>
                <a:gd name="T17" fmla="*/ 4 h 32"/>
                <a:gd name="T18" fmla="*/ 6 w 27"/>
                <a:gd name="T19" fmla="*/ 3 h 32"/>
                <a:gd name="T20" fmla="*/ 6 w 27"/>
                <a:gd name="T21" fmla="*/ 1 h 32"/>
                <a:gd name="T22" fmla="*/ 6 w 27"/>
                <a:gd name="T23" fmla="*/ 1 h 32"/>
                <a:gd name="T24" fmla="*/ 6 w 27"/>
                <a:gd name="T25" fmla="*/ 0 h 32"/>
                <a:gd name="T26" fmla="*/ 6 w 27"/>
                <a:gd name="T27" fmla="*/ 0 h 32"/>
                <a:gd name="T28" fmla="*/ 6 w 27"/>
                <a:gd name="T29" fmla="*/ 0 h 32"/>
                <a:gd name="T30" fmla="*/ 6 w 27"/>
                <a:gd name="T31" fmla="*/ 1 h 32"/>
                <a:gd name="T32" fmla="*/ 6 w 27"/>
                <a:gd name="T33" fmla="*/ 3 h 32"/>
                <a:gd name="T34" fmla="*/ 6 w 27"/>
                <a:gd name="T35" fmla="*/ 6 h 32"/>
                <a:gd name="T36" fmla="*/ 6 w 27"/>
                <a:gd name="T37" fmla="*/ 7 h 32"/>
                <a:gd name="T38" fmla="*/ 6 w 27"/>
                <a:gd name="T39" fmla="*/ 8 h 32"/>
                <a:gd name="T40" fmla="*/ 6 w 27"/>
                <a:gd name="T41" fmla="*/ 8 h 32"/>
                <a:gd name="T42" fmla="*/ 6 w 27"/>
                <a:gd name="T43" fmla="*/ 8 h 32"/>
                <a:gd name="T44" fmla="*/ 6 w 27"/>
                <a:gd name="T45" fmla="*/ 8 h 32"/>
                <a:gd name="T46" fmla="*/ 6 w 27"/>
                <a:gd name="T47" fmla="*/ 8 h 32"/>
                <a:gd name="T48" fmla="*/ 6 w 27"/>
                <a:gd name="T49" fmla="*/ 8 h 32"/>
                <a:gd name="T50" fmla="*/ 6 w 27"/>
                <a:gd name="T51" fmla="*/ 8 h 32"/>
                <a:gd name="T52" fmla="*/ 6 w 27"/>
                <a:gd name="T53" fmla="*/ 8 h 32"/>
                <a:gd name="T54" fmla="*/ 6 w 27"/>
                <a:gd name="T55" fmla="*/ 8 h 32"/>
                <a:gd name="T56" fmla="*/ 6 w 27"/>
                <a:gd name="T57" fmla="*/ 8 h 32"/>
                <a:gd name="T58" fmla="*/ 6 w 27"/>
                <a:gd name="T59" fmla="*/ 8 h 32"/>
                <a:gd name="T60" fmla="*/ 6 w 27"/>
                <a:gd name="T61" fmla="*/ 8 h 32"/>
                <a:gd name="T62" fmla="*/ 6 w 27"/>
                <a:gd name="T63" fmla="*/ 8 h 32"/>
                <a:gd name="T64" fmla="*/ 6 w 27"/>
                <a:gd name="T65" fmla="*/ 8 h 32"/>
                <a:gd name="T66" fmla="*/ 4 w 27"/>
                <a:gd name="T67" fmla="*/ 8 h 32"/>
                <a:gd name="T68" fmla="*/ 3 w 27"/>
                <a:gd name="T69" fmla="*/ 8 h 32"/>
                <a:gd name="T70" fmla="*/ 1 w 27"/>
                <a:gd name="T71" fmla="*/ 8 h 32"/>
                <a:gd name="T72" fmla="*/ 1 w 27"/>
                <a:gd name="T73" fmla="*/ 8 h 32"/>
                <a:gd name="T74" fmla="*/ 1 w 27"/>
                <a:gd name="T75" fmla="*/ 8 h 32"/>
                <a:gd name="T76" fmla="*/ 1 w 27"/>
                <a:gd name="T77" fmla="*/ 8 h 32"/>
                <a:gd name="T78" fmla="*/ 0 w 27"/>
                <a:gd name="T79" fmla="*/ 8 h 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2"/>
                <a:gd name="T122" fmla="*/ 27 w 27"/>
                <a:gd name="T123" fmla="*/ 32 h 3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2">
                  <a:moveTo>
                    <a:pt x="0" y="23"/>
                  </a:moveTo>
                  <a:lnTo>
                    <a:pt x="0" y="21"/>
                  </a:lnTo>
                  <a:lnTo>
                    <a:pt x="1" y="20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6" y="10"/>
                  </a:lnTo>
                  <a:lnTo>
                    <a:pt x="6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10" y="4"/>
                  </a:lnTo>
                  <a:lnTo>
                    <a:pt x="11" y="3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4" y="3"/>
                  </a:lnTo>
                  <a:lnTo>
                    <a:pt x="25" y="4"/>
                  </a:lnTo>
                  <a:lnTo>
                    <a:pt x="25" y="6"/>
                  </a:lnTo>
                  <a:lnTo>
                    <a:pt x="25" y="7"/>
                  </a:lnTo>
                  <a:lnTo>
                    <a:pt x="27" y="7"/>
                  </a:lnTo>
                  <a:lnTo>
                    <a:pt x="27" y="10"/>
                  </a:lnTo>
                  <a:lnTo>
                    <a:pt x="27" y="11"/>
                  </a:lnTo>
                  <a:lnTo>
                    <a:pt x="25" y="13"/>
                  </a:lnTo>
                  <a:lnTo>
                    <a:pt x="25" y="14"/>
                  </a:lnTo>
                  <a:lnTo>
                    <a:pt x="25" y="15"/>
                  </a:lnTo>
                  <a:lnTo>
                    <a:pt x="24" y="17"/>
                  </a:lnTo>
                  <a:lnTo>
                    <a:pt x="24" y="18"/>
                  </a:lnTo>
                  <a:lnTo>
                    <a:pt x="24" y="20"/>
                  </a:lnTo>
                  <a:lnTo>
                    <a:pt x="22" y="21"/>
                  </a:lnTo>
                  <a:lnTo>
                    <a:pt x="22" y="23"/>
                  </a:lnTo>
                  <a:lnTo>
                    <a:pt x="21" y="23"/>
                  </a:lnTo>
                  <a:lnTo>
                    <a:pt x="20" y="24"/>
                  </a:lnTo>
                  <a:lnTo>
                    <a:pt x="20" y="25"/>
                  </a:lnTo>
                  <a:lnTo>
                    <a:pt x="18" y="27"/>
                  </a:lnTo>
                  <a:lnTo>
                    <a:pt x="17" y="27"/>
                  </a:lnTo>
                  <a:lnTo>
                    <a:pt x="17" y="28"/>
                  </a:lnTo>
                  <a:lnTo>
                    <a:pt x="15" y="30"/>
                  </a:lnTo>
                  <a:lnTo>
                    <a:pt x="14" y="30"/>
                  </a:lnTo>
                  <a:lnTo>
                    <a:pt x="13" y="31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10" y="32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3" y="28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2" name="Freeform 57"/>
            <p:cNvSpPr>
              <a:spLocks/>
            </p:cNvSpPr>
            <p:nvPr/>
          </p:nvSpPr>
          <p:spPr bwMode="auto">
            <a:xfrm>
              <a:off x="3926" y="568"/>
              <a:ext cx="25" cy="30"/>
            </a:xfrm>
            <a:custGeom>
              <a:avLst/>
              <a:gdLst>
                <a:gd name="T0" fmla="*/ 0 w 27"/>
                <a:gd name="T1" fmla="*/ 15 h 31"/>
                <a:gd name="T2" fmla="*/ 1 w 27"/>
                <a:gd name="T3" fmla="*/ 15 h 31"/>
                <a:gd name="T4" fmla="*/ 3 w 27"/>
                <a:gd name="T5" fmla="*/ 14 h 31"/>
                <a:gd name="T6" fmla="*/ 4 w 27"/>
                <a:gd name="T7" fmla="*/ 12 h 31"/>
                <a:gd name="T8" fmla="*/ 4 w 27"/>
                <a:gd name="T9" fmla="*/ 10 h 31"/>
                <a:gd name="T10" fmla="*/ 6 w 27"/>
                <a:gd name="T11" fmla="*/ 9 h 31"/>
                <a:gd name="T12" fmla="*/ 6 w 27"/>
                <a:gd name="T13" fmla="*/ 7 h 31"/>
                <a:gd name="T14" fmla="*/ 6 w 27"/>
                <a:gd name="T15" fmla="*/ 6 h 31"/>
                <a:gd name="T16" fmla="*/ 6 w 27"/>
                <a:gd name="T17" fmla="*/ 5 h 31"/>
                <a:gd name="T18" fmla="*/ 6 w 27"/>
                <a:gd name="T19" fmla="*/ 3 h 31"/>
                <a:gd name="T20" fmla="*/ 6 w 27"/>
                <a:gd name="T21" fmla="*/ 2 h 31"/>
                <a:gd name="T22" fmla="*/ 6 w 27"/>
                <a:gd name="T23" fmla="*/ 0 h 31"/>
                <a:gd name="T24" fmla="*/ 6 w 27"/>
                <a:gd name="T25" fmla="*/ 0 h 31"/>
                <a:gd name="T26" fmla="*/ 6 w 27"/>
                <a:gd name="T27" fmla="*/ 0 h 31"/>
                <a:gd name="T28" fmla="*/ 6 w 27"/>
                <a:gd name="T29" fmla="*/ 0 h 31"/>
                <a:gd name="T30" fmla="*/ 6 w 27"/>
                <a:gd name="T31" fmla="*/ 2 h 31"/>
                <a:gd name="T32" fmla="*/ 6 w 27"/>
                <a:gd name="T33" fmla="*/ 3 h 31"/>
                <a:gd name="T34" fmla="*/ 6 w 27"/>
                <a:gd name="T35" fmla="*/ 5 h 31"/>
                <a:gd name="T36" fmla="*/ 6 w 27"/>
                <a:gd name="T37" fmla="*/ 7 h 31"/>
                <a:gd name="T38" fmla="*/ 6 w 27"/>
                <a:gd name="T39" fmla="*/ 10 h 31"/>
                <a:gd name="T40" fmla="*/ 6 w 27"/>
                <a:gd name="T41" fmla="*/ 13 h 31"/>
                <a:gd name="T42" fmla="*/ 6 w 27"/>
                <a:gd name="T43" fmla="*/ 15 h 31"/>
                <a:gd name="T44" fmla="*/ 6 w 27"/>
                <a:gd name="T45" fmla="*/ 15 h 31"/>
                <a:gd name="T46" fmla="*/ 6 w 27"/>
                <a:gd name="T47" fmla="*/ 15 h 31"/>
                <a:gd name="T48" fmla="*/ 6 w 27"/>
                <a:gd name="T49" fmla="*/ 15 h 31"/>
                <a:gd name="T50" fmla="*/ 6 w 27"/>
                <a:gd name="T51" fmla="*/ 15 h 31"/>
                <a:gd name="T52" fmla="*/ 6 w 27"/>
                <a:gd name="T53" fmla="*/ 15 h 31"/>
                <a:gd name="T54" fmla="*/ 6 w 27"/>
                <a:gd name="T55" fmla="*/ 15 h 31"/>
                <a:gd name="T56" fmla="*/ 6 w 27"/>
                <a:gd name="T57" fmla="*/ 15 h 31"/>
                <a:gd name="T58" fmla="*/ 6 w 27"/>
                <a:gd name="T59" fmla="*/ 15 h 31"/>
                <a:gd name="T60" fmla="*/ 6 w 27"/>
                <a:gd name="T61" fmla="*/ 15 h 31"/>
                <a:gd name="T62" fmla="*/ 6 w 27"/>
                <a:gd name="T63" fmla="*/ 15 h 31"/>
                <a:gd name="T64" fmla="*/ 6 w 27"/>
                <a:gd name="T65" fmla="*/ 15 h 31"/>
                <a:gd name="T66" fmla="*/ 4 w 27"/>
                <a:gd name="T67" fmla="*/ 15 h 31"/>
                <a:gd name="T68" fmla="*/ 3 w 27"/>
                <a:gd name="T69" fmla="*/ 15 h 31"/>
                <a:gd name="T70" fmla="*/ 1 w 27"/>
                <a:gd name="T71" fmla="*/ 15 h 31"/>
                <a:gd name="T72" fmla="*/ 1 w 27"/>
                <a:gd name="T73" fmla="*/ 15 h 31"/>
                <a:gd name="T74" fmla="*/ 1 w 27"/>
                <a:gd name="T75" fmla="*/ 15 h 31"/>
                <a:gd name="T76" fmla="*/ 1 w 27"/>
                <a:gd name="T77" fmla="*/ 15 h 31"/>
                <a:gd name="T78" fmla="*/ 0 w 27"/>
                <a:gd name="T79" fmla="*/ 15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1"/>
                <a:gd name="T122" fmla="*/ 27 w 27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1">
                  <a:moveTo>
                    <a:pt x="0" y="23"/>
                  </a:moveTo>
                  <a:lnTo>
                    <a:pt x="0" y="22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6" y="9"/>
                  </a:lnTo>
                  <a:lnTo>
                    <a:pt x="7" y="7"/>
                  </a:lnTo>
                  <a:lnTo>
                    <a:pt x="7" y="6"/>
                  </a:lnTo>
                  <a:lnTo>
                    <a:pt x="8" y="6"/>
                  </a:lnTo>
                  <a:lnTo>
                    <a:pt x="8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4" y="3"/>
                  </a:lnTo>
                  <a:lnTo>
                    <a:pt x="25" y="3"/>
                  </a:lnTo>
                  <a:lnTo>
                    <a:pt x="25" y="5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7" y="9"/>
                  </a:lnTo>
                  <a:lnTo>
                    <a:pt x="27" y="10"/>
                  </a:lnTo>
                  <a:lnTo>
                    <a:pt x="25" y="12"/>
                  </a:lnTo>
                  <a:lnTo>
                    <a:pt x="25" y="13"/>
                  </a:lnTo>
                  <a:lnTo>
                    <a:pt x="25" y="16"/>
                  </a:lnTo>
                  <a:lnTo>
                    <a:pt x="24" y="17"/>
                  </a:lnTo>
                  <a:lnTo>
                    <a:pt x="24" y="19"/>
                  </a:lnTo>
                  <a:lnTo>
                    <a:pt x="24" y="20"/>
                  </a:lnTo>
                  <a:lnTo>
                    <a:pt x="22" y="20"/>
                  </a:lnTo>
                  <a:lnTo>
                    <a:pt x="22" y="22"/>
                  </a:lnTo>
                  <a:lnTo>
                    <a:pt x="21" y="23"/>
                  </a:lnTo>
                  <a:lnTo>
                    <a:pt x="20" y="24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7" y="27"/>
                  </a:lnTo>
                  <a:lnTo>
                    <a:pt x="17" y="29"/>
                  </a:lnTo>
                  <a:lnTo>
                    <a:pt x="15" y="29"/>
                  </a:lnTo>
                  <a:lnTo>
                    <a:pt x="14" y="30"/>
                  </a:lnTo>
                  <a:lnTo>
                    <a:pt x="13" y="30"/>
                  </a:lnTo>
                  <a:lnTo>
                    <a:pt x="13" y="31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8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4" y="30"/>
                  </a:lnTo>
                  <a:lnTo>
                    <a:pt x="3" y="30"/>
                  </a:lnTo>
                  <a:lnTo>
                    <a:pt x="3" y="29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3" name="Freeform 58"/>
            <p:cNvSpPr>
              <a:spLocks/>
            </p:cNvSpPr>
            <p:nvPr/>
          </p:nvSpPr>
          <p:spPr bwMode="auto">
            <a:xfrm>
              <a:off x="3926" y="598"/>
              <a:ext cx="25" cy="31"/>
            </a:xfrm>
            <a:custGeom>
              <a:avLst/>
              <a:gdLst>
                <a:gd name="T0" fmla="*/ 0 w 27"/>
                <a:gd name="T1" fmla="*/ 8 h 33"/>
                <a:gd name="T2" fmla="*/ 1 w 27"/>
                <a:gd name="T3" fmla="*/ 8 h 33"/>
                <a:gd name="T4" fmla="*/ 3 w 27"/>
                <a:gd name="T5" fmla="*/ 8 h 33"/>
                <a:gd name="T6" fmla="*/ 4 w 27"/>
                <a:gd name="T7" fmla="*/ 8 h 33"/>
                <a:gd name="T8" fmla="*/ 4 w 27"/>
                <a:gd name="T9" fmla="*/ 8 h 33"/>
                <a:gd name="T10" fmla="*/ 6 w 27"/>
                <a:gd name="T11" fmla="*/ 8 h 33"/>
                <a:gd name="T12" fmla="*/ 6 w 27"/>
                <a:gd name="T13" fmla="*/ 7 h 33"/>
                <a:gd name="T14" fmla="*/ 6 w 27"/>
                <a:gd name="T15" fmla="*/ 7 h 33"/>
                <a:gd name="T16" fmla="*/ 6 w 27"/>
                <a:gd name="T17" fmla="*/ 5 h 33"/>
                <a:gd name="T18" fmla="*/ 6 w 27"/>
                <a:gd name="T19" fmla="*/ 3 h 33"/>
                <a:gd name="T20" fmla="*/ 6 w 27"/>
                <a:gd name="T21" fmla="*/ 3 h 33"/>
                <a:gd name="T22" fmla="*/ 6 w 27"/>
                <a:gd name="T23" fmla="*/ 2 h 33"/>
                <a:gd name="T24" fmla="*/ 6 w 27"/>
                <a:gd name="T25" fmla="*/ 0 h 33"/>
                <a:gd name="T26" fmla="*/ 6 w 27"/>
                <a:gd name="T27" fmla="*/ 0 h 33"/>
                <a:gd name="T28" fmla="*/ 6 w 27"/>
                <a:gd name="T29" fmla="*/ 0 h 33"/>
                <a:gd name="T30" fmla="*/ 6 w 27"/>
                <a:gd name="T31" fmla="*/ 2 h 33"/>
                <a:gd name="T32" fmla="*/ 6 w 27"/>
                <a:gd name="T33" fmla="*/ 3 h 33"/>
                <a:gd name="T34" fmla="*/ 6 w 27"/>
                <a:gd name="T35" fmla="*/ 6 h 33"/>
                <a:gd name="T36" fmla="*/ 6 w 27"/>
                <a:gd name="T37" fmla="*/ 8 h 33"/>
                <a:gd name="T38" fmla="*/ 6 w 27"/>
                <a:gd name="T39" fmla="*/ 8 h 33"/>
                <a:gd name="T40" fmla="*/ 6 w 27"/>
                <a:gd name="T41" fmla="*/ 8 h 33"/>
                <a:gd name="T42" fmla="*/ 6 w 27"/>
                <a:gd name="T43" fmla="*/ 8 h 33"/>
                <a:gd name="T44" fmla="*/ 6 w 27"/>
                <a:gd name="T45" fmla="*/ 8 h 33"/>
                <a:gd name="T46" fmla="*/ 6 w 27"/>
                <a:gd name="T47" fmla="*/ 8 h 33"/>
                <a:gd name="T48" fmla="*/ 6 w 27"/>
                <a:gd name="T49" fmla="*/ 8 h 33"/>
                <a:gd name="T50" fmla="*/ 6 w 27"/>
                <a:gd name="T51" fmla="*/ 8 h 33"/>
                <a:gd name="T52" fmla="*/ 6 w 27"/>
                <a:gd name="T53" fmla="*/ 8 h 33"/>
                <a:gd name="T54" fmla="*/ 6 w 27"/>
                <a:gd name="T55" fmla="*/ 8 h 33"/>
                <a:gd name="T56" fmla="*/ 6 w 27"/>
                <a:gd name="T57" fmla="*/ 8 h 33"/>
                <a:gd name="T58" fmla="*/ 6 w 27"/>
                <a:gd name="T59" fmla="*/ 8 h 33"/>
                <a:gd name="T60" fmla="*/ 6 w 27"/>
                <a:gd name="T61" fmla="*/ 8 h 33"/>
                <a:gd name="T62" fmla="*/ 6 w 27"/>
                <a:gd name="T63" fmla="*/ 8 h 33"/>
                <a:gd name="T64" fmla="*/ 6 w 27"/>
                <a:gd name="T65" fmla="*/ 8 h 33"/>
                <a:gd name="T66" fmla="*/ 4 w 27"/>
                <a:gd name="T67" fmla="*/ 8 h 33"/>
                <a:gd name="T68" fmla="*/ 3 w 27"/>
                <a:gd name="T69" fmla="*/ 8 h 33"/>
                <a:gd name="T70" fmla="*/ 1 w 27"/>
                <a:gd name="T71" fmla="*/ 8 h 33"/>
                <a:gd name="T72" fmla="*/ 1 w 27"/>
                <a:gd name="T73" fmla="*/ 8 h 33"/>
                <a:gd name="T74" fmla="*/ 1 w 27"/>
                <a:gd name="T75" fmla="*/ 8 h 33"/>
                <a:gd name="T76" fmla="*/ 1 w 27"/>
                <a:gd name="T77" fmla="*/ 8 h 33"/>
                <a:gd name="T78" fmla="*/ 0 w 27"/>
                <a:gd name="T79" fmla="*/ 8 h 3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3"/>
                <a:gd name="T122" fmla="*/ 27 w 27"/>
                <a:gd name="T123" fmla="*/ 33 h 3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3">
                  <a:moveTo>
                    <a:pt x="0" y="23"/>
                  </a:moveTo>
                  <a:lnTo>
                    <a:pt x="0" y="22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4" y="13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6" y="10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6"/>
                  </a:lnTo>
                  <a:lnTo>
                    <a:pt x="10" y="5"/>
                  </a:lnTo>
                  <a:lnTo>
                    <a:pt x="11" y="3"/>
                  </a:lnTo>
                  <a:lnTo>
                    <a:pt x="13" y="3"/>
                  </a:lnTo>
                  <a:lnTo>
                    <a:pt x="14" y="2"/>
                  </a:lnTo>
                  <a:lnTo>
                    <a:pt x="15" y="2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2"/>
                  </a:lnTo>
                  <a:lnTo>
                    <a:pt x="24" y="3"/>
                  </a:lnTo>
                  <a:lnTo>
                    <a:pt x="25" y="5"/>
                  </a:lnTo>
                  <a:lnTo>
                    <a:pt x="25" y="6"/>
                  </a:lnTo>
                  <a:lnTo>
                    <a:pt x="25" y="7"/>
                  </a:lnTo>
                  <a:lnTo>
                    <a:pt x="27" y="9"/>
                  </a:lnTo>
                  <a:lnTo>
                    <a:pt x="27" y="10"/>
                  </a:lnTo>
                  <a:lnTo>
                    <a:pt x="27" y="12"/>
                  </a:lnTo>
                  <a:lnTo>
                    <a:pt x="25" y="13"/>
                  </a:lnTo>
                  <a:lnTo>
                    <a:pt x="25" y="14"/>
                  </a:lnTo>
                  <a:lnTo>
                    <a:pt x="25" y="16"/>
                  </a:lnTo>
                  <a:lnTo>
                    <a:pt x="24" y="17"/>
                  </a:lnTo>
                  <a:lnTo>
                    <a:pt x="24" y="19"/>
                  </a:lnTo>
                  <a:lnTo>
                    <a:pt x="24" y="20"/>
                  </a:lnTo>
                  <a:lnTo>
                    <a:pt x="22" y="22"/>
                  </a:lnTo>
                  <a:lnTo>
                    <a:pt x="22" y="23"/>
                  </a:lnTo>
                  <a:lnTo>
                    <a:pt x="21" y="24"/>
                  </a:lnTo>
                  <a:lnTo>
                    <a:pt x="20" y="24"/>
                  </a:lnTo>
                  <a:lnTo>
                    <a:pt x="20" y="26"/>
                  </a:lnTo>
                  <a:lnTo>
                    <a:pt x="18" y="27"/>
                  </a:lnTo>
                  <a:lnTo>
                    <a:pt x="17" y="29"/>
                  </a:lnTo>
                  <a:lnTo>
                    <a:pt x="15" y="30"/>
                  </a:lnTo>
                  <a:lnTo>
                    <a:pt x="14" y="30"/>
                  </a:lnTo>
                  <a:lnTo>
                    <a:pt x="13" y="31"/>
                  </a:lnTo>
                  <a:lnTo>
                    <a:pt x="11" y="33"/>
                  </a:lnTo>
                  <a:lnTo>
                    <a:pt x="10" y="33"/>
                  </a:lnTo>
                  <a:lnTo>
                    <a:pt x="8" y="33"/>
                  </a:lnTo>
                  <a:lnTo>
                    <a:pt x="7" y="33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1" y="24"/>
                  </a:lnTo>
                  <a:lnTo>
                    <a:pt x="0" y="24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4" name="Freeform 59"/>
            <p:cNvSpPr>
              <a:spLocks/>
            </p:cNvSpPr>
            <p:nvPr/>
          </p:nvSpPr>
          <p:spPr bwMode="auto">
            <a:xfrm>
              <a:off x="3926" y="629"/>
              <a:ext cx="25" cy="30"/>
            </a:xfrm>
            <a:custGeom>
              <a:avLst/>
              <a:gdLst>
                <a:gd name="T0" fmla="*/ 0 w 27"/>
                <a:gd name="T1" fmla="*/ 8 h 32"/>
                <a:gd name="T2" fmla="*/ 1 w 27"/>
                <a:gd name="T3" fmla="*/ 8 h 32"/>
                <a:gd name="T4" fmla="*/ 3 w 27"/>
                <a:gd name="T5" fmla="*/ 8 h 32"/>
                <a:gd name="T6" fmla="*/ 4 w 27"/>
                <a:gd name="T7" fmla="*/ 8 h 32"/>
                <a:gd name="T8" fmla="*/ 4 w 27"/>
                <a:gd name="T9" fmla="*/ 8 h 32"/>
                <a:gd name="T10" fmla="*/ 6 w 27"/>
                <a:gd name="T11" fmla="*/ 8 h 32"/>
                <a:gd name="T12" fmla="*/ 6 w 27"/>
                <a:gd name="T13" fmla="*/ 7 h 32"/>
                <a:gd name="T14" fmla="*/ 6 w 27"/>
                <a:gd name="T15" fmla="*/ 5 h 32"/>
                <a:gd name="T16" fmla="*/ 6 w 27"/>
                <a:gd name="T17" fmla="*/ 4 h 32"/>
                <a:gd name="T18" fmla="*/ 6 w 27"/>
                <a:gd name="T19" fmla="*/ 3 h 32"/>
                <a:gd name="T20" fmla="*/ 6 w 27"/>
                <a:gd name="T21" fmla="*/ 1 h 32"/>
                <a:gd name="T22" fmla="*/ 6 w 27"/>
                <a:gd name="T23" fmla="*/ 0 h 32"/>
                <a:gd name="T24" fmla="*/ 6 w 27"/>
                <a:gd name="T25" fmla="*/ 0 h 32"/>
                <a:gd name="T26" fmla="*/ 6 w 27"/>
                <a:gd name="T27" fmla="*/ 0 h 32"/>
                <a:gd name="T28" fmla="*/ 6 w 27"/>
                <a:gd name="T29" fmla="*/ 0 h 32"/>
                <a:gd name="T30" fmla="*/ 6 w 27"/>
                <a:gd name="T31" fmla="*/ 1 h 32"/>
                <a:gd name="T32" fmla="*/ 6 w 27"/>
                <a:gd name="T33" fmla="*/ 3 h 32"/>
                <a:gd name="T34" fmla="*/ 6 w 27"/>
                <a:gd name="T35" fmla="*/ 5 h 32"/>
                <a:gd name="T36" fmla="*/ 6 w 27"/>
                <a:gd name="T37" fmla="*/ 7 h 32"/>
                <a:gd name="T38" fmla="*/ 6 w 27"/>
                <a:gd name="T39" fmla="*/ 8 h 32"/>
                <a:gd name="T40" fmla="*/ 6 w 27"/>
                <a:gd name="T41" fmla="*/ 8 h 32"/>
                <a:gd name="T42" fmla="*/ 6 w 27"/>
                <a:gd name="T43" fmla="*/ 8 h 32"/>
                <a:gd name="T44" fmla="*/ 6 w 27"/>
                <a:gd name="T45" fmla="*/ 8 h 32"/>
                <a:gd name="T46" fmla="*/ 6 w 27"/>
                <a:gd name="T47" fmla="*/ 8 h 32"/>
                <a:gd name="T48" fmla="*/ 6 w 27"/>
                <a:gd name="T49" fmla="*/ 8 h 32"/>
                <a:gd name="T50" fmla="*/ 6 w 27"/>
                <a:gd name="T51" fmla="*/ 8 h 32"/>
                <a:gd name="T52" fmla="*/ 6 w 27"/>
                <a:gd name="T53" fmla="*/ 8 h 32"/>
                <a:gd name="T54" fmla="*/ 6 w 27"/>
                <a:gd name="T55" fmla="*/ 8 h 32"/>
                <a:gd name="T56" fmla="*/ 6 w 27"/>
                <a:gd name="T57" fmla="*/ 8 h 32"/>
                <a:gd name="T58" fmla="*/ 6 w 27"/>
                <a:gd name="T59" fmla="*/ 8 h 32"/>
                <a:gd name="T60" fmla="*/ 6 w 27"/>
                <a:gd name="T61" fmla="*/ 8 h 32"/>
                <a:gd name="T62" fmla="*/ 6 w 27"/>
                <a:gd name="T63" fmla="*/ 8 h 32"/>
                <a:gd name="T64" fmla="*/ 6 w 27"/>
                <a:gd name="T65" fmla="*/ 8 h 32"/>
                <a:gd name="T66" fmla="*/ 4 w 27"/>
                <a:gd name="T67" fmla="*/ 8 h 32"/>
                <a:gd name="T68" fmla="*/ 3 w 27"/>
                <a:gd name="T69" fmla="*/ 8 h 32"/>
                <a:gd name="T70" fmla="*/ 1 w 27"/>
                <a:gd name="T71" fmla="*/ 8 h 32"/>
                <a:gd name="T72" fmla="*/ 1 w 27"/>
                <a:gd name="T73" fmla="*/ 8 h 32"/>
                <a:gd name="T74" fmla="*/ 1 w 27"/>
                <a:gd name="T75" fmla="*/ 8 h 32"/>
                <a:gd name="T76" fmla="*/ 1 w 27"/>
                <a:gd name="T77" fmla="*/ 8 h 32"/>
                <a:gd name="T78" fmla="*/ 0 w 27"/>
                <a:gd name="T79" fmla="*/ 8 h 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2"/>
                <a:gd name="T122" fmla="*/ 27 w 27"/>
                <a:gd name="T123" fmla="*/ 32 h 3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2">
                  <a:moveTo>
                    <a:pt x="0" y="22"/>
                  </a:moveTo>
                  <a:lnTo>
                    <a:pt x="0" y="21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6" y="10"/>
                  </a:lnTo>
                  <a:lnTo>
                    <a:pt x="6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5"/>
                  </a:lnTo>
                  <a:lnTo>
                    <a:pt x="10" y="4"/>
                  </a:lnTo>
                  <a:lnTo>
                    <a:pt x="11" y="3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4" y="3"/>
                  </a:lnTo>
                  <a:lnTo>
                    <a:pt x="25" y="4"/>
                  </a:lnTo>
                  <a:lnTo>
                    <a:pt x="25" y="5"/>
                  </a:lnTo>
                  <a:lnTo>
                    <a:pt x="27" y="7"/>
                  </a:lnTo>
                  <a:lnTo>
                    <a:pt x="27" y="8"/>
                  </a:lnTo>
                  <a:lnTo>
                    <a:pt x="27" y="11"/>
                  </a:lnTo>
                  <a:lnTo>
                    <a:pt x="25" y="12"/>
                  </a:lnTo>
                  <a:lnTo>
                    <a:pt x="25" y="14"/>
                  </a:lnTo>
                  <a:lnTo>
                    <a:pt x="25" y="15"/>
                  </a:lnTo>
                  <a:lnTo>
                    <a:pt x="24" y="17"/>
                  </a:lnTo>
                  <a:lnTo>
                    <a:pt x="24" y="18"/>
                  </a:lnTo>
                  <a:lnTo>
                    <a:pt x="24" y="19"/>
                  </a:lnTo>
                  <a:lnTo>
                    <a:pt x="22" y="21"/>
                  </a:lnTo>
                  <a:lnTo>
                    <a:pt x="22" y="22"/>
                  </a:lnTo>
                  <a:lnTo>
                    <a:pt x="21" y="22"/>
                  </a:lnTo>
                  <a:lnTo>
                    <a:pt x="20" y="24"/>
                  </a:lnTo>
                  <a:lnTo>
                    <a:pt x="20" y="25"/>
                  </a:lnTo>
                  <a:lnTo>
                    <a:pt x="18" y="27"/>
                  </a:lnTo>
                  <a:lnTo>
                    <a:pt x="17" y="27"/>
                  </a:lnTo>
                  <a:lnTo>
                    <a:pt x="17" y="28"/>
                  </a:lnTo>
                  <a:lnTo>
                    <a:pt x="15" y="29"/>
                  </a:lnTo>
                  <a:lnTo>
                    <a:pt x="14" y="29"/>
                  </a:lnTo>
                  <a:lnTo>
                    <a:pt x="13" y="31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10" y="32"/>
                  </a:lnTo>
                  <a:lnTo>
                    <a:pt x="8" y="32"/>
                  </a:lnTo>
                  <a:lnTo>
                    <a:pt x="8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3" y="28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5" name="Freeform 60"/>
            <p:cNvSpPr>
              <a:spLocks/>
            </p:cNvSpPr>
            <p:nvPr/>
          </p:nvSpPr>
          <p:spPr bwMode="auto">
            <a:xfrm>
              <a:off x="3926" y="658"/>
              <a:ext cx="25" cy="31"/>
            </a:xfrm>
            <a:custGeom>
              <a:avLst/>
              <a:gdLst>
                <a:gd name="T0" fmla="*/ 0 w 27"/>
                <a:gd name="T1" fmla="*/ 16 h 32"/>
                <a:gd name="T2" fmla="*/ 1 w 27"/>
                <a:gd name="T3" fmla="*/ 16 h 32"/>
                <a:gd name="T4" fmla="*/ 3 w 27"/>
                <a:gd name="T5" fmla="*/ 15 h 32"/>
                <a:gd name="T6" fmla="*/ 4 w 27"/>
                <a:gd name="T7" fmla="*/ 12 h 32"/>
                <a:gd name="T8" fmla="*/ 4 w 27"/>
                <a:gd name="T9" fmla="*/ 11 h 32"/>
                <a:gd name="T10" fmla="*/ 6 w 27"/>
                <a:gd name="T11" fmla="*/ 10 h 32"/>
                <a:gd name="T12" fmla="*/ 6 w 27"/>
                <a:gd name="T13" fmla="*/ 8 h 32"/>
                <a:gd name="T14" fmla="*/ 6 w 27"/>
                <a:gd name="T15" fmla="*/ 7 h 32"/>
                <a:gd name="T16" fmla="*/ 6 w 27"/>
                <a:gd name="T17" fmla="*/ 5 h 32"/>
                <a:gd name="T18" fmla="*/ 6 w 27"/>
                <a:gd name="T19" fmla="*/ 4 h 32"/>
                <a:gd name="T20" fmla="*/ 6 w 27"/>
                <a:gd name="T21" fmla="*/ 3 h 32"/>
                <a:gd name="T22" fmla="*/ 6 w 27"/>
                <a:gd name="T23" fmla="*/ 1 h 32"/>
                <a:gd name="T24" fmla="*/ 6 w 27"/>
                <a:gd name="T25" fmla="*/ 1 h 32"/>
                <a:gd name="T26" fmla="*/ 6 w 27"/>
                <a:gd name="T27" fmla="*/ 0 h 32"/>
                <a:gd name="T28" fmla="*/ 6 w 27"/>
                <a:gd name="T29" fmla="*/ 1 h 32"/>
                <a:gd name="T30" fmla="*/ 6 w 27"/>
                <a:gd name="T31" fmla="*/ 1 h 32"/>
                <a:gd name="T32" fmla="*/ 6 w 27"/>
                <a:gd name="T33" fmla="*/ 4 h 32"/>
                <a:gd name="T34" fmla="*/ 6 w 27"/>
                <a:gd name="T35" fmla="*/ 5 h 32"/>
                <a:gd name="T36" fmla="*/ 6 w 27"/>
                <a:gd name="T37" fmla="*/ 8 h 32"/>
                <a:gd name="T38" fmla="*/ 6 w 27"/>
                <a:gd name="T39" fmla="*/ 11 h 32"/>
                <a:gd name="T40" fmla="*/ 6 w 27"/>
                <a:gd name="T41" fmla="*/ 14 h 32"/>
                <a:gd name="T42" fmla="*/ 6 w 27"/>
                <a:gd name="T43" fmla="*/ 16 h 32"/>
                <a:gd name="T44" fmla="*/ 6 w 27"/>
                <a:gd name="T45" fmla="*/ 16 h 32"/>
                <a:gd name="T46" fmla="*/ 6 w 27"/>
                <a:gd name="T47" fmla="*/ 16 h 32"/>
                <a:gd name="T48" fmla="*/ 6 w 27"/>
                <a:gd name="T49" fmla="*/ 16 h 32"/>
                <a:gd name="T50" fmla="*/ 6 w 27"/>
                <a:gd name="T51" fmla="*/ 16 h 32"/>
                <a:gd name="T52" fmla="*/ 6 w 27"/>
                <a:gd name="T53" fmla="*/ 16 h 32"/>
                <a:gd name="T54" fmla="*/ 6 w 27"/>
                <a:gd name="T55" fmla="*/ 16 h 32"/>
                <a:gd name="T56" fmla="*/ 6 w 27"/>
                <a:gd name="T57" fmla="*/ 16 h 32"/>
                <a:gd name="T58" fmla="*/ 6 w 27"/>
                <a:gd name="T59" fmla="*/ 16 h 32"/>
                <a:gd name="T60" fmla="*/ 6 w 27"/>
                <a:gd name="T61" fmla="*/ 16 h 32"/>
                <a:gd name="T62" fmla="*/ 6 w 27"/>
                <a:gd name="T63" fmla="*/ 16 h 32"/>
                <a:gd name="T64" fmla="*/ 6 w 27"/>
                <a:gd name="T65" fmla="*/ 16 h 32"/>
                <a:gd name="T66" fmla="*/ 4 w 27"/>
                <a:gd name="T67" fmla="*/ 16 h 32"/>
                <a:gd name="T68" fmla="*/ 3 w 27"/>
                <a:gd name="T69" fmla="*/ 16 h 32"/>
                <a:gd name="T70" fmla="*/ 1 w 27"/>
                <a:gd name="T71" fmla="*/ 16 h 32"/>
                <a:gd name="T72" fmla="*/ 1 w 27"/>
                <a:gd name="T73" fmla="*/ 16 h 32"/>
                <a:gd name="T74" fmla="*/ 1 w 27"/>
                <a:gd name="T75" fmla="*/ 16 h 32"/>
                <a:gd name="T76" fmla="*/ 1 w 27"/>
                <a:gd name="T77" fmla="*/ 16 h 32"/>
                <a:gd name="T78" fmla="*/ 0 w 27"/>
                <a:gd name="T79" fmla="*/ 16 h 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2"/>
                <a:gd name="T122" fmla="*/ 27 w 27"/>
                <a:gd name="T123" fmla="*/ 32 h 3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2">
                  <a:moveTo>
                    <a:pt x="0" y="24"/>
                  </a:moveTo>
                  <a:lnTo>
                    <a:pt x="0" y="22"/>
                  </a:lnTo>
                  <a:lnTo>
                    <a:pt x="1" y="21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6" y="10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5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1" y="4"/>
                  </a:lnTo>
                  <a:lnTo>
                    <a:pt x="11" y="3"/>
                  </a:lnTo>
                  <a:lnTo>
                    <a:pt x="13" y="3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3"/>
                  </a:lnTo>
                  <a:lnTo>
                    <a:pt x="24" y="4"/>
                  </a:lnTo>
                  <a:lnTo>
                    <a:pt x="25" y="4"/>
                  </a:lnTo>
                  <a:lnTo>
                    <a:pt x="25" y="5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7" y="10"/>
                  </a:lnTo>
                  <a:lnTo>
                    <a:pt x="27" y="11"/>
                  </a:lnTo>
                  <a:lnTo>
                    <a:pt x="25" y="12"/>
                  </a:lnTo>
                  <a:lnTo>
                    <a:pt x="25" y="14"/>
                  </a:lnTo>
                  <a:lnTo>
                    <a:pt x="25" y="15"/>
                  </a:lnTo>
                  <a:lnTo>
                    <a:pt x="24" y="18"/>
                  </a:lnTo>
                  <a:lnTo>
                    <a:pt x="24" y="19"/>
                  </a:lnTo>
                  <a:lnTo>
                    <a:pt x="22" y="21"/>
                  </a:lnTo>
                  <a:lnTo>
                    <a:pt x="22" y="22"/>
                  </a:lnTo>
                  <a:lnTo>
                    <a:pt x="21" y="24"/>
                  </a:lnTo>
                  <a:lnTo>
                    <a:pt x="20" y="25"/>
                  </a:lnTo>
                  <a:lnTo>
                    <a:pt x="20" y="27"/>
                  </a:lnTo>
                  <a:lnTo>
                    <a:pt x="18" y="27"/>
                  </a:lnTo>
                  <a:lnTo>
                    <a:pt x="17" y="28"/>
                  </a:lnTo>
                  <a:lnTo>
                    <a:pt x="17" y="29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1"/>
                  </a:lnTo>
                  <a:lnTo>
                    <a:pt x="13" y="32"/>
                  </a:lnTo>
                  <a:lnTo>
                    <a:pt x="11" y="32"/>
                  </a:lnTo>
                  <a:lnTo>
                    <a:pt x="10" y="32"/>
                  </a:lnTo>
                  <a:lnTo>
                    <a:pt x="8" y="32"/>
                  </a:lnTo>
                  <a:lnTo>
                    <a:pt x="7" y="32"/>
                  </a:lnTo>
                  <a:lnTo>
                    <a:pt x="6" y="32"/>
                  </a:lnTo>
                  <a:lnTo>
                    <a:pt x="4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6" name="Freeform 61"/>
            <p:cNvSpPr>
              <a:spLocks/>
            </p:cNvSpPr>
            <p:nvPr/>
          </p:nvSpPr>
          <p:spPr bwMode="auto">
            <a:xfrm>
              <a:off x="3926" y="689"/>
              <a:ext cx="25" cy="32"/>
            </a:xfrm>
            <a:custGeom>
              <a:avLst/>
              <a:gdLst>
                <a:gd name="T0" fmla="*/ 0 w 27"/>
                <a:gd name="T1" fmla="*/ 16 h 33"/>
                <a:gd name="T2" fmla="*/ 1 w 27"/>
                <a:gd name="T3" fmla="*/ 16 h 33"/>
                <a:gd name="T4" fmla="*/ 3 w 27"/>
                <a:gd name="T5" fmla="*/ 16 h 33"/>
                <a:gd name="T6" fmla="*/ 4 w 27"/>
                <a:gd name="T7" fmla="*/ 13 h 33"/>
                <a:gd name="T8" fmla="*/ 4 w 27"/>
                <a:gd name="T9" fmla="*/ 10 h 33"/>
                <a:gd name="T10" fmla="*/ 6 w 27"/>
                <a:gd name="T11" fmla="*/ 9 h 33"/>
                <a:gd name="T12" fmla="*/ 6 w 27"/>
                <a:gd name="T13" fmla="*/ 7 h 33"/>
                <a:gd name="T14" fmla="*/ 6 w 27"/>
                <a:gd name="T15" fmla="*/ 6 h 33"/>
                <a:gd name="T16" fmla="*/ 6 w 27"/>
                <a:gd name="T17" fmla="*/ 4 h 33"/>
                <a:gd name="T18" fmla="*/ 6 w 27"/>
                <a:gd name="T19" fmla="*/ 3 h 33"/>
                <a:gd name="T20" fmla="*/ 6 w 27"/>
                <a:gd name="T21" fmla="*/ 2 h 33"/>
                <a:gd name="T22" fmla="*/ 6 w 27"/>
                <a:gd name="T23" fmla="*/ 2 h 33"/>
                <a:gd name="T24" fmla="*/ 6 w 27"/>
                <a:gd name="T25" fmla="*/ 0 h 33"/>
                <a:gd name="T26" fmla="*/ 6 w 27"/>
                <a:gd name="T27" fmla="*/ 0 h 33"/>
                <a:gd name="T28" fmla="*/ 6 w 27"/>
                <a:gd name="T29" fmla="*/ 0 h 33"/>
                <a:gd name="T30" fmla="*/ 6 w 27"/>
                <a:gd name="T31" fmla="*/ 2 h 33"/>
                <a:gd name="T32" fmla="*/ 6 w 27"/>
                <a:gd name="T33" fmla="*/ 3 h 33"/>
                <a:gd name="T34" fmla="*/ 6 w 27"/>
                <a:gd name="T35" fmla="*/ 6 h 33"/>
                <a:gd name="T36" fmla="*/ 6 w 27"/>
                <a:gd name="T37" fmla="*/ 9 h 33"/>
                <a:gd name="T38" fmla="*/ 6 w 27"/>
                <a:gd name="T39" fmla="*/ 11 h 33"/>
                <a:gd name="T40" fmla="*/ 6 w 27"/>
                <a:gd name="T41" fmla="*/ 14 h 33"/>
                <a:gd name="T42" fmla="*/ 6 w 27"/>
                <a:gd name="T43" fmla="*/ 16 h 33"/>
                <a:gd name="T44" fmla="*/ 6 w 27"/>
                <a:gd name="T45" fmla="*/ 16 h 33"/>
                <a:gd name="T46" fmla="*/ 6 w 27"/>
                <a:gd name="T47" fmla="*/ 16 h 33"/>
                <a:gd name="T48" fmla="*/ 6 w 27"/>
                <a:gd name="T49" fmla="*/ 16 h 33"/>
                <a:gd name="T50" fmla="*/ 6 w 27"/>
                <a:gd name="T51" fmla="*/ 16 h 33"/>
                <a:gd name="T52" fmla="*/ 6 w 27"/>
                <a:gd name="T53" fmla="*/ 16 h 33"/>
                <a:gd name="T54" fmla="*/ 6 w 27"/>
                <a:gd name="T55" fmla="*/ 16 h 33"/>
                <a:gd name="T56" fmla="*/ 6 w 27"/>
                <a:gd name="T57" fmla="*/ 16 h 33"/>
                <a:gd name="T58" fmla="*/ 6 w 27"/>
                <a:gd name="T59" fmla="*/ 16 h 33"/>
                <a:gd name="T60" fmla="*/ 6 w 27"/>
                <a:gd name="T61" fmla="*/ 16 h 33"/>
                <a:gd name="T62" fmla="*/ 6 w 27"/>
                <a:gd name="T63" fmla="*/ 16 h 33"/>
                <a:gd name="T64" fmla="*/ 6 w 27"/>
                <a:gd name="T65" fmla="*/ 16 h 33"/>
                <a:gd name="T66" fmla="*/ 4 w 27"/>
                <a:gd name="T67" fmla="*/ 16 h 33"/>
                <a:gd name="T68" fmla="*/ 3 w 27"/>
                <a:gd name="T69" fmla="*/ 16 h 33"/>
                <a:gd name="T70" fmla="*/ 1 w 27"/>
                <a:gd name="T71" fmla="*/ 16 h 33"/>
                <a:gd name="T72" fmla="*/ 1 w 27"/>
                <a:gd name="T73" fmla="*/ 16 h 33"/>
                <a:gd name="T74" fmla="*/ 1 w 27"/>
                <a:gd name="T75" fmla="*/ 16 h 33"/>
                <a:gd name="T76" fmla="*/ 1 w 27"/>
                <a:gd name="T77" fmla="*/ 16 h 33"/>
                <a:gd name="T78" fmla="*/ 0 w 27"/>
                <a:gd name="T79" fmla="*/ 16 h 3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3"/>
                <a:gd name="T122" fmla="*/ 27 w 27"/>
                <a:gd name="T123" fmla="*/ 33 h 3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3">
                  <a:moveTo>
                    <a:pt x="0" y="23"/>
                  </a:moveTo>
                  <a:lnTo>
                    <a:pt x="0" y="21"/>
                  </a:lnTo>
                  <a:lnTo>
                    <a:pt x="1" y="20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6" y="10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7"/>
                  </a:lnTo>
                  <a:lnTo>
                    <a:pt x="8" y="6"/>
                  </a:lnTo>
                  <a:lnTo>
                    <a:pt x="10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2"/>
                  </a:lnTo>
                  <a:lnTo>
                    <a:pt x="24" y="3"/>
                  </a:lnTo>
                  <a:lnTo>
                    <a:pt x="25" y="4"/>
                  </a:lnTo>
                  <a:lnTo>
                    <a:pt x="25" y="6"/>
                  </a:lnTo>
                  <a:lnTo>
                    <a:pt x="25" y="7"/>
                  </a:lnTo>
                  <a:lnTo>
                    <a:pt x="27" y="9"/>
                  </a:lnTo>
                  <a:lnTo>
                    <a:pt x="27" y="10"/>
                  </a:lnTo>
                  <a:lnTo>
                    <a:pt x="27" y="11"/>
                  </a:lnTo>
                  <a:lnTo>
                    <a:pt x="25" y="13"/>
                  </a:lnTo>
                  <a:lnTo>
                    <a:pt x="25" y="14"/>
                  </a:lnTo>
                  <a:lnTo>
                    <a:pt x="25" y="16"/>
                  </a:lnTo>
                  <a:lnTo>
                    <a:pt x="24" y="17"/>
                  </a:lnTo>
                  <a:lnTo>
                    <a:pt x="24" y="18"/>
                  </a:lnTo>
                  <a:lnTo>
                    <a:pt x="24" y="20"/>
                  </a:lnTo>
                  <a:lnTo>
                    <a:pt x="22" y="21"/>
                  </a:lnTo>
                  <a:lnTo>
                    <a:pt x="22" y="23"/>
                  </a:lnTo>
                  <a:lnTo>
                    <a:pt x="21" y="23"/>
                  </a:lnTo>
                  <a:lnTo>
                    <a:pt x="20" y="24"/>
                  </a:lnTo>
                  <a:lnTo>
                    <a:pt x="20" y="26"/>
                  </a:lnTo>
                  <a:lnTo>
                    <a:pt x="18" y="27"/>
                  </a:lnTo>
                  <a:lnTo>
                    <a:pt x="17" y="28"/>
                  </a:lnTo>
                  <a:lnTo>
                    <a:pt x="15" y="30"/>
                  </a:lnTo>
                  <a:lnTo>
                    <a:pt x="14" y="30"/>
                  </a:lnTo>
                  <a:lnTo>
                    <a:pt x="13" y="31"/>
                  </a:lnTo>
                  <a:lnTo>
                    <a:pt x="11" y="33"/>
                  </a:lnTo>
                  <a:lnTo>
                    <a:pt x="10" y="33"/>
                  </a:lnTo>
                  <a:lnTo>
                    <a:pt x="8" y="33"/>
                  </a:lnTo>
                  <a:lnTo>
                    <a:pt x="7" y="33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1" y="24"/>
                  </a:lnTo>
                  <a:lnTo>
                    <a:pt x="0" y="24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7" name="Freeform 62"/>
            <p:cNvSpPr>
              <a:spLocks/>
            </p:cNvSpPr>
            <p:nvPr/>
          </p:nvSpPr>
          <p:spPr bwMode="auto">
            <a:xfrm>
              <a:off x="3926" y="721"/>
              <a:ext cx="25" cy="30"/>
            </a:xfrm>
            <a:custGeom>
              <a:avLst/>
              <a:gdLst>
                <a:gd name="T0" fmla="*/ 0 w 27"/>
                <a:gd name="T1" fmla="*/ 15 h 31"/>
                <a:gd name="T2" fmla="*/ 1 w 27"/>
                <a:gd name="T3" fmla="*/ 15 h 31"/>
                <a:gd name="T4" fmla="*/ 3 w 27"/>
                <a:gd name="T5" fmla="*/ 15 h 31"/>
                <a:gd name="T6" fmla="*/ 4 w 27"/>
                <a:gd name="T7" fmla="*/ 12 h 31"/>
                <a:gd name="T8" fmla="*/ 4 w 27"/>
                <a:gd name="T9" fmla="*/ 9 h 31"/>
                <a:gd name="T10" fmla="*/ 6 w 27"/>
                <a:gd name="T11" fmla="*/ 8 h 31"/>
                <a:gd name="T12" fmla="*/ 6 w 27"/>
                <a:gd name="T13" fmla="*/ 7 h 31"/>
                <a:gd name="T14" fmla="*/ 6 w 27"/>
                <a:gd name="T15" fmla="*/ 5 h 31"/>
                <a:gd name="T16" fmla="*/ 6 w 27"/>
                <a:gd name="T17" fmla="*/ 4 h 31"/>
                <a:gd name="T18" fmla="*/ 6 w 27"/>
                <a:gd name="T19" fmla="*/ 2 h 31"/>
                <a:gd name="T20" fmla="*/ 6 w 27"/>
                <a:gd name="T21" fmla="*/ 1 h 31"/>
                <a:gd name="T22" fmla="*/ 6 w 27"/>
                <a:gd name="T23" fmla="*/ 0 h 31"/>
                <a:gd name="T24" fmla="*/ 6 w 27"/>
                <a:gd name="T25" fmla="*/ 0 h 31"/>
                <a:gd name="T26" fmla="*/ 6 w 27"/>
                <a:gd name="T27" fmla="*/ 0 h 31"/>
                <a:gd name="T28" fmla="*/ 6 w 27"/>
                <a:gd name="T29" fmla="*/ 0 h 31"/>
                <a:gd name="T30" fmla="*/ 6 w 27"/>
                <a:gd name="T31" fmla="*/ 1 h 31"/>
                <a:gd name="T32" fmla="*/ 6 w 27"/>
                <a:gd name="T33" fmla="*/ 2 h 31"/>
                <a:gd name="T34" fmla="*/ 6 w 27"/>
                <a:gd name="T35" fmla="*/ 4 h 31"/>
                <a:gd name="T36" fmla="*/ 6 w 27"/>
                <a:gd name="T37" fmla="*/ 7 h 31"/>
                <a:gd name="T38" fmla="*/ 6 w 27"/>
                <a:gd name="T39" fmla="*/ 9 h 31"/>
                <a:gd name="T40" fmla="*/ 6 w 27"/>
                <a:gd name="T41" fmla="*/ 14 h 31"/>
                <a:gd name="T42" fmla="*/ 6 w 27"/>
                <a:gd name="T43" fmla="*/ 15 h 31"/>
                <a:gd name="T44" fmla="*/ 6 w 27"/>
                <a:gd name="T45" fmla="*/ 15 h 31"/>
                <a:gd name="T46" fmla="*/ 6 w 27"/>
                <a:gd name="T47" fmla="*/ 15 h 31"/>
                <a:gd name="T48" fmla="*/ 6 w 27"/>
                <a:gd name="T49" fmla="*/ 15 h 31"/>
                <a:gd name="T50" fmla="*/ 6 w 27"/>
                <a:gd name="T51" fmla="*/ 15 h 31"/>
                <a:gd name="T52" fmla="*/ 6 w 27"/>
                <a:gd name="T53" fmla="*/ 15 h 31"/>
                <a:gd name="T54" fmla="*/ 6 w 27"/>
                <a:gd name="T55" fmla="*/ 15 h 31"/>
                <a:gd name="T56" fmla="*/ 6 w 27"/>
                <a:gd name="T57" fmla="*/ 15 h 31"/>
                <a:gd name="T58" fmla="*/ 6 w 27"/>
                <a:gd name="T59" fmla="*/ 15 h 31"/>
                <a:gd name="T60" fmla="*/ 6 w 27"/>
                <a:gd name="T61" fmla="*/ 15 h 31"/>
                <a:gd name="T62" fmla="*/ 6 w 27"/>
                <a:gd name="T63" fmla="*/ 15 h 31"/>
                <a:gd name="T64" fmla="*/ 6 w 27"/>
                <a:gd name="T65" fmla="*/ 15 h 31"/>
                <a:gd name="T66" fmla="*/ 4 w 27"/>
                <a:gd name="T67" fmla="*/ 15 h 31"/>
                <a:gd name="T68" fmla="*/ 3 w 27"/>
                <a:gd name="T69" fmla="*/ 15 h 31"/>
                <a:gd name="T70" fmla="*/ 1 w 27"/>
                <a:gd name="T71" fmla="*/ 15 h 31"/>
                <a:gd name="T72" fmla="*/ 1 w 27"/>
                <a:gd name="T73" fmla="*/ 15 h 31"/>
                <a:gd name="T74" fmla="*/ 1 w 27"/>
                <a:gd name="T75" fmla="*/ 15 h 31"/>
                <a:gd name="T76" fmla="*/ 1 w 27"/>
                <a:gd name="T77" fmla="*/ 15 h 31"/>
                <a:gd name="T78" fmla="*/ 0 w 27"/>
                <a:gd name="T79" fmla="*/ 15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1"/>
                <a:gd name="T122" fmla="*/ 27 w 27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1">
                  <a:moveTo>
                    <a:pt x="0" y="22"/>
                  </a:moveTo>
                  <a:lnTo>
                    <a:pt x="0" y="21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4" y="9"/>
                  </a:lnTo>
                  <a:lnTo>
                    <a:pt x="6" y="8"/>
                  </a:lnTo>
                  <a:lnTo>
                    <a:pt x="7" y="7"/>
                  </a:lnTo>
                  <a:lnTo>
                    <a:pt x="8" y="5"/>
                  </a:lnTo>
                  <a:lnTo>
                    <a:pt x="10" y="4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4" y="2"/>
                  </a:lnTo>
                  <a:lnTo>
                    <a:pt x="25" y="4"/>
                  </a:lnTo>
                  <a:lnTo>
                    <a:pt x="25" y="5"/>
                  </a:lnTo>
                  <a:lnTo>
                    <a:pt x="27" y="7"/>
                  </a:lnTo>
                  <a:lnTo>
                    <a:pt x="27" y="8"/>
                  </a:lnTo>
                  <a:lnTo>
                    <a:pt x="27" y="9"/>
                  </a:lnTo>
                  <a:lnTo>
                    <a:pt x="25" y="12"/>
                  </a:lnTo>
                  <a:lnTo>
                    <a:pt x="25" y="14"/>
                  </a:lnTo>
                  <a:lnTo>
                    <a:pt x="25" y="15"/>
                  </a:lnTo>
                  <a:lnTo>
                    <a:pt x="24" y="16"/>
                  </a:lnTo>
                  <a:lnTo>
                    <a:pt x="24" y="18"/>
                  </a:lnTo>
                  <a:lnTo>
                    <a:pt x="24" y="19"/>
                  </a:lnTo>
                  <a:lnTo>
                    <a:pt x="22" y="21"/>
                  </a:lnTo>
                  <a:lnTo>
                    <a:pt x="21" y="22"/>
                  </a:lnTo>
                  <a:lnTo>
                    <a:pt x="20" y="24"/>
                  </a:lnTo>
                  <a:lnTo>
                    <a:pt x="20" y="25"/>
                  </a:lnTo>
                  <a:lnTo>
                    <a:pt x="18" y="26"/>
                  </a:lnTo>
                  <a:lnTo>
                    <a:pt x="17" y="26"/>
                  </a:lnTo>
                  <a:lnTo>
                    <a:pt x="17" y="28"/>
                  </a:lnTo>
                  <a:lnTo>
                    <a:pt x="15" y="28"/>
                  </a:lnTo>
                  <a:lnTo>
                    <a:pt x="14" y="29"/>
                  </a:lnTo>
                  <a:lnTo>
                    <a:pt x="13" y="31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8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3" y="28"/>
                  </a:lnTo>
                  <a:lnTo>
                    <a:pt x="1" y="28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8" name="Freeform 63"/>
            <p:cNvSpPr>
              <a:spLocks/>
            </p:cNvSpPr>
            <p:nvPr/>
          </p:nvSpPr>
          <p:spPr bwMode="auto">
            <a:xfrm>
              <a:off x="3926" y="751"/>
              <a:ext cx="25" cy="30"/>
            </a:xfrm>
            <a:custGeom>
              <a:avLst/>
              <a:gdLst>
                <a:gd name="T0" fmla="*/ 0 w 27"/>
                <a:gd name="T1" fmla="*/ 8 h 32"/>
                <a:gd name="T2" fmla="*/ 1 w 27"/>
                <a:gd name="T3" fmla="*/ 8 h 32"/>
                <a:gd name="T4" fmla="*/ 3 w 27"/>
                <a:gd name="T5" fmla="*/ 8 h 32"/>
                <a:gd name="T6" fmla="*/ 4 w 27"/>
                <a:gd name="T7" fmla="*/ 8 h 32"/>
                <a:gd name="T8" fmla="*/ 4 w 27"/>
                <a:gd name="T9" fmla="*/ 8 h 32"/>
                <a:gd name="T10" fmla="*/ 6 w 27"/>
                <a:gd name="T11" fmla="*/ 8 h 32"/>
                <a:gd name="T12" fmla="*/ 6 w 27"/>
                <a:gd name="T13" fmla="*/ 8 h 32"/>
                <a:gd name="T14" fmla="*/ 6 w 27"/>
                <a:gd name="T15" fmla="*/ 7 h 32"/>
                <a:gd name="T16" fmla="*/ 6 w 27"/>
                <a:gd name="T17" fmla="*/ 5 h 32"/>
                <a:gd name="T18" fmla="*/ 6 w 27"/>
                <a:gd name="T19" fmla="*/ 4 h 32"/>
                <a:gd name="T20" fmla="*/ 6 w 27"/>
                <a:gd name="T21" fmla="*/ 2 h 32"/>
                <a:gd name="T22" fmla="*/ 6 w 27"/>
                <a:gd name="T23" fmla="*/ 1 h 32"/>
                <a:gd name="T24" fmla="*/ 6 w 27"/>
                <a:gd name="T25" fmla="*/ 1 h 32"/>
                <a:gd name="T26" fmla="*/ 6 w 27"/>
                <a:gd name="T27" fmla="*/ 0 h 32"/>
                <a:gd name="T28" fmla="*/ 6 w 27"/>
                <a:gd name="T29" fmla="*/ 1 h 32"/>
                <a:gd name="T30" fmla="*/ 6 w 27"/>
                <a:gd name="T31" fmla="*/ 1 h 32"/>
                <a:gd name="T32" fmla="*/ 6 w 27"/>
                <a:gd name="T33" fmla="*/ 4 h 32"/>
                <a:gd name="T34" fmla="*/ 6 w 27"/>
                <a:gd name="T35" fmla="*/ 5 h 32"/>
                <a:gd name="T36" fmla="*/ 6 w 27"/>
                <a:gd name="T37" fmla="*/ 8 h 32"/>
                <a:gd name="T38" fmla="*/ 6 w 27"/>
                <a:gd name="T39" fmla="*/ 8 h 32"/>
                <a:gd name="T40" fmla="*/ 6 w 27"/>
                <a:gd name="T41" fmla="*/ 8 h 32"/>
                <a:gd name="T42" fmla="*/ 6 w 27"/>
                <a:gd name="T43" fmla="*/ 8 h 32"/>
                <a:gd name="T44" fmla="*/ 6 w 27"/>
                <a:gd name="T45" fmla="*/ 8 h 32"/>
                <a:gd name="T46" fmla="*/ 6 w 27"/>
                <a:gd name="T47" fmla="*/ 8 h 32"/>
                <a:gd name="T48" fmla="*/ 6 w 27"/>
                <a:gd name="T49" fmla="*/ 8 h 32"/>
                <a:gd name="T50" fmla="*/ 6 w 27"/>
                <a:gd name="T51" fmla="*/ 8 h 32"/>
                <a:gd name="T52" fmla="*/ 6 w 27"/>
                <a:gd name="T53" fmla="*/ 8 h 32"/>
                <a:gd name="T54" fmla="*/ 6 w 27"/>
                <a:gd name="T55" fmla="*/ 8 h 32"/>
                <a:gd name="T56" fmla="*/ 6 w 27"/>
                <a:gd name="T57" fmla="*/ 8 h 32"/>
                <a:gd name="T58" fmla="*/ 6 w 27"/>
                <a:gd name="T59" fmla="*/ 8 h 32"/>
                <a:gd name="T60" fmla="*/ 6 w 27"/>
                <a:gd name="T61" fmla="*/ 8 h 32"/>
                <a:gd name="T62" fmla="*/ 6 w 27"/>
                <a:gd name="T63" fmla="*/ 8 h 32"/>
                <a:gd name="T64" fmla="*/ 6 w 27"/>
                <a:gd name="T65" fmla="*/ 8 h 32"/>
                <a:gd name="T66" fmla="*/ 4 w 27"/>
                <a:gd name="T67" fmla="*/ 8 h 32"/>
                <a:gd name="T68" fmla="*/ 3 w 27"/>
                <a:gd name="T69" fmla="*/ 8 h 32"/>
                <a:gd name="T70" fmla="*/ 1 w 27"/>
                <a:gd name="T71" fmla="*/ 8 h 32"/>
                <a:gd name="T72" fmla="*/ 1 w 27"/>
                <a:gd name="T73" fmla="*/ 8 h 32"/>
                <a:gd name="T74" fmla="*/ 1 w 27"/>
                <a:gd name="T75" fmla="*/ 8 h 32"/>
                <a:gd name="T76" fmla="*/ 1 w 27"/>
                <a:gd name="T77" fmla="*/ 8 h 32"/>
                <a:gd name="T78" fmla="*/ 0 w 27"/>
                <a:gd name="T79" fmla="*/ 8 h 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2"/>
                <a:gd name="T122" fmla="*/ 27 w 27"/>
                <a:gd name="T123" fmla="*/ 32 h 3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2">
                  <a:moveTo>
                    <a:pt x="0" y="24"/>
                  </a:moveTo>
                  <a:lnTo>
                    <a:pt x="0" y="22"/>
                  </a:lnTo>
                  <a:lnTo>
                    <a:pt x="1" y="21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5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5" y="4"/>
                  </a:lnTo>
                  <a:lnTo>
                    <a:pt x="25" y="5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7" y="9"/>
                  </a:lnTo>
                  <a:lnTo>
                    <a:pt x="27" y="11"/>
                  </a:lnTo>
                  <a:lnTo>
                    <a:pt x="25" y="12"/>
                  </a:lnTo>
                  <a:lnTo>
                    <a:pt x="25" y="14"/>
                  </a:lnTo>
                  <a:lnTo>
                    <a:pt x="25" y="15"/>
                  </a:lnTo>
                  <a:lnTo>
                    <a:pt x="24" y="16"/>
                  </a:lnTo>
                  <a:lnTo>
                    <a:pt x="24" y="18"/>
                  </a:lnTo>
                  <a:lnTo>
                    <a:pt x="24" y="19"/>
                  </a:lnTo>
                  <a:lnTo>
                    <a:pt x="22" y="21"/>
                  </a:lnTo>
                  <a:lnTo>
                    <a:pt x="22" y="22"/>
                  </a:lnTo>
                  <a:lnTo>
                    <a:pt x="21" y="24"/>
                  </a:lnTo>
                  <a:lnTo>
                    <a:pt x="20" y="25"/>
                  </a:lnTo>
                  <a:lnTo>
                    <a:pt x="18" y="26"/>
                  </a:lnTo>
                  <a:lnTo>
                    <a:pt x="17" y="28"/>
                  </a:lnTo>
                  <a:lnTo>
                    <a:pt x="17" y="29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1"/>
                  </a:lnTo>
                  <a:lnTo>
                    <a:pt x="13" y="32"/>
                  </a:lnTo>
                  <a:lnTo>
                    <a:pt x="11" y="32"/>
                  </a:lnTo>
                  <a:lnTo>
                    <a:pt x="10" y="32"/>
                  </a:lnTo>
                  <a:lnTo>
                    <a:pt x="8" y="32"/>
                  </a:lnTo>
                  <a:lnTo>
                    <a:pt x="7" y="32"/>
                  </a:lnTo>
                  <a:lnTo>
                    <a:pt x="6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9" name="Freeform 64"/>
            <p:cNvSpPr>
              <a:spLocks/>
            </p:cNvSpPr>
            <p:nvPr/>
          </p:nvSpPr>
          <p:spPr bwMode="auto">
            <a:xfrm>
              <a:off x="3927" y="779"/>
              <a:ext cx="24" cy="32"/>
            </a:xfrm>
            <a:custGeom>
              <a:avLst/>
              <a:gdLst>
                <a:gd name="T0" fmla="*/ 0 w 26"/>
                <a:gd name="T1" fmla="*/ 21 h 32"/>
                <a:gd name="T2" fmla="*/ 0 w 26"/>
                <a:gd name="T3" fmla="*/ 18 h 32"/>
                <a:gd name="T4" fmla="*/ 2 w 26"/>
                <a:gd name="T5" fmla="*/ 15 h 32"/>
                <a:gd name="T6" fmla="*/ 3 w 26"/>
                <a:gd name="T7" fmla="*/ 12 h 32"/>
                <a:gd name="T8" fmla="*/ 5 w 26"/>
                <a:gd name="T9" fmla="*/ 9 h 32"/>
                <a:gd name="T10" fmla="*/ 5 w 26"/>
                <a:gd name="T11" fmla="*/ 8 h 32"/>
                <a:gd name="T12" fmla="*/ 6 w 26"/>
                <a:gd name="T13" fmla="*/ 7 h 32"/>
                <a:gd name="T14" fmla="*/ 6 w 26"/>
                <a:gd name="T15" fmla="*/ 5 h 32"/>
                <a:gd name="T16" fmla="*/ 6 w 26"/>
                <a:gd name="T17" fmla="*/ 4 h 32"/>
                <a:gd name="T18" fmla="*/ 6 w 26"/>
                <a:gd name="T19" fmla="*/ 2 h 32"/>
                <a:gd name="T20" fmla="*/ 6 w 26"/>
                <a:gd name="T21" fmla="*/ 1 h 32"/>
                <a:gd name="T22" fmla="*/ 6 w 26"/>
                <a:gd name="T23" fmla="*/ 0 h 32"/>
                <a:gd name="T24" fmla="*/ 6 w 26"/>
                <a:gd name="T25" fmla="*/ 0 h 32"/>
                <a:gd name="T26" fmla="*/ 6 w 26"/>
                <a:gd name="T27" fmla="*/ 0 h 32"/>
                <a:gd name="T28" fmla="*/ 6 w 26"/>
                <a:gd name="T29" fmla="*/ 0 h 32"/>
                <a:gd name="T30" fmla="*/ 6 w 26"/>
                <a:gd name="T31" fmla="*/ 1 h 32"/>
                <a:gd name="T32" fmla="*/ 6 w 26"/>
                <a:gd name="T33" fmla="*/ 2 h 32"/>
                <a:gd name="T34" fmla="*/ 6 w 26"/>
                <a:gd name="T35" fmla="*/ 5 h 32"/>
                <a:gd name="T36" fmla="*/ 6 w 26"/>
                <a:gd name="T37" fmla="*/ 7 h 32"/>
                <a:gd name="T38" fmla="*/ 6 w 26"/>
                <a:gd name="T39" fmla="*/ 11 h 32"/>
                <a:gd name="T40" fmla="*/ 6 w 26"/>
                <a:gd name="T41" fmla="*/ 14 h 32"/>
                <a:gd name="T42" fmla="*/ 6 w 26"/>
                <a:gd name="T43" fmla="*/ 16 h 32"/>
                <a:gd name="T44" fmla="*/ 6 w 26"/>
                <a:gd name="T45" fmla="*/ 19 h 32"/>
                <a:gd name="T46" fmla="*/ 6 w 26"/>
                <a:gd name="T47" fmla="*/ 22 h 32"/>
                <a:gd name="T48" fmla="*/ 6 w 26"/>
                <a:gd name="T49" fmla="*/ 24 h 32"/>
                <a:gd name="T50" fmla="*/ 6 w 26"/>
                <a:gd name="T51" fmla="*/ 26 h 32"/>
                <a:gd name="T52" fmla="*/ 6 w 26"/>
                <a:gd name="T53" fmla="*/ 28 h 32"/>
                <a:gd name="T54" fmla="*/ 6 w 26"/>
                <a:gd name="T55" fmla="*/ 29 h 32"/>
                <a:gd name="T56" fmla="*/ 6 w 26"/>
                <a:gd name="T57" fmla="*/ 31 h 32"/>
                <a:gd name="T58" fmla="*/ 6 w 26"/>
                <a:gd name="T59" fmla="*/ 31 h 32"/>
                <a:gd name="T60" fmla="*/ 6 w 26"/>
                <a:gd name="T61" fmla="*/ 32 h 32"/>
                <a:gd name="T62" fmla="*/ 6 w 26"/>
                <a:gd name="T63" fmla="*/ 31 h 32"/>
                <a:gd name="T64" fmla="*/ 5 w 26"/>
                <a:gd name="T65" fmla="*/ 31 h 32"/>
                <a:gd name="T66" fmla="*/ 3 w 26"/>
                <a:gd name="T67" fmla="*/ 31 h 32"/>
                <a:gd name="T68" fmla="*/ 2 w 26"/>
                <a:gd name="T69" fmla="*/ 29 h 32"/>
                <a:gd name="T70" fmla="*/ 0 w 26"/>
                <a:gd name="T71" fmla="*/ 28 h 32"/>
                <a:gd name="T72" fmla="*/ 0 w 26"/>
                <a:gd name="T73" fmla="*/ 26 h 32"/>
                <a:gd name="T74" fmla="*/ 0 w 26"/>
                <a:gd name="T75" fmla="*/ 25 h 32"/>
                <a:gd name="T76" fmla="*/ 0 w 26"/>
                <a:gd name="T77" fmla="*/ 24 h 32"/>
                <a:gd name="T78" fmla="*/ 0 w 26"/>
                <a:gd name="T79" fmla="*/ 22 h 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6"/>
                <a:gd name="T121" fmla="*/ 0 h 32"/>
                <a:gd name="T122" fmla="*/ 26 w 26"/>
                <a:gd name="T123" fmla="*/ 32 h 3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6" h="32">
                  <a:moveTo>
                    <a:pt x="0" y="22"/>
                  </a:moveTo>
                  <a:lnTo>
                    <a:pt x="0" y="21"/>
                  </a:lnTo>
                  <a:lnTo>
                    <a:pt x="0" y="19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3" y="12"/>
                  </a:lnTo>
                  <a:lnTo>
                    <a:pt x="3" y="11"/>
                  </a:lnTo>
                  <a:lnTo>
                    <a:pt x="5" y="9"/>
                  </a:lnTo>
                  <a:lnTo>
                    <a:pt x="5" y="8"/>
                  </a:lnTo>
                  <a:lnTo>
                    <a:pt x="6" y="8"/>
                  </a:lnTo>
                  <a:lnTo>
                    <a:pt x="6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5"/>
                  </a:lnTo>
                  <a:lnTo>
                    <a:pt x="26" y="5"/>
                  </a:lnTo>
                  <a:lnTo>
                    <a:pt x="26" y="7"/>
                  </a:lnTo>
                  <a:lnTo>
                    <a:pt x="26" y="8"/>
                  </a:lnTo>
                  <a:lnTo>
                    <a:pt x="26" y="11"/>
                  </a:lnTo>
                  <a:lnTo>
                    <a:pt x="26" y="12"/>
                  </a:lnTo>
                  <a:lnTo>
                    <a:pt x="24" y="14"/>
                  </a:lnTo>
                  <a:lnTo>
                    <a:pt x="24" y="15"/>
                  </a:lnTo>
                  <a:lnTo>
                    <a:pt x="24" y="16"/>
                  </a:lnTo>
                  <a:lnTo>
                    <a:pt x="23" y="18"/>
                  </a:lnTo>
                  <a:lnTo>
                    <a:pt x="23" y="19"/>
                  </a:lnTo>
                  <a:lnTo>
                    <a:pt x="21" y="21"/>
                  </a:lnTo>
                  <a:lnTo>
                    <a:pt x="21" y="22"/>
                  </a:lnTo>
                  <a:lnTo>
                    <a:pt x="20" y="22"/>
                  </a:lnTo>
                  <a:lnTo>
                    <a:pt x="20" y="24"/>
                  </a:lnTo>
                  <a:lnTo>
                    <a:pt x="19" y="25"/>
                  </a:lnTo>
                  <a:lnTo>
                    <a:pt x="17" y="26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29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2"/>
                  </a:lnTo>
                  <a:lnTo>
                    <a:pt x="7" y="32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3" y="31"/>
                  </a:lnTo>
                  <a:lnTo>
                    <a:pt x="2" y="29"/>
                  </a:lnTo>
                  <a:lnTo>
                    <a:pt x="2" y="28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0" name="Freeform 65"/>
            <p:cNvSpPr>
              <a:spLocks/>
            </p:cNvSpPr>
            <p:nvPr/>
          </p:nvSpPr>
          <p:spPr bwMode="auto">
            <a:xfrm>
              <a:off x="3951" y="542"/>
              <a:ext cx="8" cy="30"/>
            </a:xfrm>
            <a:custGeom>
              <a:avLst/>
              <a:gdLst>
                <a:gd name="T0" fmla="*/ 125 w 7"/>
                <a:gd name="T1" fmla="*/ 0 h 31"/>
                <a:gd name="T2" fmla="*/ 125 w 7"/>
                <a:gd name="T3" fmla="*/ 0 h 31"/>
                <a:gd name="T4" fmla="*/ 125 w 7"/>
                <a:gd name="T5" fmla="*/ 0 h 31"/>
                <a:gd name="T6" fmla="*/ 163 w 7"/>
                <a:gd name="T7" fmla="*/ 0 h 31"/>
                <a:gd name="T8" fmla="*/ 163 w 7"/>
                <a:gd name="T9" fmla="*/ 0 h 31"/>
                <a:gd name="T10" fmla="*/ 163 w 7"/>
                <a:gd name="T11" fmla="*/ 1 h 31"/>
                <a:gd name="T12" fmla="*/ 163 w 7"/>
                <a:gd name="T13" fmla="*/ 2 h 31"/>
                <a:gd name="T14" fmla="*/ 163 w 7"/>
                <a:gd name="T15" fmla="*/ 4 h 31"/>
                <a:gd name="T16" fmla="*/ 163 w 7"/>
                <a:gd name="T17" fmla="*/ 5 h 31"/>
                <a:gd name="T18" fmla="*/ 163 w 7"/>
                <a:gd name="T19" fmla="*/ 8 h 31"/>
                <a:gd name="T20" fmla="*/ 163 w 7"/>
                <a:gd name="T21" fmla="*/ 11 h 31"/>
                <a:gd name="T22" fmla="*/ 163 w 7"/>
                <a:gd name="T23" fmla="*/ 14 h 31"/>
                <a:gd name="T24" fmla="*/ 163 w 7"/>
                <a:gd name="T25" fmla="*/ 15 h 31"/>
                <a:gd name="T26" fmla="*/ 163 w 7"/>
                <a:gd name="T27" fmla="*/ 15 h 31"/>
                <a:gd name="T28" fmla="*/ 163 w 7"/>
                <a:gd name="T29" fmla="*/ 15 h 31"/>
                <a:gd name="T30" fmla="*/ 125 w 7"/>
                <a:gd name="T31" fmla="*/ 15 h 31"/>
                <a:gd name="T32" fmla="*/ 125 w 7"/>
                <a:gd name="T33" fmla="*/ 15 h 31"/>
                <a:gd name="T34" fmla="*/ 125 w 7"/>
                <a:gd name="T35" fmla="*/ 15 h 31"/>
                <a:gd name="T36" fmla="*/ 109 w 7"/>
                <a:gd name="T37" fmla="*/ 15 h 31"/>
                <a:gd name="T38" fmla="*/ 109 w 7"/>
                <a:gd name="T39" fmla="*/ 15 h 31"/>
                <a:gd name="T40" fmla="*/ 3 w 7"/>
                <a:gd name="T41" fmla="*/ 15 h 31"/>
                <a:gd name="T42" fmla="*/ 3 w 7"/>
                <a:gd name="T43" fmla="*/ 15 h 31"/>
                <a:gd name="T44" fmla="*/ 3 w 7"/>
                <a:gd name="T45" fmla="*/ 15 h 31"/>
                <a:gd name="T46" fmla="*/ 1 w 7"/>
                <a:gd name="T47" fmla="*/ 15 h 31"/>
                <a:gd name="T48" fmla="*/ 1 w 7"/>
                <a:gd name="T49" fmla="*/ 15 h 31"/>
                <a:gd name="T50" fmla="*/ 0 w 7"/>
                <a:gd name="T51" fmla="*/ 15 h 31"/>
                <a:gd name="T52" fmla="*/ 0 w 7"/>
                <a:gd name="T53" fmla="*/ 15 h 31"/>
                <a:gd name="T54" fmla="*/ 0 w 7"/>
                <a:gd name="T55" fmla="*/ 15 h 31"/>
                <a:gd name="T56" fmla="*/ 0 w 7"/>
                <a:gd name="T57" fmla="*/ 15 h 31"/>
                <a:gd name="T58" fmla="*/ 0 w 7"/>
                <a:gd name="T59" fmla="*/ 15 h 31"/>
                <a:gd name="T60" fmla="*/ 1 w 7"/>
                <a:gd name="T61" fmla="*/ 15 h 31"/>
                <a:gd name="T62" fmla="*/ 1 w 7"/>
                <a:gd name="T63" fmla="*/ 14 h 31"/>
                <a:gd name="T64" fmla="*/ 1 w 7"/>
                <a:gd name="T65" fmla="*/ 11 h 31"/>
                <a:gd name="T66" fmla="*/ 3 w 7"/>
                <a:gd name="T67" fmla="*/ 8 h 31"/>
                <a:gd name="T68" fmla="*/ 3 w 7"/>
                <a:gd name="T69" fmla="*/ 5 h 31"/>
                <a:gd name="T70" fmla="*/ 3 w 7"/>
                <a:gd name="T71" fmla="*/ 2 h 31"/>
                <a:gd name="T72" fmla="*/ 3 w 7"/>
                <a:gd name="T73" fmla="*/ 1 h 31"/>
                <a:gd name="T74" fmla="*/ 3 w 7"/>
                <a:gd name="T75" fmla="*/ 1 h 31"/>
                <a:gd name="T76" fmla="*/ 109 w 7"/>
                <a:gd name="T77" fmla="*/ 0 h 31"/>
                <a:gd name="T78" fmla="*/ 109 w 7"/>
                <a:gd name="T79" fmla="*/ 0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"/>
                <a:gd name="T121" fmla="*/ 0 h 31"/>
                <a:gd name="T122" fmla="*/ 7 w 7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" h="31">
                  <a:moveTo>
                    <a:pt x="4" y="0"/>
                  </a:moveTo>
                  <a:lnTo>
                    <a:pt x="5" y="0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2"/>
                  </a:lnTo>
                  <a:lnTo>
                    <a:pt x="7" y="4"/>
                  </a:lnTo>
                  <a:lnTo>
                    <a:pt x="7" y="5"/>
                  </a:lnTo>
                  <a:lnTo>
                    <a:pt x="7" y="7"/>
                  </a:lnTo>
                  <a:lnTo>
                    <a:pt x="7" y="8"/>
                  </a:lnTo>
                  <a:lnTo>
                    <a:pt x="7" y="9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7" y="14"/>
                  </a:lnTo>
                  <a:lnTo>
                    <a:pt x="7" y="15"/>
                  </a:lnTo>
                  <a:lnTo>
                    <a:pt x="7" y="17"/>
                  </a:lnTo>
                  <a:lnTo>
                    <a:pt x="7" y="18"/>
                  </a:lnTo>
                  <a:lnTo>
                    <a:pt x="7" y="19"/>
                  </a:lnTo>
                  <a:lnTo>
                    <a:pt x="7" y="21"/>
                  </a:lnTo>
                  <a:lnTo>
                    <a:pt x="7" y="22"/>
                  </a:lnTo>
                  <a:lnTo>
                    <a:pt x="7" y="24"/>
                  </a:lnTo>
                  <a:lnTo>
                    <a:pt x="5" y="25"/>
                  </a:lnTo>
                  <a:lnTo>
                    <a:pt x="5" y="26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19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1" y="9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1" name="Freeform 66"/>
            <p:cNvSpPr>
              <a:spLocks/>
            </p:cNvSpPr>
            <p:nvPr/>
          </p:nvSpPr>
          <p:spPr bwMode="auto">
            <a:xfrm>
              <a:off x="3949" y="574"/>
              <a:ext cx="10" cy="28"/>
            </a:xfrm>
            <a:custGeom>
              <a:avLst/>
              <a:gdLst>
                <a:gd name="T0" fmla="*/ 87 w 9"/>
                <a:gd name="T1" fmla="*/ 0 h 31"/>
                <a:gd name="T2" fmla="*/ 87 w 9"/>
                <a:gd name="T3" fmla="*/ 0 h 31"/>
                <a:gd name="T4" fmla="*/ 87 w 9"/>
                <a:gd name="T5" fmla="*/ 0 h 31"/>
                <a:gd name="T6" fmla="*/ 87 w 9"/>
                <a:gd name="T7" fmla="*/ 0 h 31"/>
                <a:gd name="T8" fmla="*/ 108 w 9"/>
                <a:gd name="T9" fmla="*/ 0 h 31"/>
                <a:gd name="T10" fmla="*/ 108 w 9"/>
                <a:gd name="T11" fmla="*/ 1 h 31"/>
                <a:gd name="T12" fmla="*/ 108 w 9"/>
                <a:gd name="T13" fmla="*/ 3 h 31"/>
                <a:gd name="T14" fmla="*/ 108 w 9"/>
                <a:gd name="T15" fmla="*/ 4 h 31"/>
                <a:gd name="T16" fmla="*/ 108 w 9"/>
                <a:gd name="T17" fmla="*/ 5 h 31"/>
                <a:gd name="T18" fmla="*/ 108 w 9"/>
                <a:gd name="T19" fmla="*/ 5 h 31"/>
                <a:gd name="T20" fmla="*/ 108 w 9"/>
                <a:gd name="T21" fmla="*/ 5 h 31"/>
                <a:gd name="T22" fmla="*/ 108 w 9"/>
                <a:gd name="T23" fmla="*/ 5 h 31"/>
                <a:gd name="T24" fmla="*/ 108 w 9"/>
                <a:gd name="T25" fmla="*/ 5 h 31"/>
                <a:gd name="T26" fmla="*/ 108 w 9"/>
                <a:gd name="T27" fmla="*/ 5 h 31"/>
                <a:gd name="T28" fmla="*/ 108 w 9"/>
                <a:gd name="T29" fmla="*/ 5 h 31"/>
                <a:gd name="T30" fmla="*/ 87 w 9"/>
                <a:gd name="T31" fmla="*/ 5 h 31"/>
                <a:gd name="T32" fmla="*/ 87 w 9"/>
                <a:gd name="T33" fmla="*/ 5 h 31"/>
                <a:gd name="T34" fmla="*/ 87 w 9"/>
                <a:gd name="T35" fmla="*/ 5 h 31"/>
                <a:gd name="T36" fmla="*/ 78 w 9"/>
                <a:gd name="T37" fmla="*/ 5 h 31"/>
                <a:gd name="T38" fmla="*/ 70 w 9"/>
                <a:gd name="T39" fmla="*/ 5 h 31"/>
                <a:gd name="T40" fmla="*/ 70 w 9"/>
                <a:gd name="T41" fmla="*/ 5 h 31"/>
                <a:gd name="T42" fmla="*/ 70 w 9"/>
                <a:gd name="T43" fmla="*/ 5 h 31"/>
                <a:gd name="T44" fmla="*/ 3 w 9"/>
                <a:gd name="T45" fmla="*/ 5 h 31"/>
                <a:gd name="T46" fmla="*/ 3 w 9"/>
                <a:gd name="T47" fmla="*/ 5 h 31"/>
                <a:gd name="T48" fmla="*/ 2 w 9"/>
                <a:gd name="T49" fmla="*/ 5 h 31"/>
                <a:gd name="T50" fmla="*/ 2 w 9"/>
                <a:gd name="T51" fmla="*/ 5 h 31"/>
                <a:gd name="T52" fmla="*/ 2 w 9"/>
                <a:gd name="T53" fmla="*/ 5 h 31"/>
                <a:gd name="T54" fmla="*/ 0 w 9"/>
                <a:gd name="T55" fmla="*/ 5 h 31"/>
                <a:gd name="T56" fmla="*/ 2 w 9"/>
                <a:gd name="T57" fmla="*/ 5 h 31"/>
                <a:gd name="T58" fmla="*/ 2 w 9"/>
                <a:gd name="T59" fmla="*/ 5 h 31"/>
                <a:gd name="T60" fmla="*/ 3 w 9"/>
                <a:gd name="T61" fmla="*/ 5 h 31"/>
                <a:gd name="T62" fmla="*/ 3 w 9"/>
                <a:gd name="T63" fmla="*/ 5 h 31"/>
                <a:gd name="T64" fmla="*/ 3 w 9"/>
                <a:gd name="T65" fmla="*/ 5 h 31"/>
                <a:gd name="T66" fmla="*/ 70 w 9"/>
                <a:gd name="T67" fmla="*/ 5 h 31"/>
                <a:gd name="T68" fmla="*/ 70 w 9"/>
                <a:gd name="T69" fmla="*/ 5 h 31"/>
                <a:gd name="T70" fmla="*/ 70 w 9"/>
                <a:gd name="T71" fmla="*/ 3 h 31"/>
                <a:gd name="T72" fmla="*/ 70 w 9"/>
                <a:gd name="T73" fmla="*/ 1 h 31"/>
                <a:gd name="T74" fmla="*/ 70 w 9"/>
                <a:gd name="T75" fmla="*/ 1 h 31"/>
                <a:gd name="T76" fmla="*/ 78 w 9"/>
                <a:gd name="T77" fmla="*/ 0 h 31"/>
                <a:gd name="T78" fmla="*/ 78 w 9"/>
                <a:gd name="T79" fmla="*/ 0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9"/>
                <a:gd name="T121" fmla="*/ 0 h 31"/>
                <a:gd name="T122" fmla="*/ 9 w 9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9" h="31">
                  <a:moveTo>
                    <a:pt x="6" y="0"/>
                  </a:moveTo>
                  <a:lnTo>
                    <a:pt x="7" y="0"/>
                  </a:lnTo>
                  <a:lnTo>
                    <a:pt x="9" y="0"/>
                  </a:lnTo>
                  <a:lnTo>
                    <a:pt x="9" y="1"/>
                  </a:lnTo>
                  <a:lnTo>
                    <a:pt x="9" y="3"/>
                  </a:lnTo>
                  <a:lnTo>
                    <a:pt x="9" y="4"/>
                  </a:lnTo>
                  <a:lnTo>
                    <a:pt x="9" y="6"/>
                  </a:lnTo>
                  <a:lnTo>
                    <a:pt x="9" y="7"/>
                  </a:lnTo>
                  <a:lnTo>
                    <a:pt x="9" y="8"/>
                  </a:lnTo>
                  <a:lnTo>
                    <a:pt x="9" y="10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4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20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7" y="24"/>
                  </a:lnTo>
                  <a:lnTo>
                    <a:pt x="7" y="25"/>
                  </a:lnTo>
                  <a:lnTo>
                    <a:pt x="7" y="27"/>
                  </a:lnTo>
                  <a:lnTo>
                    <a:pt x="7" y="28"/>
                  </a:lnTo>
                  <a:lnTo>
                    <a:pt x="7" y="30"/>
                  </a:lnTo>
                  <a:lnTo>
                    <a:pt x="6" y="30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3" y="31"/>
                  </a:lnTo>
                  <a:lnTo>
                    <a:pt x="2" y="30"/>
                  </a:lnTo>
                  <a:lnTo>
                    <a:pt x="2" y="28"/>
                  </a:lnTo>
                  <a:lnTo>
                    <a:pt x="2" y="27"/>
                  </a:lnTo>
                  <a:lnTo>
                    <a:pt x="0" y="27"/>
                  </a:lnTo>
                  <a:lnTo>
                    <a:pt x="2" y="25"/>
                  </a:lnTo>
                  <a:lnTo>
                    <a:pt x="2" y="24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2" y="18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3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2" name="Freeform 67"/>
            <p:cNvSpPr>
              <a:spLocks/>
            </p:cNvSpPr>
            <p:nvPr/>
          </p:nvSpPr>
          <p:spPr bwMode="auto">
            <a:xfrm>
              <a:off x="3951" y="602"/>
              <a:ext cx="8" cy="30"/>
            </a:xfrm>
            <a:custGeom>
              <a:avLst/>
              <a:gdLst>
                <a:gd name="T0" fmla="*/ 5 w 8"/>
                <a:gd name="T1" fmla="*/ 0 h 31"/>
                <a:gd name="T2" fmla="*/ 5 w 8"/>
                <a:gd name="T3" fmla="*/ 0 h 31"/>
                <a:gd name="T4" fmla="*/ 7 w 8"/>
                <a:gd name="T5" fmla="*/ 0 h 31"/>
                <a:gd name="T6" fmla="*/ 7 w 8"/>
                <a:gd name="T7" fmla="*/ 0 h 31"/>
                <a:gd name="T8" fmla="*/ 7 w 8"/>
                <a:gd name="T9" fmla="*/ 0 h 31"/>
                <a:gd name="T10" fmla="*/ 7 w 8"/>
                <a:gd name="T11" fmla="*/ 1 h 31"/>
                <a:gd name="T12" fmla="*/ 7 w 8"/>
                <a:gd name="T13" fmla="*/ 3 h 31"/>
                <a:gd name="T14" fmla="*/ 7 w 8"/>
                <a:gd name="T15" fmla="*/ 4 h 31"/>
                <a:gd name="T16" fmla="*/ 8 w 8"/>
                <a:gd name="T17" fmla="*/ 6 h 31"/>
                <a:gd name="T18" fmla="*/ 8 w 8"/>
                <a:gd name="T19" fmla="*/ 8 h 31"/>
                <a:gd name="T20" fmla="*/ 8 w 8"/>
                <a:gd name="T21" fmla="*/ 11 h 31"/>
                <a:gd name="T22" fmla="*/ 8 w 8"/>
                <a:gd name="T23" fmla="*/ 14 h 31"/>
                <a:gd name="T24" fmla="*/ 8 w 8"/>
                <a:gd name="T25" fmla="*/ 15 h 31"/>
                <a:gd name="T26" fmla="*/ 7 w 8"/>
                <a:gd name="T27" fmla="*/ 15 h 31"/>
                <a:gd name="T28" fmla="*/ 7 w 8"/>
                <a:gd name="T29" fmla="*/ 15 h 31"/>
                <a:gd name="T30" fmla="*/ 7 w 8"/>
                <a:gd name="T31" fmla="*/ 15 h 31"/>
                <a:gd name="T32" fmla="*/ 5 w 8"/>
                <a:gd name="T33" fmla="*/ 15 h 31"/>
                <a:gd name="T34" fmla="*/ 5 w 8"/>
                <a:gd name="T35" fmla="*/ 15 h 31"/>
                <a:gd name="T36" fmla="*/ 4 w 8"/>
                <a:gd name="T37" fmla="*/ 15 h 31"/>
                <a:gd name="T38" fmla="*/ 4 w 8"/>
                <a:gd name="T39" fmla="*/ 15 h 31"/>
                <a:gd name="T40" fmla="*/ 3 w 8"/>
                <a:gd name="T41" fmla="*/ 15 h 31"/>
                <a:gd name="T42" fmla="*/ 3 w 8"/>
                <a:gd name="T43" fmla="*/ 15 h 31"/>
                <a:gd name="T44" fmla="*/ 3 w 8"/>
                <a:gd name="T45" fmla="*/ 15 h 31"/>
                <a:gd name="T46" fmla="*/ 1 w 8"/>
                <a:gd name="T47" fmla="*/ 15 h 31"/>
                <a:gd name="T48" fmla="*/ 1 w 8"/>
                <a:gd name="T49" fmla="*/ 15 h 31"/>
                <a:gd name="T50" fmla="*/ 0 w 8"/>
                <a:gd name="T51" fmla="*/ 15 h 31"/>
                <a:gd name="T52" fmla="*/ 0 w 8"/>
                <a:gd name="T53" fmla="*/ 15 h 31"/>
                <a:gd name="T54" fmla="*/ 0 w 8"/>
                <a:gd name="T55" fmla="*/ 15 h 31"/>
                <a:gd name="T56" fmla="*/ 0 w 8"/>
                <a:gd name="T57" fmla="*/ 15 h 31"/>
                <a:gd name="T58" fmla="*/ 1 w 8"/>
                <a:gd name="T59" fmla="*/ 15 h 31"/>
                <a:gd name="T60" fmla="*/ 1 w 8"/>
                <a:gd name="T61" fmla="*/ 15 h 31"/>
                <a:gd name="T62" fmla="*/ 1 w 8"/>
                <a:gd name="T63" fmla="*/ 14 h 31"/>
                <a:gd name="T64" fmla="*/ 3 w 8"/>
                <a:gd name="T65" fmla="*/ 11 h 31"/>
                <a:gd name="T66" fmla="*/ 3 w 8"/>
                <a:gd name="T67" fmla="*/ 8 h 31"/>
                <a:gd name="T68" fmla="*/ 3 w 8"/>
                <a:gd name="T69" fmla="*/ 6 h 31"/>
                <a:gd name="T70" fmla="*/ 3 w 8"/>
                <a:gd name="T71" fmla="*/ 3 h 31"/>
                <a:gd name="T72" fmla="*/ 4 w 8"/>
                <a:gd name="T73" fmla="*/ 1 h 31"/>
                <a:gd name="T74" fmla="*/ 4 w 8"/>
                <a:gd name="T75" fmla="*/ 1 h 31"/>
                <a:gd name="T76" fmla="*/ 4 w 8"/>
                <a:gd name="T77" fmla="*/ 0 h 31"/>
                <a:gd name="T78" fmla="*/ 5 w 8"/>
                <a:gd name="T79" fmla="*/ 0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"/>
                <a:gd name="T121" fmla="*/ 0 h 31"/>
                <a:gd name="T122" fmla="*/ 8 w 8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" h="31">
                  <a:moveTo>
                    <a:pt x="5" y="0"/>
                  </a:moveTo>
                  <a:lnTo>
                    <a:pt x="5" y="0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3"/>
                  </a:lnTo>
                  <a:lnTo>
                    <a:pt x="7" y="4"/>
                  </a:lnTo>
                  <a:lnTo>
                    <a:pt x="8" y="6"/>
                  </a:lnTo>
                  <a:lnTo>
                    <a:pt x="8" y="7"/>
                  </a:lnTo>
                  <a:lnTo>
                    <a:pt x="8" y="8"/>
                  </a:lnTo>
                  <a:lnTo>
                    <a:pt x="8" y="10"/>
                  </a:lnTo>
                  <a:lnTo>
                    <a:pt x="8" y="11"/>
                  </a:lnTo>
                  <a:lnTo>
                    <a:pt x="8" y="13"/>
                  </a:lnTo>
                  <a:lnTo>
                    <a:pt x="8" y="14"/>
                  </a:lnTo>
                  <a:lnTo>
                    <a:pt x="8" y="17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1"/>
                  </a:lnTo>
                  <a:lnTo>
                    <a:pt x="7" y="23"/>
                  </a:lnTo>
                  <a:lnTo>
                    <a:pt x="7" y="24"/>
                  </a:lnTo>
                  <a:lnTo>
                    <a:pt x="7" y="25"/>
                  </a:lnTo>
                  <a:lnTo>
                    <a:pt x="7" y="27"/>
                  </a:lnTo>
                  <a:lnTo>
                    <a:pt x="5" y="27"/>
                  </a:lnTo>
                  <a:lnTo>
                    <a:pt x="5" y="28"/>
                  </a:lnTo>
                  <a:lnTo>
                    <a:pt x="5" y="30"/>
                  </a:lnTo>
                  <a:lnTo>
                    <a:pt x="4" y="30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0" y="30"/>
                  </a:lnTo>
                  <a:lnTo>
                    <a:pt x="0" y="28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1" y="20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6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3" name="Freeform 68"/>
            <p:cNvSpPr>
              <a:spLocks/>
            </p:cNvSpPr>
            <p:nvPr/>
          </p:nvSpPr>
          <p:spPr bwMode="auto">
            <a:xfrm>
              <a:off x="3951" y="634"/>
              <a:ext cx="8" cy="30"/>
            </a:xfrm>
            <a:custGeom>
              <a:avLst/>
              <a:gdLst>
                <a:gd name="T0" fmla="*/ 125 w 7"/>
                <a:gd name="T1" fmla="*/ 0 h 31"/>
                <a:gd name="T2" fmla="*/ 125 w 7"/>
                <a:gd name="T3" fmla="*/ 0 h 31"/>
                <a:gd name="T4" fmla="*/ 125 w 7"/>
                <a:gd name="T5" fmla="*/ 0 h 31"/>
                <a:gd name="T6" fmla="*/ 163 w 7"/>
                <a:gd name="T7" fmla="*/ 0 h 31"/>
                <a:gd name="T8" fmla="*/ 163 w 7"/>
                <a:gd name="T9" fmla="*/ 0 h 31"/>
                <a:gd name="T10" fmla="*/ 163 w 7"/>
                <a:gd name="T11" fmla="*/ 2 h 31"/>
                <a:gd name="T12" fmla="*/ 163 w 7"/>
                <a:gd name="T13" fmla="*/ 3 h 31"/>
                <a:gd name="T14" fmla="*/ 163 w 7"/>
                <a:gd name="T15" fmla="*/ 3 h 31"/>
                <a:gd name="T16" fmla="*/ 163 w 7"/>
                <a:gd name="T17" fmla="*/ 6 h 31"/>
                <a:gd name="T18" fmla="*/ 163 w 7"/>
                <a:gd name="T19" fmla="*/ 9 h 31"/>
                <a:gd name="T20" fmla="*/ 163 w 7"/>
                <a:gd name="T21" fmla="*/ 12 h 31"/>
                <a:gd name="T22" fmla="*/ 163 w 7"/>
                <a:gd name="T23" fmla="*/ 13 h 31"/>
                <a:gd name="T24" fmla="*/ 163 w 7"/>
                <a:gd name="T25" fmla="*/ 15 h 31"/>
                <a:gd name="T26" fmla="*/ 163 w 7"/>
                <a:gd name="T27" fmla="*/ 15 h 31"/>
                <a:gd name="T28" fmla="*/ 163 w 7"/>
                <a:gd name="T29" fmla="*/ 15 h 31"/>
                <a:gd name="T30" fmla="*/ 125 w 7"/>
                <a:gd name="T31" fmla="*/ 15 h 31"/>
                <a:gd name="T32" fmla="*/ 125 w 7"/>
                <a:gd name="T33" fmla="*/ 15 h 31"/>
                <a:gd name="T34" fmla="*/ 125 w 7"/>
                <a:gd name="T35" fmla="*/ 15 h 31"/>
                <a:gd name="T36" fmla="*/ 109 w 7"/>
                <a:gd name="T37" fmla="*/ 15 h 31"/>
                <a:gd name="T38" fmla="*/ 109 w 7"/>
                <a:gd name="T39" fmla="*/ 15 h 31"/>
                <a:gd name="T40" fmla="*/ 3 w 7"/>
                <a:gd name="T41" fmla="*/ 15 h 31"/>
                <a:gd name="T42" fmla="*/ 3 w 7"/>
                <a:gd name="T43" fmla="*/ 15 h 31"/>
                <a:gd name="T44" fmla="*/ 3 w 7"/>
                <a:gd name="T45" fmla="*/ 15 h 31"/>
                <a:gd name="T46" fmla="*/ 1 w 7"/>
                <a:gd name="T47" fmla="*/ 15 h 31"/>
                <a:gd name="T48" fmla="*/ 1 w 7"/>
                <a:gd name="T49" fmla="*/ 15 h 31"/>
                <a:gd name="T50" fmla="*/ 0 w 7"/>
                <a:gd name="T51" fmla="*/ 15 h 31"/>
                <a:gd name="T52" fmla="*/ 0 w 7"/>
                <a:gd name="T53" fmla="*/ 15 h 31"/>
                <a:gd name="T54" fmla="*/ 0 w 7"/>
                <a:gd name="T55" fmla="*/ 15 h 31"/>
                <a:gd name="T56" fmla="*/ 0 w 7"/>
                <a:gd name="T57" fmla="*/ 15 h 31"/>
                <a:gd name="T58" fmla="*/ 0 w 7"/>
                <a:gd name="T59" fmla="*/ 15 h 31"/>
                <a:gd name="T60" fmla="*/ 1 w 7"/>
                <a:gd name="T61" fmla="*/ 15 h 31"/>
                <a:gd name="T62" fmla="*/ 1 w 7"/>
                <a:gd name="T63" fmla="*/ 14 h 31"/>
                <a:gd name="T64" fmla="*/ 1 w 7"/>
                <a:gd name="T65" fmla="*/ 12 h 31"/>
                <a:gd name="T66" fmla="*/ 3 w 7"/>
                <a:gd name="T67" fmla="*/ 9 h 31"/>
                <a:gd name="T68" fmla="*/ 3 w 7"/>
                <a:gd name="T69" fmla="*/ 6 h 31"/>
                <a:gd name="T70" fmla="*/ 3 w 7"/>
                <a:gd name="T71" fmla="*/ 3 h 31"/>
                <a:gd name="T72" fmla="*/ 3 w 7"/>
                <a:gd name="T73" fmla="*/ 2 h 31"/>
                <a:gd name="T74" fmla="*/ 109 w 7"/>
                <a:gd name="T75" fmla="*/ 0 h 31"/>
                <a:gd name="T76" fmla="*/ 109 w 7"/>
                <a:gd name="T77" fmla="*/ 0 h 31"/>
                <a:gd name="T78" fmla="*/ 109 w 7"/>
                <a:gd name="T79" fmla="*/ 0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"/>
                <a:gd name="T121" fmla="*/ 0 h 31"/>
                <a:gd name="T122" fmla="*/ 7 w 7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" h="31">
                  <a:moveTo>
                    <a:pt x="5" y="0"/>
                  </a:moveTo>
                  <a:lnTo>
                    <a:pt x="5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7" y="3"/>
                  </a:lnTo>
                  <a:lnTo>
                    <a:pt x="7" y="5"/>
                  </a:lnTo>
                  <a:lnTo>
                    <a:pt x="7" y="6"/>
                  </a:lnTo>
                  <a:lnTo>
                    <a:pt x="7" y="7"/>
                  </a:lnTo>
                  <a:lnTo>
                    <a:pt x="7" y="9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7" y="16"/>
                  </a:lnTo>
                  <a:lnTo>
                    <a:pt x="7" y="17"/>
                  </a:lnTo>
                  <a:lnTo>
                    <a:pt x="7" y="19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3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7"/>
                  </a:lnTo>
                  <a:lnTo>
                    <a:pt x="5" y="29"/>
                  </a:lnTo>
                  <a:lnTo>
                    <a:pt x="5" y="30"/>
                  </a:lnTo>
                  <a:lnTo>
                    <a:pt x="4" y="30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0" y="30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6"/>
                  </a:lnTo>
                  <a:lnTo>
                    <a:pt x="3" y="5"/>
                  </a:lnTo>
                  <a:lnTo>
                    <a:pt x="3" y="3"/>
                  </a:lnTo>
                  <a:lnTo>
                    <a:pt x="3" y="2"/>
                  </a:lnTo>
                  <a:lnTo>
                    <a:pt x="4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4" name="Freeform 69"/>
            <p:cNvSpPr>
              <a:spLocks/>
            </p:cNvSpPr>
            <p:nvPr/>
          </p:nvSpPr>
          <p:spPr bwMode="auto">
            <a:xfrm>
              <a:off x="3951" y="664"/>
              <a:ext cx="8" cy="28"/>
            </a:xfrm>
            <a:custGeom>
              <a:avLst/>
              <a:gdLst>
                <a:gd name="T0" fmla="*/ 125 w 7"/>
                <a:gd name="T1" fmla="*/ 0 h 31"/>
                <a:gd name="T2" fmla="*/ 125 w 7"/>
                <a:gd name="T3" fmla="*/ 0 h 31"/>
                <a:gd name="T4" fmla="*/ 125 w 7"/>
                <a:gd name="T5" fmla="*/ 0 h 31"/>
                <a:gd name="T6" fmla="*/ 163 w 7"/>
                <a:gd name="T7" fmla="*/ 0 h 31"/>
                <a:gd name="T8" fmla="*/ 163 w 7"/>
                <a:gd name="T9" fmla="*/ 0 h 31"/>
                <a:gd name="T10" fmla="*/ 163 w 7"/>
                <a:gd name="T11" fmla="*/ 2 h 31"/>
                <a:gd name="T12" fmla="*/ 163 w 7"/>
                <a:gd name="T13" fmla="*/ 2 h 31"/>
                <a:gd name="T14" fmla="*/ 163 w 7"/>
                <a:gd name="T15" fmla="*/ 3 h 31"/>
                <a:gd name="T16" fmla="*/ 163 w 7"/>
                <a:gd name="T17" fmla="*/ 5 h 31"/>
                <a:gd name="T18" fmla="*/ 163 w 7"/>
                <a:gd name="T19" fmla="*/ 5 h 31"/>
                <a:gd name="T20" fmla="*/ 163 w 7"/>
                <a:gd name="T21" fmla="*/ 5 h 31"/>
                <a:gd name="T22" fmla="*/ 163 w 7"/>
                <a:gd name="T23" fmla="*/ 5 h 31"/>
                <a:gd name="T24" fmla="*/ 163 w 7"/>
                <a:gd name="T25" fmla="*/ 5 h 31"/>
                <a:gd name="T26" fmla="*/ 163 w 7"/>
                <a:gd name="T27" fmla="*/ 5 h 31"/>
                <a:gd name="T28" fmla="*/ 163 w 7"/>
                <a:gd name="T29" fmla="*/ 5 h 31"/>
                <a:gd name="T30" fmla="*/ 125 w 7"/>
                <a:gd name="T31" fmla="*/ 5 h 31"/>
                <a:gd name="T32" fmla="*/ 125 w 7"/>
                <a:gd name="T33" fmla="*/ 5 h 31"/>
                <a:gd name="T34" fmla="*/ 125 w 7"/>
                <a:gd name="T35" fmla="*/ 5 h 31"/>
                <a:gd name="T36" fmla="*/ 109 w 7"/>
                <a:gd name="T37" fmla="*/ 5 h 31"/>
                <a:gd name="T38" fmla="*/ 109 w 7"/>
                <a:gd name="T39" fmla="*/ 5 h 31"/>
                <a:gd name="T40" fmla="*/ 3 w 7"/>
                <a:gd name="T41" fmla="*/ 5 h 31"/>
                <a:gd name="T42" fmla="*/ 3 w 7"/>
                <a:gd name="T43" fmla="*/ 5 h 31"/>
                <a:gd name="T44" fmla="*/ 3 w 7"/>
                <a:gd name="T45" fmla="*/ 5 h 31"/>
                <a:gd name="T46" fmla="*/ 1 w 7"/>
                <a:gd name="T47" fmla="*/ 5 h 31"/>
                <a:gd name="T48" fmla="*/ 1 w 7"/>
                <a:gd name="T49" fmla="*/ 5 h 31"/>
                <a:gd name="T50" fmla="*/ 0 w 7"/>
                <a:gd name="T51" fmla="*/ 5 h 31"/>
                <a:gd name="T52" fmla="*/ 0 w 7"/>
                <a:gd name="T53" fmla="*/ 5 h 31"/>
                <a:gd name="T54" fmla="*/ 0 w 7"/>
                <a:gd name="T55" fmla="*/ 5 h 31"/>
                <a:gd name="T56" fmla="*/ 0 w 7"/>
                <a:gd name="T57" fmla="*/ 5 h 31"/>
                <a:gd name="T58" fmla="*/ 0 w 7"/>
                <a:gd name="T59" fmla="*/ 5 h 31"/>
                <a:gd name="T60" fmla="*/ 1 w 7"/>
                <a:gd name="T61" fmla="*/ 5 h 31"/>
                <a:gd name="T62" fmla="*/ 1 w 7"/>
                <a:gd name="T63" fmla="*/ 5 h 31"/>
                <a:gd name="T64" fmla="*/ 1 w 7"/>
                <a:gd name="T65" fmla="*/ 5 h 31"/>
                <a:gd name="T66" fmla="*/ 3 w 7"/>
                <a:gd name="T67" fmla="*/ 5 h 31"/>
                <a:gd name="T68" fmla="*/ 3 w 7"/>
                <a:gd name="T69" fmla="*/ 5 h 31"/>
                <a:gd name="T70" fmla="*/ 3 w 7"/>
                <a:gd name="T71" fmla="*/ 3 h 31"/>
                <a:gd name="T72" fmla="*/ 3 w 7"/>
                <a:gd name="T73" fmla="*/ 2 h 31"/>
                <a:gd name="T74" fmla="*/ 109 w 7"/>
                <a:gd name="T75" fmla="*/ 0 h 31"/>
                <a:gd name="T76" fmla="*/ 109 w 7"/>
                <a:gd name="T77" fmla="*/ 0 h 31"/>
                <a:gd name="T78" fmla="*/ 109 w 7"/>
                <a:gd name="T79" fmla="*/ 0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"/>
                <a:gd name="T121" fmla="*/ 0 h 31"/>
                <a:gd name="T122" fmla="*/ 7 w 7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" h="31">
                  <a:moveTo>
                    <a:pt x="5" y="0"/>
                  </a:moveTo>
                  <a:lnTo>
                    <a:pt x="5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7" y="3"/>
                  </a:lnTo>
                  <a:lnTo>
                    <a:pt x="7" y="5"/>
                  </a:lnTo>
                  <a:lnTo>
                    <a:pt x="7" y="6"/>
                  </a:lnTo>
                  <a:lnTo>
                    <a:pt x="7" y="7"/>
                  </a:lnTo>
                  <a:lnTo>
                    <a:pt x="7" y="9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7" y="16"/>
                  </a:lnTo>
                  <a:lnTo>
                    <a:pt x="7" y="17"/>
                  </a:lnTo>
                  <a:lnTo>
                    <a:pt x="7" y="19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3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7"/>
                  </a:lnTo>
                  <a:lnTo>
                    <a:pt x="5" y="29"/>
                  </a:lnTo>
                  <a:lnTo>
                    <a:pt x="5" y="30"/>
                  </a:lnTo>
                  <a:lnTo>
                    <a:pt x="4" y="30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0" y="30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6"/>
                  </a:lnTo>
                  <a:lnTo>
                    <a:pt x="3" y="5"/>
                  </a:lnTo>
                  <a:lnTo>
                    <a:pt x="3" y="3"/>
                  </a:lnTo>
                  <a:lnTo>
                    <a:pt x="3" y="2"/>
                  </a:lnTo>
                  <a:lnTo>
                    <a:pt x="4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5" name="Freeform 70"/>
            <p:cNvSpPr>
              <a:spLocks/>
            </p:cNvSpPr>
            <p:nvPr/>
          </p:nvSpPr>
          <p:spPr bwMode="auto">
            <a:xfrm>
              <a:off x="3951" y="694"/>
              <a:ext cx="8" cy="30"/>
            </a:xfrm>
            <a:custGeom>
              <a:avLst/>
              <a:gdLst>
                <a:gd name="T0" fmla="*/ 125 w 7"/>
                <a:gd name="T1" fmla="*/ 0 h 31"/>
                <a:gd name="T2" fmla="*/ 125 w 7"/>
                <a:gd name="T3" fmla="*/ 0 h 31"/>
                <a:gd name="T4" fmla="*/ 125 w 7"/>
                <a:gd name="T5" fmla="*/ 0 h 31"/>
                <a:gd name="T6" fmla="*/ 163 w 7"/>
                <a:gd name="T7" fmla="*/ 0 h 31"/>
                <a:gd name="T8" fmla="*/ 163 w 7"/>
                <a:gd name="T9" fmla="*/ 0 h 31"/>
                <a:gd name="T10" fmla="*/ 163 w 7"/>
                <a:gd name="T11" fmla="*/ 1 h 31"/>
                <a:gd name="T12" fmla="*/ 163 w 7"/>
                <a:gd name="T13" fmla="*/ 3 h 31"/>
                <a:gd name="T14" fmla="*/ 163 w 7"/>
                <a:gd name="T15" fmla="*/ 3 h 31"/>
                <a:gd name="T16" fmla="*/ 163 w 7"/>
                <a:gd name="T17" fmla="*/ 5 h 31"/>
                <a:gd name="T18" fmla="*/ 163 w 7"/>
                <a:gd name="T19" fmla="*/ 8 h 31"/>
                <a:gd name="T20" fmla="*/ 163 w 7"/>
                <a:gd name="T21" fmla="*/ 11 h 31"/>
                <a:gd name="T22" fmla="*/ 163 w 7"/>
                <a:gd name="T23" fmla="*/ 12 h 31"/>
                <a:gd name="T24" fmla="*/ 163 w 7"/>
                <a:gd name="T25" fmla="*/ 15 h 31"/>
                <a:gd name="T26" fmla="*/ 163 w 7"/>
                <a:gd name="T27" fmla="*/ 15 h 31"/>
                <a:gd name="T28" fmla="*/ 163 w 7"/>
                <a:gd name="T29" fmla="*/ 15 h 31"/>
                <a:gd name="T30" fmla="*/ 125 w 7"/>
                <a:gd name="T31" fmla="*/ 15 h 31"/>
                <a:gd name="T32" fmla="*/ 125 w 7"/>
                <a:gd name="T33" fmla="*/ 15 h 31"/>
                <a:gd name="T34" fmla="*/ 125 w 7"/>
                <a:gd name="T35" fmla="*/ 15 h 31"/>
                <a:gd name="T36" fmla="*/ 109 w 7"/>
                <a:gd name="T37" fmla="*/ 15 h 31"/>
                <a:gd name="T38" fmla="*/ 109 w 7"/>
                <a:gd name="T39" fmla="*/ 15 h 31"/>
                <a:gd name="T40" fmla="*/ 3 w 7"/>
                <a:gd name="T41" fmla="*/ 15 h 31"/>
                <a:gd name="T42" fmla="*/ 3 w 7"/>
                <a:gd name="T43" fmla="*/ 15 h 31"/>
                <a:gd name="T44" fmla="*/ 3 w 7"/>
                <a:gd name="T45" fmla="*/ 15 h 31"/>
                <a:gd name="T46" fmla="*/ 1 w 7"/>
                <a:gd name="T47" fmla="*/ 15 h 31"/>
                <a:gd name="T48" fmla="*/ 1 w 7"/>
                <a:gd name="T49" fmla="*/ 15 h 31"/>
                <a:gd name="T50" fmla="*/ 0 w 7"/>
                <a:gd name="T51" fmla="*/ 15 h 31"/>
                <a:gd name="T52" fmla="*/ 0 w 7"/>
                <a:gd name="T53" fmla="*/ 15 h 31"/>
                <a:gd name="T54" fmla="*/ 0 w 7"/>
                <a:gd name="T55" fmla="*/ 15 h 31"/>
                <a:gd name="T56" fmla="*/ 0 w 7"/>
                <a:gd name="T57" fmla="*/ 15 h 31"/>
                <a:gd name="T58" fmla="*/ 0 w 7"/>
                <a:gd name="T59" fmla="*/ 15 h 31"/>
                <a:gd name="T60" fmla="*/ 1 w 7"/>
                <a:gd name="T61" fmla="*/ 15 h 31"/>
                <a:gd name="T62" fmla="*/ 1 w 7"/>
                <a:gd name="T63" fmla="*/ 14 h 31"/>
                <a:gd name="T64" fmla="*/ 1 w 7"/>
                <a:gd name="T65" fmla="*/ 11 h 31"/>
                <a:gd name="T66" fmla="*/ 3 w 7"/>
                <a:gd name="T67" fmla="*/ 8 h 31"/>
                <a:gd name="T68" fmla="*/ 3 w 7"/>
                <a:gd name="T69" fmla="*/ 5 h 31"/>
                <a:gd name="T70" fmla="*/ 3 w 7"/>
                <a:gd name="T71" fmla="*/ 3 h 31"/>
                <a:gd name="T72" fmla="*/ 3 w 7"/>
                <a:gd name="T73" fmla="*/ 1 h 31"/>
                <a:gd name="T74" fmla="*/ 109 w 7"/>
                <a:gd name="T75" fmla="*/ 0 h 31"/>
                <a:gd name="T76" fmla="*/ 109 w 7"/>
                <a:gd name="T77" fmla="*/ 0 h 31"/>
                <a:gd name="T78" fmla="*/ 109 w 7"/>
                <a:gd name="T79" fmla="*/ 0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"/>
                <a:gd name="T121" fmla="*/ 0 h 31"/>
                <a:gd name="T122" fmla="*/ 7 w 7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" h="31">
                  <a:moveTo>
                    <a:pt x="5" y="0"/>
                  </a:moveTo>
                  <a:lnTo>
                    <a:pt x="5" y="0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3"/>
                  </a:lnTo>
                  <a:lnTo>
                    <a:pt x="7" y="4"/>
                  </a:lnTo>
                  <a:lnTo>
                    <a:pt x="7" y="5"/>
                  </a:lnTo>
                  <a:lnTo>
                    <a:pt x="7" y="7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7" y="14"/>
                  </a:lnTo>
                  <a:lnTo>
                    <a:pt x="7" y="15"/>
                  </a:lnTo>
                  <a:lnTo>
                    <a:pt x="7" y="17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4"/>
                  </a:lnTo>
                  <a:lnTo>
                    <a:pt x="5" y="25"/>
                  </a:lnTo>
                  <a:lnTo>
                    <a:pt x="5" y="27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3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1"/>
                  </a:lnTo>
                  <a:lnTo>
                    <a:pt x="4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6" name="Freeform 71"/>
            <p:cNvSpPr>
              <a:spLocks/>
            </p:cNvSpPr>
            <p:nvPr/>
          </p:nvSpPr>
          <p:spPr bwMode="auto">
            <a:xfrm>
              <a:off x="3951" y="724"/>
              <a:ext cx="8" cy="30"/>
            </a:xfrm>
            <a:custGeom>
              <a:avLst/>
              <a:gdLst>
                <a:gd name="T0" fmla="*/ 125 w 7"/>
                <a:gd name="T1" fmla="*/ 0 h 31"/>
                <a:gd name="T2" fmla="*/ 125 w 7"/>
                <a:gd name="T3" fmla="*/ 0 h 31"/>
                <a:gd name="T4" fmla="*/ 125 w 7"/>
                <a:gd name="T5" fmla="*/ 0 h 31"/>
                <a:gd name="T6" fmla="*/ 163 w 7"/>
                <a:gd name="T7" fmla="*/ 0 h 31"/>
                <a:gd name="T8" fmla="*/ 163 w 7"/>
                <a:gd name="T9" fmla="*/ 1 h 31"/>
                <a:gd name="T10" fmla="*/ 163 w 7"/>
                <a:gd name="T11" fmla="*/ 1 h 31"/>
                <a:gd name="T12" fmla="*/ 163 w 7"/>
                <a:gd name="T13" fmla="*/ 3 h 31"/>
                <a:gd name="T14" fmla="*/ 163 w 7"/>
                <a:gd name="T15" fmla="*/ 4 h 31"/>
                <a:gd name="T16" fmla="*/ 163 w 7"/>
                <a:gd name="T17" fmla="*/ 7 h 31"/>
                <a:gd name="T18" fmla="*/ 163 w 7"/>
                <a:gd name="T19" fmla="*/ 10 h 31"/>
                <a:gd name="T20" fmla="*/ 163 w 7"/>
                <a:gd name="T21" fmla="*/ 11 h 31"/>
                <a:gd name="T22" fmla="*/ 163 w 7"/>
                <a:gd name="T23" fmla="*/ 14 h 31"/>
                <a:gd name="T24" fmla="*/ 163 w 7"/>
                <a:gd name="T25" fmla="*/ 15 h 31"/>
                <a:gd name="T26" fmla="*/ 163 w 7"/>
                <a:gd name="T27" fmla="*/ 15 h 31"/>
                <a:gd name="T28" fmla="*/ 163 w 7"/>
                <a:gd name="T29" fmla="*/ 15 h 31"/>
                <a:gd name="T30" fmla="*/ 125 w 7"/>
                <a:gd name="T31" fmla="*/ 15 h 31"/>
                <a:gd name="T32" fmla="*/ 125 w 7"/>
                <a:gd name="T33" fmla="*/ 15 h 31"/>
                <a:gd name="T34" fmla="*/ 125 w 7"/>
                <a:gd name="T35" fmla="*/ 15 h 31"/>
                <a:gd name="T36" fmla="*/ 109 w 7"/>
                <a:gd name="T37" fmla="*/ 15 h 31"/>
                <a:gd name="T38" fmla="*/ 109 w 7"/>
                <a:gd name="T39" fmla="*/ 15 h 31"/>
                <a:gd name="T40" fmla="*/ 3 w 7"/>
                <a:gd name="T41" fmla="*/ 15 h 31"/>
                <a:gd name="T42" fmla="*/ 3 w 7"/>
                <a:gd name="T43" fmla="*/ 15 h 31"/>
                <a:gd name="T44" fmla="*/ 3 w 7"/>
                <a:gd name="T45" fmla="*/ 15 h 31"/>
                <a:gd name="T46" fmla="*/ 1 w 7"/>
                <a:gd name="T47" fmla="*/ 15 h 31"/>
                <a:gd name="T48" fmla="*/ 1 w 7"/>
                <a:gd name="T49" fmla="*/ 15 h 31"/>
                <a:gd name="T50" fmla="*/ 0 w 7"/>
                <a:gd name="T51" fmla="*/ 15 h 31"/>
                <a:gd name="T52" fmla="*/ 0 w 7"/>
                <a:gd name="T53" fmla="*/ 15 h 31"/>
                <a:gd name="T54" fmla="*/ 0 w 7"/>
                <a:gd name="T55" fmla="*/ 15 h 31"/>
                <a:gd name="T56" fmla="*/ 0 w 7"/>
                <a:gd name="T57" fmla="*/ 15 h 31"/>
                <a:gd name="T58" fmla="*/ 0 w 7"/>
                <a:gd name="T59" fmla="*/ 15 h 31"/>
                <a:gd name="T60" fmla="*/ 1 w 7"/>
                <a:gd name="T61" fmla="*/ 15 h 31"/>
                <a:gd name="T62" fmla="*/ 1 w 7"/>
                <a:gd name="T63" fmla="*/ 15 h 31"/>
                <a:gd name="T64" fmla="*/ 1 w 7"/>
                <a:gd name="T65" fmla="*/ 12 h 31"/>
                <a:gd name="T66" fmla="*/ 3 w 7"/>
                <a:gd name="T67" fmla="*/ 10 h 31"/>
                <a:gd name="T68" fmla="*/ 3 w 7"/>
                <a:gd name="T69" fmla="*/ 7 h 31"/>
                <a:gd name="T70" fmla="*/ 3 w 7"/>
                <a:gd name="T71" fmla="*/ 4 h 31"/>
                <a:gd name="T72" fmla="*/ 3 w 7"/>
                <a:gd name="T73" fmla="*/ 3 h 31"/>
                <a:gd name="T74" fmla="*/ 109 w 7"/>
                <a:gd name="T75" fmla="*/ 1 h 31"/>
                <a:gd name="T76" fmla="*/ 109 w 7"/>
                <a:gd name="T77" fmla="*/ 1 h 31"/>
                <a:gd name="T78" fmla="*/ 109 w 7"/>
                <a:gd name="T79" fmla="*/ 0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"/>
                <a:gd name="T121" fmla="*/ 0 h 31"/>
                <a:gd name="T122" fmla="*/ 7 w 7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" h="31">
                  <a:moveTo>
                    <a:pt x="5" y="0"/>
                  </a:moveTo>
                  <a:lnTo>
                    <a:pt x="5" y="0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3"/>
                  </a:lnTo>
                  <a:lnTo>
                    <a:pt x="7" y="4"/>
                  </a:lnTo>
                  <a:lnTo>
                    <a:pt x="7" y="5"/>
                  </a:lnTo>
                  <a:lnTo>
                    <a:pt x="7" y="7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7" y="14"/>
                  </a:lnTo>
                  <a:lnTo>
                    <a:pt x="7" y="15"/>
                  </a:lnTo>
                  <a:lnTo>
                    <a:pt x="7" y="17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1"/>
                  </a:lnTo>
                  <a:lnTo>
                    <a:pt x="7" y="22"/>
                  </a:lnTo>
                  <a:lnTo>
                    <a:pt x="7" y="24"/>
                  </a:lnTo>
                  <a:lnTo>
                    <a:pt x="5" y="25"/>
                  </a:lnTo>
                  <a:lnTo>
                    <a:pt x="5" y="27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31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7" name="Freeform 72"/>
            <p:cNvSpPr>
              <a:spLocks/>
            </p:cNvSpPr>
            <p:nvPr/>
          </p:nvSpPr>
          <p:spPr bwMode="auto">
            <a:xfrm>
              <a:off x="3951" y="756"/>
              <a:ext cx="8" cy="28"/>
            </a:xfrm>
            <a:custGeom>
              <a:avLst/>
              <a:gdLst>
                <a:gd name="T0" fmla="*/ 125 w 7"/>
                <a:gd name="T1" fmla="*/ 0 h 31"/>
                <a:gd name="T2" fmla="*/ 125 w 7"/>
                <a:gd name="T3" fmla="*/ 0 h 31"/>
                <a:gd name="T4" fmla="*/ 125 w 7"/>
                <a:gd name="T5" fmla="*/ 0 h 31"/>
                <a:gd name="T6" fmla="*/ 163 w 7"/>
                <a:gd name="T7" fmla="*/ 0 h 31"/>
                <a:gd name="T8" fmla="*/ 163 w 7"/>
                <a:gd name="T9" fmla="*/ 0 h 31"/>
                <a:gd name="T10" fmla="*/ 163 w 7"/>
                <a:gd name="T11" fmla="*/ 2 h 31"/>
                <a:gd name="T12" fmla="*/ 163 w 7"/>
                <a:gd name="T13" fmla="*/ 3 h 31"/>
                <a:gd name="T14" fmla="*/ 163 w 7"/>
                <a:gd name="T15" fmla="*/ 4 h 31"/>
                <a:gd name="T16" fmla="*/ 163 w 7"/>
                <a:gd name="T17" fmla="*/ 5 h 31"/>
                <a:gd name="T18" fmla="*/ 163 w 7"/>
                <a:gd name="T19" fmla="*/ 5 h 31"/>
                <a:gd name="T20" fmla="*/ 163 w 7"/>
                <a:gd name="T21" fmla="*/ 5 h 31"/>
                <a:gd name="T22" fmla="*/ 163 w 7"/>
                <a:gd name="T23" fmla="*/ 5 h 31"/>
                <a:gd name="T24" fmla="*/ 163 w 7"/>
                <a:gd name="T25" fmla="*/ 5 h 31"/>
                <a:gd name="T26" fmla="*/ 163 w 7"/>
                <a:gd name="T27" fmla="*/ 5 h 31"/>
                <a:gd name="T28" fmla="*/ 163 w 7"/>
                <a:gd name="T29" fmla="*/ 5 h 31"/>
                <a:gd name="T30" fmla="*/ 125 w 7"/>
                <a:gd name="T31" fmla="*/ 5 h 31"/>
                <a:gd name="T32" fmla="*/ 125 w 7"/>
                <a:gd name="T33" fmla="*/ 5 h 31"/>
                <a:gd name="T34" fmla="*/ 125 w 7"/>
                <a:gd name="T35" fmla="*/ 5 h 31"/>
                <a:gd name="T36" fmla="*/ 109 w 7"/>
                <a:gd name="T37" fmla="*/ 5 h 31"/>
                <a:gd name="T38" fmla="*/ 109 w 7"/>
                <a:gd name="T39" fmla="*/ 5 h 31"/>
                <a:gd name="T40" fmla="*/ 3 w 7"/>
                <a:gd name="T41" fmla="*/ 5 h 31"/>
                <a:gd name="T42" fmla="*/ 3 w 7"/>
                <a:gd name="T43" fmla="*/ 5 h 31"/>
                <a:gd name="T44" fmla="*/ 3 w 7"/>
                <a:gd name="T45" fmla="*/ 5 h 31"/>
                <a:gd name="T46" fmla="*/ 1 w 7"/>
                <a:gd name="T47" fmla="*/ 5 h 31"/>
                <a:gd name="T48" fmla="*/ 1 w 7"/>
                <a:gd name="T49" fmla="*/ 5 h 31"/>
                <a:gd name="T50" fmla="*/ 0 w 7"/>
                <a:gd name="T51" fmla="*/ 5 h 31"/>
                <a:gd name="T52" fmla="*/ 0 w 7"/>
                <a:gd name="T53" fmla="*/ 5 h 31"/>
                <a:gd name="T54" fmla="*/ 0 w 7"/>
                <a:gd name="T55" fmla="*/ 5 h 31"/>
                <a:gd name="T56" fmla="*/ 0 w 7"/>
                <a:gd name="T57" fmla="*/ 5 h 31"/>
                <a:gd name="T58" fmla="*/ 0 w 7"/>
                <a:gd name="T59" fmla="*/ 5 h 31"/>
                <a:gd name="T60" fmla="*/ 1 w 7"/>
                <a:gd name="T61" fmla="*/ 5 h 31"/>
                <a:gd name="T62" fmla="*/ 1 w 7"/>
                <a:gd name="T63" fmla="*/ 5 h 31"/>
                <a:gd name="T64" fmla="*/ 1 w 7"/>
                <a:gd name="T65" fmla="*/ 5 h 31"/>
                <a:gd name="T66" fmla="*/ 3 w 7"/>
                <a:gd name="T67" fmla="*/ 5 h 31"/>
                <a:gd name="T68" fmla="*/ 3 w 7"/>
                <a:gd name="T69" fmla="*/ 5 h 31"/>
                <a:gd name="T70" fmla="*/ 3 w 7"/>
                <a:gd name="T71" fmla="*/ 3 h 31"/>
                <a:gd name="T72" fmla="*/ 3 w 7"/>
                <a:gd name="T73" fmla="*/ 2 h 31"/>
                <a:gd name="T74" fmla="*/ 109 w 7"/>
                <a:gd name="T75" fmla="*/ 0 h 31"/>
                <a:gd name="T76" fmla="*/ 109 w 7"/>
                <a:gd name="T77" fmla="*/ 0 h 31"/>
                <a:gd name="T78" fmla="*/ 109 w 7"/>
                <a:gd name="T79" fmla="*/ 0 h 3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"/>
                <a:gd name="T121" fmla="*/ 0 h 31"/>
                <a:gd name="T122" fmla="*/ 7 w 7"/>
                <a:gd name="T123" fmla="*/ 31 h 3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" h="31">
                  <a:moveTo>
                    <a:pt x="5" y="0"/>
                  </a:moveTo>
                  <a:lnTo>
                    <a:pt x="5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7" y="3"/>
                  </a:lnTo>
                  <a:lnTo>
                    <a:pt x="7" y="4"/>
                  </a:lnTo>
                  <a:lnTo>
                    <a:pt x="7" y="6"/>
                  </a:lnTo>
                  <a:lnTo>
                    <a:pt x="7" y="7"/>
                  </a:lnTo>
                  <a:lnTo>
                    <a:pt x="7" y="9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7" y="16"/>
                  </a:lnTo>
                  <a:lnTo>
                    <a:pt x="7" y="17"/>
                  </a:lnTo>
                  <a:lnTo>
                    <a:pt x="7" y="19"/>
                  </a:lnTo>
                  <a:lnTo>
                    <a:pt x="7" y="21"/>
                  </a:lnTo>
                  <a:lnTo>
                    <a:pt x="7" y="23"/>
                  </a:lnTo>
                  <a:lnTo>
                    <a:pt x="7" y="24"/>
                  </a:lnTo>
                  <a:lnTo>
                    <a:pt x="5" y="26"/>
                  </a:lnTo>
                  <a:lnTo>
                    <a:pt x="5" y="27"/>
                  </a:lnTo>
                  <a:lnTo>
                    <a:pt x="5" y="28"/>
                  </a:lnTo>
                  <a:lnTo>
                    <a:pt x="5" y="30"/>
                  </a:lnTo>
                  <a:lnTo>
                    <a:pt x="4" y="30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0" y="30"/>
                  </a:lnTo>
                  <a:lnTo>
                    <a:pt x="0" y="28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6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2"/>
                  </a:lnTo>
                  <a:lnTo>
                    <a:pt x="4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8" name="Freeform 73"/>
            <p:cNvSpPr>
              <a:spLocks/>
            </p:cNvSpPr>
            <p:nvPr/>
          </p:nvSpPr>
          <p:spPr bwMode="auto">
            <a:xfrm>
              <a:off x="3926" y="478"/>
              <a:ext cx="25" cy="30"/>
            </a:xfrm>
            <a:custGeom>
              <a:avLst/>
              <a:gdLst>
                <a:gd name="T0" fmla="*/ 0 w 27"/>
                <a:gd name="T1" fmla="*/ 8 h 32"/>
                <a:gd name="T2" fmla="*/ 1 w 27"/>
                <a:gd name="T3" fmla="*/ 8 h 32"/>
                <a:gd name="T4" fmla="*/ 3 w 27"/>
                <a:gd name="T5" fmla="*/ 8 h 32"/>
                <a:gd name="T6" fmla="*/ 4 w 27"/>
                <a:gd name="T7" fmla="*/ 8 h 32"/>
                <a:gd name="T8" fmla="*/ 4 w 27"/>
                <a:gd name="T9" fmla="*/ 8 h 32"/>
                <a:gd name="T10" fmla="*/ 6 w 27"/>
                <a:gd name="T11" fmla="*/ 8 h 32"/>
                <a:gd name="T12" fmla="*/ 6 w 27"/>
                <a:gd name="T13" fmla="*/ 8 h 32"/>
                <a:gd name="T14" fmla="*/ 6 w 27"/>
                <a:gd name="T15" fmla="*/ 7 h 32"/>
                <a:gd name="T16" fmla="*/ 6 w 27"/>
                <a:gd name="T17" fmla="*/ 5 h 32"/>
                <a:gd name="T18" fmla="*/ 6 w 27"/>
                <a:gd name="T19" fmla="*/ 4 h 32"/>
                <a:gd name="T20" fmla="*/ 6 w 27"/>
                <a:gd name="T21" fmla="*/ 2 h 32"/>
                <a:gd name="T22" fmla="*/ 6 w 27"/>
                <a:gd name="T23" fmla="*/ 1 h 32"/>
                <a:gd name="T24" fmla="*/ 6 w 27"/>
                <a:gd name="T25" fmla="*/ 0 h 32"/>
                <a:gd name="T26" fmla="*/ 6 w 27"/>
                <a:gd name="T27" fmla="*/ 0 h 32"/>
                <a:gd name="T28" fmla="*/ 6 w 27"/>
                <a:gd name="T29" fmla="*/ 1 h 32"/>
                <a:gd name="T30" fmla="*/ 6 w 27"/>
                <a:gd name="T31" fmla="*/ 1 h 32"/>
                <a:gd name="T32" fmla="*/ 6 w 27"/>
                <a:gd name="T33" fmla="*/ 2 h 32"/>
                <a:gd name="T34" fmla="*/ 6 w 27"/>
                <a:gd name="T35" fmla="*/ 5 h 32"/>
                <a:gd name="T36" fmla="*/ 6 w 27"/>
                <a:gd name="T37" fmla="*/ 8 h 32"/>
                <a:gd name="T38" fmla="*/ 6 w 27"/>
                <a:gd name="T39" fmla="*/ 8 h 32"/>
                <a:gd name="T40" fmla="*/ 6 w 27"/>
                <a:gd name="T41" fmla="*/ 8 h 32"/>
                <a:gd name="T42" fmla="*/ 6 w 27"/>
                <a:gd name="T43" fmla="*/ 8 h 32"/>
                <a:gd name="T44" fmla="*/ 6 w 27"/>
                <a:gd name="T45" fmla="*/ 8 h 32"/>
                <a:gd name="T46" fmla="*/ 6 w 27"/>
                <a:gd name="T47" fmla="*/ 8 h 32"/>
                <a:gd name="T48" fmla="*/ 6 w 27"/>
                <a:gd name="T49" fmla="*/ 8 h 32"/>
                <a:gd name="T50" fmla="*/ 6 w 27"/>
                <a:gd name="T51" fmla="*/ 8 h 32"/>
                <a:gd name="T52" fmla="*/ 6 w 27"/>
                <a:gd name="T53" fmla="*/ 8 h 32"/>
                <a:gd name="T54" fmla="*/ 6 w 27"/>
                <a:gd name="T55" fmla="*/ 8 h 32"/>
                <a:gd name="T56" fmla="*/ 6 w 27"/>
                <a:gd name="T57" fmla="*/ 8 h 32"/>
                <a:gd name="T58" fmla="*/ 6 w 27"/>
                <a:gd name="T59" fmla="*/ 8 h 32"/>
                <a:gd name="T60" fmla="*/ 6 w 27"/>
                <a:gd name="T61" fmla="*/ 8 h 32"/>
                <a:gd name="T62" fmla="*/ 6 w 27"/>
                <a:gd name="T63" fmla="*/ 8 h 32"/>
                <a:gd name="T64" fmla="*/ 6 w 27"/>
                <a:gd name="T65" fmla="*/ 8 h 32"/>
                <a:gd name="T66" fmla="*/ 4 w 27"/>
                <a:gd name="T67" fmla="*/ 8 h 32"/>
                <a:gd name="T68" fmla="*/ 3 w 27"/>
                <a:gd name="T69" fmla="*/ 8 h 32"/>
                <a:gd name="T70" fmla="*/ 1 w 27"/>
                <a:gd name="T71" fmla="*/ 8 h 32"/>
                <a:gd name="T72" fmla="*/ 1 w 27"/>
                <a:gd name="T73" fmla="*/ 8 h 32"/>
                <a:gd name="T74" fmla="*/ 1 w 27"/>
                <a:gd name="T75" fmla="*/ 8 h 32"/>
                <a:gd name="T76" fmla="*/ 1 w 27"/>
                <a:gd name="T77" fmla="*/ 8 h 32"/>
                <a:gd name="T78" fmla="*/ 0 w 27"/>
                <a:gd name="T79" fmla="*/ 8 h 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"/>
                <a:gd name="T121" fmla="*/ 0 h 32"/>
                <a:gd name="T122" fmla="*/ 27 w 27"/>
                <a:gd name="T123" fmla="*/ 32 h 3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" h="32">
                  <a:moveTo>
                    <a:pt x="0" y="24"/>
                  </a:moveTo>
                  <a:lnTo>
                    <a:pt x="0" y="22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5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2"/>
                  </a:lnTo>
                  <a:lnTo>
                    <a:pt x="25" y="4"/>
                  </a:lnTo>
                  <a:lnTo>
                    <a:pt x="25" y="5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7" y="9"/>
                  </a:lnTo>
                  <a:lnTo>
                    <a:pt x="27" y="11"/>
                  </a:lnTo>
                  <a:lnTo>
                    <a:pt x="25" y="12"/>
                  </a:lnTo>
                  <a:lnTo>
                    <a:pt x="25" y="14"/>
                  </a:lnTo>
                  <a:lnTo>
                    <a:pt x="25" y="15"/>
                  </a:lnTo>
                  <a:lnTo>
                    <a:pt x="24" y="16"/>
                  </a:lnTo>
                  <a:lnTo>
                    <a:pt x="24" y="18"/>
                  </a:lnTo>
                  <a:lnTo>
                    <a:pt x="24" y="19"/>
                  </a:lnTo>
                  <a:lnTo>
                    <a:pt x="22" y="21"/>
                  </a:lnTo>
                  <a:lnTo>
                    <a:pt x="22" y="22"/>
                  </a:lnTo>
                  <a:lnTo>
                    <a:pt x="21" y="24"/>
                  </a:lnTo>
                  <a:lnTo>
                    <a:pt x="20" y="25"/>
                  </a:lnTo>
                  <a:lnTo>
                    <a:pt x="18" y="26"/>
                  </a:lnTo>
                  <a:lnTo>
                    <a:pt x="17" y="28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1"/>
                  </a:lnTo>
                  <a:lnTo>
                    <a:pt x="13" y="32"/>
                  </a:lnTo>
                  <a:lnTo>
                    <a:pt x="11" y="32"/>
                  </a:lnTo>
                  <a:lnTo>
                    <a:pt x="10" y="32"/>
                  </a:lnTo>
                  <a:lnTo>
                    <a:pt x="8" y="32"/>
                  </a:lnTo>
                  <a:lnTo>
                    <a:pt x="7" y="32"/>
                  </a:lnTo>
                  <a:lnTo>
                    <a:pt x="6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9" name="Freeform 74"/>
            <p:cNvSpPr>
              <a:spLocks/>
            </p:cNvSpPr>
            <p:nvPr/>
          </p:nvSpPr>
          <p:spPr bwMode="auto">
            <a:xfrm>
              <a:off x="3824" y="413"/>
              <a:ext cx="37" cy="35"/>
            </a:xfrm>
            <a:custGeom>
              <a:avLst/>
              <a:gdLst>
                <a:gd name="T0" fmla="*/ 19 w 38"/>
                <a:gd name="T1" fmla="*/ 17 h 36"/>
                <a:gd name="T2" fmla="*/ 19 w 38"/>
                <a:gd name="T3" fmla="*/ 18 h 36"/>
                <a:gd name="T4" fmla="*/ 19 w 38"/>
                <a:gd name="T5" fmla="*/ 18 h 36"/>
                <a:gd name="T6" fmla="*/ 19 w 38"/>
                <a:gd name="T7" fmla="*/ 18 h 36"/>
                <a:gd name="T8" fmla="*/ 19 w 38"/>
                <a:gd name="T9" fmla="*/ 18 h 36"/>
                <a:gd name="T10" fmla="*/ 19 w 38"/>
                <a:gd name="T11" fmla="*/ 18 h 36"/>
                <a:gd name="T12" fmla="*/ 19 w 38"/>
                <a:gd name="T13" fmla="*/ 18 h 36"/>
                <a:gd name="T14" fmla="*/ 19 w 38"/>
                <a:gd name="T15" fmla="*/ 18 h 36"/>
                <a:gd name="T16" fmla="*/ 19 w 38"/>
                <a:gd name="T17" fmla="*/ 18 h 36"/>
                <a:gd name="T18" fmla="*/ 19 w 38"/>
                <a:gd name="T19" fmla="*/ 18 h 36"/>
                <a:gd name="T20" fmla="*/ 19 w 38"/>
                <a:gd name="T21" fmla="*/ 18 h 36"/>
                <a:gd name="T22" fmla="*/ 19 w 38"/>
                <a:gd name="T23" fmla="*/ 18 h 36"/>
                <a:gd name="T24" fmla="*/ 19 w 38"/>
                <a:gd name="T25" fmla="*/ 18 h 36"/>
                <a:gd name="T26" fmla="*/ 19 w 38"/>
                <a:gd name="T27" fmla="*/ 18 h 36"/>
                <a:gd name="T28" fmla="*/ 17 w 38"/>
                <a:gd name="T29" fmla="*/ 18 h 36"/>
                <a:gd name="T30" fmla="*/ 14 w 38"/>
                <a:gd name="T31" fmla="*/ 18 h 36"/>
                <a:gd name="T32" fmla="*/ 10 w 38"/>
                <a:gd name="T33" fmla="*/ 18 h 36"/>
                <a:gd name="T34" fmla="*/ 9 w 38"/>
                <a:gd name="T35" fmla="*/ 18 h 36"/>
                <a:gd name="T36" fmla="*/ 9 w 38"/>
                <a:gd name="T37" fmla="*/ 18 h 36"/>
                <a:gd name="T38" fmla="*/ 7 w 38"/>
                <a:gd name="T39" fmla="*/ 18 h 36"/>
                <a:gd name="T40" fmla="*/ 6 w 38"/>
                <a:gd name="T41" fmla="*/ 18 h 36"/>
                <a:gd name="T42" fmla="*/ 6 w 38"/>
                <a:gd name="T43" fmla="*/ 18 h 36"/>
                <a:gd name="T44" fmla="*/ 5 w 38"/>
                <a:gd name="T45" fmla="*/ 18 h 36"/>
                <a:gd name="T46" fmla="*/ 5 w 38"/>
                <a:gd name="T47" fmla="*/ 18 h 36"/>
                <a:gd name="T48" fmla="*/ 3 w 38"/>
                <a:gd name="T49" fmla="*/ 18 h 36"/>
                <a:gd name="T50" fmla="*/ 2 w 38"/>
                <a:gd name="T51" fmla="*/ 18 h 36"/>
                <a:gd name="T52" fmla="*/ 2 w 38"/>
                <a:gd name="T53" fmla="*/ 18 h 36"/>
                <a:gd name="T54" fmla="*/ 0 w 38"/>
                <a:gd name="T55" fmla="*/ 18 h 36"/>
                <a:gd name="T56" fmla="*/ 0 w 38"/>
                <a:gd name="T57" fmla="*/ 18 h 36"/>
                <a:gd name="T58" fmla="*/ 0 w 38"/>
                <a:gd name="T59" fmla="*/ 16 h 36"/>
                <a:gd name="T60" fmla="*/ 0 w 38"/>
                <a:gd name="T61" fmla="*/ 13 h 36"/>
                <a:gd name="T62" fmla="*/ 2 w 38"/>
                <a:gd name="T63" fmla="*/ 10 h 36"/>
                <a:gd name="T64" fmla="*/ 2 w 38"/>
                <a:gd name="T65" fmla="*/ 7 h 36"/>
                <a:gd name="T66" fmla="*/ 3 w 38"/>
                <a:gd name="T67" fmla="*/ 6 h 36"/>
                <a:gd name="T68" fmla="*/ 3 w 38"/>
                <a:gd name="T69" fmla="*/ 5 h 36"/>
                <a:gd name="T70" fmla="*/ 5 w 38"/>
                <a:gd name="T71" fmla="*/ 3 h 36"/>
                <a:gd name="T72" fmla="*/ 6 w 38"/>
                <a:gd name="T73" fmla="*/ 2 h 36"/>
                <a:gd name="T74" fmla="*/ 7 w 38"/>
                <a:gd name="T75" fmla="*/ 2 h 36"/>
                <a:gd name="T76" fmla="*/ 7 w 38"/>
                <a:gd name="T77" fmla="*/ 0 h 36"/>
                <a:gd name="T78" fmla="*/ 9 w 38"/>
                <a:gd name="T79" fmla="*/ 0 h 36"/>
                <a:gd name="T80" fmla="*/ 10 w 38"/>
                <a:gd name="T81" fmla="*/ 0 h 36"/>
                <a:gd name="T82" fmla="*/ 14 w 38"/>
                <a:gd name="T83" fmla="*/ 2 h 36"/>
                <a:gd name="T84" fmla="*/ 19 w 38"/>
                <a:gd name="T85" fmla="*/ 3 h 36"/>
                <a:gd name="T86" fmla="*/ 19 w 38"/>
                <a:gd name="T87" fmla="*/ 5 h 36"/>
                <a:gd name="T88" fmla="*/ 19 w 38"/>
                <a:gd name="T89" fmla="*/ 6 h 36"/>
                <a:gd name="T90" fmla="*/ 19 w 38"/>
                <a:gd name="T91" fmla="*/ 7 h 36"/>
                <a:gd name="T92" fmla="*/ 19 w 38"/>
                <a:gd name="T93" fmla="*/ 9 h 36"/>
                <a:gd name="T94" fmla="*/ 19 w 38"/>
                <a:gd name="T95" fmla="*/ 10 h 36"/>
                <a:gd name="T96" fmla="*/ 19 w 38"/>
                <a:gd name="T97" fmla="*/ 12 h 36"/>
                <a:gd name="T98" fmla="*/ 19 w 38"/>
                <a:gd name="T99" fmla="*/ 13 h 36"/>
                <a:gd name="T100" fmla="*/ 19 w 38"/>
                <a:gd name="T101" fmla="*/ 14 h 36"/>
                <a:gd name="T102" fmla="*/ 19 w 38"/>
                <a:gd name="T103" fmla="*/ 14 h 36"/>
                <a:gd name="T104" fmla="*/ 19 w 38"/>
                <a:gd name="T105" fmla="*/ 16 h 36"/>
                <a:gd name="T106" fmla="*/ 19 w 38"/>
                <a:gd name="T107" fmla="*/ 16 h 36"/>
                <a:gd name="T108" fmla="*/ 19 w 38"/>
                <a:gd name="T109" fmla="*/ 16 h 36"/>
                <a:gd name="T110" fmla="*/ 19 w 38"/>
                <a:gd name="T111" fmla="*/ 17 h 36"/>
                <a:gd name="T112" fmla="*/ 19 w 38"/>
                <a:gd name="T113" fmla="*/ 17 h 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8"/>
                <a:gd name="T172" fmla="*/ 0 h 36"/>
                <a:gd name="T173" fmla="*/ 38 w 38"/>
                <a:gd name="T174" fmla="*/ 36 h 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8" h="36">
                  <a:moveTo>
                    <a:pt x="38" y="17"/>
                  </a:moveTo>
                  <a:lnTo>
                    <a:pt x="38" y="19"/>
                  </a:lnTo>
                  <a:lnTo>
                    <a:pt x="38" y="20"/>
                  </a:lnTo>
                  <a:lnTo>
                    <a:pt x="37" y="21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0" y="27"/>
                  </a:lnTo>
                  <a:lnTo>
                    <a:pt x="27" y="29"/>
                  </a:lnTo>
                  <a:lnTo>
                    <a:pt x="24" y="31"/>
                  </a:lnTo>
                  <a:lnTo>
                    <a:pt x="21" y="33"/>
                  </a:lnTo>
                  <a:lnTo>
                    <a:pt x="17" y="34"/>
                  </a:lnTo>
                  <a:lnTo>
                    <a:pt x="14" y="36"/>
                  </a:lnTo>
                  <a:lnTo>
                    <a:pt x="10" y="36"/>
                  </a:lnTo>
                  <a:lnTo>
                    <a:pt x="9" y="36"/>
                  </a:lnTo>
                  <a:lnTo>
                    <a:pt x="7" y="36"/>
                  </a:lnTo>
                  <a:lnTo>
                    <a:pt x="6" y="34"/>
                  </a:lnTo>
                  <a:lnTo>
                    <a:pt x="5" y="33"/>
                  </a:lnTo>
                  <a:lnTo>
                    <a:pt x="5" y="31"/>
                  </a:lnTo>
                  <a:lnTo>
                    <a:pt x="3" y="31"/>
                  </a:lnTo>
                  <a:lnTo>
                    <a:pt x="2" y="29"/>
                  </a:lnTo>
                  <a:lnTo>
                    <a:pt x="2" y="26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0" y="16"/>
                  </a:lnTo>
                  <a:lnTo>
                    <a:pt x="0" y="13"/>
                  </a:lnTo>
                  <a:lnTo>
                    <a:pt x="2" y="10"/>
                  </a:lnTo>
                  <a:lnTo>
                    <a:pt x="2" y="7"/>
                  </a:lnTo>
                  <a:lnTo>
                    <a:pt x="3" y="6"/>
                  </a:lnTo>
                  <a:lnTo>
                    <a:pt x="3" y="5"/>
                  </a:lnTo>
                  <a:lnTo>
                    <a:pt x="5" y="3"/>
                  </a:lnTo>
                  <a:lnTo>
                    <a:pt x="6" y="2"/>
                  </a:lnTo>
                  <a:lnTo>
                    <a:pt x="7" y="2"/>
                  </a:lnTo>
                  <a:lnTo>
                    <a:pt x="7" y="0"/>
                  </a:lnTo>
                  <a:lnTo>
                    <a:pt x="9" y="0"/>
                  </a:lnTo>
                  <a:lnTo>
                    <a:pt x="10" y="0"/>
                  </a:lnTo>
                  <a:lnTo>
                    <a:pt x="14" y="2"/>
                  </a:lnTo>
                  <a:lnTo>
                    <a:pt x="19" y="3"/>
                  </a:lnTo>
                  <a:lnTo>
                    <a:pt x="21" y="5"/>
                  </a:lnTo>
                  <a:lnTo>
                    <a:pt x="26" y="6"/>
                  </a:lnTo>
                  <a:lnTo>
                    <a:pt x="28" y="7"/>
                  </a:lnTo>
                  <a:lnTo>
                    <a:pt x="31" y="9"/>
                  </a:lnTo>
                  <a:lnTo>
                    <a:pt x="33" y="10"/>
                  </a:lnTo>
                  <a:lnTo>
                    <a:pt x="34" y="12"/>
                  </a:lnTo>
                  <a:lnTo>
                    <a:pt x="36" y="13"/>
                  </a:lnTo>
                  <a:lnTo>
                    <a:pt x="37" y="14"/>
                  </a:lnTo>
                  <a:lnTo>
                    <a:pt x="37" y="16"/>
                  </a:lnTo>
                  <a:lnTo>
                    <a:pt x="38" y="16"/>
                  </a:lnTo>
                  <a:lnTo>
                    <a:pt x="38" y="17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0" name="Freeform 75"/>
            <p:cNvSpPr>
              <a:spLocks/>
            </p:cNvSpPr>
            <p:nvPr/>
          </p:nvSpPr>
          <p:spPr bwMode="auto">
            <a:xfrm>
              <a:off x="3894" y="459"/>
              <a:ext cx="33" cy="36"/>
            </a:xfrm>
            <a:custGeom>
              <a:avLst/>
              <a:gdLst>
                <a:gd name="T0" fmla="*/ 8 w 35"/>
                <a:gd name="T1" fmla="*/ 0 h 38"/>
                <a:gd name="T2" fmla="*/ 8 w 35"/>
                <a:gd name="T3" fmla="*/ 0 h 38"/>
                <a:gd name="T4" fmla="*/ 8 w 35"/>
                <a:gd name="T5" fmla="*/ 0 h 38"/>
                <a:gd name="T6" fmla="*/ 8 w 35"/>
                <a:gd name="T7" fmla="*/ 0 h 38"/>
                <a:gd name="T8" fmla="*/ 8 w 35"/>
                <a:gd name="T9" fmla="*/ 0 h 38"/>
                <a:gd name="T10" fmla="*/ 8 w 35"/>
                <a:gd name="T11" fmla="*/ 0 h 38"/>
                <a:gd name="T12" fmla="*/ 8 w 35"/>
                <a:gd name="T13" fmla="*/ 2 h 38"/>
                <a:gd name="T14" fmla="*/ 8 w 35"/>
                <a:gd name="T15" fmla="*/ 2 h 38"/>
                <a:gd name="T16" fmla="*/ 8 w 35"/>
                <a:gd name="T17" fmla="*/ 2 h 38"/>
                <a:gd name="T18" fmla="*/ 8 w 35"/>
                <a:gd name="T19" fmla="*/ 4 h 38"/>
                <a:gd name="T20" fmla="*/ 8 w 35"/>
                <a:gd name="T21" fmla="*/ 6 h 38"/>
                <a:gd name="T22" fmla="*/ 8 w 35"/>
                <a:gd name="T23" fmla="*/ 7 h 38"/>
                <a:gd name="T24" fmla="*/ 8 w 35"/>
                <a:gd name="T25" fmla="*/ 9 h 38"/>
                <a:gd name="T26" fmla="*/ 8 w 35"/>
                <a:gd name="T27" fmla="*/ 9 h 38"/>
                <a:gd name="T28" fmla="*/ 8 w 35"/>
                <a:gd name="T29" fmla="*/ 9 h 38"/>
                <a:gd name="T30" fmla="*/ 8 w 35"/>
                <a:gd name="T31" fmla="*/ 9 h 38"/>
                <a:gd name="T32" fmla="*/ 8 w 35"/>
                <a:gd name="T33" fmla="*/ 9 h 38"/>
                <a:gd name="T34" fmla="*/ 8 w 35"/>
                <a:gd name="T35" fmla="*/ 9 h 38"/>
                <a:gd name="T36" fmla="*/ 8 w 35"/>
                <a:gd name="T37" fmla="*/ 9 h 38"/>
                <a:gd name="T38" fmla="*/ 8 w 35"/>
                <a:gd name="T39" fmla="*/ 9 h 38"/>
                <a:gd name="T40" fmla="*/ 8 w 35"/>
                <a:gd name="T41" fmla="*/ 9 h 38"/>
                <a:gd name="T42" fmla="*/ 8 w 35"/>
                <a:gd name="T43" fmla="*/ 9 h 38"/>
                <a:gd name="T44" fmla="*/ 8 w 35"/>
                <a:gd name="T45" fmla="*/ 9 h 38"/>
                <a:gd name="T46" fmla="*/ 8 w 35"/>
                <a:gd name="T47" fmla="*/ 9 h 38"/>
                <a:gd name="T48" fmla="*/ 8 w 35"/>
                <a:gd name="T49" fmla="*/ 9 h 38"/>
                <a:gd name="T50" fmla="*/ 8 w 35"/>
                <a:gd name="T51" fmla="*/ 9 h 38"/>
                <a:gd name="T52" fmla="*/ 8 w 35"/>
                <a:gd name="T53" fmla="*/ 9 h 38"/>
                <a:gd name="T54" fmla="*/ 8 w 35"/>
                <a:gd name="T55" fmla="*/ 9 h 38"/>
                <a:gd name="T56" fmla="*/ 8 w 35"/>
                <a:gd name="T57" fmla="*/ 9 h 38"/>
                <a:gd name="T58" fmla="*/ 8 w 35"/>
                <a:gd name="T59" fmla="*/ 9 h 38"/>
                <a:gd name="T60" fmla="*/ 8 w 35"/>
                <a:gd name="T61" fmla="*/ 9 h 38"/>
                <a:gd name="T62" fmla="*/ 8 w 35"/>
                <a:gd name="T63" fmla="*/ 9 h 38"/>
                <a:gd name="T64" fmla="*/ 8 w 35"/>
                <a:gd name="T65" fmla="*/ 9 h 38"/>
                <a:gd name="T66" fmla="*/ 8 w 35"/>
                <a:gd name="T67" fmla="*/ 9 h 38"/>
                <a:gd name="T68" fmla="*/ 7 w 35"/>
                <a:gd name="T69" fmla="*/ 9 h 38"/>
                <a:gd name="T70" fmla="*/ 6 w 35"/>
                <a:gd name="T71" fmla="*/ 9 h 38"/>
                <a:gd name="T72" fmla="*/ 4 w 35"/>
                <a:gd name="T73" fmla="*/ 9 h 38"/>
                <a:gd name="T74" fmla="*/ 3 w 35"/>
                <a:gd name="T75" fmla="*/ 9 h 38"/>
                <a:gd name="T76" fmla="*/ 2 w 35"/>
                <a:gd name="T77" fmla="*/ 9 h 38"/>
                <a:gd name="T78" fmla="*/ 2 w 35"/>
                <a:gd name="T79" fmla="*/ 9 h 38"/>
                <a:gd name="T80" fmla="*/ 0 w 35"/>
                <a:gd name="T81" fmla="*/ 9 h 38"/>
                <a:gd name="T82" fmla="*/ 0 w 35"/>
                <a:gd name="T83" fmla="*/ 9 h 38"/>
                <a:gd name="T84" fmla="*/ 0 w 35"/>
                <a:gd name="T85" fmla="*/ 9 h 38"/>
                <a:gd name="T86" fmla="*/ 2 w 35"/>
                <a:gd name="T87" fmla="*/ 9 h 38"/>
                <a:gd name="T88" fmla="*/ 2 w 35"/>
                <a:gd name="T89" fmla="*/ 9 h 38"/>
                <a:gd name="T90" fmla="*/ 2 w 35"/>
                <a:gd name="T91" fmla="*/ 9 h 38"/>
                <a:gd name="T92" fmla="*/ 3 w 35"/>
                <a:gd name="T93" fmla="*/ 9 h 38"/>
                <a:gd name="T94" fmla="*/ 4 w 35"/>
                <a:gd name="T95" fmla="*/ 7 h 38"/>
                <a:gd name="T96" fmla="*/ 4 w 35"/>
                <a:gd name="T97" fmla="*/ 6 h 38"/>
                <a:gd name="T98" fmla="*/ 6 w 35"/>
                <a:gd name="T99" fmla="*/ 4 h 38"/>
                <a:gd name="T100" fmla="*/ 6 w 35"/>
                <a:gd name="T101" fmla="*/ 3 h 38"/>
                <a:gd name="T102" fmla="*/ 6 w 35"/>
                <a:gd name="T103" fmla="*/ 3 h 38"/>
                <a:gd name="T104" fmla="*/ 7 w 35"/>
                <a:gd name="T105" fmla="*/ 2 h 38"/>
                <a:gd name="T106" fmla="*/ 7 w 35"/>
                <a:gd name="T107" fmla="*/ 2 h 38"/>
                <a:gd name="T108" fmla="*/ 7 w 35"/>
                <a:gd name="T109" fmla="*/ 2 h 38"/>
                <a:gd name="T110" fmla="*/ 8 w 35"/>
                <a:gd name="T111" fmla="*/ 0 h 38"/>
                <a:gd name="T112" fmla="*/ 8 w 35"/>
                <a:gd name="T113" fmla="*/ 0 h 3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5"/>
                <a:gd name="T172" fmla="*/ 0 h 38"/>
                <a:gd name="T173" fmla="*/ 35 w 35"/>
                <a:gd name="T174" fmla="*/ 38 h 38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5" h="38">
                  <a:moveTo>
                    <a:pt x="9" y="0"/>
                  </a:moveTo>
                  <a:lnTo>
                    <a:pt x="10" y="0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8" y="4"/>
                  </a:lnTo>
                  <a:lnTo>
                    <a:pt x="21" y="6"/>
                  </a:lnTo>
                  <a:lnTo>
                    <a:pt x="23" y="7"/>
                  </a:lnTo>
                  <a:lnTo>
                    <a:pt x="25" y="10"/>
                  </a:lnTo>
                  <a:lnTo>
                    <a:pt x="28" y="13"/>
                  </a:lnTo>
                  <a:lnTo>
                    <a:pt x="31" y="16"/>
                  </a:lnTo>
                  <a:lnTo>
                    <a:pt x="33" y="19"/>
                  </a:lnTo>
                  <a:lnTo>
                    <a:pt x="34" y="21"/>
                  </a:lnTo>
                  <a:lnTo>
                    <a:pt x="35" y="23"/>
                  </a:lnTo>
                  <a:lnTo>
                    <a:pt x="35" y="24"/>
                  </a:lnTo>
                  <a:lnTo>
                    <a:pt x="34" y="26"/>
                  </a:lnTo>
                  <a:lnTo>
                    <a:pt x="34" y="27"/>
                  </a:lnTo>
                  <a:lnTo>
                    <a:pt x="34" y="28"/>
                  </a:lnTo>
                  <a:lnTo>
                    <a:pt x="33" y="28"/>
                  </a:lnTo>
                  <a:lnTo>
                    <a:pt x="33" y="30"/>
                  </a:lnTo>
                  <a:lnTo>
                    <a:pt x="30" y="31"/>
                  </a:lnTo>
                  <a:lnTo>
                    <a:pt x="27" y="34"/>
                  </a:lnTo>
                  <a:lnTo>
                    <a:pt x="24" y="35"/>
                  </a:lnTo>
                  <a:lnTo>
                    <a:pt x="21" y="35"/>
                  </a:lnTo>
                  <a:lnTo>
                    <a:pt x="18" y="37"/>
                  </a:lnTo>
                  <a:lnTo>
                    <a:pt x="16" y="38"/>
                  </a:lnTo>
                  <a:lnTo>
                    <a:pt x="13" y="38"/>
                  </a:lnTo>
                  <a:lnTo>
                    <a:pt x="10" y="38"/>
                  </a:lnTo>
                  <a:lnTo>
                    <a:pt x="9" y="38"/>
                  </a:lnTo>
                  <a:lnTo>
                    <a:pt x="7" y="37"/>
                  </a:lnTo>
                  <a:lnTo>
                    <a:pt x="6" y="37"/>
                  </a:lnTo>
                  <a:lnTo>
                    <a:pt x="4" y="37"/>
                  </a:lnTo>
                  <a:lnTo>
                    <a:pt x="3" y="35"/>
                  </a:lnTo>
                  <a:lnTo>
                    <a:pt x="2" y="34"/>
                  </a:lnTo>
                  <a:lnTo>
                    <a:pt x="0" y="33"/>
                  </a:lnTo>
                  <a:lnTo>
                    <a:pt x="0" y="28"/>
                  </a:lnTo>
                  <a:lnTo>
                    <a:pt x="0" y="24"/>
                  </a:lnTo>
                  <a:lnTo>
                    <a:pt x="2" y="20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3" y="10"/>
                  </a:lnTo>
                  <a:lnTo>
                    <a:pt x="4" y="7"/>
                  </a:lnTo>
                  <a:lnTo>
                    <a:pt x="4" y="6"/>
                  </a:lnTo>
                  <a:lnTo>
                    <a:pt x="6" y="4"/>
                  </a:lnTo>
                  <a:lnTo>
                    <a:pt x="6" y="3"/>
                  </a:lnTo>
                  <a:lnTo>
                    <a:pt x="7" y="2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1" name="Freeform 76"/>
            <p:cNvSpPr>
              <a:spLocks/>
            </p:cNvSpPr>
            <p:nvPr/>
          </p:nvSpPr>
          <p:spPr bwMode="auto">
            <a:xfrm>
              <a:off x="3859" y="459"/>
              <a:ext cx="32" cy="36"/>
            </a:xfrm>
            <a:custGeom>
              <a:avLst/>
              <a:gdLst>
                <a:gd name="T0" fmla="*/ 16 w 33"/>
                <a:gd name="T1" fmla="*/ 0 h 38"/>
                <a:gd name="T2" fmla="*/ 16 w 33"/>
                <a:gd name="T3" fmla="*/ 2 h 38"/>
                <a:gd name="T4" fmla="*/ 16 w 33"/>
                <a:gd name="T5" fmla="*/ 2 h 38"/>
                <a:gd name="T6" fmla="*/ 16 w 33"/>
                <a:gd name="T7" fmla="*/ 2 h 38"/>
                <a:gd name="T8" fmla="*/ 16 w 33"/>
                <a:gd name="T9" fmla="*/ 3 h 38"/>
                <a:gd name="T10" fmla="*/ 16 w 33"/>
                <a:gd name="T11" fmla="*/ 3 h 38"/>
                <a:gd name="T12" fmla="*/ 16 w 33"/>
                <a:gd name="T13" fmla="*/ 4 h 38"/>
                <a:gd name="T14" fmla="*/ 16 w 33"/>
                <a:gd name="T15" fmla="*/ 6 h 38"/>
                <a:gd name="T16" fmla="*/ 16 w 33"/>
                <a:gd name="T17" fmla="*/ 6 h 38"/>
                <a:gd name="T18" fmla="*/ 16 w 33"/>
                <a:gd name="T19" fmla="*/ 9 h 38"/>
                <a:gd name="T20" fmla="*/ 16 w 33"/>
                <a:gd name="T21" fmla="*/ 9 h 38"/>
                <a:gd name="T22" fmla="*/ 16 w 33"/>
                <a:gd name="T23" fmla="*/ 9 h 38"/>
                <a:gd name="T24" fmla="*/ 16 w 33"/>
                <a:gd name="T25" fmla="*/ 9 h 38"/>
                <a:gd name="T26" fmla="*/ 16 w 33"/>
                <a:gd name="T27" fmla="*/ 9 h 38"/>
                <a:gd name="T28" fmla="*/ 16 w 33"/>
                <a:gd name="T29" fmla="*/ 9 h 38"/>
                <a:gd name="T30" fmla="*/ 16 w 33"/>
                <a:gd name="T31" fmla="*/ 9 h 38"/>
                <a:gd name="T32" fmla="*/ 16 w 33"/>
                <a:gd name="T33" fmla="*/ 9 h 38"/>
                <a:gd name="T34" fmla="*/ 16 w 33"/>
                <a:gd name="T35" fmla="*/ 9 h 38"/>
                <a:gd name="T36" fmla="*/ 16 w 33"/>
                <a:gd name="T37" fmla="*/ 9 h 38"/>
                <a:gd name="T38" fmla="*/ 16 w 33"/>
                <a:gd name="T39" fmla="*/ 9 h 38"/>
                <a:gd name="T40" fmla="*/ 16 w 33"/>
                <a:gd name="T41" fmla="*/ 9 h 38"/>
                <a:gd name="T42" fmla="*/ 16 w 33"/>
                <a:gd name="T43" fmla="*/ 9 h 38"/>
                <a:gd name="T44" fmla="*/ 16 w 33"/>
                <a:gd name="T45" fmla="*/ 9 h 38"/>
                <a:gd name="T46" fmla="*/ 16 w 33"/>
                <a:gd name="T47" fmla="*/ 9 h 38"/>
                <a:gd name="T48" fmla="*/ 16 w 33"/>
                <a:gd name="T49" fmla="*/ 9 h 38"/>
                <a:gd name="T50" fmla="*/ 16 w 33"/>
                <a:gd name="T51" fmla="*/ 9 h 38"/>
                <a:gd name="T52" fmla="*/ 16 w 33"/>
                <a:gd name="T53" fmla="*/ 9 h 38"/>
                <a:gd name="T54" fmla="*/ 16 w 33"/>
                <a:gd name="T55" fmla="*/ 9 h 38"/>
                <a:gd name="T56" fmla="*/ 14 w 33"/>
                <a:gd name="T57" fmla="*/ 9 h 38"/>
                <a:gd name="T58" fmla="*/ 11 w 33"/>
                <a:gd name="T59" fmla="*/ 9 h 38"/>
                <a:gd name="T60" fmla="*/ 8 w 33"/>
                <a:gd name="T61" fmla="*/ 9 h 38"/>
                <a:gd name="T62" fmla="*/ 7 w 33"/>
                <a:gd name="T63" fmla="*/ 9 h 38"/>
                <a:gd name="T64" fmla="*/ 4 w 33"/>
                <a:gd name="T65" fmla="*/ 9 h 38"/>
                <a:gd name="T66" fmla="*/ 2 w 33"/>
                <a:gd name="T67" fmla="*/ 9 h 38"/>
                <a:gd name="T68" fmla="*/ 2 w 33"/>
                <a:gd name="T69" fmla="*/ 9 h 38"/>
                <a:gd name="T70" fmla="*/ 1 w 33"/>
                <a:gd name="T71" fmla="*/ 9 h 38"/>
                <a:gd name="T72" fmla="*/ 0 w 33"/>
                <a:gd name="T73" fmla="*/ 9 h 38"/>
                <a:gd name="T74" fmla="*/ 0 w 33"/>
                <a:gd name="T75" fmla="*/ 9 h 38"/>
                <a:gd name="T76" fmla="*/ 0 w 33"/>
                <a:gd name="T77" fmla="*/ 9 h 38"/>
                <a:gd name="T78" fmla="*/ 0 w 33"/>
                <a:gd name="T79" fmla="*/ 9 h 38"/>
                <a:gd name="T80" fmla="*/ 0 w 33"/>
                <a:gd name="T81" fmla="*/ 9 h 38"/>
                <a:gd name="T82" fmla="*/ 1 w 33"/>
                <a:gd name="T83" fmla="*/ 9 h 38"/>
                <a:gd name="T84" fmla="*/ 4 w 33"/>
                <a:gd name="T85" fmla="*/ 9 h 38"/>
                <a:gd name="T86" fmla="*/ 7 w 33"/>
                <a:gd name="T87" fmla="*/ 9 h 38"/>
                <a:gd name="T88" fmla="*/ 9 w 33"/>
                <a:gd name="T89" fmla="*/ 9 h 38"/>
                <a:gd name="T90" fmla="*/ 12 w 33"/>
                <a:gd name="T91" fmla="*/ 7 h 38"/>
                <a:gd name="T92" fmla="*/ 14 w 33"/>
                <a:gd name="T93" fmla="*/ 6 h 38"/>
                <a:gd name="T94" fmla="*/ 16 w 33"/>
                <a:gd name="T95" fmla="*/ 3 h 38"/>
                <a:gd name="T96" fmla="*/ 16 w 33"/>
                <a:gd name="T97" fmla="*/ 3 h 38"/>
                <a:gd name="T98" fmla="*/ 16 w 33"/>
                <a:gd name="T99" fmla="*/ 2 h 38"/>
                <a:gd name="T100" fmla="*/ 16 w 33"/>
                <a:gd name="T101" fmla="*/ 2 h 38"/>
                <a:gd name="T102" fmla="*/ 16 w 33"/>
                <a:gd name="T103" fmla="*/ 2 h 38"/>
                <a:gd name="T104" fmla="*/ 16 w 33"/>
                <a:gd name="T105" fmla="*/ 0 h 38"/>
                <a:gd name="T106" fmla="*/ 16 w 33"/>
                <a:gd name="T107" fmla="*/ 0 h 38"/>
                <a:gd name="T108" fmla="*/ 16 w 33"/>
                <a:gd name="T109" fmla="*/ 0 h 38"/>
                <a:gd name="T110" fmla="*/ 16 w 33"/>
                <a:gd name="T111" fmla="*/ 0 h 38"/>
                <a:gd name="T112" fmla="*/ 16 w 33"/>
                <a:gd name="T113" fmla="*/ 0 h 3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3"/>
                <a:gd name="T172" fmla="*/ 0 h 38"/>
                <a:gd name="T173" fmla="*/ 33 w 33"/>
                <a:gd name="T174" fmla="*/ 38 h 38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3" h="38">
                  <a:moveTo>
                    <a:pt x="25" y="0"/>
                  </a:moveTo>
                  <a:lnTo>
                    <a:pt x="25" y="2"/>
                  </a:lnTo>
                  <a:lnTo>
                    <a:pt x="26" y="2"/>
                  </a:lnTo>
                  <a:lnTo>
                    <a:pt x="28" y="3"/>
                  </a:lnTo>
                  <a:lnTo>
                    <a:pt x="29" y="4"/>
                  </a:lnTo>
                  <a:lnTo>
                    <a:pt x="29" y="6"/>
                  </a:lnTo>
                  <a:lnTo>
                    <a:pt x="30" y="9"/>
                  </a:lnTo>
                  <a:lnTo>
                    <a:pt x="32" y="12"/>
                  </a:lnTo>
                  <a:lnTo>
                    <a:pt x="32" y="14"/>
                  </a:lnTo>
                  <a:lnTo>
                    <a:pt x="33" y="19"/>
                  </a:lnTo>
                  <a:lnTo>
                    <a:pt x="33" y="21"/>
                  </a:lnTo>
                  <a:lnTo>
                    <a:pt x="33" y="26"/>
                  </a:lnTo>
                  <a:lnTo>
                    <a:pt x="33" y="30"/>
                  </a:lnTo>
                  <a:lnTo>
                    <a:pt x="33" y="33"/>
                  </a:lnTo>
                  <a:lnTo>
                    <a:pt x="33" y="34"/>
                  </a:lnTo>
                  <a:lnTo>
                    <a:pt x="32" y="34"/>
                  </a:lnTo>
                  <a:lnTo>
                    <a:pt x="32" y="35"/>
                  </a:lnTo>
                  <a:lnTo>
                    <a:pt x="30" y="37"/>
                  </a:lnTo>
                  <a:lnTo>
                    <a:pt x="29" y="37"/>
                  </a:lnTo>
                  <a:lnTo>
                    <a:pt x="28" y="38"/>
                  </a:lnTo>
                  <a:lnTo>
                    <a:pt x="26" y="38"/>
                  </a:lnTo>
                  <a:lnTo>
                    <a:pt x="23" y="38"/>
                  </a:lnTo>
                  <a:lnTo>
                    <a:pt x="21" y="38"/>
                  </a:lnTo>
                  <a:lnTo>
                    <a:pt x="18" y="38"/>
                  </a:lnTo>
                  <a:lnTo>
                    <a:pt x="14" y="37"/>
                  </a:lnTo>
                  <a:lnTo>
                    <a:pt x="11" y="35"/>
                  </a:lnTo>
                  <a:lnTo>
                    <a:pt x="8" y="35"/>
                  </a:lnTo>
                  <a:lnTo>
                    <a:pt x="7" y="34"/>
                  </a:lnTo>
                  <a:lnTo>
                    <a:pt x="4" y="33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1" y="28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1" y="19"/>
                  </a:lnTo>
                  <a:lnTo>
                    <a:pt x="4" y="16"/>
                  </a:lnTo>
                  <a:lnTo>
                    <a:pt x="7" y="13"/>
                  </a:lnTo>
                  <a:lnTo>
                    <a:pt x="9" y="10"/>
                  </a:lnTo>
                  <a:lnTo>
                    <a:pt x="12" y="7"/>
                  </a:lnTo>
                  <a:lnTo>
                    <a:pt x="14" y="6"/>
                  </a:lnTo>
                  <a:lnTo>
                    <a:pt x="16" y="3"/>
                  </a:lnTo>
                  <a:lnTo>
                    <a:pt x="18" y="3"/>
                  </a:lnTo>
                  <a:lnTo>
                    <a:pt x="19" y="2"/>
                  </a:lnTo>
                  <a:lnTo>
                    <a:pt x="21" y="2"/>
                  </a:lnTo>
                  <a:lnTo>
                    <a:pt x="22" y="0"/>
                  </a:lnTo>
                  <a:lnTo>
                    <a:pt x="23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2" name="Freeform 77"/>
            <p:cNvSpPr>
              <a:spLocks/>
            </p:cNvSpPr>
            <p:nvPr/>
          </p:nvSpPr>
          <p:spPr bwMode="auto">
            <a:xfrm>
              <a:off x="3834" y="444"/>
              <a:ext cx="36" cy="34"/>
            </a:xfrm>
            <a:custGeom>
              <a:avLst/>
              <a:gdLst>
                <a:gd name="T0" fmla="*/ 18 w 37"/>
                <a:gd name="T1" fmla="*/ 3 h 35"/>
                <a:gd name="T2" fmla="*/ 18 w 37"/>
                <a:gd name="T3" fmla="*/ 4 h 35"/>
                <a:gd name="T4" fmla="*/ 18 w 37"/>
                <a:gd name="T5" fmla="*/ 4 h 35"/>
                <a:gd name="T6" fmla="*/ 18 w 37"/>
                <a:gd name="T7" fmla="*/ 5 h 35"/>
                <a:gd name="T8" fmla="*/ 18 w 37"/>
                <a:gd name="T9" fmla="*/ 7 h 35"/>
                <a:gd name="T10" fmla="*/ 18 w 37"/>
                <a:gd name="T11" fmla="*/ 7 h 35"/>
                <a:gd name="T12" fmla="*/ 18 w 37"/>
                <a:gd name="T13" fmla="*/ 8 h 35"/>
                <a:gd name="T14" fmla="*/ 18 w 37"/>
                <a:gd name="T15" fmla="*/ 10 h 35"/>
                <a:gd name="T16" fmla="*/ 18 w 37"/>
                <a:gd name="T17" fmla="*/ 10 h 35"/>
                <a:gd name="T18" fmla="*/ 18 w 37"/>
                <a:gd name="T19" fmla="*/ 12 h 35"/>
                <a:gd name="T20" fmla="*/ 18 w 37"/>
                <a:gd name="T21" fmla="*/ 15 h 35"/>
                <a:gd name="T22" fmla="*/ 18 w 37"/>
                <a:gd name="T23" fmla="*/ 17 h 35"/>
                <a:gd name="T24" fmla="*/ 18 w 37"/>
                <a:gd name="T25" fmla="*/ 17 h 35"/>
                <a:gd name="T26" fmla="*/ 18 w 37"/>
                <a:gd name="T27" fmla="*/ 17 h 35"/>
                <a:gd name="T28" fmla="*/ 18 w 37"/>
                <a:gd name="T29" fmla="*/ 17 h 35"/>
                <a:gd name="T30" fmla="*/ 18 w 37"/>
                <a:gd name="T31" fmla="*/ 17 h 35"/>
                <a:gd name="T32" fmla="*/ 18 w 37"/>
                <a:gd name="T33" fmla="*/ 17 h 35"/>
                <a:gd name="T34" fmla="*/ 18 w 37"/>
                <a:gd name="T35" fmla="*/ 17 h 35"/>
                <a:gd name="T36" fmla="*/ 18 w 37"/>
                <a:gd name="T37" fmla="*/ 17 h 35"/>
                <a:gd name="T38" fmla="*/ 18 w 37"/>
                <a:gd name="T39" fmla="*/ 17 h 35"/>
                <a:gd name="T40" fmla="*/ 18 w 37"/>
                <a:gd name="T41" fmla="*/ 17 h 35"/>
                <a:gd name="T42" fmla="*/ 18 w 37"/>
                <a:gd name="T43" fmla="*/ 17 h 35"/>
                <a:gd name="T44" fmla="*/ 17 w 37"/>
                <a:gd name="T45" fmla="*/ 17 h 35"/>
                <a:gd name="T46" fmla="*/ 16 w 37"/>
                <a:gd name="T47" fmla="*/ 17 h 35"/>
                <a:gd name="T48" fmla="*/ 16 w 37"/>
                <a:gd name="T49" fmla="*/ 17 h 35"/>
                <a:gd name="T50" fmla="*/ 13 w 37"/>
                <a:gd name="T51" fmla="*/ 17 h 35"/>
                <a:gd name="T52" fmla="*/ 10 w 37"/>
                <a:gd name="T53" fmla="*/ 17 h 35"/>
                <a:gd name="T54" fmla="*/ 7 w 37"/>
                <a:gd name="T55" fmla="*/ 17 h 35"/>
                <a:gd name="T56" fmla="*/ 6 w 37"/>
                <a:gd name="T57" fmla="*/ 17 h 35"/>
                <a:gd name="T58" fmla="*/ 4 w 37"/>
                <a:gd name="T59" fmla="*/ 17 h 35"/>
                <a:gd name="T60" fmla="*/ 3 w 37"/>
                <a:gd name="T61" fmla="*/ 17 h 35"/>
                <a:gd name="T62" fmla="*/ 2 w 37"/>
                <a:gd name="T63" fmla="*/ 17 h 35"/>
                <a:gd name="T64" fmla="*/ 0 w 37"/>
                <a:gd name="T65" fmla="*/ 17 h 35"/>
                <a:gd name="T66" fmla="*/ 0 w 37"/>
                <a:gd name="T67" fmla="*/ 14 h 35"/>
                <a:gd name="T68" fmla="*/ 0 w 37"/>
                <a:gd name="T69" fmla="*/ 12 h 35"/>
                <a:gd name="T70" fmla="*/ 0 w 37"/>
                <a:gd name="T71" fmla="*/ 11 h 35"/>
                <a:gd name="T72" fmla="*/ 0 w 37"/>
                <a:gd name="T73" fmla="*/ 10 h 35"/>
                <a:gd name="T74" fmla="*/ 0 w 37"/>
                <a:gd name="T75" fmla="*/ 8 h 35"/>
                <a:gd name="T76" fmla="*/ 2 w 37"/>
                <a:gd name="T77" fmla="*/ 7 h 35"/>
                <a:gd name="T78" fmla="*/ 2 w 37"/>
                <a:gd name="T79" fmla="*/ 5 h 35"/>
                <a:gd name="T80" fmla="*/ 3 w 37"/>
                <a:gd name="T81" fmla="*/ 5 h 35"/>
                <a:gd name="T82" fmla="*/ 6 w 37"/>
                <a:gd name="T83" fmla="*/ 4 h 35"/>
                <a:gd name="T84" fmla="*/ 10 w 37"/>
                <a:gd name="T85" fmla="*/ 3 h 35"/>
                <a:gd name="T86" fmla="*/ 14 w 37"/>
                <a:gd name="T87" fmla="*/ 1 h 35"/>
                <a:gd name="T88" fmla="*/ 18 w 37"/>
                <a:gd name="T89" fmla="*/ 1 h 35"/>
                <a:gd name="T90" fmla="*/ 18 w 37"/>
                <a:gd name="T91" fmla="*/ 1 h 35"/>
                <a:gd name="T92" fmla="*/ 18 w 37"/>
                <a:gd name="T93" fmla="*/ 0 h 35"/>
                <a:gd name="T94" fmla="*/ 18 w 37"/>
                <a:gd name="T95" fmla="*/ 0 h 35"/>
                <a:gd name="T96" fmla="*/ 18 w 37"/>
                <a:gd name="T97" fmla="*/ 1 h 35"/>
                <a:gd name="T98" fmla="*/ 18 w 37"/>
                <a:gd name="T99" fmla="*/ 1 h 35"/>
                <a:gd name="T100" fmla="*/ 18 w 37"/>
                <a:gd name="T101" fmla="*/ 1 h 35"/>
                <a:gd name="T102" fmla="*/ 18 w 37"/>
                <a:gd name="T103" fmla="*/ 1 h 35"/>
                <a:gd name="T104" fmla="*/ 18 w 37"/>
                <a:gd name="T105" fmla="*/ 1 h 35"/>
                <a:gd name="T106" fmla="*/ 18 w 37"/>
                <a:gd name="T107" fmla="*/ 1 h 35"/>
                <a:gd name="T108" fmla="*/ 18 w 37"/>
                <a:gd name="T109" fmla="*/ 3 h 35"/>
                <a:gd name="T110" fmla="*/ 18 w 37"/>
                <a:gd name="T111" fmla="*/ 3 h 35"/>
                <a:gd name="T112" fmla="*/ 18 w 37"/>
                <a:gd name="T113" fmla="*/ 3 h 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7"/>
                <a:gd name="T172" fmla="*/ 0 h 35"/>
                <a:gd name="T173" fmla="*/ 37 w 37"/>
                <a:gd name="T174" fmla="*/ 35 h 35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7" h="35">
                  <a:moveTo>
                    <a:pt x="35" y="3"/>
                  </a:moveTo>
                  <a:lnTo>
                    <a:pt x="37" y="4"/>
                  </a:lnTo>
                  <a:lnTo>
                    <a:pt x="37" y="5"/>
                  </a:lnTo>
                  <a:lnTo>
                    <a:pt x="37" y="7"/>
                  </a:lnTo>
                  <a:lnTo>
                    <a:pt x="37" y="8"/>
                  </a:lnTo>
                  <a:lnTo>
                    <a:pt x="37" y="10"/>
                  </a:lnTo>
                  <a:lnTo>
                    <a:pt x="35" y="12"/>
                  </a:lnTo>
                  <a:lnTo>
                    <a:pt x="34" y="15"/>
                  </a:lnTo>
                  <a:lnTo>
                    <a:pt x="33" y="18"/>
                  </a:lnTo>
                  <a:lnTo>
                    <a:pt x="31" y="22"/>
                  </a:lnTo>
                  <a:lnTo>
                    <a:pt x="30" y="25"/>
                  </a:lnTo>
                  <a:lnTo>
                    <a:pt x="28" y="28"/>
                  </a:lnTo>
                  <a:lnTo>
                    <a:pt x="26" y="31"/>
                  </a:lnTo>
                  <a:lnTo>
                    <a:pt x="24" y="34"/>
                  </a:lnTo>
                  <a:lnTo>
                    <a:pt x="23" y="35"/>
                  </a:lnTo>
                  <a:lnTo>
                    <a:pt x="21" y="35"/>
                  </a:lnTo>
                  <a:lnTo>
                    <a:pt x="20" y="35"/>
                  </a:lnTo>
                  <a:lnTo>
                    <a:pt x="18" y="35"/>
                  </a:lnTo>
                  <a:lnTo>
                    <a:pt x="17" y="35"/>
                  </a:lnTo>
                  <a:lnTo>
                    <a:pt x="16" y="35"/>
                  </a:lnTo>
                  <a:lnTo>
                    <a:pt x="16" y="34"/>
                  </a:lnTo>
                  <a:lnTo>
                    <a:pt x="13" y="32"/>
                  </a:lnTo>
                  <a:lnTo>
                    <a:pt x="10" y="31"/>
                  </a:lnTo>
                  <a:lnTo>
                    <a:pt x="7" y="28"/>
                  </a:lnTo>
                  <a:lnTo>
                    <a:pt x="6" y="27"/>
                  </a:lnTo>
                  <a:lnTo>
                    <a:pt x="4" y="24"/>
                  </a:lnTo>
                  <a:lnTo>
                    <a:pt x="3" y="21"/>
                  </a:lnTo>
                  <a:lnTo>
                    <a:pt x="2" y="18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8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5"/>
                  </a:lnTo>
                  <a:lnTo>
                    <a:pt x="6" y="4"/>
                  </a:lnTo>
                  <a:lnTo>
                    <a:pt x="10" y="3"/>
                  </a:lnTo>
                  <a:lnTo>
                    <a:pt x="14" y="1"/>
                  </a:lnTo>
                  <a:lnTo>
                    <a:pt x="18" y="1"/>
                  </a:lnTo>
                  <a:lnTo>
                    <a:pt x="21" y="1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0" y="1"/>
                  </a:lnTo>
                  <a:lnTo>
                    <a:pt x="31" y="1"/>
                  </a:lnTo>
                  <a:lnTo>
                    <a:pt x="33" y="1"/>
                  </a:lnTo>
                  <a:lnTo>
                    <a:pt x="34" y="1"/>
                  </a:lnTo>
                  <a:lnTo>
                    <a:pt x="35" y="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3" name="Freeform 78"/>
            <p:cNvSpPr>
              <a:spLocks/>
            </p:cNvSpPr>
            <p:nvPr/>
          </p:nvSpPr>
          <p:spPr bwMode="auto">
            <a:xfrm>
              <a:off x="3922" y="413"/>
              <a:ext cx="37" cy="35"/>
            </a:xfrm>
            <a:custGeom>
              <a:avLst/>
              <a:gdLst>
                <a:gd name="T0" fmla="*/ 0 w 38"/>
                <a:gd name="T1" fmla="*/ 18 h 36"/>
                <a:gd name="T2" fmla="*/ 0 w 38"/>
                <a:gd name="T3" fmla="*/ 17 h 36"/>
                <a:gd name="T4" fmla="*/ 0 w 38"/>
                <a:gd name="T5" fmla="*/ 16 h 36"/>
                <a:gd name="T6" fmla="*/ 2 w 38"/>
                <a:gd name="T7" fmla="*/ 16 h 36"/>
                <a:gd name="T8" fmla="*/ 2 w 38"/>
                <a:gd name="T9" fmla="*/ 14 h 36"/>
                <a:gd name="T10" fmla="*/ 2 w 38"/>
                <a:gd name="T11" fmla="*/ 14 h 36"/>
                <a:gd name="T12" fmla="*/ 3 w 38"/>
                <a:gd name="T13" fmla="*/ 13 h 36"/>
                <a:gd name="T14" fmla="*/ 3 w 38"/>
                <a:gd name="T15" fmla="*/ 13 h 36"/>
                <a:gd name="T16" fmla="*/ 4 w 38"/>
                <a:gd name="T17" fmla="*/ 12 h 36"/>
                <a:gd name="T18" fmla="*/ 6 w 38"/>
                <a:gd name="T19" fmla="*/ 10 h 36"/>
                <a:gd name="T20" fmla="*/ 9 w 38"/>
                <a:gd name="T21" fmla="*/ 9 h 36"/>
                <a:gd name="T22" fmla="*/ 11 w 38"/>
                <a:gd name="T23" fmla="*/ 7 h 36"/>
                <a:gd name="T24" fmla="*/ 14 w 38"/>
                <a:gd name="T25" fmla="*/ 6 h 36"/>
                <a:gd name="T26" fmla="*/ 18 w 38"/>
                <a:gd name="T27" fmla="*/ 3 h 36"/>
                <a:gd name="T28" fmla="*/ 19 w 38"/>
                <a:gd name="T29" fmla="*/ 3 h 36"/>
                <a:gd name="T30" fmla="*/ 19 w 38"/>
                <a:gd name="T31" fmla="*/ 2 h 36"/>
                <a:gd name="T32" fmla="*/ 19 w 38"/>
                <a:gd name="T33" fmla="*/ 0 h 36"/>
                <a:gd name="T34" fmla="*/ 19 w 38"/>
                <a:gd name="T35" fmla="*/ 0 h 36"/>
                <a:gd name="T36" fmla="*/ 19 w 38"/>
                <a:gd name="T37" fmla="*/ 0 h 36"/>
                <a:gd name="T38" fmla="*/ 19 w 38"/>
                <a:gd name="T39" fmla="*/ 2 h 36"/>
                <a:gd name="T40" fmla="*/ 19 w 38"/>
                <a:gd name="T41" fmla="*/ 2 h 36"/>
                <a:gd name="T42" fmla="*/ 19 w 38"/>
                <a:gd name="T43" fmla="*/ 3 h 36"/>
                <a:gd name="T44" fmla="*/ 19 w 38"/>
                <a:gd name="T45" fmla="*/ 3 h 36"/>
                <a:gd name="T46" fmla="*/ 19 w 38"/>
                <a:gd name="T47" fmla="*/ 5 h 36"/>
                <a:gd name="T48" fmla="*/ 19 w 38"/>
                <a:gd name="T49" fmla="*/ 6 h 36"/>
                <a:gd name="T50" fmla="*/ 19 w 38"/>
                <a:gd name="T51" fmla="*/ 9 h 36"/>
                <a:gd name="T52" fmla="*/ 19 w 38"/>
                <a:gd name="T53" fmla="*/ 12 h 36"/>
                <a:gd name="T54" fmla="*/ 19 w 38"/>
                <a:gd name="T55" fmla="*/ 14 h 36"/>
                <a:gd name="T56" fmla="*/ 19 w 38"/>
                <a:gd name="T57" fmla="*/ 17 h 36"/>
                <a:gd name="T58" fmla="*/ 19 w 38"/>
                <a:gd name="T59" fmla="*/ 18 h 36"/>
                <a:gd name="T60" fmla="*/ 19 w 38"/>
                <a:gd name="T61" fmla="*/ 18 h 36"/>
                <a:gd name="T62" fmla="*/ 19 w 38"/>
                <a:gd name="T63" fmla="*/ 18 h 36"/>
                <a:gd name="T64" fmla="*/ 19 w 38"/>
                <a:gd name="T65" fmla="*/ 18 h 36"/>
                <a:gd name="T66" fmla="*/ 19 w 38"/>
                <a:gd name="T67" fmla="*/ 18 h 36"/>
                <a:gd name="T68" fmla="*/ 19 w 38"/>
                <a:gd name="T69" fmla="*/ 18 h 36"/>
                <a:gd name="T70" fmla="*/ 19 w 38"/>
                <a:gd name="T71" fmla="*/ 18 h 36"/>
                <a:gd name="T72" fmla="*/ 19 w 38"/>
                <a:gd name="T73" fmla="*/ 18 h 36"/>
                <a:gd name="T74" fmla="*/ 19 w 38"/>
                <a:gd name="T75" fmla="*/ 18 h 36"/>
                <a:gd name="T76" fmla="*/ 19 w 38"/>
                <a:gd name="T77" fmla="*/ 18 h 36"/>
                <a:gd name="T78" fmla="*/ 19 w 38"/>
                <a:gd name="T79" fmla="*/ 18 h 36"/>
                <a:gd name="T80" fmla="*/ 19 w 38"/>
                <a:gd name="T81" fmla="*/ 18 h 36"/>
                <a:gd name="T82" fmla="*/ 19 w 38"/>
                <a:gd name="T83" fmla="*/ 18 h 36"/>
                <a:gd name="T84" fmla="*/ 19 w 38"/>
                <a:gd name="T85" fmla="*/ 18 h 36"/>
                <a:gd name="T86" fmla="*/ 17 w 38"/>
                <a:gd name="T87" fmla="*/ 18 h 36"/>
                <a:gd name="T88" fmla="*/ 13 w 38"/>
                <a:gd name="T89" fmla="*/ 18 h 36"/>
                <a:gd name="T90" fmla="*/ 10 w 38"/>
                <a:gd name="T91" fmla="*/ 18 h 36"/>
                <a:gd name="T92" fmla="*/ 7 w 38"/>
                <a:gd name="T93" fmla="*/ 18 h 36"/>
                <a:gd name="T94" fmla="*/ 6 w 38"/>
                <a:gd name="T95" fmla="*/ 18 h 36"/>
                <a:gd name="T96" fmla="*/ 4 w 38"/>
                <a:gd name="T97" fmla="*/ 18 h 36"/>
                <a:gd name="T98" fmla="*/ 3 w 38"/>
                <a:gd name="T99" fmla="*/ 18 h 36"/>
                <a:gd name="T100" fmla="*/ 2 w 38"/>
                <a:gd name="T101" fmla="*/ 18 h 36"/>
                <a:gd name="T102" fmla="*/ 2 w 38"/>
                <a:gd name="T103" fmla="*/ 18 h 36"/>
                <a:gd name="T104" fmla="*/ 2 w 38"/>
                <a:gd name="T105" fmla="*/ 18 h 36"/>
                <a:gd name="T106" fmla="*/ 0 w 38"/>
                <a:gd name="T107" fmla="*/ 18 h 36"/>
                <a:gd name="T108" fmla="*/ 0 w 38"/>
                <a:gd name="T109" fmla="*/ 18 h 36"/>
                <a:gd name="T110" fmla="*/ 0 w 38"/>
                <a:gd name="T111" fmla="*/ 18 h 36"/>
                <a:gd name="T112" fmla="*/ 0 w 38"/>
                <a:gd name="T113" fmla="*/ 18 h 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8"/>
                <a:gd name="T172" fmla="*/ 0 h 36"/>
                <a:gd name="T173" fmla="*/ 38 w 38"/>
                <a:gd name="T174" fmla="*/ 36 h 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8" h="36">
                  <a:moveTo>
                    <a:pt x="0" y="19"/>
                  </a:moveTo>
                  <a:lnTo>
                    <a:pt x="0" y="17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4"/>
                  </a:lnTo>
                  <a:lnTo>
                    <a:pt x="3" y="13"/>
                  </a:lnTo>
                  <a:lnTo>
                    <a:pt x="4" y="12"/>
                  </a:lnTo>
                  <a:lnTo>
                    <a:pt x="6" y="10"/>
                  </a:lnTo>
                  <a:lnTo>
                    <a:pt x="9" y="9"/>
                  </a:lnTo>
                  <a:lnTo>
                    <a:pt x="11" y="7"/>
                  </a:lnTo>
                  <a:lnTo>
                    <a:pt x="14" y="6"/>
                  </a:lnTo>
                  <a:lnTo>
                    <a:pt x="18" y="3"/>
                  </a:lnTo>
                  <a:lnTo>
                    <a:pt x="21" y="3"/>
                  </a:lnTo>
                  <a:lnTo>
                    <a:pt x="25" y="2"/>
                  </a:lnTo>
                  <a:lnTo>
                    <a:pt x="28" y="0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3" y="3"/>
                  </a:lnTo>
                  <a:lnTo>
                    <a:pt x="34" y="3"/>
                  </a:lnTo>
                  <a:lnTo>
                    <a:pt x="35" y="5"/>
                  </a:lnTo>
                  <a:lnTo>
                    <a:pt x="35" y="6"/>
                  </a:lnTo>
                  <a:lnTo>
                    <a:pt x="37" y="9"/>
                  </a:lnTo>
                  <a:lnTo>
                    <a:pt x="37" y="12"/>
                  </a:lnTo>
                  <a:lnTo>
                    <a:pt x="38" y="14"/>
                  </a:lnTo>
                  <a:lnTo>
                    <a:pt x="38" y="17"/>
                  </a:lnTo>
                  <a:lnTo>
                    <a:pt x="38" y="20"/>
                  </a:lnTo>
                  <a:lnTo>
                    <a:pt x="38" y="23"/>
                  </a:lnTo>
                  <a:lnTo>
                    <a:pt x="37" y="26"/>
                  </a:lnTo>
                  <a:lnTo>
                    <a:pt x="37" y="29"/>
                  </a:lnTo>
                  <a:lnTo>
                    <a:pt x="35" y="30"/>
                  </a:lnTo>
                  <a:lnTo>
                    <a:pt x="34" y="31"/>
                  </a:lnTo>
                  <a:lnTo>
                    <a:pt x="34" y="33"/>
                  </a:lnTo>
                  <a:lnTo>
                    <a:pt x="33" y="34"/>
                  </a:lnTo>
                  <a:lnTo>
                    <a:pt x="31" y="36"/>
                  </a:lnTo>
                  <a:lnTo>
                    <a:pt x="30" y="36"/>
                  </a:lnTo>
                  <a:lnTo>
                    <a:pt x="28" y="36"/>
                  </a:lnTo>
                  <a:lnTo>
                    <a:pt x="24" y="36"/>
                  </a:lnTo>
                  <a:lnTo>
                    <a:pt x="20" y="34"/>
                  </a:lnTo>
                  <a:lnTo>
                    <a:pt x="17" y="31"/>
                  </a:lnTo>
                  <a:lnTo>
                    <a:pt x="13" y="30"/>
                  </a:lnTo>
                  <a:lnTo>
                    <a:pt x="10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4" y="24"/>
                  </a:lnTo>
                  <a:lnTo>
                    <a:pt x="3" y="23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0" y="2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4" name="Freeform 79"/>
            <p:cNvSpPr>
              <a:spLocks/>
            </p:cNvSpPr>
            <p:nvPr/>
          </p:nvSpPr>
          <p:spPr bwMode="auto">
            <a:xfrm>
              <a:off x="3894" y="367"/>
              <a:ext cx="33" cy="35"/>
            </a:xfrm>
            <a:custGeom>
              <a:avLst/>
              <a:gdLst>
                <a:gd name="T0" fmla="*/ 8 w 35"/>
                <a:gd name="T1" fmla="*/ 9 h 37"/>
                <a:gd name="T2" fmla="*/ 8 w 35"/>
                <a:gd name="T3" fmla="*/ 9 h 37"/>
                <a:gd name="T4" fmla="*/ 7 w 35"/>
                <a:gd name="T5" fmla="*/ 9 h 37"/>
                <a:gd name="T6" fmla="*/ 7 w 35"/>
                <a:gd name="T7" fmla="*/ 9 h 37"/>
                <a:gd name="T8" fmla="*/ 6 w 35"/>
                <a:gd name="T9" fmla="*/ 9 h 37"/>
                <a:gd name="T10" fmla="*/ 6 w 35"/>
                <a:gd name="T11" fmla="*/ 9 h 37"/>
                <a:gd name="T12" fmla="*/ 6 w 35"/>
                <a:gd name="T13" fmla="*/ 9 h 37"/>
                <a:gd name="T14" fmla="*/ 4 w 35"/>
                <a:gd name="T15" fmla="*/ 9 h 37"/>
                <a:gd name="T16" fmla="*/ 4 w 35"/>
                <a:gd name="T17" fmla="*/ 9 h 37"/>
                <a:gd name="T18" fmla="*/ 3 w 35"/>
                <a:gd name="T19" fmla="*/ 9 h 37"/>
                <a:gd name="T20" fmla="*/ 3 w 35"/>
                <a:gd name="T21" fmla="*/ 9 h 37"/>
                <a:gd name="T22" fmla="*/ 2 w 35"/>
                <a:gd name="T23" fmla="*/ 9 h 37"/>
                <a:gd name="T24" fmla="*/ 2 w 35"/>
                <a:gd name="T25" fmla="*/ 9 h 37"/>
                <a:gd name="T26" fmla="*/ 2 w 35"/>
                <a:gd name="T27" fmla="*/ 9 h 37"/>
                <a:gd name="T28" fmla="*/ 0 w 35"/>
                <a:gd name="T29" fmla="*/ 9 h 37"/>
                <a:gd name="T30" fmla="*/ 0 w 35"/>
                <a:gd name="T31" fmla="*/ 8 h 37"/>
                <a:gd name="T32" fmla="*/ 2 w 35"/>
                <a:gd name="T33" fmla="*/ 4 h 37"/>
                <a:gd name="T34" fmla="*/ 2 w 35"/>
                <a:gd name="T35" fmla="*/ 4 h 37"/>
                <a:gd name="T36" fmla="*/ 2 w 35"/>
                <a:gd name="T37" fmla="*/ 3 h 37"/>
                <a:gd name="T38" fmla="*/ 3 w 35"/>
                <a:gd name="T39" fmla="*/ 3 h 37"/>
                <a:gd name="T40" fmla="*/ 3 w 35"/>
                <a:gd name="T41" fmla="*/ 1 h 37"/>
                <a:gd name="T42" fmla="*/ 4 w 35"/>
                <a:gd name="T43" fmla="*/ 1 h 37"/>
                <a:gd name="T44" fmla="*/ 6 w 35"/>
                <a:gd name="T45" fmla="*/ 0 h 37"/>
                <a:gd name="T46" fmla="*/ 7 w 35"/>
                <a:gd name="T47" fmla="*/ 0 h 37"/>
                <a:gd name="T48" fmla="*/ 7 w 35"/>
                <a:gd name="T49" fmla="*/ 0 h 37"/>
                <a:gd name="T50" fmla="*/ 8 w 35"/>
                <a:gd name="T51" fmla="*/ 0 h 37"/>
                <a:gd name="T52" fmla="*/ 8 w 35"/>
                <a:gd name="T53" fmla="*/ 0 h 37"/>
                <a:gd name="T54" fmla="*/ 8 w 35"/>
                <a:gd name="T55" fmla="*/ 0 h 37"/>
                <a:gd name="T56" fmla="*/ 8 w 35"/>
                <a:gd name="T57" fmla="*/ 1 h 37"/>
                <a:gd name="T58" fmla="*/ 8 w 35"/>
                <a:gd name="T59" fmla="*/ 1 h 37"/>
                <a:gd name="T60" fmla="*/ 8 w 35"/>
                <a:gd name="T61" fmla="*/ 3 h 37"/>
                <a:gd name="T62" fmla="*/ 8 w 35"/>
                <a:gd name="T63" fmla="*/ 4 h 37"/>
                <a:gd name="T64" fmla="*/ 8 w 35"/>
                <a:gd name="T65" fmla="*/ 6 h 37"/>
                <a:gd name="T66" fmla="*/ 8 w 35"/>
                <a:gd name="T67" fmla="*/ 7 h 37"/>
                <a:gd name="T68" fmla="*/ 8 w 35"/>
                <a:gd name="T69" fmla="*/ 8 h 37"/>
                <a:gd name="T70" fmla="*/ 8 w 35"/>
                <a:gd name="T71" fmla="*/ 9 h 37"/>
                <a:gd name="T72" fmla="*/ 8 w 35"/>
                <a:gd name="T73" fmla="*/ 9 h 37"/>
                <a:gd name="T74" fmla="*/ 8 w 35"/>
                <a:gd name="T75" fmla="*/ 9 h 37"/>
                <a:gd name="T76" fmla="*/ 8 w 35"/>
                <a:gd name="T77" fmla="*/ 9 h 37"/>
                <a:gd name="T78" fmla="*/ 8 w 35"/>
                <a:gd name="T79" fmla="*/ 9 h 37"/>
                <a:gd name="T80" fmla="*/ 8 w 35"/>
                <a:gd name="T81" fmla="*/ 9 h 37"/>
                <a:gd name="T82" fmla="*/ 8 w 35"/>
                <a:gd name="T83" fmla="*/ 9 h 37"/>
                <a:gd name="T84" fmla="*/ 8 w 35"/>
                <a:gd name="T85" fmla="*/ 9 h 37"/>
                <a:gd name="T86" fmla="*/ 8 w 35"/>
                <a:gd name="T87" fmla="*/ 9 h 37"/>
                <a:gd name="T88" fmla="*/ 8 w 35"/>
                <a:gd name="T89" fmla="*/ 9 h 37"/>
                <a:gd name="T90" fmla="*/ 8 w 35"/>
                <a:gd name="T91" fmla="*/ 9 h 37"/>
                <a:gd name="T92" fmla="*/ 8 w 35"/>
                <a:gd name="T93" fmla="*/ 9 h 37"/>
                <a:gd name="T94" fmla="*/ 8 w 35"/>
                <a:gd name="T95" fmla="*/ 9 h 37"/>
                <a:gd name="T96" fmla="*/ 8 w 35"/>
                <a:gd name="T97" fmla="*/ 9 h 37"/>
                <a:gd name="T98" fmla="*/ 8 w 35"/>
                <a:gd name="T99" fmla="*/ 9 h 37"/>
                <a:gd name="T100" fmla="*/ 8 w 35"/>
                <a:gd name="T101" fmla="*/ 9 h 37"/>
                <a:gd name="T102" fmla="*/ 8 w 35"/>
                <a:gd name="T103" fmla="*/ 9 h 37"/>
                <a:gd name="T104" fmla="*/ 8 w 35"/>
                <a:gd name="T105" fmla="*/ 9 h 37"/>
                <a:gd name="T106" fmla="*/ 8 w 35"/>
                <a:gd name="T107" fmla="*/ 9 h 37"/>
                <a:gd name="T108" fmla="*/ 8 w 35"/>
                <a:gd name="T109" fmla="*/ 9 h 37"/>
                <a:gd name="T110" fmla="*/ 8 w 35"/>
                <a:gd name="T111" fmla="*/ 9 h 37"/>
                <a:gd name="T112" fmla="*/ 8 w 35"/>
                <a:gd name="T113" fmla="*/ 9 h 3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5"/>
                <a:gd name="T172" fmla="*/ 0 h 37"/>
                <a:gd name="T173" fmla="*/ 35 w 35"/>
                <a:gd name="T174" fmla="*/ 37 h 37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5" h="37">
                  <a:moveTo>
                    <a:pt x="9" y="37"/>
                  </a:moveTo>
                  <a:lnTo>
                    <a:pt x="9" y="37"/>
                  </a:lnTo>
                  <a:lnTo>
                    <a:pt x="7" y="37"/>
                  </a:lnTo>
                  <a:lnTo>
                    <a:pt x="7" y="35"/>
                  </a:lnTo>
                  <a:lnTo>
                    <a:pt x="6" y="35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4" y="31"/>
                  </a:lnTo>
                  <a:lnTo>
                    <a:pt x="3" y="28"/>
                  </a:lnTo>
                  <a:lnTo>
                    <a:pt x="3" y="25"/>
                  </a:lnTo>
                  <a:lnTo>
                    <a:pt x="2" y="23"/>
                  </a:lnTo>
                  <a:lnTo>
                    <a:pt x="2" y="20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0" y="8"/>
                  </a:lnTo>
                  <a:lnTo>
                    <a:pt x="2" y="4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1"/>
                  </a:lnTo>
                  <a:lnTo>
                    <a:pt x="4" y="1"/>
                  </a:lnTo>
                  <a:lnTo>
                    <a:pt x="6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20" y="1"/>
                  </a:lnTo>
                  <a:lnTo>
                    <a:pt x="23" y="1"/>
                  </a:lnTo>
                  <a:lnTo>
                    <a:pt x="25" y="3"/>
                  </a:lnTo>
                  <a:lnTo>
                    <a:pt x="28" y="4"/>
                  </a:lnTo>
                  <a:lnTo>
                    <a:pt x="30" y="6"/>
                  </a:lnTo>
                  <a:lnTo>
                    <a:pt x="31" y="7"/>
                  </a:lnTo>
                  <a:lnTo>
                    <a:pt x="33" y="8"/>
                  </a:lnTo>
                  <a:lnTo>
                    <a:pt x="34" y="10"/>
                  </a:lnTo>
                  <a:lnTo>
                    <a:pt x="34" y="11"/>
                  </a:lnTo>
                  <a:lnTo>
                    <a:pt x="35" y="13"/>
                  </a:lnTo>
                  <a:lnTo>
                    <a:pt x="35" y="14"/>
                  </a:lnTo>
                  <a:lnTo>
                    <a:pt x="35" y="16"/>
                  </a:lnTo>
                  <a:lnTo>
                    <a:pt x="33" y="20"/>
                  </a:lnTo>
                  <a:lnTo>
                    <a:pt x="30" y="23"/>
                  </a:lnTo>
                  <a:lnTo>
                    <a:pt x="27" y="25"/>
                  </a:lnTo>
                  <a:lnTo>
                    <a:pt x="25" y="28"/>
                  </a:lnTo>
                  <a:lnTo>
                    <a:pt x="23" y="31"/>
                  </a:lnTo>
                  <a:lnTo>
                    <a:pt x="20" y="32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1" y="37"/>
                  </a:lnTo>
                  <a:lnTo>
                    <a:pt x="10" y="37"/>
                  </a:lnTo>
                  <a:lnTo>
                    <a:pt x="9" y="37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5" name="Freeform 80"/>
            <p:cNvSpPr>
              <a:spLocks/>
            </p:cNvSpPr>
            <p:nvPr/>
          </p:nvSpPr>
          <p:spPr bwMode="auto">
            <a:xfrm>
              <a:off x="3859" y="367"/>
              <a:ext cx="32" cy="35"/>
            </a:xfrm>
            <a:custGeom>
              <a:avLst/>
              <a:gdLst>
                <a:gd name="T0" fmla="*/ 16 w 33"/>
                <a:gd name="T1" fmla="*/ 9 h 37"/>
                <a:gd name="T2" fmla="*/ 16 w 33"/>
                <a:gd name="T3" fmla="*/ 9 h 37"/>
                <a:gd name="T4" fmla="*/ 16 w 33"/>
                <a:gd name="T5" fmla="*/ 9 h 37"/>
                <a:gd name="T6" fmla="*/ 16 w 33"/>
                <a:gd name="T7" fmla="*/ 9 h 37"/>
                <a:gd name="T8" fmla="*/ 16 w 33"/>
                <a:gd name="T9" fmla="*/ 9 h 37"/>
                <a:gd name="T10" fmla="*/ 16 w 33"/>
                <a:gd name="T11" fmla="*/ 9 h 37"/>
                <a:gd name="T12" fmla="*/ 16 w 33"/>
                <a:gd name="T13" fmla="*/ 9 h 37"/>
                <a:gd name="T14" fmla="*/ 16 w 33"/>
                <a:gd name="T15" fmla="*/ 9 h 37"/>
                <a:gd name="T16" fmla="*/ 16 w 33"/>
                <a:gd name="T17" fmla="*/ 9 h 37"/>
                <a:gd name="T18" fmla="*/ 16 w 33"/>
                <a:gd name="T19" fmla="*/ 9 h 37"/>
                <a:gd name="T20" fmla="*/ 14 w 33"/>
                <a:gd name="T21" fmla="*/ 9 h 37"/>
                <a:gd name="T22" fmla="*/ 11 w 33"/>
                <a:gd name="T23" fmla="*/ 9 h 37"/>
                <a:gd name="T24" fmla="*/ 9 w 33"/>
                <a:gd name="T25" fmla="*/ 9 h 37"/>
                <a:gd name="T26" fmla="*/ 7 w 33"/>
                <a:gd name="T27" fmla="*/ 9 h 37"/>
                <a:gd name="T28" fmla="*/ 4 w 33"/>
                <a:gd name="T29" fmla="*/ 9 h 37"/>
                <a:gd name="T30" fmla="*/ 1 w 33"/>
                <a:gd name="T31" fmla="*/ 9 h 37"/>
                <a:gd name="T32" fmla="*/ 0 w 33"/>
                <a:gd name="T33" fmla="*/ 9 h 37"/>
                <a:gd name="T34" fmla="*/ 0 w 33"/>
                <a:gd name="T35" fmla="*/ 9 h 37"/>
                <a:gd name="T36" fmla="*/ 0 w 33"/>
                <a:gd name="T37" fmla="*/ 9 h 37"/>
                <a:gd name="T38" fmla="*/ 0 w 33"/>
                <a:gd name="T39" fmla="*/ 9 h 37"/>
                <a:gd name="T40" fmla="*/ 0 w 33"/>
                <a:gd name="T41" fmla="*/ 9 h 37"/>
                <a:gd name="T42" fmla="*/ 0 w 33"/>
                <a:gd name="T43" fmla="*/ 9 h 37"/>
                <a:gd name="T44" fmla="*/ 1 w 33"/>
                <a:gd name="T45" fmla="*/ 9 h 37"/>
                <a:gd name="T46" fmla="*/ 1 w 33"/>
                <a:gd name="T47" fmla="*/ 8 h 37"/>
                <a:gd name="T48" fmla="*/ 2 w 33"/>
                <a:gd name="T49" fmla="*/ 8 h 37"/>
                <a:gd name="T50" fmla="*/ 4 w 33"/>
                <a:gd name="T51" fmla="*/ 6 h 37"/>
                <a:gd name="T52" fmla="*/ 7 w 33"/>
                <a:gd name="T53" fmla="*/ 4 h 37"/>
                <a:gd name="T54" fmla="*/ 9 w 33"/>
                <a:gd name="T55" fmla="*/ 3 h 37"/>
                <a:gd name="T56" fmla="*/ 12 w 33"/>
                <a:gd name="T57" fmla="*/ 1 h 37"/>
                <a:gd name="T58" fmla="*/ 15 w 33"/>
                <a:gd name="T59" fmla="*/ 0 h 37"/>
                <a:gd name="T60" fmla="*/ 16 w 33"/>
                <a:gd name="T61" fmla="*/ 0 h 37"/>
                <a:gd name="T62" fmla="*/ 16 w 33"/>
                <a:gd name="T63" fmla="*/ 0 h 37"/>
                <a:gd name="T64" fmla="*/ 16 w 33"/>
                <a:gd name="T65" fmla="*/ 0 h 37"/>
                <a:gd name="T66" fmla="*/ 16 w 33"/>
                <a:gd name="T67" fmla="*/ 0 h 37"/>
                <a:gd name="T68" fmla="*/ 16 w 33"/>
                <a:gd name="T69" fmla="*/ 0 h 37"/>
                <a:gd name="T70" fmla="*/ 16 w 33"/>
                <a:gd name="T71" fmla="*/ 0 h 37"/>
                <a:gd name="T72" fmla="*/ 16 w 33"/>
                <a:gd name="T73" fmla="*/ 1 h 37"/>
                <a:gd name="T74" fmla="*/ 16 w 33"/>
                <a:gd name="T75" fmla="*/ 1 h 37"/>
                <a:gd name="T76" fmla="*/ 16 w 33"/>
                <a:gd name="T77" fmla="*/ 3 h 37"/>
                <a:gd name="T78" fmla="*/ 16 w 33"/>
                <a:gd name="T79" fmla="*/ 4 h 37"/>
                <a:gd name="T80" fmla="*/ 16 w 33"/>
                <a:gd name="T81" fmla="*/ 4 h 37"/>
                <a:gd name="T82" fmla="*/ 16 w 33"/>
                <a:gd name="T83" fmla="*/ 8 h 37"/>
                <a:gd name="T84" fmla="*/ 16 w 33"/>
                <a:gd name="T85" fmla="*/ 9 h 37"/>
                <a:gd name="T86" fmla="*/ 16 w 33"/>
                <a:gd name="T87" fmla="*/ 9 h 37"/>
                <a:gd name="T88" fmla="*/ 16 w 33"/>
                <a:gd name="T89" fmla="*/ 9 h 37"/>
                <a:gd name="T90" fmla="*/ 16 w 33"/>
                <a:gd name="T91" fmla="*/ 9 h 37"/>
                <a:gd name="T92" fmla="*/ 16 w 33"/>
                <a:gd name="T93" fmla="*/ 9 h 37"/>
                <a:gd name="T94" fmla="*/ 16 w 33"/>
                <a:gd name="T95" fmla="*/ 9 h 37"/>
                <a:gd name="T96" fmla="*/ 16 w 33"/>
                <a:gd name="T97" fmla="*/ 9 h 37"/>
                <a:gd name="T98" fmla="*/ 16 w 33"/>
                <a:gd name="T99" fmla="*/ 9 h 37"/>
                <a:gd name="T100" fmla="*/ 16 w 33"/>
                <a:gd name="T101" fmla="*/ 9 h 37"/>
                <a:gd name="T102" fmla="*/ 16 w 33"/>
                <a:gd name="T103" fmla="*/ 9 h 37"/>
                <a:gd name="T104" fmla="*/ 16 w 33"/>
                <a:gd name="T105" fmla="*/ 9 h 37"/>
                <a:gd name="T106" fmla="*/ 16 w 33"/>
                <a:gd name="T107" fmla="*/ 9 h 37"/>
                <a:gd name="T108" fmla="*/ 16 w 33"/>
                <a:gd name="T109" fmla="*/ 9 h 37"/>
                <a:gd name="T110" fmla="*/ 16 w 33"/>
                <a:gd name="T111" fmla="*/ 9 h 37"/>
                <a:gd name="T112" fmla="*/ 16 w 33"/>
                <a:gd name="T113" fmla="*/ 9 h 3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3"/>
                <a:gd name="T172" fmla="*/ 0 h 37"/>
                <a:gd name="T173" fmla="*/ 33 w 33"/>
                <a:gd name="T174" fmla="*/ 37 h 37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3" h="37">
                  <a:moveTo>
                    <a:pt x="25" y="37"/>
                  </a:moveTo>
                  <a:lnTo>
                    <a:pt x="25" y="37"/>
                  </a:lnTo>
                  <a:lnTo>
                    <a:pt x="23" y="37"/>
                  </a:lnTo>
                  <a:lnTo>
                    <a:pt x="22" y="37"/>
                  </a:lnTo>
                  <a:lnTo>
                    <a:pt x="21" y="37"/>
                  </a:lnTo>
                  <a:lnTo>
                    <a:pt x="19" y="35"/>
                  </a:lnTo>
                  <a:lnTo>
                    <a:pt x="18" y="35"/>
                  </a:lnTo>
                  <a:lnTo>
                    <a:pt x="16" y="34"/>
                  </a:lnTo>
                  <a:lnTo>
                    <a:pt x="14" y="32"/>
                  </a:lnTo>
                  <a:lnTo>
                    <a:pt x="11" y="30"/>
                  </a:lnTo>
                  <a:lnTo>
                    <a:pt x="9" y="28"/>
                  </a:lnTo>
                  <a:lnTo>
                    <a:pt x="7" y="25"/>
                  </a:lnTo>
                  <a:lnTo>
                    <a:pt x="4" y="23"/>
                  </a:lnTo>
                  <a:lnTo>
                    <a:pt x="1" y="20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2" y="8"/>
                  </a:lnTo>
                  <a:lnTo>
                    <a:pt x="4" y="6"/>
                  </a:lnTo>
                  <a:lnTo>
                    <a:pt x="7" y="4"/>
                  </a:lnTo>
                  <a:lnTo>
                    <a:pt x="9" y="3"/>
                  </a:lnTo>
                  <a:lnTo>
                    <a:pt x="12" y="1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9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2" y="3"/>
                  </a:lnTo>
                  <a:lnTo>
                    <a:pt x="33" y="4"/>
                  </a:lnTo>
                  <a:lnTo>
                    <a:pt x="33" y="8"/>
                  </a:lnTo>
                  <a:lnTo>
                    <a:pt x="33" y="13"/>
                  </a:lnTo>
                  <a:lnTo>
                    <a:pt x="33" y="17"/>
                  </a:lnTo>
                  <a:lnTo>
                    <a:pt x="33" y="21"/>
                  </a:lnTo>
                  <a:lnTo>
                    <a:pt x="32" y="24"/>
                  </a:lnTo>
                  <a:lnTo>
                    <a:pt x="32" y="27"/>
                  </a:lnTo>
                  <a:lnTo>
                    <a:pt x="30" y="30"/>
                  </a:lnTo>
                  <a:lnTo>
                    <a:pt x="29" y="31"/>
                  </a:lnTo>
                  <a:lnTo>
                    <a:pt x="29" y="32"/>
                  </a:lnTo>
                  <a:lnTo>
                    <a:pt x="29" y="34"/>
                  </a:lnTo>
                  <a:lnTo>
                    <a:pt x="28" y="35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5" y="37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6" name="Freeform 81"/>
            <p:cNvSpPr>
              <a:spLocks/>
            </p:cNvSpPr>
            <p:nvPr/>
          </p:nvSpPr>
          <p:spPr bwMode="auto">
            <a:xfrm>
              <a:off x="3916" y="381"/>
              <a:ext cx="35" cy="33"/>
            </a:xfrm>
            <a:custGeom>
              <a:avLst/>
              <a:gdLst>
                <a:gd name="T0" fmla="*/ 1 w 37"/>
                <a:gd name="T1" fmla="*/ 8 h 35"/>
                <a:gd name="T2" fmla="*/ 0 w 37"/>
                <a:gd name="T3" fmla="*/ 8 h 35"/>
                <a:gd name="T4" fmla="*/ 0 w 37"/>
                <a:gd name="T5" fmla="*/ 8 h 35"/>
                <a:gd name="T6" fmla="*/ 0 w 37"/>
                <a:gd name="T7" fmla="*/ 8 h 35"/>
                <a:gd name="T8" fmla="*/ 0 w 37"/>
                <a:gd name="T9" fmla="*/ 8 h 35"/>
                <a:gd name="T10" fmla="*/ 0 w 37"/>
                <a:gd name="T11" fmla="*/ 8 h 35"/>
                <a:gd name="T12" fmla="*/ 0 w 37"/>
                <a:gd name="T13" fmla="*/ 8 h 35"/>
                <a:gd name="T14" fmla="*/ 0 w 37"/>
                <a:gd name="T15" fmla="*/ 8 h 35"/>
                <a:gd name="T16" fmla="*/ 0 w 37"/>
                <a:gd name="T17" fmla="*/ 8 h 35"/>
                <a:gd name="T18" fmla="*/ 1 w 37"/>
                <a:gd name="T19" fmla="*/ 8 h 35"/>
                <a:gd name="T20" fmla="*/ 3 w 37"/>
                <a:gd name="T21" fmla="*/ 8 h 35"/>
                <a:gd name="T22" fmla="*/ 4 w 37"/>
                <a:gd name="T23" fmla="*/ 8 h 35"/>
                <a:gd name="T24" fmla="*/ 6 w 37"/>
                <a:gd name="T25" fmla="*/ 8 h 35"/>
                <a:gd name="T26" fmla="*/ 7 w 37"/>
                <a:gd name="T27" fmla="*/ 8 h 35"/>
                <a:gd name="T28" fmla="*/ 9 w 37"/>
                <a:gd name="T29" fmla="*/ 7 h 35"/>
                <a:gd name="T30" fmla="*/ 9 w 37"/>
                <a:gd name="T31" fmla="*/ 4 h 35"/>
                <a:gd name="T32" fmla="*/ 9 w 37"/>
                <a:gd name="T33" fmla="*/ 1 h 35"/>
                <a:gd name="T34" fmla="*/ 9 w 37"/>
                <a:gd name="T35" fmla="*/ 1 h 35"/>
                <a:gd name="T36" fmla="*/ 9 w 37"/>
                <a:gd name="T37" fmla="*/ 0 h 35"/>
                <a:gd name="T38" fmla="*/ 9 w 37"/>
                <a:gd name="T39" fmla="*/ 0 h 35"/>
                <a:gd name="T40" fmla="*/ 9 w 37"/>
                <a:gd name="T41" fmla="*/ 0 h 35"/>
                <a:gd name="T42" fmla="*/ 9 w 37"/>
                <a:gd name="T43" fmla="*/ 0 h 35"/>
                <a:gd name="T44" fmla="*/ 9 w 37"/>
                <a:gd name="T45" fmla="*/ 1 h 35"/>
                <a:gd name="T46" fmla="*/ 9 w 37"/>
                <a:gd name="T47" fmla="*/ 1 h 35"/>
                <a:gd name="T48" fmla="*/ 9 w 37"/>
                <a:gd name="T49" fmla="*/ 1 h 35"/>
                <a:gd name="T50" fmla="*/ 9 w 37"/>
                <a:gd name="T51" fmla="*/ 2 h 35"/>
                <a:gd name="T52" fmla="*/ 9 w 37"/>
                <a:gd name="T53" fmla="*/ 5 h 35"/>
                <a:gd name="T54" fmla="*/ 9 w 37"/>
                <a:gd name="T55" fmla="*/ 7 h 35"/>
                <a:gd name="T56" fmla="*/ 9 w 37"/>
                <a:gd name="T57" fmla="*/ 8 h 35"/>
                <a:gd name="T58" fmla="*/ 9 w 37"/>
                <a:gd name="T59" fmla="*/ 8 h 35"/>
                <a:gd name="T60" fmla="*/ 9 w 37"/>
                <a:gd name="T61" fmla="*/ 8 h 35"/>
                <a:gd name="T62" fmla="*/ 9 w 37"/>
                <a:gd name="T63" fmla="*/ 8 h 35"/>
                <a:gd name="T64" fmla="*/ 9 w 37"/>
                <a:gd name="T65" fmla="*/ 8 h 35"/>
                <a:gd name="T66" fmla="*/ 9 w 37"/>
                <a:gd name="T67" fmla="*/ 8 h 35"/>
                <a:gd name="T68" fmla="*/ 9 w 37"/>
                <a:gd name="T69" fmla="*/ 8 h 35"/>
                <a:gd name="T70" fmla="*/ 9 w 37"/>
                <a:gd name="T71" fmla="*/ 8 h 35"/>
                <a:gd name="T72" fmla="*/ 9 w 37"/>
                <a:gd name="T73" fmla="*/ 8 h 35"/>
                <a:gd name="T74" fmla="*/ 9 w 37"/>
                <a:gd name="T75" fmla="*/ 8 h 35"/>
                <a:gd name="T76" fmla="*/ 9 w 37"/>
                <a:gd name="T77" fmla="*/ 8 h 35"/>
                <a:gd name="T78" fmla="*/ 9 w 37"/>
                <a:gd name="T79" fmla="*/ 8 h 35"/>
                <a:gd name="T80" fmla="*/ 9 w 37"/>
                <a:gd name="T81" fmla="*/ 8 h 35"/>
                <a:gd name="T82" fmla="*/ 9 w 37"/>
                <a:gd name="T83" fmla="*/ 8 h 35"/>
                <a:gd name="T84" fmla="*/ 9 w 37"/>
                <a:gd name="T85" fmla="*/ 8 h 35"/>
                <a:gd name="T86" fmla="*/ 9 w 37"/>
                <a:gd name="T87" fmla="*/ 8 h 35"/>
                <a:gd name="T88" fmla="*/ 9 w 37"/>
                <a:gd name="T89" fmla="*/ 8 h 35"/>
                <a:gd name="T90" fmla="*/ 9 w 37"/>
                <a:gd name="T91" fmla="*/ 8 h 35"/>
                <a:gd name="T92" fmla="*/ 9 w 37"/>
                <a:gd name="T93" fmla="*/ 8 h 35"/>
                <a:gd name="T94" fmla="*/ 9 w 37"/>
                <a:gd name="T95" fmla="*/ 8 h 35"/>
                <a:gd name="T96" fmla="*/ 7 w 37"/>
                <a:gd name="T97" fmla="*/ 8 h 35"/>
                <a:gd name="T98" fmla="*/ 6 w 37"/>
                <a:gd name="T99" fmla="*/ 8 h 35"/>
                <a:gd name="T100" fmla="*/ 6 w 37"/>
                <a:gd name="T101" fmla="*/ 8 h 35"/>
                <a:gd name="T102" fmla="*/ 4 w 37"/>
                <a:gd name="T103" fmla="*/ 8 h 35"/>
                <a:gd name="T104" fmla="*/ 3 w 37"/>
                <a:gd name="T105" fmla="*/ 8 h 35"/>
                <a:gd name="T106" fmla="*/ 3 w 37"/>
                <a:gd name="T107" fmla="*/ 8 h 35"/>
                <a:gd name="T108" fmla="*/ 1 w 37"/>
                <a:gd name="T109" fmla="*/ 8 h 35"/>
                <a:gd name="T110" fmla="*/ 1 w 37"/>
                <a:gd name="T111" fmla="*/ 8 h 35"/>
                <a:gd name="T112" fmla="*/ 1 w 37"/>
                <a:gd name="T113" fmla="*/ 8 h 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7"/>
                <a:gd name="T172" fmla="*/ 0 h 35"/>
                <a:gd name="T173" fmla="*/ 37 w 37"/>
                <a:gd name="T174" fmla="*/ 35 h 35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7" h="35">
                  <a:moveTo>
                    <a:pt x="1" y="32"/>
                  </a:moveTo>
                  <a:lnTo>
                    <a:pt x="0" y="32"/>
                  </a:lnTo>
                  <a:lnTo>
                    <a:pt x="0" y="31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2"/>
                  </a:lnTo>
                  <a:lnTo>
                    <a:pt x="3" y="19"/>
                  </a:lnTo>
                  <a:lnTo>
                    <a:pt x="4" y="16"/>
                  </a:lnTo>
                  <a:lnTo>
                    <a:pt x="6" y="14"/>
                  </a:lnTo>
                  <a:lnTo>
                    <a:pt x="7" y="11"/>
                  </a:lnTo>
                  <a:lnTo>
                    <a:pt x="9" y="7"/>
                  </a:lnTo>
                  <a:lnTo>
                    <a:pt x="11" y="4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4" y="2"/>
                  </a:lnTo>
                  <a:lnTo>
                    <a:pt x="27" y="5"/>
                  </a:lnTo>
                  <a:lnTo>
                    <a:pt x="30" y="7"/>
                  </a:lnTo>
                  <a:lnTo>
                    <a:pt x="31" y="9"/>
                  </a:lnTo>
                  <a:lnTo>
                    <a:pt x="32" y="12"/>
                  </a:lnTo>
                  <a:lnTo>
                    <a:pt x="34" y="15"/>
                  </a:lnTo>
                  <a:lnTo>
                    <a:pt x="35" y="16"/>
                  </a:lnTo>
                  <a:lnTo>
                    <a:pt x="37" y="19"/>
                  </a:lnTo>
                  <a:lnTo>
                    <a:pt x="37" y="21"/>
                  </a:lnTo>
                  <a:lnTo>
                    <a:pt x="37" y="22"/>
                  </a:lnTo>
                  <a:lnTo>
                    <a:pt x="37" y="25"/>
                  </a:lnTo>
                  <a:lnTo>
                    <a:pt x="37" y="26"/>
                  </a:lnTo>
                  <a:lnTo>
                    <a:pt x="37" y="28"/>
                  </a:lnTo>
                  <a:lnTo>
                    <a:pt x="35" y="29"/>
                  </a:lnTo>
                  <a:lnTo>
                    <a:pt x="34" y="31"/>
                  </a:lnTo>
                  <a:lnTo>
                    <a:pt x="31" y="32"/>
                  </a:lnTo>
                  <a:lnTo>
                    <a:pt x="27" y="33"/>
                  </a:lnTo>
                  <a:lnTo>
                    <a:pt x="23" y="33"/>
                  </a:lnTo>
                  <a:lnTo>
                    <a:pt x="18" y="35"/>
                  </a:lnTo>
                  <a:lnTo>
                    <a:pt x="16" y="35"/>
                  </a:lnTo>
                  <a:lnTo>
                    <a:pt x="13" y="35"/>
                  </a:lnTo>
                  <a:lnTo>
                    <a:pt x="10" y="35"/>
                  </a:lnTo>
                  <a:lnTo>
                    <a:pt x="7" y="35"/>
                  </a:lnTo>
                  <a:lnTo>
                    <a:pt x="6" y="35"/>
                  </a:lnTo>
                  <a:lnTo>
                    <a:pt x="4" y="33"/>
                  </a:lnTo>
                  <a:lnTo>
                    <a:pt x="3" y="33"/>
                  </a:lnTo>
                  <a:lnTo>
                    <a:pt x="1" y="33"/>
                  </a:lnTo>
                  <a:lnTo>
                    <a:pt x="1" y="32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7" name="Freeform 82"/>
            <p:cNvSpPr>
              <a:spLocks/>
            </p:cNvSpPr>
            <p:nvPr/>
          </p:nvSpPr>
          <p:spPr bwMode="auto">
            <a:xfrm>
              <a:off x="3916" y="446"/>
              <a:ext cx="35" cy="33"/>
            </a:xfrm>
            <a:custGeom>
              <a:avLst/>
              <a:gdLst>
                <a:gd name="T0" fmla="*/ 1 w 37"/>
                <a:gd name="T1" fmla="*/ 3 h 35"/>
                <a:gd name="T2" fmla="*/ 1 w 37"/>
                <a:gd name="T3" fmla="*/ 2 h 35"/>
                <a:gd name="T4" fmla="*/ 3 w 37"/>
                <a:gd name="T5" fmla="*/ 2 h 35"/>
                <a:gd name="T6" fmla="*/ 3 w 37"/>
                <a:gd name="T7" fmla="*/ 2 h 35"/>
                <a:gd name="T8" fmla="*/ 4 w 37"/>
                <a:gd name="T9" fmla="*/ 0 h 35"/>
                <a:gd name="T10" fmla="*/ 4 w 37"/>
                <a:gd name="T11" fmla="*/ 0 h 35"/>
                <a:gd name="T12" fmla="*/ 6 w 37"/>
                <a:gd name="T13" fmla="*/ 0 h 35"/>
                <a:gd name="T14" fmla="*/ 7 w 37"/>
                <a:gd name="T15" fmla="*/ 0 h 35"/>
                <a:gd name="T16" fmla="*/ 9 w 37"/>
                <a:gd name="T17" fmla="*/ 0 h 35"/>
                <a:gd name="T18" fmla="*/ 9 w 37"/>
                <a:gd name="T19" fmla="*/ 0 h 35"/>
                <a:gd name="T20" fmla="*/ 9 w 37"/>
                <a:gd name="T21" fmla="*/ 0 h 35"/>
                <a:gd name="T22" fmla="*/ 9 w 37"/>
                <a:gd name="T23" fmla="*/ 0 h 35"/>
                <a:gd name="T24" fmla="*/ 9 w 37"/>
                <a:gd name="T25" fmla="*/ 0 h 35"/>
                <a:gd name="T26" fmla="*/ 9 w 37"/>
                <a:gd name="T27" fmla="*/ 2 h 35"/>
                <a:gd name="T28" fmla="*/ 9 w 37"/>
                <a:gd name="T29" fmla="*/ 2 h 35"/>
                <a:gd name="T30" fmla="*/ 9 w 37"/>
                <a:gd name="T31" fmla="*/ 3 h 35"/>
                <a:gd name="T32" fmla="*/ 9 w 37"/>
                <a:gd name="T33" fmla="*/ 4 h 35"/>
                <a:gd name="T34" fmla="*/ 9 w 37"/>
                <a:gd name="T35" fmla="*/ 6 h 35"/>
                <a:gd name="T36" fmla="*/ 9 w 37"/>
                <a:gd name="T37" fmla="*/ 6 h 35"/>
                <a:gd name="T38" fmla="*/ 9 w 37"/>
                <a:gd name="T39" fmla="*/ 7 h 35"/>
                <a:gd name="T40" fmla="*/ 9 w 37"/>
                <a:gd name="T41" fmla="*/ 8 h 35"/>
                <a:gd name="T42" fmla="*/ 9 w 37"/>
                <a:gd name="T43" fmla="*/ 8 h 35"/>
                <a:gd name="T44" fmla="*/ 9 w 37"/>
                <a:gd name="T45" fmla="*/ 8 h 35"/>
                <a:gd name="T46" fmla="*/ 9 w 37"/>
                <a:gd name="T47" fmla="*/ 8 h 35"/>
                <a:gd name="T48" fmla="*/ 9 w 37"/>
                <a:gd name="T49" fmla="*/ 8 h 35"/>
                <a:gd name="T50" fmla="*/ 9 w 37"/>
                <a:gd name="T51" fmla="*/ 8 h 35"/>
                <a:gd name="T52" fmla="*/ 9 w 37"/>
                <a:gd name="T53" fmla="*/ 8 h 35"/>
                <a:gd name="T54" fmla="*/ 9 w 37"/>
                <a:gd name="T55" fmla="*/ 8 h 35"/>
                <a:gd name="T56" fmla="*/ 9 w 37"/>
                <a:gd name="T57" fmla="*/ 8 h 35"/>
                <a:gd name="T58" fmla="*/ 9 w 37"/>
                <a:gd name="T59" fmla="*/ 8 h 35"/>
                <a:gd name="T60" fmla="*/ 9 w 37"/>
                <a:gd name="T61" fmla="*/ 8 h 35"/>
                <a:gd name="T62" fmla="*/ 9 w 37"/>
                <a:gd name="T63" fmla="*/ 8 h 35"/>
                <a:gd name="T64" fmla="*/ 9 w 37"/>
                <a:gd name="T65" fmla="*/ 8 h 35"/>
                <a:gd name="T66" fmla="*/ 9 w 37"/>
                <a:gd name="T67" fmla="*/ 8 h 35"/>
                <a:gd name="T68" fmla="*/ 9 w 37"/>
                <a:gd name="T69" fmla="*/ 8 h 35"/>
                <a:gd name="T70" fmla="*/ 9 w 37"/>
                <a:gd name="T71" fmla="*/ 8 h 35"/>
                <a:gd name="T72" fmla="*/ 9 w 37"/>
                <a:gd name="T73" fmla="*/ 8 h 35"/>
                <a:gd name="T74" fmla="*/ 9 w 37"/>
                <a:gd name="T75" fmla="*/ 8 h 35"/>
                <a:gd name="T76" fmla="*/ 9 w 37"/>
                <a:gd name="T77" fmla="*/ 8 h 35"/>
                <a:gd name="T78" fmla="*/ 9 w 37"/>
                <a:gd name="T79" fmla="*/ 8 h 35"/>
                <a:gd name="T80" fmla="*/ 9 w 37"/>
                <a:gd name="T81" fmla="*/ 8 h 35"/>
                <a:gd name="T82" fmla="*/ 9 w 37"/>
                <a:gd name="T83" fmla="*/ 8 h 35"/>
                <a:gd name="T84" fmla="*/ 9 w 37"/>
                <a:gd name="T85" fmla="*/ 8 h 35"/>
                <a:gd name="T86" fmla="*/ 7 w 37"/>
                <a:gd name="T87" fmla="*/ 8 h 35"/>
                <a:gd name="T88" fmla="*/ 4 w 37"/>
                <a:gd name="T89" fmla="*/ 8 h 35"/>
                <a:gd name="T90" fmla="*/ 3 w 37"/>
                <a:gd name="T91" fmla="*/ 8 h 35"/>
                <a:gd name="T92" fmla="*/ 1 w 37"/>
                <a:gd name="T93" fmla="*/ 8 h 35"/>
                <a:gd name="T94" fmla="*/ 1 w 37"/>
                <a:gd name="T95" fmla="*/ 8 h 35"/>
                <a:gd name="T96" fmla="*/ 1 w 37"/>
                <a:gd name="T97" fmla="*/ 8 h 35"/>
                <a:gd name="T98" fmla="*/ 0 w 37"/>
                <a:gd name="T99" fmla="*/ 8 h 35"/>
                <a:gd name="T100" fmla="*/ 0 w 37"/>
                <a:gd name="T101" fmla="*/ 7 h 35"/>
                <a:gd name="T102" fmla="*/ 0 w 37"/>
                <a:gd name="T103" fmla="*/ 6 h 35"/>
                <a:gd name="T104" fmla="*/ 0 w 37"/>
                <a:gd name="T105" fmla="*/ 6 h 35"/>
                <a:gd name="T106" fmla="*/ 0 w 37"/>
                <a:gd name="T107" fmla="*/ 4 h 35"/>
                <a:gd name="T108" fmla="*/ 0 w 37"/>
                <a:gd name="T109" fmla="*/ 4 h 35"/>
                <a:gd name="T110" fmla="*/ 0 w 37"/>
                <a:gd name="T111" fmla="*/ 3 h 35"/>
                <a:gd name="T112" fmla="*/ 1 w 37"/>
                <a:gd name="T113" fmla="*/ 3 h 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7"/>
                <a:gd name="T172" fmla="*/ 0 h 35"/>
                <a:gd name="T173" fmla="*/ 37 w 37"/>
                <a:gd name="T174" fmla="*/ 35 h 35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7" h="35">
                  <a:moveTo>
                    <a:pt x="1" y="3"/>
                  </a:moveTo>
                  <a:lnTo>
                    <a:pt x="1" y="2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7" y="2"/>
                  </a:lnTo>
                  <a:lnTo>
                    <a:pt x="31" y="3"/>
                  </a:lnTo>
                  <a:lnTo>
                    <a:pt x="34" y="4"/>
                  </a:lnTo>
                  <a:lnTo>
                    <a:pt x="35" y="6"/>
                  </a:lnTo>
                  <a:lnTo>
                    <a:pt x="37" y="7"/>
                  </a:lnTo>
                  <a:lnTo>
                    <a:pt x="37" y="9"/>
                  </a:lnTo>
                  <a:lnTo>
                    <a:pt x="37" y="10"/>
                  </a:lnTo>
                  <a:lnTo>
                    <a:pt x="37" y="11"/>
                  </a:lnTo>
                  <a:lnTo>
                    <a:pt x="37" y="13"/>
                  </a:lnTo>
                  <a:lnTo>
                    <a:pt x="37" y="16"/>
                  </a:lnTo>
                  <a:lnTo>
                    <a:pt x="35" y="18"/>
                  </a:lnTo>
                  <a:lnTo>
                    <a:pt x="34" y="21"/>
                  </a:lnTo>
                  <a:lnTo>
                    <a:pt x="32" y="24"/>
                  </a:lnTo>
                  <a:lnTo>
                    <a:pt x="31" y="27"/>
                  </a:lnTo>
                  <a:lnTo>
                    <a:pt x="28" y="28"/>
                  </a:lnTo>
                  <a:lnTo>
                    <a:pt x="27" y="31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1" y="34"/>
                  </a:lnTo>
                  <a:lnTo>
                    <a:pt x="20" y="34"/>
                  </a:lnTo>
                  <a:lnTo>
                    <a:pt x="18" y="34"/>
                  </a:lnTo>
                  <a:lnTo>
                    <a:pt x="17" y="35"/>
                  </a:lnTo>
                  <a:lnTo>
                    <a:pt x="16" y="34"/>
                  </a:lnTo>
                  <a:lnTo>
                    <a:pt x="14" y="34"/>
                  </a:lnTo>
                  <a:lnTo>
                    <a:pt x="13" y="34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7" y="24"/>
                  </a:lnTo>
                  <a:lnTo>
                    <a:pt x="4" y="20"/>
                  </a:lnTo>
                  <a:lnTo>
                    <a:pt x="3" y="17"/>
                  </a:lnTo>
                  <a:lnTo>
                    <a:pt x="1" y="14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3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8" name="Freeform 83"/>
            <p:cNvSpPr>
              <a:spLocks/>
            </p:cNvSpPr>
            <p:nvPr/>
          </p:nvSpPr>
          <p:spPr bwMode="auto">
            <a:xfrm>
              <a:off x="3834" y="381"/>
              <a:ext cx="33" cy="33"/>
            </a:xfrm>
            <a:custGeom>
              <a:avLst/>
              <a:gdLst>
                <a:gd name="T0" fmla="*/ 5 w 36"/>
                <a:gd name="T1" fmla="*/ 8 h 35"/>
                <a:gd name="T2" fmla="*/ 5 w 36"/>
                <a:gd name="T3" fmla="*/ 8 h 35"/>
                <a:gd name="T4" fmla="*/ 5 w 36"/>
                <a:gd name="T5" fmla="*/ 8 h 35"/>
                <a:gd name="T6" fmla="*/ 5 w 36"/>
                <a:gd name="T7" fmla="*/ 8 h 35"/>
                <a:gd name="T8" fmla="*/ 5 w 36"/>
                <a:gd name="T9" fmla="*/ 8 h 35"/>
                <a:gd name="T10" fmla="*/ 5 w 36"/>
                <a:gd name="T11" fmla="*/ 8 h 35"/>
                <a:gd name="T12" fmla="*/ 5 w 36"/>
                <a:gd name="T13" fmla="*/ 8 h 35"/>
                <a:gd name="T14" fmla="*/ 5 w 36"/>
                <a:gd name="T15" fmla="*/ 8 h 35"/>
                <a:gd name="T16" fmla="*/ 5 w 36"/>
                <a:gd name="T17" fmla="*/ 8 h 35"/>
                <a:gd name="T18" fmla="*/ 5 w 36"/>
                <a:gd name="T19" fmla="*/ 8 h 35"/>
                <a:gd name="T20" fmla="*/ 5 w 36"/>
                <a:gd name="T21" fmla="*/ 8 h 35"/>
                <a:gd name="T22" fmla="*/ 5 w 36"/>
                <a:gd name="T23" fmla="*/ 8 h 35"/>
                <a:gd name="T24" fmla="*/ 5 w 36"/>
                <a:gd name="T25" fmla="*/ 8 h 35"/>
                <a:gd name="T26" fmla="*/ 5 w 36"/>
                <a:gd name="T27" fmla="*/ 8 h 35"/>
                <a:gd name="T28" fmla="*/ 5 w 36"/>
                <a:gd name="T29" fmla="*/ 8 h 35"/>
                <a:gd name="T30" fmla="*/ 5 w 36"/>
                <a:gd name="T31" fmla="*/ 8 h 35"/>
                <a:gd name="T32" fmla="*/ 3 w 36"/>
                <a:gd name="T33" fmla="*/ 8 h 35"/>
                <a:gd name="T34" fmla="*/ 1 w 36"/>
                <a:gd name="T35" fmla="*/ 8 h 35"/>
                <a:gd name="T36" fmla="*/ 1 w 36"/>
                <a:gd name="T37" fmla="*/ 8 h 35"/>
                <a:gd name="T38" fmla="*/ 1 w 36"/>
                <a:gd name="T39" fmla="*/ 8 h 35"/>
                <a:gd name="T40" fmla="*/ 0 w 36"/>
                <a:gd name="T41" fmla="*/ 8 h 35"/>
                <a:gd name="T42" fmla="*/ 0 w 36"/>
                <a:gd name="T43" fmla="*/ 8 h 35"/>
                <a:gd name="T44" fmla="*/ 0 w 36"/>
                <a:gd name="T45" fmla="*/ 8 h 35"/>
                <a:gd name="T46" fmla="*/ 0 w 36"/>
                <a:gd name="T47" fmla="*/ 8 h 35"/>
                <a:gd name="T48" fmla="*/ 0 w 36"/>
                <a:gd name="T49" fmla="*/ 8 h 35"/>
                <a:gd name="T50" fmla="*/ 1 w 36"/>
                <a:gd name="T51" fmla="*/ 8 h 35"/>
                <a:gd name="T52" fmla="*/ 1 w 36"/>
                <a:gd name="T53" fmla="*/ 8 h 35"/>
                <a:gd name="T54" fmla="*/ 3 w 36"/>
                <a:gd name="T55" fmla="*/ 8 h 35"/>
                <a:gd name="T56" fmla="*/ 4 w 36"/>
                <a:gd name="T57" fmla="*/ 8 h 35"/>
                <a:gd name="T58" fmla="*/ 5 w 36"/>
                <a:gd name="T59" fmla="*/ 8 h 35"/>
                <a:gd name="T60" fmla="*/ 5 w 36"/>
                <a:gd name="T61" fmla="*/ 7 h 35"/>
                <a:gd name="T62" fmla="*/ 5 w 36"/>
                <a:gd name="T63" fmla="*/ 4 h 35"/>
                <a:gd name="T64" fmla="*/ 5 w 36"/>
                <a:gd name="T65" fmla="*/ 2 h 35"/>
                <a:gd name="T66" fmla="*/ 5 w 36"/>
                <a:gd name="T67" fmla="*/ 2 h 35"/>
                <a:gd name="T68" fmla="*/ 5 w 36"/>
                <a:gd name="T69" fmla="*/ 1 h 35"/>
                <a:gd name="T70" fmla="*/ 5 w 36"/>
                <a:gd name="T71" fmla="*/ 1 h 35"/>
                <a:gd name="T72" fmla="*/ 5 w 36"/>
                <a:gd name="T73" fmla="*/ 1 h 35"/>
                <a:gd name="T74" fmla="*/ 5 w 36"/>
                <a:gd name="T75" fmla="*/ 0 h 35"/>
                <a:gd name="T76" fmla="*/ 5 w 36"/>
                <a:gd name="T77" fmla="*/ 1 h 35"/>
                <a:gd name="T78" fmla="*/ 5 w 36"/>
                <a:gd name="T79" fmla="*/ 1 h 35"/>
                <a:gd name="T80" fmla="*/ 5 w 36"/>
                <a:gd name="T81" fmla="*/ 1 h 35"/>
                <a:gd name="T82" fmla="*/ 5 w 36"/>
                <a:gd name="T83" fmla="*/ 4 h 35"/>
                <a:gd name="T84" fmla="*/ 5 w 36"/>
                <a:gd name="T85" fmla="*/ 8 h 35"/>
                <a:gd name="T86" fmla="*/ 5 w 36"/>
                <a:gd name="T87" fmla="*/ 8 h 35"/>
                <a:gd name="T88" fmla="*/ 5 w 36"/>
                <a:gd name="T89" fmla="*/ 8 h 35"/>
                <a:gd name="T90" fmla="*/ 5 w 36"/>
                <a:gd name="T91" fmla="*/ 8 h 35"/>
                <a:gd name="T92" fmla="*/ 5 w 36"/>
                <a:gd name="T93" fmla="*/ 8 h 35"/>
                <a:gd name="T94" fmla="*/ 5 w 36"/>
                <a:gd name="T95" fmla="*/ 8 h 35"/>
                <a:gd name="T96" fmla="*/ 5 w 36"/>
                <a:gd name="T97" fmla="*/ 8 h 35"/>
                <a:gd name="T98" fmla="*/ 5 w 36"/>
                <a:gd name="T99" fmla="*/ 8 h 35"/>
                <a:gd name="T100" fmla="*/ 5 w 36"/>
                <a:gd name="T101" fmla="*/ 8 h 35"/>
                <a:gd name="T102" fmla="*/ 5 w 36"/>
                <a:gd name="T103" fmla="*/ 8 h 35"/>
                <a:gd name="T104" fmla="*/ 5 w 36"/>
                <a:gd name="T105" fmla="*/ 8 h 35"/>
                <a:gd name="T106" fmla="*/ 5 w 36"/>
                <a:gd name="T107" fmla="*/ 8 h 35"/>
                <a:gd name="T108" fmla="*/ 5 w 36"/>
                <a:gd name="T109" fmla="*/ 8 h 35"/>
                <a:gd name="T110" fmla="*/ 5 w 36"/>
                <a:gd name="T111" fmla="*/ 8 h 35"/>
                <a:gd name="T112" fmla="*/ 5 w 36"/>
                <a:gd name="T113" fmla="*/ 8 h 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6"/>
                <a:gd name="T172" fmla="*/ 0 h 35"/>
                <a:gd name="T173" fmla="*/ 36 w 36"/>
                <a:gd name="T174" fmla="*/ 35 h 35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6" h="35">
                  <a:moveTo>
                    <a:pt x="36" y="32"/>
                  </a:moveTo>
                  <a:lnTo>
                    <a:pt x="35" y="32"/>
                  </a:lnTo>
                  <a:lnTo>
                    <a:pt x="35" y="33"/>
                  </a:lnTo>
                  <a:lnTo>
                    <a:pt x="34" y="33"/>
                  </a:lnTo>
                  <a:lnTo>
                    <a:pt x="32" y="35"/>
                  </a:lnTo>
                  <a:lnTo>
                    <a:pt x="31" y="35"/>
                  </a:lnTo>
                  <a:lnTo>
                    <a:pt x="29" y="35"/>
                  </a:lnTo>
                  <a:lnTo>
                    <a:pt x="27" y="35"/>
                  </a:lnTo>
                  <a:lnTo>
                    <a:pt x="24" y="35"/>
                  </a:lnTo>
                  <a:lnTo>
                    <a:pt x="21" y="35"/>
                  </a:lnTo>
                  <a:lnTo>
                    <a:pt x="17" y="35"/>
                  </a:lnTo>
                  <a:lnTo>
                    <a:pt x="14" y="33"/>
                  </a:lnTo>
                  <a:lnTo>
                    <a:pt x="10" y="33"/>
                  </a:lnTo>
                  <a:lnTo>
                    <a:pt x="5" y="32"/>
                  </a:lnTo>
                  <a:lnTo>
                    <a:pt x="3" y="31"/>
                  </a:lnTo>
                  <a:lnTo>
                    <a:pt x="1" y="29"/>
                  </a:lnTo>
                  <a:lnTo>
                    <a:pt x="1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1" y="19"/>
                  </a:lnTo>
                  <a:lnTo>
                    <a:pt x="1" y="16"/>
                  </a:lnTo>
                  <a:lnTo>
                    <a:pt x="3" y="14"/>
                  </a:lnTo>
                  <a:lnTo>
                    <a:pt x="4" y="11"/>
                  </a:lnTo>
                  <a:lnTo>
                    <a:pt x="7" y="8"/>
                  </a:lnTo>
                  <a:lnTo>
                    <a:pt x="8" y="7"/>
                  </a:lnTo>
                  <a:lnTo>
                    <a:pt x="11" y="4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0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7" y="4"/>
                  </a:lnTo>
                  <a:lnTo>
                    <a:pt x="28" y="8"/>
                  </a:lnTo>
                  <a:lnTo>
                    <a:pt x="31" y="11"/>
                  </a:lnTo>
                  <a:lnTo>
                    <a:pt x="32" y="15"/>
                  </a:lnTo>
                  <a:lnTo>
                    <a:pt x="34" y="18"/>
                  </a:lnTo>
                  <a:lnTo>
                    <a:pt x="35" y="21"/>
                  </a:lnTo>
                  <a:lnTo>
                    <a:pt x="36" y="23"/>
                  </a:lnTo>
                  <a:lnTo>
                    <a:pt x="36" y="25"/>
                  </a:lnTo>
                  <a:lnTo>
                    <a:pt x="36" y="26"/>
                  </a:lnTo>
                  <a:lnTo>
                    <a:pt x="36" y="28"/>
                  </a:lnTo>
                  <a:lnTo>
                    <a:pt x="36" y="29"/>
                  </a:lnTo>
                  <a:lnTo>
                    <a:pt x="36" y="31"/>
                  </a:lnTo>
                  <a:lnTo>
                    <a:pt x="36" y="32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9" name="Freeform 84"/>
            <p:cNvSpPr>
              <a:spLocks/>
            </p:cNvSpPr>
            <p:nvPr/>
          </p:nvSpPr>
          <p:spPr bwMode="auto">
            <a:xfrm>
              <a:off x="3864" y="402"/>
              <a:ext cx="58" cy="57"/>
            </a:xfrm>
            <a:custGeom>
              <a:avLst/>
              <a:gdLst>
                <a:gd name="T0" fmla="*/ 10 w 61"/>
                <a:gd name="T1" fmla="*/ 19 h 60"/>
                <a:gd name="T2" fmla="*/ 10 w 61"/>
                <a:gd name="T3" fmla="*/ 19 h 60"/>
                <a:gd name="T4" fmla="*/ 12 w 61"/>
                <a:gd name="T5" fmla="*/ 18 h 60"/>
                <a:gd name="T6" fmla="*/ 14 w 61"/>
                <a:gd name="T7" fmla="*/ 17 h 60"/>
                <a:gd name="T8" fmla="*/ 16 w 61"/>
                <a:gd name="T9" fmla="*/ 16 h 60"/>
                <a:gd name="T10" fmla="*/ 17 w 61"/>
                <a:gd name="T11" fmla="*/ 14 h 60"/>
                <a:gd name="T12" fmla="*/ 18 w 61"/>
                <a:gd name="T13" fmla="*/ 12 h 60"/>
                <a:gd name="T14" fmla="*/ 19 w 61"/>
                <a:gd name="T15" fmla="*/ 10 h 60"/>
                <a:gd name="T16" fmla="*/ 19 w 61"/>
                <a:gd name="T17" fmla="*/ 10 h 60"/>
                <a:gd name="T18" fmla="*/ 19 w 61"/>
                <a:gd name="T19" fmla="*/ 10 h 60"/>
                <a:gd name="T20" fmla="*/ 18 w 61"/>
                <a:gd name="T21" fmla="*/ 10 h 60"/>
                <a:gd name="T22" fmla="*/ 17 w 61"/>
                <a:gd name="T23" fmla="*/ 10 h 60"/>
                <a:gd name="T24" fmla="*/ 16 w 61"/>
                <a:gd name="T25" fmla="*/ 8 h 60"/>
                <a:gd name="T26" fmla="*/ 14 w 61"/>
                <a:gd name="T27" fmla="*/ 5 h 60"/>
                <a:gd name="T28" fmla="*/ 12 w 61"/>
                <a:gd name="T29" fmla="*/ 2 h 60"/>
                <a:gd name="T30" fmla="*/ 10 w 61"/>
                <a:gd name="T31" fmla="*/ 1 h 60"/>
                <a:gd name="T32" fmla="*/ 10 w 61"/>
                <a:gd name="T33" fmla="*/ 0 h 60"/>
                <a:gd name="T34" fmla="*/ 10 w 61"/>
                <a:gd name="T35" fmla="*/ 1 h 60"/>
                <a:gd name="T36" fmla="*/ 10 w 61"/>
                <a:gd name="T37" fmla="*/ 2 h 60"/>
                <a:gd name="T38" fmla="*/ 10 w 61"/>
                <a:gd name="T39" fmla="*/ 5 h 60"/>
                <a:gd name="T40" fmla="*/ 9 w 61"/>
                <a:gd name="T41" fmla="*/ 8 h 60"/>
                <a:gd name="T42" fmla="*/ 6 w 61"/>
                <a:gd name="T43" fmla="*/ 10 h 60"/>
                <a:gd name="T44" fmla="*/ 3 w 61"/>
                <a:gd name="T45" fmla="*/ 10 h 60"/>
                <a:gd name="T46" fmla="*/ 2 w 61"/>
                <a:gd name="T47" fmla="*/ 10 h 60"/>
                <a:gd name="T48" fmla="*/ 0 w 61"/>
                <a:gd name="T49" fmla="*/ 10 h 60"/>
                <a:gd name="T50" fmla="*/ 2 w 61"/>
                <a:gd name="T51" fmla="*/ 10 h 60"/>
                <a:gd name="T52" fmla="*/ 3 w 61"/>
                <a:gd name="T53" fmla="*/ 12 h 60"/>
                <a:gd name="T54" fmla="*/ 6 w 61"/>
                <a:gd name="T55" fmla="*/ 14 h 60"/>
                <a:gd name="T56" fmla="*/ 9 w 61"/>
                <a:gd name="T57" fmla="*/ 16 h 60"/>
                <a:gd name="T58" fmla="*/ 10 w 61"/>
                <a:gd name="T59" fmla="*/ 17 h 60"/>
                <a:gd name="T60" fmla="*/ 10 w 61"/>
                <a:gd name="T61" fmla="*/ 18 h 60"/>
                <a:gd name="T62" fmla="*/ 10 w 61"/>
                <a:gd name="T63" fmla="*/ 19 h 60"/>
                <a:gd name="T64" fmla="*/ 10 w 61"/>
                <a:gd name="T65" fmla="*/ 19 h 6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1"/>
                <a:gd name="T100" fmla="*/ 0 h 60"/>
                <a:gd name="T101" fmla="*/ 61 w 61"/>
                <a:gd name="T102" fmla="*/ 60 h 6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1" h="60">
                  <a:moveTo>
                    <a:pt x="30" y="60"/>
                  </a:moveTo>
                  <a:lnTo>
                    <a:pt x="37" y="59"/>
                  </a:lnTo>
                  <a:lnTo>
                    <a:pt x="42" y="57"/>
                  </a:lnTo>
                  <a:lnTo>
                    <a:pt x="47" y="55"/>
                  </a:lnTo>
                  <a:lnTo>
                    <a:pt x="51" y="52"/>
                  </a:lnTo>
                  <a:lnTo>
                    <a:pt x="55" y="46"/>
                  </a:lnTo>
                  <a:lnTo>
                    <a:pt x="58" y="42"/>
                  </a:lnTo>
                  <a:lnTo>
                    <a:pt x="59" y="36"/>
                  </a:lnTo>
                  <a:lnTo>
                    <a:pt x="61" y="31"/>
                  </a:lnTo>
                  <a:lnTo>
                    <a:pt x="59" y="24"/>
                  </a:lnTo>
                  <a:lnTo>
                    <a:pt x="58" y="18"/>
                  </a:lnTo>
                  <a:lnTo>
                    <a:pt x="55" y="14"/>
                  </a:lnTo>
                  <a:lnTo>
                    <a:pt x="51" y="8"/>
                  </a:lnTo>
                  <a:lnTo>
                    <a:pt x="47" y="5"/>
                  </a:lnTo>
                  <a:lnTo>
                    <a:pt x="42" y="2"/>
                  </a:lnTo>
                  <a:lnTo>
                    <a:pt x="37" y="1"/>
                  </a:lnTo>
                  <a:lnTo>
                    <a:pt x="30" y="0"/>
                  </a:lnTo>
                  <a:lnTo>
                    <a:pt x="24" y="1"/>
                  </a:lnTo>
                  <a:lnTo>
                    <a:pt x="18" y="2"/>
                  </a:lnTo>
                  <a:lnTo>
                    <a:pt x="14" y="5"/>
                  </a:lnTo>
                  <a:lnTo>
                    <a:pt x="9" y="8"/>
                  </a:lnTo>
                  <a:lnTo>
                    <a:pt x="6" y="14"/>
                  </a:lnTo>
                  <a:lnTo>
                    <a:pt x="3" y="18"/>
                  </a:lnTo>
                  <a:lnTo>
                    <a:pt x="2" y="24"/>
                  </a:lnTo>
                  <a:lnTo>
                    <a:pt x="0" y="31"/>
                  </a:lnTo>
                  <a:lnTo>
                    <a:pt x="2" y="36"/>
                  </a:lnTo>
                  <a:lnTo>
                    <a:pt x="3" y="42"/>
                  </a:lnTo>
                  <a:lnTo>
                    <a:pt x="6" y="46"/>
                  </a:lnTo>
                  <a:lnTo>
                    <a:pt x="9" y="52"/>
                  </a:lnTo>
                  <a:lnTo>
                    <a:pt x="14" y="55"/>
                  </a:lnTo>
                  <a:lnTo>
                    <a:pt x="18" y="57"/>
                  </a:lnTo>
                  <a:lnTo>
                    <a:pt x="24" y="59"/>
                  </a:lnTo>
                  <a:lnTo>
                    <a:pt x="30" y="60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00004D"/>
              </a:prstShdw>
            </a:effec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1" name="Rectangle 90"/>
          <p:cNvSpPr/>
          <p:nvPr/>
        </p:nvSpPr>
        <p:spPr>
          <a:xfrm>
            <a:off x="2133601" y="2286001"/>
            <a:ext cx="3480954" cy="101566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</a:rPr>
              <a:t>Thank You</a:t>
            </a:r>
            <a:endParaRPr 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n-lt"/>
            </a:endParaRPr>
          </a:p>
        </p:txBody>
      </p:sp>
      <p:pic>
        <p:nvPicPr>
          <p:cNvPr id="34820" name="Picture 4" descr="dir_agri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800600"/>
            <a:ext cx="12192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1" name="Picture 6" descr="11_img_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61600" y="152400"/>
            <a:ext cx="1930400" cy="537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1745</TotalTime>
  <Words>2271</Words>
  <Application>Microsoft Office PowerPoint</Application>
  <PresentationFormat>Custom</PresentationFormat>
  <Paragraphs>581</Paragraphs>
  <Slides>26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Product wise Fertilizer Allocation for 2022 (In MT)  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Hp</cp:lastModifiedBy>
  <cp:revision>397</cp:revision>
  <cp:lastPrinted>2022-04-16T13:14:00Z</cp:lastPrinted>
  <dcterms:created xsi:type="dcterms:W3CDTF">2017-05-24T17:50:47Z</dcterms:created>
  <dcterms:modified xsi:type="dcterms:W3CDTF">2022-04-19T02:00:36Z</dcterms:modified>
</cp:coreProperties>
</file>