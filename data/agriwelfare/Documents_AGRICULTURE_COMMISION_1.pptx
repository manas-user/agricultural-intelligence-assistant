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charts/style2.xml" ContentType="application/vnd.ms-office.chart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ls" ContentType="application/vnd.ms-exce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charts/colors2.xml" ContentType="application/vnd.ms-office.chartcolorstyl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2.xml" ContentType="application/vnd.openxmlformats-officedocument.drawingml.diagramLayout+xml"/>
  <Default Extension="xlsx" ContentType="application/vnd.openxmlformats-officedocument.spreadsheetml.sheet"/>
  <Override PartName="/ppt/diagrams/layout1.xml" ContentType="application/vnd.openxmlformats-officedocument.drawingml.diagramLayou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diagrams/data2.xml" ContentType="application/vnd.openxmlformats-officedocument.drawingml.diagramData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charts/style3.xml" ContentType="application/vnd.ms-office.chartstyl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charts/style1.xml" ContentType="application/vnd.ms-office.chart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charts/colors3.xml" ContentType="application/vnd.ms-office.chartcolorstyle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charts/colors1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99" r:id="rId2"/>
    <p:sldId id="308" r:id="rId3"/>
    <p:sldId id="330" r:id="rId4"/>
    <p:sldId id="325" r:id="rId5"/>
    <p:sldId id="329" r:id="rId6"/>
    <p:sldId id="327" r:id="rId7"/>
    <p:sldId id="328" r:id="rId8"/>
    <p:sldId id="287" r:id="rId9"/>
    <p:sldId id="256" r:id="rId10"/>
    <p:sldId id="290" r:id="rId11"/>
    <p:sldId id="300" r:id="rId12"/>
    <p:sldId id="331" r:id="rId13"/>
    <p:sldId id="319" r:id="rId14"/>
    <p:sldId id="259" r:id="rId15"/>
    <p:sldId id="258" r:id="rId16"/>
    <p:sldId id="1329" r:id="rId17"/>
    <p:sldId id="1330" r:id="rId18"/>
    <p:sldId id="590" r:id="rId19"/>
    <p:sldId id="257" r:id="rId20"/>
    <p:sldId id="456" r:id="rId21"/>
    <p:sldId id="265" r:id="rId22"/>
    <p:sldId id="303" r:id="rId23"/>
  </p:sldIdLst>
  <p:sldSz cx="12192000" cy="6858000"/>
  <p:notesSz cx="7077075" cy="9363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66"/>
    <a:srgbClr val="6633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94632"/>
  </p:normalViewPr>
  <p:slideViewPr>
    <p:cSldViewPr>
      <p:cViewPr varScale="1">
        <p:scale>
          <a:sx n="88" d="100"/>
          <a:sy n="88" d="100"/>
        </p:scale>
        <p:origin x="-422" y="-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openxmlformats.org/officeDocument/2006/relationships/package" Target="../embeddings/Microsoft_Office_Excel_Worksheet1.xlsx"/><Relationship Id="rId1" Type="http://schemas.openxmlformats.org/officeDocument/2006/relationships/themeOverride" Target="../theme/themeOverride1.xml"/><Relationship Id="rId4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openxmlformats.org/officeDocument/2006/relationships/package" Target="../embeddings/Microsoft_Office_Excel_Worksheet4.xlsx"/><Relationship Id="rId1" Type="http://schemas.openxmlformats.org/officeDocument/2006/relationships/themeOverride" Target="../theme/themeOverride2.xml"/><Relationship Id="rId4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oleObject" Target="file:///C:\Users\SachinSHARMA\OneDrive%20-%20CIMMYT\CIMMYT\Systemic%20change%20towards%20impact_2.3\KVK_Survey\CPPS\CPPS_Bihar&amp;UP_Rice_2017\LDS_RICE_R_2017\LDS_Rice_2017\newtop5var2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Sheet1!$B$2</c:f>
              <c:strCache>
                <c:ptCount val="1"/>
                <c:pt idx="0">
                  <c:v>Area (Mha)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Sheet1!$A$3:$A$9</c:f>
              <c:strCache>
                <c:ptCount val="7"/>
                <c:pt idx="0">
                  <c:v>2015-16</c:v>
                </c:pt>
                <c:pt idx="1">
                  <c:v>2016-17</c:v>
                </c:pt>
                <c:pt idx="2">
                  <c:v>2017-18</c:v>
                </c:pt>
                <c:pt idx="3">
                  <c:v>2018-19</c:v>
                </c:pt>
                <c:pt idx="4">
                  <c:v>2019-20</c:v>
                </c:pt>
                <c:pt idx="5">
                  <c:v>2020-21</c:v>
                </c:pt>
                <c:pt idx="6">
                  <c:v>2021-22*</c:v>
                </c:pt>
              </c:strCache>
            </c:strRef>
          </c:cat>
          <c:val>
            <c:numRef>
              <c:f>Sheet1!$B$3:$B$9</c:f>
              <c:numCache>
                <c:formatCode>General</c:formatCode>
                <c:ptCount val="7"/>
                <c:pt idx="0">
                  <c:v>24.91</c:v>
                </c:pt>
                <c:pt idx="1">
                  <c:v>29.45</c:v>
                </c:pt>
                <c:pt idx="2">
                  <c:v>29.810000000000006</c:v>
                </c:pt>
                <c:pt idx="3">
                  <c:v>29.16</c:v>
                </c:pt>
                <c:pt idx="4">
                  <c:v>27.99</c:v>
                </c:pt>
                <c:pt idx="5">
                  <c:v>28.779999999999994</c:v>
                </c:pt>
                <c:pt idx="6">
                  <c:v>30.37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02E-4205-896F-D47114C95E1B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Production (Mt)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trendline>
            <c:spPr>
              <a:ln w="5715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</c:trendline>
          <c:cat>
            <c:strRef>
              <c:f>Sheet1!$A$3:$A$9</c:f>
              <c:strCache>
                <c:ptCount val="7"/>
                <c:pt idx="0">
                  <c:v>2015-16</c:v>
                </c:pt>
                <c:pt idx="1">
                  <c:v>2016-17</c:v>
                </c:pt>
                <c:pt idx="2">
                  <c:v>2017-18</c:v>
                </c:pt>
                <c:pt idx="3">
                  <c:v>2018-19</c:v>
                </c:pt>
                <c:pt idx="4">
                  <c:v>2019-20</c:v>
                </c:pt>
                <c:pt idx="5">
                  <c:v>2020-21</c:v>
                </c:pt>
                <c:pt idx="6">
                  <c:v>2021-22*</c:v>
                </c:pt>
              </c:strCache>
            </c:strRef>
          </c:cat>
          <c:val>
            <c:numRef>
              <c:f>Sheet1!$C$3:$C$9</c:f>
              <c:numCache>
                <c:formatCode>General</c:formatCode>
                <c:ptCount val="7"/>
                <c:pt idx="0">
                  <c:v>16.32</c:v>
                </c:pt>
                <c:pt idx="1">
                  <c:v>23.130000000000006</c:v>
                </c:pt>
                <c:pt idx="2">
                  <c:v>25.419999999999995</c:v>
                </c:pt>
                <c:pt idx="3">
                  <c:v>22.08</c:v>
                </c:pt>
                <c:pt idx="4">
                  <c:v>23.03</c:v>
                </c:pt>
                <c:pt idx="5">
                  <c:v>25.459999999999994</c:v>
                </c:pt>
                <c:pt idx="6">
                  <c:v>26.959999999999994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302E-4205-896F-D47114C95E1B}"/>
            </c:ext>
          </c:extLst>
        </c:ser>
        <c:gapWidth val="219"/>
        <c:overlap val="-27"/>
        <c:axId val="166820864"/>
        <c:axId val="166819328"/>
      </c:barChart>
      <c:lineChart>
        <c:grouping val="standard"/>
        <c:ser>
          <c:idx val="2"/>
          <c:order val="2"/>
          <c:tx>
            <c:strRef>
              <c:f>Sheet1!$D$2</c:f>
              <c:strCache>
                <c:ptCount val="1"/>
                <c:pt idx="0">
                  <c:v>Yield (Kg/ha)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Sheet1!$A$3:$A$9</c:f>
              <c:strCache>
                <c:ptCount val="7"/>
                <c:pt idx="0">
                  <c:v>2015-16</c:v>
                </c:pt>
                <c:pt idx="1">
                  <c:v>2016-17</c:v>
                </c:pt>
                <c:pt idx="2">
                  <c:v>2017-18</c:v>
                </c:pt>
                <c:pt idx="3">
                  <c:v>2018-19</c:v>
                </c:pt>
                <c:pt idx="4">
                  <c:v>2019-20</c:v>
                </c:pt>
                <c:pt idx="5">
                  <c:v>2020-21</c:v>
                </c:pt>
                <c:pt idx="6">
                  <c:v>2021-22*</c:v>
                </c:pt>
              </c:strCache>
            </c:strRef>
          </c:cat>
          <c:val>
            <c:numRef>
              <c:f>Sheet1!$D$3:$D$9</c:f>
              <c:numCache>
                <c:formatCode>General</c:formatCode>
                <c:ptCount val="7"/>
                <c:pt idx="0">
                  <c:v>656</c:v>
                </c:pt>
                <c:pt idx="1">
                  <c:v>786</c:v>
                </c:pt>
                <c:pt idx="2">
                  <c:v>853</c:v>
                </c:pt>
                <c:pt idx="3">
                  <c:v>757</c:v>
                </c:pt>
                <c:pt idx="4">
                  <c:v>823</c:v>
                </c:pt>
                <c:pt idx="5">
                  <c:v>885</c:v>
                </c:pt>
                <c:pt idx="6">
                  <c:v>888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302E-4205-896F-D47114C95E1B}"/>
            </c:ext>
          </c:extLst>
        </c:ser>
        <c:marker val="1"/>
        <c:axId val="166817792"/>
        <c:axId val="166717696"/>
      </c:lineChart>
      <c:valAx>
        <c:axId val="166717696"/>
        <c:scaling>
          <c:orientation val="minMax"/>
        </c:scaling>
        <c:axPos val="r"/>
        <c:numFmt formatCode="General" sourceLinked="1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17792"/>
        <c:crosses val="max"/>
        <c:crossBetween val="between"/>
      </c:valAx>
      <c:catAx>
        <c:axId val="166817792"/>
        <c:scaling>
          <c:orientation val="minMax"/>
        </c:scaling>
        <c:delete val="1"/>
        <c:axPos val="b"/>
        <c:numFmt formatCode="General" sourceLinked="1"/>
        <c:tickLblPos val="nextTo"/>
        <c:crossAx val="166717696"/>
        <c:crosses val="autoZero"/>
        <c:auto val="1"/>
        <c:lblAlgn val="ctr"/>
        <c:lblOffset val="100"/>
      </c:catAx>
      <c:valAx>
        <c:axId val="166819328"/>
        <c:scaling>
          <c:orientation val="minMax"/>
        </c:scaling>
        <c:axPos val="l"/>
        <c:numFmt formatCode="General" sourceLinked="1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20864"/>
        <c:crosses val="autoZero"/>
        <c:crossBetween val="between"/>
      </c:valAx>
      <c:catAx>
        <c:axId val="166820864"/>
        <c:scaling>
          <c:orientation val="minMax"/>
        </c:scaling>
        <c:delete val="1"/>
        <c:axPos val="b"/>
        <c:numFmt formatCode="General" sourceLinked="1"/>
        <c:tickLblPos val="nextTo"/>
        <c:crossAx val="166819328"/>
        <c:crosses val="autoZero"/>
        <c:auto val="1"/>
        <c:lblAlgn val="ctr"/>
        <c:lblOffset val="10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 w="3175">
      <a:noFill/>
    </a:ln>
    <a:effectLst/>
  </c:spPr>
  <c:txPr>
    <a:bodyPr/>
    <a:lstStyle/>
    <a:p>
      <a:pPr>
        <a:defRPr sz="1200"/>
      </a:pPr>
      <a:endParaRPr lang="en-US"/>
    </a:p>
  </c:txPr>
  <c:externalData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 lang="en-US"/>
            </a:pPr>
            <a:r>
              <a:rPr lang="en-GB" dirty="0"/>
              <a:t>SRR of Pulse Crops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2010-11</c:v>
                </c:pt>
              </c:strCache>
            </c:strRef>
          </c:tx>
          <c:spPr>
            <a:solidFill>
              <a:srgbClr val="800000"/>
            </a:solidFill>
          </c:spPr>
          <c:dLbls>
            <c:spPr>
              <a:solidFill>
                <a:srgbClr val="00B0F0"/>
              </a:solidFill>
            </c:spPr>
            <c:txPr>
              <a:bodyPr/>
              <a:lstStyle/>
              <a:p>
                <a:pPr>
                  <a:defRPr lang="en-US" sz="1050" b="1"/>
                </a:pPr>
                <a:endParaRPr lang="en-US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URD</c:v>
                </c:pt>
                <c:pt idx="1">
                  <c:v>MOONG</c:v>
                </c:pt>
                <c:pt idx="2">
                  <c:v>ARHAR</c:v>
                </c:pt>
                <c:pt idx="3">
                  <c:v>PEAS</c:v>
                </c:pt>
                <c:pt idx="4">
                  <c:v>GRAM</c:v>
                </c:pt>
                <c:pt idx="5">
                  <c:v>LENTIL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29.19</c:v>
                </c:pt>
                <c:pt idx="1">
                  <c:v>26.68</c:v>
                </c:pt>
                <c:pt idx="2">
                  <c:v>17.510000000000005</c:v>
                </c:pt>
                <c:pt idx="3">
                  <c:v>23.45</c:v>
                </c:pt>
                <c:pt idx="4">
                  <c:v>18.38</c:v>
                </c:pt>
                <c:pt idx="5">
                  <c:v>22.6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6FC-4927-A070-F43794B136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2019-20</c:v>
                </c:pt>
              </c:strCache>
            </c:strRef>
          </c:tx>
          <c:spPr>
            <a:solidFill>
              <a:srgbClr val="008000"/>
            </a:solidFill>
          </c:spPr>
          <c:dLbls>
            <c:spPr>
              <a:solidFill>
                <a:srgbClr val="FFFF99"/>
              </a:solidFill>
            </c:spPr>
            <c:txPr>
              <a:bodyPr/>
              <a:lstStyle/>
              <a:p>
                <a:pPr>
                  <a:defRPr lang="en-US" sz="1100" b="1"/>
                </a:pPr>
                <a:endParaRPr lang="en-US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URD</c:v>
                </c:pt>
                <c:pt idx="1">
                  <c:v>MOONG</c:v>
                </c:pt>
                <c:pt idx="2">
                  <c:v>ARHAR</c:v>
                </c:pt>
                <c:pt idx="3">
                  <c:v>PEAS</c:v>
                </c:pt>
                <c:pt idx="4">
                  <c:v>GRAM</c:v>
                </c:pt>
                <c:pt idx="5">
                  <c:v>LENTIL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32.64</c:v>
                </c:pt>
                <c:pt idx="1">
                  <c:v>36.370000000000005</c:v>
                </c:pt>
                <c:pt idx="2">
                  <c:v>61.05</c:v>
                </c:pt>
                <c:pt idx="3">
                  <c:v>32.14</c:v>
                </c:pt>
                <c:pt idx="4">
                  <c:v>30.939999999999987</c:v>
                </c:pt>
                <c:pt idx="5">
                  <c:v>40.480000000000004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6FC-4927-A070-F43794B13675}"/>
            </c:ext>
          </c:extLst>
        </c:ser>
        <c:axId val="184078336"/>
        <c:axId val="184079872"/>
      </c:barChart>
      <c:catAx>
        <c:axId val="184078336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lang="en-US" sz="1100" b="1"/>
            </a:pPr>
            <a:endParaRPr lang="en-US"/>
          </a:p>
        </c:txPr>
        <c:crossAx val="184079872"/>
        <c:crosses val="autoZero"/>
        <c:auto val="1"/>
        <c:lblAlgn val="ctr"/>
        <c:lblOffset val="100"/>
      </c:catAx>
      <c:valAx>
        <c:axId val="184079872"/>
        <c:scaling>
          <c:orientation val="minMax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lang="en-US" b="1"/>
            </a:pPr>
            <a:endParaRPr lang="en-US"/>
          </a:p>
        </c:txPr>
        <c:crossAx val="184078336"/>
        <c:crosses val="autoZero"/>
        <c:crossBetween val="between"/>
      </c:valAx>
    </c:plotArea>
    <c:legend>
      <c:legendPos val="b"/>
      <c:layout/>
      <c:txPr>
        <a:bodyPr/>
        <a:lstStyle/>
        <a:p>
          <a:pPr>
            <a:defRPr lang="en-US" sz="1600"/>
          </a:pPr>
          <a:endParaRPr lang="en-US"/>
        </a:p>
      </c:txPr>
    </c:legend>
    <c:plotVisOnly val="1"/>
    <c:dispBlanksAs val="gap"/>
  </c:chart>
  <c:txPr>
    <a:bodyPr/>
    <a:lstStyle/>
    <a:p>
      <a:pPr>
        <a:defRPr sz="14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 lang="en-US" sz="2000"/>
            </a:pPr>
            <a:r>
              <a:rPr lang="en-GB" sz="2000" dirty="0"/>
              <a:t>VRR of Pulse Crops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2014-15</c:v>
                </c:pt>
              </c:strCache>
            </c:strRef>
          </c:tx>
          <c:spPr>
            <a:solidFill>
              <a:srgbClr val="0000FF"/>
            </a:solidFill>
          </c:spPr>
          <c:dLbls>
            <c:spPr>
              <a:solidFill>
                <a:srgbClr val="FFFF99"/>
              </a:solidFill>
            </c:spPr>
            <c:txPr>
              <a:bodyPr/>
              <a:lstStyle/>
              <a:p>
                <a:pPr>
                  <a:defRPr lang="en-US" sz="1400"/>
                </a:pPr>
                <a:endParaRPr lang="en-US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Pigeonpea</c:v>
                </c:pt>
                <c:pt idx="1">
                  <c:v>Chickpea</c:v>
                </c:pt>
                <c:pt idx="2">
                  <c:v>Mungbean</c:v>
                </c:pt>
                <c:pt idx="3">
                  <c:v>Urdbean</c:v>
                </c:pt>
                <c:pt idx="4">
                  <c:v>Fieldpea</c:v>
                </c:pt>
                <c:pt idx="5">
                  <c:v>Lentil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33.800000000000004</c:v>
                </c:pt>
                <c:pt idx="1">
                  <c:v>56.1</c:v>
                </c:pt>
                <c:pt idx="2">
                  <c:v>37.9</c:v>
                </c:pt>
                <c:pt idx="3">
                  <c:v>52.4</c:v>
                </c:pt>
                <c:pt idx="4">
                  <c:v>37.9</c:v>
                </c:pt>
                <c:pt idx="5">
                  <c:v>50.4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EEB-44D1-8A99-279B25F2FF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2021-22</c:v>
                </c:pt>
              </c:strCache>
            </c:strRef>
          </c:tx>
          <c:spPr>
            <a:solidFill>
              <a:srgbClr val="FF6600"/>
            </a:solidFill>
          </c:spPr>
          <c:dLbls>
            <c:spPr>
              <a:solidFill>
                <a:srgbClr val="33CCFF"/>
              </a:solidFill>
            </c:spPr>
            <c:txPr>
              <a:bodyPr/>
              <a:lstStyle/>
              <a:p>
                <a:pPr>
                  <a:defRPr lang="en-US" sz="1400"/>
                </a:pPr>
                <a:endParaRPr lang="en-US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Pigeonpea</c:v>
                </c:pt>
                <c:pt idx="1">
                  <c:v>Chickpea</c:v>
                </c:pt>
                <c:pt idx="2">
                  <c:v>Mungbean</c:v>
                </c:pt>
                <c:pt idx="3">
                  <c:v>Urdbean</c:v>
                </c:pt>
                <c:pt idx="4">
                  <c:v>Fieldpea</c:v>
                </c:pt>
                <c:pt idx="5">
                  <c:v>Lentil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66.599999999999994</c:v>
                </c:pt>
                <c:pt idx="1">
                  <c:v>80</c:v>
                </c:pt>
                <c:pt idx="2">
                  <c:v>89.5</c:v>
                </c:pt>
                <c:pt idx="3">
                  <c:v>61.3</c:v>
                </c:pt>
                <c:pt idx="4">
                  <c:v>85.3</c:v>
                </c:pt>
                <c:pt idx="5">
                  <c:v>90.8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EEB-44D1-8A99-279B25F2FF5F}"/>
            </c:ext>
          </c:extLst>
        </c:ser>
        <c:axId val="184420992"/>
        <c:axId val="184422784"/>
      </c:barChart>
      <c:catAx>
        <c:axId val="184420992"/>
        <c:scaling>
          <c:orientation val="minMax"/>
        </c:scaling>
        <c:axPos val="b"/>
        <c:numFmt formatCode="General" sourceLinked="0"/>
        <c:tickLblPos val="nextTo"/>
        <c:txPr>
          <a:bodyPr/>
          <a:lstStyle/>
          <a:p>
            <a:pPr>
              <a:defRPr lang="en-US" sz="1100"/>
            </a:pPr>
            <a:endParaRPr lang="en-US"/>
          </a:p>
        </c:txPr>
        <c:crossAx val="184422784"/>
        <c:crosses val="autoZero"/>
        <c:auto val="1"/>
        <c:lblAlgn val="ctr"/>
        <c:lblOffset val="100"/>
      </c:catAx>
      <c:valAx>
        <c:axId val="184422784"/>
        <c:scaling>
          <c:orientation val="minMax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lang="en-US" b="1"/>
            </a:pPr>
            <a:endParaRPr lang="en-US"/>
          </a:p>
        </c:txPr>
        <c:crossAx val="184420992"/>
        <c:crosses val="autoZero"/>
        <c:crossBetween val="between"/>
      </c:valAx>
    </c:plotArea>
    <c:legend>
      <c:legendPos val="b"/>
      <c:layout/>
      <c:txPr>
        <a:bodyPr/>
        <a:lstStyle/>
        <a:p>
          <a:pPr>
            <a:defRPr lang="en-US"/>
          </a:pPr>
          <a:endParaRPr lang="en-US"/>
        </a:p>
      </c:txPr>
    </c:legend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940130032765517"/>
          <c:y val="3.2180716656749132E-2"/>
          <c:w val="0.81391204775873582"/>
          <c:h val="0.66551473674472661"/>
        </c:manualLayout>
      </c:layout>
      <c:barChart>
        <c:barDir val="col"/>
        <c:grouping val="clustered"/>
        <c:ser>
          <c:idx val="0"/>
          <c:order val="0"/>
          <c:tx>
            <c:strRef>
              <c:f>Sheet2!$C$3</c:f>
              <c:strCache>
                <c:ptCount val="1"/>
                <c:pt idx="0">
                  <c:v>Area (Mha)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Sheet2!$B$4:$B$10</c:f>
              <c:strCache>
                <c:ptCount val="7"/>
                <c:pt idx="0">
                  <c:v>2015-16</c:v>
                </c:pt>
                <c:pt idx="1">
                  <c:v>2016-17</c:v>
                </c:pt>
                <c:pt idx="2">
                  <c:v>2017-18</c:v>
                </c:pt>
                <c:pt idx="3">
                  <c:v>2018-19</c:v>
                </c:pt>
                <c:pt idx="4">
                  <c:v>2019-20</c:v>
                </c:pt>
                <c:pt idx="5">
                  <c:v>2020-21</c:v>
                </c:pt>
                <c:pt idx="6">
                  <c:v>2021-22*</c:v>
                </c:pt>
              </c:strCache>
            </c:strRef>
          </c:cat>
          <c:val>
            <c:numRef>
              <c:f>Sheet2!$C$4:$C$10</c:f>
              <c:numCache>
                <c:formatCode>General</c:formatCode>
                <c:ptCount val="7"/>
                <c:pt idx="0">
                  <c:v>26.09</c:v>
                </c:pt>
                <c:pt idx="1">
                  <c:v>26.18</c:v>
                </c:pt>
                <c:pt idx="2">
                  <c:v>24.51</c:v>
                </c:pt>
                <c:pt idx="3">
                  <c:v>24.79</c:v>
                </c:pt>
                <c:pt idx="4">
                  <c:v>27.14</c:v>
                </c:pt>
                <c:pt idx="5">
                  <c:v>28.830000000000005</c:v>
                </c:pt>
                <c:pt idx="6">
                  <c:v>28.759999999999994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D48-4F8A-B509-82F2486A3D1A}"/>
            </c:ext>
          </c:extLst>
        </c:ser>
        <c:ser>
          <c:idx val="1"/>
          <c:order val="1"/>
          <c:tx>
            <c:strRef>
              <c:f>Sheet2!$D$3</c:f>
              <c:strCache>
                <c:ptCount val="1"/>
                <c:pt idx="0">
                  <c:v>Production (Mt)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trendline>
            <c:spPr>
              <a:ln w="57150" cap="rnd">
                <a:solidFill>
                  <a:srgbClr val="ED7D31"/>
                </a:solidFill>
                <a:prstDash val="sysDot"/>
              </a:ln>
              <a:effectLst/>
            </c:spPr>
            <c:trendlineType val="linear"/>
          </c:trendline>
          <c:cat>
            <c:strRef>
              <c:f>Sheet2!$B$4:$B$10</c:f>
              <c:strCache>
                <c:ptCount val="7"/>
                <c:pt idx="0">
                  <c:v>2015-16</c:v>
                </c:pt>
                <c:pt idx="1">
                  <c:v>2016-17</c:v>
                </c:pt>
                <c:pt idx="2">
                  <c:v>2017-18</c:v>
                </c:pt>
                <c:pt idx="3">
                  <c:v>2018-19</c:v>
                </c:pt>
                <c:pt idx="4">
                  <c:v>2019-20</c:v>
                </c:pt>
                <c:pt idx="5">
                  <c:v>2020-21</c:v>
                </c:pt>
                <c:pt idx="6">
                  <c:v>2021-22*</c:v>
                </c:pt>
              </c:strCache>
            </c:strRef>
          </c:cat>
          <c:val>
            <c:numRef>
              <c:f>Sheet2!$D$4:$D$10</c:f>
              <c:numCache>
                <c:formatCode>General</c:formatCode>
                <c:ptCount val="7"/>
                <c:pt idx="0">
                  <c:v>25.25</c:v>
                </c:pt>
                <c:pt idx="1">
                  <c:v>31.279999999999994</c:v>
                </c:pt>
                <c:pt idx="2">
                  <c:v>31.459999999999994</c:v>
                </c:pt>
                <c:pt idx="3">
                  <c:v>31.52</c:v>
                </c:pt>
                <c:pt idx="4">
                  <c:v>33.220000000000013</c:v>
                </c:pt>
                <c:pt idx="5">
                  <c:v>35.950000000000003</c:v>
                </c:pt>
                <c:pt idx="6">
                  <c:v>37.15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AD48-4F8A-B509-82F2486A3D1A}"/>
            </c:ext>
          </c:extLst>
        </c:ser>
        <c:gapWidth val="219"/>
        <c:overlap val="-27"/>
        <c:axId val="185288960"/>
        <c:axId val="185287424"/>
      </c:barChart>
      <c:lineChart>
        <c:grouping val="standard"/>
        <c:ser>
          <c:idx val="2"/>
          <c:order val="2"/>
          <c:tx>
            <c:strRef>
              <c:f>Sheet2!$E$3</c:f>
              <c:strCache>
                <c:ptCount val="1"/>
                <c:pt idx="0">
                  <c:v>Yield (Kg/ha)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Sheet2!$B$4:$B$10</c:f>
              <c:strCache>
                <c:ptCount val="7"/>
                <c:pt idx="0">
                  <c:v>2015-16</c:v>
                </c:pt>
                <c:pt idx="1">
                  <c:v>2016-17</c:v>
                </c:pt>
                <c:pt idx="2">
                  <c:v>2017-18</c:v>
                </c:pt>
                <c:pt idx="3">
                  <c:v>2018-19</c:v>
                </c:pt>
                <c:pt idx="4">
                  <c:v>2019-20</c:v>
                </c:pt>
                <c:pt idx="5">
                  <c:v>2020-21</c:v>
                </c:pt>
                <c:pt idx="6">
                  <c:v>2021-22*</c:v>
                </c:pt>
              </c:strCache>
            </c:strRef>
          </c:cat>
          <c:val>
            <c:numRef>
              <c:f>Sheet2!$E$4:$E$10</c:f>
              <c:numCache>
                <c:formatCode>General</c:formatCode>
                <c:ptCount val="7"/>
                <c:pt idx="0">
                  <c:v>968</c:v>
                </c:pt>
                <c:pt idx="1">
                  <c:v>1195</c:v>
                </c:pt>
                <c:pt idx="2">
                  <c:v>1284</c:v>
                </c:pt>
                <c:pt idx="3">
                  <c:v>1271</c:v>
                </c:pt>
                <c:pt idx="4">
                  <c:v>1224</c:v>
                </c:pt>
                <c:pt idx="5">
                  <c:v>1247</c:v>
                </c:pt>
                <c:pt idx="6">
                  <c:v>1292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AD48-4F8A-B509-82F2486A3D1A}"/>
            </c:ext>
          </c:extLst>
        </c:ser>
        <c:marker val="1"/>
        <c:axId val="185243136"/>
        <c:axId val="185244672"/>
      </c:lineChart>
      <c:catAx>
        <c:axId val="185243136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244672"/>
        <c:crosses val="autoZero"/>
        <c:auto val="1"/>
        <c:lblAlgn val="ctr"/>
        <c:lblOffset val="100"/>
      </c:catAx>
      <c:valAx>
        <c:axId val="185244672"/>
        <c:scaling>
          <c:orientation val="minMax"/>
        </c:scaling>
        <c:axPos val="l"/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243136"/>
        <c:crosses val="autoZero"/>
        <c:crossBetween val="between"/>
      </c:valAx>
      <c:valAx>
        <c:axId val="185287424"/>
        <c:scaling>
          <c:orientation val="minMax"/>
        </c:scaling>
        <c:axPos val="r"/>
        <c:numFmt formatCode="General" sourceLinked="1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288960"/>
        <c:crosses val="max"/>
        <c:crossBetween val="between"/>
      </c:valAx>
      <c:catAx>
        <c:axId val="185288960"/>
        <c:scaling>
          <c:orientation val="minMax"/>
        </c:scaling>
        <c:delete val="1"/>
        <c:axPos val="b"/>
        <c:numFmt formatCode="General" sourceLinked="1"/>
        <c:tickLblPos val="nextTo"/>
        <c:crossAx val="185287424"/>
        <c:crosses val="autoZero"/>
        <c:auto val="1"/>
        <c:lblAlgn val="ctr"/>
        <c:lblOffset val="10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6.6455266461257559E-2"/>
          <c:y val="0.10412909697608211"/>
          <c:w val="0.92025970938415302"/>
          <c:h val="0.76010743819507942"/>
        </c:manualLayout>
      </c:layout>
      <c:barChart>
        <c:barDir val="col"/>
        <c:grouping val="clustered"/>
        <c:ser>
          <c:idx val="0"/>
          <c:order val="0"/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cust"/>
            <c:plus>
              <c:numRef>
                <c:f>newtop5var2!$K$3:$K$12</c:f>
                <c:numCache>
                  <c:formatCode>General</c:formatCode>
                  <c:ptCount val="10"/>
                  <c:pt idx="0">
                    <c:v>2.5630448540651316E-2</c:v>
                  </c:pt>
                  <c:pt idx="1">
                    <c:v>3.3747542783586916E-2</c:v>
                  </c:pt>
                  <c:pt idx="2">
                    <c:v>2.39176683538278E-2</c:v>
                  </c:pt>
                  <c:pt idx="3">
                    <c:v>5.5015782787486221E-2</c:v>
                  </c:pt>
                  <c:pt idx="4">
                    <c:v>7.1463188305481332E-2</c:v>
                  </c:pt>
                  <c:pt idx="5">
                    <c:v>4.6363373969223021E-2</c:v>
                  </c:pt>
                  <c:pt idx="6">
                    <c:v>4.9572568257970719E-2</c:v>
                  </c:pt>
                  <c:pt idx="7">
                    <c:v>5.519805597034582E-2</c:v>
                  </c:pt>
                  <c:pt idx="8">
                    <c:v>5.7135843438136817E-2</c:v>
                  </c:pt>
                  <c:pt idx="9">
                    <c:v>3.9958015406281716E-2</c:v>
                  </c:pt>
                </c:numCache>
              </c:numRef>
            </c:plus>
            <c:minus>
              <c:numRef>
                <c:f>newtop5var2!$K$3:$K$12</c:f>
                <c:numCache>
                  <c:formatCode>General</c:formatCode>
                  <c:ptCount val="10"/>
                  <c:pt idx="0">
                    <c:v>2.5630448540651316E-2</c:v>
                  </c:pt>
                  <c:pt idx="1">
                    <c:v>3.3747542783586916E-2</c:v>
                  </c:pt>
                  <c:pt idx="2">
                    <c:v>2.39176683538278E-2</c:v>
                  </c:pt>
                  <c:pt idx="3">
                    <c:v>5.5015782787486221E-2</c:v>
                  </c:pt>
                  <c:pt idx="4">
                    <c:v>7.1463188305481332E-2</c:v>
                  </c:pt>
                  <c:pt idx="5">
                    <c:v>4.6363373969223021E-2</c:v>
                  </c:pt>
                  <c:pt idx="6">
                    <c:v>4.9572568257970719E-2</c:v>
                  </c:pt>
                  <c:pt idx="7">
                    <c:v>5.519805597034582E-2</c:v>
                  </c:pt>
                  <c:pt idx="8">
                    <c:v>5.7135843438136817E-2</c:v>
                  </c:pt>
                  <c:pt idx="9">
                    <c:v>3.9958015406281716E-2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newtop5var2!$I$3:$I$12</c:f>
              <c:strCache>
                <c:ptCount val="10"/>
                <c:pt idx="0">
                  <c:v>MTU 7029</c:v>
                </c:pt>
                <c:pt idx="1">
                  <c:v>BPT5204</c:v>
                </c:pt>
                <c:pt idx="2">
                  <c:v>Arize 6444 Gold</c:v>
                </c:pt>
                <c:pt idx="3">
                  <c:v>Rajendra Mansoori1</c:v>
                </c:pt>
                <c:pt idx="4">
                  <c:v>Moti Gold</c:v>
                </c:pt>
                <c:pt idx="5">
                  <c:v>Moti</c:v>
                </c:pt>
                <c:pt idx="6">
                  <c:v>Pioneer 27P31</c:v>
                </c:pt>
                <c:pt idx="7">
                  <c:v>Sonam</c:v>
                </c:pt>
                <c:pt idx="8">
                  <c:v>Damini</c:v>
                </c:pt>
                <c:pt idx="9">
                  <c:v>Sarju52</c:v>
                </c:pt>
              </c:strCache>
            </c:strRef>
          </c:cat>
          <c:val>
            <c:numRef>
              <c:f>newtop5var2!$J$3:$J$12</c:f>
              <c:numCache>
                <c:formatCode>General</c:formatCode>
                <c:ptCount val="10"/>
                <c:pt idx="0">
                  <c:v>4.54</c:v>
                </c:pt>
                <c:pt idx="1">
                  <c:v>4.26</c:v>
                </c:pt>
                <c:pt idx="2">
                  <c:v>4.0199999999999996</c:v>
                </c:pt>
                <c:pt idx="3">
                  <c:v>3.9899999999999998</c:v>
                </c:pt>
                <c:pt idx="4">
                  <c:v>3.9899999999999998</c:v>
                </c:pt>
                <c:pt idx="5">
                  <c:v>3.9099999999999997</c:v>
                </c:pt>
                <c:pt idx="6">
                  <c:v>3.88</c:v>
                </c:pt>
                <c:pt idx="7">
                  <c:v>3.82</c:v>
                </c:pt>
                <c:pt idx="8">
                  <c:v>3.68</c:v>
                </c:pt>
                <c:pt idx="9">
                  <c:v>3.61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0DE-42F9-8B95-CE9DF19986CA}"/>
            </c:ext>
          </c:extLst>
        </c:ser>
        <c:dLbls>
          <c:showVal val="1"/>
        </c:dLbls>
        <c:gapWidth val="219"/>
        <c:overlap val="-27"/>
        <c:axId val="94322688"/>
        <c:axId val="94326144"/>
      </c:barChart>
      <c:catAx>
        <c:axId val="94322688"/>
        <c:scaling>
          <c:orientation val="minMax"/>
        </c:scaling>
        <c:axPos val="b"/>
        <c:numFmt formatCode="General" sourceLinked="1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94326144"/>
        <c:crosses val="autoZero"/>
        <c:auto val="1"/>
        <c:lblAlgn val="ctr"/>
        <c:lblOffset val="100"/>
      </c:catAx>
      <c:valAx>
        <c:axId val="94326144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w Cen MT" panose="020B0602020104020603" pitchFamily="34" charset="0"/>
                    <a:ea typeface="+mn-ea"/>
                    <a:cs typeface="+mn-cs"/>
                  </a:defRPr>
                </a:pPr>
                <a:r>
                  <a:rPr lang="en-IN" sz="1600">
                    <a:latin typeface="Tw Cen MT" panose="020B0602020104020603" pitchFamily="34" charset="0"/>
                  </a:rPr>
                  <a:t>Paddy yield (t</a:t>
                </a:r>
                <a:r>
                  <a:rPr lang="en-IN" sz="1600" baseline="0">
                    <a:latin typeface="Tw Cen MT" panose="020B0602020104020603" pitchFamily="34" charset="0"/>
                  </a:rPr>
                  <a:t> ha</a:t>
                </a:r>
                <a:r>
                  <a:rPr lang="en-IN" sz="1600" baseline="30000">
                    <a:latin typeface="Tw Cen MT" panose="020B0602020104020603" pitchFamily="34" charset="0"/>
                  </a:rPr>
                  <a:t>-1</a:t>
                </a:r>
                <a:r>
                  <a:rPr lang="en-IN" sz="1600" baseline="0">
                    <a:latin typeface="Tw Cen MT" panose="020B0602020104020603" pitchFamily="34" charset="0"/>
                  </a:rPr>
                  <a:t>)</a:t>
                </a:r>
                <a:endParaRPr lang="en-IN" sz="1600">
                  <a:latin typeface="Tw Cen MT" panose="020B0602020104020603" pitchFamily="34" charset="0"/>
                </a:endParaRPr>
              </a:p>
            </c:rich>
          </c:tx>
          <c:layout>
            <c:manualLayout>
              <c:xMode val="edge"/>
              <c:yMode val="edge"/>
              <c:x val="3.0193236714975862E-3"/>
              <c:y val="0.31092220537631554"/>
            </c:manualLayout>
          </c:layout>
          <c:spPr>
            <a:noFill/>
            <a:ln>
              <a:noFill/>
            </a:ln>
            <a:effectLst/>
          </c:spPr>
        </c:title>
        <c:numFmt formatCode="General" sourceLinked="1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9432268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EA4FFF-EA18-44E4-A9F7-B9DBAD1A481B}" type="doc">
      <dgm:prSet loTypeId="urn:microsoft.com/office/officeart/2005/8/layout/hierarchy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832F48-FC19-4CD3-8180-DA3460943C44}">
      <dgm:prSet phldrT="[Text]" custT="1"/>
      <dgm:spPr/>
      <dgm:t>
        <a:bodyPr/>
        <a:lstStyle/>
        <a:p>
          <a:r>
            <a:rPr lang="en-US" sz="3200" b="1" dirty="0" smtClean="0"/>
            <a:t>Closing the yield gaps</a:t>
          </a:r>
        </a:p>
        <a:p>
          <a:r>
            <a:rPr lang="en-US" sz="3200" dirty="0" smtClean="0"/>
            <a:t>(Presently yield gaps ranges from 17.1% in Lentil to 196.8% in </a:t>
          </a:r>
          <a:r>
            <a:rPr lang="en-US" sz="3200" dirty="0" err="1" smtClean="0"/>
            <a:t>Mothbean</a:t>
          </a:r>
          <a:r>
            <a:rPr lang="en-US" sz="3200" dirty="0" smtClean="0"/>
            <a:t>)</a:t>
          </a:r>
          <a:endParaRPr lang="en-US" sz="3200" dirty="0"/>
        </a:p>
      </dgm:t>
    </dgm:pt>
    <dgm:pt modelId="{7B609CCC-3FAF-4F2F-8AF5-6CC3D8B0BACC}" type="parTrans" cxnId="{2BA9839E-4A64-424E-B82C-8FEAEC5DB281}">
      <dgm:prSet/>
      <dgm:spPr/>
      <dgm:t>
        <a:bodyPr/>
        <a:lstStyle/>
        <a:p>
          <a:endParaRPr lang="en-US"/>
        </a:p>
      </dgm:t>
    </dgm:pt>
    <dgm:pt modelId="{24333F1C-D0C4-4B27-9814-2E4AD252CD87}" type="sibTrans" cxnId="{2BA9839E-4A64-424E-B82C-8FEAEC5DB281}">
      <dgm:prSet/>
      <dgm:spPr/>
      <dgm:t>
        <a:bodyPr/>
        <a:lstStyle/>
        <a:p>
          <a:endParaRPr lang="en-US"/>
        </a:p>
      </dgm:t>
    </dgm:pt>
    <dgm:pt modelId="{1FB00755-F4A7-4CFB-ACD2-3AE3D809764D}">
      <dgm:prSet custT="1"/>
      <dgm:spPr/>
      <dgm:t>
        <a:bodyPr/>
        <a:lstStyle/>
        <a:p>
          <a:r>
            <a:rPr lang="en-US" sz="3200" b="1" dirty="0" smtClean="0"/>
            <a:t>Area expansion </a:t>
          </a:r>
        </a:p>
        <a:p>
          <a:r>
            <a:rPr lang="en-US" sz="3200" dirty="0" smtClean="0"/>
            <a:t>(Additional potential area: 6.2 million ha)</a:t>
          </a:r>
          <a:endParaRPr lang="en-US" sz="3200" dirty="0"/>
        </a:p>
      </dgm:t>
    </dgm:pt>
    <dgm:pt modelId="{C3C7F2B2-F681-4C2F-BEA0-414BD60B3AE1}" type="parTrans" cxnId="{D0A9BB73-A5F9-40D8-892D-2C3FC425FB61}">
      <dgm:prSet/>
      <dgm:spPr/>
      <dgm:t>
        <a:bodyPr/>
        <a:lstStyle/>
        <a:p>
          <a:endParaRPr lang="en-US"/>
        </a:p>
      </dgm:t>
    </dgm:pt>
    <dgm:pt modelId="{F1599A2D-2997-452C-9268-B7C4F033DD0C}" type="sibTrans" cxnId="{D0A9BB73-A5F9-40D8-892D-2C3FC425FB61}">
      <dgm:prSet/>
      <dgm:spPr/>
      <dgm:t>
        <a:bodyPr/>
        <a:lstStyle/>
        <a:p>
          <a:endParaRPr lang="en-US"/>
        </a:p>
      </dgm:t>
    </dgm:pt>
    <dgm:pt modelId="{053DF0BB-0534-4C45-A43A-A507AA2FD958}">
      <dgm:prSet custT="1"/>
      <dgm:spPr/>
      <dgm:t>
        <a:bodyPr/>
        <a:lstStyle/>
        <a:p>
          <a:r>
            <a:rPr lang="en-US" sz="3200" b="1" dirty="0" smtClean="0"/>
            <a:t>Productivity enhancement </a:t>
          </a:r>
        </a:p>
        <a:p>
          <a:r>
            <a:rPr lang="en-US" sz="3200" dirty="0" smtClean="0"/>
            <a:t>(From 817 kg/ha to 1000 kg/ha)</a:t>
          </a:r>
          <a:endParaRPr lang="en-US" sz="3200" dirty="0"/>
        </a:p>
      </dgm:t>
    </dgm:pt>
    <dgm:pt modelId="{CB5957D4-29BF-43E9-84CA-FBF1DCB97D51}" type="parTrans" cxnId="{7C517A43-C7BA-42C2-9C71-AB2952865BD4}">
      <dgm:prSet/>
      <dgm:spPr/>
      <dgm:t>
        <a:bodyPr/>
        <a:lstStyle/>
        <a:p>
          <a:endParaRPr lang="en-US"/>
        </a:p>
      </dgm:t>
    </dgm:pt>
    <dgm:pt modelId="{173CA796-2786-4DDE-9108-809C95DFFB2B}" type="sibTrans" cxnId="{7C517A43-C7BA-42C2-9C71-AB2952865BD4}">
      <dgm:prSet/>
      <dgm:spPr/>
      <dgm:t>
        <a:bodyPr/>
        <a:lstStyle/>
        <a:p>
          <a:endParaRPr lang="en-US"/>
        </a:p>
      </dgm:t>
    </dgm:pt>
    <dgm:pt modelId="{F15D456B-A77D-4BAC-90B8-07545A8E5361}" type="pres">
      <dgm:prSet presAssocID="{21EA4FFF-EA18-44E4-A9F7-B9DBAD1A481B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F992EE87-21B0-4D18-9DFB-E7870A07F8A2}" type="pres">
      <dgm:prSet presAssocID="{5A832F48-FC19-4CD3-8180-DA3460943C44}" presName="vertOne" presStyleCnt="0"/>
      <dgm:spPr/>
    </dgm:pt>
    <dgm:pt modelId="{9458FC4D-CDD9-4A01-A282-F1A760E2123B}" type="pres">
      <dgm:prSet presAssocID="{5A832F48-FC19-4CD3-8180-DA3460943C44}" presName="txOne" presStyleLbl="node0" presStyleIdx="0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FA58887-81D3-463D-BE16-6B5E298255AF}" type="pres">
      <dgm:prSet presAssocID="{5A832F48-FC19-4CD3-8180-DA3460943C44}" presName="horzOne" presStyleCnt="0"/>
      <dgm:spPr/>
    </dgm:pt>
    <dgm:pt modelId="{501EF485-B6C3-48FD-844D-BCFDF01EDF5F}" type="pres">
      <dgm:prSet presAssocID="{24333F1C-D0C4-4B27-9814-2E4AD252CD87}" presName="sibSpaceOne" presStyleCnt="0"/>
      <dgm:spPr/>
    </dgm:pt>
    <dgm:pt modelId="{C1DDC8EE-B51E-4565-AD04-1D247008E51A}" type="pres">
      <dgm:prSet presAssocID="{1FB00755-F4A7-4CFB-ACD2-3AE3D809764D}" presName="vertOne" presStyleCnt="0"/>
      <dgm:spPr/>
    </dgm:pt>
    <dgm:pt modelId="{6E428EB0-209E-4C91-B64F-1F0D3A382E51}" type="pres">
      <dgm:prSet presAssocID="{1FB00755-F4A7-4CFB-ACD2-3AE3D809764D}" presName="txOne" presStyleLbl="node0" presStyleIdx="1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D51B3BF-22B4-44A2-9500-4A1E01AA4811}" type="pres">
      <dgm:prSet presAssocID="{1FB00755-F4A7-4CFB-ACD2-3AE3D809764D}" presName="horzOne" presStyleCnt="0"/>
      <dgm:spPr/>
    </dgm:pt>
    <dgm:pt modelId="{684F51C7-964F-4A4C-8314-796F050D0E51}" type="pres">
      <dgm:prSet presAssocID="{F1599A2D-2997-452C-9268-B7C4F033DD0C}" presName="sibSpaceOne" presStyleCnt="0"/>
      <dgm:spPr/>
    </dgm:pt>
    <dgm:pt modelId="{9F6D0BB6-76C4-4E03-93EA-46229E285557}" type="pres">
      <dgm:prSet presAssocID="{053DF0BB-0534-4C45-A43A-A507AA2FD958}" presName="vertOne" presStyleCnt="0"/>
      <dgm:spPr/>
    </dgm:pt>
    <dgm:pt modelId="{97B48471-4738-4551-9ACD-B721EA48D4F6}" type="pres">
      <dgm:prSet presAssocID="{053DF0BB-0534-4C45-A43A-A507AA2FD958}" presName="txOne" presStyleLbl="node0" presStyleIdx="2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130C343-E8E0-4E98-BD68-A3699D1DEB58}" type="pres">
      <dgm:prSet presAssocID="{053DF0BB-0534-4C45-A43A-A507AA2FD958}" presName="horzOne" presStyleCnt="0"/>
      <dgm:spPr/>
    </dgm:pt>
  </dgm:ptLst>
  <dgm:cxnLst>
    <dgm:cxn modelId="{ECE95AA3-6166-46DD-9B64-814A38ED9C4B}" type="presOf" srcId="{1FB00755-F4A7-4CFB-ACD2-3AE3D809764D}" destId="{6E428EB0-209E-4C91-B64F-1F0D3A382E51}" srcOrd="0" destOrd="0" presId="urn:microsoft.com/office/officeart/2005/8/layout/hierarchy4"/>
    <dgm:cxn modelId="{7C517A43-C7BA-42C2-9C71-AB2952865BD4}" srcId="{21EA4FFF-EA18-44E4-A9F7-B9DBAD1A481B}" destId="{053DF0BB-0534-4C45-A43A-A507AA2FD958}" srcOrd="2" destOrd="0" parTransId="{CB5957D4-29BF-43E9-84CA-FBF1DCB97D51}" sibTransId="{173CA796-2786-4DDE-9108-809C95DFFB2B}"/>
    <dgm:cxn modelId="{3362B638-105D-46CC-A484-5C401F4A1CAC}" type="presOf" srcId="{5A832F48-FC19-4CD3-8180-DA3460943C44}" destId="{9458FC4D-CDD9-4A01-A282-F1A760E2123B}" srcOrd="0" destOrd="0" presId="urn:microsoft.com/office/officeart/2005/8/layout/hierarchy4"/>
    <dgm:cxn modelId="{52A43C04-D962-4425-9598-9CDDD34BAD62}" type="presOf" srcId="{053DF0BB-0534-4C45-A43A-A507AA2FD958}" destId="{97B48471-4738-4551-9ACD-B721EA48D4F6}" srcOrd="0" destOrd="0" presId="urn:microsoft.com/office/officeart/2005/8/layout/hierarchy4"/>
    <dgm:cxn modelId="{2BA9839E-4A64-424E-B82C-8FEAEC5DB281}" srcId="{21EA4FFF-EA18-44E4-A9F7-B9DBAD1A481B}" destId="{5A832F48-FC19-4CD3-8180-DA3460943C44}" srcOrd="0" destOrd="0" parTransId="{7B609CCC-3FAF-4F2F-8AF5-6CC3D8B0BACC}" sibTransId="{24333F1C-D0C4-4B27-9814-2E4AD252CD87}"/>
    <dgm:cxn modelId="{D0A9BB73-A5F9-40D8-892D-2C3FC425FB61}" srcId="{21EA4FFF-EA18-44E4-A9F7-B9DBAD1A481B}" destId="{1FB00755-F4A7-4CFB-ACD2-3AE3D809764D}" srcOrd="1" destOrd="0" parTransId="{C3C7F2B2-F681-4C2F-BEA0-414BD60B3AE1}" sibTransId="{F1599A2D-2997-452C-9268-B7C4F033DD0C}"/>
    <dgm:cxn modelId="{129F1DE1-008B-47A6-B53C-C603B9C0140B}" type="presOf" srcId="{21EA4FFF-EA18-44E4-A9F7-B9DBAD1A481B}" destId="{F15D456B-A77D-4BAC-90B8-07545A8E5361}" srcOrd="0" destOrd="0" presId="urn:microsoft.com/office/officeart/2005/8/layout/hierarchy4"/>
    <dgm:cxn modelId="{6F89A988-63A9-4D88-A785-946EE78C477F}" type="presParOf" srcId="{F15D456B-A77D-4BAC-90B8-07545A8E5361}" destId="{F992EE87-21B0-4D18-9DFB-E7870A07F8A2}" srcOrd="0" destOrd="0" presId="urn:microsoft.com/office/officeart/2005/8/layout/hierarchy4"/>
    <dgm:cxn modelId="{F9CC7370-B55D-4736-8B79-1F7A073A90DF}" type="presParOf" srcId="{F992EE87-21B0-4D18-9DFB-E7870A07F8A2}" destId="{9458FC4D-CDD9-4A01-A282-F1A760E2123B}" srcOrd="0" destOrd="0" presId="urn:microsoft.com/office/officeart/2005/8/layout/hierarchy4"/>
    <dgm:cxn modelId="{0A819665-F59B-4665-A2CC-F2CC6930A6C6}" type="presParOf" srcId="{F992EE87-21B0-4D18-9DFB-E7870A07F8A2}" destId="{AFA58887-81D3-463D-BE16-6B5E298255AF}" srcOrd="1" destOrd="0" presId="urn:microsoft.com/office/officeart/2005/8/layout/hierarchy4"/>
    <dgm:cxn modelId="{F0F3FB74-C621-465B-A245-84C093441796}" type="presParOf" srcId="{F15D456B-A77D-4BAC-90B8-07545A8E5361}" destId="{501EF485-B6C3-48FD-844D-BCFDF01EDF5F}" srcOrd="1" destOrd="0" presId="urn:microsoft.com/office/officeart/2005/8/layout/hierarchy4"/>
    <dgm:cxn modelId="{B7C23E4E-6F98-4A64-9DDA-890B8F757B41}" type="presParOf" srcId="{F15D456B-A77D-4BAC-90B8-07545A8E5361}" destId="{C1DDC8EE-B51E-4565-AD04-1D247008E51A}" srcOrd="2" destOrd="0" presId="urn:microsoft.com/office/officeart/2005/8/layout/hierarchy4"/>
    <dgm:cxn modelId="{469CA832-3E31-4AD8-9FEF-488D50457000}" type="presParOf" srcId="{C1DDC8EE-B51E-4565-AD04-1D247008E51A}" destId="{6E428EB0-209E-4C91-B64F-1F0D3A382E51}" srcOrd="0" destOrd="0" presId="urn:microsoft.com/office/officeart/2005/8/layout/hierarchy4"/>
    <dgm:cxn modelId="{3CD5CB64-52C0-438F-8E92-6EF96D90C672}" type="presParOf" srcId="{C1DDC8EE-B51E-4565-AD04-1D247008E51A}" destId="{5D51B3BF-22B4-44A2-9500-4A1E01AA4811}" srcOrd="1" destOrd="0" presId="urn:microsoft.com/office/officeart/2005/8/layout/hierarchy4"/>
    <dgm:cxn modelId="{8C70C679-8ED5-4EAD-8B88-0BFE0FC630DB}" type="presParOf" srcId="{F15D456B-A77D-4BAC-90B8-07545A8E5361}" destId="{684F51C7-964F-4A4C-8314-796F050D0E51}" srcOrd="3" destOrd="0" presId="urn:microsoft.com/office/officeart/2005/8/layout/hierarchy4"/>
    <dgm:cxn modelId="{27DF705D-3EFE-4A03-BCA2-0494EEE8835F}" type="presParOf" srcId="{F15D456B-A77D-4BAC-90B8-07545A8E5361}" destId="{9F6D0BB6-76C4-4E03-93EA-46229E285557}" srcOrd="4" destOrd="0" presId="urn:microsoft.com/office/officeart/2005/8/layout/hierarchy4"/>
    <dgm:cxn modelId="{AFA445FD-4206-404F-B872-6BC45B85C095}" type="presParOf" srcId="{9F6D0BB6-76C4-4E03-93EA-46229E285557}" destId="{97B48471-4738-4551-9ACD-B721EA48D4F6}" srcOrd="0" destOrd="0" presId="urn:microsoft.com/office/officeart/2005/8/layout/hierarchy4"/>
    <dgm:cxn modelId="{08307001-D98B-4375-B72C-2073D0A735D4}" type="presParOf" srcId="{9F6D0BB6-76C4-4E03-93EA-46229E285557}" destId="{2130C343-E8E0-4E98-BD68-A3699D1DEB58}" srcOrd="1" destOrd="0" presId="urn:microsoft.com/office/officeart/2005/8/layout/hierarchy4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A0AC9D-C77F-4543-9D1C-0A75F2B36A5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AD67D8-1BE2-415D-B409-870B4D9E975E}">
      <dgm:prSet phldrT="[Text]"/>
      <dgm:spPr/>
      <dgm:t>
        <a:bodyPr/>
        <a:lstStyle/>
        <a:p>
          <a:r>
            <a:rPr lang="en-IN" dirty="0" smtClean="0"/>
            <a:t>Area expansion: Targeting area expansion in traditional and non-traditional areas with quality seed supply.</a:t>
          </a:r>
          <a:endParaRPr lang="en-US" dirty="0"/>
        </a:p>
      </dgm:t>
    </dgm:pt>
    <dgm:pt modelId="{8D183787-1C7A-432E-A13B-4A1C53239EB9}" type="parTrans" cxnId="{44EAA402-9D45-4E8F-BA6A-944570AF609A}">
      <dgm:prSet/>
      <dgm:spPr/>
      <dgm:t>
        <a:bodyPr/>
        <a:lstStyle/>
        <a:p>
          <a:endParaRPr lang="en-US"/>
        </a:p>
      </dgm:t>
    </dgm:pt>
    <dgm:pt modelId="{0C09AE75-F6B6-419B-9930-69FBE9F9B42E}" type="sibTrans" cxnId="{44EAA402-9D45-4E8F-BA6A-944570AF609A}">
      <dgm:prSet/>
      <dgm:spPr/>
      <dgm:t>
        <a:bodyPr/>
        <a:lstStyle/>
        <a:p>
          <a:endParaRPr lang="en-US"/>
        </a:p>
      </dgm:t>
    </dgm:pt>
    <dgm:pt modelId="{83E0A61B-412A-44DB-A459-EFEFEC69D138}">
      <dgm:prSet/>
      <dgm:spPr/>
      <dgm:t>
        <a:bodyPr/>
        <a:lstStyle/>
        <a:p>
          <a:r>
            <a:rPr lang="en-IN" smtClean="0"/>
            <a:t>Productivity improvement: Achieving higher productivity through technology (BMPs) adoption and reducing yield gap.</a:t>
          </a:r>
          <a:endParaRPr lang="en-IN" dirty="0"/>
        </a:p>
      </dgm:t>
    </dgm:pt>
    <dgm:pt modelId="{C3D2FDB4-1460-42BC-A405-EEC693660CFA}" type="parTrans" cxnId="{DCAE4094-F986-4C1F-8606-CA5EE12E9618}">
      <dgm:prSet/>
      <dgm:spPr/>
      <dgm:t>
        <a:bodyPr/>
        <a:lstStyle/>
        <a:p>
          <a:endParaRPr lang="en-US"/>
        </a:p>
      </dgm:t>
    </dgm:pt>
    <dgm:pt modelId="{F574F0CF-1110-4149-A625-DF3185C75E84}" type="sibTrans" cxnId="{DCAE4094-F986-4C1F-8606-CA5EE12E9618}">
      <dgm:prSet/>
      <dgm:spPr/>
      <dgm:t>
        <a:bodyPr/>
        <a:lstStyle/>
        <a:p>
          <a:endParaRPr lang="en-US"/>
        </a:p>
      </dgm:t>
    </dgm:pt>
    <dgm:pt modelId="{861022FB-6446-4AA0-BE6B-A463A7A41AF6}">
      <dgm:prSet/>
      <dgm:spPr/>
      <dgm:t>
        <a:bodyPr/>
        <a:lstStyle/>
        <a:p>
          <a:r>
            <a:rPr lang="en-IN" dirty="0" smtClean="0"/>
            <a:t>Profitability improvement: Integrating secondary agriculture and value addition opportunities through apiary, oil extraction, thalamus utilization, mechanization, etc.</a:t>
          </a:r>
          <a:endParaRPr lang="en-IN" dirty="0"/>
        </a:p>
      </dgm:t>
    </dgm:pt>
    <dgm:pt modelId="{7AE48F68-6A9B-4C72-B1D9-6349191F1363}" type="parTrans" cxnId="{D2E25A87-1965-431F-A368-EE48ECFACE55}">
      <dgm:prSet/>
      <dgm:spPr/>
      <dgm:t>
        <a:bodyPr/>
        <a:lstStyle/>
        <a:p>
          <a:endParaRPr lang="en-US"/>
        </a:p>
      </dgm:t>
    </dgm:pt>
    <dgm:pt modelId="{37467ED5-AB98-4A15-8FB7-F225D8A21EEF}" type="sibTrans" cxnId="{D2E25A87-1965-431F-A368-EE48ECFACE55}">
      <dgm:prSet/>
      <dgm:spPr/>
      <dgm:t>
        <a:bodyPr/>
        <a:lstStyle/>
        <a:p>
          <a:endParaRPr lang="en-US"/>
        </a:p>
      </dgm:t>
    </dgm:pt>
    <dgm:pt modelId="{DB6D667D-82A3-45B1-8ED0-640CADDE34E2}">
      <dgm:prSet/>
      <dgm:spPr/>
      <dgm:t>
        <a:bodyPr/>
        <a:lstStyle/>
        <a:p>
          <a:r>
            <a:rPr lang="en-IN" dirty="0" smtClean="0"/>
            <a:t>Capacity Development: Training farmers, extension agencies and technical manpower on full lifecycle supply and value chain opportunity and entrepreneurship development.</a:t>
          </a:r>
          <a:endParaRPr lang="en-IN" dirty="0"/>
        </a:p>
      </dgm:t>
    </dgm:pt>
    <dgm:pt modelId="{C1DF4006-0DCA-4E6A-AFA6-10F1D39E4077}" type="parTrans" cxnId="{1F4CEE1B-701C-4A3F-AB41-0DAEA81730A6}">
      <dgm:prSet/>
      <dgm:spPr/>
      <dgm:t>
        <a:bodyPr/>
        <a:lstStyle/>
        <a:p>
          <a:endParaRPr lang="en-US"/>
        </a:p>
      </dgm:t>
    </dgm:pt>
    <dgm:pt modelId="{61BCFE20-C267-45AD-9045-6C2A1129DD4E}" type="sibTrans" cxnId="{1F4CEE1B-701C-4A3F-AB41-0DAEA81730A6}">
      <dgm:prSet/>
      <dgm:spPr/>
      <dgm:t>
        <a:bodyPr/>
        <a:lstStyle/>
        <a:p>
          <a:endParaRPr lang="en-US"/>
        </a:p>
      </dgm:t>
    </dgm:pt>
    <dgm:pt modelId="{66A2991B-6516-4AC7-9F1B-F0724FCDB4EC}" type="pres">
      <dgm:prSet presAssocID="{88A0AC9D-C77F-4543-9D1C-0A75F2B36A50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A775389A-C6C8-4731-8725-479BAB91C38B}" type="pres">
      <dgm:prSet presAssocID="{16AD67D8-1BE2-415D-B409-870B4D9E975E}" presName="thickLine" presStyleLbl="alignNode1" presStyleIdx="0" presStyleCnt="4"/>
      <dgm:spPr/>
    </dgm:pt>
    <dgm:pt modelId="{46B81ADB-7CC3-4F81-B9C5-0E53FB9ABF07}" type="pres">
      <dgm:prSet presAssocID="{16AD67D8-1BE2-415D-B409-870B4D9E975E}" presName="horz1" presStyleCnt="0"/>
      <dgm:spPr/>
    </dgm:pt>
    <dgm:pt modelId="{D1819C15-B80F-4F15-8584-21A760AC0280}" type="pres">
      <dgm:prSet presAssocID="{16AD67D8-1BE2-415D-B409-870B4D9E975E}" presName="tx1" presStyleLbl="revTx" presStyleIdx="0" presStyleCnt="4"/>
      <dgm:spPr/>
      <dgm:t>
        <a:bodyPr/>
        <a:lstStyle/>
        <a:p>
          <a:endParaRPr lang="en-US"/>
        </a:p>
      </dgm:t>
    </dgm:pt>
    <dgm:pt modelId="{D274DB76-7575-40CE-A8E5-1A30FF8D6DDC}" type="pres">
      <dgm:prSet presAssocID="{16AD67D8-1BE2-415D-B409-870B4D9E975E}" presName="vert1" presStyleCnt="0"/>
      <dgm:spPr/>
    </dgm:pt>
    <dgm:pt modelId="{4FCF2BAB-FB48-48EE-AFFF-88AB5F9A1FF3}" type="pres">
      <dgm:prSet presAssocID="{83E0A61B-412A-44DB-A459-EFEFEC69D138}" presName="thickLine" presStyleLbl="alignNode1" presStyleIdx="1" presStyleCnt="4"/>
      <dgm:spPr/>
    </dgm:pt>
    <dgm:pt modelId="{2F94FD5D-EE3A-4006-9092-15F0BA23CF55}" type="pres">
      <dgm:prSet presAssocID="{83E0A61B-412A-44DB-A459-EFEFEC69D138}" presName="horz1" presStyleCnt="0"/>
      <dgm:spPr/>
    </dgm:pt>
    <dgm:pt modelId="{1DF1E04A-B3EB-471C-AE75-5F7E214A304A}" type="pres">
      <dgm:prSet presAssocID="{83E0A61B-412A-44DB-A459-EFEFEC69D138}" presName="tx1" presStyleLbl="revTx" presStyleIdx="1" presStyleCnt="4"/>
      <dgm:spPr/>
      <dgm:t>
        <a:bodyPr/>
        <a:lstStyle/>
        <a:p>
          <a:endParaRPr lang="en-US"/>
        </a:p>
      </dgm:t>
    </dgm:pt>
    <dgm:pt modelId="{9F0BA0EE-D223-4BE3-96A5-6FB9E9CC7151}" type="pres">
      <dgm:prSet presAssocID="{83E0A61B-412A-44DB-A459-EFEFEC69D138}" presName="vert1" presStyleCnt="0"/>
      <dgm:spPr/>
    </dgm:pt>
    <dgm:pt modelId="{8D925C88-05AE-41DB-99FA-9BA78B2C53DF}" type="pres">
      <dgm:prSet presAssocID="{861022FB-6446-4AA0-BE6B-A463A7A41AF6}" presName="thickLine" presStyleLbl="alignNode1" presStyleIdx="2" presStyleCnt="4"/>
      <dgm:spPr/>
    </dgm:pt>
    <dgm:pt modelId="{D724DF37-25E6-42E8-B93F-5E5003D6E50C}" type="pres">
      <dgm:prSet presAssocID="{861022FB-6446-4AA0-BE6B-A463A7A41AF6}" presName="horz1" presStyleCnt="0"/>
      <dgm:spPr/>
    </dgm:pt>
    <dgm:pt modelId="{E407E2CF-6E96-4BA2-91F7-ACA9572D2F76}" type="pres">
      <dgm:prSet presAssocID="{861022FB-6446-4AA0-BE6B-A463A7A41AF6}" presName="tx1" presStyleLbl="revTx" presStyleIdx="2" presStyleCnt="4"/>
      <dgm:spPr/>
      <dgm:t>
        <a:bodyPr/>
        <a:lstStyle/>
        <a:p>
          <a:endParaRPr lang="en-US"/>
        </a:p>
      </dgm:t>
    </dgm:pt>
    <dgm:pt modelId="{9643D2D2-9CE3-4A05-8014-3F29CE2AB09F}" type="pres">
      <dgm:prSet presAssocID="{861022FB-6446-4AA0-BE6B-A463A7A41AF6}" presName="vert1" presStyleCnt="0"/>
      <dgm:spPr/>
    </dgm:pt>
    <dgm:pt modelId="{762A3F67-846C-45A9-9612-639818B122D2}" type="pres">
      <dgm:prSet presAssocID="{DB6D667D-82A3-45B1-8ED0-640CADDE34E2}" presName="thickLine" presStyleLbl="alignNode1" presStyleIdx="3" presStyleCnt="4"/>
      <dgm:spPr/>
    </dgm:pt>
    <dgm:pt modelId="{A044FA60-47E2-498E-BE82-C73C093B1102}" type="pres">
      <dgm:prSet presAssocID="{DB6D667D-82A3-45B1-8ED0-640CADDE34E2}" presName="horz1" presStyleCnt="0"/>
      <dgm:spPr/>
    </dgm:pt>
    <dgm:pt modelId="{A0A4318E-CE45-4F3E-9744-2D93F31717D8}" type="pres">
      <dgm:prSet presAssocID="{DB6D667D-82A3-45B1-8ED0-640CADDE34E2}" presName="tx1" presStyleLbl="revTx" presStyleIdx="3" presStyleCnt="4"/>
      <dgm:spPr/>
      <dgm:t>
        <a:bodyPr/>
        <a:lstStyle/>
        <a:p>
          <a:endParaRPr lang="en-US"/>
        </a:p>
      </dgm:t>
    </dgm:pt>
    <dgm:pt modelId="{11B25B07-3702-4716-9ACC-EE0BFB3E18A4}" type="pres">
      <dgm:prSet presAssocID="{DB6D667D-82A3-45B1-8ED0-640CADDE34E2}" presName="vert1" presStyleCnt="0"/>
      <dgm:spPr/>
    </dgm:pt>
  </dgm:ptLst>
  <dgm:cxnLst>
    <dgm:cxn modelId="{687BFBD0-2C8D-425F-830F-BE827FE38242}" type="presOf" srcId="{861022FB-6446-4AA0-BE6B-A463A7A41AF6}" destId="{E407E2CF-6E96-4BA2-91F7-ACA9572D2F76}" srcOrd="0" destOrd="0" presId="urn:microsoft.com/office/officeart/2008/layout/LinedList"/>
    <dgm:cxn modelId="{BC11BF85-44C3-495E-AC81-ED52F5A2D7A1}" type="presOf" srcId="{88A0AC9D-C77F-4543-9D1C-0A75F2B36A50}" destId="{66A2991B-6516-4AC7-9F1B-F0724FCDB4EC}" srcOrd="0" destOrd="0" presId="urn:microsoft.com/office/officeart/2008/layout/LinedList"/>
    <dgm:cxn modelId="{DCAE4094-F986-4C1F-8606-CA5EE12E9618}" srcId="{88A0AC9D-C77F-4543-9D1C-0A75F2B36A50}" destId="{83E0A61B-412A-44DB-A459-EFEFEC69D138}" srcOrd="1" destOrd="0" parTransId="{C3D2FDB4-1460-42BC-A405-EEC693660CFA}" sibTransId="{F574F0CF-1110-4149-A625-DF3185C75E84}"/>
    <dgm:cxn modelId="{60A49C00-418D-4B5A-9BFD-8174AB8B934E}" type="presOf" srcId="{83E0A61B-412A-44DB-A459-EFEFEC69D138}" destId="{1DF1E04A-B3EB-471C-AE75-5F7E214A304A}" srcOrd="0" destOrd="0" presId="urn:microsoft.com/office/officeart/2008/layout/LinedList"/>
    <dgm:cxn modelId="{55B60BCC-9730-4E11-8AA7-5AF49AACD040}" type="presOf" srcId="{16AD67D8-1BE2-415D-B409-870B4D9E975E}" destId="{D1819C15-B80F-4F15-8584-21A760AC0280}" srcOrd="0" destOrd="0" presId="urn:microsoft.com/office/officeart/2008/layout/LinedList"/>
    <dgm:cxn modelId="{1F4CEE1B-701C-4A3F-AB41-0DAEA81730A6}" srcId="{88A0AC9D-C77F-4543-9D1C-0A75F2B36A50}" destId="{DB6D667D-82A3-45B1-8ED0-640CADDE34E2}" srcOrd="3" destOrd="0" parTransId="{C1DF4006-0DCA-4E6A-AFA6-10F1D39E4077}" sibTransId="{61BCFE20-C267-45AD-9045-6C2A1129DD4E}"/>
    <dgm:cxn modelId="{D2E25A87-1965-431F-A368-EE48ECFACE55}" srcId="{88A0AC9D-C77F-4543-9D1C-0A75F2B36A50}" destId="{861022FB-6446-4AA0-BE6B-A463A7A41AF6}" srcOrd="2" destOrd="0" parTransId="{7AE48F68-6A9B-4C72-B1D9-6349191F1363}" sibTransId="{37467ED5-AB98-4A15-8FB7-F225D8A21EEF}"/>
    <dgm:cxn modelId="{BC50134C-DC85-444C-9CE3-AB7135C6B847}" type="presOf" srcId="{DB6D667D-82A3-45B1-8ED0-640CADDE34E2}" destId="{A0A4318E-CE45-4F3E-9744-2D93F31717D8}" srcOrd="0" destOrd="0" presId="urn:microsoft.com/office/officeart/2008/layout/LinedList"/>
    <dgm:cxn modelId="{44EAA402-9D45-4E8F-BA6A-944570AF609A}" srcId="{88A0AC9D-C77F-4543-9D1C-0A75F2B36A50}" destId="{16AD67D8-1BE2-415D-B409-870B4D9E975E}" srcOrd="0" destOrd="0" parTransId="{8D183787-1C7A-432E-A13B-4A1C53239EB9}" sibTransId="{0C09AE75-F6B6-419B-9930-69FBE9F9B42E}"/>
    <dgm:cxn modelId="{2D759F23-E24A-4C56-BD61-45AA95109A9E}" type="presParOf" srcId="{66A2991B-6516-4AC7-9F1B-F0724FCDB4EC}" destId="{A775389A-C6C8-4731-8725-479BAB91C38B}" srcOrd="0" destOrd="0" presId="urn:microsoft.com/office/officeart/2008/layout/LinedList"/>
    <dgm:cxn modelId="{92E25ED7-AAE2-48DB-A538-761A705764AA}" type="presParOf" srcId="{66A2991B-6516-4AC7-9F1B-F0724FCDB4EC}" destId="{46B81ADB-7CC3-4F81-B9C5-0E53FB9ABF07}" srcOrd="1" destOrd="0" presId="urn:microsoft.com/office/officeart/2008/layout/LinedList"/>
    <dgm:cxn modelId="{328B69F2-5DDE-4DBB-AA9A-F2920A27E183}" type="presParOf" srcId="{46B81ADB-7CC3-4F81-B9C5-0E53FB9ABF07}" destId="{D1819C15-B80F-4F15-8584-21A760AC0280}" srcOrd="0" destOrd="0" presId="urn:microsoft.com/office/officeart/2008/layout/LinedList"/>
    <dgm:cxn modelId="{12FF90CF-0F0F-4D14-80D2-1E879E760449}" type="presParOf" srcId="{46B81ADB-7CC3-4F81-B9C5-0E53FB9ABF07}" destId="{D274DB76-7575-40CE-A8E5-1A30FF8D6DDC}" srcOrd="1" destOrd="0" presId="urn:microsoft.com/office/officeart/2008/layout/LinedList"/>
    <dgm:cxn modelId="{710E6D7D-F5C4-4687-83BD-5777BA9E82FD}" type="presParOf" srcId="{66A2991B-6516-4AC7-9F1B-F0724FCDB4EC}" destId="{4FCF2BAB-FB48-48EE-AFFF-88AB5F9A1FF3}" srcOrd="2" destOrd="0" presId="urn:microsoft.com/office/officeart/2008/layout/LinedList"/>
    <dgm:cxn modelId="{44C69958-D4AC-4414-BA72-C648B0264B54}" type="presParOf" srcId="{66A2991B-6516-4AC7-9F1B-F0724FCDB4EC}" destId="{2F94FD5D-EE3A-4006-9092-15F0BA23CF55}" srcOrd="3" destOrd="0" presId="urn:microsoft.com/office/officeart/2008/layout/LinedList"/>
    <dgm:cxn modelId="{15D6F152-739B-4B24-852C-958CB191A54D}" type="presParOf" srcId="{2F94FD5D-EE3A-4006-9092-15F0BA23CF55}" destId="{1DF1E04A-B3EB-471C-AE75-5F7E214A304A}" srcOrd="0" destOrd="0" presId="urn:microsoft.com/office/officeart/2008/layout/LinedList"/>
    <dgm:cxn modelId="{45264E1B-33C1-4536-AC23-AB78072F9101}" type="presParOf" srcId="{2F94FD5D-EE3A-4006-9092-15F0BA23CF55}" destId="{9F0BA0EE-D223-4BE3-96A5-6FB9E9CC7151}" srcOrd="1" destOrd="0" presId="urn:microsoft.com/office/officeart/2008/layout/LinedList"/>
    <dgm:cxn modelId="{05C5C889-6B8E-455C-979C-BEAEB66BDC0A}" type="presParOf" srcId="{66A2991B-6516-4AC7-9F1B-F0724FCDB4EC}" destId="{8D925C88-05AE-41DB-99FA-9BA78B2C53DF}" srcOrd="4" destOrd="0" presId="urn:microsoft.com/office/officeart/2008/layout/LinedList"/>
    <dgm:cxn modelId="{E8C71DDB-3D93-4E1A-A8EB-2BB9008A6DD1}" type="presParOf" srcId="{66A2991B-6516-4AC7-9F1B-F0724FCDB4EC}" destId="{D724DF37-25E6-42E8-B93F-5E5003D6E50C}" srcOrd="5" destOrd="0" presId="urn:microsoft.com/office/officeart/2008/layout/LinedList"/>
    <dgm:cxn modelId="{A3178D97-1BCB-400C-B393-9B6B40D527D6}" type="presParOf" srcId="{D724DF37-25E6-42E8-B93F-5E5003D6E50C}" destId="{E407E2CF-6E96-4BA2-91F7-ACA9572D2F76}" srcOrd="0" destOrd="0" presId="urn:microsoft.com/office/officeart/2008/layout/LinedList"/>
    <dgm:cxn modelId="{C82F6004-A563-4354-B8F6-9D0EFC5CC93B}" type="presParOf" srcId="{D724DF37-25E6-42E8-B93F-5E5003D6E50C}" destId="{9643D2D2-9CE3-4A05-8014-3F29CE2AB09F}" srcOrd="1" destOrd="0" presId="urn:microsoft.com/office/officeart/2008/layout/LinedList"/>
    <dgm:cxn modelId="{FFAAADE2-2C4B-4253-8D5E-3C1D948280B5}" type="presParOf" srcId="{66A2991B-6516-4AC7-9F1B-F0724FCDB4EC}" destId="{762A3F67-846C-45A9-9612-639818B122D2}" srcOrd="6" destOrd="0" presId="urn:microsoft.com/office/officeart/2008/layout/LinedList"/>
    <dgm:cxn modelId="{E6EE594A-84AC-493B-B9A9-95C99B758CDD}" type="presParOf" srcId="{66A2991B-6516-4AC7-9F1B-F0724FCDB4EC}" destId="{A044FA60-47E2-498E-BE82-C73C093B1102}" srcOrd="7" destOrd="0" presId="urn:microsoft.com/office/officeart/2008/layout/LinedList"/>
    <dgm:cxn modelId="{0B170D41-0DC3-41DB-B7ED-771BA41371B9}" type="presParOf" srcId="{A044FA60-47E2-498E-BE82-C73C093B1102}" destId="{A0A4318E-CE45-4F3E-9744-2D93F31717D8}" srcOrd="0" destOrd="0" presId="urn:microsoft.com/office/officeart/2008/layout/LinedList"/>
    <dgm:cxn modelId="{DC5836C2-AFA5-45C5-9330-3C7156B5DFA6}" type="presParOf" srcId="{A044FA60-47E2-498E-BE82-C73C093B1102}" destId="{11B25B07-3702-4716-9ACC-EE0BFB3E18A4}" srcOrd="1" destOrd="0" presId="urn:microsoft.com/office/officeart/2008/layout/LinedList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8FC4D-CDD9-4A01-A282-F1A760E2123B}">
      <dsp:nvSpPr>
        <dsp:cNvPr id="0" name=""/>
        <dsp:cNvSpPr/>
      </dsp:nvSpPr>
      <dsp:spPr>
        <a:xfrm>
          <a:off x="7840" y="0"/>
          <a:ext cx="3170299" cy="47561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/>
            <a:t>Closing the yield gaps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(Presently yield gaps ranges from 17.1% in Lentil to 196.8% in </a:t>
          </a:r>
          <a:r>
            <a:rPr lang="en-US" sz="3200" kern="1200" dirty="0" err="1" smtClean="0"/>
            <a:t>Mothbean</a:t>
          </a:r>
          <a:r>
            <a:rPr lang="en-US" sz="3200" kern="1200" dirty="0" smtClean="0"/>
            <a:t>)</a:t>
          </a:r>
          <a:endParaRPr lang="en-US" sz="3200" kern="1200" dirty="0"/>
        </a:p>
      </dsp:txBody>
      <dsp:txXfrm>
        <a:off x="100695" y="92855"/>
        <a:ext cx="2984589" cy="4570441"/>
      </dsp:txXfrm>
    </dsp:sp>
    <dsp:sp modelId="{6E428EB0-209E-4C91-B64F-1F0D3A382E51}">
      <dsp:nvSpPr>
        <dsp:cNvPr id="0" name=""/>
        <dsp:cNvSpPr/>
      </dsp:nvSpPr>
      <dsp:spPr>
        <a:xfrm>
          <a:off x="3710750" y="0"/>
          <a:ext cx="3170299" cy="47561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/>
            <a:t>Area expansion 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(Additional potential area: 6.2 million ha)</a:t>
          </a:r>
          <a:endParaRPr lang="en-US" sz="3200" kern="1200" dirty="0"/>
        </a:p>
      </dsp:txBody>
      <dsp:txXfrm>
        <a:off x="3803605" y="92855"/>
        <a:ext cx="2984589" cy="4570441"/>
      </dsp:txXfrm>
    </dsp:sp>
    <dsp:sp modelId="{97B48471-4738-4551-9ACD-B721EA48D4F6}">
      <dsp:nvSpPr>
        <dsp:cNvPr id="0" name=""/>
        <dsp:cNvSpPr/>
      </dsp:nvSpPr>
      <dsp:spPr>
        <a:xfrm>
          <a:off x="7413660" y="0"/>
          <a:ext cx="3170299" cy="47561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/>
            <a:t>Productivity enhancement 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(From 817 kg/ha to 1000 kg/ha)</a:t>
          </a:r>
          <a:endParaRPr lang="en-US" sz="3200" kern="1200" dirty="0"/>
        </a:p>
      </dsp:txBody>
      <dsp:txXfrm>
        <a:off x="7506515" y="92855"/>
        <a:ext cx="2984589" cy="45704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75389A-C6C8-4731-8725-479BAB91C38B}">
      <dsp:nvSpPr>
        <dsp:cNvPr id="0" name=""/>
        <dsp:cNvSpPr/>
      </dsp:nvSpPr>
      <dsp:spPr>
        <a:xfrm>
          <a:off x="0" y="0"/>
          <a:ext cx="11277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19C15-B80F-4F15-8584-21A760AC0280}">
      <dsp:nvSpPr>
        <dsp:cNvPr id="0" name=""/>
        <dsp:cNvSpPr/>
      </dsp:nvSpPr>
      <dsp:spPr>
        <a:xfrm>
          <a:off x="0" y="0"/>
          <a:ext cx="11277600" cy="1371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 dirty="0" smtClean="0"/>
            <a:t>Area expansion: Targeting area expansion in traditional and non-traditional areas with quality seed supply.</a:t>
          </a:r>
          <a:endParaRPr lang="en-US" sz="2700" kern="1200" dirty="0"/>
        </a:p>
      </dsp:txBody>
      <dsp:txXfrm>
        <a:off x="0" y="0"/>
        <a:ext cx="11277600" cy="1371599"/>
      </dsp:txXfrm>
    </dsp:sp>
    <dsp:sp modelId="{4FCF2BAB-FB48-48EE-AFFF-88AB5F9A1FF3}">
      <dsp:nvSpPr>
        <dsp:cNvPr id="0" name=""/>
        <dsp:cNvSpPr/>
      </dsp:nvSpPr>
      <dsp:spPr>
        <a:xfrm>
          <a:off x="0" y="1371599"/>
          <a:ext cx="11277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1E04A-B3EB-471C-AE75-5F7E214A304A}">
      <dsp:nvSpPr>
        <dsp:cNvPr id="0" name=""/>
        <dsp:cNvSpPr/>
      </dsp:nvSpPr>
      <dsp:spPr>
        <a:xfrm>
          <a:off x="0" y="1371599"/>
          <a:ext cx="11277600" cy="1371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 smtClean="0"/>
            <a:t>Productivity improvement: Achieving higher productivity through technology (BMPs) adoption and reducing yield gap.</a:t>
          </a:r>
          <a:endParaRPr lang="en-IN" sz="2700" kern="1200" dirty="0"/>
        </a:p>
      </dsp:txBody>
      <dsp:txXfrm>
        <a:off x="0" y="1371599"/>
        <a:ext cx="11277600" cy="1371599"/>
      </dsp:txXfrm>
    </dsp:sp>
    <dsp:sp modelId="{8D925C88-05AE-41DB-99FA-9BA78B2C53DF}">
      <dsp:nvSpPr>
        <dsp:cNvPr id="0" name=""/>
        <dsp:cNvSpPr/>
      </dsp:nvSpPr>
      <dsp:spPr>
        <a:xfrm>
          <a:off x="0" y="2743199"/>
          <a:ext cx="11277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7E2CF-6E96-4BA2-91F7-ACA9572D2F76}">
      <dsp:nvSpPr>
        <dsp:cNvPr id="0" name=""/>
        <dsp:cNvSpPr/>
      </dsp:nvSpPr>
      <dsp:spPr>
        <a:xfrm>
          <a:off x="0" y="2743199"/>
          <a:ext cx="11277600" cy="1371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 dirty="0" smtClean="0"/>
            <a:t>Profitability improvement: Integrating secondary agriculture and value addition opportunities through apiary, oil extraction, thalamus utilization, mechanization, etc.</a:t>
          </a:r>
          <a:endParaRPr lang="en-IN" sz="2700" kern="1200" dirty="0"/>
        </a:p>
      </dsp:txBody>
      <dsp:txXfrm>
        <a:off x="0" y="2743199"/>
        <a:ext cx="11277600" cy="1371599"/>
      </dsp:txXfrm>
    </dsp:sp>
    <dsp:sp modelId="{762A3F67-846C-45A9-9612-639818B122D2}">
      <dsp:nvSpPr>
        <dsp:cNvPr id="0" name=""/>
        <dsp:cNvSpPr/>
      </dsp:nvSpPr>
      <dsp:spPr>
        <a:xfrm>
          <a:off x="0" y="4114799"/>
          <a:ext cx="11277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4318E-CE45-4F3E-9744-2D93F31717D8}">
      <dsp:nvSpPr>
        <dsp:cNvPr id="0" name=""/>
        <dsp:cNvSpPr/>
      </dsp:nvSpPr>
      <dsp:spPr>
        <a:xfrm>
          <a:off x="0" y="4114799"/>
          <a:ext cx="11277600" cy="1371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700" kern="1200" dirty="0" smtClean="0"/>
            <a:t>Capacity Development: Training farmers, extension agencies and technical manpower on full lifecycle supply and value chain opportunity and entrepreneurship development.</a:t>
          </a:r>
          <a:endParaRPr lang="en-IN" sz="2700" kern="1200" dirty="0"/>
        </a:p>
      </dsp:txBody>
      <dsp:txXfrm>
        <a:off x="0" y="4114799"/>
        <a:ext cx="11277600" cy="13715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68154"/>
          </a:xfrm>
          <a:prstGeom prst="rect">
            <a:avLst/>
          </a:prstGeom>
        </p:spPr>
        <p:txBody>
          <a:bodyPr vert="horz" lIns="93932" tIns="46966" rIns="93932" bIns="4696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68154"/>
          </a:xfrm>
          <a:prstGeom prst="rect">
            <a:avLst/>
          </a:prstGeom>
        </p:spPr>
        <p:txBody>
          <a:bodyPr vert="horz" lIns="93932" tIns="46966" rIns="93932" bIns="4696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CAD8601-853C-437E-826F-EDD4EEEF2706}" type="datetimeFigureOut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297"/>
            <a:ext cx="3066733" cy="468154"/>
          </a:xfrm>
          <a:prstGeom prst="rect">
            <a:avLst/>
          </a:prstGeom>
        </p:spPr>
        <p:txBody>
          <a:bodyPr vert="horz" lIns="93932" tIns="46966" rIns="93932" bIns="4696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297"/>
            <a:ext cx="3066733" cy="468154"/>
          </a:xfrm>
          <a:prstGeom prst="rect">
            <a:avLst/>
          </a:prstGeom>
        </p:spPr>
        <p:txBody>
          <a:bodyPr vert="horz" lIns="93932" tIns="46966" rIns="93932" bIns="4696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1D26B83-8D00-47AB-8CB5-9A2B3FF2F7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68154"/>
          </a:xfrm>
          <a:prstGeom prst="rect">
            <a:avLst/>
          </a:prstGeom>
        </p:spPr>
        <p:txBody>
          <a:bodyPr vert="horz" lIns="93932" tIns="46966" rIns="93932" bIns="4696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68154"/>
          </a:xfrm>
          <a:prstGeom prst="rect">
            <a:avLst/>
          </a:prstGeom>
        </p:spPr>
        <p:txBody>
          <a:bodyPr vert="horz" lIns="93932" tIns="46966" rIns="93932" bIns="4696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13F177F-A365-4376-94C4-C95ECB7B70C2}" type="datetimeFigureOut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701675"/>
            <a:ext cx="6242050" cy="3511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2" tIns="46966" rIns="93932" bIns="4696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447461"/>
            <a:ext cx="5661660" cy="4213384"/>
          </a:xfrm>
          <a:prstGeom prst="rect">
            <a:avLst/>
          </a:prstGeom>
        </p:spPr>
        <p:txBody>
          <a:bodyPr vert="horz" lIns="93932" tIns="46966" rIns="93932" bIns="4696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297"/>
            <a:ext cx="3066733" cy="468154"/>
          </a:xfrm>
          <a:prstGeom prst="rect">
            <a:avLst/>
          </a:prstGeom>
        </p:spPr>
        <p:txBody>
          <a:bodyPr vert="horz" lIns="93932" tIns="46966" rIns="93932" bIns="4696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297"/>
            <a:ext cx="3066733" cy="468154"/>
          </a:xfrm>
          <a:prstGeom prst="rect">
            <a:avLst/>
          </a:prstGeom>
        </p:spPr>
        <p:txBody>
          <a:bodyPr vert="horz" lIns="93932" tIns="46966" rIns="93932" bIns="4696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788BD52-BD0B-413C-9645-AE674CED28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17513" y="701675"/>
            <a:ext cx="6242050" cy="35115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E2C181C4-4900-4994-A72F-3B206BF770B8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82540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7513" y="701675"/>
            <a:ext cx="6242050" cy="35115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0AA90-874C-4C1E-A529-EA2BFC6CFA6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9047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1D9D0-B2D6-4540-A644-B027ACA6B1AD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57939-1D0B-4CB9-8260-441F00A16C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EA842-4876-4210-989D-0BB31519365B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CC4C7-642E-4894-A9B1-F156BB0BD2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F95DD-5D94-4F8F-B4F7-3486DFF03965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6F202-6BBD-472A-8949-7AA6A285BB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CA82A-09F9-496A-B50E-7A5CD6C372CE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B359-5A9B-4C66-A430-02BB8FC785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00F514-C18D-4401-BDE9-53FD2B258814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9B3AD-A5D0-467F-B274-F3CF1AF80E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C85972-4815-4D85-9671-2D81311A9F24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52BF9-FE56-44F0-81BE-4133F1BEAE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48AFB-AFBA-49CC-B2FC-E0187FD19CE1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1A2F7-DA1D-449F-93C0-037A649495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7DC670-5BFB-4637-BBFA-ADA69C52F2C4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AE249-BB46-470B-A9F6-BF8060BFD5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C6FB5-29A2-47D2-A25D-D21E768BE436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5ED3A-C7D6-4E91-81C0-E9FFECB60E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FDC82A-9C73-42C4-9DBD-635718AF7426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D734C-64E4-4CA1-A30E-3F88D746A7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B20D1-0BD9-4819-8F17-C3470EF21E10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6C9AA-6B2E-4533-A985-109947B18D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DE6D88-3746-48AE-955F-61834F8ECDA7}" type="datetime1">
              <a:rPr lang="en-US"/>
              <a:pPr>
                <a:defRPr/>
              </a:pPr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7ABFFA-4C71-478B-AE82-4C2548E806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Microsoft_Office_Excel_97-2003_Worksheet1.xls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28600"/>
            <a:ext cx="11658600" cy="1533525"/>
          </a:xfrm>
          <a:ln w="28575"/>
        </p:spPr>
        <p:txBody>
          <a:bodyPr>
            <a:normAutofit fontScale="9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2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/>
            </a:r>
            <a:br>
              <a:rPr lang="en-US" sz="42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2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NATIONAL CONFERENCE ON AGRICULTURE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/>
            </a:r>
            <a:br>
              <a:rPr lang="en-US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(</a:t>
            </a:r>
            <a:r>
              <a:rPr lang="en-US" sz="4000" b="1" i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KHARIF 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CAMPAIGN-2022)</a:t>
            </a:r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  </a:t>
            </a:r>
            <a:br>
              <a:rPr lang="en-US" sz="3600" b="1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2200" b="1" dirty="0" smtClean="0">
                <a:solidFill>
                  <a:schemeClr val="tx2">
                    <a:lumMod val="50000"/>
                  </a:schemeClr>
                </a:solidFill>
              </a:rPr>
              <a:t>19</a:t>
            </a:r>
            <a:r>
              <a:rPr lang="en-US" sz="2200" b="1" baseline="30000" dirty="0" smtClean="0">
                <a:solidFill>
                  <a:schemeClr val="tx2">
                    <a:lumMod val="50000"/>
                  </a:schemeClr>
                </a:solidFill>
              </a:rPr>
              <a:t>th</a:t>
            </a:r>
            <a:r>
              <a:rPr lang="en-US" sz="2200" b="1" dirty="0" smtClean="0">
                <a:solidFill>
                  <a:schemeClr val="tx2">
                    <a:lumMod val="50000"/>
                  </a:schemeClr>
                </a:solidFill>
              </a:rPr>
              <a:t>  April, 2022</a:t>
            </a:r>
            <a:r>
              <a:rPr lang="en-US" sz="3600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US" sz="3600" dirty="0" smtClean="0">
                <a:solidFill>
                  <a:schemeClr val="tx2">
                    <a:lumMod val="50000"/>
                  </a:schemeClr>
                </a:solidFill>
              </a:rPr>
            </a:br>
            <a:endParaRPr lang="en-US" sz="4000" b="1" dirty="0">
              <a:solidFill>
                <a:schemeClr val="accent2">
                  <a:lumMod val="50000"/>
                </a:schemeClr>
              </a:solidFill>
              <a:latin typeface="Franklin Gothic Medium" pitchFamily="34" charset="0"/>
            </a:endParaRPr>
          </a:p>
        </p:txBody>
      </p:sp>
      <p:pic>
        <p:nvPicPr>
          <p:cNvPr id="4099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1" y="2743201"/>
            <a:ext cx="1147763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905000" y="1981201"/>
            <a:ext cx="82296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</a:rPr>
              <a:t>KHARIF</a:t>
            </a:r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</a:rPr>
              <a:t> PROSPECTS AND STRATEGIES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362200" y="5334001"/>
            <a:ext cx="76200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</a:rPr>
              <a:t>Dr. A. K. Singh</a:t>
            </a:r>
          </a:p>
          <a:p>
            <a:pPr algn="ctr"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</a:rPr>
              <a:t> Agriculture Commissioner  </a:t>
            </a:r>
          </a:p>
          <a:p>
            <a:pPr algn="ctr"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</a:rPr>
              <a:t>Department of Agriculture &amp; Farmers Welfare, </a:t>
            </a:r>
          </a:p>
          <a:p>
            <a:pPr algn="ctr"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</a:rPr>
              <a:t>Ministry of Agriculture &amp; Farmers Welfare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744992"/>
            <a:ext cx="3255778" cy="24383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761458"/>
            <a:ext cx="3423239" cy="22839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11734800" cy="304800"/>
          </a:xfrm>
          <a:solidFill>
            <a:schemeClr val="bg1"/>
          </a:solidFill>
        </p:spPr>
        <p:txBody>
          <a:bodyPr/>
          <a:lstStyle/>
          <a:p>
            <a:pPr>
              <a:defRPr/>
            </a:pPr>
            <a:r>
              <a:rPr lang="en-US" sz="2800" b="1" dirty="0">
                <a:solidFill>
                  <a:srgbClr val="002060"/>
                </a:solidFill>
              </a:rPr>
              <a:t/>
            </a:r>
            <a:br>
              <a:rPr lang="en-US" sz="2800" b="1" dirty="0">
                <a:solidFill>
                  <a:srgbClr val="002060"/>
                </a:solidFill>
              </a:rPr>
            </a:br>
            <a:r>
              <a:rPr lang="en-US" sz="28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AREA AND PRODUCTION OF CROPS IN 2021-22  (2nd Adv. Est.)</a:t>
            </a:r>
            <a:br>
              <a:rPr lang="en-US" sz="28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</a:br>
            <a:r>
              <a:rPr lang="en-US" sz="2800" b="1" dirty="0">
                <a:solidFill>
                  <a:srgbClr val="002060"/>
                </a:solidFill>
              </a:rPr>
              <a:t>                                                                                       </a:t>
            </a:r>
            <a:r>
              <a:rPr lang="en-US" sz="1050" b="1" dirty="0">
                <a:solidFill>
                  <a:srgbClr val="002060"/>
                </a:solidFill>
              </a:rPr>
              <a:t>Second estimates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2051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153400" y="6492876"/>
            <a:ext cx="2133600" cy="365125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BDE3AB0A-FAAD-41D1-873B-E2D2A15DD530}" type="slidenum">
              <a:rPr lang="en-US" altLang="en-US" b="1" smtClean="0">
                <a:solidFill>
                  <a:srgbClr val="254061"/>
                </a:solidFill>
              </a:rPr>
              <a:pPr>
                <a:defRPr/>
              </a:pPr>
              <a:t>2</a:t>
            </a:fld>
            <a:endParaRPr lang="en-US" altLang="en-US" b="1">
              <a:solidFill>
                <a:srgbClr val="25406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535554692"/>
              </p:ext>
            </p:extLst>
          </p:nvPr>
        </p:nvGraphicFramePr>
        <p:xfrm>
          <a:off x="457201" y="615952"/>
          <a:ext cx="11429999" cy="6175187"/>
        </p:xfrm>
        <a:graphic>
          <a:graphicData uri="http://schemas.openxmlformats.org/drawingml/2006/table">
            <a:tbl>
              <a:tblPr firstRow="1" lastRow="1" bandRow="1">
                <a:tableStyleId>{69CF1AB2-1976-4502-BF36-3FF5EA218861}</a:tableStyleId>
              </a:tblPr>
              <a:tblGrid>
                <a:gridCol w="258417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9269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9086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908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49086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54731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63320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9801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Crops  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Area (Million hectare)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Production (Million ton)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801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Kharif</a:t>
                      </a:r>
                      <a:endParaRPr lang="en-US" sz="2000" b="1" i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Rabi</a:t>
                      </a:r>
                      <a:endParaRPr lang="en-US" sz="2000" b="1" i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Total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Kharif</a:t>
                      </a:r>
                      <a:endParaRPr lang="en-US" sz="2000" b="1" i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Rabi</a:t>
                      </a:r>
                      <a:endParaRPr lang="en-US" sz="2000" b="1" i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Total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721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Rice</a:t>
                      </a:r>
                      <a:endParaRPr lang="en-US" sz="20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41.58</a:t>
                      </a:r>
                      <a:endParaRPr lang="en-US" sz="20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5.20</a:t>
                      </a:r>
                      <a:endParaRPr lang="en-US" sz="20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46.78</a:t>
                      </a:r>
                      <a:endParaRPr lang="en-US" sz="20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109.54</a:t>
                      </a:r>
                      <a:endParaRPr lang="en-US" sz="20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18.39</a:t>
                      </a:r>
                      <a:endParaRPr lang="en-US" sz="20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/>
                        <a:t>127.93</a:t>
                      </a:r>
                      <a:endParaRPr lang="en-US" sz="28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721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Wheat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-</a:t>
                      </a:r>
                      <a:endParaRPr lang="en-US" sz="20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30.95</a:t>
                      </a:r>
                      <a:endParaRPr lang="en-US" sz="20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30.95</a:t>
                      </a:r>
                      <a:endParaRPr lang="en-US" sz="20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-</a:t>
                      </a:r>
                      <a:endParaRPr lang="en-US" sz="20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111.32</a:t>
                      </a:r>
                      <a:endParaRPr lang="en-US" sz="20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/>
                        <a:t>111.32</a:t>
                      </a:r>
                      <a:endParaRPr lang="en-US" sz="28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801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Sorghum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1.48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2.38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3.86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1.58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2.73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4.31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801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Bajra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7.05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-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7.05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9.22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-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9.22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1721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Maize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8.00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1.86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9.86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22.59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9.83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/>
                        <a:t>32.42</a:t>
                      </a:r>
                      <a:endParaRPr lang="en-US" sz="28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801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Ragi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1.13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-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1.13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1.67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-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1.67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9801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Small millets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0.41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-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0.41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0.33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-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0.33</a:t>
                      </a:r>
                      <a:endParaRPr lang="en-US" sz="20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9801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Barley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-</a:t>
                      </a:r>
                      <a:endParaRPr lang="en-US" sz="2000" b="1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0.68</a:t>
                      </a:r>
                      <a:endParaRPr lang="en-US" sz="20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0.68</a:t>
                      </a:r>
                      <a:endParaRPr lang="en-US" sz="20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-</a:t>
                      </a:r>
                      <a:endParaRPr lang="en-US" sz="20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1.90</a:t>
                      </a:r>
                      <a:endParaRPr lang="en-US" sz="20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1.90</a:t>
                      </a:r>
                      <a:endParaRPr lang="en-US" sz="20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98343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Total Coarse cereals cum </a:t>
                      </a:r>
                      <a:r>
                        <a:rPr lang="en-US" sz="2200" dirty="0" err="1"/>
                        <a:t>Nutri</a:t>
                      </a:r>
                      <a:r>
                        <a:rPr lang="en-US" sz="2200" dirty="0"/>
                        <a:t> Cereals</a:t>
                      </a:r>
                      <a:endParaRPr lang="en-US" sz="22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18.06</a:t>
                      </a:r>
                      <a:endParaRPr lang="en-US" sz="22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4.92</a:t>
                      </a:r>
                      <a:endParaRPr lang="en-US" sz="22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22.98</a:t>
                      </a:r>
                      <a:endParaRPr lang="en-US" sz="22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35.39</a:t>
                      </a:r>
                      <a:endParaRPr lang="en-US" sz="22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14.47</a:t>
                      </a:r>
                      <a:endParaRPr lang="en-US" sz="22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49.86</a:t>
                      </a:r>
                      <a:endParaRPr lang="en-US" sz="2200" b="1" dirty="0"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41721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solidFill>
                            <a:srgbClr val="000066"/>
                          </a:solidFill>
                        </a:rPr>
                        <a:t>Total Pulses</a:t>
                      </a:r>
                      <a:endParaRPr lang="en-US" sz="23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66"/>
                          </a:solidFill>
                        </a:rPr>
                        <a:t>14.03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66"/>
                          </a:solidFill>
                        </a:rPr>
                        <a:t>16.34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66"/>
                          </a:solidFill>
                        </a:rPr>
                        <a:t>30.37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66"/>
                          </a:solidFill>
                        </a:rPr>
                        <a:t>8.61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66"/>
                          </a:solidFill>
                        </a:rPr>
                        <a:t>18.34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66"/>
                          </a:solidFill>
                        </a:rPr>
                        <a:t>26.95</a:t>
                      </a:r>
                      <a:endParaRPr lang="en-US" sz="28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774829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0066"/>
                          </a:solidFill>
                        </a:rPr>
                        <a:t>Total food grains</a:t>
                      </a:r>
                      <a:endParaRPr lang="en-US" sz="26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0066"/>
                          </a:solidFill>
                        </a:rPr>
                        <a:t>73.67</a:t>
                      </a:r>
                      <a:endParaRPr lang="en-US" sz="26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0066"/>
                          </a:solidFill>
                        </a:rPr>
                        <a:t>57.41</a:t>
                      </a:r>
                      <a:endParaRPr lang="en-US" sz="26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0066"/>
                          </a:solidFill>
                        </a:rPr>
                        <a:t>131.08</a:t>
                      </a:r>
                      <a:endParaRPr lang="en-US" sz="26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0066"/>
                          </a:solidFill>
                        </a:rPr>
                        <a:t>153.54</a:t>
                      </a:r>
                      <a:endParaRPr lang="en-US" sz="26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0066"/>
                          </a:solidFill>
                        </a:rPr>
                        <a:t>162.52</a:t>
                      </a:r>
                      <a:endParaRPr lang="en-US" sz="26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66"/>
                          </a:solidFill>
                        </a:rPr>
                        <a:t>316.06</a:t>
                      </a:r>
                      <a:endParaRPr lang="en-US" sz="28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57644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66"/>
                          </a:solidFill>
                        </a:rPr>
                        <a:t>Total </a:t>
                      </a:r>
                      <a:r>
                        <a:rPr lang="en-US" sz="2400" dirty="0" smtClean="0">
                          <a:solidFill>
                            <a:srgbClr val="000066"/>
                          </a:solidFill>
                        </a:rPr>
                        <a:t>Oil </a:t>
                      </a:r>
                      <a:r>
                        <a:rPr lang="en-US" sz="2400" dirty="0">
                          <a:solidFill>
                            <a:srgbClr val="000066"/>
                          </a:solidFill>
                        </a:rPr>
                        <a:t>seeds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66"/>
                          </a:solidFill>
                        </a:rPr>
                        <a:t>19.75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66"/>
                          </a:solidFill>
                        </a:rPr>
                        <a:t>9.01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66"/>
                          </a:solidFill>
                        </a:rPr>
                        <a:t>28.76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66"/>
                          </a:solidFill>
                        </a:rPr>
                        <a:t>23.82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66"/>
                          </a:solidFill>
                        </a:rPr>
                        <a:t>13.33</a:t>
                      </a:r>
                      <a:endParaRPr lang="en-US" sz="24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66"/>
                          </a:solidFill>
                        </a:rPr>
                        <a:t>37.15</a:t>
                      </a:r>
                      <a:endParaRPr lang="en-US" sz="2800" b="1" dirty="0">
                        <a:solidFill>
                          <a:srgbClr val="000066"/>
                        </a:solidFill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143000" y="25757"/>
            <a:ext cx="9372600" cy="5334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RAINFALL – RABI &amp; SUMMER SEASON (mm) 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="" xmlns:p14="http://schemas.microsoft.com/office/powerpoint/2010/main" val="2905934531"/>
              </p:ext>
            </p:extLst>
          </p:nvPr>
        </p:nvGraphicFramePr>
        <p:xfrm>
          <a:off x="304803" y="685801"/>
          <a:ext cx="11506196" cy="443548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0118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05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059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0053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0059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0059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0048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00053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100053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1000541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914346"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METEOROLOGICAL</a:t>
                      </a:r>
                      <a:r>
                        <a:rPr lang="en-US" sz="1600" baseline="0" dirty="0"/>
                        <a:t> SUBDIVISIONS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42203" marR="42203" marT="45708" marB="45708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POST-MONSOON, 2021</a:t>
                      </a:r>
                    </a:p>
                    <a:p>
                      <a:pPr algn="ctr"/>
                      <a:r>
                        <a:rPr lang="en-US" sz="1800" dirty="0"/>
                        <a:t>(01.10.21</a:t>
                      </a:r>
                      <a:r>
                        <a:rPr lang="en-US" sz="1800" baseline="0" dirty="0"/>
                        <a:t> to 31.12.21)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42203" marR="42203" marT="45708" marB="4570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WINTER - 2022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(01.01.22</a:t>
                      </a:r>
                      <a:r>
                        <a:rPr lang="en-US" sz="1800" baseline="0" dirty="0"/>
                        <a:t> to 28.02.22)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42203" marR="42203" marT="45708" marB="45708"/>
                </a:tc>
                <a:tc hMerge="1"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42203" marR="42203"/>
                </a:tc>
                <a:tc hMerge="1"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42203" marR="42203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MARCH,</a:t>
                      </a:r>
                      <a:r>
                        <a:rPr lang="en-US" sz="1800" baseline="0" dirty="0"/>
                        <a:t> 2022 ONWARD</a:t>
                      </a:r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(01.03.22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dirty="0"/>
                        <a:t>to 06.04.22)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42203" marR="42203" marT="45708" marB="4570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476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ACTUAL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NORMAL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% DEP.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ACTUAL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NORMAL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% DEP.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ACTUAL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NORMAL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% DEP.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42203" marR="42203" marT="45708" marB="45708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60165">
                <a:tc>
                  <a:txBody>
                    <a:bodyPr/>
                    <a:lstStyle/>
                    <a:p>
                      <a:r>
                        <a:rPr lang="en-US" sz="1800" dirty="0"/>
                        <a:t>EAST &amp; NORTH</a:t>
                      </a:r>
                      <a:r>
                        <a:rPr lang="en-US" sz="1800" baseline="0" dirty="0"/>
                        <a:t> EAST INDIA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186.3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166.7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73.4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52.1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41%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85.9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85.0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40036">
                <a:tc>
                  <a:txBody>
                    <a:bodyPr/>
                    <a:lstStyle/>
                    <a:p>
                      <a:r>
                        <a:rPr lang="en-US" sz="1800" dirty="0"/>
                        <a:t>NORTH WEST INDIA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80.5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55.9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44%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108.3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78.9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37%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5.2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53.5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-90%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0770">
                <a:tc>
                  <a:txBody>
                    <a:bodyPr/>
                    <a:lstStyle/>
                    <a:p>
                      <a:r>
                        <a:rPr lang="en-US" sz="1800" dirty="0"/>
                        <a:t>CENTRAL INDIA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106.4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76.0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40%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26.6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15.2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75%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1.4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10.2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-87%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40036">
                <a:tc>
                  <a:txBody>
                    <a:bodyPr/>
                    <a:lstStyle/>
                    <a:p>
                      <a:r>
                        <a:rPr lang="en-US" sz="1800" dirty="0"/>
                        <a:t>SOUTH</a:t>
                      </a:r>
                      <a:r>
                        <a:rPr lang="en-US" sz="1800" baseline="0" dirty="0"/>
                        <a:t> PENINSULA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444.6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277.1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60%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24.2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16.2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49%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15.6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19.5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-20%</a:t>
                      </a:r>
                      <a:endParaRPr lang="en-US" sz="1800" b="1" dirty="0"/>
                    </a:p>
                  </a:txBody>
                  <a:tcPr marL="42203" marR="42203" marT="45708" marB="45708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865354">
                <a:tc>
                  <a:txBody>
                    <a:bodyPr/>
                    <a:lstStyle/>
                    <a:p>
                      <a:r>
                        <a:rPr lang="en-US" sz="2200" dirty="0"/>
                        <a:t>COUNTRY AS A WHOLE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177.7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123.8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44%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58.7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40.8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44%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18.8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37.3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-50%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42203" marR="42203" marT="45708" marB="45708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8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10036521" y="6496647"/>
            <a:ext cx="2133600" cy="365125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B22F626A-C243-4BF6-9159-62845830B893}" type="slidenum">
              <a:rPr lang="en-US" altLang="en-US" b="1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5257800"/>
            <a:ext cx="11506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>
              <a:spcBef>
                <a:spcPts val="0"/>
              </a:spcBef>
              <a:buSzPct val="122000"/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Post monsoon rainfall              : was (+) 44%</a:t>
            </a:r>
          </a:p>
          <a:p>
            <a:pPr marL="266700" indent="-266700" algn="just">
              <a:spcBef>
                <a:spcPts val="0"/>
              </a:spcBef>
              <a:buSzPct val="122000"/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Rabi 2022 rainfall  winter        : was (+) 44%</a:t>
            </a:r>
          </a:p>
          <a:p>
            <a:pPr marL="266700" indent="-266700" algn="just">
              <a:spcBef>
                <a:spcPts val="0"/>
              </a:spcBef>
              <a:buSzPct val="122000"/>
              <a:defRPr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  Rabi: Western disturbances rains coupled with cold wave condition benefitted Rabi crops (wheat, mustard and gram) </a:t>
            </a:r>
          </a:p>
          <a:p>
            <a:pPr marL="266700" indent="-266700" algn="just">
              <a:spcBef>
                <a:spcPts val="0"/>
              </a:spcBef>
              <a:buSzPct val="122000"/>
              <a:buFont typeface="Arial" pitchFamily="34" charset="0"/>
              <a:buChar char="•"/>
              <a:defRPr/>
            </a:pP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Normal Forecast for </a:t>
            </a:r>
            <a:r>
              <a:rPr lang="en-US" b="1" dirty="0" err="1" smtClean="0">
                <a:solidFill>
                  <a:schemeClr val="tx2">
                    <a:lumMod val="50000"/>
                  </a:schemeClr>
                </a:solidFill>
              </a:rPr>
              <a:t>Kharif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 - 2022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469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17765701"/>
              </p:ext>
            </p:extLst>
          </p:nvPr>
        </p:nvGraphicFramePr>
        <p:xfrm>
          <a:off x="304800" y="990600"/>
          <a:ext cx="11506200" cy="5622715"/>
        </p:xfrm>
        <a:graphic>
          <a:graphicData uri="http://schemas.openxmlformats.org/drawingml/2006/table">
            <a:tbl>
              <a:tblPr lastRow="1" bandRow="1">
                <a:tableStyleId>{B301B821-A1FF-4177-AEE7-76D212191A09}</a:tableStyleId>
              </a:tblPr>
              <a:tblGrid>
                <a:gridCol w="130259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0517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308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8807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27953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2941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/>
                        <a:t>Sl. </a:t>
                      </a:r>
                      <a:br>
                        <a:rPr lang="en-US" sz="1800" u="none" strike="noStrike" dirty="0"/>
                      </a:br>
                      <a:r>
                        <a:rPr lang="en-US" sz="1800" u="none" strike="noStrike" dirty="0"/>
                        <a:t>No.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856" marR="2856" marT="2856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/>
                        <a:t>Crops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856" marR="2856" marT="2856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/>
                        <a:t>Area Sown (LAKH HA)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856" marR="2856" marT="2856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/>
                        <a:t>Increase/</a:t>
                      </a:r>
                      <a:br>
                        <a:rPr lang="en-US" sz="1600" u="none" strike="noStrike" dirty="0"/>
                      </a:br>
                      <a:r>
                        <a:rPr lang="en-US" sz="1600" u="none" strike="noStrike" dirty="0"/>
                        <a:t>Decrease over last year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856" marR="2856" marT="2856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35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/>
                        <a:t>2021-22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856" marR="2856" marT="28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/>
                        <a:t>2020-21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2856" marR="2856" marT="2856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/>
                        <a:t>Rice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28.22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30.16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-1.94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/>
                        <a:t>Pulses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9.32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8.48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0.84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/>
                        <a:t>Greengram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6.12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6.38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-0.26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/>
                        <a:t>Blackgram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2.84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1.82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1.02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/>
                        <a:t>Other Pulses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0.36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0.28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/>
                        <a:t>Coarse Cereals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8.78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8.72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0.06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/>
                        <a:t>Jowar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0.17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0.09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/>
                        <a:t>Bajra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2.97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2.49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0.47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/>
                        <a:t>Ragi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0.22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0.17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/>
                        <a:t>Maize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5.42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5.98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-0.56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/>
                        <a:t>Oilseeds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9.45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9.11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0.33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/>
                        <a:t>Groundnut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4.83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5.20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-0.37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/>
                        <a:t>Sunflower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0.36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0.49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-0.14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 err="1"/>
                        <a:t>Sesamum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3.62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strike="noStrike" dirty="0"/>
                        <a:t>3.34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  0.28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861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/>
                        <a:t>Other Oilseeds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0.64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0.07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 0.56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b"/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28610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rgbClr val="002060"/>
                          </a:solidFill>
                        </a:rPr>
                        <a:t>Total 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rgbClr val="002060"/>
                          </a:solidFill>
                        </a:rPr>
                        <a:t>55.76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rgbClr val="002060"/>
                          </a:solidFill>
                        </a:rPr>
                        <a:t>56.47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rgbClr val="002060"/>
                          </a:solidFill>
                        </a:rPr>
                        <a:t> -0.71</a:t>
                      </a:r>
                      <a:endParaRPr lang="en-US" sz="2000" b="1" i="0" u="none" strike="noStrike" dirty="0">
                        <a:solidFill>
                          <a:srgbClr val="002060"/>
                        </a:solidFill>
                        <a:latin typeface="Times New Roman"/>
                      </a:endParaRPr>
                    </a:p>
                  </a:txBody>
                  <a:tcPr marL="2856" marR="2856" marT="2856" marB="0" anchor="ctr"/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304800" y="152400"/>
            <a:ext cx="1173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t"/>
            <a:r>
              <a:rPr lang="en-US" sz="2800" b="1" dirty="0">
                <a:solidFill>
                  <a:srgbClr val="000066"/>
                </a:solidFill>
                <a:latin typeface="Arial Rounded MT Bold" panose="020F0704030504030204" pitchFamily="34" charset="0"/>
              </a:rPr>
              <a:t>STATUS OF AREA SOWN FOR SUMMER CROP </a:t>
            </a:r>
            <a:r>
              <a:rPr lang="en-US" sz="2800" b="1" dirty="0" smtClean="0">
                <a:solidFill>
                  <a:srgbClr val="000066"/>
                </a:solidFill>
                <a:latin typeface="Arial Rounded MT Bold" panose="020F0704030504030204" pitchFamily="34" charset="0"/>
              </a:rPr>
              <a:t>as </a:t>
            </a:r>
            <a:r>
              <a:rPr lang="en-US" sz="2800" b="1" dirty="0">
                <a:solidFill>
                  <a:srgbClr val="000066"/>
                </a:solidFill>
                <a:latin typeface="Arial Rounded MT Bold" panose="020F0704030504030204" pitchFamily="34" charset="0"/>
              </a:rPr>
              <a:t>on </a:t>
            </a:r>
            <a:r>
              <a:rPr lang="en-US" sz="2800" b="1" dirty="0" smtClean="0">
                <a:solidFill>
                  <a:srgbClr val="000066"/>
                </a:solidFill>
                <a:latin typeface="Arial Rounded MT Bold" panose="020F0704030504030204" pitchFamily="34" charset="0"/>
              </a:rPr>
              <a:t>08.04.2022</a:t>
            </a:r>
            <a:endParaRPr lang="en-US" sz="2800" b="1" dirty="0">
              <a:solidFill>
                <a:srgbClr val="000066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6618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28600" y="148936"/>
            <a:ext cx="11887200" cy="765463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TENTATIVE REQUIREMENT &amp; AVAILABILITY OF SEEDS FOR MAJOR CROPS KHARIF-2022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60059110"/>
              </p:ext>
            </p:extLst>
          </p:nvPr>
        </p:nvGraphicFramePr>
        <p:xfrm>
          <a:off x="304798" y="1006185"/>
          <a:ext cx="11582400" cy="505847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3164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164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1648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164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1648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6569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Crops  Group</a:t>
                      </a:r>
                      <a:r>
                        <a:rPr lang="en-US" sz="1200" b="1" baseline="0" dirty="0"/>
                        <a:t> 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Crop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Requirement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(in Quintals)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Availability</a:t>
                      </a:r>
                    </a:p>
                    <a:p>
                      <a:pPr algn="ctr"/>
                      <a:r>
                        <a:rPr lang="en-US" sz="1200" b="1" dirty="0"/>
                        <a:t>(in Quintals)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Surplus/Deficit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(in Quintals)</a:t>
                      </a:r>
                      <a:endParaRPr lang="en-US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6528">
                <a:tc rowSpan="2">
                  <a:txBody>
                    <a:bodyPr/>
                    <a:lstStyle/>
                    <a:p>
                      <a:r>
                        <a:rPr lang="en-US" sz="1200" dirty="0"/>
                        <a:t>1. Cereals</a:t>
                      </a:r>
                      <a:r>
                        <a:rPr lang="en-US" sz="1200" baseline="0" dirty="0"/>
                        <a:t> 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Paddy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7599868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8873767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/>
                        <a:t>1273899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1393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000066"/>
                          </a:solidFill>
                        </a:rPr>
                        <a:t>Maize</a:t>
                      </a:r>
                      <a:endParaRPr lang="en-US" sz="1200" b="1" dirty="0">
                        <a:solidFill>
                          <a:srgbClr val="000066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b="1" u="none" strike="noStrike" kern="1200" dirty="0">
                          <a:solidFill>
                            <a:srgbClr val="000066"/>
                          </a:solidFill>
                          <a:effectLst/>
                        </a:rPr>
                        <a:t>1065256</a:t>
                      </a:r>
                      <a:endParaRPr lang="en-US" sz="1200" b="1" i="0" u="none" strike="noStrike" kern="1200" dirty="0">
                        <a:solidFill>
                          <a:srgbClr val="000066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b="1" u="none" strike="noStrike" kern="1200" dirty="0">
                          <a:solidFill>
                            <a:srgbClr val="000066"/>
                          </a:solidFill>
                          <a:effectLst/>
                        </a:rPr>
                        <a:t>1061094</a:t>
                      </a:r>
                      <a:endParaRPr lang="en-US" sz="1200" b="1" i="0" u="none" strike="noStrike" kern="1200" dirty="0">
                        <a:solidFill>
                          <a:srgbClr val="000066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 dirty="0">
                          <a:solidFill>
                            <a:srgbClr val="000066"/>
                          </a:solidFill>
                        </a:rPr>
                        <a:t>-4162</a:t>
                      </a:r>
                      <a:endParaRPr lang="en-IN" sz="1200" b="1" i="0" u="none" strike="noStrike" dirty="0">
                        <a:solidFill>
                          <a:srgbClr val="000066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6528">
                <a:tc rowSpan="3">
                  <a:txBody>
                    <a:bodyPr/>
                    <a:lstStyle/>
                    <a:p>
                      <a:r>
                        <a:rPr lang="en-US" sz="1200" dirty="0"/>
                        <a:t>2. </a:t>
                      </a:r>
                      <a:r>
                        <a:rPr lang="en-US" sz="1200" dirty="0" err="1"/>
                        <a:t>Nutri</a:t>
                      </a:r>
                      <a:r>
                        <a:rPr lang="en-US" sz="1200" dirty="0"/>
                        <a:t>-Cereals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Bajra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234869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260447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/>
                        <a:t>25578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6528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Jowar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95577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108191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/>
                        <a:t>12614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6528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Millets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7590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8767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/>
                        <a:t>1177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96528">
                <a:tc row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3. Pulses</a:t>
                      </a:r>
                      <a:r>
                        <a:rPr lang="en-US" sz="1200" baseline="0" dirty="0"/>
                        <a:t> 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Arhar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269831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302295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/>
                        <a:t>32464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96528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Urd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227903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237105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/>
                        <a:t>9202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96528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Moong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196480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217806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/>
                        <a:t>21326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96528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Cowpea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27111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29044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/>
                        <a:t>1933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96528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Moth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25000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28668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/>
                        <a:t>3668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96528">
                <a:tc rowSpan="5">
                  <a:txBody>
                    <a:bodyPr/>
                    <a:lstStyle/>
                    <a:p>
                      <a:r>
                        <a:rPr lang="en-US" sz="1200" dirty="0" smtClean="0"/>
                        <a:t> 4</a:t>
                      </a:r>
                      <a:r>
                        <a:rPr lang="en-US" sz="1200" dirty="0"/>
                        <a:t>. Oilseeds 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Groundnut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2131597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2188249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/>
                        <a:t>56652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96528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000066"/>
                          </a:solidFill>
                        </a:rPr>
                        <a:t>Soybean</a:t>
                      </a:r>
                      <a:endParaRPr lang="en-US" sz="1200" b="1" dirty="0">
                        <a:solidFill>
                          <a:srgbClr val="000066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b="1" u="none" strike="noStrike" kern="1200" dirty="0">
                          <a:solidFill>
                            <a:srgbClr val="000066"/>
                          </a:solidFill>
                          <a:effectLst/>
                        </a:rPr>
                        <a:t>3721005</a:t>
                      </a:r>
                      <a:endParaRPr lang="en-US" sz="1200" b="1" i="0" u="none" strike="noStrike" kern="1200" dirty="0">
                        <a:solidFill>
                          <a:srgbClr val="000066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b="1" u="none" strike="noStrike" kern="1200" dirty="0">
                          <a:solidFill>
                            <a:srgbClr val="000066"/>
                          </a:solidFill>
                          <a:effectLst/>
                        </a:rPr>
                        <a:t>3502563</a:t>
                      </a:r>
                      <a:endParaRPr lang="en-US" sz="1200" b="1" i="0" u="none" strike="noStrike" kern="1200" dirty="0">
                        <a:solidFill>
                          <a:srgbClr val="000066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b="1" u="none" strike="noStrike" dirty="0">
                          <a:solidFill>
                            <a:srgbClr val="000066"/>
                          </a:solidFill>
                        </a:rPr>
                        <a:t>-218442</a:t>
                      </a:r>
                      <a:endParaRPr lang="en-IN" sz="1200" b="1" i="0" u="none" strike="noStrike" dirty="0">
                        <a:solidFill>
                          <a:srgbClr val="000066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96528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Sunflower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12588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16071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/>
                        <a:t>3483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96528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Sesame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18909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20598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/>
                        <a:t>1689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96528">
                <a:tc v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Castor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49165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algn="r" defTabSz="914400" rtl="0" eaLnBrk="1" fontAlgn="t" latinLnBrk="0" hangingPunct="1"/>
                      <a:r>
                        <a:rPr lang="en-US" sz="1200" u="none" strike="noStrike" kern="1200" dirty="0">
                          <a:effectLst/>
                        </a:rPr>
                        <a:t>52622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/>
                        <a:t>3457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185" name="TextBox 4"/>
          <p:cNvSpPr txBox="1">
            <a:spLocks noChangeArrowheads="1"/>
          </p:cNvSpPr>
          <p:nvPr/>
        </p:nvSpPr>
        <p:spPr bwMode="auto">
          <a:xfrm>
            <a:off x="152400" y="6072917"/>
            <a:ext cx="83492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1200" dirty="0"/>
              <a:t>*Based on tentative information provided by the states in ZSRM Kharif-2022, the deficiency shows will be met from Farm Saved Seed, NSC &amp; Private Seed Companies as informed by States.	 </a:t>
            </a:r>
          </a:p>
        </p:txBody>
      </p:sp>
    </p:spTree>
    <p:extLst>
      <p:ext uri="{BB962C8B-B14F-4D97-AF65-F5344CB8AC3E}">
        <p14:creationId xmlns="" xmlns:p14="http://schemas.microsoft.com/office/powerpoint/2010/main" val="264445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603605597"/>
              </p:ext>
            </p:extLst>
          </p:nvPr>
        </p:nvGraphicFramePr>
        <p:xfrm>
          <a:off x="228600" y="1066801"/>
          <a:ext cx="11734801" cy="533400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02971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350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350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2350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77727">
                <a:tc row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Fertilizers</a:t>
                      </a:r>
                      <a:endParaRPr lang="en-US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L="94331" marR="94331" marT="45726" marB="45726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KHARIF: 2021</a:t>
                      </a:r>
                      <a:endParaRPr lang="en-US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L="94331" marR="94331" marT="45726" marB="45726"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KHARIF: 2022</a:t>
                      </a:r>
                      <a:endParaRPr lang="en-US" sz="2200" b="1" dirty="0">
                        <a:solidFill>
                          <a:srgbClr val="00B0F0"/>
                        </a:solidFill>
                      </a:endParaRPr>
                    </a:p>
                  </a:txBody>
                  <a:tcPr marL="94331" marR="94331" marT="45726" marB="45726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5036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Assessed requirement </a:t>
                      </a:r>
                      <a:endParaRPr lang="en-US" sz="2200" b="1" dirty="0">
                        <a:solidFill>
                          <a:srgbClr val="7030A0"/>
                        </a:solidFill>
                      </a:endParaRPr>
                    </a:p>
                  </a:txBody>
                  <a:tcPr marL="94331" marR="94331" marT="45726" marB="45726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Total sales</a:t>
                      </a:r>
                    </a:p>
                    <a:p>
                      <a:endParaRPr lang="en-US" sz="2200" b="1" dirty="0">
                        <a:solidFill>
                          <a:srgbClr val="7030A0"/>
                        </a:solidFill>
                      </a:endParaRPr>
                    </a:p>
                  </a:txBody>
                  <a:tcPr marL="94331" marR="94331" marT="45726" marB="45726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Assessed requirement </a:t>
                      </a:r>
                      <a:endParaRPr lang="en-US" sz="2200" b="1" dirty="0">
                        <a:solidFill>
                          <a:srgbClr val="7030A0"/>
                        </a:solidFill>
                      </a:endParaRPr>
                    </a:p>
                  </a:txBody>
                  <a:tcPr marL="94331" marR="94331" marT="45726" marB="45726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55522">
                <a:tc>
                  <a:txBody>
                    <a:bodyPr/>
                    <a:lstStyle/>
                    <a:p>
                      <a:r>
                        <a:rPr lang="en-US" sz="2200" dirty="0"/>
                        <a:t>Urea</a:t>
                      </a:r>
                      <a:endParaRPr lang="en-US" sz="2200" b="1" dirty="0">
                        <a:solidFill>
                          <a:srgbClr val="C00000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 177.53*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154.02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179.01**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5522">
                <a:tc>
                  <a:txBody>
                    <a:bodyPr/>
                    <a:lstStyle/>
                    <a:p>
                      <a:r>
                        <a:rPr lang="en-US" sz="2200" dirty="0"/>
                        <a:t>DAP</a:t>
                      </a:r>
                      <a:endParaRPr lang="en-US" sz="2200" b="1" dirty="0">
                        <a:solidFill>
                          <a:srgbClr val="C00000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65.18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41.90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58.82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55522">
                <a:tc>
                  <a:txBody>
                    <a:bodyPr/>
                    <a:lstStyle/>
                    <a:p>
                      <a:r>
                        <a:rPr lang="en-US" sz="2200" dirty="0"/>
                        <a:t>MOP</a:t>
                      </a:r>
                      <a:endParaRPr lang="en-US" sz="2200" b="1" dirty="0">
                        <a:solidFill>
                          <a:srgbClr val="C00000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20.24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11.23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19.82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55522">
                <a:tc>
                  <a:txBody>
                    <a:bodyPr/>
                    <a:lstStyle/>
                    <a:p>
                      <a:r>
                        <a:rPr lang="en-US" sz="2200" dirty="0"/>
                        <a:t>NPK</a:t>
                      </a:r>
                      <a:endParaRPr lang="en-US" sz="2200" b="1" dirty="0">
                        <a:solidFill>
                          <a:srgbClr val="C00000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61.87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62.03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63.72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55522">
                <a:tc>
                  <a:txBody>
                    <a:bodyPr/>
                    <a:lstStyle/>
                    <a:p>
                      <a:r>
                        <a:rPr lang="en-US" sz="2200" dirty="0"/>
                        <a:t>SSP</a:t>
                      </a:r>
                      <a:endParaRPr lang="en-US" sz="2200" b="1" dirty="0">
                        <a:solidFill>
                          <a:srgbClr val="C00000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26.46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25.62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33.19</a:t>
                      </a:r>
                      <a:endParaRPr lang="en-US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94331" marR="94331" marT="45726" marB="45726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228299">
                <a:tc gridSpan="4">
                  <a:txBody>
                    <a:bodyPr/>
                    <a:lstStyle/>
                    <a:p>
                      <a:r>
                        <a:rPr lang="en-US" sz="2200" dirty="0"/>
                        <a:t>*</a:t>
                      </a:r>
                      <a:r>
                        <a:rPr lang="en-US" sz="2000" dirty="0"/>
                        <a:t>Reserve Allocation- 2.85 LMT (Total Allocation- 180.38 LMT)</a:t>
                      </a:r>
                    </a:p>
                    <a:p>
                      <a:r>
                        <a:rPr lang="en-US" sz="2000" dirty="0"/>
                        <a:t>** Reserve Allocation – 0 LMT (Total Allocation – 179.01 LMT)</a:t>
                      </a:r>
                    </a:p>
                    <a:p>
                      <a:r>
                        <a:rPr lang="en-US" sz="2000" dirty="0"/>
                        <a:t>Use of  Bio-fertilizers,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Neem</a:t>
                      </a:r>
                      <a:r>
                        <a:rPr lang="en-US" sz="2000" baseline="0" dirty="0"/>
                        <a:t> Coated urea, </a:t>
                      </a:r>
                      <a:r>
                        <a:rPr lang="en-US" sz="2000" dirty="0"/>
                        <a:t>Use of Micro-nutrients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 </a:t>
                      </a:r>
                    </a:p>
                    <a:p>
                      <a:r>
                        <a:rPr lang="en-US" sz="1200" dirty="0"/>
                        <a:t>Source: INM &amp; FMS, DAC, GOI</a:t>
                      </a:r>
                      <a:endParaRPr lang="en-US" sz="1200" b="1" dirty="0"/>
                    </a:p>
                  </a:txBody>
                  <a:tcPr marL="94331" marR="94331" marT="45726" marB="45726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527" name="Title 5"/>
          <p:cNvSpPr>
            <a:spLocks noGrp="1"/>
          </p:cNvSpPr>
          <p:nvPr>
            <p:ph type="title"/>
          </p:nvPr>
        </p:nvSpPr>
        <p:spPr>
          <a:xfrm>
            <a:off x="152400" y="152400"/>
            <a:ext cx="11887200" cy="533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0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REQUIREMENT</a:t>
            </a:r>
            <a:r>
              <a:rPr lang="en-US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en-US" sz="20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&amp;  SALES OF FERTILIZERS IN 2021 AND REQUIRMENT IN KHARIF -2022  </a:t>
            </a:r>
          </a:p>
        </p:txBody>
      </p:sp>
      <p:sp>
        <p:nvSpPr>
          <p:cNvPr id="20528" name="TextBox 6"/>
          <p:cNvSpPr txBox="1">
            <a:spLocks noChangeArrowheads="1"/>
          </p:cNvSpPr>
          <p:nvPr/>
        </p:nvSpPr>
        <p:spPr bwMode="auto">
          <a:xfrm>
            <a:off x="9982200" y="685800"/>
            <a:ext cx="198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altLang="en-US" sz="2000" b="1" dirty="0">
                <a:latin typeface="Calibri" pitchFamily="34" charset="0"/>
              </a:rPr>
              <a:t>(Lakh  </a:t>
            </a:r>
            <a:r>
              <a:rPr lang="en-US" altLang="en-US" sz="2000" b="1" dirty="0" err="1">
                <a:latin typeface="Calibri" pitchFamily="34" charset="0"/>
              </a:rPr>
              <a:t>Tonnes</a:t>
            </a:r>
            <a:r>
              <a:rPr lang="en-US" altLang="en-US" sz="2000" b="1" dirty="0">
                <a:latin typeface="Calibri" pitchFamily="34" charset="0"/>
              </a:rPr>
              <a:t>)</a:t>
            </a:r>
          </a:p>
        </p:txBody>
      </p:sp>
      <p:sp>
        <p:nvSpPr>
          <p:cNvPr id="4145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305800" y="6492876"/>
            <a:ext cx="2133600" cy="365125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978A032C-78F9-47A8-8557-40288273A19F}" type="slidenum">
              <a:rPr lang="en-US" altLang="en-US" b="1">
                <a:solidFill>
                  <a:schemeClr val="tx1"/>
                </a:solidFill>
              </a:rPr>
              <a:pPr>
                <a:defRPr/>
              </a:pPr>
              <a:t>6</a:t>
            </a:fld>
            <a:endParaRPr lang="en-US" alt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5913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88347822"/>
              </p:ext>
            </p:extLst>
          </p:nvPr>
        </p:nvGraphicFramePr>
        <p:xfrm>
          <a:off x="228600" y="762001"/>
          <a:ext cx="11201401" cy="581032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553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3414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3414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67776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52162"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/>
                        <a:t>Crop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597" marR="6597" marT="6597" marB="0" anchor="ctr"/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/>
                        <a:t>Season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597" marR="6597" marT="6597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5216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 err="1"/>
                        <a:t>Kharif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/>
                        <a:t>Rabi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u="none" strike="noStrike" dirty="0"/>
                        <a:t>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latin typeface="+mn-lt"/>
                        </a:rPr>
                        <a:t>Rice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112.00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18.50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130.50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Wheat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>
                          <a:latin typeface="+mn-lt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112.00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112.00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latin typeface="+mn-lt"/>
                        </a:rPr>
                        <a:t>Maize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23.10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10.10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33.20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Barley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 dirty="0">
                          <a:latin typeface="+mn-lt"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2.25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2.25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713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latin typeface="+mn-lt"/>
                        </a:rPr>
                        <a:t>Total Coarse Cereals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23.10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12.35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35.45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 err="1">
                          <a:latin typeface="+mn-lt"/>
                        </a:rPr>
                        <a:t>Jowar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3.00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3.00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6.00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 err="1">
                          <a:latin typeface="+mn-lt"/>
                        </a:rPr>
                        <a:t>Bajra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11.30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>
                          <a:latin typeface="+mn-lt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11.30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 err="1">
                          <a:latin typeface="+mn-lt"/>
                        </a:rPr>
                        <a:t>Ragi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2.50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 dirty="0">
                          <a:latin typeface="+mn-lt"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2.50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Small Millets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0.70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>
                          <a:latin typeface="+mn-lt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0.70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latin typeface="+mn-lt"/>
                        </a:rPr>
                        <a:t>Total </a:t>
                      </a:r>
                      <a:r>
                        <a:rPr lang="en-IN" sz="1400" b="0" u="none" strike="noStrike" dirty="0" err="1">
                          <a:latin typeface="+mn-lt"/>
                        </a:rPr>
                        <a:t>Nutri</a:t>
                      </a:r>
                      <a:r>
                        <a:rPr lang="en-IN" sz="1400" b="0" u="none" strike="noStrike" dirty="0">
                          <a:latin typeface="+mn-lt"/>
                        </a:rPr>
                        <a:t> Cereals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17.50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3.00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20.50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Tur (</a:t>
                      </a:r>
                      <a:r>
                        <a:rPr lang="en-IN" sz="1400" b="0" u="none" strike="noStrike" dirty="0" err="1">
                          <a:latin typeface="+mn-lt"/>
                        </a:rPr>
                        <a:t>Arhar</a:t>
                      </a:r>
                      <a:r>
                        <a:rPr lang="en-IN" sz="1400" b="0" u="none" strike="noStrike" dirty="0">
                          <a:latin typeface="+mn-lt"/>
                        </a:rPr>
                        <a:t>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4.55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 dirty="0">
                          <a:latin typeface="+mn-lt"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4.55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Gram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13.50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>
                          <a:latin typeface="+mn-lt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13.50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 err="1">
                          <a:latin typeface="+mn-lt"/>
                        </a:rPr>
                        <a:t>Urad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2.70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1.00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3.70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latin typeface="+mn-lt"/>
                        </a:rPr>
                        <a:t>Moong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2.50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4.00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Other </a:t>
                      </a:r>
                      <a:r>
                        <a:rPr lang="en-IN" sz="1400" b="0" u="none" strike="noStrike" dirty="0" err="1">
                          <a:latin typeface="+mn-lt"/>
                        </a:rPr>
                        <a:t>Kharif</a:t>
                      </a:r>
                      <a:r>
                        <a:rPr lang="en-IN" sz="1400" b="0" u="none" strike="noStrike" dirty="0">
                          <a:latin typeface="+mn-lt"/>
                        </a:rPr>
                        <a:t> Pulses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0.80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>
                          <a:latin typeface="+mn-lt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0.80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Other Rabi Pulses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 dirty="0">
                          <a:latin typeface="+mn-lt"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3.00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3.00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Total Pulses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10.55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19.00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29.55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20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Total </a:t>
                      </a:r>
                      <a:r>
                        <a:rPr lang="en-IN" sz="1600" b="0" u="none" strike="noStrike" dirty="0" err="1">
                          <a:solidFill>
                            <a:srgbClr val="000066"/>
                          </a:solidFill>
                          <a:latin typeface="+mn-lt"/>
                        </a:rPr>
                        <a:t>Foodgrains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163.15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164.85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328.00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21"/>
                  </a:ext>
                </a:extLst>
              </a:tr>
              <a:tr h="17324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Total Oilseed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26.89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14.45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600" b="0" u="none" strike="noStrike" dirty="0">
                          <a:solidFill>
                            <a:srgbClr val="000066"/>
                          </a:solidFill>
                          <a:latin typeface="+mn-lt"/>
                        </a:rPr>
                        <a:t>41.34</a:t>
                      </a:r>
                      <a:endParaRPr lang="en-IN" sz="1600" b="0" i="0" u="none" strike="noStrike" dirty="0">
                        <a:solidFill>
                          <a:srgbClr val="000066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22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>
                          <a:latin typeface="+mn-lt"/>
                        </a:rPr>
                        <a:t>Sugarcane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415.00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 dirty="0">
                          <a:latin typeface="+mn-lt"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415.00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23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Cotton*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37.00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>
                          <a:latin typeface="+mn-lt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37.00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24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Jute**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10.00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>
                          <a:latin typeface="+mn-lt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10.00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25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Mesta**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0.50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 dirty="0">
                          <a:latin typeface="+mn-lt"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0.50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26"/>
                  </a:ext>
                </a:extLst>
              </a:tr>
              <a:tr h="152162">
                <a:tc>
                  <a:txBody>
                    <a:bodyPr/>
                    <a:lstStyle/>
                    <a:p>
                      <a:pPr algn="ctr" fontAlgn="t"/>
                      <a:r>
                        <a:rPr lang="en-IN" sz="1400" b="0" u="none" strike="noStrike" dirty="0">
                          <a:latin typeface="+mn-lt"/>
                        </a:rPr>
                        <a:t>Jute &amp; Mesta**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>
                          <a:latin typeface="+mn-lt"/>
                        </a:rPr>
                        <a:t>10.50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u="none" strike="noStrike">
                          <a:latin typeface="+mn-lt"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u="none" strike="noStrike" dirty="0">
                          <a:latin typeface="+mn-lt"/>
                        </a:rPr>
                        <a:t>10.50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597" marR="6597" marT="6597" marB="0" anchor="ctr"/>
                </a:tc>
                <a:extLst>
                  <a:ext uri="{0D108BD9-81ED-4DB2-BD59-A6C34878D82A}">
                    <a16:rowId xmlns="" xmlns:a16="http://schemas.microsoft.com/office/drawing/2014/main" val="10027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838200" y="76200"/>
            <a:ext cx="10591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66"/>
                </a:solidFill>
                <a:latin typeface="Arial Rounded MT Bold" panose="020F0704030504030204" pitchFamily="34" charset="0"/>
              </a:rPr>
              <a:t>National Crop Production Targets for </a:t>
            </a:r>
            <a:r>
              <a:rPr lang="en-IN" sz="2400" b="1" dirty="0" smtClean="0">
                <a:solidFill>
                  <a:srgbClr val="000066"/>
                </a:solidFill>
                <a:latin typeface="Arial Rounded MT Bold" panose="020F0704030504030204" pitchFamily="34" charset="0"/>
              </a:rPr>
              <a:t>2022-23</a:t>
            </a:r>
            <a:endParaRPr lang="en-IN" sz="2400" b="1" dirty="0">
              <a:solidFill>
                <a:srgbClr val="000066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49595" y="440329"/>
            <a:ext cx="16330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t"/>
            <a:r>
              <a:rPr lang="en-IN" sz="1400" dirty="0"/>
              <a:t>(In Million Tonnes)</a:t>
            </a:r>
            <a:endParaRPr lang="en-IN"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6490027"/>
            <a:ext cx="982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IN" dirty="0"/>
              <a:t>* </a:t>
            </a:r>
            <a:r>
              <a:rPr lang="en-IN" sz="1400" dirty="0"/>
              <a:t>Production in Million bales of 170 kg for Cotton, ** Production in Million bales of 180 kg for Jute &amp; Mesta.</a:t>
            </a:r>
            <a:endParaRPr lang="en-IN" sz="1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3856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28A23A-CA6D-40A8-A61D-BFC035B25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3305"/>
            <a:ext cx="11506200" cy="469484"/>
          </a:xfrm>
        </p:spPr>
        <p:txBody>
          <a:bodyPr/>
          <a:lstStyle/>
          <a:p>
            <a:r>
              <a:rPr lang="en-US" sz="4800" dirty="0"/>
              <a:t> </a:t>
            </a:r>
            <a:r>
              <a:rPr lang="en-US" sz="28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Pulses </a:t>
            </a:r>
            <a:r>
              <a:rPr lang="en-US" sz="2800" b="1" dirty="0" err="1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Scenerio</a:t>
            </a:r>
            <a:endParaRPr lang="en-IN" sz="2800" b="1" dirty="0">
              <a:solidFill>
                <a:srgbClr val="000066"/>
              </a:solidFill>
              <a:latin typeface="Arial Rounded MT Bold" panose="020F0704030504030204" pitchFamily="34" charset="0"/>
              <a:ea typeface="+mn-ea"/>
              <a:cs typeface="Arial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="" xmlns:a16="http://schemas.microsoft.com/office/drawing/2014/main" id="{9EA7993D-017D-4FA3-9389-84D998318D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051142316"/>
              </p:ext>
            </p:extLst>
          </p:nvPr>
        </p:nvGraphicFramePr>
        <p:xfrm>
          <a:off x="381000" y="1140736"/>
          <a:ext cx="11430000" cy="209776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67000">
                  <a:extLst>
                    <a:ext uri="{9D8B030D-6E8A-4147-A177-3AD203B41FA5}">
                      <a16:colId xmlns="" xmlns:a16="http://schemas.microsoft.com/office/drawing/2014/main" val="2487049395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574152340"/>
                    </a:ext>
                  </a:extLst>
                </a:gridCol>
                <a:gridCol w="1752600">
                  <a:extLst>
                    <a:ext uri="{9D8B030D-6E8A-4147-A177-3AD203B41FA5}">
                      <a16:colId xmlns="" xmlns:a16="http://schemas.microsoft.com/office/drawing/2014/main" val="2881970277"/>
                    </a:ext>
                  </a:extLst>
                </a:gridCol>
                <a:gridCol w="1791796">
                  <a:extLst>
                    <a:ext uri="{9D8B030D-6E8A-4147-A177-3AD203B41FA5}">
                      <a16:colId xmlns="" xmlns:a16="http://schemas.microsoft.com/office/drawing/2014/main" val="781249067"/>
                    </a:ext>
                  </a:extLst>
                </a:gridCol>
                <a:gridCol w="1466302">
                  <a:extLst>
                    <a:ext uri="{9D8B030D-6E8A-4147-A177-3AD203B41FA5}">
                      <a16:colId xmlns="" xmlns:a16="http://schemas.microsoft.com/office/drawing/2014/main" val="701786705"/>
                    </a:ext>
                  </a:extLst>
                </a:gridCol>
                <a:gridCol w="1466302">
                  <a:extLst>
                    <a:ext uri="{9D8B030D-6E8A-4147-A177-3AD203B41FA5}">
                      <a16:colId xmlns="" xmlns:a16="http://schemas.microsoft.com/office/drawing/2014/main" val="2342427737"/>
                    </a:ext>
                  </a:extLst>
                </a:gridCol>
              </a:tblGrid>
              <a:tr h="383264"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Pulses</a:t>
                      </a:r>
                      <a:endParaRPr lang="en-IN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Present Status</a:t>
                      </a:r>
                      <a:endParaRPr lang="en-IN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  <a:endParaRPr lang="en-IN" sz="1800" dirty="0"/>
                    </a:p>
                  </a:txBody>
                  <a:tcPr marL="68580" marR="68580" marT="34290" marB="34290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           Projections</a:t>
                      </a:r>
                      <a:endParaRPr lang="en-IN" sz="1800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97869523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2020-21</a:t>
                      </a:r>
                      <a:endParaRPr lang="en-IN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2021-22</a:t>
                      </a:r>
                      <a:endParaRPr lang="en-IN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2028-29</a:t>
                      </a:r>
                      <a:endParaRPr lang="en-IN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2029-30</a:t>
                      </a:r>
                      <a:endParaRPr lang="en-IN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2030-31</a:t>
                      </a:r>
                      <a:endParaRPr lang="en-IN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4847335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Demand 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28.18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29.26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31.83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32.64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35.23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03950792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Production 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25.72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26.96*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29.79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30.75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33.95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418834909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Import Requirement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2.46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2.30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2.04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1.89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1.28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74605877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Dependency on Import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9%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8%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6%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5.7%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3.6%</a:t>
                      </a:r>
                      <a:endParaRPr lang="en-IN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68208664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86E65A7-0F58-4BC2-BACB-39A455B6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758C-AB5F-4360-A265-9C4A2543509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EF2BA0-B137-4B36-AAAD-F4A8593CD096}"/>
              </a:ext>
            </a:extLst>
          </p:cNvPr>
          <p:cNvSpPr txBox="1"/>
          <p:nvPr/>
        </p:nvSpPr>
        <p:spPr>
          <a:xfrm>
            <a:off x="304800" y="3276600"/>
            <a:ext cx="2763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*2</a:t>
            </a:r>
            <a:r>
              <a:rPr lang="en-US" b="1" baseline="30000" dirty="0"/>
              <a:t>nd</a:t>
            </a:r>
            <a:r>
              <a:rPr lang="en-US" b="1" dirty="0"/>
              <a:t> Advance Estimates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329E544-5E94-47F7-9A53-F1A068F7138C}"/>
              </a:ext>
            </a:extLst>
          </p:cNvPr>
          <p:cNvSpPr txBox="1"/>
          <p:nvPr/>
        </p:nvSpPr>
        <p:spPr>
          <a:xfrm>
            <a:off x="294362" y="3543912"/>
            <a:ext cx="5950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Working Group recommendations on Final Projections, </a:t>
            </a:r>
            <a:r>
              <a:rPr lang="en-US" sz="1400" dirty="0" err="1"/>
              <a:t>Niti</a:t>
            </a:r>
            <a:r>
              <a:rPr lang="en-US" sz="1400" dirty="0"/>
              <a:t> </a:t>
            </a:r>
            <a:r>
              <a:rPr lang="en-US" sz="1400" dirty="0" err="1"/>
              <a:t>Ayog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9EFD26B-CDAD-4A24-899A-2E15BEE846B6}"/>
              </a:ext>
            </a:extLst>
          </p:cNvPr>
          <p:cNvSpPr txBox="1"/>
          <p:nvPr/>
        </p:nvSpPr>
        <p:spPr>
          <a:xfrm>
            <a:off x="152400" y="3886200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Dependency on import can easily be neutralized by little additional production of 1.5-2.0 million </a:t>
            </a:r>
            <a:r>
              <a:rPr lang="en-US" dirty="0" err="1"/>
              <a:t>tonnes</a:t>
            </a:r>
            <a:r>
              <a:rPr lang="en-US" dirty="0"/>
              <a:t> </a:t>
            </a:r>
            <a:r>
              <a:rPr lang="en-US" dirty="0" smtClean="0"/>
              <a:t>than </a:t>
            </a:r>
            <a:r>
              <a:rPr lang="en-US" dirty="0"/>
              <a:t>the target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7240029-4032-431E-A170-4B26008D81A9}"/>
              </a:ext>
            </a:extLst>
          </p:cNvPr>
          <p:cNvSpPr txBox="1"/>
          <p:nvPr/>
        </p:nvSpPr>
        <p:spPr>
          <a:xfrm>
            <a:off x="9829800" y="838200"/>
            <a:ext cx="1898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 Million </a:t>
            </a:r>
            <a:r>
              <a:rPr lang="en-US" i="1" dirty="0" err="1"/>
              <a:t>Tonnes</a:t>
            </a:r>
            <a:endParaRPr lang="en-IN" i="1" dirty="0"/>
          </a:p>
        </p:txBody>
      </p:sp>
      <p:graphicFrame>
        <p:nvGraphicFramePr>
          <p:cNvPr id="9" name="Chart 11">
            <a:extLst>
              <a:ext uri="{FF2B5EF4-FFF2-40B4-BE49-F238E27FC236}">
                <a16:creationId xmlns="" xmlns:a16="http://schemas.microsoft.com/office/drawing/2014/main" id="{0441F721-4BEF-7443-B6A2-ED01ECD4C3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383357280"/>
              </p:ext>
            </p:extLst>
          </p:nvPr>
        </p:nvGraphicFramePr>
        <p:xfrm>
          <a:off x="5524500" y="3429000"/>
          <a:ext cx="6362700" cy="3352801"/>
        </p:xfrm>
        <a:graphic>
          <a:graphicData uri="http://schemas.openxmlformats.org/presentationml/2006/ole">
            <p:oleObj spid="_x0000_s6824" name="Chart" r:id="rId4" imgW="4682134" imgH="2853175" progId="Excel.Sheet.8">
              <p:embed/>
            </p:oleObj>
          </a:graphicData>
        </a:graphic>
      </p:graphicFrame>
      <p:sp>
        <p:nvSpPr>
          <p:cNvPr id="11" name="Text Box 38">
            <a:extLst>
              <a:ext uri="{FF2B5EF4-FFF2-40B4-BE49-F238E27FC236}">
                <a16:creationId xmlns="" xmlns:a16="http://schemas.microsoft.com/office/drawing/2014/main" id="{54918832-D100-8E47-8579-301C088D7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029200"/>
            <a:ext cx="5029200" cy="1281120"/>
          </a:xfrm>
          <a:prstGeom prst="rect">
            <a:avLst/>
          </a:prstGeom>
          <a:solidFill>
            <a:srgbClr val="FFFFD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>
              <a:defRPr/>
            </a:pPr>
            <a:r>
              <a:rPr lang="en-US" altLang="en-US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Import Substitution</a:t>
            </a:r>
          </a:p>
          <a:p>
            <a:pPr marL="0" indent="0">
              <a:defRPr/>
            </a:pPr>
            <a:endParaRPr lang="en-US" altLang="en-US" sz="525" dirty="0">
              <a:effectLst>
                <a:outerShdw blurRad="38100" dist="38100" dir="2700000" algn="tl">
                  <a:srgbClr val="FFFFFF"/>
                </a:outerShdw>
              </a:effectLst>
              <a:cs typeface="Times New Roman" panose="02020603050405020304" pitchFamily="18" charset="0"/>
            </a:endParaRPr>
          </a:p>
          <a:p>
            <a:pPr marL="0" indent="0">
              <a:defRPr/>
            </a:pPr>
            <a:r>
              <a:rPr lang="en-US" altLang="en-US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Rs. 28523.90 crore in 2016-17</a:t>
            </a:r>
          </a:p>
          <a:p>
            <a:pPr marL="0" indent="0">
              <a:defRPr/>
            </a:pPr>
            <a:r>
              <a:rPr lang="en-US" altLang="en-US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to Rs.11937.59 crore from 6.6 Mt in 2016-17 to 2.46 Mt in 2020-21</a:t>
            </a:r>
          </a:p>
        </p:txBody>
      </p:sp>
    </p:spTree>
    <p:extLst>
      <p:ext uri="{BB962C8B-B14F-4D97-AF65-F5344CB8AC3E}">
        <p14:creationId xmlns="" xmlns:p14="http://schemas.microsoft.com/office/powerpoint/2010/main" val="49862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738963888"/>
              </p:ext>
            </p:extLst>
          </p:nvPr>
        </p:nvGraphicFramePr>
        <p:xfrm>
          <a:off x="381000" y="953212"/>
          <a:ext cx="11506200" cy="3694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8">
            <a:extLst>
              <a:ext uri="{FF2B5EF4-FFF2-40B4-BE49-F238E27FC236}">
                <a16:creationId xmlns="" xmlns:a16="http://schemas.microsoft.com/office/drawing/2014/main" id="{34E74F4B-46F5-487D-AC7E-A3250E604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774532506"/>
              </p:ext>
            </p:extLst>
          </p:nvPr>
        </p:nvGraphicFramePr>
        <p:xfrm>
          <a:off x="457200" y="5105400"/>
          <a:ext cx="11353801" cy="16383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94926">
                  <a:extLst>
                    <a:ext uri="{9D8B030D-6E8A-4147-A177-3AD203B41FA5}">
                      <a16:colId xmlns="" xmlns:a16="http://schemas.microsoft.com/office/drawing/2014/main" val="1069841480"/>
                    </a:ext>
                  </a:extLst>
                </a:gridCol>
                <a:gridCol w="1502388">
                  <a:extLst>
                    <a:ext uri="{9D8B030D-6E8A-4147-A177-3AD203B41FA5}">
                      <a16:colId xmlns="" xmlns:a16="http://schemas.microsoft.com/office/drawing/2014/main" val="150606425"/>
                    </a:ext>
                  </a:extLst>
                </a:gridCol>
                <a:gridCol w="1497280">
                  <a:extLst>
                    <a:ext uri="{9D8B030D-6E8A-4147-A177-3AD203B41FA5}">
                      <a16:colId xmlns="" xmlns:a16="http://schemas.microsoft.com/office/drawing/2014/main" val="790077223"/>
                    </a:ext>
                  </a:extLst>
                </a:gridCol>
                <a:gridCol w="3100815">
                  <a:extLst>
                    <a:ext uri="{9D8B030D-6E8A-4147-A177-3AD203B41FA5}">
                      <a16:colId xmlns="" xmlns:a16="http://schemas.microsoft.com/office/drawing/2014/main" val="3577565196"/>
                    </a:ext>
                  </a:extLst>
                </a:gridCol>
                <a:gridCol w="2758392">
                  <a:extLst>
                    <a:ext uri="{9D8B030D-6E8A-4147-A177-3AD203B41FA5}">
                      <a16:colId xmlns="" xmlns:a16="http://schemas.microsoft.com/office/drawing/2014/main" val="1795027722"/>
                    </a:ext>
                  </a:extLst>
                </a:gridCol>
              </a:tblGrid>
              <a:tr h="259080">
                <a:tc rowSpan="2">
                  <a:txBody>
                    <a:bodyPr/>
                    <a:lstStyle/>
                    <a:p>
                      <a:r>
                        <a:rPr lang="en-US" sz="1700" dirty="0"/>
                        <a:t>Year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 rowSpan="2">
                  <a:txBody>
                    <a:bodyPr/>
                    <a:lstStyle/>
                    <a:p>
                      <a:r>
                        <a:rPr lang="en-US" sz="1700" dirty="0"/>
                        <a:t>2015-16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 rowSpan="2">
                  <a:txBody>
                    <a:bodyPr/>
                    <a:lstStyle/>
                    <a:p>
                      <a:r>
                        <a:rPr lang="en-US" sz="1700" dirty="0"/>
                        <a:t>2017-18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Increase in 2017-18 over 2015-16</a:t>
                      </a:r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68889857"/>
                  </a:ext>
                </a:extLst>
              </a:tr>
              <a:tr h="2590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Net increase</a:t>
                      </a:r>
                      <a:endParaRPr lang="en-IN" sz="17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%</a:t>
                      </a:r>
                      <a:endParaRPr lang="en-IN" sz="17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36818755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700" dirty="0"/>
                        <a:t>Production (Mt)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16.32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25.42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+    9.10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55.8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842660329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700" dirty="0"/>
                        <a:t>Area (</a:t>
                      </a:r>
                      <a:r>
                        <a:rPr lang="en-US" sz="1700" dirty="0" err="1"/>
                        <a:t>Mha</a:t>
                      </a:r>
                      <a:r>
                        <a:rPr lang="en-US" sz="1700" dirty="0"/>
                        <a:t>)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24.91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29.81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+</a:t>
                      </a:r>
                      <a:r>
                        <a:rPr lang="en-IN" sz="1700" dirty="0"/>
                        <a:t>    4.90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19.7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71041501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700" dirty="0"/>
                        <a:t>Yield (Kg/ha)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655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/>
                        <a:t>853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+    198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30.2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72564256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8389EB6-3F6D-4453-A339-ABC502B0ECCB}"/>
              </a:ext>
            </a:extLst>
          </p:cNvPr>
          <p:cNvSpPr txBox="1"/>
          <p:nvPr/>
        </p:nvSpPr>
        <p:spPr>
          <a:xfrm>
            <a:off x="3352800" y="4648200"/>
            <a:ext cx="512281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66"/>
                </a:solidFill>
              </a:rPr>
              <a:t>Self-sufficiency in Pulses: a Saga of Success </a:t>
            </a:r>
            <a:endParaRPr lang="en-IN" b="1" dirty="0">
              <a:solidFill>
                <a:srgbClr val="000066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7699" y="583731"/>
            <a:ext cx="109727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* 2</a:t>
            </a:r>
            <a:r>
              <a:rPr lang="en-US" b="1" baseline="30000" dirty="0"/>
              <a:t>nd</a:t>
            </a:r>
            <a:r>
              <a:rPr lang="en-US" b="1" dirty="0"/>
              <a:t> Advance Estimates; Source: Ministry of Agriculture &amp; Farmers Welfare, Govt. of India</a:t>
            </a:r>
            <a:endParaRPr lang="en-IN" b="1" dirty="0"/>
          </a:p>
        </p:txBody>
      </p:sp>
      <p:sp>
        <p:nvSpPr>
          <p:cNvPr id="3" name="Rectangle 2"/>
          <p:cNvSpPr/>
          <p:nvPr/>
        </p:nvSpPr>
        <p:spPr>
          <a:xfrm>
            <a:off x="0" y="31966"/>
            <a:ext cx="1211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Arial Rounded MT Bold" panose="020F0704030504030204" pitchFamily="34" charset="0"/>
              </a:rPr>
              <a:t>Trends of area, production and yield of Pulses in India (2015-16 to 2021-22)</a:t>
            </a:r>
            <a:endParaRPr lang="en-IN" sz="2400" b="1" dirty="0">
              <a:solidFill>
                <a:srgbClr val="000066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9457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96AFF1F-1D99-454E-826E-234FC769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758C-AB5F-4360-A265-9C4A2543509A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="" xmlns:p14="http://schemas.microsoft.com/office/powerpoint/2010/main" val="3756400429"/>
              </p:ext>
            </p:extLst>
          </p:nvPr>
        </p:nvGraphicFramePr>
        <p:xfrm>
          <a:off x="762000" y="1600200"/>
          <a:ext cx="10591800" cy="4756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/>
          <p:cNvSpPr/>
          <p:nvPr/>
        </p:nvSpPr>
        <p:spPr>
          <a:xfrm>
            <a:off x="2057400" y="36022"/>
            <a:ext cx="8255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0066"/>
                </a:solidFill>
                <a:latin typeface="Arial Rounded MT Bold" panose="020F0704030504030204" pitchFamily="34" charset="0"/>
              </a:rPr>
              <a:t>Sustaining Self-sufficiency in Pulses</a:t>
            </a:r>
            <a:endParaRPr lang="en-IN" sz="3600" dirty="0"/>
          </a:p>
        </p:txBody>
      </p:sp>
    </p:spTree>
    <p:extLst>
      <p:ext uri="{BB962C8B-B14F-4D97-AF65-F5344CB8AC3E}">
        <p14:creationId xmlns="" xmlns:p14="http://schemas.microsoft.com/office/powerpoint/2010/main" val="265876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9906000" y="6553200"/>
            <a:ext cx="2118892" cy="210945"/>
          </a:xfrm>
          <a:prstGeom prst="rect">
            <a:avLst/>
          </a:prstGeom>
        </p:spPr>
        <p:txBody>
          <a:bodyPr wrap="none" lIns="52250" tIns="26125" rIns="52250" bIns="26125">
            <a:spAutoFit/>
          </a:bodyPr>
          <a:lstStyle/>
          <a:p>
            <a:r>
              <a:rPr lang="en-US" sz="1028" b="1" dirty="0"/>
              <a:t>Source: DAC&amp;FW and IISR, Mau</a:t>
            </a:r>
            <a:endParaRPr lang="en-GB" sz="1028" b="1" dirty="0"/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="" xmlns:p14="http://schemas.microsoft.com/office/powerpoint/2010/main" val="2877600957"/>
              </p:ext>
            </p:extLst>
          </p:nvPr>
        </p:nvGraphicFramePr>
        <p:xfrm>
          <a:off x="533400" y="533400"/>
          <a:ext cx="11201399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/>
          <p:nvPr>
            <p:extLst>
              <p:ext uri="{D42A27DB-BD31-4B8C-83A1-F6EECF244321}">
                <p14:modId xmlns="" xmlns:p14="http://schemas.microsoft.com/office/powerpoint/2010/main" val="3006361313"/>
              </p:ext>
            </p:extLst>
          </p:nvPr>
        </p:nvGraphicFramePr>
        <p:xfrm>
          <a:off x="381000" y="3733801"/>
          <a:ext cx="11658600" cy="2819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="" xmlns:p14="http://schemas.microsoft.com/office/powerpoint/2010/main" val="47108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133965"/>
            <a:ext cx="11506200" cy="21275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GB" sz="2300" dirty="0">
                <a:ea typeface="Calibri" panose="020F0502020204030204" pitchFamily="34" charset="0"/>
                <a:cs typeface="Mangal"/>
              </a:rPr>
              <a:t>The gap between demand and supply for edible oils has widened in India over the years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GB" sz="2300" i="1" dirty="0" smtClean="0">
                <a:ea typeface="Calibri" panose="020F0502020204030204" pitchFamily="34" charset="0"/>
                <a:cs typeface="Mangal"/>
              </a:rPr>
              <a:t>       </a:t>
            </a:r>
            <a:r>
              <a:rPr lang="en-GB" sz="2300" i="1" dirty="0">
                <a:ea typeface="Calibri" panose="020F0502020204030204" pitchFamily="34" charset="0"/>
                <a:cs typeface="Mangal"/>
              </a:rPr>
              <a:t>- as the per capita consumption of edible oils has increased from 15.8 kg/year in </a:t>
            </a:r>
            <a:r>
              <a:rPr lang="en-GB" sz="2300" i="1" dirty="0" smtClean="0">
                <a:ea typeface="Calibri" panose="020F0502020204030204" pitchFamily="34" charset="0"/>
                <a:cs typeface="Mangal"/>
              </a:rPr>
              <a:t>  2012-13 </a:t>
            </a:r>
            <a:r>
              <a:rPr lang="en-GB" sz="2300" i="1" dirty="0">
                <a:ea typeface="Calibri" panose="020F0502020204030204" pitchFamily="34" charset="0"/>
                <a:cs typeface="Mangal"/>
              </a:rPr>
              <a:t>to 18.8 kg/year in 2019-20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GB" sz="2300" i="1" dirty="0">
                <a:ea typeface="Calibri" panose="020F0502020204030204" pitchFamily="34" charset="0"/>
                <a:cs typeface="Mangal"/>
              </a:rPr>
              <a:t>       - and there has been 2.48% annual growth in the per capita consumption </a:t>
            </a:r>
            <a:endParaRPr lang="en-IN" sz="2300" i="1" dirty="0">
              <a:ea typeface="Calibri" panose="020F0502020204030204" pitchFamily="34" charset="0"/>
              <a:cs typeface="Mang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4191000"/>
            <a:ext cx="11658600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solidFill>
                  <a:srgbClr val="0000CC"/>
                </a:solidFill>
                <a:ea typeface="Calibri" panose="020F0502020204030204" pitchFamily="34" charset="0"/>
                <a:cs typeface="Mangal"/>
              </a:rPr>
              <a:t>Increasing </a:t>
            </a:r>
            <a:r>
              <a:rPr lang="en-GB" sz="2400" u="sng" dirty="0">
                <a:solidFill>
                  <a:srgbClr val="0000CC"/>
                </a:solidFill>
                <a:ea typeface="Calibri" panose="020F0502020204030204" pitchFamily="34" charset="0"/>
                <a:cs typeface="Mangal"/>
              </a:rPr>
              <a:t>productivity </a:t>
            </a:r>
            <a:r>
              <a:rPr lang="en-GB" sz="2400" dirty="0">
                <a:solidFill>
                  <a:srgbClr val="0000CC"/>
                </a:solidFill>
                <a:ea typeface="Calibri" panose="020F0502020204030204" pitchFamily="34" charset="0"/>
                <a:cs typeface="Mangal"/>
              </a:rPr>
              <a:t>and </a:t>
            </a:r>
            <a:r>
              <a:rPr lang="en-GB" sz="2400" u="sng" dirty="0">
                <a:solidFill>
                  <a:srgbClr val="0000CC"/>
                </a:solidFill>
                <a:ea typeface="Calibri" panose="020F0502020204030204" pitchFamily="34" charset="0"/>
                <a:cs typeface="Mangal"/>
              </a:rPr>
              <a:t>acreage</a:t>
            </a:r>
            <a:r>
              <a:rPr lang="en-GB" sz="2400" dirty="0">
                <a:solidFill>
                  <a:srgbClr val="0000CC"/>
                </a:solidFill>
                <a:ea typeface="Calibri" panose="020F0502020204030204" pitchFamily="34" charset="0"/>
                <a:cs typeface="Mangal"/>
              </a:rPr>
              <a:t> under oilseeds are the two pronged approach along with the strategies/action plans, similar to that of pulses, for marching towards the self -sufficiency in </a:t>
            </a:r>
            <a:r>
              <a:rPr lang="en-GB" sz="2400" u="sng" dirty="0">
                <a:solidFill>
                  <a:srgbClr val="0000CC"/>
                </a:solidFill>
                <a:ea typeface="Calibri" panose="020F0502020204030204" pitchFamily="34" charset="0"/>
                <a:cs typeface="Mangal"/>
              </a:rPr>
              <a:t>edible oils.</a:t>
            </a:r>
            <a:endParaRPr lang="en-IN" sz="2400" dirty="0">
              <a:solidFill>
                <a:srgbClr val="0000CC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7614" y="76200"/>
            <a:ext cx="96318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600" b="1" dirty="0">
                <a:solidFill>
                  <a:srgbClr val="000066"/>
                </a:solidFill>
                <a:latin typeface="Arial Rounded MT Bold" panose="020F0704030504030204" pitchFamily="34" charset="0"/>
              </a:rPr>
              <a:t>Edible Oils: Demand-Supply Gap Widening</a:t>
            </a:r>
            <a:endParaRPr lang="en-IN" sz="3600" b="1" dirty="0">
              <a:solidFill>
                <a:srgbClr val="000066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5051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="" xmlns:a16="http://schemas.microsoft.com/office/drawing/2014/main" id="{6FE26521-EBA8-4627-9C19-B66E05F09607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="" xmlns:p14="http://schemas.microsoft.com/office/powerpoint/2010/main" val="3423125694"/>
              </p:ext>
            </p:extLst>
          </p:nvPr>
        </p:nvGraphicFramePr>
        <p:xfrm>
          <a:off x="304799" y="1142999"/>
          <a:ext cx="11734800" cy="4114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308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121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6152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979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600205">
                  <a:extLst>
                    <a:ext uri="{9D8B030D-6E8A-4147-A177-3AD203B41FA5}">
                      <a16:colId xmlns="" xmlns:a16="http://schemas.microsoft.com/office/drawing/2014/main" val="1979127687"/>
                    </a:ext>
                  </a:extLst>
                </a:gridCol>
                <a:gridCol w="175435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82593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141981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Year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baseline="0" dirty="0"/>
                        <a:t>Edible oil for available for consumption</a:t>
                      </a:r>
                    </a:p>
                    <a:p>
                      <a:pPr algn="ctr"/>
                      <a:r>
                        <a:rPr lang="en-US" sz="1400" b="0" baseline="0" dirty="0"/>
                        <a:t>(MT) 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Domestic </a:t>
                      </a:r>
                      <a:r>
                        <a:rPr lang="en-US" sz="1400" b="0" baseline="0" dirty="0"/>
                        <a:t>Production</a:t>
                      </a:r>
                    </a:p>
                    <a:p>
                      <a:pPr algn="ctr"/>
                      <a:r>
                        <a:rPr lang="en-IN" sz="1400" b="0" baseline="0" dirty="0"/>
                        <a:t>(MT)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Imports</a:t>
                      </a:r>
                    </a:p>
                    <a:p>
                      <a:pPr algn="ctr"/>
                      <a:r>
                        <a:rPr lang="en-IN" sz="1400" b="0" dirty="0"/>
                        <a:t>(MT)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0" dirty="0"/>
                        <a:t>Value of import (Rs</a:t>
                      </a:r>
                      <a:r>
                        <a:rPr lang="en-US" sz="1400" b="0" baseline="0" dirty="0"/>
                        <a:t>. in c</a:t>
                      </a:r>
                      <a:r>
                        <a:rPr lang="en-US" sz="1400" b="0" dirty="0"/>
                        <a:t>rore)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Dependency on imports</a:t>
                      </a:r>
                    </a:p>
                    <a:p>
                      <a:pPr algn="ctr"/>
                      <a:r>
                        <a:rPr lang="en-US" sz="1400" b="0" dirty="0"/>
                        <a:t>(%)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Per capita</a:t>
                      </a:r>
                      <a:r>
                        <a:rPr lang="en-US" sz="1400" b="0" baseline="0" dirty="0"/>
                        <a:t> Consumption </a:t>
                      </a:r>
                      <a:r>
                        <a:rPr lang="en-US" sz="1400" b="0" dirty="0"/>
                        <a:t>(kg/yr)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4132">
                <a:tc>
                  <a:txBody>
                    <a:bodyPr/>
                    <a:lstStyle/>
                    <a:p>
                      <a:pPr algn="l"/>
                      <a:r>
                        <a:rPr lang="en-US" sz="1400" u="none" strike="noStrike" cap="none" dirty="0">
                          <a:sym typeface="Arial"/>
                        </a:rPr>
                        <a:t>1986-87</a:t>
                      </a:r>
                      <a:endParaRPr lang="en-US" sz="1400" b="1" i="0" u="none" strike="noStrike" cap="none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5.34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3.87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1.47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700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28.0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6.2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extLst>
                  <a:ext uri="{0D108BD9-81ED-4DB2-BD59-A6C34878D82A}">
                    <a16:rowId xmlns="" xmlns:a16="http://schemas.microsoft.com/office/drawing/2014/main" val="3883114881"/>
                  </a:ext>
                </a:extLst>
              </a:tr>
              <a:tr h="4341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1994-95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7.54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7.19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0.35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300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5.0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7.3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extLst>
                  <a:ext uri="{0D108BD9-81ED-4DB2-BD59-A6C34878D82A}">
                    <a16:rowId xmlns="" xmlns:a16="http://schemas.microsoft.com/office/drawing/2014/main" val="3634903106"/>
                  </a:ext>
                </a:extLst>
              </a:tr>
              <a:tr h="524321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2014-15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21.36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8.63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12.73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64,894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59.6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18.3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41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2019-20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25.06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10.60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14.46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68,576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57.7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18.7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341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2020-21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25.82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12.47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13.35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79,190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54.9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18.2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34132">
                <a:tc gridSpan="7">
                  <a:txBody>
                    <a:bodyPr/>
                    <a:lstStyle/>
                    <a:p>
                      <a:r>
                        <a:rPr lang="en-US" sz="1400" dirty="0"/>
                        <a:t>Source: Department of Sugar &amp; Vegetable Oils; DG, CI&amp;S, Dept. of Commerce, Kolkata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91412" marR="91412" marT="34277" marB="34277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121882" marR="121882" marT="45703" marB="45703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121882" marR="121882" marT="45703" marB="45703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121882" marR="121882" marT="45703" marB="45703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121882" marR="121882" marT="45703" marB="45703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121882" marR="121882" marT="45703" marB="45703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rgbClr val="FF0000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 marL="121882" marR="121882" marT="45703" marB="45703"/>
                </a:tc>
                <a:extLst>
                  <a:ext uri="{0D108BD9-81ED-4DB2-BD59-A6C34878D82A}">
                    <a16:rowId xmlns="" xmlns:a16="http://schemas.microsoft.com/office/drawing/2014/main" val="2980430758"/>
                  </a:ext>
                </a:extLst>
              </a:tr>
            </a:tbl>
          </a:graphicData>
        </a:graphic>
      </p:graphicFrame>
      <p:sp>
        <p:nvSpPr>
          <p:cNvPr id="6" name="Google Shape;99;p2"/>
          <p:cNvSpPr txBox="1">
            <a:spLocks noGrp="1"/>
          </p:cNvSpPr>
          <p:nvPr>
            <p:ph type="title"/>
          </p:nvPr>
        </p:nvSpPr>
        <p:spPr>
          <a:xfrm>
            <a:off x="533400" y="762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7900" tIns="43950" rIns="87900" bIns="4395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8500"/>
            </a:pPr>
            <a:r>
              <a:rPr lang="en-GB" sz="36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Edible Oil Sector</a:t>
            </a:r>
            <a:endParaRPr sz="3600" b="1" dirty="0">
              <a:solidFill>
                <a:srgbClr val="000066"/>
              </a:solidFill>
              <a:latin typeface="Arial Rounded MT Bold" panose="020F0704030504030204" pitchFamily="34" charset="0"/>
              <a:ea typeface="+mn-ea"/>
              <a:cs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C418640-725B-4479-9BF1-749085981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434" y="5943600"/>
            <a:ext cx="11723165" cy="5539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500" b="1" dirty="0">
                <a:cs typeface="Calibri" panose="020F0502020204030204" pitchFamily="34" charset="0"/>
              </a:rPr>
              <a:t>Total import of edible oils: </a:t>
            </a:r>
            <a:r>
              <a:rPr lang="en-US" sz="1500" b="1" dirty="0" smtClean="0">
                <a:cs typeface="Calibri" panose="020F0502020204030204" pitchFamily="34" charset="0"/>
              </a:rPr>
              <a:t>13.35 </a:t>
            </a:r>
            <a:r>
              <a:rPr lang="en-US" sz="1500" b="1" dirty="0">
                <a:cs typeface="Calibri" panose="020F0502020204030204" pitchFamily="34" charset="0"/>
              </a:rPr>
              <a:t>million </a:t>
            </a:r>
            <a:r>
              <a:rPr lang="en-US" sz="1500" b="1" dirty="0" smtClean="0">
                <a:cs typeface="Calibri" panose="020F0502020204030204" pitchFamily="34" charset="0"/>
              </a:rPr>
              <a:t>tons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500" b="1" dirty="0" smtClean="0">
                <a:solidFill>
                  <a:srgbClr val="0033CC"/>
                </a:solidFill>
                <a:cs typeface="Calibri" panose="020F0502020204030204" pitchFamily="34" charset="0"/>
              </a:rPr>
              <a:t>(Palm oil (56%), Soybean oil (27%), Sunflower oil (16%), Others (1%)</a:t>
            </a:r>
            <a:endParaRPr lang="en-IN" sz="1500" b="1" dirty="0">
              <a:solidFill>
                <a:srgbClr val="0033CC"/>
              </a:solidFill>
              <a:cs typeface="Calibri" panose="020F0502020204030204" pitchFamily="34" charset="0"/>
            </a:endParaRPr>
          </a:p>
        </p:txBody>
      </p:sp>
      <p:pic>
        <p:nvPicPr>
          <p:cNvPr id="8" name="Picture 14" descr="2Oil drop copy.jpg">
            <a:extLst>
              <a:ext uri="{FF2B5EF4-FFF2-40B4-BE49-F238E27FC236}">
                <a16:creationId xmlns="" xmlns:a16="http://schemas.microsoft.com/office/drawing/2014/main" id="{0A417FE1-EC91-4801-8291-48DDA8AB27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349980"/>
            <a:ext cx="1079436" cy="1128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81000" y="5266450"/>
            <a:ext cx="11125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cs typeface="Times New Roman" pitchFamily="18" charset="0"/>
              </a:rPr>
              <a:t>ICMR recommendation i.e.  30 g/person /</a:t>
            </a:r>
            <a:r>
              <a:rPr lang="en-US" sz="1600" dirty="0" smtClean="0">
                <a:cs typeface="Times New Roman" pitchFamily="18" charset="0"/>
              </a:rPr>
              <a:t>day : </a:t>
            </a:r>
            <a:r>
              <a:rPr lang="en-US" sz="1600" dirty="0">
                <a:cs typeface="Times New Roman" pitchFamily="18" charset="0"/>
              </a:rPr>
              <a:t>12 kg/person/annum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4246728584"/>
              </p:ext>
            </p:extLst>
          </p:nvPr>
        </p:nvGraphicFramePr>
        <p:xfrm>
          <a:off x="289560" y="1350678"/>
          <a:ext cx="11658600" cy="49508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angle 1"/>
          <p:cNvSpPr/>
          <p:nvPr/>
        </p:nvSpPr>
        <p:spPr>
          <a:xfrm>
            <a:off x="152400" y="6424435"/>
            <a:ext cx="11506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* 2</a:t>
            </a:r>
            <a:r>
              <a:rPr lang="en-US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Advance Estimates; Source: Ministry of Agriculture &amp; Farmers Welfare,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Govt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of India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6240" y="76200"/>
            <a:ext cx="115214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Arial Rounded MT Bold" panose="020F0704030504030204" pitchFamily="34" charset="0"/>
              </a:rPr>
              <a:t>Trends of area, production and yield of Oilseeds in India (2015-16 to 2021-22)</a:t>
            </a:r>
            <a:endParaRPr lang="en-IN" sz="2800" b="1" dirty="0">
              <a:solidFill>
                <a:srgbClr val="000066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0515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EA482A2-627B-44EB-90EC-4FD569E85B14}"/>
              </a:ext>
            </a:extLst>
          </p:cNvPr>
          <p:cNvSpPr txBox="1"/>
          <p:nvPr/>
        </p:nvSpPr>
        <p:spPr>
          <a:xfrm>
            <a:off x="228600" y="4876800"/>
            <a:ext cx="11734799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average yield gap in edible oilseeds is about 60%.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Reducing the yield gap to 20% in the next five years may lead to 13-14 Mt additional production of edible oilseeds </a:t>
            </a:r>
            <a:r>
              <a:rPr lang="en-GB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(~ 3-4 Mt edible oils) w</a:t>
            </a:r>
            <a:r>
              <a:rPr lang="en-GB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ithout bringing any additional area under them.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B11CE856-30C8-4816-9F70-425466F02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83750335"/>
              </p:ext>
            </p:extLst>
          </p:nvPr>
        </p:nvGraphicFramePr>
        <p:xfrm>
          <a:off x="228602" y="838199"/>
          <a:ext cx="11658598" cy="396239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719769">
                  <a:extLst>
                    <a:ext uri="{9D8B030D-6E8A-4147-A177-3AD203B41FA5}">
                      <a16:colId xmlns="" xmlns:a16="http://schemas.microsoft.com/office/drawing/2014/main" val="1572752660"/>
                    </a:ext>
                  </a:extLst>
                </a:gridCol>
                <a:gridCol w="3057471">
                  <a:extLst>
                    <a:ext uri="{9D8B030D-6E8A-4147-A177-3AD203B41FA5}">
                      <a16:colId xmlns="" xmlns:a16="http://schemas.microsoft.com/office/drawing/2014/main" val="3868224952"/>
                    </a:ext>
                  </a:extLst>
                </a:gridCol>
                <a:gridCol w="4881358">
                  <a:extLst>
                    <a:ext uri="{9D8B030D-6E8A-4147-A177-3AD203B41FA5}">
                      <a16:colId xmlns="" xmlns:a16="http://schemas.microsoft.com/office/drawing/2014/main" val="1455779879"/>
                    </a:ext>
                  </a:extLst>
                </a:gridCol>
              </a:tblGrid>
              <a:tr h="10806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 dirty="0">
                          <a:effectLst/>
                        </a:rPr>
                        <a:t>Crop</a:t>
                      </a:r>
                      <a:endParaRPr lang="en-IN" sz="2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 dirty="0">
                          <a:effectLst/>
                        </a:rPr>
                        <a:t>Existing yield gap (%)</a:t>
                      </a:r>
                      <a:endParaRPr lang="en-IN" sz="2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 dirty="0">
                          <a:effectLst/>
                        </a:rPr>
                        <a:t>Target for 2025-26 for minimizing yield gap (%) up to</a:t>
                      </a:r>
                      <a:endParaRPr lang="en-IN" sz="2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155305130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Soybean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50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20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683296732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 dirty="0">
                          <a:effectLst/>
                        </a:rPr>
                        <a:t>Rapeseed-Mustard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27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15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420678334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Groundnut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40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 dirty="0">
                          <a:effectLst/>
                        </a:rPr>
                        <a:t>15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749768703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Sesame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22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 dirty="0">
                          <a:effectLst/>
                        </a:rPr>
                        <a:t>10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055413181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Sunflower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160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20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82388945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Safflower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81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45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763613735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Niger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40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>
                          <a:effectLst/>
                        </a:rPr>
                        <a:t>15</a:t>
                      </a:r>
                      <a:endParaRPr lang="en-IN" sz="2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292649349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 dirty="0">
                          <a:effectLst/>
                        </a:rPr>
                        <a:t>Average</a:t>
                      </a:r>
                      <a:endParaRPr lang="en-IN" sz="2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 dirty="0">
                          <a:effectLst/>
                        </a:rPr>
                        <a:t>60</a:t>
                      </a:r>
                      <a:endParaRPr lang="en-IN" sz="2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200" dirty="0">
                          <a:effectLst/>
                        </a:rPr>
                        <a:t>20</a:t>
                      </a:r>
                      <a:endParaRPr lang="en-IN" sz="22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41474036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B36E32A9-8071-40A8-9B73-843F99D44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6A473-DD59-4F0A-8FE8-6113C7BC3AE8}" type="slidenum">
              <a:rPr lang="en-IN" b="1" smtClean="0"/>
              <a:pPr/>
              <a:t>15</a:t>
            </a:fld>
            <a:endParaRPr lang="en-IN" b="1" dirty="0"/>
          </a:p>
        </p:txBody>
      </p:sp>
      <p:sp>
        <p:nvSpPr>
          <p:cNvPr id="2" name="Rectangle 1"/>
          <p:cNvSpPr/>
          <p:nvPr/>
        </p:nvSpPr>
        <p:spPr>
          <a:xfrm>
            <a:off x="1600200" y="20782"/>
            <a:ext cx="8666860" cy="64633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GB" sz="3600" b="1" dirty="0">
                <a:solidFill>
                  <a:srgbClr val="000066"/>
                </a:solidFill>
                <a:latin typeface="Arial Rounded MT Bold" panose="020F0704030504030204" pitchFamily="34" charset="0"/>
              </a:rPr>
              <a:t>Reducing Yield Gap in Edible Oilseeds</a:t>
            </a:r>
            <a:endParaRPr lang="en-IN" sz="3600" b="1" dirty="0">
              <a:solidFill>
                <a:srgbClr val="000066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9695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51A2F7-DA1D-449F-93C0-037A649495FF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300558133"/>
              </p:ext>
            </p:extLst>
          </p:nvPr>
        </p:nvGraphicFramePr>
        <p:xfrm>
          <a:off x="228600" y="1066800"/>
          <a:ext cx="11658600" cy="5029202"/>
        </p:xfrm>
        <a:graphic>
          <a:graphicData uri="http://schemas.openxmlformats.org/drawingml/2006/table">
            <a:tbl>
              <a:tblPr firstRow="1" firstCol="1" lastRow="1" bandRow="1">
                <a:tableStyleId>{69CF1AB2-1976-4502-BF36-3FF5EA218861}</a:tableStyleId>
              </a:tblPr>
              <a:tblGrid>
                <a:gridCol w="1502197">
                  <a:extLst>
                    <a:ext uri="{9D8B030D-6E8A-4147-A177-3AD203B41FA5}">
                      <a16:colId xmlns="" xmlns:a16="http://schemas.microsoft.com/office/drawing/2014/main" val="32960061"/>
                    </a:ext>
                  </a:extLst>
                </a:gridCol>
                <a:gridCol w="1060375">
                  <a:extLst>
                    <a:ext uri="{9D8B030D-6E8A-4147-A177-3AD203B41FA5}">
                      <a16:colId xmlns="" xmlns:a16="http://schemas.microsoft.com/office/drawing/2014/main" val="1942434781"/>
                    </a:ext>
                  </a:extLst>
                </a:gridCol>
                <a:gridCol w="1060375">
                  <a:extLst>
                    <a:ext uri="{9D8B030D-6E8A-4147-A177-3AD203B41FA5}">
                      <a16:colId xmlns="" xmlns:a16="http://schemas.microsoft.com/office/drawing/2014/main" val="2539434587"/>
                    </a:ext>
                  </a:extLst>
                </a:gridCol>
                <a:gridCol w="1060375">
                  <a:extLst>
                    <a:ext uri="{9D8B030D-6E8A-4147-A177-3AD203B41FA5}">
                      <a16:colId xmlns="" xmlns:a16="http://schemas.microsoft.com/office/drawing/2014/main" val="1674925817"/>
                    </a:ext>
                  </a:extLst>
                </a:gridCol>
                <a:gridCol w="1060375">
                  <a:extLst>
                    <a:ext uri="{9D8B030D-6E8A-4147-A177-3AD203B41FA5}">
                      <a16:colId xmlns="" xmlns:a16="http://schemas.microsoft.com/office/drawing/2014/main" val="1913443719"/>
                    </a:ext>
                  </a:extLst>
                </a:gridCol>
                <a:gridCol w="1060375">
                  <a:extLst>
                    <a:ext uri="{9D8B030D-6E8A-4147-A177-3AD203B41FA5}">
                      <a16:colId xmlns="" xmlns:a16="http://schemas.microsoft.com/office/drawing/2014/main" val="2022745504"/>
                    </a:ext>
                  </a:extLst>
                </a:gridCol>
                <a:gridCol w="1060375">
                  <a:extLst>
                    <a:ext uri="{9D8B030D-6E8A-4147-A177-3AD203B41FA5}">
                      <a16:colId xmlns="" xmlns:a16="http://schemas.microsoft.com/office/drawing/2014/main" val="3664827158"/>
                    </a:ext>
                  </a:extLst>
                </a:gridCol>
                <a:gridCol w="1491152">
                  <a:extLst>
                    <a:ext uri="{9D8B030D-6E8A-4147-A177-3AD203B41FA5}">
                      <a16:colId xmlns="" xmlns:a16="http://schemas.microsoft.com/office/drawing/2014/main" val="4114702411"/>
                    </a:ext>
                  </a:extLst>
                </a:gridCol>
                <a:gridCol w="1242626">
                  <a:extLst>
                    <a:ext uri="{9D8B030D-6E8A-4147-A177-3AD203B41FA5}">
                      <a16:colId xmlns="" xmlns:a16="http://schemas.microsoft.com/office/drawing/2014/main" val="1599603460"/>
                    </a:ext>
                  </a:extLst>
                </a:gridCol>
                <a:gridCol w="1060375">
                  <a:extLst>
                    <a:ext uri="{9D8B030D-6E8A-4147-A177-3AD203B41FA5}">
                      <a16:colId xmlns="" xmlns:a16="http://schemas.microsoft.com/office/drawing/2014/main" val="634821856"/>
                    </a:ext>
                  </a:extLst>
                </a:gridCol>
              </a:tblGrid>
              <a:tr h="6907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States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1993-94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2020-21*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APY gap &amp; % between 2020-21 and 1993-94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564044"/>
                  </a:ext>
                </a:extLst>
              </a:tr>
              <a:tr h="67578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Area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Production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Yield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Area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Production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Yield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Area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Production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Yield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307114086"/>
                  </a:ext>
                </a:extLst>
              </a:tr>
              <a:tr h="37336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Karnataka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14.69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4.75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323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1.2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1.08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898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-13.49 (92%)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-3.67 (77%)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575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551119045"/>
                  </a:ext>
                </a:extLst>
              </a:tr>
              <a:tr h="37336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A.P.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3.9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2.17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556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0.12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0.08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692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-3.78 (97%)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-2.09 (96%)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136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3542361921"/>
                  </a:ext>
                </a:extLst>
              </a:tr>
              <a:tr h="37336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Maharashtra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5.72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3.54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619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0.26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0.12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466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-5.46 (95%)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-3.42 (97%)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-153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912584053"/>
                  </a:ext>
                </a:extLst>
              </a:tr>
              <a:tr h="37336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Haryana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0.65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1625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0.11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0.25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2004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-0.29 (73%)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-0.40 (62%)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379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3404012770"/>
                  </a:ext>
                </a:extLst>
              </a:tr>
              <a:tr h="37336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Punjab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0.85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1.46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1718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0.02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0.04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1870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-0.83(98%)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-1.42 (97%)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152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877898032"/>
                  </a:ext>
                </a:extLst>
              </a:tr>
              <a:tr h="37336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T.N.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0.33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825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0.06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0.03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545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-0.34 (85%)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-0.30 (91%)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-280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3928924648"/>
                  </a:ext>
                </a:extLst>
              </a:tr>
              <a:tr h="37336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U.P.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0.36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0.43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1194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0.04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0.05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1372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-0.32 (89%)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-0.38 (88%)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178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444244647"/>
                  </a:ext>
                </a:extLst>
              </a:tr>
              <a:tr h="37336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Other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0.36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417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0.45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0.63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1400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0.16 (44%)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0.52 (347%)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983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81357082"/>
                  </a:ext>
                </a:extLst>
              </a:tr>
              <a:tr h="675785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All India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26.68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13.48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505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2.26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2.28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>
                          <a:effectLst/>
                        </a:rPr>
                        <a:t>1011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-24.42 (92%)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-11.20 (83%)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600" u="none" strike="noStrike" dirty="0">
                          <a:effectLst/>
                        </a:rPr>
                        <a:t>506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92012865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2400" y="76200"/>
            <a:ext cx="1165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en-US" sz="2800" b="1" dirty="0">
                <a:solidFill>
                  <a:srgbClr val="000066"/>
                </a:solidFill>
                <a:latin typeface="Arial Rounded MT Bold" panose="020F0704030504030204" pitchFamily="34" charset="0"/>
              </a:rPr>
              <a:t>State-wise APY of Sunflower and gap over the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85800"/>
            <a:ext cx="472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/>
              <a:t>Area (lakh ha), Production (lakh tonnes) &amp; Yield (kg/ha)</a:t>
            </a:r>
          </a:p>
        </p:txBody>
      </p:sp>
      <p:sp>
        <p:nvSpPr>
          <p:cNvPr id="6" name="Rectangle 5"/>
          <p:cNvSpPr/>
          <p:nvPr/>
        </p:nvSpPr>
        <p:spPr>
          <a:xfrm>
            <a:off x="9296400" y="6172200"/>
            <a:ext cx="25392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US" sz="1400" i="1" dirty="0"/>
              <a:t>* As per final estimate of DES</a:t>
            </a:r>
            <a:endParaRPr lang="en-US" sz="1400" i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0187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51A2F7-DA1D-449F-93C0-037A649495F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2400" y="76200"/>
            <a:ext cx="1165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"/>
            <a:r>
              <a:rPr lang="en-IN" sz="2800" b="1" dirty="0" smtClean="0">
                <a:solidFill>
                  <a:srgbClr val="000066"/>
                </a:solidFill>
                <a:latin typeface="Arial Rounded MT Bold" panose="020F0704030504030204" pitchFamily="34" charset="0"/>
              </a:rPr>
              <a:t>Strategy for Sunflower</a:t>
            </a:r>
            <a:endParaRPr lang="en-US" sz="2800" b="1" dirty="0">
              <a:solidFill>
                <a:srgbClr val="000066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="" xmlns:p14="http://schemas.microsoft.com/office/powerpoint/2010/main" val="2980375395"/>
              </p:ext>
            </p:extLst>
          </p:nvPr>
        </p:nvGraphicFramePr>
        <p:xfrm>
          <a:off x="457200" y="914400"/>
          <a:ext cx="112776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49617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046480774"/>
              </p:ext>
            </p:extLst>
          </p:nvPr>
        </p:nvGraphicFramePr>
        <p:xfrm>
          <a:off x="381000" y="761999"/>
          <a:ext cx="11506200" cy="584642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75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65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9444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60485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6535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2849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379314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452212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10" dirty="0"/>
                        <a:t>State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20" dirty="0"/>
                        <a:t>Area</a:t>
                      </a:r>
                      <a:endParaRPr sz="2000" dirty="0">
                        <a:latin typeface="Arial Narrow"/>
                        <a:cs typeface="Arial Narrow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10" dirty="0"/>
                        <a:t>Production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10" dirty="0"/>
                        <a:t>Yield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10" dirty="0"/>
                        <a:t>Challenges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10" dirty="0"/>
                        <a:t>Interventions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592136">
                <a:tc gridSpan="2">
                  <a:txBody>
                    <a:bodyPr/>
                    <a:lstStyle/>
                    <a:p>
                      <a:pPr marL="90805" marR="374015">
                        <a:lnSpc>
                          <a:spcPts val="1900"/>
                        </a:lnSpc>
                        <a:spcBef>
                          <a:spcPts val="445"/>
                        </a:spcBef>
                      </a:pPr>
                      <a:r>
                        <a:rPr sz="1600" spc="-10" dirty="0"/>
                        <a:t>Punjab Haryana Rajasthan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5651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910"/>
                        </a:lnSpc>
                        <a:spcBef>
                          <a:spcPts val="365"/>
                        </a:spcBef>
                      </a:pPr>
                      <a:r>
                        <a:rPr sz="1600" spc="-20" dirty="0"/>
                        <a:t>17.5</a:t>
                      </a:r>
                      <a:endParaRPr sz="1600"/>
                    </a:p>
                    <a:p>
                      <a:pPr marL="90805">
                        <a:lnSpc>
                          <a:spcPts val="1910"/>
                        </a:lnSpc>
                      </a:pPr>
                      <a:r>
                        <a:rPr sz="1600" spc="-10" dirty="0"/>
                        <a:t>(13.4%)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dirty="0"/>
                        <a:t>13.4</a:t>
                      </a:r>
                      <a:r>
                        <a:rPr sz="1600" spc="-25" dirty="0"/>
                        <a:t> </a:t>
                      </a:r>
                      <a:r>
                        <a:rPr sz="1600" spc="-10" dirty="0"/>
                        <a:t>(17.1%)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/>
                        <a:t>585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377190" indent="-286385">
                        <a:lnSpc>
                          <a:spcPts val="1910"/>
                        </a:lnSpc>
                        <a:spcBef>
                          <a:spcPts val="365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spc="-10" dirty="0"/>
                        <a:t>Whitefly</a:t>
                      </a:r>
                      <a:endParaRPr sz="1600" dirty="0"/>
                    </a:p>
                    <a:p>
                      <a:pPr marL="377190" indent="-286385">
                        <a:lnSpc>
                          <a:spcPts val="1895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Leaf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curl</a:t>
                      </a:r>
                      <a:r>
                        <a:rPr sz="1600" spc="-15" dirty="0"/>
                        <a:t> </a:t>
                      </a:r>
                      <a:r>
                        <a:rPr sz="1600" spc="-20" dirty="0"/>
                        <a:t>Virus</a:t>
                      </a:r>
                      <a:endParaRPr sz="1600" dirty="0"/>
                    </a:p>
                    <a:p>
                      <a:pPr marL="376555" marR="217170" indent="-285750">
                        <a:lnSpc>
                          <a:spcPts val="1900"/>
                        </a:lnSpc>
                        <a:spcBef>
                          <a:spcPts val="70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Pink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boll</a:t>
                      </a:r>
                      <a:r>
                        <a:rPr sz="1600" spc="-15" dirty="0"/>
                        <a:t> </a:t>
                      </a:r>
                      <a:r>
                        <a:rPr sz="1600" spc="-20" dirty="0"/>
                        <a:t>worm </a:t>
                      </a:r>
                      <a:r>
                        <a:rPr sz="1600" spc="-10" dirty="0"/>
                        <a:t>(PBW)</a:t>
                      </a:r>
                      <a:endParaRPr sz="1600" dirty="0"/>
                    </a:p>
                    <a:p>
                      <a:pPr marL="377190" indent="-286385">
                        <a:lnSpc>
                          <a:spcPts val="1830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Soil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crusting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236220" indent="-145415">
                        <a:lnSpc>
                          <a:spcPts val="1910"/>
                        </a:lnSpc>
                        <a:spcBef>
                          <a:spcPts val="365"/>
                        </a:spcBef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sz="1600" dirty="0"/>
                        <a:t>Use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of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virus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tolerant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hybrids</a:t>
                      </a:r>
                      <a:endParaRPr sz="1600" dirty="0"/>
                    </a:p>
                    <a:p>
                      <a:pPr marL="236220" marR="88900" indent="-144780">
                        <a:lnSpc>
                          <a:spcPts val="1900"/>
                        </a:lnSpc>
                        <a:spcBef>
                          <a:spcPts val="70"/>
                        </a:spcBef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sz="1600" dirty="0"/>
                        <a:t>Monitoring/</a:t>
                      </a:r>
                      <a:r>
                        <a:rPr sz="1600" spc="-40" dirty="0"/>
                        <a:t> </a:t>
                      </a:r>
                      <a:r>
                        <a:rPr sz="1600" dirty="0"/>
                        <a:t>mating</a:t>
                      </a:r>
                      <a:r>
                        <a:rPr sz="1600" spc="-40" dirty="0"/>
                        <a:t> </a:t>
                      </a:r>
                      <a:r>
                        <a:rPr sz="1600" spc="-10" dirty="0"/>
                        <a:t>disruption </a:t>
                      </a:r>
                      <a:r>
                        <a:rPr sz="1600" dirty="0"/>
                        <a:t>technique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for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PBW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near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ginneries/ </a:t>
                      </a:r>
                      <a:r>
                        <a:rPr sz="1600" dirty="0"/>
                        <a:t>oil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extraction</a:t>
                      </a:r>
                      <a:r>
                        <a:rPr sz="1600" spc="-20" dirty="0"/>
                        <a:t> units</a:t>
                      </a:r>
                      <a:endParaRPr sz="1600" dirty="0"/>
                    </a:p>
                    <a:p>
                      <a:pPr marL="236220" indent="-145415">
                        <a:lnSpc>
                          <a:spcPts val="1830"/>
                        </a:lnSpc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sz="1600" dirty="0"/>
                        <a:t>ETL</a:t>
                      </a:r>
                      <a:r>
                        <a:rPr sz="1600" spc="-65" dirty="0"/>
                        <a:t> </a:t>
                      </a:r>
                      <a:r>
                        <a:rPr sz="1600" dirty="0"/>
                        <a:t>based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neem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&amp;</a:t>
                      </a:r>
                      <a:r>
                        <a:rPr sz="1600" spc="-10" dirty="0"/>
                        <a:t> pesticide</a:t>
                      </a:r>
                      <a:endParaRPr sz="1600" dirty="0"/>
                    </a:p>
                    <a:p>
                      <a:pPr marL="236220" marR="164465">
                        <a:lnSpc>
                          <a:spcPts val="1900"/>
                        </a:lnSpc>
                        <a:spcBef>
                          <a:spcPts val="65"/>
                        </a:spcBef>
                      </a:pPr>
                      <a:r>
                        <a:rPr lang="en-US" sz="1600" dirty="0" smtClean="0"/>
                        <a:t>A</a:t>
                      </a:r>
                      <a:r>
                        <a:rPr sz="1600" dirty="0" smtClean="0"/>
                        <a:t>pplication</a:t>
                      </a:r>
                      <a:r>
                        <a:rPr sz="1600" spc="-40" dirty="0" smtClean="0"/>
                        <a:t> </a:t>
                      </a:r>
                      <a:r>
                        <a:rPr sz="1600" dirty="0"/>
                        <a:t>(pheromone</a:t>
                      </a:r>
                      <a:r>
                        <a:rPr sz="1600" spc="-40" dirty="0"/>
                        <a:t> </a:t>
                      </a:r>
                      <a:r>
                        <a:rPr sz="1600" dirty="0"/>
                        <a:t>traps</a:t>
                      </a:r>
                      <a:r>
                        <a:rPr sz="1600" spc="-25" dirty="0"/>
                        <a:t> </a:t>
                      </a:r>
                      <a:r>
                        <a:rPr sz="1600" spc="-20" dirty="0"/>
                        <a:t>2/ac, </a:t>
                      </a:r>
                      <a:r>
                        <a:rPr sz="1600" dirty="0"/>
                        <a:t>ETL</a:t>
                      </a:r>
                      <a:r>
                        <a:rPr sz="1600" spc="-70" dirty="0"/>
                        <a:t> </a:t>
                      </a:r>
                      <a:r>
                        <a:rPr sz="1600" dirty="0"/>
                        <a:t>10%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flower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damage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or</a:t>
                      </a:r>
                      <a:r>
                        <a:rPr sz="1600" spc="-15" dirty="0"/>
                        <a:t> </a:t>
                      </a:r>
                      <a:r>
                        <a:rPr sz="1600" spc="-20" dirty="0"/>
                        <a:t>boll </a:t>
                      </a:r>
                      <a:r>
                        <a:rPr sz="1600" spc="-10" dirty="0"/>
                        <a:t>damage)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36075">
                <a:tc gridSpan="2">
                  <a:txBody>
                    <a:bodyPr/>
                    <a:lstStyle/>
                    <a:p>
                      <a:pPr marL="90805">
                        <a:lnSpc>
                          <a:spcPts val="1870"/>
                        </a:lnSpc>
                        <a:spcBef>
                          <a:spcPts val="355"/>
                        </a:spcBef>
                      </a:pPr>
                      <a:r>
                        <a:rPr sz="1600" spc="-10" dirty="0"/>
                        <a:t>Gujarat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50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 marR="0" indent="0" algn="l" defTabSz="914400" rtl="0" eaLnBrk="1" fontAlgn="auto" latinLnBrk="0" hangingPunct="1">
                        <a:lnSpc>
                          <a:spcPts val="187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spc="-20" dirty="0" smtClean="0"/>
                        <a:t>23.9</a:t>
                      </a:r>
                      <a:r>
                        <a:rPr lang="en-US" sz="1600" spc="-20" dirty="0" smtClean="0"/>
                        <a:t> </a:t>
                      </a:r>
                      <a:r>
                        <a:rPr lang="en-IN" sz="1600" spc="-10" dirty="0" smtClean="0"/>
                        <a:t>(18.4%)</a:t>
                      </a:r>
                      <a:endParaRPr lang="en-IN" sz="1600" dirty="0" smtClean="0"/>
                    </a:p>
                    <a:p>
                      <a:pPr marL="90805">
                        <a:lnSpc>
                          <a:spcPts val="1870"/>
                        </a:lnSpc>
                        <a:spcBef>
                          <a:spcPts val="355"/>
                        </a:spcBef>
                      </a:pP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90805" marR="0" indent="0" algn="l" defTabSz="914400" rtl="0" eaLnBrk="1" fontAlgn="auto" latinLnBrk="0" hangingPunct="1">
                        <a:lnSpc>
                          <a:spcPts val="187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spc="-20" dirty="0" smtClean="0"/>
                        <a:t>81.7</a:t>
                      </a:r>
                      <a:r>
                        <a:rPr lang="en-US" sz="1600" spc="-20" dirty="0" smtClean="0"/>
                        <a:t> </a:t>
                      </a:r>
                      <a:r>
                        <a:rPr lang="en-IN" sz="1600" spc="-10" dirty="0" smtClean="0"/>
                        <a:t>(23.1%)</a:t>
                      </a:r>
                      <a:endParaRPr lang="en-IN" sz="1600" dirty="0" smtClean="0"/>
                    </a:p>
                    <a:p>
                      <a:pPr marL="90805">
                        <a:lnSpc>
                          <a:spcPts val="1870"/>
                        </a:lnSpc>
                        <a:spcBef>
                          <a:spcPts val="355"/>
                        </a:spcBef>
                      </a:pP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70"/>
                        </a:lnSpc>
                        <a:spcBef>
                          <a:spcPts val="355"/>
                        </a:spcBef>
                      </a:pPr>
                      <a:r>
                        <a:rPr sz="1600" spc="-25" dirty="0"/>
                        <a:t>577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70"/>
                        </a:lnSpc>
                        <a:spcBef>
                          <a:spcPts val="355"/>
                        </a:spcBef>
                      </a:pPr>
                      <a:r>
                        <a:rPr sz="1600" dirty="0"/>
                        <a:t>Pink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boll</a:t>
                      </a:r>
                      <a:r>
                        <a:rPr sz="1600" spc="-15" dirty="0"/>
                        <a:t> </a:t>
                      </a:r>
                      <a:r>
                        <a:rPr sz="1600" spc="-20" dirty="0"/>
                        <a:t>worm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236220" indent="-145415">
                        <a:lnSpc>
                          <a:spcPts val="1910"/>
                        </a:lnSpc>
                        <a:spcBef>
                          <a:spcPts val="355"/>
                        </a:spcBef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lang="en-US" sz="1600" dirty="0" smtClean="0"/>
                        <a:t>Use</a:t>
                      </a:r>
                      <a:r>
                        <a:rPr lang="en-US" sz="1600" spc="-30" dirty="0" smtClean="0"/>
                        <a:t> </a:t>
                      </a:r>
                      <a:r>
                        <a:rPr lang="en-US" sz="1600" dirty="0" smtClean="0"/>
                        <a:t>of</a:t>
                      </a:r>
                      <a:r>
                        <a:rPr lang="en-US" sz="1600" spc="-20" dirty="0" smtClean="0"/>
                        <a:t> </a:t>
                      </a:r>
                      <a:r>
                        <a:rPr lang="en-US" sz="1600" dirty="0" smtClean="0"/>
                        <a:t>early</a:t>
                      </a:r>
                      <a:r>
                        <a:rPr lang="en-US" sz="1600" spc="-25" dirty="0" smtClean="0"/>
                        <a:t> </a:t>
                      </a:r>
                      <a:r>
                        <a:rPr lang="en-US" sz="1600" dirty="0" smtClean="0"/>
                        <a:t>maturing</a:t>
                      </a:r>
                      <a:r>
                        <a:rPr lang="en-US" sz="1600" spc="-20" dirty="0" smtClean="0"/>
                        <a:t> </a:t>
                      </a:r>
                      <a:r>
                        <a:rPr lang="en-US" sz="1600" spc="-10" dirty="0" smtClean="0"/>
                        <a:t>hybrids</a:t>
                      </a:r>
                      <a:endParaRPr lang="en-US" sz="1600" dirty="0" smtClean="0"/>
                    </a:p>
                    <a:p>
                      <a:pPr marL="236220" indent="-145415">
                        <a:lnSpc>
                          <a:spcPts val="1895"/>
                        </a:lnSpc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lang="en-US" sz="1600" dirty="0" smtClean="0"/>
                        <a:t>PBW</a:t>
                      </a:r>
                      <a:r>
                        <a:rPr lang="en-US" sz="1600" spc="-5" dirty="0" smtClean="0"/>
                        <a:t> </a:t>
                      </a:r>
                      <a:r>
                        <a:rPr lang="en-US" sz="1600" spc="-10" dirty="0" smtClean="0"/>
                        <a:t>management</a:t>
                      </a:r>
                      <a:endParaRPr lang="en-US" sz="1600" dirty="0" smtClean="0"/>
                    </a:p>
                    <a:p>
                      <a:pPr marL="236220" marR="155575" indent="-144780">
                        <a:lnSpc>
                          <a:spcPts val="1920"/>
                        </a:lnSpc>
                        <a:spcBef>
                          <a:spcPts val="55"/>
                        </a:spcBef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lang="en-US" sz="1600" dirty="0" smtClean="0"/>
                        <a:t>Promotion</a:t>
                      </a:r>
                      <a:r>
                        <a:rPr lang="en-US" sz="1600" spc="-45" dirty="0" smtClean="0"/>
                        <a:t> </a:t>
                      </a:r>
                      <a:r>
                        <a:rPr lang="en-US" sz="1600" dirty="0" smtClean="0"/>
                        <a:t>of</a:t>
                      </a:r>
                      <a:r>
                        <a:rPr lang="en-US" sz="1600" spc="-35" dirty="0" smtClean="0"/>
                        <a:t> </a:t>
                      </a:r>
                      <a:r>
                        <a:rPr lang="en-US" sz="1600" dirty="0" err="1" smtClean="0"/>
                        <a:t>Herbaceum</a:t>
                      </a:r>
                      <a:r>
                        <a:rPr lang="en-US" sz="1600" spc="-35" dirty="0" smtClean="0"/>
                        <a:t> </a:t>
                      </a:r>
                      <a:r>
                        <a:rPr lang="en-US" sz="1600" dirty="0" smtClean="0"/>
                        <a:t>cotton</a:t>
                      </a:r>
                      <a:r>
                        <a:rPr lang="en-US" sz="1600" spc="-30" dirty="0" smtClean="0"/>
                        <a:t> </a:t>
                      </a:r>
                      <a:r>
                        <a:rPr lang="en-US" sz="1600" spc="-25" dirty="0" smtClean="0"/>
                        <a:t>in </a:t>
                      </a:r>
                      <a:r>
                        <a:rPr lang="en-US" sz="1600" dirty="0" smtClean="0"/>
                        <a:t>north</a:t>
                      </a:r>
                      <a:r>
                        <a:rPr lang="en-US" sz="1600" spc="-25" dirty="0" smtClean="0"/>
                        <a:t> </a:t>
                      </a:r>
                      <a:r>
                        <a:rPr lang="en-US" sz="1600" spc="-10" dirty="0" smtClean="0"/>
                        <a:t>Gujarat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10554">
                <a:tc gridSpan="2">
                  <a:txBody>
                    <a:bodyPr/>
                    <a:lstStyle/>
                    <a:p>
                      <a:pPr marL="90805">
                        <a:lnSpc>
                          <a:spcPts val="1870"/>
                        </a:lnSpc>
                        <a:spcBef>
                          <a:spcPts val="350"/>
                        </a:spcBef>
                      </a:pPr>
                      <a:r>
                        <a:rPr sz="1600" spc="-25" dirty="0"/>
                        <a:t>MP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44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 marR="0" indent="0" algn="l" defTabSz="914400" rtl="0" eaLnBrk="1" fontAlgn="auto" latinLnBrk="0" hangingPunct="1">
                        <a:lnSpc>
                          <a:spcPts val="187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spc="-25" dirty="0" smtClean="0"/>
                        <a:t>6.0</a:t>
                      </a:r>
                      <a:r>
                        <a:rPr lang="en-US" sz="1600" spc="-25" dirty="0" smtClean="0"/>
                        <a:t> </a:t>
                      </a:r>
                      <a:r>
                        <a:rPr lang="en-IN" sz="1600" spc="-10" dirty="0" smtClean="0"/>
                        <a:t>(4.7%)</a:t>
                      </a:r>
                      <a:endParaRPr lang="en-IN" sz="1600" dirty="0" smtClean="0"/>
                    </a:p>
                    <a:p>
                      <a:pPr marL="90805">
                        <a:lnSpc>
                          <a:spcPts val="1870"/>
                        </a:lnSpc>
                        <a:spcBef>
                          <a:spcPts val="350"/>
                        </a:spcBef>
                      </a:pP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L="90805" marR="0" indent="0" algn="l" defTabSz="914400" rtl="0" eaLnBrk="1" fontAlgn="auto" latinLnBrk="0" hangingPunct="1">
                        <a:lnSpc>
                          <a:spcPts val="187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spc="-20" dirty="0" smtClean="0"/>
                        <a:t>14.9</a:t>
                      </a:r>
                      <a:r>
                        <a:rPr lang="en-US" sz="1600" spc="-20" dirty="0" smtClean="0"/>
                        <a:t> </a:t>
                      </a:r>
                      <a:r>
                        <a:rPr lang="en-IN" sz="1600" spc="-10" dirty="0" smtClean="0"/>
                        <a:t>(4.3%)</a:t>
                      </a:r>
                      <a:endParaRPr lang="en-IN" sz="1600" dirty="0" smtClean="0"/>
                    </a:p>
                    <a:p>
                      <a:pPr marL="90805">
                        <a:lnSpc>
                          <a:spcPts val="1870"/>
                        </a:lnSpc>
                        <a:spcBef>
                          <a:spcPts val="350"/>
                        </a:spcBef>
                      </a:pP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70"/>
                        </a:lnSpc>
                        <a:spcBef>
                          <a:spcPts val="350"/>
                        </a:spcBef>
                      </a:pPr>
                      <a:r>
                        <a:rPr sz="1600" spc="-25" dirty="0"/>
                        <a:t>416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70"/>
                        </a:lnSpc>
                        <a:spcBef>
                          <a:spcPts val="350"/>
                        </a:spcBef>
                      </a:pPr>
                      <a:r>
                        <a:rPr sz="1600" dirty="0"/>
                        <a:t>Sustain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the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 smtClean="0"/>
                        <a:t>organic</a:t>
                      </a:r>
                      <a:r>
                        <a:rPr lang="en-US" sz="1600" spc="-10" dirty="0" smtClean="0"/>
                        <a:t> </a:t>
                      </a:r>
                    </a:p>
                    <a:p>
                      <a:pPr marL="90805" marR="0" indent="0" algn="l" defTabSz="914400" rtl="0" eaLnBrk="1" fontAlgn="auto" latinLnBrk="0" hangingPunct="1">
                        <a:lnSpc>
                          <a:spcPts val="187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/>
                        <a:t>cotton</a:t>
                      </a:r>
                      <a:r>
                        <a:rPr lang="en-IN" sz="1600" spc="-25" dirty="0" smtClean="0"/>
                        <a:t> </a:t>
                      </a:r>
                      <a:r>
                        <a:rPr lang="en-IN" sz="1600" dirty="0" smtClean="0"/>
                        <a:t>value</a:t>
                      </a:r>
                      <a:r>
                        <a:rPr lang="en-IN" sz="1600" spc="-20" dirty="0" smtClean="0"/>
                        <a:t> chain</a:t>
                      </a:r>
                      <a:endParaRPr lang="en-IN" sz="1600" dirty="0" smtClean="0">
                        <a:latin typeface="Arial Narrow"/>
                        <a:cs typeface="Arial Narrow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L="236220" indent="-145415">
                        <a:lnSpc>
                          <a:spcPts val="1870"/>
                        </a:lnSpc>
                        <a:spcBef>
                          <a:spcPts val="350"/>
                        </a:spcBef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sz="1600" dirty="0"/>
                        <a:t>Certification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&amp;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quality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input</a:t>
                      </a:r>
                      <a:r>
                        <a:rPr sz="1600" spc="-25" dirty="0"/>
                        <a:t> </a:t>
                      </a:r>
                      <a:r>
                        <a:rPr sz="1600" spc="-10" dirty="0" smtClean="0"/>
                        <a:t>supply</a:t>
                      </a:r>
                      <a:endParaRPr lang="en-US" sz="1600" spc="-10" dirty="0" smtClean="0"/>
                    </a:p>
                    <a:p>
                      <a:pPr marL="236220" marR="0" indent="-145415" algn="l" defTabSz="914400" rtl="0" eaLnBrk="1" fontAlgn="auto" latinLnBrk="0" hangingPunct="1">
                        <a:lnSpc>
                          <a:spcPts val="187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>
                          <a:tab pos="236220" algn="l"/>
                        </a:tabLst>
                        <a:defRPr/>
                      </a:pPr>
                      <a:r>
                        <a:rPr lang="en-IN" sz="1600" dirty="0" smtClean="0"/>
                        <a:t>Promotion</a:t>
                      </a:r>
                      <a:r>
                        <a:rPr lang="en-IN" sz="1600" spc="-25" dirty="0" smtClean="0"/>
                        <a:t> </a:t>
                      </a:r>
                      <a:r>
                        <a:rPr lang="en-IN" sz="1600" dirty="0" smtClean="0"/>
                        <a:t>of</a:t>
                      </a:r>
                      <a:r>
                        <a:rPr lang="en-IN" sz="1600" spc="-25" dirty="0" smtClean="0"/>
                        <a:t> </a:t>
                      </a:r>
                      <a:r>
                        <a:rPr lang="en-IN" sz="1600" dirty="0" smtClean="0"/>
                        <a:t>ELS</a:t>
                      </a:r>
                      <a:r>
                        <a:rPr lang="en-IN" sz="1600" spc="-20" dirty="0" smtClean="0"/>
                        <a:t> </a:t>
                      </a:r>
                      <a:r>
                        <a:rPr lang="en-IN" sz="1600" spc="-10" dirty="0" smtClean="0"/>
                        <a:t>cotton</a:t>
                      </a:r>
                      <a:endParaRPr lang="en-IN" sz="1600" dirty="0" smtClean="0">
                        <a:latin typeface="Arial Narrow"/>
                        <a:cs typeface="Arial Narrow"/>
                      </a:endParaRPr>
                    </a:p>
                  </a:txBody>
                  <a:tcPr marL="0" marR="0" marT="4445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979570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/>
                        <a:t>Maharashtra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910"/>
                        </a:lnSpc>
                        <a:spcBef>
                          <a:spcPts val="365"/>
                        </a:spcBef>
                      </a:pPr>
                      <a:r>
                        <a:rPr sz="1600" spc="-20" dirty="0"/>
                        <a:t>44.1</a:t>
                      </a:r>
                      <a:endParaRPr sz="1600" dirty="0"/>
                    </a:p>
                    <a:p>
                      <a:pPr marL="90805">
                        <a:lnSpc>
                          <a:spcPts val="1910"/>
                        </a:lnSpc>
                      </a:pPr>
                      <a:r>
                        <a:rPr sz="1600" spc="-10" dirty="0"/>
                        <a:t>(33.8%)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910"/>
                        </a:lnSpc>
                        <a:spcBef>
                          <a:spcPts val="365"/>
                        </a:spcBef>
                      </a:pPr>
                      <a:r>
                        <a:rPr sz="1600" spc="-20" dirty="0"/>
                        <a:t>80.9</a:t>
                      </a:r>
                      <a:endParaRPr sz="1600"/>
                    </a:p>
                    <a:p>
                      <a:pPr marL="90805">
                        <a:lnSpc>
                          <a:spcPts val="1910"/>
                        </a:lnSpc>
                      </a:pPr>
                      <a:r>
                        <a:rPr sz="1600" spc="-10" dirty="0"/>
                        <a:t>(23.0%)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u="sng" spc="-25" dirty="0">
                          <a:uFill>
                            <a:solidFill>
                              <a:srgbClr val="C00000"/>
                            </a:solidFill>
                          </a:uFill>
                        </a:rPr>
                        <a:t>312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 rowSpan="3">
                  <a:txBody>
                    <a:bodyPr/>
                    <a:lstStyle/>
                    <a:p>
                      <a:pPr marL="377190" indent="-286385">
                        <a:lnSpc>
                          <a:spcPts val="1910"/>
                        </a:lnSpc>
                        <a:spcBef>
                          <a:spcPts val="365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Boll</a:t>
                      </a:r>
                      <a:r>
                        <a:rPr sz="1600" spc="-25" dirty="0"/>
                        <a:t> rot</a:t>
                      </a:r>
                      <a:endParaRPr sz="1600" dirty="0"/>
                    </a:p>
                    <a:p>
                      <a:pPr marL="377190" indent="-286385">
                        <a:lnSpc>
                          <a:spcPts val="1895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Pink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bollworm</a:t>
                      </a:r>
                      <a:endParaRPr sz="1600" dirty="0"/>
                    </a:p>
                    <a:p>
                      <a:pPr marL="376555" marR="120650" indent="-285750">
                        <a:lnSpc>
                          <a:spcPts val="1900"/>
                        </a:lnSpc>
                        <a:spcBef>
                          <a:spcPts val="70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Low</a:t>
                      </a:r>
                      <a:r>
                        <a:rPr sz="1600" spc="-10" dirty="0"/>
                        <a:t> productivity </a:t>
                      </a:r>
                      <a:r>
                        <a:rPr sz="1600" dirty="0"/>
                        <a:t>in</a:t>
                      </a:r>
                      <a:r>
                        <a:rPr sz="1600" spc="-35" dirty="0"/>
                        <a:t> </a:t>
                      </a:r>
                      <a:r>
                        <a:rPr sz="1600" dirty="0"/>
                        <a:t>rainfed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shallow soils</a:t>
                      </a:r>
                      <a:endParaRPr sz="1600" dirty="0"/>
                    </a:p>
                    <a:p>
                      <a:pPr marL="377190" indent="-286385">
                        <a:lnSpc>
                          <a:spcPct val="100000"/>
                        </a:lnSpc>
                        <a:spcBef>
                          <a:spcPts val="25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Poor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soil</a:t>
                      </a:r>
                      <a:r>
                        <a:rPr sz="1600" spc="-15" dirty="0"/>
                        <a:t> </a:t>
                      </a:r>
                      <a:r>
                        <a:rPr sz="1600" spc="-10" dirty="0"/>
                        <a:t>health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 rowSpan="3">
                  <a:txBody>
                    <a:bodyPr/>
                    <a:lstStyle/>
                    <a:p>
                      <a:pPr marL="236220" marR="321945" indent="-236220">
                        <a:lnSpc>
                          <a:spcPts val="1910"/>
                        </a:lnSpc>
                        <a:spcBef>
                          <a:spcPts val="365"/>
                        </a:spcBef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sz="1600" dirty="0"/>
                        <a:t>High</a:t>
                      </a:r>
                      <a:r>
                        <a:rPr sz="1600" spc="-35" dirty="0"/>
                        <a:t> </a:t>
                      </a:r>
                      <a:r>
                        <a:rPr sz="1600" dirty="0"/>
                        <a:t>density</a:t>
                      </a:r>
                      <a:r>
                        <a:rPr sz="1600" spc="-35" dirty="0"/>
                        <a:t> </a:t>
                      </a:r>
                      <a:r>
                        <a:rPr sz="1600" dirty="0"/>
                        <a:t>planting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system</a:t>
                      </a:r>
                      <a:endParaRPr sz="1600" dirty="0"/>
                    </a:p>
                    <a:p>
                      <a:pPr marR="292735" algn="ctr">
                        <a:lnSpc>
                          <a:spcPts val="1895"/>
                        </a:lnSpc>
                      </a:pPr>
                      <a:r>
                        <a:rPr sz="1600" dirty="0"/>
                        <a:t>(compact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Bt</a:t>
                      </a:r>
                      <a:r>
                        <a:rPr sz="1600" spc="-10" dirty="0"/>
                        <a:t> varieties/hybrids)</a:t>
                      </a:r>
                      <a:endParaRPr sz="1600" dirty="0"/>
                    </a:p>
                    <a:p>
                      <a:pPr marL="236220" marR="110489" indent="-144780">
                        <a:lnSpc>
                          <a:spcPts val="1900"/>
                        </a:lnSpc>
                        <a:spcBef>
                          <a:spcPts val="70"/>
                        </a:spcBef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sz="1600" dirty="0"/>
                        <a:t>Boll</a:t>
                      </a:r>
                      <a:r>
                        <a:rPr sz="1600" spc="-50" dirty="0"/>
                        <a:t> </a:t>
                      </a:r>
                      <a:r>
                        <a:rPr sz="1600" dirty="0"/>
                        <a:t>rot</a:t>
                      </a:r>
                      <a:r>
                        <a:rPr sz="1600" spc="-35" dirty="0"/>
                        <a:t> </a:t>
                      </a:r>
                      <a:r>
                        <a:rPr sz="1600" dirty="0"/>
                        <a:t>management</a:t>
                      </a:r>
                      <a:r>
                        <a:rPr sz="1600" spc="-35" dirty="0"/>
                        <a:t> </a:t>
                      </a:r>
                      <a:r>
                        <a:rPr sz="1600" dirty="0"/>
                        <a:t>(between</a:t>
                      </a:r>
                      <a:r>
                        <a:rPr sz="1600" spc="-40" dirty="0"/>
                        <a:t> </a:t>
                      </a:r>
                      <a:r>
                        <a:rPr sz="1600" spc="-25" dirty="0"/>
                        <a:t>60- </a:t>
                      </a:r>
                      <a:r>
                        <a:rPr sz="1600" dirty="0"/>
                        <a:t>90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days,</a:t>
                      </a:r>
                      <a:r>
                        <a:rPr sz="1600" spc="-5" dirty="0"/>
                        <a:t> </a:t>
                      </a:r>
                      <a:r>
                        <a:rPr sz="1600" spc="-10" dirty="0"/>
                        <a:t>prophylactic)</a:t>
                      </a:r>
                      <a:endParaRPr sz="1600" dirty="0"/>
                    </a:p>
                    <a:p>
                      <a:pPr marL="236220" indent="-145415">
                        <a:lnSpc>
                          <a:spcPts val="1830"/>
                        </a:lnSpc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sz="1600" dirty="0"/>
                        <a:t>IPM/IRM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of</a:t>
                      </a:r>
                      <a:r>
                        <a:rPr sz="1600" spc="-10" dirty="0"/>
                        <a:t> </a:t>
                      </a:r>
                      <a:r>
                        <a:rPr sz="1600" dirty="0"/>
                        <a:t>Jassid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&amp;</a:t>
                      </a:r>
                      <a:r>
                        <a:rPr sz="1600" spc="-10" dirty="0"/>
                        <a:t> </a:t>
                      </a:r>
                      <a:r>
                        <a:rPr sz="1600" spc="-25" dirty="0"/>
                        <a:t>PBW</a:t>
                      </a:r>
                      <a:endParaRPr sz="1600" dirty="0"/>
                    </a:p>
                    <a:p>
                      <a:pPr marL="236220" marR="103505" indent="-144780">
                        <a:lnSpc>
                          <a:spcPts val="1900"/>
                        </a:lnSpc>
                        <a:spcBef>
                          <a:spcPts val="175"/>
                        </a:spcBef>
                        <a:buFont typeface="Arial"/>
                        <a:buChar char="•"/>
                        <a:tabLst>
                          <a:tab pos="236220" algn="l"/>
                        </a:tabLst>
                      </a:pPr>
                      <a:r>
                        <a:rPr sz="1600" dirty="0"/>
                        <a:t>Promotion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of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long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linted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desi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cotton varieties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7803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90805" marR="323215">
                        <a:lnSpc>
                          <a:spcPct val="101400"/>
                        </a:lnSpc>
                        <a:spcBef>
                          <a:spcPts val="225"/>
                        </a:spcBef>
                      </a:pPr>
                      <a:r>
                        <a:rPr sz="1400" spc="-200" dirty="0"/>
                        <a:t>APY</a:t>
                      </a:r>
                      <a:r>
                        <a:rPr sz="1400" spc="-60" dirty="0"/>
                        <a:t> </a:t>
                      </a:r>
                      <a:r>
                        <a:rPr sz="1400" spc="-55" dirty="0"/>
                        <a:t>figures</a:t>
                      </a:r>
                      <a:r>
                        <a:rPr sz="1400" spc="-60" dirty="0"/>
                        <a:t> </a:t>
                      </a:r>
                      <a:r>
                        <a:rPr sz="1400" spc="-75" dirty="0"/>
                        <a:t>are</a:t>
                      </a:r>
                      <a:r>
                        <a:rPr sz="1400" spc="-55" dirty="0"/>
                        <a:t> </a:t>
                      </a:r>
                      <a:r>
                        <a:rPr sz="1400" spc="-95" dirty="0"/>
                        <a:t>average</a:t>
                      </a:r>
                      <a:r>
                        <a:rPr sz="1400" spc="-60" dirty="0"/>
                        <a:t> </a:t>
                      </a:r>
                      <a:r>
                        <a:rPr sz="1400" dirty="0"/>
                        <a:t>of</a:t>
                      </a:r>
                      <a:r>
                        <a:rPr sz="1400" spc="-60" dirty="0"/>
                        <a:t> </a:t>
                      </a:r>
                      <a:r>
                        <a:rPr sz="1400" spc="-30" dirty="0"/>
                        <a:t>three</a:t>
                      </a:r>
                      <a:r>
                        <a:rPr sz="1400" spc="-60" dirty="0"/>
                        <a:t> </a:t>
                      </a:r>
                      <a:r>
                        <a:rPr sz="1400" spc="-90" dirty="0"/>
                        <a:t>years</a:t>
                      </a:r>
                      <a:r>
                        <a:rPr sz="1400" spc="-55" dirty="0"/>
                        <a:t> </a:t>
                      </a:r>
                      <a:r>
                        <a:rPr sz="1400" spc="-70" dirty="0"/>
                        <a:t>(2019-</a:t>
                      </a:r>
                      <a:r>
                        <a:rPr sz="1400" spc="-65" dirty="0"/>
                        <a:t>20, </a:t>
                      </a:r>
                      <a:r>
                        <a:rPr sz="1400" spc="-25" dirty="0"/>
                        <a:t>20- </a:t>
                      </a:r>
                      <a:r>
                        <a:rPr sz="1400" spc="-65" dirty="0"/>
                        <a:t>21,</a:t>
                      </a:r>
                      <a:r>
                        <a:rPr sz="1400" spc="-75" dirty="0"/>
                        <a:t> </a:t>
                      </a:r>
                      <a:r>
                        <a:rPr sz="1400" spc="-70" dirty="0"/>
                        <a:t>21-</a:t>
                      </a:r>
                      <a:r>
                        <a:rPr sz="1400" spc="-60" dirty="0"/>
                        <a:t>22),</a:t>
                      </a:r>
                      <a:r>
                        <a:rPr sz="1400" spc="-70" dirty="0"/>
                        <a:t> </a:t>
                      </a:r>
                      <a:r>
                        <a:rPr sz="1400" spc="-254" dirty="0"/>
                        <a:t>%</a:t>
                      </a:r>
                      <a:r>
                        <a:rPr sz="1400" spc="-70" dirty="0"/>
                        <a:t> </a:t>
                      </a:r>
                      <a:r>
                        <a:rPr sz="1400" spc="-80" dirty="0"/>
                        <a:t>share</a:t>
                      </a:r>
                      <a:r>
                        <a:rPr sz="1400" spc="-70" dirty="0"/>
                        <a:t> </a:t>
                      </a:r>
                      <a:r>
                        <a:rPr sz="1400" spc="-20" dirty="0"/>
                        <a:t>in</a:t>
                      </a:r>
                      <a:r>
                        <a:rPr sz="1400" spc="-65" dirty="0"/>
                        <a:t> </a:t>
                      </a:r>
                      <a:r>
                        <a:rPr sz="1400" spc="-10" dirty="0"/>
                        <a:t>total,</a:t>
                      </a:r>
                      <a:r>
                        <a:rPr sz="1400" spc="-70" dirty="0"/>
                        <a:t> </a:t>
                      </a:r>
                      <a:r>
                        <a:rPr sz="1400" spc="-105" dirty="0"/>
                        <a:t>Area</a:t>
                      </a:r>
                      <a:r>
                        <a:rPr sz="1400" spc="-80" dirty="0"/>
                        <a:t> </a:t>
                      </a:r>
                      <a:r>
                        <a:rPr sz="1400" spc="-20" dirty="0"/>
                        <a:t>in</a:t>
                      </a:r>
                      <a:r>
                        <a:rPr sz="1400" spc="-65" dirty="0"/>
                        <a:t> </a:t>
                      </a:r>
                      <a:r>
                        <a:rPr sz="1400" spc="-55" dirty="0"/>
                        <a:t>lakh</a:t>
                      </a:r>
                      <a:r>
                        <a:rPr sz="1400" spc="-65" dirty="0"/>
                        <a:t> </a:t>
                      </a:r>
                      <a:r>
                        <a:rPr sz="1400" spc="-25" dirty="0"/>
                        <a:t>ha, </a:t>
                      </a:r>
                      <a:r>
                        <a:rPr sz="1400" spc="-110" dirty="0"/>
                        <a:t>Production</a:t>
                      </a:r>
                      <a:r>
                        <a:rPr sz="1400" spc="-60" dirty="0"/>
                        <a:t> </a:t>
                      </a:r>
                      <a:r>
                        <a:rPr sz="1400" spc="-30" dirty="0"/>
                        <a:t>in</a:t>
                      </a:r>
                      <a:r>
                        <a:rPr sz="1400" spc="-55" dirty="0"/>
                        <a:t> </a:t>
                      </a:r>
                      <a:r>
                        <a:rPr sz="1400" spc="-60" dirty="0"/>
                        <a:t>lakh</a:t>
                      </a:r>
                      <a:r>
                        <a:rPr sz="1400" spc="-50" dirty="0"/>
                        <a:t> </a:t>
                      </a:r>
                      <a:r>
                        <a:rPr sz="1400" spc="-80" dirty="0"/>
                        <a:t>bales</a:t>
                      </a:r>
                      <a:r>
                        <a:rPr sz="1400" spc="-55" dirty="0"/>
                        <a:t> </a:t>
                      </a:r>
                      <a:r>
                        <a:rPr sz="1400" spc="-70" dirty="0"/>
                        <a:t>and</a:t>
                      </a:r>
                      <a:r>
                        <a:rPr sz="1400" spc="-50" dirty="0"/>
                        <a:t> </a:t>
                      </a:r>
                      <a:r>
                        <a:rPr sz="1400" spc="-110" dirty="0"/>
                        <a:t>Yield</a:t>
                      </a:r>
                      <a:r>
                        <a:rPr sz="1400" spc="-60" dirty="0"/>
                        <a:t> </a:t>
                      </a:r>
                      <a:r>
                        <a:rPr sz="1400" spc="-30" dirty="0"/>
                        <a:t>in</a:t>
                      </a:r>
                      <a:r>
                        <a:rPr sz="1400" spc="-50" dirty="0"/>
                        <a:t> </a:t>
                      </a:r>
                      <a:r>
                        <a:rPr sz="1400" spc="-180" dirty="0"/>
                        <a:t>Kg</a:t>
                      </a:r>
                      <a:r>
                        <a:rPr sz="1400" spc="-55" dirty="0"/>
                        <a:t> </a:t>
                      </a:r>
                      <a:r>
                        <a:rPr sz="1400" spc="-10" dirty="0"/>
                        <a:t>lint/ha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285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DCD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955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DCD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3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4400" y="94371"/>
            <a:ext cx="10896600" cy="443711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3335">
              <a:spcBef>
                <a:spcPts val="100"/>
              </a:spcBef>
            </a:pPr>
            <a:r>
              <a:rPr sz="28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Cotton – State specific challenges and interventions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918528997"/>
              </p:ext>
            </p:extLst>
          </p:nvPr>
        </p:nvGraphicFramePr>
        <p:xfrm>
          <a:off x="457202" y="781051"/>
          <a:ext cx="11429997" cy="55738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962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3881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77764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99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54739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27064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38100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spc="-10" dirty="0"/>
                        <a:t>State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spc="-20" dirty="0"/>
                        <a:t>Area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spc="-10" dirty="0"/>
                        <a:t>Production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spc="-10" dirty="0"/>
                        <a:t>Yield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spc="-10" dirty="0"/>
                        <a:t>Challenges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spc="-10" dirty="0"/>
                        <a:t>Interventions</a:t>
                      </a:r>
                      <a:endParaRPr sz="2000">
                        <a:latin typeface="Arial Narrow"/>
                        <a:cs typeface="Arial Narrow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1934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10" dirty="0"/>
                        <a:t>Telangana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910"/>
                        </a:lnSpc>
                        <a:spcBef>
                          <a:spcPts val="359"/>
                        </a:spcBef>
                      </a:pPr>
                      <a:r>
                        <a:rPr sz="1600" spc="-20" dirty="0"/>
                        <a:t>21.8</a:t>
                      </a:r>
                      <a:endParaRPr sz="1600"/>
                    </a:p>
                    <a:p>
                      <a:pPr marL="90805">
                        <a:lnSpc>
                          <a:spcPts val="1910"/>
                        </a:lnSpc>
                      </a:pPr>
                      <a:r>
                        <a:rPr sz="1600" spc="-10" dirty="0"/>
                        <a:t>(16.7%)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910"/>
                        </a:lnSpc>
                        <a:spcBef>
                          <a:spcPts val="359"/>
                        </a:spcBef>
                      </a:pPr>
                      <a:r>
                        <a:rPr sz="1600" spc="-25" dirty="0"/>
                        <a:t>64</a:t>
                      </a:r>
                      <a:endParaRPr sz="1600" dirty="0"/>
                    </a:p>
                    <a:p>
                      <a:pPr marL="90805">
                        <a:lnSpc>
                          <a:spcPts val="1910"/>
                        </a:lnSpc>
                      </a:pPr>
                      <a:r>
                        <a:rPr sz="1600" spc="-10" dirty="0"/>
                        <a:t>(18.2%)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25" dirty="0"/>
                        <a:t>500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377190" marR="108585" indent="-285750">
                        <a:lnSpc>
                          <a:spcPts val="1900"/>
                        </a:lnSpc>
                        <a:spcBef>
                          <a:spcPts val="439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Low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productivity</a:t>
                      </a:r>
                      <a:r>
                        <a:rPr sz="1600" spc="-30" dirty="0"/>
                        <a:t> </a:t>
                      </a:r>
                      <a:r>
                        <a:rPr sz="1600" spc="-25" dirty="0"/>
                        <a:t>in </a:t>
                      </a:r>
                      <a:r>
                        <a:rPr sz="1600" dirty="0"/>
                        <a:t>red</a:t>
                      </a:r>
                      <a:r>
                        <a:rPr sz="1600" spc="-10" dirty="0"/>
                        <a:t> soils</a:t>
                      </a:r>
                      <a:endParaRPr sz="1600"/>
                    </a:p>
                    <a:p>
                      <a:pPr marL="377190" indent="-285750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Thrips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(dry</a:t>
                      </a:r>
                      <a:r>
                        <a:rPr sz="1600" spc="-10" dirty="0"/>
                        <a:t> </a:t>
                      </a:r>
                      <a:r>
                        <a:rPr sz="1600" dirty="0"/>
                        <a:t>spells)</a:t>
                      </a:r>
                      <a:r>
                        <a:rPr sz="1600" spc="-15" dirty="0"/>
                        <a:t> </a:t>
                      </a:r>
                      <a:r>
                        <a:rPr sz="1600" spc="-50" dirty="0"/>
                        <a:t>&amp;</a:t>
                      </a:r>
                      <a:endParaRPr sz="1600"/>
                    </a:p>
                    <a:p>
                      <a:pPr marL="377190" marR="513715">
                        <a:lnSpc>
                          <a:spcPts val="1920"/>
                        </a:lnSpc>
                      </a:pPr>
                      <a:r>
                        <a:rPr sz="1600" dirty="0"/>
                        <a:t>boll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rot</a:t>
                      </a:r>
                      <a:r>
                        <a:rPr sz="1600" spc="-15" dirty="0"/>
                        <a:t> </a:t>
                      </a:r>
                      <a:r>
                        <a:rPr sz="1600" spc="-10" dirty="0"/>
                        <a:t>(excess rains)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55879" marB="0"/>
                </a:tc>
                <a:tc>
                  <a:txBody>
                    <a:bodyPr/>
                    <a:lstStyle/>
                    <a:p>
                      <a:pPr marL="377190" marR="497205" indent="-285750">
                        <a:lnSpc>
                          <a:spcPts val="1900"/>
                        </a:lnSpc>
                        <a:spcBef>
                          <a:spcPts val="439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High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Density</a:t>
                      </a:r>
                      <a:r>
                        <a:rPr sz="1600" spc="-25" dirty="0"/>
                        <a:t> </a:t>
                      </a:r>
                      <a:r>
                        <a:rPr sz="1600" spc="-10" dirty="0"/>
                        <a:t>planting </a:t>
                      </a:r>
                      <a:r>
                        <a:rPr sz="1600" dirty="0"/>
                        <a:t>system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in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shallow</a:t>
                      </a:r>
                      <a:r>
                        <a:rPr sz="1600" spc="-15" dirty="0"/>
                        <a:t> </a:t>
                      </a:r>
                      <a:r>
                        <a:rPr sz="1600" spc="-25" dirty="0"/>
                        <a:t>to </a:t>
                      </a:r>
                      <a:r>
                        <a:rPr sz="1600" dirty="0"/>
                        <a:t>medium</a:t>
                      </a:r>
                      <a:r>
                        <a:rPr sz="1600" spc="-40" dirty="0"/>
                        <a:t> </a:t>
                      </a:r>
                      <a:r>
                        <a:rPr sz="1600" spc="-10" dirty="0"/>
                        <a:t>soils</a:t>
                      </a:r>
                      <a:endParaRPr sz="1600"/>
                    </a:p>
                    <a:p>
                      <a:pPr marL="377190" indent="-285750">
                        <a:lnSpc>
                          <a:spcPts val="1830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Crop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window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&amp;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ETL</a:t>
                      </a:r>
                      <a:r>
                        <a:rPr sz="1600" spc="-65" dirty="0"/>
                        <a:t> </a:t>
                      </a:r>
                      <a:r>
                        <a:rPr sz="1600" spc="-20" dirty="0"/>
                        <a:t>based</a:t>
                      </a:r>
                      <a:endParaRPr sz="1600"/>
                    </a:p>
                    <a:p>
                      <a:pPr marL="377190">
                        <a:lnSpc>
                          <a:spcPts val="1914"/>
                        </a:lnSpc>
                      </a:pPr>
                      <a:r>
                        <a:rPr sz="1600" dirty="0"/>
                        <a:t>sprays</a:t>
                      </a:r>
                      <a:r>
                        <a:rPr sz="1600" spc="-10" dirty="0"/>
                        <a:t> </a:t>
                      </a:r>
                      <a:r>
                        <a:rPr sz="1600" dirty="0"/>
                        <a:t>for</a:t>
                      </a:r>
                      <a:r>
                        <a:rPr sz="1600" spc="-10" dirty="0"/>
                        <a:t> </a:t>
                      </a:r>
                      <a:r>
                        <a:rPr sz="1600" dirty="0"/>
                        <a:t>boll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rot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&amp;</a:t>
                      </a:r>
                      <a:r>
                        <a:rPr sz="1600" spc="-10" dirty="0"/>
                        <a:t> </a:t>
                      </a:r>
                      <a:r>
                        <a:rPr sz="1600" spc="-25" dirty="0"/>
                        <a:t>PBW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55879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92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190" indent="-285750">
                        <a:lnSpc>
                          <a:spcPts val="1895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Pink</a:t>
                      </a:r>
                      <a:r>
                        <a:rPr sz="1600" spc="-10" dirty="0"/>
                        <a:t> bollworm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190" marR="464184" indent="-285750">
                        <a:lnSpc>
                          <a:spcPts val="1900"/>
                        </a:lnSpc>
                        <a:spcBef>
                          <a:spcPts val="55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Timely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sowing</a:t>
                      </a:r>
                      <a:r>
                        <a:rPr sz="1600" spc="-35" dirty="0"/>
                        <a:t> </a:t>
                      </a:r>
                      <a:r>
                        <a:rPr sz="1600" dirty="0"/>
                        <a:t>and</a:t>
                      </a:r>
                      <a:r>
                        <a:rPr sz="1600" spc="-35" dirty="0"/>
                        <a:t> </a:t>
                      </a:r>
                      <a:r>
                        <a:rPr sz="1600" spc="-20" dirty="0"/>
                        <a:t>crop </a:t>
                      </a:r>
                      <a:r>
                        <a:rPr sz="1600" spc="-10" dirty="0"/>
                        <a:t>termination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0258">
                <a:tc>
                  <a:txBody>
                    <a:bodyPr/>
                    <a:lstStyle/>
                    <a:p>
                      <a:pPr marL="91440" marR="466090">
                        <a:lnSpc>
                          <a:spcPts val="1900"/>
                        </a:lnSpc>
                        <a:spcBef>
                          <a:spcPts val="439"/>
                        </a:spcBef>
                      </a:pPr>
                      <a:r>
                        <a:rPr sz="1600" spc="-10" dirty="0"/>
                        <a:t>Andhra Pradesh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55879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dirty="0"/>
                        <a:t>6.0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(4.5%)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dirty="0"/>
                        <a:t>19.1</a:t>
                      </a:r>
                      <a:r>
                        <a:rPr sz="1600" spc="-25" dirty="0"/>
                        <a:t> </a:t>
                      </a:r>
                      <a:r>
                        <a:rPr sz="1600" spc="-10" dirty="0"/>
                        <a:t>(5.4%)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25" dirty="0"/>
                        <a:t>542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377190" marR="479425" indent="-285750">
                        <a:lnSpc>
                          <a:spcPts val="1900"/>
                        </a:lnSpc>
                        <a:spcBef>
                          <a:spcPts val="439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Late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season rains/cyclones</a:t>
                      </a:r>
                      <a:endParaRPr sz="1600"/>
                    </a:p>
                    <a:p>
                      <a:pPr marL="377190" indent="-285750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Sucking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pests,</a:t>
                      </a:r>
                      <a:r>
                        <a:rPr sz="1600" spc="-30" dirty="0"/>
                        <a:t> </a:t>
                      </a:r>
                      <a:r>
                        <a:rPr sz="1600" spc="-25" dirty="0"/>
                        <a:t>TSV</a:t>
                      </a:r>
                      <a:endParaRPr sz="1600"/>
                    </a:p>
                    <a:p>
                      <a:pPr marL="377190">
                        <a:lnSpc>
                          <a:spcPts val="1910"/>
                        </a:lnSpc>
                      </a:pPr>
                      <a:r>
                        <a:rPr sz="1600" spc="-10" dirty="0"/>
                        <a:t>disease</a:t>
                      </a:r>
                      <a:endParaRPr sz="1600"/>
                    </a:p>
                    <a:p>
                      <a:pPr marL="377190" indent="-28575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Pink</a:t>
                      </a:r>
                      <a:r>
                        <a:rPr sz="1600" spc="-10" dirty="0"/>
                        <a:t> bollworm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55879" marB="0"/>
                </a:tc>
                <a:tc>
                  <a:txBody>
                    <a:bodyPr/>
                    <a:lstStyle/>
                    <a:p>
                      <a:pPr marL="377190" marR="293370" indent="-285750">
                        <a:lnSpc>
                          <a:spcPts val="1900"/>
                        </a:lnSpc>
                        <a:spcBef>
                          <a:spcPts val="439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HDPS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in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rainfed</a:t>
                      </a:r>
                      <a:r>
                        <a:rPr sz="1600" spc="-15" dirty="0"/>
                        <a:t> </a:t>
                      </a:r>
                      <a:r>
                        <a:rPr sz="1600" spc="-10" dirty="0"/>
                        <a:t>shallow </a:t>
                      </a:r>
                      <a:r>
                        <a:rPr sz="1600" dirty="0"/>
                        <a:t>soils,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ICM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in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heavy</a:t>
                      </a:r>
                      <a:r>
                        <a:rPr sz="1600" spc="-15" dirty="0"/>
                        <a:t> </a:t>
                      </a:r>
                      <a:r>
                        <a:rPr sz="1600" spc="-10" dirty="0"/>
                        <a:t>soils</a:t>
                      </a:r>
                      <a:endParaRPr sz="1600"/>
                    </a:p>
                    <a:p>
                      <a:pPr marL="377190" indent="-285750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IDM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boll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rot,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leaf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spots</a:t>
                      </a:r>
                      <a:r>
                        <a:rPr sz="1600" spc="-10" dirty="0"/>
                        <a:t> </a:t>
                      </a:r>
                      <a:r>
                        <a:rPr sz="1600" spc="-25" dirty="0"/>
                        <a:t>and</a:t>
                      </a:r>
                      <a:endParaRPr sz="1600"/>
                    </a:p>
                    <a:p>
                      <a:pPr marL="377190">
                        <a:lnSpc>
                          <a:spcPts val="1910"/>
                        </a:lnSpc>
                      </a:pPr>
                      <a:r>
                        <a:rPr sz="1600" dirty="0"/>
                        <a:t>IRM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for</a:t>
                      </a:r>
                      <a:r>
                        <a:rPr sz="1600" spc="-15" dirty="0"/>
                        <a:t> </a:t>
                      </a:r>
                      <a:r>
                        <a:rPr sz="1600" spc="-25" dirty="0"/>
                        <a:t>PBW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55879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2579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25" dirty="0"/>
                        <a:t>Tamil</a:t>
                      </a:r>
                      <a:r>
                        <a:rPr sz="1600" spc="-45" dirty="0"/>
                        <a:t> </a:t>
                      </a:r>
                      <a:r>
                        <a:rPr sz="1600" spc="-20" dirty="0"/>
                        <a:t>Nadu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/>
                        <a:t>1.3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(</a:t>
                      </a:r>
                      <a:r>
                        <a:rPr sz="1600" spc="-10" dirty="0" smtClean="0"/>
                        <a:t>1.0</a:t>
                      </a:r>
                      <a:r>
                        <a:rPr lang="en-US" sz="1600" spc="-10" dirty="0" smtClean="0"/>
                        <a:t>%</a:t>
                      </a:r>
                      <a:r>
                        <a:rPr sz="1600" spc="-10" dirty="0" smtClean="0"/>
                        <a:t>)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/>
                        <a:t>3.2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(</a:t>
                      </a:r>
                      <a:r>
                        <a:rPr sz="1600" spc="-10" dirty="0" smtClean="0"/>
                        <a:t>0.9</a:t>
                      </a:r>
                      <a:r>
                        <a:rPr lang="en-US" sz="1600" spc="-10" dirty="0" smtClean="0"/>
                        <a:t>%</a:t>
                      </a:r>
                      <a:r>
                        <a:rPr sz="1600" spc="-10" dirty="0" smtClean="0"/>
                        <a:t>)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25" dirty="0"/>
                        <a:t>400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377190" marR="88265" indent="-285750">
                        <a:lnSpc>
                          <a:spcPts val="1900"/>
                        </a:lnSpc>
                        <a:spcBef>
                          <a:spcPts val="440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Stem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weevil,</a:t>
                      </a:r>
                      <a:r>
                        <a:rPr sz="1600" spc="-15" dirty="0"/>
                        <a:t> </a:t>
                      </a:r>
                      <a:r>
                        <a:rPr sz="1600" spc="-25" dirty="0"/>
                        <a:t>tea </a:t>
                      </a:r>
                      <a:r>
                        <a:rPr sz="1600" dirty="0"/>
                        <a:t>mosquito</a:t>
                      </a:r>
                      <a:r>
                        <a:rPr sz="1600" spc="-50" dirty="0"/>
                        <a:t> </a:t>
                      </a:r>
                      <a:r>
                        <a:rPr sz="1600" dirty="0"/>
                        <a:t>bug,</a:t>
                      </a:r>
                      <a:r>
                        <a:rPr sz="1600" spc="-65" dirty="0"/>
                        <a:t> </a:t>
                      </a:r>
                      <a:r>
                        <a:rPr sz="1600" spc="-10" dirty="0"/>
                        <a:t>Thrips</a:t>
                      </a:r>
                      <a:endParaRPr sz="1600"/>
                    </a:p>
                    <a:p>
                      <a:pPr marL="377190" indent="-285750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Low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productivity</a:t>
                      </a:r>
                      <a:r>
                        <a:rPr sz="1600" spc="-30" dirty="0"/>
                        <a:t> </a:t>
                      </a:r>
                      <a:r>
                        <a:rPr sz="1600" spc="-25" dirty="0"/>
                        <a:t>of</a:t>
                      </a:r>
                      <a:endParaRPr sz="1600"/>
                    </a:p>
                    <a:p>
                      <a:pPr marL="377190">
                        <a:lnSpc>
                          <a:spcPts val="1910"/>
                        </a:lnSpc>
                      </a:pPr>
                      <a:r>
                        <a:rPr sz="1600" dirty="0"/>
                        <a:t>ELS</a:t>
                      </a:r>
                      <a:r>
                        <a:rPr sz="1600" spc="-10" dirty="0"/>
                        <a:t> cotton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377190" marR="436880" indent="-285750">
                        <a:lnSpc>
                          <a:spcPts val="1900"/>
                        </a:lnSpc>
                        <a:spcBef>
                          <a:spcPts val="440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ETL</a:t>
                      </a:r>
                      <a:r>
                        <a:rPr sz="1600" spc="-60" dirty="0"/>
                        <a:t> </a:t>
                      </a:r>
                      <a:r>
                        <a:rPr sz="1600" dirty="0"/>
                        <a:t>based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sucking</a:t>
                      </a:r>
                      <a:r>
                        <a:rPr sz="1600" spc="-15" dirty="0"/>
                        <a:t> </a:t>
                      </a:r>
                      <a:r>
                        <a:rPr sz="1600" spc="-20" dirty="0"/>
                        <a:t>pest </a:t>
                      </a:r>
                      <a:r>
                        <a:rPr sz="1600" spc="-10" dirty="0"/>
                        <a:t>management</a:t>
                      </a:r>
                      <a:endParaRPr sz="1600"/>
                    </a:p>
                    <a:p>
                      <a:pPr marL="377190" indent="-285750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Mulch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cum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drip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fertigation</a:t>
                      </a:r>
                      <a:endParaRPr sz="1600"/>
                    </a:p>
                    <a:p>
                      <a:pPr marL="377190">
                        <a:lnSpc>
                          <a:spcPts val="1910"/>
                        </a:lnSpc>
                      </a:pPr>
                      <a:r>
                        <a:rPr sz="1600" dirty="0"/>
                        <a:t>technique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for</a:t>
                      </a:r>
                      <a:r>
                        <a:rPr sz="1600" spc="-20" dirty="0"/>
                        <a:t> </a:t>
                      </a:r>
                      <a:r>
                        <a:rPr sz="1600" dirty="0"/>
                        <a:t>ELS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cotton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91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10" dirty="0"/>
                        <a:t>Karnataka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dirty="0"/>
                        <a:t>7.8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(</a:t>
                      </a:r>
                      <a:r>
                        <a:rPr sz="1600" spc="-10" dirty="0" smtClean="0"/>
                        <a:t>6.0</a:t>
                      </a:r>
                      <a:r>
                        <a:rPr lang="en-US" sz="1600" spc="-10" dirty="0" smtClean="0"/>
                        <a:t>%</a:t>
                      </a:r>
                      <a:r>
                        <a:rPr sz="1600" spc="-10" dirty="0" smtClean="0"/>
                        <a:t>)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dirty="0"/>
                        <a:t>21.6</a:t>
                      </a:r>
                      <a:r>
                        <a:rPr sz="1600" spc="-25" dirty="0"/>
                        <a:t> </a:t>
                      </a:r>
                      <a:r>
                        <a:rPr sz="1600" spc="-10" dirty="0"/>
                        <a:t>(6.2%)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25" dirty="0"/>
                        <a:t>473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377190" indent="-285750">
                        <a:lnSpc>
                          <a:spcPts val="1910"/>
                        </a:lnSpc>
                        <a:spcBef>
                          <a:spcPts val="359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Mirid</a:t>
                      </a:r>
                      <a:r>
                        <a:rPr sz="1600" spc="-25" dirty="0"/>
                        <a:t> </a:t>
                      </a:r>
                      <a:r>
                        <a:rPr sz="1600" dirty="0"/>
                        <a:t>bug,</a:t>
                      </a:r>
                      <a:r>
                        <a:rPr sz="1600" spc="-20" dirty="0"/>
                        <a:t> </a:t>
                      </a:r>
                      <a:r>
                        <a:rPr sz="1600" spc="-25" dirty="0"/>
                        <a:t>PBW</a:t>
                      </a:r>
                      <a:endParaRPr sz="1600"/>
                    </a:p>
                    <a:p>
                      <a:pPr marL="377190" indent="-285750">
                        <a:lnSpc>
                          <a:spcPts val="1910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Leaf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reddening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377190" indent="-285750">
                        <a:lnSpc>
                          <a:spcPts val="1910"/>
                        </a:lnSpc>
                        <a:spcBef>
                          <a:spcPts val="359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Sucking</a:t>
                      </a:r>
                      <a:r>
                        <a:rPr sz="1600" spc="-15" dirty="0"/>
                        <a:t> </a:t>
                      </a:r>
                      <a:r>
                        <a:rPr sz="1600" dirty="0"/>
                        <a:t>pest</a:t>
                      </a:r>
                      <a:r>
                        <a:rPr sz="1600" spc="-10" dirty="0"/>
                        <a:t> management</a:t>
                      </a:r>
                      <a:endParaRPr sz="1600"/>
                    </a:p>
                    <a:p>
                      <a:pPr marL="377190" indent="-285750">
                        <a:lnSpc>
                          <a:spcPts val="1895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Nutrient</a:t>
                      </a:r>
                      <a:r>
                        <a:rPr sz="1600" spc="-40" dirty="0"/>
                        <a:t> </a:t>
                      </a:r>
                      <a:r>
                        <a:rPr sz="1600" spc="-10" dirty="0"/>
                        <a:t>management</a:t>
                      </a:r>
                      <a:endParaRPr sz="1600"/>
                    </a:p>
                    <a:p>
                      <a:pPr marL="377190" indent="-285750">
                        <a:lnSpc>
                          <a:spcPts val="1910"/>
                        </a:lnSpc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Mating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disruption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for</a:t>
                      </a:r>
                      <a:r>
                        <a:rPr sz="1600" spc="-25" dirty="0"/>
                        <a:t> PBW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65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10" dirty="0"/>
                        <a:t>Odisha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dirty="0"/>
                        <a:t>1.8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(1.4%)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dirty="0"/>
                        <a:t>6.0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(1.7%)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spc="-25" dirty="0"/>
                        <a:t>570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377190" indent="-285750">
                        <a:lnSpc>
                          <a:spcPct val="100000"/>
                        </a:lnSpc>
                        <a:spcBef>
                          <a:spcPts val="359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spc="-10" dirty="0"/>
                        <a:t>Non-</a:t>
                      </a:r>
                      <a:r>
                        <a:rPr sz="1600" dirty="0"/>
                        <a:t>Bt</a:t>
                      </a:r>
                      <a:r>
                        <a:rPr sz="1600" spc="25" dirty="0"/>
                        <a:t> </a:t>
                      </a:r>
                      <a:r>
                        <a:rPr sz="1600" spc="-20" dirty="0"/>
                        <a:t>seeds</a:t>
                      </a:r>
                      <a:endParaRPr sz="160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tc>
                  <a:txBody>
                    <a:bodyPr/>
                    <a:lstStyle/>
                    <a:p>
                      <a:pPr marL="377190" indent="-285750">
                        <a:lnSpc>
                          <a:spcPct val="100000"/>
                        </a:lnSpc>
                        <a:spcBef>
                          <a:spcPts val="359"/>
                        </a:spcBef>
                        <a:buFont typeface="Arial"/>
                        <a:buChar char="•"/>
                        <a:tabLst>
                          <a:tab pos="376555" algn="l"/>
                          <a:tab pos="377190" algn="l"/>
                        </a:tabLst>
                      </a:pPr>
                      <a:r>
                        <a:rPr sz="1600" dirty="0"/>
                        <a:t>Quality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seed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production</a:t>
                      </a:r>
                      <a:endParaRPr sz="1600" dirty="0">
                        <a:latin typeface="Arial Narrow"/>
                        <a:cs typeface="Arial Narrow"/>
                      </a:endParaRPr>
                    </a:p>
                  </a:txBody>
                  <a:tcPr marL="0" marR="0" marT="45719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09600" y="6477000"/>
            <a:ext cx="113538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170" dirty="0">
                <a:solidFill>
                  <a:srgbClr val="002060"/>
                </a:solidFill>
                <a:latin typeface="Arial"/>
                <a:cs typeface="Arial"/>
              </a:rPr>
              <a:t>APY</a:t>
            </a:r>
            <a:r>
              <a:rPr sz="1400" spc="-4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002060"/>
                </a:solidFill>
                <a:latin typeface="Arial"/>
                <a:cs typeface="Arial"/>
              </a:rPr>
              <a:t>figures</a:t>
            </a:r>
            <a:r>
              <a:rPr sz="1400" spc="-4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002060"/>
                </a:solidFill>
                <a:latin typeface="Arial"/>
                <a:cs typeface="Arial"/>
              </a:rPr>
              <a:t>are</a:t>
            </a:r>
            <a:r>
              <a:rPr sz="1400" spc="-3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85" dirty="0">
                <a:solidFill>
                  <a:srgbClr val="002060"/>
                </a:solidFill>
                <a:latin typeface="Arial"/>
                <a:cs typeface="Arial"/>
              </a:rPr>
              <a:t>average</a:t>
            </a:r>
            <a:r>
              <a:rPr sz="1400" spc="-4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2060"/>
                </a:solidFill>
                <a:latin typeface="Arial"/>
                <a:cs typeface="Arial"/>
              </a:rPr>
              <a:t>of</a:t>
            </a:r>
            <a:r>
              <a:rPr sz="1400" spc="-5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002060"/>
                </a:solidFill>
                <a:latin typeface="Arial"/>
                <a:cs typeface="Arial"/>
              </a:rPr>
              <a:t>three</a:t>
            </a:r>
            <a:r>
              <a:rPr sz="1400" spc="-3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002060"/>
                </a:solidFill>
                <a:latin typeface="Arial"/>
                <a:cs typeface="Arial"/>
              </a:rPr>
              <a:t>years</a:t>
            </a:r>
            <a:r>
              <a:rPr sz="1400" spc="-4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002060"/>
                </a:solidFill>
                <a:latin typeface="Arial"/>
                <a:cs typeface="Arial"/>
              </a:rPr>
              <a:t>(2019-20,</a:t>
            </a:r>
            <a:r>
              <a:rPr sz="1400" spc="-4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002060"/>
                </a:solidFill>
                <a:latin typeface="Arial"/>
                <a:cs typeface="Arial"/>
              </a:rPr>
              <a:t>20-21,</a:t>
            </a:r>
            <a:r>
              <a:rPr sz="1400" spc="-4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002060"/>
                </a:solidFill>
                <a:latin typeface="Arial"/>
                <a:cs typeface="Arial"/>
              </a:rPr>
              <a:t>21-</a:t>
            </a:r>
            <a:r>
              <a:rPr sz="1400" spc="-50" dirty="0">
                <a:solidFill>
                  <a:srgbClr val="002060"/>
                </a:solidFill>
                <a:latin typeface="Arial"/>
                <a:cs typeface="Arial"/>
              </a:rPr>
              <a:t>22),</a:t>
            </a:r>
            <a:r>
              <a:rPr sz="1400" spc="-4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220" dirty="0">
                <a:solidFill>
                  <a:srgbClr val="002060"/>
                </a:solidFill>
                <a:latin typeface="Arial"/>
                <a:cs typeface="Arial"/>
              </a:rPr>
              <a:t>%</a:t>
            </a:r>
            <a:r>
              <a:rPr sz="1400" spc="-4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75" dirty="0">
                <a:solidFill>
                  <a:srgbClr val="002060"/>
                </a:solidFill>
                <a:latin typeface="Arial"/>
                <a:cs typeface="Arial"/>
              </a:rPr>
              <a:t>share</a:t>
            </a:r>
            <a:r>
              <a:rPr sz="1400" spc="-4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02060"/>
                </a:solidFill>
                <a:latin typeface="Arial"/>
                <a:cs typeface="Arial"/>
              </a:rPr>
              <a:t>in</a:t>
            </a:r>
            <a:r>
              <a:rPr sz="1400" spc="-5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2060"/>
                </a:solidFill>
                <a:latin typeface="Arial"/>
                <a:cs typeface="Arial"/>
              </a:rPr>
              <a:t>total,</a:t>
            </a:r>
            <a:r>
              <a:rPr sz="1400" spc="-4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b="1" spc="-95" dirty="0">
                <a:solidFill>
                  <a:srgbClr val="002060"/>
                </a:solidFill>
                <a:latin typeface="Arial"/>
                <a:cs typeface="Arial"/>
              </a:rPr>
              <a:t>Area</a:t>
            </a:r>
            <a:r>
              <a:rPr sz="1400" b="1" spc="-4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02060"/>
                </a:solidFill>
                <a:latin typeface="Arial"/>
                <a:cs typeface="Arial"/>
              </a:rPr>
              <a:t>in</a:t>
            </a:r>
            <a:r>
              <a:rPr sz="1400" spc="-50" dirty="0">
                <a:solidFill>
                  <a:srgbClr val="002060"/>
                </a:solidFill>
                <a:latin typeface="Arial"/>
                <a:cs typeface="Arial"/>
              </a:rPr>
              <a:t> lakh </a:t>
            </a:r>
            <a:r>
              <a:rPr sz="1400" spc="-70" dirty="0">
                <a:solidFill>
                  <a:srgbClr val="002060"/>
                </a:solidFill>
                <a:latin typeface="Arial"/>
                <a:cs typeface="Arial"/>
              </a:rPr>
              <a:t>ha,</a:t>
            </a:r>
            <a:r>
              <a:rPr sz="1400" spc="-4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b="1" spc="-90" dirty="0">
                <a:solidFill>
                  <a:srgbClr val="002060"/>
                </a:solidFill>
                <a:latin typeface="Arial"/>
                <a:cs typeface="Arial"/>
              </a:rPr>
              <a:t>Production</a:t>
            </a:r>
            <a:r>
              <a:rPr sz="1400" b="1" spc="-3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002060"/>
                </a:solidFill>
                <a:latin typeface="Arial"/>
                <a:cs typeface="Arial"/>
              </a:rPr>
              <a:t>in</a:t>
            </a:r>
            <a:r>
              <a:rPr sz="1400" spc="-5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002060"/>
                </a:solidFill>
                <a:latin typeface="Arial"/>
                <a:cs typeface="Arial"/>
              </a:rPr>
              <a:t>lakh</a:t>
            </a:r>
            <a:r>
              <a:rPr sz="1400" spc="-5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002060"/>
                </a:solidFill>
                <a:latin typeface="Arial"/>
                <a:cs typeface="Arial"/>
              </a:rPr>
              <a:t>bales</a:t>
            </a:r>
            <a:r>
              <a:rPr sz="1400" spc="-3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002060"/>
                </a:solidFill>
                <a:latin typeface="Arial"/>
                <a:cs typeface="Arial"/>
              </a:rPr>
              <a:t>and</a:t>
            </a:r>
            <a:r>
              <a:rPr sz="1400" spc="-5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b="1" spc="-90" dirty="0">
                <a:solidFill>
                  <a:srgbClr val="002060"/>
                </a:solidFill>
                <a:latin typeface="Arial"/>
                <a:cs typeface="Arial"/>
              </a:rPr>
              <a:t>Yield</a:t>
            </a:r>
            <a:r>
              <a:rPr sz="1400" b="1" spc="-4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002060"/>
                </a:solidFill>
                <a:latin typeface="Arial"/>
                <a:cs typeface="Arial"/>
              </a:rPr>
              <a:t>in</a:t>
            </a:r>
            <a:r>
              <a:rPr sz="1400" spc="-4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155" dirty="0">
                <a:solidFill>
                  <a:srgbClr val="002060"/>
                </a:solidFill>
                <a:latin typeface="Arial"/>
                <a:cs typeface="Arial"/>
              </a:rPr>
              <a:t>Kg</a:t>
            </a:r>
            <a:r>
              <a:rPr sz="1400" spc="-5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2060"/>
                </a:solidFill>
                <a:latin typeface="Arial"/>
                <a:cs typeface="Arial"/>
              </a:rPr>
              <a:t>lint/ha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8601" y="175400"/>
            <a:ext cx="11734800" cy="443711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Cotton – State specific challenges and interventions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="" xmlns:a16="http://schemas.microsoft.com/office/drawing/2014/main" id="{CCA7AB7D-F0E7-4B6A-B8F5-E6B2B6C9AE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11582400" cy="838200"/>
          </a:xfrm>
        </p:spPr>
        <p:txBody>
          <a:bodyPr/>
          <a:lstStyle/>
          <a:p>
            <a:r>
              <a:rPr lang="en-IN" altLang="en-US" sz="2800" b="1" dirty="0" smtClean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Rice: Performance </a:t>
            </a:r>
            <a:r>
              <a:rPr lang="en-IN" altLang="en-US" sz="28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of major 10 Varieties (75% HHs) in Bihar and Eastern Uttar Pradesh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="" xmlns:a16="http://schemas.microsoft.com/office/drawing/2014/main" id="{8A99AF71-C722-412A-93CA-C1424356E1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1747287214"/>
              </p:ext>
            </p:extLst>
          </p:nvPr>
        </p:nvGraphicFramePr>
        <p:xfrm>
          <a:off x="381000" y="1143000"/>
          <a:ext cx="115062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914400" y="79547"/>
            <a:ext cx="9982200" cy="609600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000066"/>
                </a:solidFill>
                <a:latin typeface="Arial Rounded MT Bold" panose="020F0704030504030204" pitchFamily="34" charset="0"/>
                <a:ea typeface="+mn-ea"/>
                <a:cs typeface="Arial" charset="0"/>
              </a:rPr>
              <a:t>LET US STRATEGISE ACCORDINGLY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334000"/>
          </a:xfrm>
        </p:spPr>
        <p:txBody>
          <a:bodyPr/>
          <a:lstStyle/>
          <a:p>
            <a:pPr algn="just" eaLnBrk="1" hangingPunct="1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2600" dirty="0">
                <a:solidFill>
                  <a:srgbClr val="000066"/>
                </a:solidFill>
              </a:rPr>
              <a:t>Timely arrangement of inputs </a:t>
            </a:r>
          </a:p>
          <a:p>
            <a:pPr algn="just" eaLnBrk="1" hangingPunct="1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2600" dirty="0">
                <a:solidFill>
                  <a:srgbClr val="000066"/>
                </a:solidFill>
              </a:rPr>
              <a:t>Mobilizing extension staff for field deployment</a:t>
            </a:r>
          </a:p>
          <a:p>
            <a:pPr algn="just" eaLnBrk="1" hangingPunct="1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2600" dirty="0">
                <a:solidFill>
                  <a:srgbClr val="000066"/>
                </a:solidFill>
              </a:rPr>
              <a:t>Implementation &amp; monitoring</a:t>
            </a:r>
          </a:p>
          <a:p>
            <a:pPr algn="just" eaLnBrk="1" hangingPunct="1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000066"/>
                </a:solidFill>
              </a:rPr>
              <a:t>Cluster </a:t>
            </a:r>
            <a:r>
              <a:rPr lang="en-US" sz="2600" dirty="0">
                <a:solidFill>
                  <a:srgbClr val="000066"/>
                </a:solidFill>
              </a:rPr>
              <a:t>approach for crop productivity enhancement</a:t>
            </a:r>
          </a:p>
          <a:p>
            <a:pPr algn="just" eaLnBrk="1" hangingPunct="1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2600" dirty="0">
                <a:solidFill>
                  <a:srgbClr val="000066"/>
                </a:solidFill>
              </a:rPr>
              <a:t>Cropping system centric interventions : Focus on Pulse, Oil seeds, Nutricereals</a:t>
            </a:r>
          </a:p>
          <a:p>
            <a:pPr algn="just" eaLnBrk="1" hangingPunct="1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2600" dirty="0">
                <a:solidFill>
                  <a:srgbClr val="000066"/>
                </a:solidFill>
              </a:rPr>
              <a:t>Utilization of rice </a:t>
            </a:r>
            <a:r>
              <a:rPr lang="en-US" sz="2600" dirty="0" smtClean="0">
                <a:solidFill>
                  <a:srgbClr val="000066"/>
                </a:solidFill>
              </a:rPr>
              <a:t>fallow, intercropping</a:t>
            </a:r>
            <a:r>
              <a:rPr lang="en-US" sz="2600" dirty="0">
                <a:solidFill>
                  <a:srgbClr val="000066"/>
                </a:solidFill>
              </a:rPr>
              <a:t>, </a:t>
            </a:r>
            <a:r>
              <a:rPr lang="en-US" sz="2600" dirty="0" err="1">
                <a:solidFill>
                  <a:srgbClr val="000066"/>
                </a:solidFill>
              </a:rPr>
              <a:t>rainfed</a:t>
            </a:r>
            <a:r>
              <a:rPr lang="en-US" sz="2600" dirty="0">
                <a:solidFill>
                  <a:srgbClr val="000066"/>
                </a:solidFill>
              </a:rPr>
              <a:t> areas, summer season</a:t>
            </a:r>
          </a:p>
          <a:p>
            <a:pPr algn="just" eaLnBrk="1" hangingPunct="1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2600" dirty="0">
                <a:solidFill>
                  <a:srgbClr val="000066"/>
                </a:solidFill>
              </a:rPr>
              <a:t>Increasing Seed Replacement </a:t>
            </a:r>
            <a:r>
              <a:rPr lang="en-US" sz="2600" dirty="0" smtClean="0">
                <a:solidFill>
                  <a:srgbClr val="000066"/>
                </a:solidFill>
              </a:rPr>
              <a:t>Rate </a:t>
            </a:r>
            <a:r>
              <a:rPr lang="en-US" sz="2600" dirty="0">
                <a:solidFill>
                  <a:srgbClr val="000066"/>
                </a:solidFill>
              </a:rPr>
              <a:t>and Varietal Replacement</a:t>
            </a:r>
          </a:p>
          <a:p>
            <a:pPr algn="just" eaLnBrk="1" hangingPunct="1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2600" dirty="0">
                <a:solidFill>
                  <a:srgbClr val="000066"/>
                </a:solidFill>
              </a:rPr>
              <a:t>Increasing water and nutrient use efficiency</a:t>
            </a:r>
          </a:p>
          <a:p>
            <a:pPr algn="just" eaLnBrk="1" hangingPunct="1">
              <a:spcBef>
                <a:spcPts val="500"/>
              </a:spcBef>
              <a:buFont typeface="Wingdings" pitchFamily="2" charset="2"/>
              <a:buChar char="§"/>
            </a:pPr>
            <a:r>
              <a:rPr lang="en-US" sz="2600" dirty="0">
                <a:solidFill>
                  <a:srgbClr val="000066"/>
                </a:solidFill>
              </a:rPr>
              <a:t>Large scale adoption of improved </a:t>
            </a:r>
            <a:r>
              <a:rPr lang="en-US" sz="2600" dirty="0" smtClean="0">
                <a:solidFill>
                  <a:srgbClr val="000066"/>
                </a:solidFill>
              </a:rPr>
              <a:t>technologies</a:t>
            </a:r>
          </a:p>
          <a:p>
            <a:pPr algn="just" eaLnBrk="1" hangingPunct="1">
              <a:spcBef>
                <a:spcPts val="500"/>
              </a:spcBef>
              <a:buFont typeface="Wingdings" pitchFamily="2" charset="2"/>
              <a:buChar char="§"/>
            </a:pPr>
            <a:endParaRPr lang="en-US" sz="2600" dirty="0">
              <a:solidFill>
                <a:srgbClr val="000066"/>
              </a:solidFill>
            </a:endParaRPr>
          </a:p>
        </p:txBody>
      </p:sp>
      <p:pic>
        <p:nvPicPr>
          <p:cNvPr id="4" name="Picture 19" descr="BM_2002-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41423" y="838200"/>
            <a:ext cx="2464777" cy="15192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269" name="Picture 3" descr="C:\Users\Acer\Desktop\IMAGES\Pigeon-pea-by-Russell-Reinhardt-3945914665_497c88f7a9_z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35208" y="5224462"/>
            <a:ext cx="2370992" cy="14747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382000" y="6492876"/>
            <a:ext cx="2133600" cy="365125"/>
          </a:xfrm>
        </p:spPr>
        <p:txBody>
          <a:bodyPr/>
          <a:lstStyle/>
          <a:p>
            <a:pPr>
              <a:defRPr/>
            </a:pPr>
            <a:fld id="{77101807-BDA4-4A06-BA83-F55CE1C1F34C}" type="slidenum">
              <a:rPr lang="en-US" b="1" smtClean="0">
                <a:solidFill>
                  <a:schemeClr val="tx1"/>
                </a:solidFill>
              </a:rPr>
              <a:pPr>
                <a:defRPr/>
              </a:pPr>
              <a:t>21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1271" name="Picture 3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91600" y="3048000"/>
            <a:ext cx="2438400" cy="14859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23924" y="2819400"/>
            <a:ext cx="527747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6600" b="1" dirty="0">
                <a:ln w="1905"/>
                <a:solidFill>
                  <a:schemeClr val="tx2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 Rounded MT Bold" panose="020F0704030504030204" pitchFamily="34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5540</TotalTime>
  <Words>2242</Words>
  <Application>Microsoft Office PowerPoint</Application>
  <PresentationFormat>Custom</PresentationFormat>
  <Paragraphs>876</Paragraphs>
  <Slides>22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Office Theme</vt:lpstr>
      <vt:lpstr>Chart</vt:lpstr>
      <vt:lpstr> NATIONAL CONFERENCE ON AGRICULTURE  (KHARIF  CAMPAIGN-2022)   19th  April, 2022 </vt:lpstr>
      <vt:lpstr> AREA AND PRODUCTION OF CROPS IN 2021-22  (2nd Adv. Est.)                                                                                        Second estimates</vt:lpstr>
      <vt:lpstr>RAINFALL – RABI &amp; SUMMER SEASON (mm) </vt:lpstr>
      <vt:lpstr>Slide 4</vt:lpstr>
      <vt:lpstr>TENTATIVE REQUIREMENT &amp; AVAILABILITY OF SEEDS FOR MAJOR CROPS KHARIF-2022</vt:lpstr>
      <vt:lpstr>REQUIREMENT &amp;  SALES OF FERTILIZERS IN 2021 AND REQUIRMENT IN KHARIF -2022  </vt:lpstr>
      <vt:lpstr>Slide 7</vt:lpstr>
      <vt:lpstr> Pulses Scenerio</vt:lpstr>
      <vt:lpstr>Slide 9</vt:lpstr>
      <vt:lpstr>Slide 10</vt:lpstr>
      <vt:lpstr>Slide 11</vt:lpstr>
      <vt:lpstr>Slide 12</vt:lpstr>
      <vt:lpstr>Edible Oil Sector</vt:lpstr>
      <vt:lpstr>Slide 14</vt:lpstr>
      <vt:lpstr>Slide 15</vt:lpstr>
      <vt:lpstr>Slide 16</vt:lpstr>
      <vt:lpstr>Slide 17</vt:lpstr>
      <vt:lpstr>Cotton – State specific challenges and interventions</vt:lpstr>
      <vt:lpstr>Cotton – State specific challenges and interventions</vt:lpstr>
      <vt:lpstr>Rice: Performance of major 10 Varieties (75% HHs) in Bihar and Eastern Uttar Pradesh</vt:lpstr>
      <vt:lpstr>LET US STRATEGISE ACCORDINGLY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ACER</cp:lastModifiedBy>
  <cp:revision>856</cp:revision>
  <cp:lastPrinted>2022-04-18T13:43:06Z</cp:lastPrinted>
  <dcterms:created xsi:type="dcterms:W3CDTF">2006-08-16T00:00:00Z</dcterms:created>
  <dcterms:modified xsi:type="dcterms:W3CDTF">2022-04-27T10:49:50Z</dcterms:modified>
</cp:coreProperties>
</file>