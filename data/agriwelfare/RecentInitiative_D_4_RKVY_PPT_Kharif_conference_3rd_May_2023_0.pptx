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3"/>
  </p:notesMasterIdLst>
  <p:handoutMasterIdLst>
    <p:handoutMasterId r:id="rId14"/>
  </p:handoutMasterIdLst>
  <p:sldIdLst>
    <p:sldId id="2468" r:id="rId2"/>
    <p:sldId id="2599" r:id="rId3"/>
    <p:sldId id="2610" r:id="rId4"/>
    <p:sldId id="2611" r:id="rId5"/>
    <p:sldId id="2603" r:id="rId6"/>
    <p:sldId id="2605" r:id="rId7"/>
    <p:sldId id="2606" r:id="rId8"/>
    <p:sldId id="2609" r:id="rId9"/>
    <p:sldId id="2597" r:id="rId10"/>
    <p:sldId id="2598" r:id="rId11"/>
    <p:sldId id="2602" r:id="rId1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ohit Varshney" initials="MV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884475"/>
    <a:srgbClr val="C8AFC9"/>
    <a:srgbClr val="E7DCE8"/>
    <a:srgbClr val="B28FB3"/>
    <a:srgbClr val="9BF686"/>
    <a:srgbClr val="D181AB"/>
    <a:srgbClr val="92DAD7"/>
    <a:srgbClr val="A9A9F1"/>
    <a:srgbClr val="B0B0B0"/>
    <a:srgbClr val="F79389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665" autoAdjust="0"/>
    <p:restoredTop sz="94318" autoAdjust="0"/>
  </p:normalViewPr>
  <p:slideViewPr>
    <p:cSldViewPr snapToGrid="0" showGuides="1">
      <p:cViewPr>
        <p:scale>
          <a:sx n="75" d="100"/>
          <a:sy n="75" d="100"/>
        </p:scale>
        <p:origin x="-594" y="-72"/>
      </p:cViewPr>
      <p:guideLst>
        <p:guide orient="horz" pos="2183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661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FA7376C9-3F54-419A-8E8C-905667460002}" type="datetimeFigureOut">
              <a:rPr lang="en-US" smtClean="0"/>
              <a:pPr/>
              <a:t>5/2/2023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6"/>
            <a:ext cx="3037840" cy="464820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9" y="8829966"/>
            <a:ext cx="3037840" cy="464820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06F37A2F-E292-4958-BF4A-82AC5728FC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808646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643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643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2601B5F5-93FD-4AF9-A995-E5E8E3C58329}" type="datetimeFigureOut">
              <a:rPr lang="en-IN" smtClean="0"/>
              <a:pPr/>
              <a:t>02-05-2023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2"/>
            <a:ext cx="5608320" cy="366045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8"/>
            <a:ext cx="3037840" cy="466434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8"/>
            <a:ext cx="3037840" cy="466434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654DA1D6-9B79-4405-88DD-3F8657D164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24101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DA1D6-9B79-4405-88DD-3F8657D16462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947014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© Copyright </a:t>
            </a:r>
            <a:r>
              <a:rPr lang="en-US" b="1"/>
              <a:t>PresentationGo.com</a:t>
            </a:r>
            <a:r>
              <a:rPr lang="en-US"/>
              <a:t> – The free PowerPoint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43122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22C2B-A3CD-44ED-9B9E-B468DE58E41C}" type="datetimeFigureOut">
              <a:rPr lang="en-IN" smtClean="0"/>
              <a:pPr/>
              <a:t>02-05-2023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94C1CB1D-A2B0-46EC-B97F-6AC369B4147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22C2B-A3CD-44ED-9B9E-B468DE58E41C}" type="datetimeFigureOut">
              <a:rPr lang="en-IN" smtClean="0"/>
              <a:pPr/>
              <a:t>02-05-2023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CB1D-A2B0-46EC-B97F-6AC369B4147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22C2B-A3CD-44ED-9B9E-B468DE58E41C}" type="datetimeFigureOut">
              <a:rPr lang="en-IN" smtClean="0"/>
              <a:pPr/>
              <a:t>02-05-2023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94C1CB1D-A2B0-46EC-B97F-6AC369B4147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22C2B-A3CD-44ED-9B9E-B468DE58E41C}" type="datetimeFigureOut">
              <a:rPr lang="en-IN" smtClean="0"/>
              <a:pPr/>
              <a:t>02-05-2023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CB1D-A2B0-46EC-B97F-6AC369B4147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22C2B-A3CD-44ED-9B9E-B468DE58E41C}" type="datetimeFigureOut">
              <a:rPr lang="en-IN" smtClean="0"/>
              <a:pPr/>
              <a:t>02-05-2023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CB1D-A2B0-46EC-B97F-6AC369B4147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22C2B-A3CD-44ED-9B9E-B468DE58E41C}" type="datetimeFigureOut">
              <a:rPr lang="en-IN" smtClean="0"/>
              <a:pPr/>
              <a:t>02-05-2023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CB1D-A2B0-46EC-B97F-6AC369B4147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22C2B-A3CD-44ED-9B9E-B468DE58E41C}" type="datetimeFigureOut">
              <a:rPr lang="en-IN" smtClean="0"/>
              <a:pPr/>
              <a:t>02-05-2023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CB1D-A2B0-46EC-B97F-6AC369B4147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22C2B-A3CD-44ED-9B9E-B468DE58E41C}" type="datetimeFigureOut">
              <a:rPr lang="en-IN" smtClean="0"/>
              <a:pPr/>
              <a:t>02-05-2023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CB1D-A2B0-46EC-B97F-6AC369B4147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22C2B-A3CD-44ED-9B9E-B468DE58E41C}" type="datetimeFigureOut">
              <a:rPr lang="en-IN" smtClean="0"/>
              <a:pPr/>
              <a:t>02-05-2023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94C1CB1D-A2B0-46EC-B97F-6AC369B4147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22C2B-A3CD-44ED-9B9E-B468DE58E41C}" type="datetimeFigureOut">
              <a:rPr lang="en-IN" smtClean="0"/>
              <a:pPr/>
              <a:t>02-05-2023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CB1D-A2B0-46EC-B97F-6AC369B4147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22C2B-A3CD-44ED-9B9E-B468DE58E41C}" type="datetimeFigureOut">
              <a:rPr lang="en-IN" smtClean="0"/>
              <a:pPr/>
              <a:t>02-05-2023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CB1D-A2B0-46EC-B97F-6AC369B4147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8322C2B-A3CD-44ED-9B9E-B468DE58E41C}" type="datetimeFigureOut">
              <a:rPr lang="en-IN" smtClean="0"/>
              <a:pPr/>
              <a:t>02-05-2023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94C1CB1D-A2B0-46EC-B97F-6AC369B41471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rgbClr val="F0C8FF">
                <a:lumMod val="73000"/>
                <a:lumOff val="27000"/>
              </a:srgbClr>
            </a:gs>
          </a:gsLst>
          <a:lin ang="150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="" xmlns:a16="http://schemas.microsoft.com/office/drawing/2014/main" id="{18A3AF86-E389-C64E-9A93-4885BEFDC3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20" y="413657"/>
            <a:ext cx="1467182" cy="1504043"/>
          </a:xfrm>
          <a:prstGeom prst="rect">
            <a:avLst/>
          </a:prstGeom>
        </p:spPr>
      </p:pic>
      <p:sp>
        <p:nvSpPr>
          <p:cNvPr id="35" name="Title 1">
            <a:extLst>
              <a:ext uri="{FF2B5EF4-FFF2-40B4-BE49-F238E27FC236}">
                <a16:creationId xmlns="" xmlns:a16="http://schemas.microsoft.com/office/drawing/2014/main" id="{52B43C8C-59B3-D445-A5CE-55B0C8AB8E83}"/>
              </a:ext>
            </a:extLst>
          </p:cNvPr>
          <p:cNvSpPr txBox="1">
            <a:spLocks/>
          </p:cNvSpPr>
          <p:nvPr/>
        </p:nvSpPr>
        <p:spPr>
          <a:xfrm>
            <a:off x="960193" y="2618503"/>
            <a:ext cx="10367276" cy="9591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4000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="" xmlns:a16="http://schemas.microsoft.com/office/drawing/2014/main" id="{F7CF9D2C-B403-784F-A8A3-09D1E97CC296}"/>
              </a:ext>
            </a:extLst>
          </p:cNvPr>
          <p:cNvSpPr/>
          <p:nvPr/>
        </p:nvSpPr>
        <p:spPr>
          <a:xfrm>
            <a:off x="1885950" y="209551"/>
            <a:ext cx="8401050" cy="6532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68580" tIns="34290" rIns="68580" bIns="3429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endParaRPr lang="en-US" sz="2800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US" sz="2800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800" b="1" dirty="0" smtClean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National Conference  on Agriculture </a:t>
            </a:r>
          </a:p>
          <a:p>
            <a:pPr algn="ctr"/>
            <a:r>
              <a:rPr lang="en-US" sz="2800" b="1" dirty="0" smtClean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 </a:t>
            </a:r>
            <a:r>
              <a:rPr lang="en-US" sz="2800" b="1" dirty="0" err="1" smtClean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Kharif</a:t>
            </a:r>
            <a:r>
              <a:rPr lang="en-US" sz="2800" b="1" dirty="0" smtClean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Campaign-2023</a:t>
            </a:r>
          </a:p>
          <a:p>
            <a:pPr algn="ctr"/>
            <a:endParaRPr lang="en-US" sz="2800" b="1" dirty="0" smtClean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800" b="1" dirty="0" smtClean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r>
              <a:rPr lang="en-US" sz="2800" b="1" baseline="30000" dirty="0" smtClean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rd</a:t>
            </a:r>
            <a:r>
              <a:rPr lang="en-US" sz="2800" b="1" dirty="0" smtClean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May, 2023</a:t>
            </a:r>
          </a:p>
          <a:p>
            <a:pPr algn="ctr"/>
            <a:endParaRPr lang="en-US" sz="2800" b="1" dirty="0" smtClean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800" b="1" dirty="0" smtClean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(NASC Complex, </a:t>
            </a:r>
            <a:r>
              <a:rPr lang="en-US" sz="2800" b="1" dirty="0" err="1" smtClean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Pusa</a:t>
            </a:r>
            <a:r>
              <a:rPr lang="en-US" sz="2800" b="1" dirty="0" smtClean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New Delhi)</a:t>
            </a:r>
          </a:p>
          <a:p>
            <a:pPr algn="ctr"/>
            <a:endParaRPr lang="en-US" sz="2800" b="1" dirty="0" smtClean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800" b="1" dirty="0" err="1" smtClean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Rashtriya</a:t>
            </a:r>
            <a:r>
              <a:rPr lang="en-US" sz="2800" b="1" dirty="0" smtClean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b="1" dirty="0" err="1" smtClean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Krishi</a:t>
            </a:r>
            <a:r>
              <a:rPr lang="en-US" sz="2800" b="1" dirty="0" smtClean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b="1" dirty="0" err="1" smtClean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Vikas</a:t>
            </a:r>
            <a:r>
              <a:rPr lang="en-US" sz="2800" b="1" dirty="0" smtClean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b="1" dirty="0" err="1" smtClean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Yojana</a:t>
            </a:r>
            <a:endParaRPr lang="en-US" sz="2800" b="1" dirty="0" smtClean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800" b="1" dirty="0" smtClean="0">
                <a:ln/>
                <a:solidFill>
                  <a:schemeClr val="accent2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Department of Agriculture &amp; Farmer’s Welfare</a:t>
            </a:r>
          </a:p>
          <a:p>
            <a:pPr algn="ctr"/>
            <a:r>
              <a:rPr lang="en-US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Government of India</a:t>
            </a:r>
          </a:p>
          <a:p>
            <a:pPr algn="ctr"/>
            <a:endParaRPr lang="en-IN" sz="2800" b="1" dirty="0" smtClean="0">
              <a:solidFill>
                <a:schemeClr val="tx2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b="1" dirty="0" smtClean="0">
              <a:ln/>
              <a:latin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800" b="1" dirty="0">
              <a:ln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04D6AB57-BF29-485C-9FBF-181229DACF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996" y="347436"/>
            <a:ext cx="1592367" cy="153216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116505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95362"/>
          </a:xfrm>
          <a:solidFill>
            <a:schemeClr val="accent2"/>
          </a:solidFill>
          <a:ln w="28575">
            <a:solidFill>
              <a:srgbClr val="7939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 fontAlgn="base">
              <a:spcAft>
                <a:spcPct val="0"/>
              </a:spcAft>
            </a:pPr>
            <a:r>
              <a:rPr lang="en-US" sz="2400" b="1" dirty="0" err="1" smtClean="0">
                <a:solidFill>
                  <a:schemeClr val="bg1"/>
                </a:solidFill>
                <a:latin typeface="Times New Roman" pitchFamily="18" charset="0"/>
                <a:ea typeface="Arial" pitchFamily="34" charset="0"/>
                <a:cs typeface="Times New Roman" pitchFamily="18" charset="0"/>
              </a:rPr>
              <a:t>Rashtriya</a:t>
            </a:r>
            <a:r>
              <a:rPr lang="en-US" sz="2400" b="1" dirty="0" smtClean="0">
                <a:solidFill>
                  <a:schemeClr val="bg1"/>
                </a:solidFill>
                <a:latin typeface="Times New Roman" pitchFamily="18" charset="0"/>
                <a:ea typeface="Arial" pitchFamily="34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chemeClr val="bg1"/>
                </a:solidFill>
                <a:latin typeface="Times New Roman" pitchFamily="18" charset="0"/>
                <a:ea typeface="Arial" pitchFamily="34" charset="0"/>
                <a:cs typeface="Times New Roman" pitchFamily="18" charset="0"/>
              </a:rPr>
              <a:t>Krishi</a:t>
            </a:r>
            <a:r>
              <a:rPr lang="en-US" sz="2400" b="1" dirty="0" smtClean="0">
                <a:solidFill>
                  <a:schemeClr val="bg1"/>
                </a:solidFill>
                <a:latin typeface="Times New Roman" pitchFamily="18" charset="0"/>
                <a:ea typeface="Arial" pitchFamily="34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chemeClr val="bg1"/>
                </a:solidFill>
                <a:latin typeface="Times New Roman" pitchFamily="18" charset="0"/>
                <a:ea typeface="Arial" pitchFamily="34" charset="0"/>
                <a:cs typeface="Times New Roman" pitchFamily="18" charset="0"/>
              </a:rPr>
              <a:t>Vikas</a:t>
            </a:r>
            <a:r>
              <a:rPr lang="en-US" sz="2400" b="1" dirty="0" smtClean="0">
                <a:solidFill>
                  <a:schemeClr val="bg1"/>
                </a:solidFill>
                <a:latin typeface="Times New Roman" pitchFamily="18" charset="0"/>
                <a:ea typeface="Arial" pitchFamily="34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chemeClr val="bg1"/>
                </a:solidFill>
                <a:latin typeface="Times New Roman" pitchFamily="18" charset="0"/>
                <a:ea typeface="Arial" pitchFamily="34" charset="0"/>
                <a:cs typeface="Times New Roman" pitchFamily="18" charset="0"/>
              </a:rPr>
              <a:t>Yojana</a:t>
            </a:r>
            <a:r>
              <a:rPr lang="en-US" sz="2400" b="1" dirty="0" smtClean="0">
                <a:solidFill>
                  <a:schemeClr val="bg1"/>
                </a:solidFill>
                <a:latin typeface="Times New Roman" pitchFamily="18" charset="0"/>
                <a:ea typeface="Arial" pitchFamily="34" charset="0"/>
                <a:cs typeface="Times New Roman" pitchFamily="18" charset="0"/>
              </a:rPr>
              <a:t> (RKVY)</a:t>
            </a:r>
            <a:endParaRPr lang="en-US" sz="2400" b="1" dirty="0">
              <a:solidFill>
                <a:schemeClr val="bg1"/>
              </a:solidFill>
              <a:latin typeface="Times New Roman" pitchFamily="18" charset="0"/>
              <a:ea typeface="Arial" pitchFamily="34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84300"/>
            <a:ext cx="10972800" cy="5259410"/>
          </a:xfrm>
        </p:spPr>
        <p:txBody>
          <a:bodyPr>
            <a:normAutofit fontScale="32500" lnSpcReduction="20000"/>
          </a:bodyPr>
          <a:lstStyle/>
          <a:p>
            <a:pPr lvl="1"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Restructured RKVY has  2 Streams  of AAP components &amp; DPR component:</a:t>
            </a:r>
            <a:endParaRPr lang="en-US" sz="8000" b="1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I. 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RKVY- Annual Action Plan (AAP) component:</a:t>
            </a:r>
          </a:p>
          <a:p>
            <a:pPr marL="1143000" indent="-520700" fontAlgn="ctr">
              <a:buClrTx/>
              <a:buSzPct val="100000"/>
              <a:buFont typeface="+mj-lt"/>
              <a:buAutoNum type="romanLcPeriod"/>
            </a:pPr>
            <a:r>
              <a:rPr lang="en-US" sz="7200" u="sng" dirty="0" smtClean="0"/>
              <a:t>Soil </a:t>
            </a:r>
            <a:r>
              <a:rPr lang="en-US" sz="7200" u="sng" dirty="0"/>
              <a:t>Health and Fertility</a:t>
            </a:r>
            <a:endParaRPr lang="en-US" sz="7200" dirty="0"/>
          </a:p>
          <a:p>
            <a:pPr marL="1143000" indent="-520700" fontAlgn="ctr">
              <a:buClrTx/>
              <a:buSzPct val="100000"/>
              <a:buFont typeface="+mj-lt"/>
              <a:buAutoNum type="romanLcPeriod"/>
            </a:pPr>
            <a:r>
              <a:rPr lang="en-US" sz="7200" u="sng" dirty="0"/>
              <a:t>Rain-fed Area Development (RAD) </a:t>
            </a:r>
            <a:endParaRPr lang="en-US" sz="7200" dirty="0"/>
          </a:p>
          <a:p>
            <a:pPr marL="1143000" indent="-520700" fontAlgn="ctr">
              <a:buClrTx/>
              <a:buSzPct val="100000"/>
              <a:buFont typeface="+mj-lt"/>
              <a:buAutoNum type="romanLcPeriod"/>
            </a:pPr>
            <a:r>
              <a:rPr lang="en-US" sz="7200" u="sng" dirty="0" err="1"/>
              <a:t>Paramparagat</a:t>
            </a:r>
            <a:r>
              <a:rPr lang="en-US" sz="7200" u="sng" dirty="0"/>
              <a:t> </a:t>
            </a:r>
            <a:r>
              <a:rPr lang="en-US" sz="7200" u="sng" dirty="0" err="1"/>
              <a:t>Krishi</a:t>
            </a:r>
            <a:r>
              <a:rPr lang="en-US" sz="7200" u="sng" dirty="0"/>
              <a:t> </a:t>
            </a:r>
            <a:r>
              <a:rPr lang="en-US" sz="7200" u="sng" dirty="0" err="1"/>
              <a:t>Vikas</a:t>
            </a:r>
            <a:r>
              <a:rPr lang="en-US" sz="7200" u="sng" dirty="0"/>
              <a:t> </a:t>
            </a:r>
            <a:r>
              <a:rPr lang="en-US" sz="7200" u="sng" dirty="0" err="1"/>
              <a:t>Yojana</a:t>
            </a:r>
            <a:endParaRPr lang="en-US" sz="7200" dirty="0"/>
          </a:p>
          <a:p>
            <a:pPr marL="1143000" indent="-520700" fontAlgn="ctr">
              <a:buClrTx/>
              <a:buSzPct val="100000"/>
              <a:buFont typeface="+mj-lt"/>
              <a:buAutoNum type="romanLcPeriod"/>
            </a:pPr>
            <a:r>
              <a:rPr lang="en-US" sz="7200" u="sng" dirty="0"/>
              <a:t>Agriculture Mechanization (Including CRM) </a:t>
            </a:r>
            <a:endParaRPr lang="en-US" sz="7200" dirty="0"/>
          </a:p>
          <a:p>
            <a:pPr marL="1143000" indent="-520700" fontAlgn="ctr">
              <a:buClrTx/>
              <a:buSzPct val="100000"/>
              <a:buFont typeface="+mj-lt"/>
              <a:buAutoNum type="romanLcPeriod"/>
            </a:pPr>
            <a:r>
              <a:rPr lang="en-US" sz="7200" u="sng" dirty="0"/>
              <a:t>Per Drop More Crop</a:t>
            </a:r>
            <a:endParaRPr lang="en-US" sz="7200" dirty="0"/>
          </a:p>
          <a:p>
            <a:pPr marL="1143000" indent="-520700" fontAlgn="ctr">
              <a:buClrTx/>
              <a:buSzPct val="100000"/>
              <a:buFont typeface="+mj-lt"/>
              <a:buAutoNum type="romanLcPeriod"/>
            </a:pPr>
            <a:r>
              <a:rPr lang="en-US" sz="7200" u="sng" dirty="0"/>
              <a:t>Sub-Mission on Agro-forestry</a:t>
            </a:r>
            <a:endParaRPr lang="en-US" sz="7200" dirty="0"/>
          </a:p>
          <a:p>
            <a:pPr marL="1143000" indent="-520700" fontAlgn="ctr">
              <a:buClrTx/>
              <a:buSzPct val="100000"/>
              <a:buFont typeface="+mj-lt"/>
              <a:buAutoNum type="romanLcPeriod"/>
            </a:pPr>
            <a:r>
              <a:rPr lang="en-US" sz="7200" u="sng" dirty="0"/>
              <a:t>Crop Diversification </a:t>
            </a:r>
            <a:r>
              <a:rPr lang="en-US" sz="7200" u="sng" dirty="0" err="1" smtClean="0"/>
              <a:t>Programme</a:t>
            </a:r>
            <a:endParaRPr lang="en-US" sz="7200" dirty="0"/>
          </a:p>
          <a:p>
            <a:pPr marL="0" indent="0" fontAlgn="ctr">
              <a:buNone/>
            </a:pPr>
            <a:r>
              <a:rPr lang="en-US" sz="7200" b="1" dirty="0" smtClean="0"/>
              <a:t>    II  RKVY </a:t>
            </a:r>
            <a:r>
              <a:rPr lang="en-US" sz="7200" b="1" dirty="0"/>
              <a:t>(DPR based)</a:t>
            </a:r>
          </a:p>
          <a:p>
            <a:pPr marL="0" indent="0" fontAlgn="ctr">
              <a:buNone/>
            </a:pPr>
            <a:r>
              <a:rPr lang="en-US" sz="7200" dirty="0" smtClean="0"/>
              <a:t>      Including  Startup</a:t>
            </a:r>
          </a:p>
          <a:p>
            <a:pPr marL="0" indent="0" fontAlgn="ctr"/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     Consolidated Annual Action Plans for RKVY&amp;KY</a:t>
            </a:r>
            <a:endParaRPr lang="en-US" sz="8000" dirty="0" smtClean="0">
              <a:latin typeface="Times New Roman" pitchFamily="18" charset="0"/>
              <a:cs typeface="Times New Roman" pitchFamily="18" charset="0"/>
            </a:endParaRPr>
          </a:p>
          <a:p>
            <a:pPr lvl="1" indent="0" algn="just">
              <a:buNone/>
            </a:pPr>
            <a:endParaRPr lang="en-US" sz="68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None/>
            </a:pPr>
            <a:endParaRPr lang="en-US" sz="64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Reasons for Merger of Schemes in RKVY</a:t>
            </a:r>
            <a:endParaRPr lang="en-US" b="1" dirty="0" smtClean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587500"/>
            <a:ext cx="11049000" cy="46355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endParaRPr lang="en-US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Rationalization of schemes- Policy Decision of the Government for all sectors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Large number schemes with similar objectives &amp; small outlays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Overlapping components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Lack of convergence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Merger for providing flexibility to states in reallocation of funds as per state’s priorities.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Synergy among the component for better outcomes.</a:t>
            </a:r>
            <a:endParaRPr lang="en-US" sz="2800" dirty="0" smtClean="0"/>
          </a:p>
          <a:p>
            <a:pPr>
              <a:buNone/>
            </a:pPr>
            <a:endParaRPr lang="en-US" sz="2800" b="1" dirty="0" smtClean="0">
              <a:latin typeface="Arial Narrow" panose="020B0606020202030204" pitchFamily="34" charset="0"/>
            </a:endParaRPr>
          </a:p>
          <a:p>
            <a:pPr marL="274320" lvl="1" indent="-274320">
              <a:spcBef>
                <a:spcPts val="580"/>
              </a:spcBef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sz="3000" dirty="0" smtClean="0">
              <a:latin typeface="Arial Narrow" panose="020B0606020202030204" pitchFamily="34" charset="0"/>
              <a:cs typeface="Times New Roman" pitchFamily="18" charset="0"/>
            </a:endParaRPr>
          </a:p>
          <a:p>
            <a:pPr marL="274320" lvl="1" indent="-274320">
              <a:spcBef>
                <a:spcPts val="580"/>
              </a:spcBef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sz="3000" dirty="0" smtClean="0">
              <a:latin typeface="Arial Narrow" panose="020B0606020202030204" pitchFamily="34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800" dirty="0" smtClean="0">
              <a:latin typeface="Arial Narrow" panose="020B060602020203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20922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Reasons for Introduction of Consolidated Annual Action Plans</a:t>
            </a:r>
            <a:endParaRPr lang="en-US" b="1" dirty="0" smtClean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803400"/>
            <a:ext cx="11049000" cy="4635500"/>
          </a:xfrm>
        </p:spPr>
        <p:txBody>
          <a:bodyPr>
            <a:normAutofit fontScale="92500"/>
          </a:bodyPr>
          <a:lstStyle/>
          <a:p>
            <a:r>
              <a:rPr lang="en-US" sz="4000" dirty="0" smtClean="0"/>
              <a:t>Integration of all schemes of DA&amp;FW in the planning process.</a:t>
            </a:r>
          </a:p>
          <a:p>
            <a:r>
              <a:rPr lang="en-US" sz="4000" dirty="0" smtClean="0"/>
              <a:t>Simplify the process of approval of AAPs</a:t>
            </a:r>
          </a:p>
          <a:p>
            <a:r>
              <a:rPr lang="en-US" sz="4000" dirty="0" smtClean="0"/>
              <a:t>Timely completion of approval of all schemes for all states.</a:t>
            </a:r>
          </a:p>
          <a:p>
            <a:r>
              <a:rPr lang="en-US" sz="4000" dirty="0" smtClean="0"/>
              <a:t>Present overlaps &amp; ensure convergence</a:t>
            </a:r>
          </a:p>
          <a:p>
            <a:r>
              <a:rPr lang="en-US" sz="4000" dirty="0" smtClean="0"/>
              <a:t>More focus on implementation, Monitoring &amp; out comes of the schemes</a:t>
            </a: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b="1" dirty="0" smtClean="0">
              <a:latin typeface="Arial Narrow" panose="020B0606020202030204" pitchFamily="34" charset="0"/>
            </a:endParaRPr>
          </a:p>
          <a:p>
            <a:pPr marL="274320" lvl="1" indent="-274320">
              <a:spcBef>
                <a:spcPts val="580"/>
              </a:spcBef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sz="3000" dirty="0" smtClean="0">
              <a:latin typeface="Arial Narrow" panose="020B0606020202030204" pitchFamily="34" charset="0"/>
              <a:cs typeface="Times New Roman" pitchFamily="18" charset="0"/>
            </a:endParaRPr>
          </a:p>
          <a:p>
            <a:pPr marL="274320" lvl="1" indent="-274320">
              <a:spcBef>
                <a:spcPts val="580"/>
              </a:spcBef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sz="3000" dirty="0" smtClean="0">
              <a:latin typeface="Arial Narrow" panose="020B0606020202030204" pitchFamily="34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800" dirty="0" smtClean="0">
              <a:latin typeface="Arial Narrow" panose="020B060602020203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20922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312738"/>
            <a:ext cx="10363200" cy="1143000"/>
          </a:xfrm>
          <a:solidFill>
            <a:schemeClr val="accent2"/>
          </a:solidFill>
        </p:spPr>
        <p:txBody>
          <a:bodyPr/>
          <a:lstStyle/>
          <a:p>
            <a:r>
              <a:rPr lang="en-US" b="1" dirty="0" smtClean="0">
                <a:solidFill>
                  <a:schemeClr val="bg2"/>
                </a:solidFill>
              </a:rPr>
              <a:t>Procedure of release of Funds</a:t>
            </a:r>
            <a:endParaRPr lang="en-US" b="1" dirty="0">
              <a:solidFill>
                <a:schemeClr val="bg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39800" y="1612900"/>
            <a:ext cx="10350500" cy="4914900"/>
          </a:xfrm>
        </p:spPr>
        <p:txBody>
          <a:bodyPr>
            <a:normAutofit/>
          </a:bodyPr>
          <a:lstStyle/>
          <a:p>
            <a:pPr algn="just">
              <a:lnSpc>
                <a:spcPct val="80000"/>
              </a:lnSpc>
              <a:buSzPct val="100000"/>
              <a:buFont typeface="Arial" pitchFamily="34" charset="0"/>
              <a:buChar char="•"/>
            </a:pPr>
            <a:r>
              <a:rPr lang="en-US" sz="3200" dirty="0" smtClean="0"/>
              <a:t>AAP meetings completed for all states.</a:t>
            </a:r>
          </a:p>
          <a:p>
            <a:pPr algn="just">
              <a:lnSpc>
                <a:spcPct val="80000"/>
              </a:lnSpc>
              <a:buSzPct val="100000"/>
              <a:buFont typeface="Arial" pitchFamily="34" charset="0"/>
              <a:buChar char="•"/>
            </a:pPr>
            <a:r>
              <a:rPr lang="en-US" sz="3200" dirty="0" smtClean="0"/>
              <a:t>State Level Sanctioning Committee (SLSC) meetings to be convened &amp; final approvals to be taken at the earliest</a:t>
            </a:r>
          </a:p>
          <a:p>
            <a:pPr algn="just">
              <a:lnSpc>
                <a:spcPct val="80000"/>
              </a:lnSpc>
              <a:buSzPct val="100000"/>
              <a:buFont typeface="Arial" pitchFamily="34" charset="0"/>
              <a:buChar char="•"/>
            </a:pPr>
            <a:r>
              <a:rPr lang="en-US" sz="3200" dirty="0" smtClean="0"/>
              <a:t>Fund release will be as per </a:t>
            </a:r>
            <a:r>
              <a:rPr lang="en-US" sz="3200" dirty="0" err="1" smtClean="0"/>
              <a:t>DoE</a:t>
            </a:r>
            <a:r>
              <a:rPr lang="en-US" sz="3200" dirty="0" smtClean="0"/>
              <a:t> guidelines &amp; SNA/ SLS balance</a:t>
            </a:r>
          </a:p>
          <a:p>
            <a:pPr algn="just">
              <a:lnSpc>
                <a:spcPct val="80000"/>
              </a:lnSpc>
              <a:buSzPct val="100000"/>
              <a:buFont typeface="Arial" pitchFamily="34" charset="0"/>
              <a:buChar char="•"/>
            </a:pPr>
            <a:r>
              <a:rPr lang="en-US" sz="3200" dirty="0" smtClean="0"/>
              <a:t>Release of fund for RKVY will be consolidated for all merged components</a:t>
            </a:r>
          </a:p>
          <a:p>
            <a:pPr algn="just">
              <a:lnSpc>
                <a:spcPct val="80000"/>
              </a:lnSpc>
              <a:buSzPct val="100000"/>
              <a:buFont typeface="Arial" pitchFamily="34" charset="0"/>
              <a:buChar char="•"/>
            </a:pPr>
            <a:r>
              <a:rPr lang="en-US" sz="3200" dirty="0" smtClean="0"/>
              <a:t>Monthly Progress for all the components should be updated on the respective portals of each component</a:t>
            </a:r>
          </a:p>
          <a:p>
            <a:pPr algn="just">
              <a:lnSpc>
                <a:spcPct val="80000"/>
              </a:lnSpc>
              <a:buSzPct val="100000"/>
              <a:buFont typeface="Arial" pitchFamily="34" charset="0"/>
              <a:buChar char="•"/>
            </a:pPr>
            <a:r>
              <a:rPr lang="en-US" sz="3200" dirty="0" smtClean="0"/>
              <a:t>State to submit one integrated component &amp; head wise  UC at the end of the financial year in r/o total funds release  as per 12-C format of GFR 2017. </a:t>
            </a:r>
          </a:p>
          <a:p>
            <a:pPr algn="just">
              <a:lnSpc>
                <a:spcPct val="80000"/>
              </a:lnSpc>
              <a:buSzPct val="100000"/>
              <a:buFont typeface="Arial" pitchFamily="34" charset="0"/>
              <a:buChar char="•"/>
            </a:pPr>
            <a:endParaRPr lang="en-US" sz="2800" dirty="0" smtClean="0"/>
          </a:p>
          <a:p>
            <a:pPr algn="just">
              <a:lnSpc>
                <a:spcPct val="80000"/>
              </a:lnSpc>
              <a:buSzPct val="100000"/>
              <a:buFont typeface="Arial" pitchFamily="34" charset="0"/>
              <a:buChar char="•"/>
            </a:pPr>
            <a:endParaRPr lang="en-US" sz="2800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29150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30200"/>
            <a:ext cx="10896600" cy="1168400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bg2"/>
                </a:solidFill>
              </a:rPr>
              <a:t>Format – I </a:t>
            </a:r>
            <a:br>
              <a:rPr lang="en-US" b="1" dirty="0" smtClean="0">
                <a:solidFill>
                  <a:schemeClr val="bg2"/>
                </a:solidFill>
              </a:rPr>
            </a:br>
            <a:r>
              <a:rPr lang="en-US" b="1" dirty="0" smtClean="0">
                <a:solidFill>
                  <a:schemeClr val="bg2"/>
                </a:solidFill>
              </a:rPr>
              <a:t>Submitting the Minutes of SLSC </a:t>
            </a:r>
            <a:endParaRPr lang="en-US" b="1" dirty="0">
              <a:solidFill>
                <a:schemeClr val="bg2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147852057"/>
              </p:ext>
            </p:extLst>
          </p:nvPr>
        </p:nvGraphicFramePr>
        <p:xfrm>
          <a:off x="469901" y="1578186"/>
          <a:ext cx="11112499" cy="47464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698"/>
                <a:gridCol w="7565558"/>
                <a:gridCol w="2953243"/>
              </a:tblGrid>
              <a:tr h="1065106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Sl. No.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Particulars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Total Approved Amount </a:t>
                      </a:r>
                    </a:p>
                    <a:p>
                      <a:pPr algn="ctr"/>
                      <a:r>
                        <a:rPr lang="en-IN" b="1" dirty="0" smtClean="0"/>
                        <a:t>(As approved by SLSC)</a:t>
                      </a:r>
                    </a:p>
                    <a:p>
                      <a:pPr algn="ctr"/>
                      <a:r>
                        <a:rPr lang="en-IN" b="1" dirty="0" smtClean="0"/>
                        <a:t> (in lakhs) </a:t>
                      </a:r>
                      <a:endParaRPr lang="en-IN" b="1" dirty="0"/>
                    </a:p>
                  </a:txBody>
                  <a:tcPr/>
                </a:tc>
              </a:tr>
              <a:tr h="458082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Name of the Components (RKVY DPR/PDMC/RAD / SH&amp;F / PKVY etc.)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449752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Implementing Departments / Agencies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449752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IN" b="1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Allocation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449752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IN" b="1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Project Cost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524711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Comments of Government of India :- Supported / Not Supported / Revised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449752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IN" b="1" dirty="0" smtClean="0"/>
                        <a:t>6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Resolution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449752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IN" b="1" dirty="0" smtClean="0"/>
                        <a:t>7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Converges</a:t>
                      </a:r>
                      <a:r>
                        <a:rPr lang="en-IN" b="1" baseline="0" dirty="0" smtClean="0"/>
                        <a:t>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449752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IN" b="1" dirty="0" smtClean="0"/>
                        <a:t>8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Final Remarks / Observations  (if</a:t>
                      </a:r>
                      <a:r>
                        <a:rPr lang="en-US" b="1" baseline="0" dirty="0" smtClean="0"/>
                        <a:t> any)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452100" y="6324600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 err="1" smtClean="0"/>
              <a:t>Contd</a:t>
            </a:r>
            <a:r>
              <a:rPr lang="en-IN" b="1" u="sng" dirty="0" smtClean="0"/>
              <a:t>…..</a:t>
            </a:r>
            <a:endParaRPr lang="en-IN" b="1" u="sng" dirty="0"/>
          </a:p>
        </p:txBody>
      </p:sp>
    </p:spTree>
    <p:extLst>
      <p:ext uri="{BB962C8B-B14F-4D97-AF65-F5344CB8AC3E}">
        <p14:creationId xmlns="" xmlns:p14="http://schemas.microsoft.com/office/powerpoint/2010/main" val="1200029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954219151"/>
              </p:ext>
            </p:extLst>
          </p:nvPr>
        </p:nvGraphicFramePr>
        <p:xfrm>
          <a:off x="393700" y="2644986"/>
          <a:ext cx="11175999" cy="30827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2819"/>
                <a:gridCol w="4959550"/>
                <a:gridCol w="2660952"/>
                <a:gridCol w="2842678"/>
              </a:tblGrid>
              <a:tr h="1566997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Sl. No.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Titles</a:t>
                      </a:r>
                      <a:r>
                        <a:rPr lang="en-IN" b="1" baseline="0" dirty="0" smtClean="0"/>
                        <a:t>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Financial Outlay as approved by SLSC    </a:t>
                      </a:r>
                    </a:p>
                    <a:p>
                      <a:pPr algn="ctr"/>
                      <a:r>
                        <a:rPr lang="en-IN" b="1" dirty="0" smtClean="0"/>
                        <a:t>(</a:t>
                      </a:r>
                      <a:r>
                        <a:rPr lang="en-IN" b="1" dirty="0" err="1" smtClean="0"/>
                        <a:t>Rs</a:t>
                      </a:r>
                      <a:r>
                        <a:rPr lang="en-IN" b="1" dirty="0" smtClean="0"/>
                        <a:t>. in lakh) </a:t>
                      </a:r>
                    </a:p>
                    <a:p>
                      <a:pPr algn="ctr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Final Remarks / Observation of SLSC  </a:t>
                      </a:r>
                      <a:endParaRPr lang="en-IN" b="1" dirty="0"/>
                    </a:p>
                  </a:txBody>
                  <a:tcPr/>
                </a:tc>
              </a:tr>
              <a:tr h="84376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Name of the Activities</a:t>
                      </a:r>
                      <a:r>
                        <a:rPr lang="en-US" b="1" baseline="0" dirty="0" smtClean="0"/>
                        <a:t> / Projects / Sub – Components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671949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smtClean="0"/>
                        <a:t>Total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82600" y="482600"/>
            <a:ext cx="10896600" cy="17526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chemeClr val="bg2"/>
                </a:solidFill>
              </a:rPr>
              <a:t>Format – II </a:t>
            </a:r>
            <a:br>
              <a:rPr lang="en-US" b="1" dirty="0" smtClean="0">
                <a:solidFill>
                  <a:schemeClr val="bg2"/>
                </a:solidFill>
              </a:rPr>
            </a:br>
            <a:r>
              <a:rPr lang="en-US" b="1" dirty="0" smtClean="0">
                <a:solidFill>
                  <a:schemeClr val="bg2"/>
                </a:solidFill>
              </a:rPr>
              <a:t>Submitting the Projects / Activities - wise details </a:t>
            </a:r>
            <a:endParaRPr lang="en-US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95727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82600" y="482600"/>
            <a:ext cx="10896600" cy="1752600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bg2"/>
                </a:solidFill>
              </a:rPr>
              <a:t>Format – III </a:t>
            </a:r>
            <a:br>
              <a:rPr lang="en-US" b="1" dirty="0" smtClean="0">
                <a:solidFill>
                  <a:schemeClr val="bg2"/>
                </a:solidFill>
              </a:rPr>
            </a:br>
            <a:r>
              <a:rPr lang="en-US" b="1" dirty="0" smtClean="0">
                <a:solidFill>
                  <a:schemeClr val="bg2"/>
                </a:solidFill>
              </a:rPr>
              <a:t>Overall RKVY Abstract</a:t>
            </a:r>
            <a:br>
              <a:rPr lang="en-US" b="1" dirty="0" smtClean="0">
                <a:solidFill>
                  <a:schemeClr val="bg2"/>
                </a:solidFill>
              </a:rPr>
            </a:br>
            <a:r>
              <a:rPr lang="en-US" b="1" dirty="0" smtClean="0">
                <a:solidFill>
                  <a:schemeClr val="bg2"/>
                </a:solidFill>
              </a:rPr>
              <a:t>									(Rs. in </a:t>
            </a:r>
            <a:r>
              <a:rPr lang="en-US" b="1" dirty="0" err="1" smtClean="0">
                <a:solidFill>
                  <a:schemeClr val="bg2"/>
                </a:solidFill>
              </a:rPr>
              <a:t>crore</a:t>
            </a:r>
            <a:r>
              <a:rPr lang="en-US" b="1" dirty="0" smtClean="0">
                <a:solidFill>
                  <a:schemeClr val="bg2"/>
                </a:solidFill>
              </a:rPr>
              <a:t>)</a:t>
            </a:r>
            <a:endParaRPr lang="en-US" b="1" dirty="0">
              <a:solidFill>
                <a:schemeClr val="bg2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17496" y="2286000"/>
          <a:ext cx="11366509" cy="391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8804"/>
                <a:gridCol w="1460500"/>
                <a:gridCol w="1080653"/>
                <a:gridCol w="1040247"/>
                <a:gridCol w="1026391"/>
                <a:gridCol w="1033319"/>
                <a:gridCol w="1033319"/>
                <a:gridCol w="1033319"/>
                <a:gridCol w="1033319"/>
                <a:gridCol w="1063333"/>
                <a:gridCol w="1003305"/>
              </a:tblGrid>
              <a:tr h="3250928">
                <a:tc>
                  <a:txBody>
                    <a:bodyPr/>
                    <a:lstStyle/>
                    <a:p>
                      <a:r>
                        <a:rPr lang="en-US" b="1" dirty="0" smtClean="0"/>
                        <a:t>S. No.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Name</a:t>
                      </a:r>
                      <a:r>
                        <a:rPr lang="en-US" b="1" baseline="0" dirty="0" smtClean="0"/>
                        <a:t> of Components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SNA balance</a:t>
                      </a:r>
                    </a:p>
                    <a:p>
                      <a:r>
                        <a:rPr lang="en-US" b="1" dirty="0" smtClean="0"/>
                        <a:t>(End of the financial year)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Allocation</a:t>
                      </a:r>
                    </a:p>
                    <a:p>
                      <a:r>
                        <a:rPr lang="en-US" b="1" dirty="0" smtClean="0"/>
                        <a:t>(</a:t>
                      </a:r>
                      <a:r>
                        <a:rPr lang="en-US" b="1" dirty="0" err="1" smtClean="0"/>
                        <a:t>GoI</a:t>
                      </a:r>
                      <a:r>
                        <a:rPr lang="en-US" b="1" dirty="0" smtClean="0"/>
                        <a:t> share)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Allocation</a:t>
                      </a:r>
                    </a:p>
                    <a:p>
                      <a:r>
                        <a:rPr lang="en-US" b="1" dirty="0" smtClean="0"/>
                        <a:t>(State share)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Total</a:t>
                      </a:r>
                    </a:p>
                    <a:p>
                      <a:r>
                        <a:rPr lang="en-US" b="1" dirty="0" smtClean="0"/>
                        <a:t>(</a:t>
                      </a:r>
                      <a:r>
                        <a:rPr lang="en-US" b="1" dirty="0" err="1" smtClean="0"/>
                        <a:t>GoI</a:t>
                      </a:r>
                      <a:r>
                        <a:rPr lang="en-US" b="1" dirty="0" smtClean="0"/>
                        <a:t> + State Share)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Committed</a:t>
                      </a:r>
                      <a:r>
                        <a:rPr lang="en-US" b="1" baseline="0" dirty="0" smtClean="0"/>
                        <a:t> Liability</a:t>
                      </a:r>
                    </a:p>
                    <a:p>
                      <a:r>
                        <a:rPr lang="en-US" b="1" baseline="0" dirty="0" smtClean="0"/>
                        <a:t>(All previous years)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New Projects Cost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Total fund requirement (Committed</a:t>
                      </a:r>
                      <a:r>
                        <a:rPr lang="en-US" b="1" baseline="0" dirty="0" smtClean="0"/>
                        <a:t> Liability + </a:t>
                      </a:r>
                      <a:r>
                        <a:rPr lang="en-US" b="1" dirty="0" smtClean="0"/>
                        <a:t>New Projects Cost)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125%</a:t>
                      </a:r>
                      <a:r>
                        <a:rPr lang="en-US" b="1" baseline="0" dirty="0" smtClean="0"/>
                        <a:t> of allocation  (As approved by SLSC)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Remarks</a:t>
                      </a:r>
                      <a:endParaRPr lang="en-US" b="1" dirty="0"/>
                    </a:p>
                  </a:txBody>
                  <a:tcPr/>
                </a:tc>
              </a:tr>
              <a:tr h="660672"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4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5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6 =</a:t>
                      </a:r>
                      <a:r>
                        <a:rPr lang="en-US" b="1" baseline="0" dirty="0" smtClean="0"/>
                        <a:t> (4+5)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7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8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9= (7+8)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11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595727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0D2359A-C21F-4C6F-B84A-1B22E077135F}"/>
              </a:ext>
            </a:extLst>
          </p:cNvPr>
          <p:cNvSpPr/>
          <p:nvPr/>
        </p:nvSpPr>
        <p:spPr>
          <a:xfrm>
            <a:off x="638629" y="1289052"/>
            <a:ext cx="4352465" cy="225243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Font typeface="Arial" pitchFamily="34" charset="0"/>
              <a:buChar char="•"/>
            </a:pPr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Innovation and </a:t>
            </a:r>
            <a:r>
              <a:rPr lang="en-US" sz="2400" b="1" dirty="0" err="1" smtClean="0"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Agri</a:t>
            </a:r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-entrepreneurship </a:t>
            </a:r>
            <a:r>
              <a:rPr lang="en-US" sz="2400" b="1" dirty="0" err="1" smtClean="0"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programme</a:t>
            </a:r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of RKVY  launched in 2018-19.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136C945-301E-4166-859F-5189B3F74995}"/>
              </a:ext>
            </a:extLst>
          </p:cNvPr>
          <p:cNvSpPr txBox="1"/>
          <p:nvPr/>
        </p:nvSpPr>
        <p:spPr>
          <a:xfrm>
            <a:off x="6240246" y="1818329"/>
            <a:ext cx="5932704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Knowledge Partners (KPs) selected as Centre of Excellence</a:t>
            </a: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89FBEC9C-7D56-4746-9627-BD92F53F7619}"/>
              </a:ext>
            </a:extLst>
          </p:cNvPr>
          <p:cNvSpPr txBox="1"/>
          <p:nvPr/>
        </p:nvSpPr>
        <p:spPr>
          <a:xfrm>
            <a:off x="6222475" y="2642315"/>
            <a:ext cx="5613918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RKVY-RAFTAAR Agribusiness Incubators (R-ABIs) from across the country</a:t>
            </a: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xmlns="" id="{49509441-1E08-4746-A224-022CE106E4E9}"/>
              </a:ext>
            </a:extLst>
          </p:cNvPr>
          <p:cNvGrpSpPr/>
          <p:nvPr/>
        </p:nvGrpSpPr>
        <p:grpSpPr>
          <a:xfrm>
            <a:off x="5270410" y="1618379"/>
            <a:ext cx="857186" cy="1810138"/>
            <a:chOff x="5184377" y="1259633"/>
            <a:chExt cx="1064791" cy="2299319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xmlns="" id="{29B4415A-A5F6-4A8E-A4D7-251BB7DD8B77}"/>
                </a:ext>
              </a:extLst>
            </p:cNvPr>
            <p:cNvSpPr/>
            <p:nvPr/>
          </p:nvSpPr>
          <p:spPr>
            <a:xfrm>
              <a:off x="5184377" y="1259633"/>
              <a:ext cx="1064791" cy="1070673"/>
            </a:xfrm>
            <a:prstGeom prst="ellipse">
              <a:avLst/>
            </a:prstGeom>
            <a:solidFill>
              <a:srgbClr val="884475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r>
                <a:rPr lang="en-IN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IN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xmlns="" id="{9CB2A56A-ED93-467E-9C34-4A57EB371D8B}"/>
                </a:ext>
              </a:extLst>
            </p:cNvPr>
            <p:cNvSpPr/>
            <p:nvPr/>
          </p:nvSpPr>
          <p:spPr>
            <a:xfrm>
              <a:off x="5184377" y="2488279"/>
              <a:ext cx="1064791" cy="1070673"/>
            </a:xfrm>
            <a:prstGeom prst="ellipse">
              <a:avLst/>
            </a:prstGeom>
            <a:solidFill>
              <a:srgbClr val="884475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r>
                <a:rPr lang="en-IN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24</a:t>
              </a:r>
              <a:endParaRPr lang="en-IN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751F7E1E-A773-4B7F-A70D-12A89DAEDAA3}"/>
              </a:ext>
            </a:extLst>
          </p:cNvPr>
          <p:cNvSpPr txBox="1"/>
          <p:nvPr/>
        </p:nvSpPr>
        <p:spPr>
          <a:xfrm>
            <a:off x="443595" y="3610323"/>
            <a:ext cx="111388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3663"/>
            <a:r>
              <a:rPr lang="en-US" sz="2400" b="1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Objective: </a:t>
            </a:r>
            <a:r>
              <a:rPr lang="en-US" sz="24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To promote innovation and </a:t>
            </a:r>
            <a:r>
              <a:rPr lang="en-US" sz="2400" dirty="0" err="1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agri</a:t>
            </a:r>
            <a:r>
              <a:rPr lang="en-US" sz="24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-entrepreneurship by providing  technical and financial support and nurturing  the incubation ecosystem.</a:t>
            </a:r>
            <a:endParaRPr lang="en-IN" sz="24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3663"/>
            <a:endParaRPr lang="en-IN" sz="24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xmlns="" id="{DFC39032-AF88-483C-948F-BA8103364DA5}"/>
              </a:ext>
            </a:extLst>
          </p:cNvPr>
          <p:cNvGrpSpPr/>
          <p:nvPr/>
        </p:nvGrpSpPr>
        <p:grpSpPr>
          <a:xfrm>
            <a:off x="638019" y="4507049"/>
            <a:ext cx="10849130" cy="1323441"/>
            <a:chOff x="7359100" y="3850423"/>
            <a:chExt cx="4126295" cy="23657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DF1B062E-76A4-406B-A012-9813B62369B9}"/>
                </a:ext>
              </a:extLst>
            </p:cNvPr>
            <p:cNvSpPr txBox="1"/>
            <p:nvPr/>
          </p:nvSpPr>
          <p:spPr>
            <a:xfrm>
              <a:off x="7359100" y="3850423"/>
              <a:ext cx="2054121" cy="236577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txBody>
            <a:bodyPr wrap="square" anchor="ctr">
              <a:spAutoFit/>
            </a:bodyPr>
            <a:lstStyle/>
            <a:p>
              <a:pPr algn="just"/>
              <a:r>
                <a:rPr lang="en-US" sz="2000" dirty="0" smtClean="0"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1176 Startups selected and supported with technical and financial assistance during FY 2019-20 to 2022-23 by various KPs and R-ABIs of DA &amp; FW</a:t>
              </a:r>
              <a:endParaRPr lang="en-IN" b="1" dirty="0"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D707A4E5-82E6-4C94-A570-5B16EB663DC5}"/>
                </a:ext>
              </a:extLst>
            </p:cNvPr>
            <p:cNvSpPr txBox="1"/>
            <p:nvPr/>
          </p:nvSpPr>
          <p:spPr>
            <a:xfrm>
              <a:off x="9533822" y="3875595"/>
              <a:ext cx="1951573" cy="181559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txBody>
            <a:bodyPr wrap="square" anchor="ctr">
              <a:spAutoFit/>
            </a:bodyPr>
            <a:lstStyle/>
            <a:p>
              <a:pPr algn="just"/>
              <a:r>
                <a:rPr lang="en-US" sz="2000" dirty="0" smtClean="0">
                  <a:latin typeface="Times New Roman" pitchFamily="18" charset="0"/>
                  <a:ea typeface="Arial" panose="020B0604020202020204" pitchFamily="34" charset="0"/>
                  <a:cs typeface="Times New Roman" pitchFamily="18" charset="0"/>
                </a:rPr>
                <a:t>In total Rs 170.27 </a:t>
              </a:r>
              <a:r>
                <a:rPr lang="en-US" sz="2000" dirty="0" err="1" smtClean="0">
                  <a:latin typeface="Times New Roman" pitchFamily="18" charset="0"/>
                  <a:ea typeface="Arial" panose="020B0604020202020204" pitchFamily="34" charset="0"/>
                  <a:cs typeface="Times New Roman" pitchFamily="18" charset="0"/>
                </a:rPr>
                <a:t>crore</a:t>
              </a:r>
              <a:r>
                <a:rPr lang="en-US" sz="2000" dirty="0" smtClean="0">
                  <a:latin typeface="Times New Roman" pitchFamily="18" charset="0"/>
                  <a:ea typeface="Arial" panose="020B0604020202020204" pitchFamily="34" charset="0"/>
                  <a:cs typeface="Times New Roman" pitchFamily="18" charset="0"/>
                </a:rPr>
                <a:t> funds released in installments for funding  these 1176 Start-ups </a:t>
              </a:r>
              <a:r>
                <a:rPr lang="en-US" sz="2000" dirty="0" smtClean="0"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to the respective KPs &amp; R-ABIs by DA &amp; FW</a:t>
              </a:r>
              <a:endParaRPr lang="en-IN" b="1" dirty="0"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xmlns="" id="{0B3AE0CE-A677-1344-BF1B-47377879818E}"/>
              </a:ext>
            </a:extLst>
          </p:cNvPr>
          <p:cNvSpPr/>
          <p:nvPr/>
        </p:nvSpPr>
        <p:spPr>
          <a:xfrm>
            <a:off x="534537" y="147176"/>
            <a:ext cx="11178492" cy="781738"/>
          </a:xfrm>
          <a:prstGeom prst="roundRect">
            <a:avLst>
              <a:gd name="adj" fmla="val 6636"/>
            </a:avLst>
          </a:prstGeom>
          <a:solidFill>
            <a:schemeClr val="accent2"/>
          </a:solidFill>
          <a:ln w="28575">
            <a:solidFill>
              <a:srgbClr val="7939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chemeClr val="bg1"/>
                </a:solidFill>
                <a:latin typeface="Times New Roman" pitchFamily="18" charset="0"/>
                <a:ea typeface="Arial" pitchFamily="34" charset="0"/>
                <a:cs typeface="Times New Roman" pitchFamily="18" charset="0"/>
              </a:rPr>
              <a:t>Innovation and </a:t>
            </a:r>
            <a:r>
              <a:rPr lang="en-US" sz="2400" b="1" dirty="0" err="1" smtClean="0">
                <a:solidFill>
                  <a:schemeClr val="bg1"/>
                </a:solidFill>
                <a:latin typeface="Times New Roman" pitchFamily="18" charset="0"/>
                <a:ea typeface="Arial" pitchFamily="34" charset="0"/>
                <a:cs typeface="Times New Roman" pitchFamily="18" charset="0"/>
              </a:rPr>
              <a:t>Agri</a:t>
            </a:r>
            <a:r>
              <a:rPr lang="en-US" sz="2400" b="1" dirty="0" smtClean="0">
                <a:solidFill>
                  <a:schemeClr val="bg1"/>
                </a:solidFill>
                <a:latin typeface="Times New Roman" pitchFamily="18" charset="0"/>
                <a:ea typeface="Arial" pitchFamily="34" charset="0"/>
                <a:cs typeface="Times New Roman" pitchFamily="18" charset="0"/>
              </a:rPr>
              <a:t>-Entrepreneurship </a:t>
            </a:r>
            <a:r>
              <a:rPr lang="en-US" sz="2400" b="1" dirty="0" err="1" smtClean="0">
                <a:solidFill>
                  <a:schemeClr val="bg1"/>
                </a:solidFill>
                <a:latin typeface="Times New Roman" pitchFamily="18" charset="0"/>
                <a:ea typeface="Arial" pitchFamily="34" charset="0"/>
                <a:cs typeface="Times New Roman" pitchFamily="18" charset="0"/>
              </a:rPr>
              <a:t>programme</a:t>
            </a:r>
            <a:r>
              <a:rPr lang="en-US" sz="2400" b="1" dirty="0" smtClean="0">
                <a:solidFill>
                  <a:schemeClr val="bg1"/>
                </a:solidFill>
                <a:latin typeface="Times New Roman" pitchFamily="18" charset="0"/>
                <a:ea typeface="Arial" pitchFamily="34" charset="0"/>
                <a:cs typeface="Times New Roman" pitchFamily="18" charset="0"/>
              </a:rPr>
              <a:t> of RKVY</a:t>
            </a:r>
            <a:endParaRPr lang="en-US" sz="2400" b="1" dirty="0" smtClean="0">
              <a:solidFill>
                <a:schemeClr val="bg1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22117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xmlns="" id="{0B3AE0CE-A677-1344-BF1B-47377879818E}"/>
              </a:ext>
            </a:extLst>
          </p:cNvPr>
          <p:cNvSpPr/>
          <p:nvPr/>
        </p:nvSpPr>
        <p:spPr>
          <a:xfrm>
            <a:off x="406400" y="333827"/>
            <a:ext cx="11294606" cy="856343"/>
          </a:xfrm>
          <a:prstGeom prst="roundRect">
            <a:avLst>
              <a:gd name="adj" fmla="val 6636"/>
            </a:avLst>
          </a:prstGeom>
          <a:solidFill>
            <a:schemeClr val="accent2"/>
          </a:solidFill>
          <a:ln w="28575">
            <a:solidFill>
              <a:srgbClr val="7939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en-US" sz="2400" b="1" spc="-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" panose="02020603050405020304" pitchFamily="18" charset="0"/>
              </a:rPr>
              <a:t>Focus Area wise - </a:t>
            </a:r>
            <a:r>
              <a:rPr lang="en-US" sz="2400" b="1" spc="-1" dirty="0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" panose="02020603050405020304" pitchFamily="18" charset="0"/>
              </a:rPr>
              <a:t>Agri</a:t>
            </a:r>
            <a:r>
              <a:rPr lang="en-US" sz="2400" b="1" spc="-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" panose="02020603050405020304" pitchFamily="18" charset="0"/>
              </a:rPr>
              <a:t>- start-up supported </a:t>
            </a:r>
            <a:endParaRPr lang="en-US" sz="2400" b="1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77371" y="1415778"/>
          <a:ext cx="11321142" cy="5024933"/>
        </p:xfrm>
        <a:graphic>
          <a:graphicData uri="http://schemas.openxmlformats.org/drawingml/2006/table">
            <a:tbl>
              <a:tblPr/>
              <a:tblGrid>
                <a:gridCol w="769258"/>
                <a:gridCol w="8633910"/>
                <a:gridCol w="1917974"/>
              </a:tblGrid>
              <a:tr h="6012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 err="1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Calibri"/>
                          <a:cs typeface="Mangal"/>
                        </a:rPr>
                        <a:t>Sl.No</a:t>
                      </a:r>
                      <a:r>
                        <a:rPr lang="en-IN" sz="2000" b="1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Calibri"/>
                          <a:cs typeface="Mangal"/>
                        </a:rPr>
                        <a:t>.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Narrow" pitchFamily="34" charset="0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Narrow" pitchFamily="34" charset="0"/>
                          <a:ea typeface="Times New Roman"/>
                          <a:cs typeface="Calibri"/>
                        </a:rPr>
                        <a:t>Focus </a:t>
                      </a:r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Times New Roman"/>
                          <a:cs typeface="Calibri"/>
                        </a:rPr>
                        <a:t>Area</a:t>
                      </a:r>
                      <a:endParaRPr lang="en-US" sz="2000" dirty="0">
                        <a:solidFill>
                          <a:schemeClr val="tx1"/>
                        </a:solidFill>
                        <a:latin typeface="Arial Narrow" pitchFamily="34" charset="0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Times New Roman"/>
                          <a:cs typeface="Calibri"/>
                        </a:rPr>
                        <a:t>Total startups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Times New Roman"/>
                          <a:cs typeface="Calibri"/>
                        </a:rPr>
                        <a:t>supported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Narrow" pitchFamily="34" charset="0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63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Calibri"/>
                          <a:cs typeface="Mangal"/>
                        </a:rPr>
                        <a:t>1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Narrow" pitchFamily="34" charset="0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Narrow" pitchFamily="34" charset="0"/>
                          <a:ea typeface="Times New Roman"/>
                          <a:cs typeface="Calibri"/>
                        </a:rPr>
                        <a:t>Farm Mechanization</a:t>
                      </a:r>
                      <a:endParaRPr lang="en-US" sz="2000" dirty="0">
                        <a:solidFill>
                          <a:schemeClr val="tx1"/>
                        </a:solidFill>
                        <a:latin typeface="Arial Narrow" pitchFamily="34" charset="0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Mangal"/>
                        </a:rPr>
                        <a:t>155</a:t>
                      </a:r>
                      <a:endParaRPr lang="en-US" sz="2000" dirty="0">
                        <a:latin typeface="Arial Narrow" pitchFamily="34" charset="0"/>
                        <a:ea typeface="Arial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21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Calibri"/>
                          <a:cs typeface="Mangal"/>
                        </a:rPr>
                        <a:t>2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Narrow" pitchFamily="34" charset="0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Narrow" pitchFamily="34" charset="0"/>
                          <a:ea typeface="Times New Roman"/>
                          <a:cs typeface="Calibri"/>
                        </a:rPr>
                        <a:t>Precision Agriculture including applications of sensor, WSN, ICT, AI,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Arial Narrow" pitchFamily="34" charset="0"/>
                          <a:ea typeface="Times New Roman"/>
                          <a:cs typeface="Calibri"/>
                        </a:rPr>
                        <a:t>IoT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Narrow" pitchFamily="34" charset="0"/>
                          <a:ea typeface="Times New Roman"/>
                          <a:cs typeface="Calibri"/>
                        </a:rPr>
                        <a:t> &amp; drone</a:t>
                      </a:r>
                      <a:endParaRPr lang="en-US" sz="2000" dirty="0">
                        <a:solidFill>
                          <a:schemeClr val="tx1"/>
                        </a:solidFill>
                        <a:latin typeface="Arial Narrow" pitchFamily="34" charset="0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Mangal"/>
                        </a:rPr>
                        <a:t>177</a:t>
                      </a:r>
                      <a:endParaRPr lang="en-US" sz="2000" dirty="0">
                        <a:latin typeface="Arial Narrow" pitchFamily="34" charset="0"/>
                        <a:ea typeface="Arial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3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Calibri"/>
                          <a:cs typeface="Mangal"/>
                        </a:rPr>
                        <a:t>3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Narrow" pitchFamily="34" charset="0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Narrow" pitchFamily="34" charset="0"/>
                          <a:ea typeface="Times New Roman"/>
                          <a:cs typeface="Calibri"/>
                        </a:rPr>
                        <a:t>Post-Harvest, Food Technology &amp; Value addition</a:t>
                      </a:r>
                      <a:endParaRPr lang="en-US" sz="2000" dirty="0">
                        <a:solidFill>
                          <a:schemeClr val="tx1"/>
                        </a:solidFill>
                        <a:latin typeface="Arial Narrow" pitchFamily="34" charset="0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Mangal"/>
                        </a:rPr>
                        <a:t>359</a:t>
                      </a:r>
                      <a:endParaRPr lang="en-US" sz="2000" dirty="0">
                        <a:latin typeface="Arial Narrow" pitchFamily="34" charset="0"/>
                        <a:ea typeface="Arial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45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Calibri"/>
                          <a:cs typeface="Mangal"/>
                        </a:rPr>
                        <a:t>4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Narrow" pitchFamily="34" charset="0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Narrow" pitchFamily="34" charset="0"/>
                          <a:ea typeface="Times New Roman"/>
                          <a:cs typeface="Calibri"/>
                        </a:rPr>
                        <a:t>Supply Chain and Agriculture logistics &amp; agriculture inputs</a:t>
                      </a:r>
                      <a:endParaRPr lang="en-US" sz="2000" dirty="0">
                        <a:solidFill>
                          <a:schemeClr val="tx1"/>
                        </a:solidFill>
                        <a:latin typeface="Arial Narrow" pitchFamily="34" charset="0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Mangal"/>
                        </a:rPr>
                        <a:t>163</a:t>
                      </a:r>
                      <a:endParaRPr lang="en-US" sz="2000" dirty="0">
                        <a:latin typeface="Arial Narrow" pitchFamily="34" charset="0"/>
                        <a:ea typeface="Arial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91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Calibri"/>
                          <a:cs typeface="Mangal"/>
                        </a:rPr>
                        <a:t>5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Narrow" pitchFamily="34" charset="0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Narrow" pitchFamily="34" charset="0"/>
                          <a:ea typeface="Times New Roman"/>
                          <a:cs typeface="Calibri"/>
                        </a:rPr>
                        <a:t>Waste to Wealth &amp; Green Energy in Agriculture &amp; Organic Farming</a:t>
                      </a:r>
                      <a:endParaRPr lang="en-US" sz="2000" dirty="0">
                        <a:solidFill>
                          <a:schemeClr val="tx1"/>
                        </a:solidFill>
                        <a:latin typeface="Arial Narrow" pitchFamily="34" charset="0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Mangal"/>
                        </a:rPr>
                        <a:t>134</a:t>
                      </a:r>
                      <a:endParaRPr lang="en-US" sz="2000" dirty="0">
                        <a:latin typeface="Arial Narrow" pitchFamily="34" charset="0"/>
                        <a:ea typeface="Arial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18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Calibri"/>
                          <a:cs typeface="Mangal"/>
                        </a:rPr>
                        <a:t>6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Narrow" pitchFamily="34" charset="0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Narrow" pitchFamily="34" charset="0"/>
                          <a:ea typeface="Times New Roman"/>
                          <a:cs typeface="Calibri"/>
                        </a:rPr>
                        <a:t>Agriculture Allied Sector (Animal Husbandry, Dairy, Fisheries, etc.)</a:t>
                      </a:r>
                      <a:endParaRPr lang="en-US" sz="2000" dirty="0">
                        <a:solidFill>
                          <a:schemeClr val="tx1"/>
                        </a:solidFill>
                        <a:latin typeface="Arial Narrow" pitchFamily="34" charset="0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Mangal"/>
                        </a:rPr>
                        <a:t>188</a:t>
                      </a:r>
                      <a:endParaRPr lang="en-US" sz="2000" dirty="0">
                        <a:latin typeface="Arial Narrow" pitchFamily="34" charset="0"/>
                        <a:ea typeface="Arial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1235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Narrow" pitchFamily="34" charset="0"/>
                          <a:ea typeface="Times New Roman"/>
                          <a:cs typeface="Calibri"/>
                        </a:rPr>
                        <a:t>Total </a:t>
                      </a:r>
                      <a:endParaRPr lang="en-US" sz="2000" dirty="0">
                        <a:solidFill>
                          <a:schemeClr val="tx1"/>
                        </a:solidFill>
                        <a:latin typeface="Arial Narrow" pitchFamily="34" charset="0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latin typeface="Arial Narrow" pitchFamily="34" charset="0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Mangal"/>
                        </a:rPr>
                        <a:t>1176</a:t>
                      </a:r>
                      <a:endParaRPr lang="en-US" sz="2000" dirty="0">
                        <a:latin typeface="Arial Narrow" pitchFamily="34" charset="0"/>
                        <a:ea typeface="Arial"/>
                        <a:cs typeface="Mang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533322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900" y="274638"/>
            <a:ext cx="10985500" cy="792162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2"/>
                </a:solidFill>
              </a:rPr>
              <a:t>Role of State Governments in </a:t>
            </a:r>
            <a:r>
              <a:rPr lang="en-US" b="1" dirty="0" err="1" smtClean="0">
                <a:solidFill>
                  <a:schemeClr val="bg2"/>
                </a:solidFill>
              </a:rPr>
              <a:t>Agri</a:t>
            </a:r>
            <a:r>
              <a:rPr lang="en-US" b="1" dirty="0" smtClean="0">
                <a:solidFill>
                  <a:schemeClr val="bg2"/>
                </a:solidFill>
              </a:rPr>
              <a:t> Start up </a:t>
            </a:r>
            <a:r>
              <a:rPr lang="en-US" b="1" dirty="0" err="1" smtClean="0">
                <a:solidFill>
                  <a:schemeClr val="bg2"/>
                </a:solidFill>
              </a:rPr>
              <a:t>Programme</a:t>
            </a:r>
            <a:endParaRPr lang="en-US" b="1" dirty="0">
              <a:solidFill>
                <a:schemeClr val="bg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42900" y="1447800"/>
            <a:ext cx="11239500" cy="4572000"/>
          </a:xfrm>
        </p:spPr>
        <p:txBody>
          <a:bodyPr>
            <a:normAutofit/>
          </a:bodyPr>
          <a:lstStyle/>
          <a:p>
            <a:pPr algn="just">
              <a:lnSpc>
                <a:spcPct val="80000"/>
              </a:lnSpc>
              <a:buSzPct val="100000"/>
              <a:buFont typeface="Arial" pitchFamily="34" charset="0"/>
              <a:buChar char="•"/>
            </a:pPr>
            <a:r>
              <a:rPr lang="en-US" sz="3600" dirty="0" smtClean="0"/>
              <a:t>5 KPs and 24 RABIs have been appointed by DA&amp;FW by covering all the States across country.</a:t>
            </a:r>
          </a:p>
          <a:p>
            <a:pPr algn="just">
              <a:lnSpc>
                <a:spcPct val="80000"/>
              </a:lnSpc>
              <a:buSzPct val="100000"/>
              <a:buFont typeface="Arial" pitchFamily="34" charset="0"/>
              <a:buChar char="•"/>
            </a:pPr>
            <a:r>
              <a:rPr lang="en-US" sz="3600" dirty="0" smtClean="0"/>
              <a:t>State Government Representatives are a member in Internal Committees of KP/ RABIs</a:t>
            </a:r>
          </a:p>
          <a:p>
            <a:pPr algn="just">
              <a:lnSpc>
                <a:spcPct val="80000"/>
              </a:lnSpc>
              <a:buSzPct val="100000"/>
              <a:buFont typeface="Arial" pitchFamily="34" charset="0"/>
              <a:buChar char="•"/>
            </a:pPr>
            <a:r>
              <a:rPr lang="en-US" sz="3600" dirty="0" smtClean="0"/>
              <a:t>More integration &amp; Co-ordination needed between states &amp; KP/ RABIs</a:t>
            </a:r>
          </a:p>
          <a:p>
            <a:pPr algn="just">
              <a:lnSpc>
                <a:spcPct val="80000"/>
              </a:lnSpc>
              <a:buSzPct val="100000"/>
              <a:buFont typeface="Arial" pitchFamily="34" charset="0"/>
              <a:buChar char="•"/>
            </a:pPr>
            <a:r>
              <a:rPr lang="en-US" sz="3600" dirty="0" smtClean="0"/>
              <a:t>Regular meetings to create a more conducive environment for promotion of </a:t>
            </a:r>
            <a:r>
              <a:rPr lang="en-US" sz="3600" dirty="0" err="1" smtClean="0"/>
              <a:t>Agri</a:t>
            </a:r>
            <a:r>
              <a:rPr lang="en-US" sz="3600" dirty="0" smtClean="0"/>
              <a:t> Start ups in each state.</a:t>
            </a:r>
            <a:endParaRPr lang="en-US" sz="3600" dirty="0"/>
          </a:p>
        </p:txBody>
      </p:sp>
    </p:spTree>
    <p:extLst>
      <p:ext uri="{BB962C8B-B14F-4D97-AF65-F5344CB8AC3E}">
        <p14:creationId xmlns="" xmlns:p14="http://schemas.microsoft.com/office/powerpoint/2010/main" val="4057276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21310</TotalTime>
  <Words>791</Words>
  <Application>Microsoft Office PowerPoint</Application>
  <PresentationFormat>Custom</PresentationFormat>
  <Paragraphs>162</Paragraphs>
  <Slides>11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Equity</vt:lpstr>
      <vt:lpstr>Slide 1</vt:lpstr>
      <vt:lpstr>Rashtriya Krishi Vikas Yojana (RKVY)</vt:lpstr>
      <vt:lpstr>Reasons for Merger of Schemes in RKVY</vt:lpstr>
      <vt:lpstr>Reasons for Introduction of Consolidated Annual Action Plans</vt:lpstr>
      <vt:lpstr>Procedure of release of Funds</vt:lpstr>
      <vt:lpstr>Format – I  Submitting the Minutes of SLSC </vt:lpstr>
      <vt:lpstr>Format – II  Submitting the Projects / Activities - wise details </vt:lpstr>
      <vt:lpstr>Format – III  Overall RKVY Abstract          (Rs. in crore)</vt:lpstr>
      <vt:lpstr>Slide 9</vt:lpstr>
      <vt:lpstr>Slide 10</vt:lpstr>
      <vt:lpstr>Role of State Governments in Agri Start up Programme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Shivam</dc:creator>
  <cp:lastModifiedBy>GC Section</cp:lastModifiedBy>
  <cp:revision>544</cp:revision>
  <cp:lastPrinted>2022-04-08T05:51:36Z</cp:lastPrinted>
  <dcterms:created xsi:type="dcterms:W3CDTF">2020-07-08T12:50:25Z</dcterms:created>
  <dcterms:modified xsi:type="dcterms:W3CDTF">2023-05-02T13:39:41Z</dcterms:modified>
</cp:coreProperties>
</file>