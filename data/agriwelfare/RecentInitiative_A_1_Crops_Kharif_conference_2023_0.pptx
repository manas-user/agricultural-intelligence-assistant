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FFE600"/>
    <a:srgbClr val="5B9BD5"/>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91" d="100"/>
          <a:sy n="91" d="100"/>
        </p:scale>
        <p:origin x="-534"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38CAB6-549F-4CC7-A905-39737D573F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6F1ADC27-80E7-4500-9413-96C5848F20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595BEC2-7551-4A8A-9579-E7D3430AEBC7}"/>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5" name="Footer Placeholder 4">
            <a:extLst>
              <a:ext uri="{FF2B5EF4-FFF2-40B4-BE49-F238E27FC236}">
                <a16:creationId xmlns:a16="http://schemas.microsoft.com/office/drawing/2014/main" xmlns="" id="{4B5D2964-303E-4AD1-83CA-280449A6F1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42DA063-45D6-4A30-B1B6-B0827EEE421B}"/>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2016430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315471-7EDE-4E6E-839B-BD9433E6A0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BEC4E0D-7230-4EC9-98DA-1DD7205055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8CC6356-9D48-44D9-AE90-DC068231F064}"/>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5" name="Footer Placeholder 4">
            <a:extLst>
              <a:ext uri="{FF2B5EF4-FFF2-40B4-BE49-F238E27FC236}">
                <a16:creationId xmlns:a16="http://schemas.microsoft.com/office/drawing/2014/main" xmlns="" id="{121D99A8-AB27-4404-AC1C-4F74993324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484CAB7-656C-443E-A8A9-E8EC34BF1118}"/>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3694087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13F6FE-C55C-424F-81BB-EE116F6EF3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61B2D9F-5C25-49D2-8720-7F5F2DBC4B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F706491-E1FE-4E96-A353-A539BBBF8961}"/>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5" name="Footer Placeholder 4">
            <a:extLst>
              <a:ext uri="{FF2B5EF4-FFF2-40B4-BE49-F238E27FC236}">
                <a16:creationId xmlns:a16="http://schemas.microsoft.com/office/drawing/2014/main" xmlns="" id="{FF92C525-5F6C-4FF9-8920-C35F95FF3B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465E043-27DB-4321-BEE3-A9D16125EA56}"/>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2972711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DF8ABE-8BA2-41F2-960E-FB50ED3FCD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4408493-CFFB-4583-A875-F69CD2A545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9585C0B-B26A-4F4E-AAFA-548058B34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2B17CB43-9E66-4331-9DE4-D2D8D2BA6CEA}"/>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6" name="Footer Placeholder 5">
            <a:extLst>
              <a:ext uri="{FF2B5EF4-FFF2-40B4-BE49-F238E27FC236}">
                <a16:creationId xmlns:a16="http://schemas.microsoft.com/office/drawing/2014/main" xmlns="" id="{0C01167D-DB3C-48B9-9220-1103E47E25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E53C184-654E-425C-9E2B-B06A649348E7}"/>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1206373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E80E6F-A97A-48DE-B2E8-075C7561E1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DB9B38F-359B-4D89-BDE2-6C6B385054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929561F-52B9-444C-B0B4-80E8CBE949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587ABEA3-E3D8-40AC-AC64-52D573C32C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B26F358-E854-4496-82F4-43B2F07EC2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44DEDC10-6CDA-476F-9563-B714D3121564}"/>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8" name="Footer Placeholder 7">
            <a:extLst>
              <a:ext uri="{FF2B5EF4-FFF2-40B4-BE49-F238E27FC236}">
                <a16:creationId xmlns:a16="http://schemas.microsoft.com/office/drawing/2014/main" xmlns="" id="{D73CEBAE-C983-40F1-9F85-4C17E58BF7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0C1041BC-7491-4C99-85E3-422CA298AF74}"/>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2835823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39C44C-903D-4DE5-B913-8D9AB2E4810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2F8CFA77-F6DE-4973-B575-B8B6782084CA}"/>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4" name="Footer Placeholder 3">
            <a:extLst>
              <a:ext uri="{FF2B5EF4-FFF2-40B4-BE49-F238E27FC236}">
                <a16:creationId xmlns:a16="http://schemas.microsoft.com/office/drawing/2014/main" xmlns="" id="{BB97F8A6-4BB7-481D-B26A-CEF7221305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C912E007-001E-4C3E-B118-7A41429ED12B}"/>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232118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B7EC354-F962-41C2-B457-E7F29FFF6D0C}"/>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3" name="Footer Placeholder 2">
            <a:extLst>
              <a:ext uri="{FF2B5EF4-FFF2-40B4-BE49-F238E27FC236}">
                <a16:creationId xmlns:a16="http://schemas.microsoft.com/office/drawing/2014/main" xmlns="" id="{DA54A4AE-E3DF-4D34-866B-9E63941CD6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3C0CD870-0815-4208-B1CA-B1D48A5CAF23}"/>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229103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2A08E6-182E-4060-A98D-D13FA107AC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6B3BA6-F274-4DCE-9D06-E0EDC65AC2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08E54B9A-30C6-425B-81F8-CDB967651E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A90AB77-9FE3-48B5-BFB5-81D764C8501C}"/>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6" name="Footer Placeholder 5">
            <a:extLst>
              <a:ext uri="{FF2B5EF4-FFF2-40B4-BE49-F238E27FC236}">
                <a16:creationId xmlns:a16="http://schemas.microsoft.com/office/drawing/2014/main" xmlns="" id="{8F48CFCC-0633-4D21-ADCF-5BA878B289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E839132-51F3-4042-9E36-08D25C574B9C}"/>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2879705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0AA7E7-D843-4428-8831-3DA6B4E434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8F04D40-B4AF-4CE4-B5DE-4F7B506F86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84EE9BF-8636-4E78-8938-CF0A5252F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5FB4E88-5179-4EB0-BD18-EAB5CFF53EA6}"/>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6" name="Footer Placeholder 5">
            <a:extLst>
              <a:ext uri="{FF2B5EF4-FFF2-40B4-BE49-F238E27FC236}">
                <a16:creationId xmlns:a16="http://schemas.microsoft.com/office/drawing/2014/main" xmlns="" id="{2041DB37-1044-4056-9BF5-1D01BD73EC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972E8F9-9A31-4DC4-8711-B0FE3B07F5D5}"/>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633255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65854C-B6A9-4C57-8030-A04B355F5D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BA7B9AE-7FAC-4D9E-BF9B-D111B15E28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EE9DF40-D0EF-41C1-9D37-38747E42E96D}"/>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5" name="Footer Placeholder 4">
            <a:extLst>
              <a:ext uri="{FF2B5EF4-FFF2-40B4-BE49-F238E27FC236}">
                <a16:creationId xmlns:a16="http://schemas.microsoft.com/office/drawing/2014/main" xmlns="" id="{97C0F126-20BD-4281-81C6-0C8E2AD3C2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76ED9F9-A9FC-4B9E-A197-65B2365EC6B7}"/>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465860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6A3C8A8-D740-4693-A656-7C95C1A80A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19DA411-3C5A-4231-BDAE-A2C3FB9108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BECA2DB-643B-47B4-8BAF-A96E1B14234B}"/>
              </a:ext>
            </a:extLst>
          </p:cNvPr>
          <p:cNvSpPr>
            <a:spLocks noGrp="1"/>
          </p:cNvSpPr>
          <p:nvPr>
            <p:ph type="dt" sz="half" idx="10"/>
          </p:nvPr>
        </p:nvSpPr>
        <p:spPr/>
        <p:txBody>
          <a:bodyPr/>
          <a:lstStyle/>
          <a:p>
            <a:fld id="{87D855DF-B251-4430-8B9B-5118AAF286E4}" type="datetimeFigureOut">
              <a:rPr lang="en-IN" smtClean="0"/>
              <a:pPr/>
              <a:t>01-05-2023</a:t>
            </a:fld>
            <a:endParaRPr lang="en-IN"/>
          </a:p>
        </p:txBody>
      </p:sp>
      <p:sp>
        <p:nvSpPr>
          <p:cNvPr id="5" name="Footer Placeholder 4">
            <a:extLst>
              <a:ext uri="{FF2B5EF4-FFF2-40B4-BE49-F238E27FC236}">
                <a16:creationId xmlns:a16="http://schemas.microsoft.com/office/drawing/2014/main" xmlns="" id="{158D977F-9494-4D39-90CA-4D64104239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B235E29-065D-4FE7-A1DC-52BF45AD9537}"/>
              </a:ext>
            </a:extLst>
          </p:cNvPr>
          <p:cNvSpPr>
            <a:spLocks noGrp="1"/>
          </p:cNvSpPr>
          <p:nvPr>
            <p:ph type="sldNum" sz="quarter" idx="12"/>
          </p:nvPr>
        </p:nvSpPr>
        <p:spPr/>
        <p:txBody>
          <a:body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807316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2C4D470-7B49-4568-BE54-4481A9F2B6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5C4A763-4DA1-45E5-97D9-BA221ABB6E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8E473C6-A2C9-493C-8233-9BD02FF43D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D855DF-B251-4430-8B9B-5118AAF286E4}" type="datetimeFigureOut">
              <a:rPr lang="en-IN" smtClean="0"/>
              <a:pPr/>
              <a:t>01-05-2023</a:t>
            </a:fld>
            <a:endParaRPr lang="en-IN"/>
          </a:p>
        </p:txBody>
      </p:sp>
      <p:sp>
        <p:nvSpPr>
          <p:cNvPr id="5" name="Footer Placeholder 4">
            <a:extLst>
              <a:ext uri="{FF2B5EF4-FFF2-40B4-BE49-F238E27FC236}">
                <a16:creationId xmlns:a16="http://schemas.microsoft.com/office/drawing/2014/main" xmlns="" id="{ADC0F557-A04A-4F84-9257-B638678BA1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48709CF4-519C-4B7C-9992-7243DE7090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D51E5-3E48-451C-A70A-5B2EC6A7D7A1}" type="slidenum">
              <a:rPr lang="en-IN" smtClean="0"/>
              <a:pPr/>
              <a:t>‹#›</a:t>
            </a:fld>
            <a:endParaRPr lang="en-IN"/>
          </a:p>
        </p:txBody>
      </p:sp>
    </p:spTree>
    <p:extLst>
      <p:ext uri="{BB962C8B-B14F-4D97-AF65-F5344CB8AC3E}">
        <p14:creationId xmlns:p14="http://schemas.microsoft.com/office/powerpoint/2010/main" xmlns="" val="452621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821BE281-8116-40A1-A628-3CADB34ABC98}"/>
              </a:ext>
            </a:extLst>
          </p:cNvPr>
          <p:cNvPicPr>
            <a:picLocks noChangeAspect="1"/>
          </p:cNvPicPr>
          <p:nvPr/>
        </p:nvPicPr>
        <p:blipFill>
          <a:blip r:embed="rId2">
            <a:alphaModFix amt="20000"/>
          </a:blip>
          <a:stretch>
            <a:fillRect/>
          </a:stretch>
        </p:blipFill>
        <p:spPr>
          <a:xfrm>
            <a:off x="0" y="0"/>
            <a:ext cx="12192000" cy="6858000"/>
          </a:xfrm>
          <a:prstGeom prst="rect">
            <a:avLst/>
          </a:prstGeom>
        </p:spPr>
      </p:pic>
      <p:pic>
        <p:nvPicPr>
          <p:cNvPr id="9" name="Picture 2" descr="Azadi Ka Amrit Mahotsav (Hindi) Logo PNG Vector (EPS) Free Download">
            <a:extLst>
              <a:ext uri="{FF2B5EF4-FFF2-40B4-BE49-F238E27FC236}">
                <a16:creationId xmlns:a16="http://schemas.microsoft.com/office/drawing/2014/main" xmlns="" id="{FE800D4A-265A-4CF8-B769-160EA425BD28}"/>
              </a:ext>
            </a:extLst>
          </p:cNvPr>
          <p:cNvPicPr>
            <a:picLocks noChangeAspect="1" noChangeArrowheads="1"/>
          </p:cNvPicPr>
          <p:nvPr/>
        </p:nvPicPr>
        <p:blipFill>
          <a:blip r:embed="rId3" cstate="email">
            <a:extLst>
              <a:ext uri="{28A0092B-C50C-407E-A947-70E740481C1C}">
                <a14:useLocalDpi xmlns:a14="http://schemas.microsoft.com/office/drawing/2010/main" xmlns=""/>
              </a:ext>
            </a:extLst>
          </a:blip>
          <a:srcRect/>
          <a:stretch>
            <a:fillRect/>
          </a:stretch>
        </p:blipFill>
        <p:spPr bwMode="auto">
          <a:xfrm>
            <a:off x="10842675" y="76205"/>
            <a:ext cx="1120344" cy="765540"/>
          </a:xfrm>
          <a:prstGeom prst="rect">
            <a:avLst/>
          </a:prstGeom>
          <a:noFill/>
          <a:extLst>
            <a:ext uri="{909E8E84-426E-40DD-AFC4-6F175D3DCCD1}">
              <a14:hiddenFill xmlns:a14="http://schemas.microsoft.com/office/drawing/2010/main" xmlns="">
                <a:solidFill>
                  <a:srgbClr val="FFFFFF"/>
                </a:solidFill>
              </a14:hiddenFill>
            </a:ext>
          </a:extLst>
        </p:spPr>
      </p:pic>
      <p:pic>
        <p:nvPicPr>
          <p:cNvPr id="12" name="Picture 11" descr="Shape&#10;&#10;Description automatically generated with medium confidence">
            <a:extLst>
              <a:ext uri="{FF2B5EF4-FFF2-40B4-BE49-F238E27FC236}">
                <a16:creationId xmlns:a16="http://schemas.microsoft.com/office/drawing/2014/main" xmlns="" id="{8C8A5CBC-6F96-483A-8C4E-3706DB233FC5}"/>
              </a:ext>
            </a:extLst>
          </p:cNvPr>
          <p:cNvPicPr>
            <a:picLocks noChangeAspect="1"/>
          </p:cNvPicPr>
          <p:nvPr/>
        </p:nvPicPr>
        <p:blipFill>
          <a:blip r:embed="rId4" cstate="email">
            <a:extLst>
              <a:ext uri="{28A0092B-C50C-407E-A947-70E740481C1C}">
                <a14:useLocalDpi xmlns:a14="http://schemas.microsoft.com/office/drawing/2010/main" xmlns=""/>
              </a:ext>
            </a:extLst>
          </a:blip>
          <a:stretch>
            <a:fillRect/>
          </a:stretch>
        </p:blipFill>
        <p:spPr>
          <a:xfrm>
            <a:off x="153307" y="29465"/>
            <a:ext cx="1923179" cy="859020"/>
          </a:xfrm>
          <a:prstGeom prst="rect">
            <a:avLst/>
          </a:prstGeom>
        </p:spPr>
      </p:pic>
      <p:sp>
        <p:nvSpPr>
          <p:cNvPr id="14" name="Title 1">
            <a:extLst>
              <a:ext uri="{FF2B5EF4-FFF2-40B4-BE49-F238E27FC236}">
                <a16:creationId xmlns:a16="http://schemas.microsoft.com/office/drawing/2014/main" xmlns="" id="{B3BBEF62-29F6-4D83-97DB-E8C1E9A533C9}"/>
              </a:ext>
            </a:extLst>
          </p:cNvPr>
          <p:cNvSpPr>
            <a:spLocks noGrp="1"/>
          </p:cNvSpPr>
          <p:nvPr>
            <p:ph type="ctrTitle"/>
          </p:nvPr>
        </p:nvSpPr>
        <p:spPr>
          <a:xfrm>
            <a:off x="1685131" y="1738297"/>
            <a:ext cx="8821738" cy="1277938"/>
          </a:xfrm>
          <a:ln w="28575"/>
        </p:spPr>
        <p:txBody>
          <a:bodyPr>
            <a:noAutofit/>
          </a:bodyPr>
          <a:lstStyle/>
          <a:p>
            <a:pPr fontAlgn="auto">
              <a:spcBef>
                <a:spcPts val="0"/>
              </a:spcBef>
              <a:spcAft>
                <a:spcPts val="0"/>
              </a:spcAft>
              <a:defRPr/>
            </a:pPr>
            <a:r>
              <a:rPr lang="en-US" sz="4000" b="1" dirty="0">
                <a:solidFill>
                  <a:schemeClr val="accent2">
                    <a:lumMod val="50000"/>
                  </a:schemeClr>
                </a:solidFill>
                <a:latin typeface="+mn-lt"/>
              </a:rPr>
              <a:t/>
            </a:r>
            <a:br>
              <a:rPr lang="en-US" sz="4000" b="1" dirty="0">
                <a:solidFill>
                  <a:schemeClr val="accent2">
                    <a:lumMod val="50000"/>
                  </a:schemeClr>
                </a:solidFill>
                <a:latin typeface="+mn-lt"/>
              </a:rPr>
            </a:br>
            <a:r>
              <a:rPr lang="en-US" sz="3600" b="1" dirty="0">
                <a:solidFill>
                  <a:schemeClr val="accent2">
                    <a:lumMod val="50000"/>
                  </a:schemeClr>
                </a:solidFill>
                <a:latin typeface="+mn-lt"/>
              </a:rPr>
              <a:t>NATIONAL CONFERENCE ON AGRICULTURE </a:t>
            </a:r>
            <a:br>
              <a:rPr lang="en-US" sz="3600" b="1" dirty="0">
                <a:solidFill>
                  <a:schemeClr val="accent2">
                    <a:lumMod val="50000"/>
                  </a:schemeClr>
                </a:solidFill>
                <a:latin typeface="+mn-lt"/>
              </a:rPr>
            </a:br>
            <a:r>
              <a:rPr lang="en-US" sz="3600" b="1" dirty="0">
                <a:solidFill>
                  <a:schemeClr val="accent2">
                    <a:lumMod val="50000"/>
                  </a:schemeClr>
                </a:solidFill>
                <a:latin typeface="+mn-lt"/>
              </a:rPr>
              <a:t>(</a:t>
            </a:r>
            <a:r>
              <a:rPr lang="en-US" sz="3600" b="1" i="1" dirty="0">
                <a:solidFill>
                  <a:schemeClr val="accent2">
                    <a:lumMod val="50000"/>
                  </a:schemeClr>
                </a:solidFill>
                <a:latin typeface="+mn-lt"/>
              </a:rPr>
              <a:t>KHARIF </a:t>
            </a:r>
            <a:r>
              <a:rPr lang="en-US" sz="3600" b="1" dirty="0">
                <a:solidFill>
                  <a:schemeClr val="accent2">
                    <a:lumMod val="50000"/>
                  </a:schemeClr>
                </a:solidFill>
                <a:latin typeface="+mn-lt"/>
              </a:rPr>
              <a:t> CAMPAIGN-2023)</a:t>
            </a:r>
            <a:r>
              <a:rPr lang="en-US" sz="3600" b="1" dirty="0">
                <a:solidFill>
                  <a:schemeClr val="tx2">
                    <a:lumMod val="50000"/>
                  </a:schemeClr>
                </a:solidFill>
                <a:latin typeface="+mn-lt"/>
              </a:rPr>
              <a:t>  </a:t>
            </a:r>
            <a:br>
              <a:rPr lang="en-US" sz="3600" b="1" dirty="0">
                <a:solidFill>
                  <a:schemeClr val="tx2">
                    <a:lumMod val="50000"/>
                  </a:schemeClr>
                </a:solidFill>
                <a:latin typeface="+mn-lt"/>
              </a:rPr>
            </a:br>
            <a:r>
              <a:rPr lang="en-US" sz="2800" b="1" dirty="0">
                <a:solidFill>
                  <a:schemeClr val="tx2">
                    <a:lumMod val="50000"/>
                  </a:schemeClr>
                </a:solidFill>
                <a:latin typeface="+mn-lt"/>
              </a:rPr>
              <a:t>03</a:t>
            </a:r>
            <a:r>
              <a:rPr lang="en-US" sz="2800" b="1" baseline="30000" dirty="0">
                <a:solidFill>
                  <a:schemeClr val="tx2">
                    <a:lumMod val="50000"/>
                  </a:schemeClr>
                </a:solidFill>
                <a:latin typeface="+mn-lt"/>
              </a:rPr>
              <a:t>rd</a:t>
            </a:r>
            <a:r>
              <a:rPr lang="en-US" sz="2800" b="1" dirty="0">
                <a:solidFill>
                  <a:schemeClr val="tx2">
                    <a:lumMod val="50000"/>
                  </a:schemeClr>
                </a:solidFill>
                <a:latin typeface="+mn-lt"/>
              </a:rPr>
              <a:t> May, 2023</a:t>
            </a:r>
            <a:endParaRPr lang="en-US" sz="4000" b="1" dirty="0">
              <a:solidFill>
                <a:schemeClr val="accent2">
                  <a:lumMod val="50000"/>
                </a:schemeClr>
              </a:solidFill>
              <a:latin typeface="+mn-lt"/>
            </a:endParaRPr>
          </a:p>
        </p:txBody>
      </p:sp>
      <p:sp>
        <p:nvSpPr>
          <p:cNvPr id="15" name="Rectangle 10">
            <a:extLst>
              <a:ext uri="{FF2B5EF4-FFF2-40B4-BE49-F238E27FC236}">
                <a16:creationId xmlns:a16="http://schemas.microsoft.com/office/drawing/2014/main" xmlns="" id="{6D9D4CC3-CE17-4EE2-83B0-89CFB42B263D}"/>
              </a:ext>
            </a:extLst>
          </p:cNvPr>
          <p:cNvSpPr>
            <a:spLocks noChangeArrowheads="1"/>
          </p:cNvSpPr>
          <p:nvPr/>
        </p:nvSpPr>
        <p:spPr bwMode="auto">
          <a:xfrm>
            <a:off x="1981200" y="3137798"/>
            <a:ext cx="8229600" cy="646331"/>
          </a:xfrm>
          <a:prstGeom prst="rect">
            <a:avLst/>
          </a:prstGeom>
          <a:noFill/>
          <a:ln w="9525">
            <a:noFill/>
            <a:miter lim="800000"/>
            <a:headEnd/>
            <a:tailEnd/>
          </a:ln>
        </p:spPr>
        <p:txBody>
          <a:bodyPr>
            <a:spAutoFit/>
          </a:bodyPr>
          <a:lstStyle/>
          <a:p>
            <a:pPr algn="ctr">
              <a:defRPr/>
            </a:pPr>
            <a:r>
              <a:rPr lang="en-US" sz="3600" b="1" i="1" dirty="0">
                <a:solidFill>
                  <a:schemeClr val="tx2">
                    <a:lumMod val="50000"/>
                  </a:schemeClr>
                </a:solidFill>
              </a:rPr>
              <a:t>KHARIF</a:t>
            </a:r>
            <a:r>
              <a:rPr lang="en-US" sz="3600" b="1" dirty="0">
                <a:solidFill>
                  <a:schemeClr val="tx2">
                    <a:lumMod val="50000"/>
                  </a:schemeClr>
                </a:solidFill>
              </a:rPr>
              <a:t> PROSPECTS AND STRATEGIES</a:t>
            </a:r>
          </a:p>
        </p:txBody>
      </p:sp>
      <p:sp>
        <p:nvSpPr>
          <p:cNvPr id="16" name="Rectangle 1">
            <a:extLst>
              <a:ext uri="{FF2B5EF4-FFF2-40B4-BE49-F238E27FC236}">
                <a16:creationId xmlns:a16="http://schemas.microsoft.com/office/drawing/2014/main" xmlns="" id="{F26F1C3E-801E-42D5-9D42-5EA2FD09C73B}"/>
              </a:ext>
            </a:extLst>
          </p:cNvPr>
          <p:cNvSpPr>
            <a:spLocks noChangeArrowheads="1"/>
          </p:cNvSpPr>
          <p:nvPr/>
        </p:nvSpPr>
        <p:spPr bwMode="auto">
          <a:xfrm>
            <a:off x="2286000" y="5638227"/>
            <a:ext cx="7620000" cy="1323439"/>
          </a:xfrm>
          <a:prstGeom prst="rect">
            <a:avLst/>
          </a:prstGeom>
          <a:noFill/>
          <a:ln w="9525">
            <a:noFill/>
            <a:miter lim="800000"/>
            <a:headEnd/>
            <a:tailEnd/>
          </a:ln>
        </p:spPr>
        <p:txBody>
          <a:bodyPr>
            <a:spAutoFit/>
          </a:bodyPr>
          <a:lstStyle/>
          <a:p>
            <a:pPr algn="ctr">
              <a:defRPr/>
            </a:pPr>
            <a:r>
              <a:rPr lang="en-US" sz="2000" b="1" dirty="0">
                <a:solidFill>
                  <a:schemeClr val="accent5">
                    <a:lumMod val="50000"/>
                  </a:schemeClr>
                </a:solidFill>
              </a:rPr>
              <a:t>Smt. </a:t>
            </a:r>
            <a:r>
              <a:rPr lang="en-US" sz="2000" b="1" dirty="0" err="1">
                <a:solidFill>
                  <a:schemeClr val="accent5">
                    <a:lumMod val="50000"/>
                  </a:schemeClr>
                </a:solidFill>
              </a:rPr>
              <a:t>Shubha</a:t>
            </a:r>
            <a:r>
              <a:rPr lang="en-US" sz="2000" b="1" dirty="0">
                <a:solidFill>
                  <a:schemeClr val="accent5">
                    <a:lumMod val="50000"/>
                  </a:schemeClr>
                </a:solidFill>
              </a:rPr>
              <a:t> </a:t>
            </a:r>
            <a:r>
              <a:rPr lang="en-US" sz="2000" b="1" dirty="0" err="1">
                <a:solidFill>
                  <a:schemeClr val="accent5">
                    <a:lumMod val="50000"/>
                  </a:schemeClr>
                </a:solidFill>
              </a:rPr>
              <a:t>Thakur</a:t>
            </a:r>
            <a:endParaRPr lang="en-US" sz="2000" b="1" dirty="0">
              <a:solidFill>
                <a:schemeClr val="accent5">
                  <a:lumMod val="50000"/>
                </a:schemeClr>
              </a:solidFill>
            </a:endParaRPr>
          </a:p>
          <a:p>
            <a:pPr algn="ctr">
              <a:defRPr/>
            </a:pPr>
            <a:r>
              <a:rPr lang="en-US" sz="2000" b="1" dirty="0">
                <a:solidFill>
                  <a:schemeClr val="accent5">
                    <a:lumMod val="50000"/>
                  </a:schemeClr>
                </a:solidFill>
              </a:rPr>
              <a:t>Joint Secretary (Crops) </a:t>
            </a:r>
          </a:p>
          <a:p>
            <a:pPr algn="ctr">
              <a:defRPr/>
            </a:pPr>
            <a:r>
              <a:rPr lang="en-US" sz="2000" b="1" dirty="0">
                <a:solidFill>
                  <a:schemeClr val="accent5">
                    <a:lumMod val="50000"/>
                  </a:schemeClr>
                </a:solidFill>
              </a:rPr>
              <a:t>Department of Agriculture&amp; Farmers Welfare, </a:t>
            </a:r>
          </a:p>
          <a:p>
            <a:pPr algn="ctr">
              <a:defRPr/>
            </a:pPr>
            <a:r>
              <a:rPr lang="en-US" sz="2000" b="1" dirty="0">
                <a:solidFill>
                  <a:schemeClr val="accent5">
                    <a:lumMod val="50000"/>
                  </a:schemeClr>
                </a:solidFill>
              </a:rPr>
              <a:t>Ministry of Agriculture &amp; Farmers Welfare</a:t>
            </a:r>
          </a:p>
        </p:txBody>
      </p:sp>
      <p:pic>
        <p:nvPicPr>
          <p:cNvPr id="17" name="Picture 16">
            <a:extLst>
              <a:ext uri="{FF2B5EF4-FFF2-40B4-BE49-F238E27FC236}">
                <a16:creationId xmlns:a16="http://schemas.microsoft.com/office/drawing/2014/main" xmlns="" id="{7BF59462-2142-4EB8-B53F-35255BA38F24}"/>
              </a:ext>
            </a:extLst>
          </p:cNvPr>
          <p:cNvPicPr/>
          <p:nvPr/>
        </p:nvPicPr>
        <p:blipFill>
          <a:blip r:embed="rId5" cstate="email">
            <a:extLst>
              <a:ext uri="{28A0092B-C50C-407E-A947-70E740481C1C}">
                <a14:useLocalDpi xmlns:a14="http://schemas.microsoft.com/office/drawing/2010/main" xmlns=""/>
              </a:ext>
            </a:extLst>
          </a:blip>
          <a:srcRect/>
          <a:stretch>
            <a:fillRect/>
          </a:stretch>
        </p:blipFill>
        <p:spPr bwMode="auto">
          <a:xfrm>
            <a:off x="6319045" y="-204566"/>
            <a:ext cx="3204302" cy="1236844"/>
          </a:xfrm>
          <a:prstGeom prst="rect">
            <a:avLst/>
          </a:prstGeom>
          <a:noFill/>
          <a:ln>
            <a:noFill/>
          </a:ln>
          <a:effectLst/>
        </p:spPr>
      </p:pic>
      <p:pic>
        <p:nvPicPr>
          <p:cNvPr id="18" name="Picture 17">
            <a:extLst>
              <a:ext uri="{FF2B5EF4-FFF2-40B4-BE49-F238E27FC236}">
                <a16:creationId xmlns:a16="http://schemas.microsoft.com/office/drawing/2014/main" xmlns="" id="{D6C27116-E1DC-41CD-852E-0E64A662A6D8}"/>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3395814" y="-223111"/>
            <a:ext cx="1603903" cy="1420562"/>
          </a:xfrm>
          <a:prstGeom prst="rect">
            <a:avLst/>
          </a:prstGeom>
        </p:spPr>
      </p:pic>
      <p:pic>
        <p:nvPicPr>
          <p:cNvPr id="4" name="Picture 3">
            <a:extLst>
              <a:ext uri="{FF2B5EF4-FFF2-40B4-BE49-F238E27FC236}">
                <a16:creationId xmlns:a16="http://schemas.microsoft.com/office/drawing/2014/main" xmlns="" id="{4A128145-1F7C-4B9A-967B-A372CE7F2F5D}"/>
              </a:ext>
            </a:extLst>
          </p:cNvPr>
          <p:cNvPicPr>
            <a:picLocks noChangeAspect="1"/>
          </p:cNvPicPr>
          <p:nvPr/>
        </p:nvPicPr>
        <p:blipFill>
          <a:blip r:embed="rId7" cstate="print"/>
          <a:stretch>
            <a:fillRect/>
          </a:stretch>
        </p:blipFill>
        <p:spPr>
          <a:xfrm>
            <a:off x="5677207" y="4086611"/>
            <a:ext cx="837585" cy="1335841"/>
          </a:xfrm>
          <a:prstGeom prst="rect">
            <a:avLst/>
          </a:prstGeom>
        </p:spPr>
      </p:pic>
    </p:spTree>
    <p:extLst>
      <p:ext uri="{BB962C8B-B14F-4D97-AF65-F5344CB8AC3E}">
        <p14:creationId xmlns:p14="http://schemas.microsoft.com/office/powerpoint/2010/main" xmlns="" val="91064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B959FFEA-4609-42B6-8902-996D8BE8BBEA}"/>
              </a:ext>
            </a:extLst>
          </p:cNvPr>
          <p:cNvPicPr>
            <a:picLocks noChangeAspect="1"/>
          </p:cNvPicPr>
          <p:nvPr/>
        </p:nvPicPr>
        <p:blipFill rotWithShape="1">
          <a:blip r:embed="rId2">
            <a:alphaModFix amt="20000"/>
          </a:blip>
          <a:srcRect t="64592"/>
          <a:stretch/>
        </p:blipFill>
        <p:spPr>
          <a:xfrm>
            <a:off x="0" y="4235684"/>
            <a:ext cx="12192000" cy="2622316"/>
          </a:xfrm>
          <a:prstGeom prst="rect">
            <a:avLst/>
          </a:prstGeom>
        </p:spPr>
      </p:pic>
      <p:pic>
        <p:nvPicPr>
          <p:cNvPr id="4" name="Picture 3">
            <a:extLst>
              <a:ext uri="{FF2B5EF4-FFF2-40B4-BE49-F238E27FC236}">
                <a16:creationId xmlns:a16="http://schemas.microsoft.com/office/drawing/2014/main" xmlns="" id="{BA32B36C-DC2B-4903-A30D-DB06E95D3E2E}"/>
              </a:ext>
            </a:extLst>
          </p:cNvPr>
          <p:cNvPicPr>
            <a:picLocks noChangeAspect="1"/>
          </p:cNvPicPr>
          <p:nvPr/>
        </p:nvPicPr>
        <p:blipFill rotWithShape="1">
          <a:blip r:embed="rId2">
            <a:alphaModFix amt="20000"/>
          </a:blip>
          <a:srcRect b="42222"/>
          <a:stretch/>
        </p:blipFill>
        <p:spPr>
          <a:xfrm>
            <a:off x="0" y="0"/>
            <a:ext cx="12192000" cy="4241740"/>
          </a:xfrm>
          <a:prstGeom prst="rect">
            <a:avLst/>
          </a:prstGeom>
        </p:spPr>
      </p:pic>
      <p:pic>
        <p:nvPicPr>
          <p:cNvPr id="7" name="Picture 2" descr="Azadi Ka Amrit Mahotsav (Hindi) Logo PNG Vector (EPS) Free Download">
            <a:extLst>
              <a:ext uri="{FF2B5EF4-FFF2-40B4-BE49-F238E27FC236}">
                <a16:creationId xmlns:a16="http://schemas.microsoft.com/office/drawing/2014/main" xmlns="" id="{B8ADF58E-F439-4CFD-91FB-D9FD2BDF703B}"/>
              </a:ext>
            </a:extLst>
          </p:cNvPr>
          <p:cNvPicPr>
            <a:picLocks noChangeAspect="1" noChangeArrowheads="1"/>
          </p:cNvPicPr>
          <p:nvPr/>
        </p:nvPicPr>
        <p:blipFill>
          <a:blip r:embed="rId3" cstate="email">
            <a:extLst>
              <a:ext uri="{28A0092B-C50C-407E-A947-70E740481C1C}">
                <a14:useLocalDpi xmlns:a14="http://schemas.microsoft.com/office/drawing/2010/main" xmlns=""/>
              </a:ext>
            </a:extLst>
          </a:blip>
          <a:srcRect/>
          <a:stretch>
            <a:fillRect/>
          </a:stretch>
        </p:blipFill>
        <p:spPr bwMode="auto">
          <a:xfrm>
            <a:off x="10842675" y="76205"/>
            <a:ext cx="1120344" cy="765540"/>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7">
            <a:extLst>
              <a:ext uri="{FF2B5EF4-FFF2-40B4-BE49-F238E27FC236}">
                <a16:creationId xmlns:a16="http://schemas.microsoft.com/office/drawing/2014/main" xmlns="" id="{859CAE9D-5C6E-4914-AE47-47DFEA1FCA17}"/>
              </a:ext>
            </a:extLst>
          </p:cNvPr>
          <p:cNvPicPr/>
          <p:nvPr/>
        </p:nvPicPr>
        <p:blipFill>
          <a:blip r:embed="rId4" cstate="email">
            <a:extLst>
              <a:ext uri="{28A0092B-C50C-407E-A947-70E740481C1C}">
                <a14:useLocalDpi xmlns:a14="http://schemas.microsoft.com/office/drawing/2010/main" xmlns=""/>
              </a:ext>
            </a:extLst>
          </a:blip>
          <a:srcRect/>
          <a:stretch>
            <a:fillRect/>
          </a:stretch>
        </p:blipFill>
        <p:spPr bwMode="auto">
          <a:xfrm>
            <a:off x="6319045" y="-204566"/>
            <a:ext cx="3204302" cy="1236844"/>
          </a:xfrm>
          <a:prstGeom prst="rect">
            <a:avLst/>
          </a:prstGeom>
          <a:noFill/>
          <a:ln>
            <a:noFill/>
          </a:ln>
          <a:effectLst/>
        </p:spPr>
      </p:pic>
      <p:pic>
        <p:nvPicPr>
          <p:cNvPr id="9" name="Picture 8" descr="Shape&#10;&#10;Description automatically generated with medium confidence">
            <a:extLst>
              <a:ext uri="{FF2B5EF4-FFF2-40B4-BE49-F238E27FC236}">
                <a16:creationId xmlns:a16="http://schemas.microsoft.com/office/drawing/2014/main" xmlns="" id="{A945540B-5829-4B07-AFEA-2374BD6DF6EE}"/>
              </a:ext>
            </a:extLst>
          </p:cNvPr>
          <p:cNvPicPr>
            <a:picLocks noChangeAspect="1"/>
          </p:cNvPicPr>
          <p:nvPr/>
        </p:nvPicPr>
        <p:blipFill>
          <a:blip r:embed="rId5" cstate="email">
            <a:extLst>
              <a:ext uri="{28A0092B-C50C-407E-A947-70E740481C1C}">
                <a14:useLocalDpi xmlns:a14="http://schemas.microsoft.com/office/drawing/2010/main" xmlns=""/>
              </a:ext>
            </a:extLst>
          </a:blip>
          <a:stretch>
            <a:fillRect/>
          </a:stretch>
        </p:blipFill>
        <p:spPr>
          <a:xfrm>
            <a:off x="153307" y="29465"/>
            <a:ext cx="1923179" cy="859020"/>
          </a:xfrm>
          <a:prstGeom prst="rect">
            <a:avLst/>
          </a:prstGeom>
        </p:spPr>
      </p:pic>
      <p:pic>
        <p:nvPicPr>
          <p:cNvPr id="10" name="Picture 9">
            <a:extLst>
              <a:ext uri="{FF2B5EF4-FFF2-40B4-BE49-F238E27FC236}">
                <a16:creationId xmlns:a16="http://schemas.microsoft.com/office/drawing/2014/main" xmlns="" id="{0ADDDF0D-1E07-447B-9BA2-B6D9EFF7A56D}"/>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3395814" y="-223111"/>
            <a:ext cx="1603903" cy="1420562"/>
          </a:xfrm>
          <a:prstGeom prst="rect">
            <a:avLst/>
          </a:prstGeom>
        </p:spPr>
      </p:pic>
      <p:sp>
        <p:nvSpPr>
          <p:cNvPr id="15" name="Title 1">
            <a:extLst>
              <a:ext uri="{FF2B5EF4-FFF2-40B4-BE49-F238E27FC236}">
                <a16:creationId xmlns:a16="http://schemas.microsoft.com/office/drawing/2014/main" xmlns="" id="{E3B1FE90-67C9-4BDD-99E1-B25D782A1802}"/>
              </a:ext>
            </a:extLst>
          </p:cNvPr>
          <p:cNvSpPr>
            <a:spLocks noGrp="1"/>
          </p:cNvSpPr>
          <p:nvPr>
            <p:ph type="ctrTitle"/>
          </p:nvPr>
        </p:nvSpPr>
        <p:spPr>
          <a:xfrm>
            <a:off x="1685131" y="1738297"/>
            <a:ext cx="8821738" cy="1277938"/>
          </a:xfrm>
          <a:ln w="28575"/>
        </p:spPr>
        <p:txBody>
          <a:bodyPr>
            <a:noAutofit/>
          </a:bodyPr>
          <a:lstStyle/>
          <a:p>
            <a:pPr fontAlgn="auto">
              <a:spcBef>
                <a:spcPts val="0"/>
              </a:spcBef>
              <a:spcAft>
                <a:spcPts val="0"/>
              </a:spcAft>
              <a:defRPr/>
            </a:pPr>
            <a:r>
              <a:rPr lang="en-US" sz="4000" b="1" dirty="0">
                <a:solidFill>
                  <a:schemeClr val="accent2">
                    <a:lumMod val="50000"/>
                  </a:schemeClr>
                </a:solidFill>
                <a:latin typeface="+mn-lt"/>
              </a:rPr>
              <a:t/>
            </a:r>
            <a:br>
              <a:rPr lang="en-US" sz="4000" b="1" dirty="0">
                <a:solidFill>
                  <a:schemeClr val="accent2">
                    <a:lumMod val="50000"/>
                  </a:schemeClr>
                </a:solidFill>
                <a:latin typeface="+mn-lt"/>
              </a:rPr>
            </a:br>
            <a:r>
              <a:rPr lang="en-US" sz="3600" b="1" dirty="0">
                <a:solidFill>
                  <a:schemeClr val="accent2">
                    <a:lumMod val="50000"/>
                  </a:schemeClr>
                </a:solidFill>
                <a:latin typeface="+mn-lt"/>
              </a:rPr>
              <a:t>NATIONAL CONFERENCE ON AGRICULTURE </a:t>
            </a:r>
            <a:br>
              <a:rPr lang="en-US" sz="3600" b="1" dirty="0">
                <a:solidFill>
                  <a:schemeClr val="accent2">
                    <a:lumMod val="50000"/>
                  </a:schemeClr>
                </a:solidFill>
                <a:latin typeface="+mn-lt"/>
              </a:rPr>
            </a:br>
            <a:r>
              <a:rPr lang="en-US" sz="3600" b="1" dirty="0">
                <a:solidFill>
                  <a:schemeClr val="accent2">
                    <a:lumMod val="50000"/>
                  </a:schemeClr>
                </a:solidFill>
                <a:latin typeface="+mn-lt"/>
              </a:rPr>
              <a:t>(</a:t>
            </a:r>
            <a:r>
              <a:rPr lang="en-US" sz="3600" b="1" i="1" dirty="0">
                <a:solidFill>
                  <a:schemeClr val="accent2">
                    <a:lumMod val="50000"/>
                  </a:schemeClr>
                </a:solidFill>
                <a:latin typeface="+mn-lt"/>
              </a:rPr>
              <a:t>KHARIF </a:t>
            </a:r>
            <a:r>
              <a:rPr lang="en-US" sz="3600" b="1" dirty="0">
                <a:solidFill>
                  <a:schemeClr val="accent2">
                    <a:lumMod val="50000"/>
                  </a:schemeClr>
                </a:solidFill>
                <a:latin typeface="+mn-lt"/>
              </a:rPr>
              <a:t> CAMPAIGN-2023)</a:t>
            </a:r>
            <a:r>
              <a:rPr lang="en-US" sz="3600" b="1" dirty="0">
                <a:solidFill>
                  <a:schemeClr val="tx2">
                    <a:lumMod val="50000"/>
                  </a:schemeClr>
                </a:solidFill>
                <a:latin typeface="+mn-lt"/>
              </a:rPr>
              <a:t>  </a:t>
            </a:r>
            <a:br>
              <a:rPr lang="en-US" sz="3600" b="1" dirty="0">
                <a:solidFill>
                  <a:schemeClr val="tx2">
                    <a:lumMod val="50000"/>
                  </a:schemeClr>
                </a:solidFill>
                <a:latin typeface="+mn-lt"/>
              </a:rPr>
            </a:br>
            <a:r>
              <a:rPr lang="en-US" sz="2800" b="1" dirty="0">
                <a:solidFill>
                  <a:schemeClr val="tx2">
                    <a:lumMod val="50000"/>
                  </a:schemeClr>
                </a:solidFill>
                <a:latin typeface="+mn-lt"/>
              </a:rPr>
              <a:t>03</a:t>
            </a:r>
            <a:r>
              <a:rPr lang="en-US" sz="2800" b="1" baseline="30000" dirty="0">
                <a:solidFill>
                  <a:schemeClr val="tx2">
                    <a:lumMod val="50000"/>
                  </a:schemeClr>
                </a:solidFill>
                <a:latin typeface="+mn-lt"/>
              </a:rPr>
              <a:t>rd</a:t>
            </a:r>
            <a:r>
              <a:rPr lang="en-US" sz="2800" b="1" dirty="0">
                <a:solidFill>
                  <a:schemeClr val="tx2">
                    <a:lumMod val="50000"/>
                  </a:schemeClr>
                </a:solidFill>
                <a:latin typeface="+mn-lt"/>
              </a:rPr>
              <a:t> May, 2023</a:t>
            </a:r>
            <a:endParaRPr lang="en-US" sz="4000" b="1" dirty="0">
              <a:solidFill>
                <a:schemeClr val="accent2">
                  <a:lumMod val="50000"/>
                </a:schemeClr>
              </a:solidFill>
              <a:latin typeface="+mn-lt"/>
            </a:endParaRPr>
          </a:p>
        </p:txBody>
      </p:sp>
      <p:sp>
        <p:nvSpPr>
          <p:cNvPr id="16" name="Rectangle 10">
            <a:extLst>
              <a:ext uri="{FF2B5EF4-FFF2-40B4-BE49-F238E27FC236}">
                <a16:creationId xmlns:a16="http://schemas.microsoft.com/office/drawing/2014/main" xmlns="" id="{CE041CEF-09E7-4A4A-B68D-318B5F0C37B4}"/>
              </a:ext>
            </a:extLst>
          </p:cNvPr>
          <p:cNvSpPr>
            <a:spLocks noChangeArrowheads="1"/>
          </p:cNvSpPr>
          <p:nvPr/>
        </p:nvSpPr>
        <p:spPr bwMode="auto">
          <a:xfrm>
            <a:off x="1981200" y="3137798"/>
            <a:ext cx="8229600" cy="646331"/>
          </a:xfrm>
          <a:prstGeom prst="rect">
            <a:avLst/>
          </a:prstGeom>
          <a:noFill/>
          <a:ln w="9525">
            <a:noFill/>
            <a:miter lim="800000"/>
            <a:headEnd/>
            <a:tailEnd/>
          </a:ln>
        </p:spPr>
        <p:txBody>
          <a:bodyPr>
            <a:spAutoFit/>
          </a:bodyPr>
          <a:lstStyle/>
          <a:p>
            <a:pPr algn="ctr">
              <a:defRPr/>
            </a:pPr>
            <a:r>
              <a:rPr lang="en-US" sz="3600" b="1" i="1" dirty="0">
                <a:solidFill>
                  <a:schemeClr val="tx2">
                    <a:lumMod val="50000"/>
                  </a:schemeClr>
                </a:solidFill>
              </a:rPr>
              <a:t>KHARIF</a:t>
            </a:r>
            <a:r>
              <a:rPr lang="en-US" sz="3600" b="1" dirty="0">
                <a:solidFill>
                  <a:schemeClr val="tx2">
                    <a:lumMod val="50000"/>
                  </a:schemeClr>
                </a:solidFill>
              </a:rPr>
              <a:t> PROSPECTS AND STRATEGIES</a:t>
            </a:r>
          </a:p>
        </p:txBody>
      </p:sp>
      <p:sp>
        <p:nvSpPr>
          <p:cNvPr id="17" name="Rectangle 1">
            <a:extLst>
              <a:ext uri="{FF2B5EF4-FFF2-40B4-BE49-F238E27FC236}">
                <a16:creationId xmlns:a16="http://schemas.microsoft.com/office/drawing/2014/main" xmlns="" id="{12B500B6-EF3C-4F4E-83A7-6F661A5E6E5E}"/>
              </a:ext>
            </a:extLst>
          </p:cNvPr>
          <p:cNvSpPr>
            <a:spLocks noChangeArrowheads="1"/>
          </p:cNvSpPr>
          <p:nvPr/>
        </p:nvSpPr>
        <p:spPr bwMode="auto">
          <a:xfrm>
            <a:off x="2286000" y="5638227"/>
            <a:ext cx="7620000" cy="1323439"/>
          </a:xfrm>
          <a:prstGeom prst="rect">
            <a:avLst/>
          </a:prstGeom>
          <a:noFill/>
          <a:ln w="9525">
            <a:noFill/>
            <a:miter lim="800000"/>
            <a:headEnd/>
            <a:tailEnd/>
          </a:ln>
        </p:spPr>
        <p:txBody>
          <a:bodyPr>
            <a:spAutoFit/>
          </a:bodyPr>
          <a:lstStyle/>
          <a:p>
            <a:pPr algn="ctr">
              <a:defRPr/>
            </a:pPr>
            <a:r>
              <a:rPr lang="en-US" sz="2000" b="1" dirty="0">
                <a:solidFill>
                  <a:srgbClr val="002060"/>
                </a:solidFill>
              </a:rPr>
              <a:t>Smt. </a:t>
            </a:r>
            <a:r>
              <a:rPr lang="en-US" sz="2000" b="1" dirty="0" err="1">
                <a:solidFill>
                  <a:srgbClr val="002060"/>
                </a:solidFill>
              </a:rPr>
              <a:t>Shubha</a:t>
            </a:r>
            <a:r>
              <a:rPr lang="en-US" sz="2000" b="1" dirty="0">
                <a:solidFill>
                  <a:srgbClr val="002060"/>
                </a:solidFill>
              </a:rPr>
              <a:t> </a:t>
            </a:r>
            <a:r>
              <a:rPr lang="en-US" sz="2000" b="1" dirty="0" err="1">
                <a:solidFill>
                  <a:srgbClr val="002060"/>
                </a:solidFill>
              </a:rPr>
              <a:t>Thakur</a:t>
            </a:r>
            <a:endParaRPr lang="en-US" sz="2000" b="1" dirty="0">
              <a:solidFill>
                <a:srgbClr val="002060"/>
              </a:solidFill>
            </a:endParaRPr>
          </a:p>
          <a:p>
            <a:pPr algn="ctr">
              <a:defRPr/>
            </a:pPr>
            <a:r>
              <a:rPr lang="en-US" sz="2000" b="1" dirty="0">
                <a:solidFill>
                  <a:srgbClr val="002060"/>
                </a:solidFill>
              </a:rPr>
              <a:t>Joint Secretary (Crops) </a:t>
            </a:r>
          </a:p>
          <a:p>
            <a:pPr algn="ctr">
              <a:defRPr/>
            </a:pPr>
            <a:r>
              <a:rPr lang="en-US" sz="2000" b="1" dirty="0">
                <a:solidFill>
                  <a:srgbClr val="002060"/>
                </a:solidFill>
              </a:rPr>
              <a:t>Department of Agriculture&amp; Farmers Welfare, </a:t>
            </a:r>
          </a:p>
          <a:p>
            <a:pPr algn="ctr">
              <a:defRPr/>
            </a:pPr>
            <a:r>
              <a:rPr lang="en-US" sz="2000" b="1" dirty="0">
                <a:solidFill>
                  <a:srgbClr val="002060"/>
                </a:solidFill>
              </a:rPr>
              <a:t>Ministry of Agriculture &amp; Farmers Welfare</a:t>
            </a:r>
          </a:p>
        </p:txBody>
      </p:sp>
      <p:pic>
        <p:nvPicPr>
          <p:cNvPr id="12" name="Picture 11">
            <a:extLst>
              <a:ext uri="{FF2B5EF4-FFF2-40B4-BE49-F238E27FC236}">
                <a16:creationId xmlns:a16="http://schemas.microsoft.com/office/drawing/2014/main" xmlns="" id="{4A573F69-AC7A-47B0-AB77-A7177EFC3221}"/>
              </a:ext>
            </a:extLst>
          </p:cNvPr>
          <p:cNvPicPr>
            <a:picLocks noChangeAspect="1"/>
          </p:cNvPicPr>
          <p:nvPr/>
        </p:nvPicPr>
        <p:blipFill>
          <a:blip r:embed="rId7" cstate="print"/>
          <a:stretch>
            <a:fillRect/>
          </a:stretch>
        </p:blipFill>
        <p:spPr>
          <a:xfrm>
            <a:off x="5677207" y="4086611"/>
            <a:ext cx="837585" cy="1335841"/>
          </a:xfrm>
          <a:prstGeom prst="rect">
            <a:avLst/>
          </a:prstGeom>
        </p:spPr>
      </p:pic>
    </p:spTree>
    <p:extLst>
      <p:ext uri="{BB962C8B-B14F-4D97-AF65-F5344CB8AC3E}">
        <p14:creationId xmlns:p14="http://schemas.microsoft.com/office/powerpoint/2010/main" xmlns="" val="2345245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214294"/>
            <a:ext cx="11560520" cy="464346"/>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2400" b="1" dirty="0">
                <a:solidFill>
                  <a:srgbClr val="002060"/>
                </a:solidFill>
                <a:latin typeface="+mn-lt"/>
              </a:rPr>
              <a:t/>
            </a:r>
            <a:br>
              <a:rPr lang="en-US" sz="2400" b="1" dirty="0">
                <a:solidFill>
                  <a:srgbClr val="002060"/>
                </a:solidFill>
                <a:latin typeface="+mn-lt"/>
              </a:rPr>
            </a:br>
            <a:r>
              <a:rPr lang="en-US" sz="2400" b="1" dirty="0">
                <a:solidFill>
                  <a:srgbClr val="002060"/>
                </a:solidFill>
                <a:latin typeface="+mn-lt"/>
              </a:rPr>
              <a:t>AREA AND PRODUCTION OF CROPS IN 2022-23  (2</a:t>
            </a:r>
            <a:r>
              <a:rPr lang="en-US" sz="2400" b="1" baseline="30000" dirty="0">
                <a:solidFill>
                  <a:srgbClr val="002060"/>
                </a:solidFill>
                <a:latin typeface="+mn-lt"/>
              </a:rPr>
              <a:t>nd</a:t>
            </a:r>
            <a:r>
              <a:rPr lang="en-US" sz="2400" b="1" dirty="0">
                <a:solidFill>
                  <a:srgbClr val="002060"/>
                </a:solidFill>
                <a:latin typeface="+mn-lt"/>
              </a:rPr>
              <a:t> Adv. Est.)</a:t>
            </a:r>
          </a:p>
          <a:p>
            <a:pPr>
              <a:defRPr/>
            </a:pPr>
            <a:endParaRPr lang="en-US" sz="2400" b="1" dirty="0">
              <a:solidFill>
                <a:srgbClr val="002060"/>
              </a:solidFill>
              <a:latin typeface="+mn-lt"/>
            </a:endParaRPr>
          </a:p>
        </p:txBody>
      </p:sp>
      <p:graphicFrame>
        <p:nvGraphicFramePr>
          <p:cNvPr id="5" name="Table 4">
            <a:extLst>
              <a:ext uri="{FF2B5EF4-FFF2-40B4-BE49-F238E27FC236}">
                <a16:creationId xmlns:a16="http://schemas.microsoft.com/office/drawing/2014/main" xmlns="" id="{2CFEEB12-B11F-4DF7-BD09-A512F8828BCC}"/>
              </a:ext>
            </a:extLst>
          </p:cNvPr>
          <p:cNvGraphicFramePr>
            <a:graphicFrameLocks noGrp="1"/>
          </p:cNvGraphicFramePr>
          <p:nvPr>
            <p:extLst>
              <p:ext uri="{D42A27DB-BD31-4B8C-83A1-F6EECF244321}">
                <p14:modId xmlns:p14="http://schemas.microsoft.com/office/powerpoint/2010/main" xmlns="" val="3901235375"/>
              </p:ext>
            </p:extLst>
          </p:nvPr>
        </p:nvGraphicFramePr>
        <p:xfrm>
          <a:off x="357158" y="895811"/>
          <a:ext cx="11560521" cy="5875579"/>
        </p:xfrm>
        <a:graphic>
          <a:graphicData uri="http://schemas.openxmlformats.org/drawingml/2006/table">
            <a:tbl>
              <a:tblPr>
                <a:tableStyleId>{7DF18680-E054-41AD-8BC1-D1AEF772440D}</a:tableStyleId>
              </a:tblPr>
              <a:tblGrid>
                <a:gridCol w="2428681">
                  <a:extLst>
                    <a:ext uri="{9D8B030D-6E8A-4147-A177-3AD203B41FA5}">
                      <a16:colId xmlns:a16="http://schemas.microsoft.com/office/drawing/2014/main" xmlns="" val="20000"/>
                    </a:ext>
                  </a:extLst>
                </a:gridCol>
                <a:gridCol w="1820917">
                  <a:extLst>
                    <a:ext uri="{9D8B030D-6E8A-4147-A177-3AD203B41FA5}">
                      <a16:colId xmlns:a16="http://schemas.microsoft.com/office/drawing/2014/main" xmlns="" val="20001"/>
                    </a:ext>
                  </a:extLst>
                </a:gridCol>
                <a:gridCol w="1268840">
                  <a:extLst>
                    <a:ext uri="{9D8B030D-6E8A-4147-A177-3AD203B41FA5}">
                      <a16:colId xmlns:a16="http://schemas.microsoft.com/office/drawing/2014/main" xmlns="" val="20002"/>
                    </a:ext>
                  </a:extLst>
                </a:gridCol>
                <a:gridCol w="1329257">
                  <a:extLst>
                    <a:ext uri="{9D8B030D-6E8A-4147-A177-3AD203B41FA5}">
                      <a16:colId xmlns:a16="http://schemas.microsoft.com/office/drawing/2014/main" xmlns="" val="20003"/>
                    </a:ext>
                  </a:extLst>
                </a:gridCol>
                <a:gridCol w="1530662">
                  <a:extLst>
                    <a:ext uri="{9D8B030D-6E8A-4147-A177-3AD203B41FA5}">
                      <a16:colId xmlns:a16="http://schemas.microsoft.com/office/drawing/2014/main" xmlns="" val="20004"/>
                    </a:ext>
                  </a:extLst>
                </a:gridCol>
                <a:gridCol w="1329257">
                  <a:extLst>
                    <a:ext uri="{9D8B030D-6E8A-4147-A177-3AD203B41FA5}">
                      <a16:colId xmlns:a16="http://schemas.microsoft.com/office/drawing/2014/main" xmlns="" val="20005"/>
                    </a:ext>
                  </a:extLst>
                </a:gridCol>
                <a:gridCol w="1852907">
                  <a:extLst>
                    <a:ext uri="{9D8B030D-6E8A-4147-A177-3AD203B41FA5}">
                      <a16:colId xmlns:a16="http://schemas.microsoft.com/office/drawing/2014/main" xmlns="" val="20006"/>
                    </a:ext>
                  </a:extLst>
                </a:gridCol>
              </a:tblGrid>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2000" b="1" u="none" strike="noStrike" dirty="0">
                          <a:solidFill>
                            <a:schemeClr val="tx1"/>
                          </a:solidFill>
                        </a:rPr>
                        <a:t>Crops   </a:t>
                      </a:r>
                      <a:endParaRPr lang="en-IN" sz="2000" b="1" i="0"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gridSpan="3">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solidFill>
                            <a:schemeClr val="tx1"/>
                          </a:solidFill>
                        </a:rPr>
                        <a:t>Area (Million hectare) </a:t>
                      </a:r>
                      <a:endParaRPr lang="en-IN" sz="2000" b="1" i="0"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hMerge="1">
                  <a:txBody>
                    <a:bodyPr/>
                    <a:lstStyle/>
                    <a:p>
                      <a:endParaRPr lang="en-IN"/>
                    </a:p>
                  </a:txBody>
                  <a:tcPr/>
                </a:tc>
                <a:tc hMerge="1">
                  <a:txBody>
                    <a:bodyPr/>
                    <a:lstStyle/>
                    <a:p>
                      <a:endParaRPr lang="en-IN"/>
                    </a:p>
                  </a:txBody>
                  <a:tcPr/>
                </a:tc>
                <a:tc gridSpan="3">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solidFill>
                            <a:schemeClr val="tx1"/>
                          </a:solidFill>
                        </a:rPr>
                        <a:t>Production (Million tonnes) </a:t>
                      </a:r>
                      <a:endParaRPr lang="en-IN" sz="2000" b="1" i="0"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0000"/>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t"/>
                      <a:r>
                        <a:rPr lang="en-IN" sz="1800" u="none" strike="noStrike" dirty="0">
                          <a:solidFill>
                            <a:schemeClr val="tx1"/>
                          </a:solidFill>
                        </a:rPr>
                        <a:t> </a:t>
                      </a:r>
                      <a:endParaRPr lang="en-IN" sz="1800" b="1" i="0"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err="1">
                          <a:solidFill>
                            <a:schemeClr val="tx1"/>
                          </a:solidFill>
                        </a:rPr>
                        <a:t>Kharif</a:t>
                      </a:r>
                      <a:r>
                        <a:rPr lang="en-IN" sz="1800" u="none" strike="noStrike" dirty="0">
                          <a:solidFill>
                            <a:schemeClr val="tx1"/>
                          </a:solidFill>
                        </a:rPr>
                        <a:t> </a:t>
                      </a:r>
                      <a:endParaRPr lang="en-IN" sz="1800" b="1" i="1"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solidFill>
                            <a:schemeClr val="tx1"/>
                          </a:solidFill>
                        </a:rPr>
                        <a:t>Rabi </a:t>
                      </a:r>
                      <a:endParaRPr lang="en-IN" sz="1800" b="1" i="1"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solidFill>
                            <a:schemeClr val="tx1"/>
                          </a:solidFill>
                        </a:rPr>
                        <a:t>Total </a:t>
                      </a:r>
                      <a:endParaRPr lang="en-IN" sz="1800" b="1" i="0"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err="1">
                          <a:solidFill>
                            <a:schemeClr val="tx1"/>
                          </a:solidFill>
                        </a:rPr>
                        <a:t>Kharif</a:t>
                      </a:r>
                      <a:r>
                        <a:rPr lang="en-IN" sz="1800" u="none" strike="noStrike" dirty="0">
                          <a:solidFill>
                            <a:schemeClr val="tx1"/>
                          </a:solidFill>
                        </a:rPr>
                        <a:t> </a:t>
                      </a:r>
                      <a:endParaRPr lang="en-IN" sz="1800" b="1" i="1"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solidFill>
                            <a:schemeClr val="tx1"/>
                          </a:solidFill>
                        </a:rPr>
                        <a:t>Rabi </a:t>
                      </a:r>
                      <a:endParaRPr lang="en-IN" sz="1800" b="1" i="1"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solidFill>
                            <a:schemeClr val="tx1"/>
                          </a:solidFill>
                        </a:rPr>
                        <a:t>Total </a:t>
                      </a:r>
                      <a:endParaRPr lang="en-IN" sz="1800" b="1" i="0" u="none" strike="noStrike" dirty="0">
                        <a:solidFill>
                          <a:schemeClr val="tx1"/>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1"/>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Rice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40.45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6.60</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47.05</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108.08</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22.76</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130.84</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2"/>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Wheat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31.87</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31.87</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112.18</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112.18</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3"/>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Maize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8.05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2.03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10.08</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23.83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10.78</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34.61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4"/>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Barley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0.74</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0.74</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2.20</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2.20</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5"/>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Total Coarse cereals</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8.05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2.76</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10.81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23.83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12.98</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36.82</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6"/>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Sorghum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1.41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2.31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3.72</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1.53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2.54</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4.08</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7"/>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err="1"/>
                        <a:t>Bajra</a:t>
                      </a:r>
                      <a:r>
                        <a:rPr lang="en-IN" sz="1800"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7.03</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7.03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9.79</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9.79</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8"/>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err="1"/>
                        <a:t>Ragi</a:t>
                      </a:r>
                      <a:r>
                        <a:rPr lang="en-IN" sz="1800"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1.11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1.11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1.67</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1.67</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9"/>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Small millets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0.47</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0.47</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0.38</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dirty="0"/>
                        <a:t>-</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u="none" strike="noStrike"/>
                        <a:t>0.38</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0"/>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Total Shree Anna</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10.03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2.31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12.34</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13.37</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2.54</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15.91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1"/>
                  </a:ext>
                </a:extLst>
              </a:tr>
              <a:tr h="32321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Total Pulses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13.07</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17.04</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30.10</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8.16</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19.65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27.81</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2"/>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Total food grains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71.60</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60.58</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132.18</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153.43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170.12</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323.55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3"/>
                  </a:ext>
                </a:extLst>
              </a:tr>
              <a:tr h="33917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Total oil seeds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19.29</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9.97</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29.26</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25.37</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14.63</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40.00</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4"/>
                  </a:ext>
                </a:extLst>
              </a:tr>
              <a:tr h="33917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Sugarcane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5.56</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5.56</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468.79</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468.79</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5"/>
                  </a:ext>
                </a:extLst>
              </a:tr>
              <a:tr h="33917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Cotton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13.05</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13.05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a:t>33.72</a:t>
                      </a:r>
                      <a:endParaRPr lang="en-IN" sz="1800" b="1" i="0" u="none" strike="noStrike">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33.72</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6"/>
                  </a:ext>
                </a:extLst>
              </a:tr>
              <a:tr h="3019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Jute &amp; Mesta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0.66</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0.66</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10.05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 </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1800" b="1" u="none" strike="noStrike" dirty="0"/>
                        <a:t>10.05</a:t>
                      </a:r>
                      <a:endParaRPr lang="en-IN" sz="1800" b="1" i="0" u="none" strike="noStrike" dirty="0">
                        <a:solidFill>
                          <a:schemeClr val="tx2">
                            <a:lumMod val="50000"/>
                          </a:schemeClr>
                        </a:solidFill>
                        <a:latin typeface="Calibri"/>
                      </a:endParaRPr>
                    </a:p>
                  </a:txBody>
                  <a:tcPr marL="3488" marR="3488" marT="2907"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7"/>
                  </a:ext>
                </a:extLst>
              </a:tr>
              <a:tr h="301939">
                <a:tc gridSpan="7">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b"/>
                      <a:r>
                        <a:rPr lang="en-IN" sz="1800" u="none" strike="noStrike" dirty="0"/>
                        <a:t>@ Thousand bales of 170 </a:t>
                      </a:r>
                      <a:r>
                        <a:rPr lang="en-IN" sz="1800" u="none" strike="noStrike" dirty="0" err="1"/>
                        <a:t>kgs</a:t>
                      </a:r>
                      <a:r>
                        <a:rPr lang="en-IN" sz="1800" u="none" strike="noStrike" dirty="0"/>
                        <a:t> each. $ Thousand bales of 180 </a:t>
                      </a:r>
                      <a:r>
                        <a:rPr lang="en-IN" sz="1800" u="none" strike="noStrike" dirty="0" err="1"/>
                        <a:t>kgs</a:t>
                      </a:r>
                      <a:r>
                        <a:rPr lang="en-IN" sz="1800" u="none" strike="noStrike" dirty="0"/>
                        <a:t> each.</a:t>
                      </a:r>
                      <a:endParaRPr lang="en-IN" sz="1800" b="1" i="0" u="none" strike="noStrike" dirty="0">
                        <a:solidFill>
                          <a:srgbClr val="000000"/>
                        </a:solidFill>
                        <a:latin typeface="Arial"/>
                      </a:endParaRPr>
                    </a:p>
                  </a:txBody>
                  <a:tcPr marL="3488" marR="3488" marT="2907"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0018"/>
                  </a:ext>
                </a:extLst>
              </a:tr>
            </a:tbl>
          </a:graphicData>
        </a:graphic>
      </p:graphicFrame>
    </p:spTree>
    <p:extLst>
      <p:ext uri="{BB962C8B-B14F-4D97-AF65-F5344CB8AC3E}">
        <p14:creationId xmlns:p14="http://schemas.microsoft.com/office/powerpoint/2010/main" xmlns="" val="3559203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214294"/>
            <a:ext cx="11560520" cy="464346"/>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RAINFALL – RABI &amp; SUMMER SEASON (mm) </a:t>
            </a:r>
            <a:endParaRPr lang="en-US" sz="2400" b="1" dirty="0">
              <a:solidFill>
                <a:srgbClr val="002060"/>
              </a:solidFill>
              <a:latin typeface="+mn-lt"/>
            </a:endParaRPr>
          </a:p>
        </p:txBody>
      </p:sp>
      <p:graphicFrame>
        <p:nvGraphicFramePr>
          <p:cNvPr id="6" name="Content Placeholder 4">
            <a:extLst>
              <a:ext uri="{FF2B5EF4-FFF2-40B4-BE49-F238E27FC236}">
                <a16:creationId xmlns:a16="http://schemas.microsoft.com/office/drawing/2014/main" xmlns="" id="{35627718-FA45-46C2-BBA9-17520C07A72C}"/>
              </a:ext>
            </a:extLst>
          </p:cNvPr>
          <p:cNvGraphicFramePr>
            <a:graphicFrameLocks/>
          </p:cNvGraphicFramePr>
          <p:nvPr>
            <p:extLst>
              <p:ext uri="{D42A27DB-BD31-4B8C-83A1-F6EECF244321}">
                <p14:modId xmlns:p14="http://schemas.microsoft.com/office/powerpoint/2010/main" xmlns="" val="3631498995"/>
              </p:ext>
            </p:extLst>
          </p:nvPr>
        </p:nvGraphicFramePr>
        <p:xfrm>
          <a:off x="357158" y="857238"/>
          <a:ext cx="11560520" cy="5786466"/>
        </p:xfrm>
        <a:graphic>
          <a:graphicData uri="http://schemas.openxmlformats.org/drawingml/2006/table">
            <a:tbl>
              <a:tblPr firstRow="1" bandRow="1">
                <a:tableStyleId>{5FD0F851-EC5A-4D38-B0AD-8093EC10F338}</a:tableStyleId>
              </a:tblPr>
              <a:tblGrid>
                <a:gridCol w="1516134">
                  <a:extLst>
                    <a:ext uri="{9D8B030D-6E8A-4147-A177-3AD203B41FA5}">
                      <a16:colId xmlns:a16="http://schemas.microsoft.com/office/drawing/2014/main" xmlns="" val="20000"/>
                    </a:ext>
                  </a:extLst>
                </a:gridCol>
                <a:gridCol w="852825">
                  <a:extLst>
                    <a:ext uri="{9D8B030D-6E8A-4147-A177-3AD203B41FA5}">
                      <a16:colId xmlns:a16="http://schemas.microsoft.com/office/drawing/2014/main" xmlns="" val="20010"/>
                    </a:ext>
                  </a:extLst>
                </a:gridCol>
                <a:gridCol w="1062430">
                  <a:extLst>
                    <a:ext uri="{9D8B030D-6E8A-4147-A177-3AD203B41FA5}">
                      <a16:colId xmlns:a16="http://schemas.microsoft.com/office/drawing/2014/main" xmlns="" val="20011"/>
                    </a:ext>
                  </a:extLst>
                </a:gridCol>
                <a:gridCol w="692482">
                  <a:extLst>
                    <a:ext uri="{9D8B030D-6E8A-4147-A177-3AD203B41FA5}">
                      <a16:colId xmlns:a16="http://schemas.microsoft.com/office/drawing/2014/main" xmlns="" val="20012"/>
                    </a:ext>
                  </a:extLst>
                </a:gridCol>
                <a:gridCol w="802877">
                  <a:extLst>
                    <a:ext uri="{9D8B030D-6E8A-4147-A177-3AD203B41FA5}">
                      <a16:colId xmlns:a16="http://schemas.microsoft.com/office/drawing/2014/main" xmlns="" val="20001"/>
                    </a:ext>
                  </a:extLst>
                </a:gridCol>
                <a:gridCol w="832985">
                  <a:extLst>
                    <a:ext uri="{9D8B030D-6E8A-4147-A177-3AD203B41FA5}">
                      <a16:colId xmlns:a16="http://schemas.microsoft.com/office/drawing/2014/main" xmlns="" val="20002"/>
                    </a:ext>
                  </a:extLst>
                </a:gridCol>
                <a:gridCol w="762733">
                  <a:extLst>
                    <a:ext uri="{9D8B030D-6E8A-4147-A177-3AD203B41FA5}">
                      <a16:colId xmlns:a16="http://schemas.microsoft.com/office/drawing/2014/main" xmlns="" val="20003"/>
                    </a:ext>
                  </a:extLst>
                </a:gridCol>
                <a:gridCol w="863093">
                  <a:extLst>
                    <a:ext uri="{9D8B030D-6E8A-4147-A177-3AD203B41FA5}">
                      <a16:colId xmlns:a16="http://schemas.microsoft.com/office/drawing/2014/main" xmlns="" val="20004"/>
                    </a:ext>
                  </a:extLst>
                </a:gridCol>
                <a:gridCol w="1043741">
                  <a:extLst>
                    <a:ext uri="{9D8B030D-6E8A-4147-A177-3AD203B41FA5}">
                      <a16:colId xmlns:a16="http://schemas.microsoft.com/office/drawing/2014/main" xmlns="" val="20005"/>
                    </a:ext>
                  </a:extLst>
                </a:gridCol>
                <a:gridCol w="702518">
                  <a:extLst>
                    <a:ext uri="{9D8B030D-6E8A-4147-A177-3AD203B41FA5}">
                      <a16:colId xmlns:a16="http://schemas.microsoft.com/office/drawing/2014/main" xmlns="" val="20006"/>
                    </a:ext>
                  </a:extLst>
                </a:gridCol>
                <a:gridCol w="782805">
                  <a:extLst>
                    <a:ext uri="{9D8B030D-6E8A-4147-A177-3AD203B41FA5}">
                      <a16:colId xmlns:a16="http://schemas.microsoft.com/office/drawing/2014/main" xmlns="" val="20007"/>
                    </a:ext>
                  </a:extLst>
                </a:gridCol>
                <a:gridCol w="963453">
                  <a:extLst>
                    <a:ext uri="{9D8B030D-6E8A-4147-A177-3AD203B41FA5}">
                      <a16:colId xmlns:a16="http://schemas.microsoft.com/office/drawing/2014/main" xmlns="" val="20008"/>
                    </a:ext>
                  </a:extLst>
                </a:gridCol>
                <a:gridCol w="682444">
                  <a:extLst>
                    <a:ext uri="{9D8B030D-6E8A-4147-A177-3AD203B41FA5}">
                      <a16:colId xmlns:a16="http://schemas.microsoft.com/office/drawing/2014/main" xmlns="" val="20009"/>
                    </a:ext>
                  </a:extLst>
                </a:gridCol>
              </a:tblGrid>
              <a:tr h="827007">
                <a:tc rowSpan="2">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r>
                        <a:rPr lang="en-US" sz="2000" dirty="0"/>
                        <a:t>Meteorological</a:t>
                      </a:r>
                      <a:r>
                        <a:rPr lang="en-US" sz="2000" baseline="0" dirty="0"/>
                        <a:t> Subdivisions</a:t>
                      </a:r>
                      <a:endParaRPr lang="en-US" sz="2000" b="1" dirty="0">
                        <a:solidFill>
                          <a:schemeClr val="bg1"/>
                        </a:solidFill>
                      </a:endParaRPr>
                    </a:p>
                  </a:txBody>
                  <a:tcPr marL="42203" marR="42203" marT="38090" marB="38090">
                    <a:solidFill>
                      <a:srgbClr val="BFBFBF"/>
                    </a:solidFill>
                  </a:tcPr>
                </a:tc>
                <a:tc gridSpan="3">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pPr algn="ctr"/>
                      <a:r>
                        <a:rPr lang="en-US" sz="2000" dirty="0"/>
                        <a:t>Monsoon 2022</a:t>
                      </a:r>
                    </a:p>
                    <a:p>
                      <a:pPr algn="ctr"/>
                      <a:r>
                        <a:rPr lang="en-US" sz="2000" dirty="0"/>
                        <a:t>(01.10.22</a:t>
                      </a:r>
                      <a:r>
                        <a:rPr lang="en-US" sz="2000" baseline="0" dirty="0"/>
                        <a:t> to 31.12.22)</a:t>
                      </a:r>
                      <a:endParaRPr lang="en-US" sz="2000" b="1" dirty="0">
                        <a:solidFill>
                          <a:schemeClr val="bg1"/>
                        </a:solidFill>
                      </a:endParaRPr>
                    </a:p>
                  </a:txBody>
                  <a:tcPr marL="42203" marR="42203" marT="38090" marB="38090">
                    <a:solidFill>
                      <a:schemeClr val="bg1">
                        <a:lumMod val="75000"/>
                      </a:schemeClr>
                    </a:solidFill>
                  </a:tcPr>
                </a:tc>
                <a:tc hMerge="1">
                  <a:txBody>
                    <a:bodyPr/>
                    <a:lstStyle/>
                    <a:p>
                      <a:pPr algn="ctr"/>
                      <a:endParaRPr lang="en-US" sz="1600" b="1" dirty="0">
                        <a:solidFill>
                          <a:schemeClr val="bg1"/>
                        </a:solidFill>
                      </a:endParaRPr>
                    </a:p>
                  </a:txBody>
                  <a:tcPr marL="42203" marR="42203" marT="38090" marB="38090"/>
                </a:tc>
                <a:tc hMerge="1">
                  <a:txBody>
                    <a:bodyPr/>
                    <a:lstStyle/>
                    <a:p>
                      <a:pPr algn="ctr"/>
                      <a:endParaRPr lang="en-US" sz="1600" b="1" dirty="0">
                        <a:solidFill>
                          <a:schemeClr val="bg1"/>
                        </a:solidFill>
                      </a:endParaRPr>
                    </a:p>
                  </a:txBody>
                  <a:tcPr marL="42203" marR="42203" marT="38090" marB="38090"/>
                </a:tc>
                <a:tc gridSpan="3">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pPr algn="ctr"/>
                      <a:r>
                        <a:rPr lang="en-US" sz="2000" dirty="0"/>
                        <a:t>Post-Monsoon, 2022</a:t>
                      </a:r>
                    </a:p>
                    <a:p>
                      <a:pPr algn="ctr"/>
                      <a:r>
                        <a:rPr lang="en-US" sz="2000" dirty="0"/>
                        <a:t>(01.10.22</a:t>
                      </a:r>
                      <a:r>
                        <a:rPr lang="en-US" sz="2000" baseline="0" dirty="0"/>
                        <a:t> to 31.12.22)</a:t>
                      </a:r>
                      <a:endParaRPr lang="en-US" sz="2000" b="1" dirty="0">
                        <a:solidFill>
                          <a:schemeClr val="bg1"/>
                        </a:solidFill>
                      </a:endParaRPr>
                    </a:p>
                  </a:txBody>
                  <a:tcPr marL="42203" marR="42203" marT="38090" marB="38090">
                    <a:solidFill>
                      <a:schemeClr val="bg1">
                        <a:lumMod val="75000"/>
                      </a:schemeClr>
                    </a:solidFill>
                  </a:tcPr>
                </a:tc>
                <a:tc hMerge="1">
                  <a:txBody>
                    <a:bodyPr/>
                    <a:lstStyle/>
                    <a:p>
                      <a:endParaRPr lang="en-US" dirty="0"/>
                    </a:p>
                  </a:txBody>
                  <a:tcPr/>
                </a:tc>
                <a:tc hMerge="1">
                  <a:txBody>
                    <a:bodyPr/>
                    <a:lstStyle/>
                    <a:p>
                      <a:endParaRPr lang="en-US" dirty="0"/>
                    </a:p>
                  </a:txBody>
                  <a:tcPr/>
                </a:tc>
                <a:tc gridSpan="3">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Winter - 2023</a:t>
                      </a:r>
                    </a:p>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(01.01.23</a:t>
                      </a:r>
                      <a:r>
                        <a:rPr lang="en-US" sz="2000" baseline="0" dirty="0"/>
                        <a:t> to 28.02.23)</a:t>
                      </a:r>
                      <a:endParaRPr lang="en-US" sz="2000" b="1" dirty="0">
                        <a:solidFill>
                          <a:schemeClr val="bg1"/>
                        </a:solidFill>
                      </a:endParaRPr>
                    </a:p>
                  </a:txBody>
                  <a:tcPr marL="42203" marR="42203" marT="38090" marB="38090">
                    <a:solidFill>
                      <a:schemeClr val="bg1">
                        <a:lumMod val="75000"/>
                      </a:schemeClr>
                    </a:solidFill>
                  </a:tcPr>
                </a:tc>
                <a:tc hMerge="1">
                  <a:txBody>
                    <a:bodyPr/>
                    <a:lstStyle/>
                    <a:p>
                      <a:endParaRPr lang="en-US" sz="1400" b="1" dirty="0">
                        <a:solidFill>
                          <a:schemeClr val="bg1"/>
                        </a:solidFill>
                      </a:endParaRPr>
                    </a:p>
                  </a:txBody>
                  <a:tcPr marL="42203" marR="42203"/>
                </a:tc>
                <a:tc hMerge="1">
                  <a:txBody>
                    <a:bodyPr/>
                    <a:lstStyle/>
                    <a:p>
                      <a:endParaRPr lang="en-US" sz="1400" b="1" dirty="0">
                        <a:solidFill>
                          <a:schemeClr val="bg1"/>
                        </a:solidFill>
                      </a:endParaRPr>
                    </a:p>
                  </a:txBody>
                  <a:tcPr marL="42203" marR="42203"/>
                </a:tc>
                <a:tc gridSpan="3">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pPr algn="ctr"/>
                      <a:r>
                        <a:rPr lang="en-US" sz="2000" dirty="0"/>
                        <a:t>March</a:t>
                      </a:r>
                      <a:r>
                        <a:rPr lang="en-US" sz="2000" baseline="0" dirty="0"/>
                        <a:t> 2023 Onward</a:t>
                      </a:r>
                      <a:endParaRPr lang="en-US" sz="2000" dirty="0"/>
                    </a:p>
                    <a:p>
                      <a:pPr algn="ctr"/>
                      <a:r>
                        <a:rPr lang="en-US" sz="2000" dirty="0"/>
                        <a:t>(01.03.23</a:t>
                      </a:r>
                      <a:r>
                        <a:rPr lang="en-US" sz="2000" baseline="0" dirty="0"/>
                        <a:t> </a:t>
                      </a:r>
                      <a:r>
                        <a:rPr lang="en-US" sz="2000" dirty="0"/>
                        <a:t>to 30.04.23)</a:t>
                      </a:r>
                      <a:endParaRPr lang="en-US" sz="2000" b="1" dirty="0">
                        <a:solidFill>
                          <a:schemeClr val="bg1"/>
                        </a:solidFill>
                      </a:endParaRPr>
                    </a:p>
                  </a:txBody>
                  <a:tcPr marL="42203" marR="42203" marT="38090" marB="38090">
                    <a:solidFill>
                      <a:schemeClr val="bg1">
                        <a:lumMod val="75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xmlns="" val="10000"/>
                  </a:ext>
                </a:extLst>
              </a:tr>
              <a:tr h="803699">
                <a:tc vMerge="1">
                  <a:txBody>
                    <a:bodyPr/>
                    <a:lstStyle/>
                    <a:p>
                      <a:endParaRPr lang="en-US" dirty="0"/>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Actual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Normal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 Dep.</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Actual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Normal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 Dep.</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Actual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Normal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 Dep.</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Actual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Normal</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dirty="0">
                          <a:solidFill>
                            <a:srgbClr val="FF0000"/>
                          </a:solidFill>
                        </a:rPr>
                        <a:t>% Dep.</a:t>
                      </a:r>
                    </a:p>
                  </a:txBody>
                  <a:tcPr marL="42203" marR="42203" marT="38090" marB="38090"/>
                </a:tc>
                <a:extLst>
                  <a:ext uri="{0D108BD9-81ED-4DB2-BD59-A6C34878D82A}">
                    <a16:rowId xmlns:a16="http://schemas.microsoft.com/office/drawing/2014/main" xmlns="" val="10001"/>
                  </a:ext>
                </a:extLst>
              </a:tr>
              <a:tr h="94096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t>East &amp; North</a:t>
                      </a:r>
                      <a:r>
                        <a:rPr lang="en-US" sz="1800" b="1" baseline="0" dirty="0"/>
                        <a:t> East India</a:t>
                      </a:r>
                      <a:endParaRPr lang="en-US" sz="1800" b="1" dirty="0"/>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47.7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44.4</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176.5</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158.9</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11%</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21.2</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47.2</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(-)55%</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130.7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183.2</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(-)29%</a:t>
                      </a:r>
                    </a:p>
                  </a:txBody>
                  <a:tcPr marL="42203" marR="42203" marT="38090" marB="38090"/>
                </a:tc>
                <a:extLst>
                  <a:ext uri="{0D108BD9-81ED-4DB2-BD59-A6C34878D82A}">
                    <a16:rowId xmlns:a16="http://schemas.microsoft.com/office/drawing/2014/main" xmlns="" val="10002"/>
                  </a:ext>
                </a:extLst>
              </a:tr>
              <a:tr h="8036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t>North West India</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2.8</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7.7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(-)64%</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82.8</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52.6</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57%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54.3</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78.7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(-)31%</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84.8</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IN" sz="1800" b="0" dirty="0"/>
                        <a:t>79.8</a:t>
                      </a:r>
                      <a:endParaRPr lang="en-US" sz="1800" b="0" dirty="0"/>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 6%</a:t>
                      </a:r>
                    </a:p>
                  </a:txBody>
                  <a:tcPr marL="42203" marR="42203" marT="38090" marB="38090"/>
                </a:tc>
                <a:extLst>
                  <a:ext uri="{0D108BD9-81ED-4DB2-BD59-A6C34878D82A}">
                    <a16:rowId xmlns:a16="http://schemas.microsoft.com/office/drawing/2014/main" xmlns="" val="10003"/>
                  </a:ext>
                </a:extLst>
              </a:tr>
              <a:tr h="8036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t>Central India</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20.8</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23.3</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(-)11%</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94.8</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76.1</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25%</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1.9</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14.9</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(-)87%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53.7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17.0</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(+)216%</a:t>
                      </a:r>
                    </a:p>
                  </a:txBody>
                  <a:tcPr marL="42203" marR="42203" marT="38090" marB="38090"/>
                </a:tc>
                <a:extLst>
                  <a:ext uri="{0D108BD9-81ED-4DB2-BD59-A6C34878D82A}">
                    <a16:rowId xmlns:a16="http://schemas.microsoft.com/office/drawing/2014/main" xmlns="" val="10004"/>
                  </a:ext>
                </a:extLst>
              </a:tr>
              <a:tr h="8036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South</a:t>
                      </a:r>
                      <a:r>
                        <a:rPr lang="en-US" sz="1800" b="1" baseline="0" dirty="0">
                          <a:solidFill>
                            <a:schemeClr val="tx1"/>
                          </a:solidFill>
                        </a:rPr>
                        <a:t> Peninsula</a:t>
                      </a:r>
                      <a:endParaRPr lang="en-US" sz="1800" b="1" dirty="0">
                        <a:solidFill>
                          <a:schemeClr val="tx1"/>
                        </a:solidFill>
                      </a:endParaRP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37.5</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41.6</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(-)10%</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298.1</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274.1</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9%</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6.3</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15.7</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(-)60%</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71.5</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49.4</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t>(+)45%</a:t>
                      </a:r>
                    </a:p>
                  </a:txBody>
                  <a:tcPr marL="42203" marR="42203" marT="38090" marB="38090"/>
                </a:tc>
                <a:extLst>
                  <a:ext uri="{0D108BD9-81ED-4DB2-BD59-A6C34878D82A}">
                    <a16:rowId xmlns:a16="http://schemas.microsoft.com/office/drawing/2014/main" xmlns="" val="10005"/>
                  </a:ext>
                </a:extLst>
              </a:tr>
              <a:tr h="8036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Country As A Whole</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22.8</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25.5</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(-)10%</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144.1</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121.0</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19%</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21.9</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39.8</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(-)45%</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79</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69.2</a:t>
                      </a:r>
                    </a:p>
                  </a:txBody>
                  <a:tcPr marL="42203" marR="42203" marT="38090" marB="3809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800" b="0" dirty="0">
                          <a:solidFill>
                            <a:schemeClr val="tx1"/>
                          </a:solidFill>
                        </a:rPr>
                        <a:t>(+)14%</a:t>
                      </a:r>
                    </a:p>
                  </a:txBody>
                  <a:tcPr marL="42203" marR="42203" marT="38090" marB="38090"/>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xmlns="" val="2017231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Region-wise Live Storage of Water in Major Reservoirs (2022 &amp; 2023) </a:t>
            </a:r>
          </a:p>
          <a:p>
            <a:pPr>
              <a:defRPr/>
            </a:pPr>
            <a:r>
              <a:rPr lang="en-IN" sz="2400" b="1" dirty="0">
                <a:solidFill>
                  <a:srgbClr val="002060"/>
                </a:solidFill>
                <a:latin typeface="+mn-lt"/>
              </a:rPr>
              <a:t>as on 27.04.2023</a:t>
            </a:r>
            <a:endParaRPr lang="en-US" sz="2400" b="1" dirty="0">
              <a:solidFill>
                <a:srgbClr val="002060"/>
              </a:solidFill>
              <a:latin typeface="+mn-lt"/>
            </a:endParaRPr>
          </a:p>
        </p:txBody>
      </p:sp>
      <p:graphicFrame>
        <p:nvGraphicFramePr>
          <p:cNvPr id="5" name="Content Placeholder 3">
            <a:extLst>
              <a:ext uri="{FF2B5EF4-FFF2-40B4-BE49-F238E27FC236}">
                <a16:creationId xmlns:a16="http://schemas.microsoft.com/office/drawing/2014/main" xmlns="" id="{F1D15682-A084-4832-9545-C96039D518C1}"/>
              </a:ext>
            </a:extLst>
          </p:cNvPr>
          <p:cNvGraphicFramePr>
            <a:graphicFrameLocks/>
          </p:cNvGraphicFramePr>
          <p:nvPr>
            <p:extLst>
              <p:ext uri="{D42A27DB-BD31-4B8C-83A1-F6EECF244321}">
                <p14:modId xmlns:p14="http://schemas.microsoft.com/office/powerpoint/2010/main" xmlns="" val="3968272687"/>
              </p:ext>
            </p:extLst>
          </p:nvPr>
        </p:nvGraphicFramePr>
        <p:xfrm>
          <a:off x="357158" y="837873"/>
          <a:ext cx="11560519" cy="3942457"/>
        </p:xfrm>
        <a:graphic>
          <a:graphicData uri="http://schemas.openxmlformats.org/drawingml/2006/table">
            <a:tbl>
              <a:tblPr firstRow="1" bandRow="1">
                <a:tableStyleId>{46F890A9-2807-4EBB-B81D-B2AA78EC7F39}</a:tableStyleId>
              </a:tblPr>
              <a:tblGrid>
                <a:gridCol w="2752503">
                  <a:extLst>
                    <a:ext uri="{9D8B030D-6E8A-4147-A177-3AD203B41FA5}">
                      <a16:colId xmlns:a16="http://schemas.microsoft.com/office/drawing/2014/main" xmlns="" val="20000"/>
                    </a:ext>
                  </a:extLst>
                </a:gridCol>
                <a:gridCol w="1431304">
                  <a:extLst>
                    <a:ext uri="{9D8B030D-6E8A-4147-A177-3AD203B41FA5}">
                      <a16:colId xmlns:a16="http://schemas.microsoft.com/office/drawing/2014/main" xmlns="" val="20001"/>
                    </a:ext>
                  </a:extLst>
                </a:gridCol>
                <a:gridCol w="1211101">
                  <a:extLst>
                    <a:ext uri="{9D8B030D-6E8A-4147-A177-3AD203B41FA5}">
                      <a16:colId xmlns:a16="http://schemas.microsoft.com/office/drawing/2014/main" xmlns="" val="20002"/>
                    </a:ext>
                  </a:extLst>
                </a:gridCol>
                <a:gridCol w="1101003">
                  <a:extLst>
                    <a:ext uri="{9D8B030D-6E8A-4147-A177-3AD203B41FA5}">
                      <a16:colId xmlns:a16="http://schemas.microsoft.com/office/drawing/2014/main" xmlns="" val="20003"/>
                    </a:ext>
                  </a:extLst>
                </a:gridCol>
                <a:gridCol w="1228602">
                  <a:extLst>
                    <a:ext uri="{9D8B030D-6E8A-4147-A177-3AD203B41FA5}">
                      <a16:colId xmlns:a16="http://schemas.microsoft.com/office/drawing/2014/main" xmlns="" val="20005"/>
                    </a:ext>
                  </a:extLst>
                </a:gridCol>
                <a:gridCol w="1193602">
                  <a:extLst>
                    <a:ext uri="{9D8B030D-6E8A-4147-A177-3AD203B41FA5}">
                      <a16:colId xmlns:a16="http://schemas.microsoft.com/office/drawing/2014/main" xmlns="" val="20006"/>
                    </a:ext>
                  </a:extLst>
                </a:gridCol>
                <a:gridCol w="1248017">
                  <a:extLst>
                    <a:ext uri="{9D8B030D-6E8A-4147-A177-3AD203B41FA5}">
                      <a16:colId xmlns:a16="http://schemas.microsoft.com/office/drawing/2014/main" xmlns="" val="20007"/>
                    </a:ext>
                  </a:extLst>
                </a:gridCol>
                <a:gridCol w="1394387">
                  <a:extLst>
                    <a:ext uri="{9D8B030D-6E8A-4147-A177-3AD203B41FA5}">
                      <a16:colId xmlns:a16="http://schemas.microsoft.com/office/drawing/2014/main" xmlns="" val="20009"/>
                    </a:ext>
                  </a:extLst>
                </a:gridCol>
              </a:tblGrid>
              <a:tr h="652894">
                <a:tc rowSpan="2">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fontAlgn="ctr"/>
                      <a:r>
                        <a:rPr lang="en-IN" sz="2000" b="1" u="none" strike="noStrike" dirty="0">
                          <a:solidFill>
                            <a:srgbClr val="000000"/>
                          </a:solidFill>
                        </a:rPr>
                        <a:t>Region</a:t>
                      </a:r>
                      <a:endParaRPr lang="en-IN" sz="2000" b="1" i="0" u="none" strike="noStrike" dirty="0">
                        <a:solidFill>
                          <a:srgbClr val="000000"/>
                        </a:solidFill>
                        <a:latin typeface="+mn-lt"/>
                      </a:endParaRPr>
                    </a:p>
                  </a:txBody>
                  <a:tcPr marL="7144" marR="7144" marT="7938" marB="0" anchor="ctr">
                    <a:solidFill>
                      <a:srgbClr val="BFBFBF"/>
                    </a:solidFill>
                  </a:tcPr>
                </a:tc>
                <a:tc rowSpan="2">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fontAlgn="ctr"/>
                      <a:r>
                        <a:rPr lang="en-IN" sz="2000" b="1" u="none" strike="noStrike" dirty="0">
                          <a:solidFill>
                            <a:srgbClr val="000000"/>
                          </a:solidFill>
                        </a:rPr>
                        <a:t>Live Capacity At  </a:t>
                      </a:r>
                      <a:r>
                        <a:rPr lang="en-IN" sz="2000" b="1" u="none" strike="noStrike" dirty="0" err="1">
                          <a:solidFill>
                            <a:srgbClr val="000000"/>
                          </a:solidFill>
                        </a:rPr>
                        <a:t>Frl</a:t>
                      </a:r>
                      <a:r>
                        <a:rPr lang="en-IN" sz="2000" b="1" u="none" strike="noStrike" dirty="0">
                          <a:solidFill>
                            <a:srgbClr val="000000"/>
                          </a:solidFill>
                        </a:rPr>
                        <a:t> (</a:t>
                      </a:r>
                      <a:r>
                        <a:rPr lang="en-IN" sz="2000" b="1" u="none" strike="noStrike" dirty="0" err="1">
                          <a:solidFill>
                            <a:srgbClr val="000000"/>
                          </a:solidFill>
                        </a:rPr>
                        <a:t>Bcm</a:t>
                      </a:r>
                      <a:r>
                        <a:rPr lang="en-IN" sz="2000" b="1" u="none" strike="noStrike" dirty="0">
                          <a:solidFill>
                            <a:srgbClr val="000000"/>
                          </a:solidFill>
                        </a:rPr>
                        <a:t>)</a:t>
                      </a:r>
                      <a:endParaRPr lang="en-IN" sz="2000" b="1" i="0" u="none" strike="noStrike" dirty="0">
                        <a:solidFill>
                          <a:srgbClr val="000000"/>
                        </a:solidFill>
                        <a:latin typeface="+mn-lt"/>
                      </a:endParaRPr>
                    </a:p>
                  </a:txBody>
                  <a:tcPr marL="7144" marR="7144" marT="7938" marB="0" anchor="ctr">
                    <a:solidFill>
                      <a:srgbClr val="BFBFBF"/>
                    </a:solidFill>
                  </a:tcPr>
                </a:tc>
                <a:tc gridSpan="3">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fontAlgn="ctr"/>
                      <a:r>
                        <a:rPr lang="en-IN" sz="2000" b="1" u="none" strike="noStrike" dirty="0">
                          <a:solidFill>
                            <a:srgbClr val="000000"/>
                          </a:solidFill>
                        </a:rPr>
                        <a:t>Live Storage (</a:t>
                      </a:r>
                      <a:r>
                        <a:rPr lang="en-IN" sz="2000" b="1" u="none" strike="noStrike" dirty="0" err="1">
                          <a:solidFill>
                            <a:srgbClr val="000000"/>
                          </a:solidFill>
                        </a:rPr>
                        <a:t>Bcm</a:t>
                      </a:r>
                      <a:r>
                        <a:rPr lang="en-IN" sz="2000" b="1" u="none" strike="noStrike" dirty="0">
                          <a:solidFill>
                            <a:srgbClr val="000000"/>
                          </a:solidFill>
                        </a:rPr>
                        <a:t>)</a:t>
                      </a:r>
                      <a:endParaRPr lang="en-IN" sz="2000" b="1" i="0" u="none" strike="noStrike" dirty="0">
                        <a:solidFill>
                          <a:srgbClr val="000000"/>
                        </a:solidFill>
                        <a:latin typeface="+mn-lt"/>
                      </a:endParaRPr>
                    </a:p>
                  </a:txBody>
                  <a:tcPr marL="7144" marR="7144" marT="7938" marB="0" anchor="ctr">
                    <a:solidFill>
                      <a:srgbClr val="BFBFBF"/>
                    </a:solidFill>
                  </a:tcPr>
                </a:tc>
                <a:tc hMerge="1">
                  <a:txBody>
                    <a:bodyPr/>
                    <a:lstStyle/>
                    <a:p>
                      <a:endParaRPr lang="en-IN"/>
                    </a:p>
                  </a:txBody>
                  <a:tcPr/>
                </a:tc>
                <a:tc hMerge="1">
                  <a:txBody>
                    <a:bodyPr/>
                    <a:lstStyle/>
                    <a:p>
                      <a:endParaRPr lang="en-IN"/>
                    </a:p>
                  </a:txBody>
                  <a:tcPr/>
                </a:tc>
                <a:tc gridSpan="3">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fontAlgn="ctr"/>
                      <a:r>
                        <a:rPr lang="en-IN" sz="2000" b="1" u="none" strike="noStrike" dirty="0">
                          <a:solidFill>
                            <a:srgbClr val="000000"/>
                          </a:solidFill>
                        </a:rPr>
                        <a:t>Storage As Percentage Of Live Capacity At </a:t>
                      </a:r>
                      <a:r>
                        <a:rPr lang="en-IN" sz="2000" b="1" u="none" strike="noStrike" dirty="0" err="1">
                          <a:solidFill>
                            <a:srgbClr val="000000"/>
                          </a:solidFill>
                        </a:rPr>
                        <a:t>Frl</a:t>
                      </a:r>
                      <a:endParaRPr lang="en-IN" sz="2000" b="1" i="0" u="none" strike="noStrike" dirty="0">
                        <a:solidFill>
                          <a:srgbClr val="000000"/>
                        </a:solidFill>
                        <a:latin typeface="+mn-lt"/>
                      </a:endParaRPr>
                    </a:p>
                  </a:txBody>
                  <a:tcPr marL="7144" marR="7144" marT="7938" marB="0" anchor="ctr">
                    <a:solidFill>
                      <a:srgbClr val="BFBFBF"/>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0000"/>
                  </a:ext>
                </a:extLst>
              </a:tr>
              <a:tr h="974686">
                <a:tc vMerge="1">
                  <a:txBody>
                    <a:bodyPr/>
                    <a:lstStyle/>
                    <a:p>
                      <a:endParaRPr lang="en-IN"/>
                    </a:p>
                  </a:txBody>
                  <a:tcPr/>
                </a:tc>
                <a:tc vMerge="1">
                  <a:txBody>
                    <a:bodyPr/>
                    <a:lstStyle/>
                    <a:p>
                      <a:endParaRPr lang="en-IN"/>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2000" b="1" u="none" strike="noStrike" dirty="0">
                          <a:solidFill>
                            <a:srgbClr val="000000"/>
                          </a:solidFill>
                        </a:rPr>
                        <a:t>2022-23</a:t>
                      </a:r>
                      <a:endParaRPr lang="en-IN" sz="2000" b="1" i="0" u="none" strike="noStrike" dirty="0">
                        <a:solidFill>
                          <a:srgbClr val="000000"/>
                        </a:solidFill>
                        <a:latin typeface="+mn-lt"/>
                      </a:endParaRPr>
                    </a:p>
                  </a:txBody>
                  <a:tcPr marL="7144" marR="7144" marT="7938" marB="0" anchor="c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2000" b="1" u="none" strike="noStrike" dirty="0">
                          <a:solidFill>
                            <a:srgbClr val="000000"/>
                          </a:solidFill>
                        </a:rPr>
                        <a:t>2021-22</a:t>
                      </a:r>
                      <a:endParaRPr lang="en-IN" sz="2000" b="1" i="0" u="none" strike="noStrike" dirty="0">
                        <a:solidFill>
                          <a:srgbClr val="000000"/>
                        </a:solidFill>
                        <a:latin typeface="+mn-lt"/>
                      </a:endParaRPr>
                    </a:p>
                  </a:txBody>
                  <a:tcPr marL="7144" marR="7144" marT="7938" marB="0" anchor="c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2000" b="1" u="none" strike="noStrike" dirty="0">
                          <a:solidFill>
                            <a:srgbClr val="000000"/>
                          </a:solidFill>
                        </a:rPr>
                        <a:t>Last 10 Yrs. Avg.</a:t>
                      </a:r>
                      <a:endParaRPr lang="en-IN" sz="2000" b="1" i="0" u="none" strike="noStrike" dirty="0">
                        <a:solidFill>
                          <a:srgbClr val="000000"/>
                        </a:solidFill>
                        <a:latin typeface="+mn-lt"/>
                      </a:endParaRPr>
                    </a:p>
                  </a:txBody>
                  <a:tcPr marL="7144" marR="7144" marT="7938" marB="0" anchor="c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2000" b="1" u="none" strike="noStrike" dirty="0">
                          <a:solidFill>
                            <a:srgbClr val="000000"/>
                          </a:solidFill>
                        </a:rPr>
                        <a:t>2022-23</a:t>
                      </a:r>
                      <a:endParaRPr lang="en-IN" sz="2000" b="1" i="0" u="none" strike="noStrike" dirty="0">
                        <a:solidFill>
                          <a:srgbClr val="000000"/>
                        </a:solidFill>
                        <a:latin typeface="+mn-lt"/>
                      </a:endParaRPr>
                    </a:p>
                  </a:txBody>
                  <a:tcPr marL="7144" marR="7144" marT="7938" marB="0" anchor="c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2000" b="1" u="none" strike="noStrike" dirty="0">
                          <a:solidFill>
                            <a:srgbClr val="000000"/>
                          </a:solidFill>
                        </a:rPr>
                        <a:t>2021-22</a:t>
                      </a:r>
                      <a:endParaRPr lang="en-IN" sz="2000" b="1" i="0" u="none" strike="noStrike" dirty="0">
                        <a:solidFill>
                          <a:srgbClr val="000000"/>
                        </a:solidFill>
                        <a:latin typeface="+mn-lt"/>
                      </a:endParaRPr>
                    </a:p>
                  </a:txBody>
                  <a:tcPr marL="7144" marR="7144" marT="7938" marB="0" anchor="c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2000" b="1" u="none" strike="noStrike" dirty="0">
                          <a:solidFill>
                            <a:srgbClr val="000000"/>
                          </a:solidFill>
                        </a:rPr>
                        <a:t>Last 10 Yrs. Average</a:t>
                      </a:r>
                      <a:endParaRPr lang="en-IN" sz="2000" b="1" i="0" u="none" strike="noStrike" dirty="0">
                        <a:solidFill>
                          <a:srgbClr val="000000"/>
                        </a:solidFill>
                        <a:latin typeface="+mn-lt"/>
                      </a:endParaRPr>
                    </a:p>
                  </a:txBody>
                  <a:tcPr marL="7144" marR="7144" marT="7938" marB="0" anchor="ctr">
                    <a:solidFill>
                      <a:schemeClr val="bg1">
                        <a:lumMod val="95000"/>
                      </a:schemeClr>
                    </a:solidFill>
                  </a:tcPr>
                </a:tc>
                <a:extLst>
                  <a:ext uri="{0D108BD9-81ED-4DB2-BD59-A6C34878D82A}">
                    <a16:rowId xmlns:a16="http://schemas.microsoft.com/office/drawing/2014/main" xmlns="" val="10001"/>
                  </a:ext>
                </a:extLst>
              </a:tr>
              <a:tr h="38101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t"/>
                      <a:r>
                        <a:rPr lang="en-IN" sz="1800" b="1" u="none" strike="noStrike" dirty="0">
                          <a:solidFill>
                            <a:srgbClr val="000000"/>
                          </a:solidFill>
                        </a:rPr>
                        <a:t>Northern Region</a:t>
                      </a:r>
                      <a:endParaRPr lang="en-IN" sz="1800" b="1" i="0" u="none" strike="noStrike" dirty="0">
                        <a:solidFill>
                          <a:srgbClr val="000000"/>
                        </a:solidFill>
                        <a:latin typeface="+mn-lt"/>
                      </a:endParaRPr>
                    </a:p>
                  </a:txBody>
                  <a:tcPr marL="7144" marR="7144" marT="7938"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19.66</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7.42</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6.10</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6.14</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38%</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31%</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31%</a:t>
                      </a:r>
                      <a:endParaRPr lang="en-IN" sz="1800" b="0" i="0" u="none" strike="noStrike" dirty="0">
                        <a:solidFill>
                          <a:srgbClr val="000000"/>
                        </a:solidFill>
                        <a:latin typeface="+mn-lt"/>
                      </a:endParaRPr>
                    </a:p>
                  </a:txBody>
                  <a:tcPr marL="7144" marR="7144" marT="7938" marB="0" anchor="ctr"/>
                </a:tc>
                <a:extLst>
                  <a:ext uri="{0D108BD9-81ED-4DB2-BD59-A6C34878D82A}">
                    <a16:rowId xmlns:a16="http://schemas.microsoft.com/office/drawing/2014/main" xmlns="" val="10002"/>
                  </a:ext>
                </a:extLst>
              </a:tr>
              <a:tr h="33110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t"/>
                      <a:r>
                        <a:rPr lang="en-IN" sz="1800" b="1" u="none" strike="noStrike" dirty="0">
                          <a:solidFill>
                            <a:srgbClr val="000000"/>
                          </a:solidFill>
                        </a:rPr>
                        <a:t>Eastern Region</a:t>
                      </a:r>
                      <a:endParaRPr lang="en-IN" sz="1800" b="1" i="0" u="none" strike="noStrike" dirty="0">
                        <a:solidFill>
                          <a:srgbClr val="000000"/>
                        </a:solidFill>
                        <a:latin typeface="+mn-lt"/>
                      </a:endParaRPr>
                    </a:p>
                  </a:txBody>
                  <a:tcPr marL="7144" marR="7144" marT="7938"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20.09</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6.90</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6.69</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7.40</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34%</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33%</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37%</a:t>
                      </a:r>
                      <a:endParaRPr lang="en-IN" sz="1800" b="0" i="0" u="none" strike="noStrike" dirty="0">
                        <a:solidFill>
                          <a:srgbClr val="000000"/>
                        </a:solidFill>
                        <a:latin typeface="+mn-lt"/>
                      </a:endParaRPr>
                    </a:p>
                  </a:txBody>
                  <a:tcPr marL="7144" marR="7144" marT="7938" marB="0" anchor="ctr"/>
                </a:tc>
                <a:extLst>
                  <a:ext uri="{0D108BD9-81ED-4DB2-BD59-A6C34878D82A}">
                    <a16:rowId xmlns:a16="http://schemas.microsoft.com/office/drawing/2014/main" xmlns="" val="10003"/>
                  </a:ext>
                </a:extLst>
              </a:tr>
              <a:tr h="37115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t"/>
                      <a:r>
                        <a:rPr lang="en-IN" sz="1800" b="1" u="none" strike="noStrike" dirty="0">
                          <a:solidFill>
                            <a:srgbClr val="000000"/>
                          </a:solidFill>
                        </a:rPr>
                        <a:t>Western Region</a:t>
                      </a:r>
                      <a:endParaRPr lang="en-IN" sz="1800" b="1" i="0" u="none" strike="noStrike" dirty="0">
                        <a:solidFill>
                          <a:srgbClr val="000000"/>
                        </a:solidFill>
                        <a:latin typeface="+mn-lt"/>
                      </a:endParaRPr>
                    </a:p>
                  </a:txBody>
                  <a:tcPr marL="7144" marR="7144" marT="7938"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37.13</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14.14</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15.76</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11.651</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38%</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42%</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31%</a:t>
                      </a:r>
                      <a:endParaRPr lang="en-IN" sz="1800" b="0" i="0" u="none" strike="noStrike" dirty="0">
                        <a:solidFill>
                          <a:srgbClr val="000000"/>
                        </a:solidFill>
                        <a:latin typeface="+mn-lt"/>
                      </a:endParaRPr>
                    </a:p>
                  </a:txBody>
                  <a:tcPr marL="7144" marR="7144" marT="7938" marB="0" anchor="ctr"/>
                </a:tc>
                <a:extLst>
                  <a:ext uri="{0D108BD9-81ED-4DB2-BD59-A6C34878D82A}">
                    <a16:rowId xmlns:a16="http://schemas.microsoft.com/office/drawing/2014/main" xmlns="" val="10004"/>
                  </a:ext>
                </a:extLst>
              </a:tr>
              <a:tr h="33110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t"/>
                      <a:r>
                        <a:rPr lang="en-IN" sz="1800" b="1" u="none" strike="noStrike" dirty="0">
                          <a:solidFill>
                            <a:srgbClr val="000000"/>
                          </a:solidFill>
                        </a:rPr>
                        <a:t>Central Region</a:t>
                      </a:r>
                      <a:endParaRPr lang="en-IN" sz="1800" b="1" i="0" u="none" strike="noStrike" dirty="0">
                        <a:solidFill>
                          <a:srgbClr val="000000"/>
                        </a:solidFill>
                        <a:latin typeface="+mn-lt"/>
                      </a:endParaRPr>
                    </a:p>
                  </a:txBody>
                  <a:tcPr marL="7144" marR="7144" marT="7938"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48.23</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20.55</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18.98</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16.58</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43%</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39%</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34%</a:t>
                      </a:r>
                      <a:endParaRPr lang="en-IN" sz="1800" b="0" i="0" u="none" strike="noStrike" dirty="0">
                        <a:solidFill>
                          <a:srgbClr val="000000"/>
                        </a:solidFill>
                        <a:latin typeface="+mn-lt"/>
                      </a:endParaRPr>
                    </a:p>
                  </a:txBody>
                  <a:tcPr marL="7144" marR="7144" marT="7938" marB="0" anchor="ctr"/>
                </a:tc>
                <a:extLst>
                  <a:ext uri="{0D108BD9-81ED-4DB2-BD59-A6C34878D82A}">
                    <a16:rowId xmlns:a16="http://schemas.microsoft.com/office/drawing/2014/main" xmlns="" val="10005"/>
                  </a:ext>
                </a:extLst>
              </a:tr>
              <a:tr h="38101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t"/>
                      <a:r>
                        <a:rPr lang="en-IN" sz="1800" b="1" u="none" strike="noStrike" dirty="0">
                          <a:solidFill>
                            <a:srgbClr val="000000"/>
                          </a:solidFill>
                        </a:rPr>
                        <a:t>Southern Region</a:t>
                      </a:r>
                      <a:endParaRPr lang="en-IN" sz="1800" b="1" i="0" u="none" strike="noStrike" dirty="0">
                        <a:solidFill>
                          <a:srgbClr val="000000"/>
                        </a:solidFill>
                        <a:latin typeface="+mn-lt"/>
                      </a:endParaRPr>
                    </a:p>
                  </a:txBody>
                  <a:tcPr marL="7144" marR="7144" marT="7938"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53.07</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15.12</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19.09</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11.61</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28%</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36%</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22%</a:t>
                      </a:r>
                      <a:endParaRPr lang="en-IN" sz="1800" b="0" i="0" u="none" strike="noStrike" dirty="0">
                        <a:solidFill>
                          <a:srgbClr val="000000"/>
                        </a:solidFill>
                        <a:latin typeface="+mn-lt"/>
                      </a:endParaRPr>
                    </a:p>
                  </a:txBody>
                  <a:tcPr marL="7144" marR="7144" marT="7938" marB="0" anchor="ctr"/>
                </a:tc>
                <a:extLst>
                  <a:ext uri="{0D108BD9-81ED-4DB2-BD59-A6C34878D82A}">
                    <a16:rowId xmlns:a16="http://schemas.microsoft.com/office/drawing/2014/main" xmlns="" val="10006"/>
                  </a:ext>
                </a:extLst>
              </a:tr>
              <a:tr h="51949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t"/>
                      <a:r>
                        <a:rPr lang="en-IN" sz="1800" b="1" u="none" strike="noStrike" dirty="0">
                          <a:solidFill>
                            <a:srgbClr val="000000"/>
                          </a:solidFill>
                        </a:rPr>
                        <a:t>Country As A Whole</a:t>
                      </a:r>
                      <a:endParaRPr lang="en-IN" sz="1800" b="1" i="0" u="none" strike="noStrike" dirty="0">
                        <a:solidFill>
                          <a:srgbClr val="000000"/>
                        </a:solidFill>
                        <a:latin typeface="+mn-lt"/>
                      </a:endParaRPr>
                    </a:p>
                  </a:txBody>
                  <a:tcPr marL="7144" marR="7144" marT="7938" marB="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178.18</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64.13</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66.63</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ctr" defTabSz="914400" rtl="0" eaLnBrk="1" fontAlgn="ctr" latinLnBrk="0" hangingPunct="1"/>
                      <a:r>
                        <a:rPr lang="en-US" sz="1800" b="0" u="none" strike="noStrike" kern="1200" dirty="0">
                          <a:solidFill>
                            <a:srgbClr val="000000"/>
                          </a:solidFill>
                        </a:rPr>
                        <a:t>53.39</a:t>
                      </a:r>
                      <a:endParaRPr lang="en-US" sz="1800" b="0" i="0" u="none" strike="noStrike" kern="1200" dirty="0">
                        <a:solidFill>
                          <a:srgbClr val="000000"/>
                        </a:solidFill>
                        <a:latin typeface="+mn-lt"/>
                        <a:ea typeface="+mn-ea"/>
                        <a:cs typeface="+mn-cs"/>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36%</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37%</a:t>
                      </a:r>
                      <a:endParaRPr lang="en-IN" sz="1800" b="0" i="0" u="none" strike="noStrike" dirty="0">
                        <a:solidFill>
                          <a:srgbClr val="000000"/>
                        </a:solidFill>
                        <a:latin typeface="+mn-lt"/>
                      </a:endParaRPr>
                    </a:p>
                  </a:txBody>
                  <a:tcPr marL="7144" marR="7144" marT="7938" marB="0" anchor="ct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ctr"/>
                      <a:r>
                        <a:rPr lang="en-IN" sz="1800" b="0" u="none" strike="noStrike" dirty="0">
                          <a:solidFill>
                            <a:srgbClr val="000000"/>
                          </a:solidFill>
                        </a:rPr>
                        <a:t>30%</a:t>
                      </a:r>
                      <a:endParaRPr lang="en-IN" sz="1800" b="0" i="0" u="none" strike="noStrike" dirty="0">
                        <a:solidFill>
                          <a:srgbClr val="000000"/>
                        </a:solidFill>
                        <a:latin typeface="+mn-lt"/>
                      </a:endParaRPr>
                    </a:p>
                  </a:txBody>
                  <a:tcPr marL="7144" marR="7144" marT="7938" marB="0" anchor="ctr"/>
                </a:tc>
                <a:extLst>
                  <a:ext uri="{0D108BD9-81ED-4DB2-BD59-A6C34878D82A}">
                    <a16:rowId xmlns:a16="http://schemas.microsoft.com/office/drawing/2014/main" xmlns="" val="10007"/>
                  </a:ext>
                </a:extLst>
              </a:tr>
            </a:tbl>
          </a:graphicData>
        </a:graphic>
      </p:graphicFrame>
      <p:sp>
        <p:nvSpPr>
          <p:cNvPr id="7" name="TextBox 6">
            <a:extLst>
              <a:ext uri="{FF2B5EF4-FFF2-40B4-BE49-F238E27FC236}">
                <a16:creationId xmlns:a16="http://schemas.microsoft.com/office/drawing/2014/main" xmlns="" id="{A1C17DC4-EFBF-407D-B681-E9A41780C29C}"/>
              </a:ext>
            </a:extLst>
          </p:cNvPr>
          <p:cNvSpPr txBox="1"/>
          <p:nvPr/>
        </p:nvSpPr>
        <p:spPr>
          <a:xfrm>
            <a:off x="0" y="6596390"/>
            <a:ext cx="6096000" cy="261610"/>
          </a:xfrm>
          <a:prstGeom prst="rect">
            <a:avLst/>
          </a:prstGeom>
          <a:noFill/>
        </p:spPr>
        <p:txBody>
          <a:bodyPr wrap="square">
            <a:spAutoFit/>
          </a:bodyPr>
          <a:lstStyle/>
          <a:p>
            <a:r>
              <a:rPr lang="en-IN" sz="1100" b="1" u="none" strike="noStrike" dirty="0">
                <a:solidFill>
                  <a:srgbClr val="000000"/>
                </a:solidFill>
              </a:rPr>
              <a:t>Source:</a:t>
            </a:r>
            <a:r>
              <a:rPr lang="en-IN" sz="1100" b="0" u="none" strike="noStrike" dirty="0">
                <a:solidFill>
                  <a:srgbClr val="000000"/>
                </a:solidFill>
              </a:rPr>
              <a:t> CWC </a:t>
            </a:r>
            <a:r>
              <a:rPr lang="en-IN" sz="1100" b="0" u="none" strike="noStrike" dirty="0" err="1">
                <a:solidFill>
                  <a:srgbClr val="000000"/>
                </a:solidFill>
              </a:rPr>
              <a:t>GoI</a:t>
            </a:r>
            <a:r>
              <a:rPr lang="en-IN" sz="1100" b="0" u="none" strike="noStrike" dirty="0">
                <a:solidFill>
                  <a:srgbClr val="000000"/>
                </a:solidFill>
              </a:rPr>
              <a:t>. As on 27.04.2023</a:t>
            </a:r>
            <a:endParaRPr lang="en-IN" sz="1100" dirty="0"/>
          </a:p>
        </p:txBody>
      </p:sp>
      <p:grpSp>
        <p:nvGrpSpPr>
          <p:cNvPr id="8" name="Group 7">
            <a:extLst>
              <a:ext uri="{FF2B5EF4-FFF2-40B4-BE49-F238E27FC236}">
                <a16:creationId xmlns:a16="http://schemas.microsoft.com/office/drawing/2014/main" xmlns="" id="{E5FDF5AC-D20E-427D-9D58-E0800E119946}"/>
              </a:ext>
            </a:extLst>
          </p:cNvPr>
          <p:cNvGrpSpPr/>
          <p:nvPr/>
        </p:nvGrpSpPr>
        <p:grpSpPr>
          <a:xfrm>
            <a:off x="60960" y="5099080"/>
            <a:ext cx="2264400" cy="1239520"/>
            <a:chOff x="62240" y="3281680"/>
            <a:chExt cx="2264400" cy="1239520"/>
          </a:xfrm>
        </p:grpSpPr>
        <p:sp>
          <p:nvSpPr>
            <p:cNvPr id="9" name="Rectangle 8">
              <a:extLst>
                <a:ext uri="{FF2B5EF4-FFF2-40B4-BE49-F238E27FC236}">
                  <a16:creationId xmlns:a16="http://schemas.microsoft.com/office/drawing/2014/main" xmlns="" id="{A5248A19-3BB9-448C-AB68-15C5A26BF5B4}"/>
                </a:ext>
              </a:extLst>
            </p:cNvPr>
            <p:cNvSpPr/>
            <p:nvPr/>
          </p:nvSpPr>
          <p:spPr>
            <a:xfrm>
              <a:off x="62240" y="3281680"/>
              <a:ext cx="2264400" cy="426720"/>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146</a:t>
              </a:r>
            </a:p>
          </p:txBody>
        </p:sp>
        <p:sp>
          <p:nvSpPr>
            <p:cNvPr id="10" name="Rectangle 9">
              <a:extLst>
                <a:ext uri="{FF2B5EF4-FFF2-40B4-BE49-F238E27FC236}">
                  <a16:creationId xmlns:a16="http://schemas.microsoft.com/office/drawing/2014/main" xmlns="" id="{2B22783C-BA07-43D3-B3BA-CF67041C8D36}"/>
                </a:ext>
              </a:extLst>
            </p:cNvPr>
            <p:cNvSpPr/>
            <p:nvPr/>
          </p:nvSpPr>
          <p:spPr>
            <a:xfrm>
              <a:off x="62240" y="3708400"/>
              <a:ext cx="2264400" cy="8128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Total Reservoirs</a:t>
              </a:r>
            </a:p>
          </p:txBody>
        </p:sp>
      </p:grpSp>
      <p:grpSp>
        <p:nvGrpSpPr>
          <p:cNvPr id="11" name="Group 10">
            <a:extLst>
              <a:ext uri="{FF2B5EF4-FFF2-40B4-BE49-F238E27FC236}">
                <a16:creationId xmlns:a16="http://schemas.microsoft.com/office/drawing/2014/main" xmlns="" id="{925F630B-B473-4C84-821A-007C90195EE1}"/>
              </a:ext>
            </a:extLst>
          </p:cNvPr>
          <p:cNvGrpSpPr/>
          <p:nvPr/>
        </p:nvGrpSpPr>
        <p:grpSpPr>
          <a:xfrm>
            <a:off x="2510460" y="5099080"/>
            <a:ext cx="2265680" cy="1239520"/>
            <a:chOff x="2621280" y="3281680"/>
            <a:chExt cx="2265680" cy="1239520"/>
          </a:xfrm>
        </p:grpSpPr>
        <p:sp>
          <p:nvSpPr>
            <p:cNvPr id="12" name="Rectangle 11">
              <a:extLst>
                <a:ext uri="{FF2B5EF4-FFF2-40B4-BE49-F238E27FC236}">
                  <a16:creationId xmlns:a16="http://schemas.microsoft.com/office/drawing/2014/main" xmlns="" id="{55A47BDF-7422-4E91-A979-96738A06ACA7}"/>
                </a:ext>
              </a:extLst>
            </p:cNvPr>
            <p:cNvSpPr/>
            <p:nvPr/>
          </p:nvSpPr>
          <p:spPr>
            <a:xfrm>
              <a:off x="2621280" y="3281680"/>
              <a:ext cx="2265680" cy="426720"/>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3</a:t>
              </a:r>
            </a:p>
          </p:txBody>
        </p:sp>
        <p:sp>
          <p:nvSpPr>
            <p:cNvPr id="13" name="Rectangle 12">
              <a:extLst>
                <a:ext uri="{FF2B5EF4-FFF2-40B4-BE49-F238E27FC236}">
                  <a16:creationId xmlns:a16="http://schemas.microsoft.com/office/drawing/2014/main" xmlns="" id="{47FB8215-B032-4EB2-B99F-93D5AF10A61B}"/>
                </a:ext>
              </a:extLst>
            </p:cNvPr>
            <p:cNvSpPr/>
            <p:nvPr/>
          </p:nvSpPr>
          <p:spPr>
            <a:xfrm>
              <a:off x="2621280" y="3708400"/>
              <a:ext cx="2265680" cy="8128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Reservoirs: &gt;80% capacity of normal storage</a:t>
              </a:r>
            </a:p>
          </p:txBody>
        </p:sp>
      </p:grpSp>
      <p:grpSp>
        <p:nvGrpSpPr>
          <p:cNvPr id="14" name="Group 13">
            <a:extLst>
              <a:ext uri="{FF2B5EF4-FFF2-40B4-BE49-F238E27FC236}">
                <a16:creationId xmlns:a16="http://schemas.microsoft.com/office/drawing/2014/main" xmlns="" id="{25FB372F-2385-468D-900D-1F65411E22F1}"/>
              </a:ext>
            </a:extLst>
          </p:cNvPr>
          <p:cNvGrpSpPr/>
          <p:nvPr/>
        </p:nvGrpSpPr>
        <p:grpSpPr>
          <a:xfrm>
            <a:off x="4961240" y="5099080"/>
            <a:ext cx="2265680" cy="1239520"/>
            <a:chOff x="5181600" y="3281680"/>
            <a:chExt cx="2265680" cy="1239520"/>
          </a:xfrm>
        </p:grpSpPr>
        <p:sp>
          <p:nvSpPr>
            <p:cNvPr id="15" name="Rectangle 14">
              <a:extLst>
                <a:ext uri="{FF2B5EF4-FFF2-40B4-BE49-F238E27FC236}">
                  <a16:creationId xmlns:a16="http://schemas.microsoft.com/office/drawing/2014/main" xmlns="" id="{FA2F1CDA-533A-418A-A469-8A40CC2225F4}"/>
                </a:ext>
              </a:extLst>
            </p:cNvPr>
            <p:cNvSpPr/>
            <p:nvPr/>
          </p:nvSpPr>
          <p:spPr>
            <a:xfrm>
              <a:off x="5181600" y="3281680"/>
              <a:ext cx="2265680" cy="426720"/>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35</a:t>
              </a:r>
            </a:p>
          </p:txBody>
        </p:sp>
        <p:sp>
          <p:nvSpPr>
            <p:cNvPr id="16" name="Rectangle 15">
              <a:extLst>
                <a:ext uri="{FF2B5EF4-FFF2-40B4-BE49-F238E27FC236}">
                  <a16:creationId xmlns:a16="http://schemas.microsoft.com/office/drawing/2014/main" xmlns="" id="{7EB21FDD-A43F-4CBC-8AF4-7E7761DA4639}"/>
                </a:ext>
              </a:extLst>
            </p:cNvPr>
            <p:cNvSpPr/>
            <p:nvPr/>
          </p:nvSpPr>
          <p:spPr>
            <a:xfrm>
              <a:off x="5181600" y="3708400"/>
              <a:ext cx="2265680" cy="8128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Reservoirs: 51%-80% capacity of normal storage</a:t>
              </a:r>
            </a:p>
          </p:txBody>
        </p:sp>
      </p:grpSp>
      <p:grpSp>
        <p:nvGrpSpPr>
          <p:cNvPr id="17" name="Group 16">
            <a:extLst>
              <a:ext uri="{FF2B5EF4-FFF2-40B4-BE49-F238E27FC236}">
                <a16:creationId xmlns:a16="http://schemas.microsoft.com/office/drawing/2014/main" xmlns="" id="{087C1634-5683-4462-ACD0-F2864D74A856}"/>
              </a:ext>
            </a:extLst>
          </p:cNvPr>
          <p:cNvGrpSpPr/>
          <p:nvPr/>
        </p:nvGrpSpPr>
        <p:grpSpPr>
          <a:xfrm>
            <a:off x="7412020" y="5099080"/>
            <a:ext cx="2265680" cy="1239520"/>
            <a:chOff x="7518400" y="3281680"/>
            <a:chExt cx="2265680" cy="1239520"/>
          </a:xfrm>
        </p:grpSpPr>
        <p:sp>
          <p:nvSpPr>
            <p:cNvPr id="18" name="Rectangle 17">
              <a:extLst>
                <a:ext uri="{FF2B5EF4-FFF2-40B4-BE49-F238E27FC236}">
                  <a16:creationId xmlns:a16="http://schemas.microsoft.com/office/drawing/2014/main" xmlns="" id="{8BFB137B-BA93-43D4-97B9-9BBDB177BC89}"/>
                </a:ext>
              </a:extLst>
            </p:cNvPr>
            <p:cNvSpPr/>
            <p:nvPr/>
          </p:nvSpPr>
          <p:spPr>
            <a:xfrm>
              <a:off x="7518400" y="3281680"/>
              <a:ext cx="2265680" cy="426720"/>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21</a:t>
              </a:r>
            </a:p>
          </p:txBody>
        </p:sp>
        <p:sp>
          <p:nvSpPr>
            <p:cNvPr id="19" name="Rectangle 18">
              <a:extLst>
                <a:ext uri="{FF2B5EF4-FFF2-40B4-BE49-F238E27FC236}">
                  <a16:creationId xmlns:a16="http://schemas.microsoft.com/office/drawing/2014/main" xmlns="" id="{58975BF2-1A89-4F1D-98ED-297C05505AF7}"/>
                </a:ext>
              </a:extLst>
            </p:cNvPr>
            <p:cNvSpPr/>
            <p:nvPr/>
          </p:nvSpPr>
          <p:spPr>
            <a:xfrm>
              <a:off x="7518400" y="3708400"/>
              <a:ext cx="2265680" cy="8128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Reservoirs: 41%-50% capacity of normal storage</a:t>
              </a:r>
            </a:p>
          </p:txBody>
        </p:sp>
      </p:grpSp>
      <p:grpSp>
        <p:nvGrpSpPr>
          <p:cNvPr id="20" name="Group 19">
            <a:extLst>
              <a:ext uri="{FF2B5EF4-FFF2-40B4-BE49-F238E27FC236}">
                <a16:creationId xmlns:a16="http://schemas.microsoft.com/office/drawing/2014/main" xmlns="" id="{233E2AA5-77C3-4D60-AA8C-2ED8FDA105C9}"/>
              </a:ext>
            </a:extLst>
          </p:cNvPr>
          <p:cNvGrpSpPr/>
          <p:nvPr/>
        </p:nvGrpSpPr>
        <p:grpSpPr>
          <a:xfrm>
            <a:off x="9862800" y="5099080"/>
            <a:ext cx="2265680" cy="1239520"/>
            <a:chOff x="9864080" y="3281680"/>
            <a:chExt cx="2265680" cy="1239520"/>
          </a:xfrm>
        </p:grpSpPr>
        <p:sp>
          <p:nvSpPr>
            <p:cNvPr id="21" name="Rectangle 20">
              <a:extLst>
                <a:ext uri="{FF2B5EF4-FFF2-40B4-BE49-F238E27FC236}">
                  <a16:creationId xmlns:a16="http://schemas.microsoft.com/office/drawing/2014/main" xmlns="" id="{B8AB1A82-606F-484A-93A4-7E9E92F0A015}"/>
                </a:ext>
              </a:extLst>
            </p:cNvPr>
            <p:cNvSpPr/>
            <p:nvPr/>
          </p:nvSpPr>
          <p:spPr>
            <a:xfrm>
              <a:off x="9864080" y="3281680"/>
              <a:ext cx="2265680" cy="426720"/>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87</a:t>
              </a:r>
            </a:p>
          </p:txBody>
        </p:sp>
        <p:sp>
          <p:nvSpPr>
            <p:cNvPr id="22" name="Rectangle 21">
              <a:extLst>
                <a:ext uri="{FF2B5EF4-FFF2-40B4-BE49-F238E27FC236}">
                  <a16:creationId xmlns:a16="http://schemas.microsoft.com/office/drawing/2014/main" xmlns="" id="{CD875B73-20EE-4F58-A206-B864BDB69B6B}"/>
                </a:ext>
              </a:extLst>
            </p:cNvPr>
            <p:cNvSpPr/>
            <p:nvPr/>
          </p:nvSpPr>
          <p:spPr>
            <a:xfrm>
              <a:off x="9864080" y="3708400"/>
              <a:ext cx="2265680" cy="8128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Reservoirs: </a:t>
              </a:r>
              <a:r>
                <a:rPr lang="en-IN" dirty="0" err="1"/>
                <a:t>upto</a:t>
              </a:r>
              <a:r>
                <a:rPr lang="en-IN" dirty="0"/>
                <a:t> 40% capacity of normal storage</a:t>
              </a:r>
            </a:p>
          </p:txBody>
        </p:sp>
      </p:grpSp>
    </p:spTree>
    <p:extLst>
      <p:ext uri="{BB962C8B-B14F-4D97-AF65-F5344CB8AC3E}">
        <p14:creationId xmlns:p14="http://schemas.microsoft.com/office/powerpoint/2010/main" xmlns="" val="352984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Status of Area Sown for Summer Crop</a:t>
            </a:r>
          </a:p>
          <a:p>
            <a:pPr>
              <a:defRPr/>
            </a:pPr>
            <a:r>
              <a:rPr lang="en-IN" sz="2400" b="1" dirty="0">
                <a:solidFill>
                  <a:srgbClr val="002060"/>
                </a:solidFill>
                <a:latin typeface="+mn-lt"/>
              </a:rPr>
              <a:t>As on 28.04.2023</a:t>
            </a:r>
          </a:p>
        </p:txBody>
      </p:sp>
      <p:graphicFrame>
        <p:nvGraphicFramePr>
          <p:cNvPr id="19" name="Table 18">
            <a:extLst>
              <a:ext uri="{FF2B5EF4-FFF2-40B4-BE49-F238E27FC236}">
                <a16:creationId xmlns:a16="http://schemas.microsoft.com/office/drawing/2014/main" xmlns="" id="{AE898E2F-0D3A-4A10-ABF5-6B1C68D9C1C3}"/>
              </a:ext>
            </a:extLst>
          </p:cNvPr>
          <p:cNvGraphicFramePr>
            <a:graphicFrameLocks noGrp="1"/>
          </p:cNvGraphicFramePr>
          <p:nvPr>
            <p:extLst>
              <p:ext uri="{D42A27DB-BD31-4B8C-83A1-F6EECF244321}">
                <p14:modId xmlns:p14="http://schemas.microsoft.com/office/powerpoint/2010/main" xmlns="" val="3477006390"/>
              </p:ext>
            </p:extLst>
          </p:nvPr>
        </p:nvGraphicFramePr>
        <p:xfrm>
          <a:off x="357158" y="812538"/>
          <a:ext cx="11560520" cy="5873028"/>
        </p:xfrm>
        <a:graphic>
          <a:graphicData uri="http://schemas.openxmlformats.org/drawingml/2006/table">
            <a:tbl>
              <a:tblPr>
                <a:tableStyleId>{7DF18680-E054-41AD-8BC1-D1AEF772440D}</a:tableStyleId>
              </a:tblPr>
              <a:tblGrid>
                <a:gridCol w="1108681">
                  <a:extLst>
                    <a:ext uri="{9D8B030D-6E8A-4147-A177-3AD203B41FA5}">
                      <a16:colId xmlns:a16="http://schemas.microsoft.com/office/drawing/2014/main" xmlns="" val="20000"/>
                    </a:ext>
                  </a:extLst>
                </a:gridCol>
                <a:gridCol w="2817534">
                  <a:extLst>
                    <a:ext uri="{9D8B030D-6E8A-4147-A177-3AD203B41FA5}">
                      <a16:colId xmlns:a16="http://schemas.microsoft.com/office/drawing/2014/main" xmlns="" val="20001"/>
                    </a:ext>
                  </a:extLst>
                </a:gridCol>
                <a:gridCol w="2944663">
                  <a:extLst>
                    <a:ext uri="{9D8B030D-6E8A-4147-A177-3AD203B41FA5}">
                      <a16:colId xmlns:a16="http://schemas.microsoft.com/office/drawing/2014/main" xmlns="" val="20002"/>
                    </a:ext>
                  </a:extLst>
                </a:gridCol>
                <a:gridCol w="2399352">
                  <a:extLst>
                    <a:ext uri="{9D8B030D-6E8A-4147-A177-3AD203B41FA5}">
                      <a16:colId xmlns:a16="http://schemas.microsoft.com/office/drawing/2014/main" xmlns="" val="20003"/>
                    </a:ext>
                  </a:extLst>
                </a:gridCol>
                <a:gridCol w="2290290">
                  <a:extLst>
                    <a:ext uri="{9D8B030D-6E8A-4147-A177-3AD203B41FA5}">
                      <a16:colId xmlns:a16="http://schemas.microsoft.com/office/drawing/2014/main" xmlns="" val="20004"/>
                    </a:ext>
                  </a:extLst>
                </a:gridCol>
              </a:tblGrid>
              <a:tr h="309103">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2000" b="1" u="none" strike="noStrike" dirty="0">
                          <a:solidFill>
                            <a:srgbClr val="000000"/>
                          </a:solidFill>
                        </a:rPr>
                        <a:t>Sl. </a:t>
                      </a:r>
                      <a:br>
                        <a:rPr lang="en-IN" sz="2000" b="1" u="none" strike="noStrike" dirty="0">
                          <a:solidFill>
                            <a:srgbClr val="000000"/>
                          </a:solidFill>
                        </a:rPr>
                      </a:br>
                      <a:r>
                        <a:rPr lang="en-IN" sz="2000" b="1" u="none" strike="noStrike" dirty="0">
                          <a:solidFill>
                            <a:srgbClr val="000000"/>
                          </a:solidFill>
                        </a:rPr>
                        <a:t>No.</a:t>
                      </a:r>
                      <a:endParaRPr lang="en-IN" sz="20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2000" b="1" u="none" strike="noStrike" dirty="0">
                          <a:solidFill>
                            <a:srgbClr val="000000"/>
                          </a:solidFill>
                        </a:rPr>
                        <a:t>Crops</a:t>
                      </a:r>
                      <a:endParaRPr lang="en-IN" sz="20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2000" b="1" u="none" strike="noStrike" dirty="0">
                          <a:solidFill>
                            <a:srgbClr val="000000"/>
                          </a:solidFill>
                        </a:rPr>
                        <a:t>Area Sown (Area</a:t>
                      </a:r>
                      <a:r>
                        <a:rPr lang="en-IN" sz="2000" b="1" u="none" strike="noStrike" baseline="0" dirty="0">
                          <a:solidFill>
                            <a:srgbClr val="000000"/>
                          </a:solidFill>
                        </a:rPr>
                        <a:t> in </a:t>
                      </a:r>
                      <a:r>
                        <a:rPr lang="en-IN" sz="2000" b="1" u="none" strike="noStrike" baseline="0" dirty="0" err="1">
                          <a:solidFill>
                            <a:srgbClr val="000000"/>
                          </a:solidFill>
                        </a:rPr>
                        <a:t>Lakh</a:t>
                      </a:r>
                      <a:r>
                        <a:rPr lang="en-IN" sz="2000" b="1" u="none" strike="noStrike" baseline="0" dirty="0">
                          <a:solidFill>
                            <a:srgbClr val="000000"/>
                          </a:solidFill>
                        </a:rPr>
                        <a:t> ha)</a:t>
                      </a:r>
                      <a:endParaRPr lang="en-IN" sz="20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hMerge="1">
                  <a:txBody>
                    <a:bodyPr/>
                    <a:lstStyle/>
                    <a:p>
                      <a:endParaRPr lang="en-IN"/>
                    </a:p>
                  </a:txBody>
                  <a:tcPr/>
                </a:tc>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2000" b="1" u="none" strike="noStrike" dirty="0">
                          <a:solidFill>
                            <a:srgbClr val="000000"/>
                          </a:solidFill>
                        </a:rPr>
                        <a:t>Increase/</a:t>
                      </a:r>
                      <a:br>
                        <a:rPr lang="en-IN" sz="2000" b="1" u="none" strike="noStrike" dirty="0">
                          <a:solidFill>
                            <a:srgbClr val="000000"/>
                          </a:solidFill>
                        </a:rPr>
                      </a:br>
                      <a:r>
                        <a:rPr lang="en-IN" sz="2000" b="1" u="none" strike="noStrike" dirty="0">
                          <a:solidFill>
                            <a:srgbClr val="000000"/>
                          </a:solidFill>
                        </a:rPr>
                        <a:t>Decrease</a:t>
                      </a:r>
                      <a:endParaRPr lang="en-IN" sz="20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309103">
                <a:tc vMerge="1">
                  <a:txBody>
                    <a:bodyPr/>
                    <a:lstStyle/>
                    <a:p>
                      <a:endParaRPr lang="en-IN"/>
                    </a:p>
                  </a:txBody>
                  <a:tcPr/>
                </a:tc>
                <a:tc vMerge="1">
                  <a:txBody>
                    <a:bodyPr/>
                    <a:lstStyle/>
                    <a:p>
                      <a:endParaRPr lang="en-IN"/>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2000" b="1" u="none" strike="noStrike" dirty="0">
                          <a:solidFill>
                            <a:srgbClr val="000000"/>
                          </a:solidFill>
                        </a:rPr>
                        <a:t>Current Year 2023</a:t>
                      </a:r>
                      <a:endParaRPr lang="en-IN" sz="20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2000" b="1" u="none" strike="noStrike" dirty="0">
                          <a:solidFill>
                            <a:srgbClr val="000000"/>
                          </a:solidFill>
                        </a:rPr>
                        <a:t>Last Year 2022</a:t>
                      </a:r>
                      <a:endParaRPr lang="en-IN" sz="20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vMerge="1">
                  <a:txBody>
                    <a:bodyPr/>
                    <a:lstStyle/>
                    <a:p>
                      <a:endParaRPr lang="en-IN"/>
                    </a:p>
                  </a:txBody>
                  <a:tcPr/>
                </a:tc>
                <a:extLst>
                  <a:ext uri="{0D108BD9-81ED-4DB2-BD59-A6C34878D82A}">
                    <a16:rowId xmlns:a16="http://schemas.microsoft.com/office/drawing/2014/main" xmlns="" val="10002"/>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1</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b"/>
                      <a:r>
                        <a:rPr lang="en-IN" sz="1800" b="1" u="none" strike="noStrike" dirty="0">
                          <a:solidFill>
                            <a:srgbClr val="000000"/>
                          </a:solidFill>
                        </a:rPr>
                        <a:t>Rice</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27.45</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29.14</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-1.68</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3"/>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2</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b"/>
                      <a:r>
                        <a:rPr lang="en-IN" sz="1800" b="1" u="none" strike="noStrike" dirty="0">
                          <a:solidFill>
                            <a:srgbClr val="000000"/>
                          </a:solidFill>
                        </a:rPr>
                        <a:t>Pulses</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17.57</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16.23</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1.34</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4"/>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a:pPr>
                      <a:r>
                        <a:rPr lang="en-IN" sz="1800" b="0" u="none" strike="noStrike" dirty="0" err="1">
                          <a:solidFill>
                            <a:srgbClr val="000000"/>
                          </a:solidFill>
                        </a:rPr>
                        <a:t>Greengram</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14.27</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12.84</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1.43</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5"/>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startAt="2"/>
                      </a:pPr>
                      <a:r>
                        <a:rPr lang="en-IN" sz="1800" b="0" u="none" strike="noStrike" dirty="0" err="1">
                          <a:solidFill>
                            <a:srgbClr val="000000"/>
                          </a:solidFill>
                        </a:rPr>
                        <a:t>Blackgram</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3.08</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3.12</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-0.03</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6"/>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b"/>
                      <a:r>
                        <a:rPr lang="en-IN" sz="1800" b="0" u="none" strike="noStrike" dirty="0">
                          <a:solidFill>
                            <a:srgbClr val="000000"/>
                          </a:solidFill>
                        </a:rPr>
                        <a:t>c)   Other Pulses</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0.23</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0.28</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-0.05</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7"/>
                  </a:ext>
                </a:extLst>
              </a:tr>
              <a:tr h="6078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1800" b="1" u="none" strike="noStrike" dirty="0">
                          <a:solidFill>
                            <a:srgbClr val="000000"/>
                          </a:solidFill>
                        </a:rPr>
                        <a:t>3</a:t>
                      </a:r>
                      <a:endParaRPr lang="en-IN" sz="18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b"/>
                      <a:r>
                        <a:rPr lang="en-IN" sz="1800" b="1" u="none" strike="noStrike" dirty="0" err="1">
                          <a:solidFill>
                            <a:srgbClr val="000000"/>
                          </a:solidFill>
                        </a:rPr>
                        <a:t>Shri</a:t>
                      </a:r>
                      <a:r>
                        <a:rPr lang="en-IN" sz="1800" b="1" u="none" strike="noStrike" dirty="0">
                          <a:solidFill>
                            <a:srgbClr val="000000"/>
                          </a:solidFill>
                        </a:rPr>
                        <a:t> Anna -cum -Coarse Cereals</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1800" b="1" u="none" strike="noStrike" dirty="0">
                          <a:solidFill>
                            <a:srgbClr val="000000"/>
                          </a:solidFill>
                        </a:rPr>
                        <a:t>10.86</a:t>
                      </a:r>
                      <a:endParaRPr lang="en-IN" sz="18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1800" b="1" u="none" strike="noStrike" dirty="0">
                          <a:solidFill>
                            <a:srgbClr val="000000"/>
                          </a:solidFill>
                        </a:rPr>
                        <a:t>10.19</a:t>
                      </a:r>
                      <a:endParaRPr lang="en-IN" sz="18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1800" b="1" u="none" strike="noStrike" dirty="0">
                          <a:solidFill>
                            <a:srgbClr val="000000"/>
                          </a:solidFill>
                        </a:rPr>
                        <a:t>0.67</a:t>
                      </a:r>
                      <a:endParaRPr lang="en-IN" sz="18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8"/>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a:pPr>
                      <a:r>
                        <a:rPr lang="en-IN" sz="1800" b="0" u="none" strike="noStrike" dirty="0">
                          <a:solidFill>
                            <a:srgbClr val="000000"/>
                          </a:solidFill>
                        </a:rPr>
                        <a:t>Jowar</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0.15</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0.15</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0.00</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9"/>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startAt="2"/>
                      </a:pPr>
                      <a:r>
                        <a:rPr lang="en-IN" sz="1800" b="0" u="none" strike="noStrike" dirty="0">
                          <a:solidFill>
                            <a:srgbClr val="000000"/>
                          </a:solidFill>
                        </a:rPr>
                        <a:t>Bajra</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4.29</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3.59</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0.70</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0"/>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startAt="3"/>
                      </a:pPr>
                      <a:r>
                        <a:rPr lang="en-IN" sz="1800" b="0" u="none" strike="noStrike" dirty="0">
                          <a:solidFill>
                            <a:srgbClr val="000000"/>
                          </a:solidFill>
                        </a:rPr>
                        <a:t>Ragi</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0.12</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0.20</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-0.08</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1"/>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startAt="4"/>
                      </a:pPr>
                      <a:r>
                        <a:rPr lang="en-IN" sz="1800" b="0" u="none" strike="noStrike" dirty="0">
                          <a:solidFill>
                            <a:srgbClr val="000000"/>
                          </a:solidFill>
                        </a:rPr>
                        <a:t>Maize</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6.30</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6.24</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0.06</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2"/>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4</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b"/>
                      <a:r>
                        <a:rPr lang="en-IN" sz="1800" b="1" u="none" strike="noStrike" dirty="0">
                          <a:solidFill>
                            <a:srgbClr val="000000"/>
                          </a:solidFill>
                        </a:rPr>
                        <a:t>Oilseeds</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9.40</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10.46</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-1.06</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3"/>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a:pPr>
                      <a:r>
                        <a:rPr lang="en-IN" sz="1800" b="0" u="none" strike="noStrike" dirty="0">
                          <a:solidFill>
                            <a:srgbClr val="000000"/>
                          </a:solidFill>
                        </a:rPr>
                        <a:t>Groundnut</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4.50</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5.27</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-0.77</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4"/>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startAt="2"/>
                      </a:pPr>
                      <a:r>
                        <a:rPr lang="en-IN" sz="1800" b="0" u="none" strike="noStrike" dirty="0">
                          <a:solidFill>
                            <a:srgbClr val="000000"/>
                          </a:solidFill>
                        </a:rPr>
                        <a:t>Sunflower</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0.29</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0.31</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-0.01</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5"/>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indent="-342900" algn="l" fontAlgn="b">
                        <a:buAutoNum type="alphaLcParenR" startAt="3"/>
                      </a:pPr>
                      <a:r>
                        <a:rPr lang="en-IN" sz="1800" b="0" u="none" strike="noStrike" dirty="0">
                          <a:solidFill>
                            <a:srgbClr val="000000"/>
                          </a:solidFill>
                        </a:rPr>
                        <a:t>Sesamum</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a:solidFill>
                            <a:srgbClr val="000000"/>
                          </a:solidFill>
                        </a:rPr>
                        <a:t>4.36</a:t>
                      </a:r>
                      <a:endParaRPr lang="en-IN" sz="1800" b="0" i="0" u="none" strike="noStrike">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4.20</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0.16</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6"/>
                  </a:ext>
                </a:extLst>
              </a:tr>
              <a:tr h="3091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b"/>
                      <a:r>
                        <a:rPr lang="en-IN" sz="1800" b="0" u="none" strike="noStrike" dirty="0">
                          <a:solidFill>
                            <a:srgbClr val="000000"/>
                          </a:solidFill>
                        </a:rPr>
                        <a:t>d)   Other Oilseeds</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0.25</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0.68</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0" u="none" strike="noStrike" dirty="0">
                          <a:solidFill>
                            <a:srgbClr val="000000"/>
                          </a:solidFill>
                        </a:rPr>
                        <a:t>-0.44</a:t>
                      </a:r>
                      <a:endParaRPr lang="en-IN" sz="1800" b="0"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7"/>
                  </a:ext>
                </a:extLst>
              </a:tr>
              <a:tr h="309103">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1800" b="1" u="none" strike="noStrike" dirty="0">
                          <a:solidFill>
                            <a:srgbClr val="000000"/>
                          </a:solidFill>
                        </a:rPr>
                        <a:t>Total </a:t>
                      </a:r>
                      <a:endParaRPr lang="en-IN" sz="18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endParaRPr lang="en-IN"/>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1800" b="1" u="none" strike="noStrike" dirty="0">
                          <a:solidFill>
                            <a:srgbClr val="000000"/>
                          </a:solidFill>
                        </a:rPr>
                        <a:t>65.29</a:t>
                      </a:r>
                      <a:endParaRPr lang="en-IN" sz="18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en-IN" sz="1800" b="1" u="none" strike="noStrike" dirty="0">
                          <a:solidFill>
                            <a:srgbClr val="000000"/>
                          </a:solidFill>
                        </a:rPr>
                        <a:t>66.02</a:t>
                      </a:r>
                      <a:endParaRPr lang="en-IN" sz="1800" b="1" i="0" u="none" strike="noStrike" dirty="0">
                        <a:solidFill>
                          <a:srgbClr val="000000"/>
                        </a:solidFill>
                        <a:latin typeface="Times New Roman"/>
                      </a:endParaRP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b"/>
                      <a:r>
                        <a:rPr lang="en-IN" sz="1800" b="1" u="none" strike="noStrike" dirty="0">
                          <a:solidFill>
                            <a:srgbClr val="000000"/>
                          </a:solidFill>
                        </a:rPr>
                        <a:t>-0.73</a:t>
                      </a:r>
                      <a:endParaRPr lang="en-IN" sz="1800" b="1" i="0" u="none" strike="noStrike" dirty="0">
                        <a:solidFill>
                          <a:srgbClr val="000000"/>
                        </a:solidFill>
                        <a:latin typeface="Times New Roman"/>
                      </a:endParaRPr>
                    </a:p>
                  </a:txBody>
                  <a:tcPr marL="9525" marR="9525" marT="9525"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8"/>
                  </a:ext>
                </a:extLst>
              </a:tr>
            </a:tbl>
          </a:graphicData>
        </a:graphic>
      </p:graphicFrame>
    </p:spTree>
    <p:extLst>
      <p:ext uri="{BB962C8B-B14F-4D97-AF65-F5344CB8AC3E}">
        <p14:creationId xmlns:p14="http://schemas.microsoft.com/office/powerpoint/2010/main" xmlns="" val="2939321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Tentative requirement &amp; availability of seeds for major crops in kharif-2023</a:t>
            </a:r>
          </a:p>
        </p:txBody>
      </p:sp>
      <p:graphicFrame>
        <p:nvGraphicFramePr>
          <p:cNvPr id="5" name="Content Placeholder 5">
            <a:extLst>
              <a:ext uri="{FF2B5EF4-FFF2-40B4-BE49-F238E27FC236}">
                <a16:creationId xmlns:a16="http://schemas.microsoft.com/office/drawing/2014/main" xmlns="" id="{6679CFD2-18EC-4D12-B216-B9F26D80398C}"/>
              </a:ext>
            </a:extLst>
          </p:cNvPr>
          <p:cNvGraphicFramePr>
            <a:graphicFrameLocks/>
          </p:cNvGraphicFramePr>
          <p:nvPr>
            <p:extLst>
              <p:ext uri="{D42A27DB-BD31-4B8C-83A1-F6EECF244321}">
                <p14:modId xmlns:p14="http://schemas.microsoft.com/office/powerpoint/2010/main" xmlns="" val="2827616688"/>
              </p:ext>
            </p:extLst>
          </p:nvPr>
        </p:nvGraphicFramePr>
        <p:xfrm>
          <a:off x="357158" y="785794"/>
          <a:ext cx="11560519" cy="5929969"/>
        </p:xfrm>
        <a:graphic>
          <a:graphicData uri="http://schemas.openxmlformats.org/drawingml/2006/table">
            <a:tbl>
              <a:tblPr>
                <a:tableStyleId>{7DF18680-E054-41AD-8BC1-D1AEF772440D}</a:tableStyleId>
              </a:tblPr>
              <a:tblGrid>
                <a:gridCol w="2057379">
                  <a:extLst>
                    <a:ext uri="{9D8B030D-6E8A-4147-A177-3AD203B41FA5}">
                      <a16:colId xmlns:a16="http://schemas.microsoft.com/office/drawing/2014/main" xmlns="" val="20000"/>
                    </a:ext>
                  </a:extLst>
                </a:gridCol>
                <a:gridCol w="1861440">
                  <a:extLst>
                    <a:ext uri="{9D8B030D-6E8A-4147-A177-3AD203B41FA5}">
                      <a16:colId xmlns:a16="http://schemas.microsoft.com/office/drawing/2014/main" xmlns="" val="20001"/>
                    </a:ext>
                  </a:extLst>
                </a:gridCol>
                <a:gridCol w="2640084">
                  <a:extLst>
                    <a:ext uri="{9D8B030D-6E8A-4147-A177-3AD203B41FA5}">
                      <a16:colId xmlns:a16="http://schemas.microsoft.com/office/drawing/2014/main" xmlns="" val="20002"/>
                    </a:ext>
                  </a:extLst>
                </a:gridCol>
                <a:gridCol w="2500808">
                  <a:extLst>
                    <a:ext uri="{9D8B030D-6E8A-4147-A177-3AD203B41FA5}">
                      <a16:colId xmlns:a16="http://schemas.microsoft.com/office/drawing/2014/main" xmlns="" val="20003"/>
                    </a:ext>
                  </a:extLst>
                </a:gridCol>
                <a:gridCol w="2500808">
                  <a:extLst>
                    <a:ext uri="{9D8B030D-6E8A-4147-A177-3AD203B41FA5}">
                      <a16:colId xmlns:a16="http://schemas.microsoft.com/office/drawing/2014/main" xmlns="" val="20004"/>
                    </a:ext>
                  </a:extLst>
                </a:gridCol>
              </a:tblGrid>
              <a:tr h="363473">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dirty="0">
                          <a:solidFill>
                            <a:srgbClr val="000000"/>
                          </a:solidFill>
                        </a:rPr>
                        <a:t>Crops  Group  </a:t>
                      </a:r>
                      <a:endParaRPr lang="en-IN" sz="2000" b="1" i="0" u="none" strike="noStrike" dirty="0">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dirty="0">
                          <a:solidFill>
                            <a:srgbClr val="000000"/>
                          </a:solidFill>
                        </a:rPr>
                        <a:t>Crop</a:t>
                      </a:r>
                      <a:endParaRPr lang="en-IN" sz="2000" b="1" i="0" u="none" strike="noStrike" dirty="0">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a:solidFill>
                            <a:srgbClr val="000000"/>
                          </a:solidFill>
                        </a:rPr>
                        <a:t>Requirement</a:t>
                      </a:r>
                      <a:endParaRPr lang="en-IN" sz="2000" b="1" i="0" u="none" strike="noStrike">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a:solidFill>
                            <a:srgbClr val="000000"/>
                          </a:solidFill>
                        </a:rPr>
                        <a:t>Availability</a:t>
                      </a:r>
                      <a:endParaRPr lang="en-IN" sz="2000" b="1" i="0" u="none" strike="noStrike">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a:solidFill>
                            <a:srgbClr val="000000"/>
                          </a:solidFill>
                        </a:rPr>
                        <a:t>Surplus/Deficit</a:t>
                      </a:r>
                      <a:endParaRPr lang="en-IN" sz="2000" b="1" i="0" u="none" strike="noStrike">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363473">
                <a:tc vMerge="1">
                  <a:txBody>
                    <a:bodyPr/>
                    <a:lstStyle/>
                    <a:p>
                      <a:endParaRPr lang="en-IN"/>
                    </a:p>
                  </a:txBody>
                  <a:tcPr/>
                </a:tc>
                <a:tc vMerge="1">
                  <a:txBody>
                    <a:bodyPr/>
                    <a:lstStyle/>
                    <a:p>
                      <a:endParaRPr lang="en-IN"/>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dirty="0">
                          <a:solidFill>
                            <a:srgbClr val="000000"/>
                          </a:solidFill>
                        </a:rPr>
                        <a:t>(in 000' Quintals) </a:t>
                      </a:r>
                      <a:endParaRPr lang="en-IN" sz="2000" b="1" i="0" u="none" strike="noStrike" dirty="0">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dirty="0">
                          <a:solidFill>
                            <a:srgbClr val="000000"/>
                          </a:solidFill>
                        </a:rPr>
                        <a:t>(in 000' Quintals) </a:t>
                      </a:r>
                      <a:endParaRPr lang="en-IN" sz="2000" b="1" i="0" u="none" strike="noStrike" dirty="0">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rtl="0" fontAlgn="t"/>
                      <a:r>
                        <a:rPr lang="en-IN" sz="2000" b="1" u="none" strike="noStrike" dirty="0">
                          <a:solidFill>
                            <a:srgbClr val="000000"/>
                          </a:solidFill>
                        </a:rPr>
                        <a:t>(in 000' Quintals)</a:t>
                      </a:r>
                      <a:endParaRPr lang="en-IN" sz="2000" b="1" i="0" u="none" strike="noStrike" dirty="0">
                        <a:solidFill>
                          <a:srgbClr val="000000"/>
                        </a:solidFill>
                        <a:latin typeface="Arial"/>
                      </a:endParaRPr>
                    </a:p>
                  </a:txBody>
                  <a:tcPr marL="4407" marR="4407" marT="3672"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382096">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dirty="0">
                          <a:solidFill>
                            <a:srgbClr val="000000"/>
                          </a:solidFill>
                        </a:rPr>
                        <a:t>1. Cereals  </a:t>
                      </a:r>
                    </a:p>
                    <a:p>
                      <a:pPr algn="l" rtl="0" fontAlgn="ctr"/>
                      <a:r>
                        <a:rPr lang="en-IN" sz="1800" b="1" u="none" strike="noStrike" dirty="0">
                          <a:solidFill>
                            <a:srgbClr val="000000"/>
                          </a:solidFill>
                        </a:rPr>
                        <a:t> </a:t>
                      </a:r>
                      <a:endParaRPr lang="en-IN" sz="1800" b="1" i="0" u="none" strike="noStrike" dirty="0">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Paddy</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7703.51</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8360.00</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656.49</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2"/>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Maize</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1080.72</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1159.80</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79.08</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3"/>
                  </a:ext>
                </a:extLst>
              </a:tr>
              <a:tr h="327558">
                <a:tc row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dirty="0">
                          <a:solidFill>
                            <a:srgbClr val="000000"/>
                          </a:solidFill>
                        </a:rPr>
                        <a:t>2. </a:t>
                      </a:r>
                      <a:r>
                        <a:rPr lang="en-IN" sz="1800" b="1" u="none" strike="noStrike" dirty="0" err="1">
                          <a:solidFill>
                            <a:srgbClr val="000000"/>
                          </a:solidFill>
                        </a:rPr>
                        <a:t>Nutri</a:t>
                      </a:r>
                      <a:r>
                        <a:rPr lang="en-IN" sz="1800" b="1" u="none" strike="noStrike" dirty="0">
                          <a:solidFill>
                            <a:srgbClr val="000000"/>
                          </a:solidFill>
                        </a:rPr>
                        <a:t>-Cereals </a:t>
                      </a:r>
                    </a:p>
                    <a:p>
                      <a:pPr algn="l" rtl="0" fontAlgn="ctr"/>
                      <a:r>
                        <a:rPr lang="en-IN" sz="1800" b="1" u="none" strike="noStrike" dirty="0">
                          <a:solidFill>
                            <a:srgbClr val="000000"/>
                          </a:solidFill>
                        </a:rPr>
                        <a:t> </a:t>
                      </a:r>
                    </a:p>
                    <a:p>
                      <a:pPr algn="l" rtl="0" fontAlgn="ctr"/>
                      <a:r>
                        <a:rPr lang="en-IN" sz="1800" b="1" u="none" strike="noStrike" dirty="0">
                          <a:solidFill>
                            <a:srgbClr val="000000"/>
                          </a:solidFill>
                        </a:rPr>
                        <a:t> </a:t>
                      </a:r>
                      <a:endParaRPr lang="en-IN" sz="1800" b="1" i="0" u="none" strike="noStrike" dirty="0">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Bajra </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245.16</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273.50</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28.34</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4"/>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Jowar </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115.58</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130.65</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15.07</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5"/>
                  </a:ext>
                </a:extLst>
              </a:tr>
              <a:tr h="508135">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F4E9E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Millets </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65.15</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84.14</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18.99</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6"/>
                  </a:ext>
                </a:extLst>
              </a:tr>
              <a:tr h="382096">
                <a:tc row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dirty="0">
                          <a:solidFill>
                            <a:srgbClr val="000000"/>
                          </a:solidFill>
                        </a:rPr>
                        <a:t>3. Pulses  </a:t>
                      </a:r>
                    </a:p>
                    <a:p>
                      <a:pPr algn="l" rtl="0" fontAlgn="ctr"/>
                      <a:r>
                        <a:rPr lang="en-IN" sz="1800" b="1" u="none" strike="noStrike" dirty="0">
                          <a:solidFill>
                            <a:srgbClr val="000000"/>
                          </a:solidFill>
                        </a:rPr>
                        <a:t> </a:t>
                      </a:r>
                    </a:p>
                    <a:p>
                      <a:pPr algn="l" rtl="0" fontAlgn="ctr"/>
                      <a:r>
                        <a:rPr lang="en-IN" sz="1800" b="1" u="none" strike="noStrike" dirty="0">
                          <a:solidFill>
                            <a:srgbClr val="000000"/>
                          </a:solidFill>
                        </a:rPr>
                        <a:t> </a:t>
                      </a:r>
                    </a:p>
                    <a:p>
                      <a:pPr algn="l" rtl="0" fontAlgn="ctr"/>
                      <a:r>
                        <a:rPr lang="en-IN" sz="1800" b="1" u="none" strike="noStrike" dirty="0">
                          <a:solidFill>
                            <a:srgbClr val="000000"/>
                          </a:solidFill>
                        </a:rPr>
                        <a:t> </a:t>
                      </a:r>
                    </a:p>
                    <a:p>
                      <a:pPr algn="l" rtl="0" fontAlgn="ctr"/>
                      <a:r>
                        <a:rPr lang="en-IN" sz="1800" b="1" u="none" strike="noStrike" dirty="0">
                          <a:solidFill>
                            <a:srgbClr val="000000"/>
                          </a:solidFill>
                        </a:rPr>
                        <a:t> </a:t>
                      </a:r>
                      <a:endParaRPr lang="en-IN" sz="1800" b="1" i="0" u="none" strike="noStrike" dirty="0">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Arhar</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296.47</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332.96</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36.49</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7"/>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F4E9E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Urd</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220.45</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251.30</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30.85</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8"/>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dirty="0" err="1">
                          <a:solidFill>
                            <a:srgbClr val="000000"/>
                          </a:solidFill>
                        </a:rPr>
                        <a:t>Moong</a:t>
                      </a:r>
                      <a:endParaRPr lang="en-IN" sz="1800" b="1" i="0" u="none" strike="noStrike" dirty="0">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253.41</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302.64</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49.23</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9"/>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F4E9E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Cowpea</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435.64</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439.14</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3.50</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0"/>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Moth</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21.13</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27.40</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6.27</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1"/>
                  </a:ext>
                </a:extLst>
              </a:tr>
              <a:tr h="327558">
                <a:tc row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dirty="0">
                          <a:solidFill>
                            <a:srgbClr val="000000"/>
                          </a:solidFill>
                        </a:rPr>
                        <a:t>4. Oilseeds  </a:t>
                      </a:r>
                    </a:p>
                    <a:p>
                      <a:pPr algn="l" rtl="0" fontAlgn="ctr"/>
                      <a:r>
                        <a:rPr lang="en-IN" sz="1800" b="1" u="none" strike="noStrike" dirty="0">
                          <a:solidFill>
                            <a:srgbClr val="000000"/>
                          </a:solidFill>
                        </a:rPr>
                        <a:t> </a:t>
                      </a:r>
                    </a:p>
                    <a:p>
                      <a:pPr algn="l" rtl="0" fontAlgn="ctr"/>
                      <a:r>
                        <a:rPr lang="en-IN" sz="1800" b="1" u="none" strike="noStrike" dirty="0">
                          <a:solidFill>
                            <a:srgbClr val="000000"/>
                          </a:solidFill>
                        </a:rPr>
                        <a:t> </a:t>
                      </a:r>
                    </a:p>
                    <a:p>
                      <a:pPr algn="l" rtl="0" fontAlgn="ctr"/>
                      <a:r>
                        <a:rPr lang="en-IN" sz="1800" b="1" u="none" strike="noStrike" dirty="0">
                          <a:solidFill>
                            <a:srgbClr val="000000"/>
                          </a:solidFill>
                        </a:rPr>
                        <a:t> </a:t>
                      </a:r>
                    </a:p>
                    <a:p>
                      <a:pPr algn="l" rtl="0" fontAlgn="ctr"/>
                      <a:r>
                        <a:rPr lang="en-IN" sz="1800" b="1" u="none" strike="noStrike" dirty="0">
                          <a:solidFill>
                            <a:srgbClr val="000000"/>
                          </a:solidFill>
                        </a:rPr>
                        <a:t> </a:t>
                      </a:r>
                      <a:endParaRPr lang="en-IN" sz="1800" b="1" i="0" u="none" strike="noStrike" dirty="0">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Groundnut</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2006.70</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2118.73</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112.03</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2"/>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dirty="0">
                          <a:solidFill>
                            <a:srgbClr val="000000"/>
                          </a:solidFill>
                        </a:rPr>
                        <a:t>Soybean</a:t>
                      </a:r>
                      <a:endParaRPr lang="en-IN" sz="1800" b="1" i="0" u="none" strike="noStrike" dirty="0">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3474.92</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3702.81</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227.89</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3"/>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F4E9E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Sunflower</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13.31</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16.96</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3.65</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4"/>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Sesame</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15.28</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18.97</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3.70</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5"/>
                  </a:ext>
                </a:extLst>
              </a:tr>
              <a:tr h="327558">
                <a:tc vMerge="1">
                  <a:txBody>
                    <a:bodyPr/>
                    <a:lstStyle/>
                    <a:p>
                      <a:pPr algn="l" rtl="0" fontAlgn="ctr"/>
                      <a:endParaRPr lang="en-IN" sz="1800" b="1" i="0" u="none" strike="noStrike" dirty="0">
                        <a:solidFill>
                          <a:srgbClr val="000000"/>
                        </a:solidFill>
                        <a:latin typeface="Arial"/>
                      </a:endParaRPr>
                    </a:p>
                  </a:txBody>
                  <a:tcPr marL="4407" marR="4407" marT="4407" marB="0" anchor="ctr">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solidFill>
                      <a:srgbClr val="F4E9E9"/>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rtl="0" fontAlgn="ctr"/>
                      <a:r>
                        <a:rPr lang="en-IN" sz="1800" b="1" u="none" strike="noStrike">
                          <a:solidFill>
                            <a:srgbClr val="000000"/>
                          </a:solidFill>
                        </a:rPr>
                        <a:t>Castor</a:t>
                      </a:r>
                      <a:endParaRPr lang="en-IN" sz="1800" b="1" i="0" u="none" strike="noStrike">
                        <a:solidFill>
                          <a:srgbClr val="000000"/>
                        </a:solidFill>
                        <a:latin typeface="Arial"/>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47.26</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a:solidFill>
                            <a:srgbClr val="000000"/>
                          </a:solidFill>
                        </a:rPr>
                        <a:t>49.90</a:t>
                      </a:r>
                      <a:endParaRPr lang="en-IN" sz="1800" b="0" i="0" u="none" strike="noStrike">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rtl="0" fontAlgn="ctr"/>
                      <a:r>
                        <a:rPr lang="en-IN" sz="1800" b="0" u="none" strike="noStrike" dirty="0">
                          <a:solidFill>
                            <a:srgbClr val="000000"/>
                          </a:solidFill>
                        </a:rPr>
                        <a:t>2.64</a:t>
                      </a:r>
                      <a:endParaRPr lang="en-IN" sz="1800" b="0" i="0" u="none" strike="noStrike" dirty="0">
                        <a:solidFill>
                          <a:srgbClr val="000000"/>
                        </a:solidFill>
                        <a:latin typeface="Arial Narrow"/>
                      </a:endParaRPr>
                    </a:p>
                  </a:txBody>
                  <a:tcPr marL="4407" marR="4407" marT="3672"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6"/>
                  </a:ext>
                </a:extLst>
              </a:tr>
            </a:tbl>
          </a:graphicData>
        </a:graphic>
      </p:graphicFrame>
    </p:spTree>
    <p:extLst>
      <p:ext uri="{BB962C8B-B14F-4D97-AF65-F5344CB8AC3E}">
        <p14:creationId xmlns:p14="http://schemas.microsoft.com/office/powerpoint/2010/main" xmlns="" val="1139575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Requirement &amp;  sales of fertilizers in 2022 and requirement in 2023 during kharif season</a:t>
            </a:r>
          </a:p>
        </p:txBody>
      </p:sp>
      <p:graphicFrame>
        <p:nvGraphicFramePr>
          <p:cNvPr id="6" name="Content Placeholder 3">
            <a:extLst>
              <a:ext uri="{FF2B5EF4-FFF2-40B4-BE49-F238E27FC236}">
                <a16:creationId xmlns:a16="http://schemas.microsoft.com/office/drawing/2014/main" xmlns="" id="{A3F9DC2D-6F56-4185-85D7-46A945058967}"/>
              </a:ext>
            </a:extLst>
          </p:cNvPr>
          <p:cNvGraphicFramePr>
            <a:graphicFrameLocks/>
          </p:cNvGraphicFramePr>
          <p:nvPr>
            <p:extLst>
              <p:ext uri="{D42A27DB-BD31-4B8C-83A1-F6EECF244321}">
                <p14:modId xmlns:p14="http://schemas.microsoft.com/office/powerpoint/2010/main" xmlns="" val="4063718072"/>
              </p:ext>
            </p:extLst>
          </p:nvPr>
        </p:nvGraphicFramePr>
        <p:xfrm>
          <a:off x="357157" y="1116097"/>
          <a:ext cx="11560519" cy="4625806"/>
        </p:xfrm>
        <a:graphic>
          <a:graphicData uri="http://schemas.openxmlformats.org/drawingml/2006/table">
            <a:tbl>
              <a:tblPr firstRow="1" bandRow="1">
                <a:tableStyleId>{7DF18680-E054-41AD-8BC1-D1AEF772440D}</a:tableStyleId>
              </a:tblPr>
              <a:tblGrid>
                <a:gridCol w="1999573">
                  <a:extLst>
                    <a:ext uri="{9D8B030D-6E8A-4147-A177-3AD203B41FA5}">
                      <a16:colId xmlns:a16="http://schemas.microsoft.com/office/drawing/2014/main" xmlns="" val="20000"/>
                    </a:ext>
                  </a:extLst>
                </a:gridCol>
                <a:gridCol w="3186982">
                  <a:extLst>
                    <a:ext uri="{9D8B030D-6E8A-4147-A177-3AD203B41FA5}">
                      <a16:colId xmlns:a16="http://schemas.microsoft.com/office/drawing/2014/main" xmlns="" val="20001"/>
                    </a:ext>
                  </a:extLst>
                </a:gridCol>
                <a:gridCol w="3186982">
                  <a:extLst>
                    <a:ext uri="{9D8B030D-6E8A-4147-A177-3AD203B41FA5}">
                      <a16:colId xmlns:a16="http://schemas.microsoft.com/office/drawing/2014/main" xmlns="" val="20002"/>
                    </a:ext>
                  </a:extLst>
                </a:gridCol>
                <a:gridCol w="3186982">
                  <a:extLst>
                    <a:ext uri="{9D8B030D-6E8A-4147-A177-3AD203B41FA5}">
                      <a16:colId xmlns:a16="http://schemas.microsoft.com/office/drawing/2014/main" xmlns="" val="20003"/>
                    </a:ext>
                  </a:extLst>
                </a:gridCol>
              </a:tblGrid>
              <a:tr h="456359">
                <a:tc rowSpan="2">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pPr algn="ctr"/>
                      <a:r>
                        <a:rPr lang="en-US" sz="2000" b="1" dirty="0"/>
                        <a:t>Fertilizers</a:t>
                      </a:r>
                      <a:endParaRPr lang="en-US" sz="2000" b="1" dirty="0">
                        <a:solidFill>
                          <a:srgbClr val="FF0000"/>
                        </a:solidFill>
                      </a:endParaRPr>
                    </a:p>
                  </a:txBody>
                  <a:tcPr marL="94331" marR="94331" marT="38106" marB="38106" anchor="ctr">
                    <a:solidFill>
                      <a:srgbClr val="BFBFBF"/>
                    </a:solidFill>
                  </a:tcPr>
                </a:tc>
                <a:tc gridSpan="2">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pPr algn="ctr"/>
                      <a:r>
                        <a:rPr lang="en-US" sz="2000" b="1" dirty="0"/>
                        <a:t>KHARIF: 2022</a:t>
                      </a:r>
                      <a:endParaRPr lang="en-US" sz="2000" b="1" dirty="0">
                        <a:solidFill>
                          <a:srgbClr val="FF0000"/>
                        </a:solidFill>
                      </a:endParaRPr>
                    </a:p>
                  </a:txBody>
                  <a:tcPr marL="94331" marR="94331" marT="38106" marB="38106" anchor="ctr">
                    <a:solidFill>
                      <a:srgbClr val="BFBFBF"/>
                    </a:solidFill>
                  </a:tcPr>
                </a:tc>
                <a:tc hMerge="1">
                  <a:txBody>
                    <a:bodyPr/>
                    <a:lstStyle/>
                    <a:p>
                      <a:endParaRPr lang="en-US" dirty="0"/>
                    </a:p>
                  </a:txBody>
                  <a:tcPr/>
                </a:tc>
                <a:tc>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t>KHARIF: 2023</a:t>
                      </a:r>
                      <a:endParaRPr lang="en-US" sz="2000" b="1" dirty="0">
                        <a:solidFill>
                          <a:srgbClr val="00B0F0"/>
                        </a:solidFill>
                      </a:endParaRPr>
                    </a:p>
                  </a:txBody>
                  <a:tcPr marL="94331" marR="94331" marT="38106" marB="38106" anchor="ctr">
                    <a:solidFill>
                      <a:srgbClr val="BFBFBF"/>
                    </a:solidFill>
                  </a:tcPr>
                </a:tc>
                <a:extLst>
                  <a:ext uri="{0D108BD9-81ED-4DB2-BD59-A6C34878D82A}">
                    <a16:rowId xmlns:a16="http://schemas.microsoft.com/office/drawing/2014/main" xmlns="" val="10000"/>
                  </a:ext>
                </a:extLst>
              </a:tr>
              <a:tr h="821434">
                <a:tc vMerge="1">
                  <a:txBody>
                    <a:bodyPr/>
                    <a:lstStyle/>
                    <a:p>
                      <a:endParaRPr lang="en-US" dirty="0"/>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2000" b="1" dirty="0">
                          <a:solidFill>
                            <a:srgbClr val="FF0000"/>
                          </a:solidFill>
                        </a:rPr>
                        <a:t>Assessed requirement </a:t>
                      </a:r>
                    </a:p>
                  </a:txBody>
                  <a:tcPr marL="94331" marR="94331" marT="38106" marB="38106"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latinLnBrk="0" hangingPunct="1"/>
                      <a:r>
                        <a:rPr lang="en-US" sz="2000" b="1" kern="1200" dirty="0">
                          <a:solidFill>
                            <a:srgbClr val="FF0000"/>
                          </a:solidFill>
                          <a:latin typeface="Calibri"/>
                          <a:ea typeface="+mn-ea"/>
                          <a:cs typeface="+mn-cs"/>
                        </a:rPr>
                        <a:t>Total sales</a:t>
                      </a:r>
                    </a:p>
                  </a:txBody>
                  <a:tcPr marL="94331" marR="94331" marT="38106" marB="38106"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2000" b="1" dirty="0">
                          <a:solidFill>
                            <a:srgbClr val="FF0000"/>
                          </a:solidFill>
                        </a:rPr>
                        <a:t>Assessed requirement </a:t>
                      </a:r>
                    </a:p>
                  </a:txBody>
                  <a:tcPr marL="94331" marR="94331" marT="38106" marB="38106" anchor="ctr"/>
                </a:tc>
                <a:extLst>
                  <a:ext uri="{0D108BD9-81ED-4DB2-BD59-A6C34878D82A}">
                    <a16:rowId xmlns:a16="http://schemas.microsoft.com/office/drawing/2014/main" xmlns="" val="10001"/>
                  </a:ext>
                </a:extLst>
              </a:tr>
              <a:tr h="49807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Urea</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179.01</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172.61</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178.69</a:t>
                      </a:r>
                    </a:p>
                  </a:txBody>
                  <a:tcPr marL="94331" marR="94331" marT="38106" marB="38106"/>
                </a:tc>
                <a:extLst>
                  <a:ext uri="{0D108BD9-81ED-4DB2-BD59-A6C34878D82A}">
                    <a16:rowId xmlns:a16="http://schemas.microsoft.com/office/drawing/2014/main" xmlns="" val="10002"/>
                  </a:ext>
                </a:extLst>
              </a:tr>
              <a:tr h="49807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DAP</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58.82</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51.60</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55.19</a:t>
                      </a:r>
                    </a:p>
                  </a:txBody>
                  <a:tcPr marL="94331" marR="94331" marT="38106" marB="38106"/>
                </a:tc>
                <a:extLst>
                  <a:ext uri="{0D108BD9-81ED-4DB2-BD59-A6C34878D82A}">
                    <a16:rowId xmlns:a16="http://schemas.microsoft.com/office/drawing/2014/main" xmlns="" val="10003"/>
                  </a:ext>
                </a:extLst>
              </a:tr>
              <a:tr h="49807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MOP</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19.82</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7.13</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15.02</a:t>
                      </a:r>
                    </a:p>
                  </a:txBody>
                  <a:tcPr marL="94331" marR="94331" marT="38106" marB="38106"/>
                </a:tc>
                <a:extLst>
                  <a:ext uri="{0D108BD9-81ED-4DB2-BD59-A6C34878D82A}">
                    <a16:rowId xmlns:a16="http://schemas.microsoft.com/office/drawing/2014/main" xmlns="" val="10004"/>
                  </a:ext>
                </a:extLst>
              </a:tr>
              <a:tr h="49807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NPK</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63.72</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52.07</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62.71</a:t>
                      </a:r>
                    </a:p>
                  </a:txBody>
                  <a:tcPr marL="94331" marR="94331" marT="38106" marB="38106"/>
                </a:tc>
                <a:extLst>
                  <a:ext uri="{0D108BD9-81ED-4DB2-BD59-A6C34878D82A}">
                    <a16:rowId xmlns:a16="http://schemas.microsoft.com/office/drawing/2014/main" xmlns="" val="10005"/>
                  </a:ext>
                </a:extLst>
              </a:tr>
              <a:tr h="49807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SSP</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33.19</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26.42</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0" dirty="0">
                          <a:solidFill>
                            <a:schemeClr val="tx1"/>
                          </a:solidFill>
                        </a:rPr>
                        <a:t>33.76</a:t>
                      </a:r>
                    </a:p>
                  </a:txBody>
                  <a:tcPr marL="94331" marR="94331" marT="38106" marB="38106"/>
                </a:tc>
                <a:extLst>
                  <a:ext uri="{0D108BD9-81ED-4DB2-BD59-A6C34878D82A}">
                    <a16:rowId xmlns:a16="http://schemas.microsoft.com/office/drawing/2014/main" xmlns="" val="10006"/>
                  </a:ext>
                </a:extLst>
              </a:tr>
              <a:tr h="49807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Total</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354.56</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309.83</a:t>
                      </a:r>
                    </a:p>
                  </a:txBody>
                  <a:tcPr marL="94331" marR="94331" marT="38106" marB="38106"/>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solidFill>
                            <a:schemeClr val="tx1"/>
                          </a:solidFill>
                        </a:rPr>
                        <a:t>345.37</a:t>
                      </a:r>
                    </a:p>
                  </a:txBody>
                  <a:tcPr marL="94331" marR="94331" marT="38106" marB="38106"/>
                </a:tc>
                <a:extLst>
                  <a:ext uri="{0D108BD9-81ED-4DB2-BD59-A6C34878D82A}">
                    <a16:rowId xmlns:a16="http://schemas.microsoft.com/office/drawing/2014/main" xmlns="" val="10008"/>
                  </a:ext>
                </a:extLst>
              </a:tr>
              <a:tr h="359593">
                <a:tc gridSpan="4">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800" b="1" dirty="0"/>
                        <a:t>Use of  Bio-fertilizers,</a:t>
                      </a:r>
                      <a:r>
                        <a:rPr lang="en-US" sz="1800" b="1" baseline="0" dirty="0"/>
                        <a:t> </a:t>
                      </a:r>
                      <a:r>
                        <a:rPr lang="en-US" sz="1800" b="1" dirty="0"/>
                        <a:t>Neem</a:t>
                      </a:r>
                      <a:r>
                        <a:rPr lang="en-US" sz="1800" b="1" baseline="0" dirty="0"/>
                        <a:t> Coated urea, </a:t>
                      </a:r>
                      <a:r>
                        <a:rPr lang="en-US" sz="1800" b="1" dirty="0"/>
                        <a:t>Use of Micro-nutrients</a:t>
                      </a:r>
                      <a:r>
                        <a:rPr lang="en-US" sz="1800" b="1" baseline="0" dirty="0"/>
                        <a:t> </a:t>
                      </a:r>
                      <a:r>
                        <a:rPr lang="en-US" sz="1800" b="1" dirty="0"/>
                        <a:t> </a:t>
                      </a:r>
                    </a:p>
                  </a:txBody>
                  <a:tcPr marL="94331" marR="94331" marT="38106" marB="38106"/>
                </a:tc>
                <a:tc hMerge="1">
                  <a:txBody>
                    <a:bodyPr/>
                    <a:lstStyle/>
                    <a:p>
                      <a:pPr algn="ctr"/>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xmlns="" val="10007"/>
                  </a:ext>
                </a:extLst>
              </a:tr>
            </a:tbl>
          </a:graphicData>
        </a:graphic>
      </p:graphicFrame>
      <p:sp>
        <p:nvSpPr>
          <p:cNvPr id="7" name="TextBox 6">
            <a:extLst>
              <a:ext uri="{FF2B5EF4-FFF2-40B4-BE49-F238E27FC236}">
                <a16:creationId xmlns:a16="http://schemas.microsoft.com/office/drawing/2014/main" xmlns="" id="{71028129-2B1D-473D-BA79-9F5A3FF0C991}"/>
              </a:ext>
            </a:extLst>
          </p:cNvPr>
          <p:cNvSpPr txBox="1"/>
          <p:nvPr/>
        </p:nvSpPr>
        <p:spPr>
          <a:xfrm>
            <a:off x="357158" y="6596390"/>
            <a:ext cx="609600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a:ea typeface="+mn-ea"/>
                <a:cs typeface="+mn-cs"/>
              </a:rPr>
              <a:t>Source: </a:t>
            </a:r>
            <a:r>
              <a:rPr kumimoji="0" lang="en-US" sz="1100" i="0" u="none" strike="noStrike" kern="1200" cap="none" spc="0" normalizeH="0" baseline="0" noProof="0" dirty="0">
                <a:ln>
                  <a:noFill/>
                </a:ln>
                <a:solidFill>
                  <a:prstClr val="black"/>
                </a:solidFill>
                <a:effectLst/>
                <a:uLnTx/>
                <a:uFillTx/>
                <a:latin typeface="Calibri" panose="020F0502020204030204"/>
                <a:ea typeface="+mn-ea"/>
                <a:cs typeface="+mn-cs"/>
              </a:rPr>
              <a:t>INM &amp; FMS, DAC, GOI</a:t>
            </a:r>
          </a:p>
        </p:txBody>
      </p:sp>
    </p:spTree>
    <p:extLst>
      <p:ext uri="{BB962C8B-B14F-4D97-AF65-F5344CB8AC3E}">
        <p14:creationId xmlns:p14="http://schemas.microsoft.com/office/powerpoint/2010/main" xmlns="" val="740541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Proposed National Crop Production targets for 2023-24</a:t>
            </a:r>
          </a:p>
        </p:txBody>
      </p:sp>
      <p:graphicFrame>
        <p:nvGraphicFramePr>
          <p:cNvPr id="5" name="Table 4">
            <a:extLst>
              <a:ext uri="{FF2B5EF4-FFF2-40B4-BE49-F238E27FC236}">
                <a16:creationId xmlns:a16="http://schemas.microsoft.com/office/drawing/2014/main" xmlns="" id="{04A92BC0-FA03-4727-8437-EA93F2479FFE}"/>
              </a:ext>
            </a:extLst>
          </p:cNvPr>
          <p:cNvGraphicFramePr>
            <a:graphicFrameLocks noGrp="1"/>
          </p:cNvGraphicFramePr>
          <p:nvPr>
            <p:extLst>
              <p:ext uri="{D42A27DB-BD31-4B8C-83A1-F6EECF244321}">
                <p14:modId xmlns:p14="http://schemas.microsoft.com/office/powerpoint/2010/main" xmlns="" val="1991326828"/>
              </p:ext>
            </p:extLst>
          </p:nvPr>
        </p:nvGraphicFramePr>
        <p:xfrm>
          <a:off x="357158" y="809923"/>
          <a:ext cx="11560520" cy="5773752"/>
        </p:xfrm>
        <a:graphic>
          <a:graphicData uri="http://schemas.openxmlformats.org/drawingml/2006/table">
            <a:tbl>
              <a:tblPr>
                <a:tableStyleId>{46F890A9-2807-4EBB-B81D-B2AA78EC7F39}</a:tableStyleId>
              </a:tblPr>
              <a:tblGrid>
                <a:gridCol w="2558475">
                  <a:extLst>
                    <a:ext uri="{9D8B030D-6E8A-4147-A177-3AD203B41FA5}">
                      <a16:colId xmlns:a16="http://schemas.microsoft.com/office/drawing/2014/main" xmlns="" val="20000"/>
                    </a:ext>
                  </a:extLst>
                </a:gridCol>
                <a:gridCol w="2368959">
                  <a:extLst>
                    <a:ext uri="{9D8B030D-6E8A-4147-A177-3AD203B41FA5}">
                      <a16:colId xmlns:a16="http://schemas.microsoft.com/office/drawing/2014/main" xmlns="" val="20001"/>
                    </a:ext>
                  </a:extLst>
                </a:gridCol>
                <a:gridCol w="2274202">
                  <a:extLst>
                    <a:ext uri="{9D8B030D-6E8A-4147-A177-3AD203B41FA5}">
                      <a16:colId xmlns:a16="http://schemas.microsoft.com/office/drawing/2014/main" xmlns="" val="20002"/>
                    </a:ext>
                  </a:extLst>
                </a:gridCol>
                <a:gridCol w="2084684">
                  <a:extLst>
                    <a:ext uri="{9D8B030D-6E8A-4147-A177-3AD203B41FA5}">
                      <a16:colId xmlns:a16="http://schemas.microsoft.com/office/drawing/2014/main" xmlns="" val="20003"/>
                    </a:ext>
                  </a:extLst>
                </a:gridCol>
                <a:gridCol w="2274200">
                  <a:extLst>
                    <a:ext uri="{9D8B030D-6E8A-4147-A177-3AD203B41FA5}">
                      <a16:colId xmlns:a16="http://schemas.microsoft.com/office/drawing/2014/main" xmlns="" val="20004"/>
                    </a:ext>
                  </a:extLst>
                </a:gridCol>
              </a:tblGrid>
              <a:tr h="37442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2000" b="1" u="none" strike="noStrike" dirty="0"/>
                        <a:t>Crop</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err="1"/>
                        <a:t>Kharif</a:t>
                      </a:r>
                      <a:r>
                        <a:rPr lang="en-IN" sz="2000" b="1" u="none" strike="noStrike" dirty="0"/>
                        <a:t> Season</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t>Rabi Season</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t>Summer season</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t>Total</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xmlns="" val="10002"/>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b="1" u="none" strike="noStrike" dirty="0"/>
                        <a:t>Rice</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111.00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a:t>14.52</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8.48</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134.00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3"/>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Wheat</a:t>
                      </a:r>
                      <a:endParaRPr lang="en-IN" sz="18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114.00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114.00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4"/>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u="none" strike="noStrike"/>
                        <a:t>Maize</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24.00</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9.75</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1.75</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35.50</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5"/>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Barley</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2.25</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2.25</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6"/>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b="1" u="none" strike="noStrike" dirty="0"/>
                        <a:t>Total Coarse Cereals</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24.00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12.00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a:t>1.75</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37.75</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7"/>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u="none" strike="noStrike"/>
                        <a:t>Jowar </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1.91</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2.53</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0.06</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4.50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8"/>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a:t>Bajra</a:t>
                      </a:r>
                      <a:endParaRPr lang="en-IN" sz="1800" b="0" i="0" u="none" strike="noStrike">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9.93</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0.37</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10.30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09"/>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err="1"/>
                        <a:t>Ragi</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1.73</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0.07</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1.80</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0"/>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a:t>Small Millets</a:t>
                      </a:r>
                      <a:endParaRPr lang="en-IN" sz="1800" b="0" i="0" u="none" strike="noStrike">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0.40</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0.40</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1"/>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b="1" u="none" strike="noStrike" dirty="0"/>
                        <a:t>Total Shree Anna </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13.97</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2.53</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0.50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17.00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2"/>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err="1"/>
                        <a:t>Tur</a:t>
                      </a:r>
                      <a:r>
                        <a:rPr lang="en-IN" sz="1800" u="none" strike="noStrike" dirty="0"/>
                        <a:t> (</a:t>
                      </a:r>
                      <a:r>
                        <a:rPr lang="en-IN" sz="1800" u="none" strike="noStrike" dirty="0" err="1"/>
                        <a:t>Arhar</a:t>
                      </a:r>
                      <a:r>
                        <a:rPr lang="en-IN" sz="1800" u="none" strike="noStrike" dirty="0"/>
                        <a:t>)</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4.30</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4.30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3"/>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Gram</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13.65</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13.65</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4"/>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u="none" strike="noStrike" dirty="0" err="1"/>
                        <a:t>Urad</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1.97</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0.60</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0.35</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2.92</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5"/>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u="none" strike="noStrike" dirty="0" err="1"/>
                        <a:t>Moong</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2.02</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0.32</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1.64</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3.98</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6"/>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Other </a:t>
                      </a:r>
                      <a:r>
                        <a:rPr lang="en-IN" sz="1800" u="none" strike="noStrike" dirty="0" err="1"/>
                        <a:t>Kharif</a:t>
                      </a:r>
                      <a:r>
                        <a:rPr lang="en-IN" sz="1800" u="none" strike="noStrike" dirty="0"/>
                        <a:t> Pulses</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0.80</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0.80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7"/>
                  </a:ext>
                </a:extLst>
              </a:tr>
              <a:tr h="33745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Other Rabi Pulses</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3.60</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3.60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8"/>
                  </a:ext>
                </a:extLst>
              </a:tr>
            </a:tbl>
          </a:graphicData>
        </a:graphic>
      </p:graphicFrame>
    </p:spTree>
    <p:extLst>
      <p:ext uri="{BB962C8B-B14F-4D97-AF65-F5344CB8AC3E}">
        <p14:creationId xmlns:p14="http://schemas.microsoft.com/office/powerpoint/2010/main" xmlns="" val="3622627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Proposed National Crop Production targets for 2023-24</a:t>
            </a:r>
          </a:p>
        </p:txBody>
      </p:sp>
      <p:graphicFrame>
        <p:nvGraphicFramePr>
          <p:cNvPr id="5" name="Table 4">
            <a:extLst>
              <a:ext uri="{FF2B5EF4-FFF2-40B4-BE49-F238E27FC236}">
                <a16:creationId xmlns:a16="http://schemas.microsoft.com/office/drawing/2014/main" xmlns="" id="{04A92BC0-FA03-4727-8437-EA93F2479FFE}"/>
              </a:ext>
            </a:extLst>
          </p:cNvPr>
          <p:cNvGraphicFramePr>
            <a:graphicFrameLocks noGrp="1"/>
          </p:cNvGraphicFramePr>
          <p:nvPr>
            <p:extLst>
              <p:ext uri="{D42A27DB-BD31-4B8C-83A1-F6EECF244321}">
                <p14:modId xmlns:p14="http://schemas.microsoft.com/office/powerpoint/2010/main" xmlns="" val="1020021710"/>
              </p:ext>
            </p:extLst>
          </p:nvPr>
        </p:nvGraphicFramePr>
        <p:xfrm>
          <a:off x="357158" y="968843"/>
          <a:ext cx="11560520" cy="4920314"/>
        </p:xfrm>
        <a:graphic>
          <a:graphicData uri="http://schemas.openxmlformats.org/drawingml/2006/table">
            <a:tbl>
              <a:tblPr>
                <a:tableStyleId>{7DF18680-E054-41AD-8BC1-D1AEF772440D}</a:tableStyleId>
              </a:tblPr>
              <a:tblGrid>
                <a:gridCol w="2558475">
                  <a:extLst>
                    <a:ext uri="{9D8B030D-6E8A-4147-A177-3AD203B41FA5}">
                      <a16:colId xmlns:a16="http://schemas.microsoft.com/office/drawing/2014/main" xmlns="" val="20000"/>
                    </a:ext>
                  </a:extLst>
                </a:gridCol>
                <a:gridCol w="2368959">
                  <a:extLst>
                    <a:ext uri="{9D8B030D-6E8A-4147-A177-3AD203B41FA5}">
                      <a16:colId xmlns:a16="http://schemas.microsoft.com/office/drawing/2014/main" xmlns="" val="20001"/>
                    </a:ext>
                  </a:extLst>
                </a:gridCol>
                <a:gridCol w="2274202">
                  <a:extLst>
                    <a:ext uri="{9D8B030D-6E8A-4147-A177-3AD203B41FA5}">
                      <a16:colId xmlns:a16="http://schemas.microsoft.com/office/drawing/2014/main" xmlns="" val="20002"/>
                    </a:ext>
                  </a:extLst>
                </a:gridCol>
                <a:gridCol w="2084684">
                  <a:extLst>
                    <a:ext uri="{9D8B030D-6E8A-4147-A177-3AD203B41FA5}">
                      <a16:colId xmlns:a16="http://schemas.microsoft.com/office/drawing/2014/main" xmlns="" val="20003"/>
                    </a:ext>
                  </a:extLst>
                </a:gridCol>
                <a:gridCol w="2274200">
                  <a:extLst>
                    <a:ext uri="{9D8B030D-6E8A-4147-A177-3AD203B41FA5}">
                      <a16:colId xmlns:a16="http://schemas.microsoft.com/office/drawing/2014/main" xmlns="" val="20004"/>
                    </a:ext>
                  </a:extLst>
                </a:gridCol>
              </a:tblGrid>
              <a:tr h="54001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2000" b="1" u="none" strike="noStrike" dirty="0"/>
                        <a:t>Crop</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err="1"/>
                        <a:t>Kharif</a:t>
                      </a:r>
                      <a:r>
                        <a:rPr lang="en-IN" sz="2000" b="1" u="none" strike="noStrike" dirty="0"/>
                        <a:t> Season</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t>Rabi Season</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t>Summer season</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rtl="0" fontAlgn="t"/>
                      <a:r>
                        <a:rPr lang="en-IN" sz="2000" b="1" u="none" strike="noStrike" dirty="0"/>
                        <a:t>Total</a:t>
                      </a:r>
                      <a:endParaRPr lang="en-IN" sz="20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xmlns="" val="10002"/>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b="1" u="none" strike="noStrike" dirty="0"/>
                        <a:t>Total Pulses</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a:t>9.09</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18.17</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1.99</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29.25</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19"/>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b="1" u="none" strike="noStrike" dirty="0"/>
                        <a:t>Total </a:t>
                      </a:r>
                      <a:r>
                        <a:rPr lang="en-IN" sz="1800" b="1" u="none" strike="noStrike" dirty="0" err="1"/>
                        <a:t>Foodgrains</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158.06</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161.22</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12.72</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332.00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20"/>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ctr"/>
                      <a:r>
                        <a:rPr lang="en-IN" sz="1800" b="1" u="none" strike="noStrike" dirty="0"/>
                        <a:t>Total Oilseed</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28.37</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a:t>14.49</a:t>
                      </a:r>
                      <a:endParaRPr lang="en-IN" sz="1800" b="1"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1.14</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44.00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21"/>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Sugarcane</a:t>
                      </a:r>
                      <a:endParaRPr lang="en-IN" sz="18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470.00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470.00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22"/>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Cotton*</a:t>
                      </a:r>
                      <a:endParaRPr lang="en-IN" sz="18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35.00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35.00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23"/>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Jute**</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10.05</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10.05</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24"/>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u="none" strike="noStrike" dirty="0"/>
                        <a:t>Mesta**</a:t>
                      </a:r>
                      <a:endParaRPr lang="en-IN" sz="1800" b="0"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a:t>0.45</a:t>
                      </a:r>
                      <a:endParaRPr lang="en-IN" sz="1800" b="0" i="0" u="none" strike="noStrike">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 </a:t>
                      </a:r>
                      <a:endParaRPr lang="en-IN" sz="1800" b="0"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u="none" strike="noStrike" dirty="0"/>
                        <a:t>0.45</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25"/>
                  </a:ext>
                </a:extLst>
              </a:tr>
              <a:tr h="4867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t"/>
                      <a:r>
                        <a:rPr lang="en-IN" sz="1800" b="1" u="none" strike="noStrike" dirty="0"/>
                        <a:t>Jute &amp; Mesta**</a:t>
                      </a:r>
                      <a:endParaRPr lang="en-IN" sz="1800" b="1" i="0" u="none" strike="noStrike" dirty="0">
                        <a:solidFill>
                          <a:srgbClr val="000000"/>
                        </a:solidFill>
                        <a:latin typeface="Arial"/>
                      </a:endParaRPr>
                    </a:p>
                  </a:txBody>
                  <a:tcPr marL="4720" marR="4720" marT="3933" marB="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10.50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 </a:t>
                      </a:r>
                      <a:endParaRPr lang="en-IN" sz="1800" b="1" i="0" u="none" strike="noStrike" dirty="0">
                        <a:solidFill>
                          <a:srgbClr val="000000"/>
                        </a:solidFill>
                        <a:latin typeface="Times New Roman"/>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rtl="0" fontAlgn="ctr"/>
                      <a:r>
                        <a:rPr lang="en-IN" sz="1800" b="1" u="none" strike="noStrike" dirty="0"/>
                        <a:t>10.50</a:t>
                      </a:r>
                      <a:endParaRPr lang="en-IN" sz="1800" b="1" i="0" u="none" strike="noStrike" dirty="0">
                        <a:solidFill>
                          <a:srgbClr val="000000"/>
                        </a:solidFill>
                        <a:latin typeface="Arial"/>
                      </a:endParaRPr>
                    </a:p>
                  </a:txBody>
                  <a:tcPr marL="4720" marR="4720" marT="393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xmlns="" val="10026"/>
                  </a:ext>
                </a:extLst>
              </a:tr>
              <a:tr h="486700">
                <a:tc gridSpan="5">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rtl="0" fontAlgn="b"/>
                      <a:r>
                        <a:rPr lang="en-IN" sz="1800" u="none" strike="noStrike" dirty="0"/>
                        <a:t>* Production in Million bales of 170 kg for Cotton, ** Production in Million bales of 180 kg for Jute &amp; Mesta. </a:t>
                      </a:r>
                      <a:endParaRPr lang="en-IN" sz="1800" b="0" i="0" u="none" strike="noStrike" dirty="0">
                        <a:solidFill>
                          <a:srgbClr val="000000"/>
                        </a:solidFill>
                        <a:latin typeface="Arial"/>
                      </a:endParaRPr>
                    </a:p>
                  </a:txBody>
                  <a:tcPr marL="4720" marR="4720" marT="3933" marB="0"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xmlns="" val="10027"/>
                  </a:ext>
                </a:extLst>
              </a:tr>
            </a:tbl>
          </a:graphicData>
        </a:graphic>
      </p:graphicFrame>
    </p:spTree>
    <p:extLst>
      <p:ext uri="{BB962C8B-B14F-4D97-AF65-F5344CB8AC3E}">
        <p14:creationId xmlns:p14="http://schemas.microsoft.com/office/powerpoint/2010/main" xmlns="" val="623742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Strategies For Pulses And Oilseeds</a:t>
            </a:r>
          </a:p>
        </p:txBody>
      </p:sp>
      <p:sp>
        <p:nvSpPr>
          <p:cNvPr id="6" name="TextBox 5">
            <a:extLst>
              <a:ext uri="{FF2B5EF4-FFF2-40B4-BE49-F238E27FC236}">
                <a16:creationId xmlns:a16="http://schemas.microsoft.com/office/drawing/2014/main" xmlns="" id="{54B0AD2F-2DAC-4A6A-AB5C-6E1DD89F5ECD}"/>
              </a:ext>
            </a:extLst>
          </p:cNvPr>
          <p:cNvSpPr txBox="1"/>
          <p:nvPr/>
        </p:nvSpPr>
        <p:spPr>
          <a:xfrm>
            <a:off x="315740" y="863880"/>
            <a:ext cx="11560520" cy="5666167"/>
          </a:xfrm>
          <a:prstGeom prst="rect">
            <a:avLst/>
          </a:prstGeom>
          <a:noFill/>
        </p:spPr>
        <p:txBody>
          <a:bodyPr wrap="square">
            <a:sp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Crop specific district-wise micro planning to increase production and productivity: 370 in pulses and 340 in Oilseeds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Record production in 2022-23 (in Lakh Tonnes): 278.10 in  Pulses and 400.00 in Oilseeds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Production target during 2023-24(in lakh Tonnes): 292.50 in Pulses and 440.00 in Oilseeds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More than 70% demonstration being organised in these selected districts</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Enhancement of ceiling on quantity of procurement under PSS from existing 25% to 40% </a:t>
            </a:r>
            <a:r>
              <a:rPr kumimoji="0" lang="en-IN" sz="2000" b="0" i="0" u="none" strike="noStrike" kern="1200" cap="none" spc="0" normalizeH="0" baseline="0" noProof="0" dirty="0" err="1">
                <a:ln>
                  <a:noFill/>
                </a:ln>
                <a:solidFill>
                  <a:prstClr val="black"/>
                </a:solidFill>
                <a:effectLst/>
                <a:uLnTx/>
                <a:uFillTx/>
                <a:latin typeface="Calibri"/>
                <a:ea typeface="+mn-ea"/>
                <a:cs typeface="+mn-cs"/>
              </a:rPr>
              <a:t>w.r.t.</a:t>
            </a:r>
            <a:r>
              <a:rPr kumimoji="0" lang="en-IN" sz="2000" b="0" i="0" u="none" strike="noStrike" kern="1200" cap="none" spc="0" normalizeH="0" baseline="0" noProof="0" dirty="0">
                <a:ln>
                  <a:noFill/>
                </a:ln>
                <a:solidFill>
                  <a:prstClr val="black"/>
                </a:solidFill>
                <a:effectLst/>
                <a:uLnTx/>
                <a:uFillTx/>
                <a:latin typeface="Calibri"/>
                <a:ea typeface="+mn-ea"/>
                <a:cs typeface="+mn-cs"/>
              </a:rPr>
              <a:t> Tur, Urad and Masoor</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15 Lakh ha area of pulses and oilseeds to be brought in rice fallow</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Around 38.74 lakh of seed mini kits of various oilseeds has been allocated during Kharif, Rabi and Summer, 2022-23</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Around 24.64 lakh of seed mini kits of various Pulses has been allocated during Kharif, Rabi and Summer, 2022-23</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Central Agriculture University, Imphal to establish 3 COEs in Oil Palm in Arunachal, Manipur and Mizoram</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Patanjali Food Pvt Ltd and 3F have set up one (01) Oil Palm Processing Mills  each in Arunachal Pradesh</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2100" b="0" i="0" u="none" strike="noStrike" kern="1200" cap="none" spc="0" normalizeH="0" baseline="0" noProof="0" dirty="0">
                <a:ln>
                  <a:noFill/>
                </a:ln>
                <a:solidFill>
                  <a:prstClr val="black"/>
                </a:solidFill>
                <a:effectLst/>
                <a:uLnTx/>
                <a:uFillTx/>
                <a:latin typeface="Calibri"/>
                <a:ea typeface="+mn-ea"/>
                <a:cs typeface="+mn-cs"/>
              </a:rPr>
              <a:t>Proposed to achieve </a:t>
            </a:r>
            <a:r>
              <a:rPr kumimoji="0" lang="en-US" sz="2100" b="0" i="0" u="none" strike="noStrike" kern="1200" cap="none" spc="0" normalizeH="0" baseline="0" noProof="0" dirty="0">
                <a:ln>
                  <a:noFill/>
                </a:ln>
                <a:solidFill>
                  <a:prstClr val="black"/>
                </a:solidFill>
                <a:effectLst/>
                <a:uLnTx/>
                <a:uFillTx/>
                <a:latin typeface="Calibri"/>
                <a:ea typeface="+mn-ea"/>
                <a:cs typeface="+mn-cs"/>
              </a:rPr>
              <a:t>54.10 million </a:t>
            </a:r>
            <a:r>
              <a:rPr kumimoji="0" lang="en-US" sz="2100" b="0" i="0" u="none" strike="noStrike" kern="1200" cap="none" spc="0" normalizeH="0" baseline="0" noProof="0" dirty="0" err="1">
                <a:ln>
                  <a:noFill/>
                </a:ln>
                <a:solidFill>
                  <a:prstClr val="black"/>
                </a:solidFill>
                <a:effectLst/>
                <a:uLnTx/>
                <a:uFillTx/>
                <a:latin typeface="Calibri"/>
                <a:ea typeface="+mn-ea"/>
                <a:cs typeface="+mn-cs"/>
              </a:rPr>
              <a:t>tonnes</a:t>
            </a:r>
            <a:r>
              <a:rPr kumimoji="0" lang="en-US" sz="2100" b="0" i="0" u="none" strike="noStrike" kern="1200" cap="none" spc="0" normalizeH="0" baseline="0" noProof="0" dirty="0">
                <a:ln>
                  <a:noFill/>
                </a:ln>
                <a:solidFill>
                  <a:prstClr val="black"/>
                </a:solidFill>
                <a:effectLst/>
                <a:uLnTx/>
                <a:uFillTx/>
                <a:latin typeface="Calibri"/>
                <a:ea typeface="+mn-ea"/>
                <a:cs typeface="+mn-cs"/>
              </a:rPr>
              <a:t> of edible oilseeds by 2025-26 and to reduce import dependency from 56% to 36% by 2025-26.</a:t>
            </a:r>
            <a:endParaRPr kumimoji="0" lang="en-IN" sz="21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xmlns="" val="3793394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Efforts for crop diversification</a:t>
            </a:r>
          </a:p>
        </p:txBody>
      </p:sp>
      <p:sp>
        <p:nvSpPr>
          <p:cNvPr id="5" name="TextBox 4">
            <a:extLst>
              <a:ext uri="{FF2B5EF4-FFF2-40B4-BE49-F238E27FC236}">
                <a16:creationId xmlns:a16="http://schemas.microsoft.com/office/drawing/2014/main" xmlns="" id="{1E7BAC0B-655B-438B-9F35-26526F5444F8}"/>
              </a:ext>
            </a:extLst>
          </p:cNvPr>
          <p:cNvSpPr txBox="1"/>
          <p:nvPr/>
        </p:nvSpPr>
        <p:spPr>
          <a:xfrm>
            <a:off x="357158" y="980391"/>
            <a:ext cx="11560520" cy="4445832"/>
          </a:xfrm>
          <a:prstGeom prst="rect">
            <a:avLst/>
          </a:prstGeom>
          <a:noFill/>
        </p:spPr>
        <p:txBody>
          <a:bodyPr wrap="square">
            <a:sp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ICAR developed 20 </a:t>
            </a:r>
            <a:r>
              <a:rPr kumimoji="0" lang="en-IN" sz="2000" b="0" i="0" u="none" strike="noStrike" kern="1200" cap="none" spc="0" normalizeH="0" baseline="0" noProof="0" dirty="0" err="1">
                <a:ln>
                  <a:noFill/>
                </a:ln>
                <a:solidFill>
                  <a:prstClr val="black"/>
                </a:solidFill>
                <a:effectLst/>
                <a:uLnTx/>
                <a:uFillTx/>
                <a:latin typeface="Calibri"/>
                <a:ea typeface="+mn-ea"/>
                <a:cs typeface="+mn-cs"/>
              </a:rPr>
              <a:t>Agro</a:t>
            </a:r>
            <a:r>
              <a:rPr lang="en-IN" sz="2000" dirty="0">
                <a:solidFill>
                  <a:prstClr val="black"/>
                </a:solidFill>
                <a:latin typeface="Calibri"/>
              </a:rPr>
              <a:t>-</a:t>
            </a:r>
            <a:r>
              <a:rPr kumimoji="0" lang="en-IN" sz="2000" b="0" i="0" u="none" strike="noStrike" kern="1200" cap="none" spc="0" normalizeH="0" baseline="0" noProof="0" dirty="0">
                <a:ln>
                  <a:noFill/>
                </a:ln>
                <a:solidFill>
                  <a:prstClr val="black"/>
                </a:solidFill>
                <a:effectLst/>
                <a:uLnTx/>
                <a:uFillTx/>
                <a:latin typeface="Calibri"/>
                <a:ea typeface="+mn-ea"/>
                <a:cs typeface="+mn-cs"/>
              </a:rPr>
              <a:t>Ecological Regions (AERs) for crop planning and agriculture development in the country.</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Advisory issued to states requesting them to further strengthen their efforts on AER based planning. </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States have already started AER wise planning and its sustainable implementation. </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Oilseeds and pulses are promoted through AER wise planning to make country self sufficient in these commodities. </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IN" sz="2000" b="0" i="0" u="none" strike="noStrike" kern="1200" cap="none" spc="0" normalizeH="0" baseline="0" noProof="0" dirty="0">
                <a:ln>
                  <a:noFill/>
                </a:ln>
                <a:solidFill>
                  <a:prstClr val="black"/>
                </a:solidFill>
                <a:effectLst/>
                <a:uLnTx/>
                <a:uFillTx/>
                <a:latin typeface="Calibri"/>
                <a:ea typeface="+mn-ea"/>
                <a:cs typeface="+mn-cs"/>
              </a:rPr>
              <a:t>A project on Crop Diversification in 5 million hectares in five years in identified 75 districts in 17 states representing 14 </a:t>
            </a:r>
            <a:r>
              <a:rPr kumimoji="0" lang="en-IN" sz="2000" b="0" i="0" u="none" strike="noStrike" kern="1200" cap="none" spc="0" normalizeH="0" baseline="0" noProof="0" dirty="0" err="1">
                <a:ln>
                  <a:noFill/>
                </a:ln>
                <a:solidFill>
                  <a:prstClr val="black"/>
                </a:solidFill>
                <a:effectLst/>
                <a:uLnTx/>
                <a:uFillTx/>
                <a:latin typeface="Calibri"/>
                <a:ea typeface="+mn-ea"/>
                <a:cs typeface="+mn-cs"/>
              </a:rPr>
              <a:t>agro</a:t>
            </a:r>
            <a:r>
              <a:rPr kumimoji="0" lang="en-IN" sz="2000" b="0" i="0" u="none" strike="noStrike" kern="1200" cap="none" spc="0" normalizeH="0" baseline="0" noProof="0" dirty="0">
                <a:ln>
                  <a:noFill/>
                </a:ln>
                <a:solidFill>
                  <a:prstClr val="black"/>
                </a:solidFill>
                <a:effectLst/>
                <a:uLnTx/>
                <a:uFillTx/>
                <a:latin typeface="Calibri"/>
                <a:ea typeface="+mn-ea"/>
                <a:cs typeface="+mn-cs"/>
              </a:rPr>
              <a:t>-ecological zones of the country has been approved to ICAR-IIFSR, </a:t>
            </a:r>
            <a:r>
              <a:rPr kumimoji="0" lang="en-IN" sz="2000" b="0" i="0" u="none" strike="noStrike" kern="1200" cap="none" spc="0" normalizeH="0" baseline="0" noProof="0" dirty="0" err="1">
                <a:ln>
                  <a:noFill/>
                </a:ln>
                <a:solidFill>
                  <a:prstClr val="black"/>
                </a:solidFill>
                <a:effectLst/>
                <a:uLnTx/>
                <a:uFillTx/>
                <a:latin typeface="Calibri"/>
                <a:ea typeface="+mn-ea"/>
                <a:cs typeface="+mn-cs"/>
              </a:rPr>
              <a:t>Modipuram</a:t>
            </a:r>
            <a:r>
              <a:rPr kumimoji="0" lang="en-IN" sz="2000" b="0" i="0" u="none" strike="noStrike" kern="1200" cap="none" spc="0" normalizeH="0" baseline="0" noProof="0" dirty="0">
                <a:ln>
                  <a:noFill/>
                </a:ln>
                <a:solidFill>
                  <a:prstClr val="black"/>
                </a:solidFill>
                <a:effectLst/>
                <a:uLnTx/>
                <a:uFillTx/>
                <a:latin typeface="Calibri"/>
                <a:ea typeface="+mn-ea"/>
                <a:cs typeface="+mn-cs"/>
              </a:rPr>
              <a:t> for its implementation during 2023-24 to 2027-28.</a:t>
            </a:r>
          </a:p>
        </p:txBody>
      </p:sp>
    </p:spTree>
    <p:extLst>
      <p:ext uri="{BB962C8B-B14F-4D97-AF65-F5344CB8AC3E}">
        <p14:creationId xmlns:p14="http://schemas.microsoft.com/office/powerpoint/2010/main" xmlns="" val="1597117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Special Project on Cotton</a:t>
            </a:r>
          </a:p>
        </p:txBody>
      </p:sp>
      <p:sp>
        <p:nvSpPr>
          <p:cNvPr id="6" name="TextBox 5">
            <a:extLst>
              <a:ext uri="{FF2B5EF4-FFF2-40B4-BE49-F238E27FC236}">
                <a16:creationId xmlns:a16="http://schemas.microsoft.com/office/drawing/2014/main" xmlns="" id="{BBA7217A-AC7D-4CAB-8935-ABC138467CA2}"/>
              </a:ext>
            </a:extLst>
          </p:cNvPr>
          <p:cNvSpPr txBox="1"/>
          <p:nvPr/>
        </p:nvSpPr>
        <p:spPr>
          <a:xfrm>
            <a:off x="357158" y="906601"/>
            <a:ext cx="11560520" cy="5830827"/>
          </a:xfrm>
          <a:prstGeom prst="rect">
            <a:avLst/>
          </a:prstGeom>
          <a:noFill/>
        </p:spPr>
        <p:txBody>
          <a:bodyPr wrap="square">
            <a:sp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Cotton is an important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fibre</a:t>
            </a:r>
            <a:r>
              <a:rPr kumimoji="0" lang="en-US" sz="2000" b="0" i="0" u="none" strike="noStrike" kern="1200" cap="none" spc="0" normalizeH="0" baseline="0" noProof="0" dirty="0">
                <a:ln>
                  <a:noFill/>
                </a:ln>
                <a:solidFill>
                  <a:prstClr val="black"/>
                </a:solidFill>
                <a:effectLst/>
                <a:uLnTx/>
                <a:uFillTx/>
                <a:latin typeface="Calibri"/>
                <a:ea typeface="+mn-ea"/>
                <a:cs typeface="+mn-cs"/>
              </a:rPr>
              <a:t> and cash crop that plays a dominant role in the industrial and agriculture economy of the country.</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In view to increase the productivity of cotton &amp; production of  ELS cotton, a special project on cotton with a cost of Rs 41.87 crores has been approved under NFSM for implementation during 2023-24 identified cluster through value chain approach.</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ICAR - Central Institute for Cotton Research [CICR], Nagpur is the nodal implementing institute of this project involving farmers, states, industry, seed associations, KVK’s etc. on PPP mode.</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The project would be implemented in an estimated area of 15358 ha in 295 clusters, 57 districts of 8 states (Rajasthan, Gujarat, Madhya Pradesh, Maharashtra, Telangana , Andhra Pradesh , Karnataka &amp; Tamil Nadu).</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The assistance under the project is to be provided to  small and marginal  farmers through DBT with validation of beneficiary Farmers by State Governments along with Geo referencing of project sites.</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xmlns="" val="862489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Let Us Strategize Accordingly</a:t>
            </a:r>
          </a:p>
        </p:txBody>
      </p:sp>
      <p:sp>
        <p:nvSpPr>
          <p:cNvPr id="7" name="TextBox 6">
            <a:extLst>
              <a:ext uri="{FF2B5EF4-FFF2-40B4-BE49-F238E27FC236}">
                <a16:creationId xmlns:a16="http://schemas.microsoft.com/office/drawing/2014/main" xmlns="" id="{8466CF6A-C103-4609-94C7-099CA0B9E7C0}"/>
              </a:ext>
            </a:extLst>
          </p:cNvPr>
          <p:cNvSpPr txBox="1"/>
          <p:nvPr/>
        </p:nvSpPr>
        <p:spPr>
          <a:xfrm>
            <a:off x="357158" y="1287701"/>
            <a:ext cx="11560520" cy="4107278"/>
          </a:xfrm>
          <a:prstGeom prst="rect">
            <a:avLst/>
          </a:prstGeom>
          <a:noFill/>
        </p:spPr>
        <p:txBody>
          <a:bodyPr wrap="square">
            <a:spAutoFit/>
          </a:bodyPr>
          <a:lstStyle/>
          <a:p>
            <a:pPr marL="342900" indent="-342900" algn="just">
              <a:lnSpc>
                <a:spcPct val="150000"/>
              </a:lnSpc>
              <a:spcBef>
                <a:spcPct val="20000"/>
              </a:spcBef>
              <a:buFont typeface="Arial" pitchFamily="34" charset="0"/>
              <a:buChar char="•"/>
              <a:defRPr/>
            </a:pPr>
            <a:r>
              <a:rPr lang="en-IN" sz="2000" dirty="0">
                <a:solidFill>
                  <a:prstClr val="black"/>
                </a:solidFill>
                <a:latin typeface="Calibri"/>
              </a:rPr>
              <a:t>States to strengthen their efforts on </a:t>
            </a:r>
            <a:r>
              <a:rPr lang="en-IN" sz="2000" dirty="0" err="1">
                <a:solidFill>
                  <a:prstClr val="black"/>
                </a:solidFill>
                <a:latin typeface="Calibri"/>
              </a:rPr>
              <a:t>agro</a:t>
            </a:r>
            <a:r>
              <a:rPr lang="en-IN" sz="2000" dirty="0">
                <a:solidFill>
                  <a:prstClr val="black"/>
                </a:solidFill>
                <a:latin typeface="Calibri"/>
              </a:rPr>
              <a:t>-ecological region based planning.</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Adopting cluster approach for crop productivity enhancement</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Cropping system centric interventions : Focus on Pulses, Oil seeds, Shree Anna, etc.</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Utilization of rice fallow, rice bunds, intercropping, rainfed areas, expansion area under summer season.</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Increasing Seed Replacement Ratio and Varietal Replacement to overcome impact of climate change.  </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Increasing water &amp; nutrient use efficiency and large scale adoption of improved technologies</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Convergence of interventions of the schemes of DA&amp;FW for effective implementation and avoiding duplication.</a:t>
            </a:r>
          </a:p>
        </p:txBody>
      </p:sp>
    </p:spTree>
    <p:extLst>
      <p:ext uri="{BB962C8B-B14F-4D97-AF65-F5344CB8AC3E}">
        <p14:creationId xmlns:p14="http://schemas.microsoft.com/office/powerpoint/2010/main" xmlns="" val="91043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Preparedness (States)</a:t>
            </a:r>
          </a:p>
        </p:txBody>
      </p:sp>
      <p:sp>
        <p:nvSpPr>
          <p:cNvPr id="8" name="TextBox 7">
            <a:extLst>
              <a:ext uri="{FF2B5EF4-FFF2-40B4-BE49-F238E27FC236}">
                <a16:creationId xmlns:a16="http://schemas.microsoft.com/office/drawing/2014/main" xmlns="" id="{E628A0C6-B4E7-4704-B1EF-17B5272099BE}"/>
              </a:ext>
            </a:extLst>
          </p:cNvPr>
          <p:cNvSpPr txBox="1"/>
          <p:nvPr/>
        </p:nvSpPr>
        <p:spPr>
          <a:xfrm>
            <a:off x="357158" y="1015504"/>
            <a:ext cx="11560520" cy="4507388"/>
          </a:xfrm>
          <a:prstGeom prst="rect">
            <a:avLst/>
          </a:prstGeom>
          <a:noFill/>
        </p:spPr>
        <p:txBody>
          <a:bodyPr wrap="square">
            <a:spAutoFit/>
          </a:bodyPr>
          <a:lstStyle/>
          <a:p>
            <a:pPr marL="342900" indent="-342900" algn="just">
              <a:lnSpc>
                <a:spcPct val="150000"/>
              </a:lnSpc>
              <a:spcBef>
                <a:spcPct val="20000"/>
              </a:spcBef>
              <a:buFont typeface="Arial" pitchFamily="34" charset="0"/>
              <a:buChar char="•"/>
              <a:defRPr/>
            </a:pPr>
            <a:r>
              <a:rPr lang="en-IN" sz="2000" dirty="0">
                <a:solidFill>
                  <a:prstClr val="black"/>
                </a:solidFill>
                <a:latin typeface="Calibri"/>
              </a:rPr>
              <a:t>Timely arrangement of Seeds, fertilizers, micronutrients, pesticides, machinery, credit, etc. </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Ensure timely crop insurance cover  for the farmers.</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Considering the IMD forecast for normal monsoon this year with predicted rainfall of 96% (+/-) 5% of LPA, states to be prepared for  drought monitoring and its management for any eventuality.</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Regularly review crop input availability and follow up.</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Focus on enhancing yield of oilseeds and pulses special thrust may be given for Urd and Tur for the ensuing Kharif season to achieve self sufficiency in these commodities.</a:t>
            </a:r>
          </a:p>
          <a:p>
            <a:pPr marL="342900" indent="-342900" algn="just">
              <a:lnSpc>
                <a:spcPct val="150000"/>
              </a:lnSpc>
              <a:spcBef>
                <a:spcPct val="20000"/>
              </a:spcBef>
              <a:buFont typeface="Arial" pitchFamily="34" charset="0"/>
              <a:buChar char="•"/>
              <a:defRPr/>
            </a:pPr>
            <a:r>
              <a:rPr lang="en-IN" sz="2000" dirty="0">
                <a:solidFill>
                  <a:prstClr val="black"/>
                </a:solidFill>
                <a:latin typeface="Calibri"/>
              </a:rPr>
              <a:t>Special focus on Shree anna, its popularisation, making availability of quality seeds to keep pace with the growing demands of this healthy food during the International year of millets.</a:t>
            </a:r>
          </a:p>
        </p:txBody>
      </p:sp>
    </p:spTree>
    <p:extLst>
      <p:ext uri="{BB962C8B-B14F-4D97-AF65-F5344CB8AC3E}">
        <p14:creationId xmlns:p14="http://schemas.microsoft.com/office/powerpoint/2010/main" xmlns="" val="398122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PREPAREDNESS (ICAR)</a:t>
            </a:r>
          </a:p>
        </p:txBody>
      </p:sp>
      <p:sp>
        <p:nvSpPr>
          <p:cNvPr id="5" name="TextBox 4">
            <a:extLst>
              <a:ext uri="{FF2B5EF4-FFF2-40B4-BE49-F238E27FC236}">
                <a16:creationId xmlns:a16="http://schemas.microsoft.com/office/drawing/2014/main" xmlns="" id="{397B4DA3-98A5-4114-8494-12F5FF14F358}"/>
              </a:ext>
            </a:extLst>
          </p:cNvPr>
          <p:cNvSpPr txBox="1"/>
          <p:nvPr/>
        </p:nvSpPr>
        <p:spPr>
          <a:xfrm>
            <a:off x="357158" y="963120"/>
            <a:ext cx="11560520" cy="5430717"/>
          </a:xfrm>
          <a:prstGeom prst="rect">
            <a:avLst/>
          </a:prstGeom>
          <a:noFill/>
        </p:spPr>
        <p:txBody>
          <a:bodyPr wrap="square">
            <a:spAutoFit/>
          </a:bodyPr>
          <a:lstStyle/>
          <a:p>
            <a:pPr marL="342900" marR="0" lvl="1" indent="-342900" algn="just" fontAlgn="auto">
              <a:lnSpc>
                <a:spcPct val="150000"/>
              </a:lnSpc>
              <a:spcBef>
                <a:spcPct val="20000"/>
              </a:spcBef>
              <a:spcAft>
                <a:spcPts val="0"/>
              </a:spcAft>
              <a:buClrTx/>
              <a:buSzTx/>
              <a:buFont typeface="Arial" pitchFamily="34" charset="0"/>
              <a:buChar char="•"/>
              <a:tabLst/>
              <a:defRPr/>
            </a:pPr>
            <a:r>
              <a:rPr lang="en-US" sz="2000" dirty="0">
                <a:solidFill>
                  <a:prstClr val="black"/>
                </a:solidFill>
                <a:latin typeface="Calibri"/>
              </a:rPr>
              <a:t>ICAR-CRIDA to update the District Agriculture Crop Contingency plans (DACPs), incorporating the drought tolerant crop varieties and crop specific resilient technologies.</a:t>
            </a:r>
          </a:p>
          <a:p>
            <a:pPr marL="342900" marR="0" lvl="1" indent="-342900" algn="just" fontAlgn="auto">
              <a:lnSpc>
                <a:spcPct val="150000"/>
              </a:lnSpc>
              <a:spcBef>
                <a:spcPct val="20000"/>
              </a:spcBef>
              <a:spcAft>
                <a:spcPts val="0"/>
              </a:spcAft>
              <a:buClrTx/>
              <a:buSzTx/>
              <a:buFont typeface="Arial" pitchFamily="34" charset="0"/>
              <a:buChar char="•"/>
              <a:tabLst/>
              <a:defRPr/>
            </a:pPr>
            <a:r>
              <a:rPr lang="en-US" sz="2000" dirty="0">
                <a:solidFill>
                  <a:prstClr val="black"/>
                </a:solidFill>
                <a:latin typeface="Calibri"/>
              </a:rPr>
              <a:t>Timely issue of advisories to the states/farmers, farmer groups etc.</a:t>
            </a:r>
          </a:p>
          <a:p>
            <a:pPr marL="342900" marR="0" lvl="1" indent="-342900" algn="just" fontAlgn="auto">
              <a:lnSpc>
                <a:spcPct val="150000"/>
              </a:lnSpc>
              <a:spcBef>
                <a:spcPct val="20000"/>
              </a:spcBef>
              <a:spcAft>
                <a:spcPts val="0"/>
              </a:spcAft>
              <a:buClrTx/>
              <a:buSzTx/>
              <a:buFont typeface="Arial" pitchFamily="34" charset="0"/>
              <a:buChar char="•"/>
              <a:tabLst/>
              <a:defRPr/>
            </a:pPr>
            <a:r>
              <a:rPr lang="en-US" sz="2000" dirty="0">
                <a:solidFill>
                  <a:prstClr val="black"/>
                </a:solidFill>
                <a:latin typeface="Calibri"/>
              </a:rPr>
              <a:t>Preparing </a:t>
            </a:r>
            <a:r>
              <a:rPr lang="en-US" sz="2000" dirty="0" err="1">
                <a:solidFill>
                  <a:prstClr val="black"/>
                </a:solidFill>
                <a:latin typeface="Calibri"/>
              </a:rPr>
              <a:t>Agro</a:t>
            </a:r>
            <a:r>
              <a:rPr lang="en-US" sz="2000" dirty="0">
                <a:solidFill>
                  <a:prstClr val="black"/>
                </a:solidFill>
                <a:latin typeface="Calibri"/>
              </a:rPr>
              <a:t>-ecological region-wise road map for reducing yield gap of various crops through improved varieties and technologies.</a:t>
            </a:r>
          </a:p>
          <a:p>
            <a:pPr marL="342900" marR="0" lvl="1" indent="-342900" algn="just" fontAlgn="auto">
              <a:lnSpc>
                <a:spcPct val="150000"/>
              </a:lnSpc>
              <a:spcBef>
                <a:spcPct val="20000"/>
              </a:spcBef>
              <a:spcAft>
                <a:spcPts val="0"/>
              </a:spcAft>
              <a:buClrTx/>
              <a:buSzTx/>
              <a:buFont typeface="Arial" pitchFamily="34" charset="0"/>
              <a:buChar char="•"/>
              <a:tabLst/>
              <a:defRPr/>
            </a:pPr>
            <a:r>
              <a:rPr lang="en-US" sz="2000" dirty="0">
                <a:solidFill>
                  <a:prstClr val="black"/>
                </a:solidFill>
                <a:latin typeface="Calibri"/>
              </a:rPr>
              <a:t>Sensitizing the KVKs, SAUs and other ICAR institutes for better coordination with the states/district agricultural officials for effective and timely implementation.</a:t>
            </a:r>
          </a:p>
          <a:p>
            <a:pPr marL="342900" marR="0" lvl="1" indent="-342900" algn="just" fontAlgn="auto">
              <a:lnSpc>
                <a:spcPct val="150000"/>
              </a:lnSpc>
              <a:spcBef>
                <a:spcPct val="20000"/>
              </a:spcBef>
              <a:spcAft>
                <a:spcPts val="0"/>
              </a:spcAft>
              <a:buClrTx/>
              <a:buSzTx/>
              <a:buFont typeface="Arial" pitchFamily="34" charset="0"/>
              <a:buChar char="•"/>
              <a:tabLst/>
              <a:defRPr/>
            </a:pPr>
            <a:r>
              <a:rPr lang="en-IN" sz="2000" dirty="0">
                <a:solidFill>
                  <a:prstClr val="black"/>
                </a:solidFill>
                <a:latin typeface="Calibri"/>
              </a:rPr>
              <a:t>To collate data &amp; analyse the impact of demonstrations on the  other farmers and acceptability of the particular technology/intervention among the farmers.</a:t>
            </a:r>
          </a:p>
          <a:p>
            <a:pPr marL="342900" marR="0" lvl="1" indent="-342900" algn="just" fontAlgn="auto">
              <a:lnSpc>
                <a:spcPct val="150000"/>
              </a:lnSpc>
              <a:spcBef>
                <a:spcPct val="20000"/>
              </a:spcBef>
              <a:spcAft>
                <a:spcPts val="0"/>
              </a:spcAft>
              <a:buClrTx/>
              <a:buSzTx/>
              <a:buFont typeface="Arial" pitchFamily="34" charset="0"/>
              <a:buChar char="•"/>
              <a:tabLst/>
              <a:defRPr/>
            </a:pPr>
            <a:r>
              <a:rPr lang="en-IN" sz="2000" dirty="0">
                <a:solidFill>
                  <a:prstClr val="black"/>
                </a:solidFill>
                <a:latin typeface="Calibri"/>
              </a:rPr>
              <a:t>To identify low yield areas of the major crops and prepare road map to address the issues with improved technologies/interventions.</a:t>
            </a:r>
          </a:p>
        </p:txBody>
      </p:sp>
    </p:spTree>
    <p:extLst>
      <p:ext uri="{BB962C8B-B14F-4D97-AF65-F5344CB8AC3E}">
        <p14:creationId xmlns:p14="http://schemas.microsoft.com/office/powerpoint/2010/main" xmlns="" val="1389216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24A8AC73-7BD8-4F6A-BDCD-49191F9BA3A7}"/>
              </a:ext>
            </a:extLst>
          </p:cNvPr>
          <p:cNvSpPr txBox="1">
            <a:spLocks/>
          </p:cNvSpPr>
          <p:nvPr/>
        </p:nvSpPr>
        <p:spPr>
          <a:xfrm>
            <a:off x="357158" y="40640"/>
            <a:ext cx="11560520" cy="678640"/>
          </a:xfrm>
          <a:prstGeom prst="rect">
            <a:avLst/>
          </a:prstGeom>
          <a:solidFill>
            <a:srgbClr val="9BBB59"/>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IN" sz="2400" b="1" dirty="0">
                <a:solidFill>
                  <a:srgbClr val="002060"/>
                </a:solidFill>
                <a:latin typeface="+mn-lt"/>
              </a:rPr>
              <a:t>PREPAREDNESS (DA&amp;FW)</a:t>
            </a:r>
          </a:p>
        </p:txBody>
      </p:sp>
      <p:sp>
        <p:nvSpPr>
          <p:cNvPr id="5" name="TextBox 4">
            <a:extLst>
              <a:ext uri="{FF2B5EF4-FFF2-40B4-BE49-F238E27FC236}">
                <a16:creationId xmlns:a16="http://schemas.microsoft.com/office/drawing/2014/main" xmlns="" id="{5176FA6A-1043-4C24-A071-5ABDF41BFC23}"/>
              </a:ext>
            </a:extLst>
          </p:cNvPr>
          <p:cNvSpPr txBox="1"/>
          <p:nvPr/>
        </p:nvSpPr>
        <p:spPr>
          <a:xfrm>
            <a:off x="357158" y="997565"/>
            <a:ext cx="11560520" cy="3460947"/>
          </a:xfrm>
          <a:prstGeom prst="rect">
            <a:avLst/>
          </a:prstGeom>
          <a:noFill/>
        </p:spPr>
        <p:txBody>
          <a:bodyPr wrap="square">
            <a:spAutoFit/>
          </a:bodyPr>
          <a:lstStyle/>
          <a:p>
            <a:pPr marL="342900" lvl="1" indent="-342900" algn="just">
              <a:lnSpc>
                <a:spcPct val="150000"/>
              </a:lnSpc>
              <a:spcBef>
                <a:spcPct val="20000"/>
              </a:spcBef>
              <a:buFont typeface="Arial" pitchFamily="34" charset="0"/>
              <a:buChar char="•"/>
              <a:defRPr/>
            </a:pPr>
            <a:r>
              <a:rPr lang="en-US" sz="2000" dirty="0">
                <a:solidFill>
                  <a:prstClr val="black"/>
                </a:solidFill>
                <a:latin typeface="Calibri"/>
              </a:rPr>
              <a:t>Close monitoring  of  flow of funds for advance planning and strategize effective implementation of various schemes by the states.</a:t>
            </a:r>
          </a:p>
          <a:p>
            <a:pPr marL="342900" lvl="1" indent="-342900" algn="just">
              <a:lnSpc>
                <a:spcPct val="150000"/>
              </a:lnSpc>
              <a:spcBef>
                <a:spcPct val="20000"/>
              </a:spcBef>
              <a:buFont typeface="Arial" pitchFamily="34" charset="0"/>
              <a:buChar char="•"/>
              <a:defRPr/>
            </a:pPr>
            <a:r>
              <a:rPr lang="en-US" sz="2000" dirty="0">
                <a:solidFill>
                  <a:prstClr val="black"/>
                </a:solidFill>
                <a:latin typeface="Calibri"/>
              </a:rPr>
              <a:t>Convergence with ATMA and other centrally supported schemes.</a:t>
            </a:r>
          </a:p>
          <a:p>
            <a:pPr marL="342900" lvl="1" indent="-342900" algn="just">
              <a:lnSpc>
                <a:spcPct val="150000"/>
              </a:lnSpc>
              <a:spcBef>
                <a:spcPct val="20000"/>
              </a:spcBef>
              <a:buFont typeface="Arial" pitchFamily="34" charset="0"/>
              <a:buChar char="•"/>
              <a:defRPr/>
            </a:pPr>
            <a:r>
              <a:rPr lang="en-US" sz="2000" dirty="0">
                <a:solidFill>
                  <a:prstClr val="black"/>
                </a:solidFill>
                <a:latin typeface="Calibri"/>
              </a:rPr>
              <a:t>Weekly video conferencing with states to  review crop situation, input availability and pest &amp; diseases status &amp; follow up action for timely supply of inputs for states/farmers.</a:t>
            </a:r>
          </a:p>
          <a:p>
            <a:pPr marL="342900" lvl="1" indent="-342900" algn="just">
              <a:lnSpc>
                <a:spcPct val="150000"/>
              </a:lnSpc>
              <a:spcBef>
                <a:spcPct val="20000"/>
              </a:spcBef>
              <a:buFont typeface="Arial" pitchFamily="34" charset="0"/>
              <a:buChar char="•"/>
              <a:defRPr/>
            </a:pPr>
            <a:r>
              <a:rPr lang="en-US" sz="2000" dirty="0">
                <a:solidFill>
                  <a:prstClr val="black"/>
                </a:solidFill>
                <a:latin typeface="Calibri"/>
              </a:rPr>
              <a:t>Drought Monitoring cell of DA&amp;FW to ensure sensitization and training </a:t>
            </a:r>
            <a:r>
              <a:rPr lang="en-US" sz="2000" dirty="0" err="1">
                <a:solidFill>
                  <a:prstClr val="black"/>
                </a:solidFill>
                <a:latin typeface="Calibri"/>
              </a:rPr>
              <a:t>programmes</a:t>
            </a:r>
            <a:r>
              <a:rPr lang="en-US" sz="2000" dirty="0">
                <a:solidFill>
                  <a:prstClr val="black"/>
                </a:solidFill>
                <a:latin typeface="Calibri"/>
              </a:rPr>
              <a:t> for the states to bring awareness and use of the contingency plans at block and </a:t>
            </a:r>
            <a:r>
              <a:rPr lang="en-US" sz="2000" dirty="0" err="1">
                <a:solidFill>
                  <a:prstClr val="black"/>
                </a:solidFill>
                <a:latin typeface="Calibri"/>
              </a:rPr>
              <a:t>panchyat</a:t>
            </a:r>
            <a:r>
              <a:rPr lang="en-US" sz="2000" dirty="0">
                <a:solidFill>
                  <a:prstClr val="black"/>
                </a:solidFill>
                <a:latin typeface="Calibri"/>
              </a:rPr>
              <a:t> level.</a:t>
            </a:r>
            <a:endParaRPr lang="en-IN" sz="2000" dirty="0">
              <a:solidFill>
                <a:prstClr val="black"/>
              </a:solidFill>
              <a:latin typeface="Calibri"/>
            </a:endParaRPr>
          </a:p>
        </p:txBody>
      </p:sp>
    </p:spTree>
    <p:extLst>
      <p:ext uri="{BB962C8B-B14F-4D97-AF65-F5344CB8AC3E}">
        <p14:creationId xmlns:p14="http://schemas.microsoft.com/office/powerpoint/2010/main" xmlns="" val="1912867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22F15A2D-2324-487D-A02A-BF46C5C580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xmlns="" id="{17A7F34E-D418-47E2-9F86-2C45BBC3121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ight Triangle 14">
            <a:extLst>
              <a:ext uri="{FF2B5EF4-FFF2-40B4-BE49-F238E27FC236}">
                <a16:creationId xmlns:a16="http://schemas.microsoft.com/office/drawing/2014/main" xmlns="" id="{2AEAFA59-923A-4F54-8B49-44C970BCC32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group of bowls with food in it&#10;&#10;Description automatically generated with low confidence">
            <a:extLst>
              <a:ext uri="{FF2B5EF4-FFF2-40B4-BE49-F238E27FC236}">
                <a16:creationId xmlns:a16="http://schemas.microsoft.com/office/drawing/2014/main" xmlns="" id="{DA189C38-5246-4B44-85FA-468B814EDEDB}"/>
              </a:ext>
            </a:extLst>
          </p:cNvPr>
          <p:cNvPicPr>
            <a:picLocks noChangeAspect="1"/>
          </p:cNvPicPr>
          <p:nvPr/>
        </p:nvPicPr>
        <p:blipFill rotWithShape="1">
          <a:blip r:embed="rId2">
            <a:extLst>
              <a:ext uri="{28A0092B-C50C-407E-A947-70E740481C1C}">
                <a14:useLocalDpi xmlns:a14="http://schemas.microsoft.com/office/drawing/2010/main" xmlns="" val="0"/>
              </a:ext>
            </a:extLst>
          </a:blip>
          <a:srcRect r="3" b="3"/>
          <a:stretch/>
        </p:blipFill>
        <p:spPr>
          <a:xfrm>
            <a:off x="2345850" y="918546"/>
            <a:ext cx="4979334" cy="4979334"/>
          </a:xfrm>
          <a:prstGeom prst="rect">
            <a:avLst/>
          </a:prstGeom>
        </p:spPr>
      </p:pic>
      <p:sp>
        <p:nvSpPr>
          <p:cNvPr id="21" name="Content Placeholder 2">
            <a:extLst>
              <a:ext uri="{FF2B5EF4-FFF2-40B4-BE49-F238E27FC236}">
                <a16:creationId xmlns:a16="http://schemas.microsoft.com/office/drawing/2014/main" xmlns="" id="{620951FD-7605-4CC0-BD68-1185D20D4D00}"/>
              </a:ext>
            </a:extLst>
          </p:cNvPr>
          <p:cNvSpPr txBox="1">
            <a:spLocks/>
          </p:cNvSpPr>
          <p:nvPr/>
        </p:nvSpPr>
        <p:spPr>
          <a:xfrm>
            <a:off x="7170439" y="2121421"/>
            <a:ext cx="4357725" cy="2428891"/>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ts val="600"/>
              </a:spcAft>
              <a:buClrTx/>
              <a:buSzTx/>
              <a:buFont typeface="Arial" panose="020B0604020202020204" pitchFamily="34" charset="0"/>
              <a:buNone/>
              <a:tabLst/>
              <a:defRPr/>
            </a:pPr>
            <a:r>
              <a:rPr kumimoji="0" lang="en-US" sz="8800" b="1" i="0" u="none" strike="noStrike" kern="1200" cap="none" spc="0" normalizeH="0" baseline="0" noProof="0" dirty="0">
                <a:ln>
                  <a:noFill/>
                </a:ln>
                <a:solidFill>
                  <a:prstClr val="black"/>
                </a:solidFill>
                <a:effectLst/>
                <a:uLnTx/>
                <a:uFillTx/>
                <a:latin typeface="Calibri"/>
                <a:ea typeface="+mn-ea"/>
                <a:cs typeface="+mn-cs"/>
              </a:rPr>
              <a:t>Thank You</a:t>
            </a:r>
          </a:p>
        </p:txBody>
      </p:sp>
    </p:spTree>
    <p:extLst>
      <p:ext uri="{BB962C8B-B14F-4D97-AF65-F5344CB8AC3E}">
        <p14:creationId xmlns:p14="http://schemas.microsoft.com/office/powerpoint/2010/main" xmlns="" val="3119649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1990</Words>
  <Application>Microsoft Office PowerPoint</Application>
  <PresentationFormat>Custom</PresentationFormat>
  <Paragraphs>672</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 NATIONAL CONFERENCE ON AGRICULTURE  (KHARIF  CAMPAIGN-2023)   03rd May, 2023</vt:lpstr>
      <vt:lpstr> NATIONAL CONFERENCE ON AGRICULTURE  (KHARIF  CAMPAIGN-2023)   03rd May, 2023</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CONFERENCE ON AGRICULTURE  (KHARIF  CAMPAIGN-2023)   03rd May, 2023</dc:title>
  <dc:creator>Rohit Sharma</dc:creator>
  <cp:lastModifiedBy>Administrator</cp:lastModifiedBy>
  <cp:revision>2</cp:revision>
  <dcterms:created xsi:type="dcterms:W3CDTF">2023-05-01T10:28:42Z</dcterms:created>
  <dcterms:modified xsi:type="dcterms:W3CDTF">2023-05-01T12:34:47Z</dcterms:modified>
</cp:coreProperties>
</file>