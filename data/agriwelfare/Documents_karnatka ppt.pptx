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diagrams/layout9.xml" ContentType="application/vnd.openxmlformats-officedocument.drawingml.diagram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diagrams/layout7.xml" ContentType="application/vnd.openxmlformats-officedocument.drawingml.diagramLayout+xml"/>
  <Override PartName="/ppt/diagrams/data8.xml" ContentType="application/vnd.openxmlformats-officedocument.drawingml.diagramData+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layout3.xml" ContentType="application/vnd.openxmlformats-officedocument.drawingml.diagramLayout+xml"/>
  <Override PartName="/ppt/diagrams/data4.xml" ContentType="application/vnd.openxmlformats-officedocument.drawingml.diagramData+xml"/>
  <Override PartName="/ppt/diagrams/colors8.xml" ContentType="application/vnd.openxmlformats-officedocument.drawingml.diagramColors+xml"/>
  <Override PartName="/ppt/diagrams/drawing9.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colors6.xml" ContentType="application/vnd.openxmlformats-officedocument.drawingml.diagramColors+xml"/>
  <Override PartName="/ppt/diagrams/quickStyle9.xml" ContentType="application/vnd.openxmlformats-officedocument.drawingml.diagramStyle+xml"/>
  <Override PartName="/ppt/diagrams/drawing7.xml" ContentType="application/vnd.ms-office.drawingml.diagramDrawing+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diagrams/quickStyle7.xml" ContentType="application/vnd.openxmlformats-officedocument.drawingml.diagramStyle+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Default Extension="png" ContentType="image/png"/>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ppt/diagrams/data9.xml" ContentType="application/vnd.openxmlformats-officedocument.drawingml.diagramData+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diagrams/colors9.xml" ContentType="application/vnd.openxmlformats-officedocument.drawingml.diagramColors+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drawing8.xml" ContentType="application/vnd.ms-office.drawingml.diagramDrawing+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77" r:id="rId2"/>
    <p:sldId id="271" r:id="rId3"/>
    <p:sldId id="272" r:id="rId4"/>
    <p:sldId id="274" r:id="rId5"/>
    <p:sldId id="267" r:id="rId6"/>
    <p:sldId id="268" r:id="rId7"/>
    <p:sldId id="269" r:id="rId8"/>
    <p:sldId id="282" r:id="rId9"/>
    <p:sldId id="284" r:id="rId10"/>
    <p:sldId id="280" r:id="rId11"/>
    <p:sldId id="285" r:id="rId12"/>
    <p:sldId id="295" r:id="rId13"/>
    <p:sldId id="292" r:id="rId14"/>
    <p:sldId id="270" r:id="rId15"/>
    <p:sldId id="276" r:id="rId16"/>
    <p:sldId id="296" r:id="rId17"/>
    <p:sldId id="275" r:id="rId18"/>
    <p:sldId id="294" r:id="rId19"/>
    <p:sldId id="287" r:id="rId20"/>
    <p:sldId id="290" r:id="rId21"/>
    <p:sldId id="262" r:id="rId22"/>
    <p:sldId id="278" r:id="rId23"/>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91" d="100"/>
          <a:sy n="91" d="100"/>
        </p:scale>
        <p:origin x="84" y="46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D6EE7C-886A-433B-9500-3990F95B7035}" type="doc">
      <dgm:prSet loTypeId="urn:microsoft.com/office/officeart/2005/8/layout/vList2" loCatId="list" qsTypeId="urn:microsoft.com/office/officeart/2005/8/quickstyle/simple1" qsCatId="simple" csTypeId="urn:microsoft.com/office/officeart/2005/8/colors/accent5_1" csCatId="accent5" phldr="1"/>
      <dgm:spPr/>
      <dgm:t>
        <a:bodyPr/>
        <a:lstStyle/>
        <a:p>
          <a:endParaRPr lang="en-US"/>
        </a:p>
      </dgm:t>
    </dgm:pt>
    <dgm:pt modelId="{C52866FC-A1FE-4D8E-A0DA-8E2AA5305CA6}">
      <dgm:prSet custT="1"/>
      <dgm:spPr/>
      <dgm:t>
        <a:bodyPr/>
        <a:lstStyle/>
        <a:p>
          <a:pPr algn="just" rtl="0"/>
          <a:r>
            <a:rPr lang="en-US" sz="1800" b="1" dirty="0" smtClean="0"/>
            <a:t>Total area in the state is 1.91 </a:t>
          </a:r>
          <a:r>
            <a:rPr lang="en-US" sz="1800" b="1" dirty="0" err="1" smtClean="0"/>
            <a:t>lakh</a:t>
          </a:r>
          <a:r>
            <a:rPr lang="en-US" sz="1800" b="1" dirty="0" smtClean="0"/>
            <a:t> sq </a:t>
          </a:r>
          <a:r>
            <a:rPr lang="en-US" sz="1800" b="1" dirty="0" err="1" smtClean="0"/>
            <a:t>kms</a:t>
          </a:r>
          <a:r>
            <a:rPr lang="en-US" sz="1800" b="1" dirty="0" smtClean="0"/>
            <a:t>, of which 118.05 </a:t>
          </a:r>
          <a:r>
            <a:rPr lang="en-US" sz="1800" b="1" dirty="0" err="1" smtClean="0"/>
            <a:t>lakh</a:t>
          </a:r>
          <a:r>
            <a:rPr lang="en-US" sz="1800" b="1" dirty="0" smtClean="0"/>
            <a:t> hectare is cultivable. Cropping intensity 122%</a:t>
          </a:r>
          <a:endParaRPr lang="en-US" sz="1800" dirty="0"/>
        </a:p>
      </dgm:t>
    </dgm:pt>
    <dgm:pt modelId="{5BE8B786-F826-4D8E-B84C-4A1776A28542}" type="parTrans" cxnId="{945F4EA4-053D-4F3D-9424-BD5A78D59B20}">
      <dgm:prSet/>
      <dgm:spPr/>
      <dgm:t>
        <a:bodyPr/>
        <a:lstStyle/>
        <a:p>
          <a:pPr algn="just"/>
          <a:endParaRPr lang="en-US" sz="1800"/>
        </a:p>
      </dgm:t>
    </dgm:pt>
    <dgm:pt modelId="{13844DD2-2367-4A48-86A0-C7C12F66A5C7}" type="sibTrans" cxnId="{945F4EA4-053D-4F3D-9424-BD5A78D59B20}">
      <dgm:prSet/>
      <dgm:spPr/>
      <dgm:t>
        <a:bodyPr/>
        <a:lstStyle/>
        <a:p>
          <a:pPr algn="just"/>
          <a:endParaRPr lang="en-US" sz="1800"/>
        </a:p>
      </dgm:t>
    </dgm:pt>
    <dgm:pt modelId="{2B8E74B8-C680-4248-AC41-171639CBB790}">
      <dgm:prSet custT="1"/>
      <dgm:spPr/>
      <dgm:t>
        <a:bodyPr/>
        <a:lstStyle/>
        <a:p>
          <a:pPr algn="just" rtl="0"/>
          <a:r>
            <a:rPr lang="en-US" sz="1800" b="1" dirty="0" smtClean="0"/>
            <a:t>16 districts out of 31 are drought prone. It is second most drought prone State of the Country.</a:t>
          </a:r>
          <a:endParaRPr lang="en-US" sz="1800" dirty="0"/>
        </a:p>
      </dgm:t>
    </dgm:pt>
    <dgm:pt modelId="{58CA7CD2-391E-4F0E-84C7-520C0EFD2B5E}" type="parTrans" cxnId="{EAE36A8E-830B-4DD9-9E3E-D6AF7E6112F2}">
      <dgm:prSet/>
      <dgm:spPr/>
      <dgm:t>
        <a:bodyPr/>
        <a:lstStyle/>
        <a:p>
          <a:pPr algn="just"/>
          <a:endParaRPr lang="en-US" sz="1800"/>
        </a:p>
      </dgm:t>
    </dgm:pt>
    <dgm:pt modelId="{C9967120-6475-42F6-91CE-F7B02796D550}" type="sibTrans" cxnId="{EAE36A8E-830B-4DD9-9E3E-D6AF7E6112F2}">
      <dgm:prSet/>
      <dgm:spPr/>
      <dgm:t>
        <a:bodyPr/>
        <a:lstStyle/>
        <a:p>
          <a:pPr algn="just"/>
          <a:endParaRPr lang="en-US" sz="1800"/>
        </a:p>
      </dgm:t>
    </dgm:pt>
    <dgm:pt modelId="{544F1AB7-D52F-4A76-89D5-C8D24F4BEB2E}">
      <dgm:prSet custT="1"/>
      <dgm:spPr/>
      <dgm:t>
        <a:bodyPr/>
        <a:lstStyle/>
        <a:p>
          <a:pPr algn="just" rtl="0"/>
          <a:r>
            <a:rPr lang="en-US" sz="1800" b="1" dirty="0" smtClean="0"/>
            <a:t>The area under irrigation in Karnataka is 30.66% of the total agricultural land. Tank and well irrigation is pre-dominant.</a:t>
          </a:r>
          <a:endParaRPr lang="en-US" sz="1800" dirty="0"/>
        </a:p>
      </dgm:t>
    </dgm:pt>
    <dgm:pt modelId="{5F2B98FB-A198-4BE9-8EED-6BDB39558E2C}" type="parTrans" cxnId="{54871DC0-F148-475D-9365-13B7671E5943}">
      <dgm:prSet/>
      <dgm:spPr/>
      <dgm:t>
        <a:bodyPr/>
        <a:lstStyle/>
        <a:p>
          <a:pPr algn="just"/>
          <a:endParaRPr lang="en-US" sz="1800"/>
        </a:p>
      </dgm:t>
    </dgm:pt>
    <dgm:pt modelId="{8F785F48-EFB4-4BED-9546-06C231AD3B38}" type="sibTrans" cxnId="{54871DC0-F148-475D-9365-13B7671E5943}">
      <dgm:prSet/>
      <dgm:spPr/>
      <dgm:t>
        <a:bodyPr/>
        <a:lstStyle/>
        <a:p>
          <a:pPr algn="just"/>
          <a:endParaRPr lang="en-US" sz="1800"/>
        </a:p>
      </dgm:t>
    </dgm:pt>
    <dgm:pt modelId="{B8799B16-9D5B-45D3-A890-63406FE1D34B}">
      <dgm:prSet custT="1"/>
      <dgm:spPr/>
      <dgm:t>
        <a:bodyPr/>
        <a:lstStyle/>
        <a:p>
          <a:pPr algn="just" rtl="0"/>
          <a:r>
            <a:rPr lang="en-US" sz="1800" b="1" dirty="0" smtClean="0"/>
            <a:t>Irrigated area wise, it ranks 12th in the country after Punjab-98.8%, Haryana-90.4%, </a:t>
          </a:r>
          <a:r>
            <a:rPr lang="en-US" sz="1800" b="1" dirty="0" err="1" smtClean="0"/>
            <a:t>Puducherry</a:t>
          </a:r>
          <a:r>
            <a:rPr lang="en-US" sz="1800" b="1" dirty="0" smtClean="0"/>
            <a:t>  82.3%, Uttar Pradesh-80.3%, Bihar-69.8% etc.</a:t>
          </a:r>
          <a:endParaRPr lang="en-US" sz="1800" dirty="0"/>
        </a:p>
      </dgm:t>
    </dgm:pt>
    <dgm:pt modelId="{5294AEA5-9D78-4E98-A6CC-FE429A10C58D}" type="parTrans" cxnId="{7EBCF9FC-7FBC-400D-AD25-F9E60BE0F84B}">
      <dgm:prSet/>
      <dgm:spPr/>
      <dgm:t>
        <a:bodyPr/>
        <a:lstStyle/>
        <a:p>
          <a:pPr algn="just"/>
          <a:endParaRPr lang="en-US" sz="1800"/>
        </a:p>
      </dgm:t>
    </dgm:pt>
    <dgm:pt modelId="{02BC8DA2-F6C3-472A-A6E1-3B9E01D5D679}" type="sibTrans" cxnId="{7EBCF9FC-7FBC-400D-AD25-F9E60BE0F84B}">
      <dgm:prSet/>
      <dgm:spPr/>
      <dgm:t>
        <a:bodyPr/>
        <a:lstStyle/>
        <a:p>
          <a:pPr algn="just"/>
          <a:endParaRPr lang="en-US" sz="1800"/>
        </a:p>
      </dgm:t>
    </dgm:pt>
    <dgm:pt modelId="{E8191796-88AC-401A-94D9-D61F4CE24478}">
      <dgm:prSet custT="1"/>
      <dgm:spPr/>
      <dgm:t>
        <a:bodyPr/>
        <a:lstStyle/>
        <a:p>
          <a:pPr algn="just" rtl="0"/>
          <a:r>
            <a:rPr lang="en-US" sz="1800" b="1" dirty="0" smtClean="0"/>
            <a:t>The consumption of chemical fertilizer is 143 Kg /hectare and  usage of chemical pesticides is 1.73Kg/hectare.</a:t>
          </a:r>
          <a:endParaRPr lang="en-US" sz="1800" dirty="0"/>
        </a:p>
      </dgm:t>
    </dgm:pt>
    <dgm:pt modelId="{5C369362-B845-4CC8-B21D-8B1A58A2DDD7}" type="parTrans" cxnId="{874018C8-FF75-4FA6-821B-AE19A48AD3F3}">
      <dgm:prSet/>
      <dgm:spPr/>
      <dgm:t>
        <a:bodyPr/>
        <a:lstStyle/>
        <a:p>
          <a:pPr algn="just"/>
          <a:endParaRPr lang="en-US" sz="1800"/>
        </a:p>
      </dgm:t>
    </dgm:pt>
    <dgm:pt modelId="{9056B352-9677-4617-A837-2102D7667BB3}" type="sibTrans" cxnId="{874018C8-FF75-4FA6-821B-AE19A48AD3F3}">
      <dgm:prSet/>
      <dgm:spPr/>
      <dgm:t>
        <a:bodyPr/>
        <a:lstStyle/>
        <a:p>
          <a:pPr algn="just"/>
          <a:endParaRPr lang="en-US" sz="1800"/>
        </a:p>
      </dgm:t>
    </dgm:pt>
    <dgm:pt modelId="{6D57136D-276D-473F-BF44-106AE02F4489}" type="pres">
      <dgm:prSet presAssocID="{DAD6EE7C-886A-433B-9500-3990F95B7035}" presName="linear" presStyleCnt="0">
        <dgm:presLayoutVars>
          <dgm:animLvl val="lvl"/>
          <dgm:resizeHandles val="exact"/>
        </dgm:presLayoutVars>
      </dgm:prSet>
      <dgm:spPr/>
      <dgm:t>
        <a:bodyPr/>
        <a:lstStyle/>
        <a:p>
          <a:endParaRPr lang="en-US"/>
        </a:p>
      </dgm:t>
    </dgm:pt>
    <dgm:pt modelId="{2BD268D1-C5E3-4BA8-9C3D-4E66DE12358E}" type="pres">
      <dgm:prSet presAssocID="{C52866FC-A1FE-4D8E-A0DA-8E2AA5305CA6}" presName="parentText" presStyleLbl="node1" presStyleIdx="0" presStyleCnt="5">
        <dgm:presLayoutVars>
          <dgm:chMax val="0"/>
          <dgm:bulletEnabled val="1"/>
        </dgm:presLayoutVars>
      </dgm:prSet>
      <dgm:spPr/>
      <dgm:t>
        <a:bodyPr/>
        <a:lstStyle/>
        <a:p>
          <a:endParaRPr lang="en-US"/>
        </a:p>
      </dgm:t>
    </dgm:pt>
    <dgm:pt modelId="{28F1D615-D0F0-480B-B79C-C99D2AF8B3CB}" type="pres">
      <dgm:prSet presAssocID="{13844DD2-2367-4A48-86A0-C7C12F66A5C7}" presName="spacer" presStyleCnt="0"/>
      <dgm:spPr/>
    </dgm:pt>
    <dgm:pt modelId="{21AB9C20-B650-4001-9BCD-884FDF4F3272}" type="pres">
      <dgm:prSet presAssocID="{2B8E74B8-C680-4248-AC41-171639CBB790}" presName="parentText" presStyleLbl="node1" presStyleIdx="1" presStyleCnt="5">
        <dgm:presLayoutVars>
          <dgm:chMax val="0"/>
          <dgm:bulletEnabled val="1"/>
        </dgm:presLayoutVars>
      </dgm:prSet>
      <dgm:spPr/>
      <dgm:t>
        <a:bodyPr/>
        <a:lstStyle/>
        <a:p>
          <a:endParaRPr lang="en-US"/>
        </a:p>
      </dgm:t>
    </dgm:pt>
    <dgm:pt modelId="{8E3E70CB-104A-4BDD-9B82-F7B1F17E8CE7}" type="pres">
      <dgm:prSet presAssocID="{C9967120-6475-42F6-91CE-F7B02796D550}" presName="spacer" presStyleCnt="0"/>
      <dgm:spPr/>
    </dgm:pt>
    <dgm:pt modelId="{E4E28DEF-A49C-473E-A150-C778FD4D5275}" type="pres">
      <dgm:prSet presAssocID="{544F1AB7-D52F-4A76-89D5-C8D24F4BEB2E}" presName="parentText" presStyleLbl="node1" presStyleIdx="2" presStyleCnt="5">
        <dgm:presLayoutVars>
          <dgm:chMax val="0"/>
          <dgm:bulletEnabled val="1"/>
        </dgm:presLayoutVars>
      </dgm:prSet>
      <dgm:spPr/>
      <dgm:t>
        <a:bodyPr/>
        <a:lstStyle/>
        <a:p>
          <a:endParaRPr lang="en-US"/>
        </a:p>
      </dgm:t>
    </dgm:pt>
    <dgm:pt modelId="{78849BAF-81D0-48BC-80B3-82F5E8A37E91}" type="pres">
      <dgm:prSet presAssocID="{8F785F48-EFB4-4BED-9546-06C231AD3B38}" presName="spacer" presStyleCnt="0"/>
      <dgm:spPr/>
    </dgm:pt>
    <dgm:pt modelId="{C89A6D92-8C20-4D54-9B5C-ED1F7C2938C1}" type="pres">
      <dgm:prSet presAssocID="{B8799B16-9D5B-45D3-A890-63406FE1D34B}" presName="parentText" presStyleLbl="node1" presStyleIdx="3" presStyleCnt="5">
        <dgm:presLayoutVars>
          <dgm:chMax val="0"/>
          <dgm:bulletEnabled val="1"/>
        </dgm:presLayoutVars>
      </dgm:prSet>
      <dgm:spPr/>
      <dgm:t>
        <a:bodyPr/>
        <a:lstStyle/>
        <a:p>
          <a:endParaRPr lang="en-US"/>
        </a:p>
      </dgm:t>
    </dgm:pt>
    <dgm:pt modelId="{E2169A8D-DC08-4B11-BF46-7066B11E9710}" type="pres">
      <dgm:prSet presAssocID="{02BC8DA2-F6C3-472A-A6E1-3B9E01D5D679}" presName="spacer" presStyleCnt="0"/>
      <dgm:spPr/>
    </dgm:pt>
    <dgm:pt modelId="{59204806-2BC8-4A23-8AB7-03BE9951C4D6}" type="pres">
      <dgm:prSet presAssocID="{E8191796-88AC-401A-94D9-D61F4CE24478}" presName="parentText" presStyleLbl="node1" presStyleIdx="4" presStyleCnt="5">
        <dgm:presLayoutVars>
          <dgm:chMax val="0"/>
          <dgm:bulletEnabled val="1"/>
        </dgm:presLayoutVars>
      </dgm:prSet>
      <dgm:spPr/>
      <dgm:t>
        <a:bodyPr/>
        <a:lstStyle/>
        <a:p>
          <a:endParaRPr lang="en-US"/>
        </a:p>
      </dgm:t>
    </dgm:pt>
  </dgm:ptLst>
  <dgm:cxnLst>
    <dgm:cxn modelId="{729F9EF0-FAE1-48E4-AF87-138854F95A7E}" type="presOf" srcId="{E8191796-88AC-401A-94D9-D61F4CE24478}" destId="{59204806-2BC8-4A23-8AB7-03BE9951C4D6}" srcOrd="0" destOrd="0" presId="urn:microsoft.com/office/officeart/2005/8/layout/vList2"/>
    <dgm:cxn modelId="{20BB6B94-5A51-4939-A915-CC791EB0E8AE}" type="presOf" srcId="{2B8E74B8-C680-4248-AC41-171639CBB790}" destId="{21AB9C20-B650-4001-9BCD-884FDF4F3272}" srcOrd="0" destOrd="0" presId="urn:microsoft.com/office/officeart/2005/8/layout/vList2"/>
    <dgm:cxn modelId="{945F4EA4-053D-4F3D-9424-BD5A78D59B20}" srcId="{DAD6EE7C-886A-433B-9500-3990F95B7035}" destId="{C52866FC-A1FE-4D8E-A0DA-8E2AA5305CA6}" srcOrd="0" destOrd="0" parTransId="{5BE8B786-F826-4D8E-B84C-4A1776A28542}" sibTransId="{13844DD2-2367-4A48-86A0-C7C12F66A5C7}"/>
    <dgm:cxn modelId="{874018C8-FF75-4FA6-821B-AE19A48AD3F3}" srcId="{DAD6EE7C-886A-433B-9500-3990F95B7035}" destId="{E8191796-88AC-401A-94D9-D61F4CE24478}" srcOrd="4" destOrd="0" parTransId="{5C369362-B845-4CC8-B21D-8B1A58A2DDD7}" sibTransId="{9056B352-9677-4617-A837-2102D7667BB3}"/>
    <dgm:cxn modelId="{EAE36A8E-830B-4DD9-9E3E-D6AF7E6112F2}" srcId="{DAD6EE7C-886A-433B-9500-3990F95B7035}" destId="{2B8E74B8-C680-4248-AC41-171639CBB790}" srcOrd="1" destOrd="0" parTransId="{58CA7CD2-391E-4F0E-84C7-520C0EFD2B5E}" sibTransId="{C9967120-6475-42F6-91CE-F7B02796D550}"/>
    <dgm:cxn modelId="{54871DC0-F148-475D-9365-13B7671E5943}" srcId="{DAD6EE7C-886A-433B-9500-3990F95B7035}" destId="{544F1AB7-D52F-4A76-89D5-C8D24F4BEB2E}" srcOrd="2" destOrd="0" parTransId="{5F2B98FB-A198-4BE9-8EED-6BDB39558E2C}" sibTransId="{8F785F48-EFB4-4BED-9546-06C231AD3B38}"/>
    <dgm:cxn modelId="{4ABA00B9-FEFC-4848-AD3F-0057F74AA487}" type="presOf" srcId="{544F1AB7-D52F-4A76-89D5-C8D24F4BEB2E}" destId="{E4E28DEF-A49C-473E-A150-C778FD4D5275}" srcOrd="0" destOrd="0" presId="urn:microsoft.com/office/officeart/2005/8/layout/vList2"/>
    <dgm:cxn modelId="{B6C27E28-1C5E-4F7E-8C67-B073E7ADC545}" type="presOf" srcId="{C52866FC-A1FE-4D8E-A0DA-8E2AA5305CA6}" destId="{2BD268D1-C5E3-4BA8-9C3D-4E66DE12358E}" srcOrd="0" destOrd="0" presId="urn:microsoft.com/office/officeart/2005/8/layout/vList2"/>
    <dgm:cxn modelId="{FB13AEB8-5400-4645-A5AB-EE68662978F0}" type="presOf" srcId="{DAD6EE7C-886A-433B-9500-3990F95B7035}" destId="{6D57136D-276D-473F-BF44-106AE02F4489}" srcOrd="0" destOrd="0" presId="urn:microsoft.com/office/officeart/2005/8/layout/vList2"/>
    <dgm:cxn modelId="{02DECAA7-FD55-4309-A0D4-A6FADA7EEE84}" type="presOf" srcId="{B8799B16-9D5B-45D3-A890-63406FE1D34B}" destId="{C89A6D92-8C20-4D54-9B5C-ED1F7C2938C1}" srcOrd="0" destOrd="0" presId="urn:microsoft.com/office/officeart/2005/8/layout/vList2"/>
    <dgm:cxn modelId="{7EBCF9FC-7FBC-400D-AD25-F9E60BE0F84B}" srcId="{DAD6EE7C-886A-433B-9500-3990F95B7035}" destId="{B8799B16-9D5B-45D3-A890-63406FE1D34B}" srcOrd="3" destOrd="0" parTransId="{5294AEA5-9D78-4E98-A6CC-FE429A10C58D}" sibTransId="{02BC8DA2-F6C3-472A-A6E1-3B9E01D5D679}"/>
    <dgm:cxn modelId="{64F40208-BD49-4FD2-B976-3CBBB35018BC}" type="presParOf" srcId="{6D57136D-276D-473F-BF44-106AE02F4489}" destId="{2BD268D1-C5E3-4BA8-9C3D-4E66DE12358E}" srcOrd="0" destOrd="0" presId="urn:microsoft.com/office/officeart/2005/8/layout/vList2"/>
    <dgm:cxn modelId="{C6BCCC7A-28D8-4488-80A7-61E1A899540C}" type="presParOf" srcId="{6D57136D-276D-473F-BF44-106AE02F4489}" destId="{28F1D615-D0F0-480B-B79C-C99D2AF8B3CB}" srcOrd="1" destOrd="0" presId="urn:microsoft.com/office/officeart/2005/8/layout/vList2"/>
    <dgm:cxn modelId="{7DA83F6C-14F4-4543-B9A3-19270BA0B8ED}" type="presParOf" srcId="{6D57136D-276D-473F-BF44-106AE02F4489}" destId="{21AB9C20-B650-4001-9BCD-884FDF4F3272}" srcOrd="2" destOrd="0" presId="urn:microsoft.com/office/officeart/2005/8/layout/vList2"/>
    <dgm:cxn modelId="{D3DCE6B7-FBFD-4DCF-B518-CA92B062209C}" type="presParOf" srcId="{6D57136D-276D-473F-BF44-106AE02F4489}" destId="{8E3E70CB-104A-4BDD-9B82-F7B1F17E8CE7}" srcOrd="3" destOrd="0" presId="urn:microsoft.com/office/officeart/2005/8/layout/vList2"/>
    <dgm:cxn modelId="{99E605CC-F07D-4C4C-9F39-F35156071B2E}" type="presParOf" srcId="{6D57136D-276D-473F-BF44-106AE02F4489}" destId="{E4E28DEF-A49C-473E-A150-C778FD4D5275}" srcOrd="4" destOrd="0" presId="urn:microsoft.com/office/officeart/2005/8/layout/vList2"/>
    <dgm:cxn modelId="{B1A5F106-990A-4E68-B067-66D2D7174CF2}" type="presParOf" srcId="{6D57136D-276D-473F-BF44-106AE02F4489}" destId="{78849BAF-81D0-48BC-80B3-82F5E8A37E91}" srcOrd="5" destOrd="0" presId="urn:microsoft.com/office/officeart/2005/8/layout/vList2"/>
    <dgm:cxn modelId="{90E3D955-D88C-4FAE-8C31-A7F522BE27BF}" type="presParOf" srcId="{6D57136D-276D-473F-BF44-106AE02F4489}" destId="{C89A6D92-8C20-4D54-9B5C-ED1F7C2938C1}" srcOrd="6" destOrd="0" presId="urn:microsoft.com/office/officeart/2005/8/layout/vList2"/>
    <dgm:cxn modelId="{F11A7106-8F3B-4318-8ECE-E39C51C4B331}" type="presParOf" srcId="{6D57136D-276D-473F-BF44-106AE02F4489}" destId="{E2169A8D-DC08-4B11-BF46-7066B11E9710}" srcOrd="7" destOrd="0" presId="urn:microsoft.com/office/officeart/2005/8/layout/vList2"/>
    <dgm:cxn modelId="{F7E9F245-3FDE-416B-9196-FC687AA9D68B}" type="presParOf" srcId="{6D57136D-276D-473F-BF44-106AE02F4489}" destId="{59204806-2BC8-4A23-8AB7-03BE9951C4D6}" srcOrd="8" destOrd="0" presId="urn:microsoft.com/office/officeart/2005/8/layout/vList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F88578-DAC1-4FC4-A80E-176F13A67966}" type="doc">
      <dgm:prSet loTypeId="urn:microsoft.com/office/officeart/2005/8/layout/target3" loCatId="relationship" qsTypeId="urn:microsoft.com/office/officeart/2005/8/quickstyle/simple1" qsCatId="simple" csTypeId="urn:microsoft.com/office/officeart/2005/8/colors/accent3_2" csCatId="accent3" phldr="1"/>
      <dgm:spPr/>
      <dgm:t>
        <a:bodyPr/>
        <a:lstStyle/>
        <a:p>
          <a:endParaRPr lang="en-US"/>
        </a:p>
      </dgm:t>
    </dgm:pt>
    <dgm:pt modelId="{19798B27-2006-4584-988E-7A201494FD48}">
      <dgm:prSet/>
      <dgm:spPr/>
      <dgm:t>
        <a:bodyPr/>
        <a:lstStyle/>
        <a:p>
          <a:pPr rtl="0"/>
          <a:r>
            <a:rPr lang="en-US" b="1" dirty="0" smtClean="0"/>
            <a:t>UNIQUE ACOMPLISHMENTS AND PROGRAMMES OF KARNATAKA</a:t>
          </a:r>
          <a:endParaRPr lang="en-IN" b="1" dirty="0"/>
        </a:p>
      </dgm:t>
    </dgm:pt>
    <dgm:pt modelId="{6182F59C-E4AE-42EB-9FB1-51BA506E5199}" type="parTrans" cxnId="{974AB749-C736-45E5-8352-8C51F48F137F}">
      <dgm:prSet/>
      <dgm:spPr/>
      <dgm:t>
        <a:bodyPr/>
        <a:lstStyle/>
        <a:p>
          <a:endParaRPr lang="en-US"/>
        </a:p>
      </dgm:t>
    </dgm:pt>
    <dgm:pt modelId="{D76D6B82-4B6A-4DFB-94F2-4BE65A1E0C7B}" type="sibTrans" cxnId="{974AB749-C736-45E5-8352-8C51F48F137F}">
      <dgm:prSet/>
      <dgm:spPr/>
      <dgm:t>
        <a:bodyPr/>
        <a:lstStyle/>
        <a:p>
          <a:endParaRPr lang="en-US"/>
        </a:p>
      </dgm:t>
    </dgm:pt>
    <dgm:pt modelId="{5FE1177D-0D2A-409C-9F1D-84C660B3FA77}" type="pres">
      <dgm:prSet presAssocID="{91F88578-DAC1-4FC4-A80E-176F13A67966}" presName="Name0" presStyleCnt="0">
        <dgm:presLayoutVars>
          <dgm:chMax val="7"/>
          <dgm:dir/>
          <dgm:animLvl val="lvl"/>
          <dgm:resizeHandles val="exact"/>
        </dgm:presLayoutVars>
      </dgm:prSet>
      <dgm:spPr/>
      <dgm:t>
        <a:bodyPr/>
        <a:lstStyle/>
        <a:p>
          <a:endParaRPr lang="en-US"/>
        </a:p>
      </dgm:t>
    </dgm:pt>
    <dgm:pt modelId="{42DD1906-EEE0-42E5-9EF6-9FDE5715C1A5}" type="pres">
      <dgm:prSet presAssocID="{19798B27-2006-4584-988E-7A201494FD48}" presName="circle1" presStyleLbl="node1" presStyleIdx="0" presStyleCnt="1"/>
      <dgm:spPr/>
    </dgm:pt>
    <dgm:pt modelId="{8316A788-1E48-4385-BAC9-8365FD37DAB7}" type="pres">
      <dgm:prSet presAssocID="{19798B27-2006-4584-988E-7A201494FD48}" presName="space" presStyleCnt="0"/>
      <dgm:spPr/>
    </dgm:pt>
    <dgm:pt modelId="{90FE8558-E41D-48F5-9EFA-2716E9FCCA8D}" type="pres">
      <dgm:prSet presAssocID="{19798B27-2006-4584-988E-7A201494FD48}" presName="rect1" presStyleLbl="alignAcc1" presStyleIdx="0" presStyleCnt="1"/>
      <dgm:spPr/>
      <dgm:t>
        <a:bodyPr/>
        <a:lstStyle/>
        <a:p>
          <a:endParaRPr lang="en-US"/>
        </a:p>
      </dgm:t>
    </dgm:pt>
    <dgm:pt modelId="{9BC8739D-9501-4956-92A6-E7E4071DE0CF}" type="pres">
      <dgm:prSet presAssocID="{19798B27-2006-4584-988E-7A201494FD48}" presName="rect1ParTxNoCh" presStyleLbl="alignAcc1" presStyleIdx="0" presStyleCnt="1">
        <dgm:presLayoutVars>
          <dgm:chMax val="1"/>
          <dgm:bulletEnabled val="1"/>
        </dgm:presLayoutVars>
      </dgm:prSet>
      <dgm:spPr/>
      <dgm:t>
        <a:bodyPr/>
        <a:lstStyle/>
        <a:p>
          <a:endParaRPr lang="en-US"/>
        </a:p>
      </dgm:t>
    </dgm:pt>
  </dgm:ptLst>
  <dgm:cxnLst>
    <dgm:cxn modelId="{C6084664-CF77-471A-9446-8ABCCBD3F116}" type="presOf" srcId="{19798B27-2006-4584-988E-7A201494FD48}" destId="{90FE8558-E41D-48F5-9EFA-2716E9FCCA8D}" srcOrd="0" destOrd="0" presId="urn:microsoft.com/office/officeart/2005/8/layout/target3"/>
    <dgm:cxn modelId="{36225B3C-3227-4ADE-8084-63B101B23536}" type="presOf" srcId="{91F88578-DAC1-4FC4-A80E-176F13A67966}" destId="{5FE1177D-0D2A-409C-9F1D-84C660B3FA77}" srcOrd="0" destOrd="0" presId="urn:microsoft.com/office/officeart/2005/8/layout/target3"/>
    <dgm:cxn modelId="{974AB749-C736-45E5-8352-8C51F48F137F}" srcId="{91F88578-DAC1-4FC4-A80E-176F13A67966}" destId="{19798B27-2006-4584-988E-7A201494FD48}" srcOrd="0" destOrd="0" parTransId="{6182F59C-E4AE-42EB-9FB1-51BA506E5199}" sibTransId="{D76D6B82-4B6A-4DFB-94F2-4BE65A1E0C7B}"/>
    <dgm:cxn modelId="{9805F7C9-311C-4D6D-8926-6C75D87C9252}" type="presOf" srcId="{19798B27-2006-4584-988E-7A201494FD48}" destId="{9BC8739D-9501-4956-92A6-E7E4071DE0CF}" srcOrd="1" destOrd="0" presId="urn:microsoft.com/office/officeart/2005/8/layout/target3"/>
    <dgm:cxn modelId="{295FAD6B-2671-4293-A9E4-1EB14E4B9FD7}" type="presParOf" srcId="{5FE1177D-0D2A-409C-9F1D-84C660B3FA77}" destId="{42DD1906-EEE0-42E5-9EF6-9FDE5715C1A5}" srcOrd="0" destOrd="0" presId="urn:microsoft.com/office/officeart/2005/8/layout/target3"/>
    <dgm:cxn modelId="{D4243C1C-587C-4BF5-9C47-9B366817DA52}" type="presParOf" srcId="{5FE1177D-0D2A-409C-9F1D-84C660B3FA77}" destId="{8316A788-1E48-4385-BAC9-8365FD37DAB7}" srcOrd="1" destOrd="0" presId="urn:microsoft.com/office/officeart/2005/8/layout/target3"/>
    <dgm:cxn modelId="{707C8CD4-C537-405E-A602-F0F0CC336CA7}" type="presParOf" srcId="{5FE1177D-0D2A-409C-9F1D-84C660B3FA77}" destId="{90FE8558-E41D-48F5-9EFA-2716E9FCCA8D}" srcOrd="2" destOrd="0" presId="urn:microsoft.com/office/officeart/2005/8/layout/target3"/>
    <dgm:cxn modelId="{6FB2C6A4-E238-4783-BD27-BEE390D478A6}" type="presParOf" srcId="{5FE1177D-0D2A-409C-9F1D-84C660B3FA77}" destId="{9BC8739D-9501-4956-92A6-E7E4071DE0CF}" srcOrd="3" destOrd="0" presId="urn:microsoft.com/office/officeart/2005/8/layout/target3"/>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87AFFC-3974-4265-A810-1A4C6CA355EE}"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EC21F24F-CB99-42F5-A049-BCEACF8233C9}">
      <dgm:prSet custT="1"/>
      <dgm:spPr/>
      <dgm:t>
        <a:bodyPr/>
        <a:lstStyle/>
        <a:p>
          <a:pPr algn="just" rtl="0"/>
          <a:r>
            <a:rPr lang="en-US" sz="2200" b="1" dirty="0" smtClean="0"/>
            <a:t>1. All the land records in the State are computerized and village maps, their survey numbers geo-reformed and digitized.</a:t>
          </a:r>
          <a:endParaRPr lang="en-US" sz="2200" dirty="0"/>
        </a:p>
      </dgm:t>
    </dgm:pt>
    <dgm:pt modelId="{86884976-E7B4-4D4E-844E-A63316BE9A4B}" type="parTrans" cxnId="{2198548D-988C-4037-84E5-E9F68B25895D}">
      <dgm:prSet/>
      <dgm:spPr/>
      <dgm:t>
        <a:bodyPr/>
        <a:lstStyle/>
        <a:p>
          <a:pPr algn="just"/>
          <a:endParaRPr lang="en-US" sz="2200"/>
        </a:p>
      </dgm:t>
    </dgm:pt>
    <dgm:pt modelId="{D66EE2E6-57C8-4961-8FF7-08E9AB711154}" type="sibTrans" cxnId="{2198548D-988C-4037-84E5-E9F68B25895D}">
      <dgm:prSet/>
      <dgm:spPr/>
      <dgm:t>
        <a:bodyPr/>
        <a:lstStyle/>
        <a:p>
          <a:pPr algn="just"/>
          <a:endParaRPr lang="en-US" sz="2200"/>
        </a:p>
      </dgm:t>
    </dgm:pt>
    <dgm:pt modelId="{84FF169F-1777-4D48-AF5C-DA71D33E57B2}">
      <dgm:prSet custT="1"/>
      <dgm:spPr/>
      <dgm:t>
        <a:bodyPr/>
        <a:lstStyle/>
        <a:p>
          <a:pPr algn="just" rtl="0"/>
          <a:r>
            <a:rPr lang="en-US" sz="2200" b="1" dirty="0" smtClean="0"/>
            <a:t>2. The State developed Crop Insurance portal by name </a:t>
          </a:r>
          <a:r>
            <a:rPr lang="en-US" sz="2200" b="1" dirty="0" smtClean="0">
              <a:solidFill>
                <a:srgbClr val="C00000"/>
              </a:solidFill>
            </a:rPr>
            <a:t>“</a:t>
          </a:r>
          <a:r>
            <a:rPr lang="en-US" sz="2200" b="1" dirty="0" err="1" smtClean="0">
              <a:solidFill>
                <a:srgbClr val="C00000"/>
              </a:solidFill>
            </a:rPr>
            <a:t>Samrakshane</a:t>
          </a:r>
          <a:r>
            <a:rPr lang="en-US" sz="2200" b="1" dirty="0" smtClean="0">
              <a:solidFill>
                <a:srgbClr val="C00000"/>
              </a:solidFill>
            </a:rPr>
            <a:t>” </a:t>
          </a:r>
          <a:r>
            <a:rPr lang="en-US" sz="2200" b="1" dirty="0" smtClean="0"/>
            <a:t>portal (End to End solution)- During </a:t>
          </a:r>
          <a:r>
            <a:rPr lang="en-US" sz="2200" b="1" dirty="0" err="1" smtClean="0"/>
            <a:t>Kharif</a:t>
          </a:r>
          <a:r>
            <a:rPr lang="en-US" sz="2200" b="1" dirty="0" smtClean="0"/>
            <a:t> 2021, an amount of 123.42 </a:t>
          </a:r>
          <a:r>
            <a:rPr lang="en-US" sz="2200" b="1" dirty="0" err="1" smtClean="0"/>
            <a:t>crores</a:t>
          </a:r>
          <a:r>
            <a:rPr lang="en-US" sz="2200" b="1" dirty="0" smtClean="0"/>
            <a:t> claims have been settled for 1.84 </a:t>
          </a:r>
          <a:r>
            <a:rPr lang="en-US" sz="2200" b="1" dirty="0" err="1" smtClean="0"/>
            <a:t>lakh</a:t>
          </a:r>
          <a:r>
            <a:rPr lang="en-US" sz="2200" b="1" dirty="0" smtClean="0"/>
            <a:t> farmers in terms of add on area coverage of Prevented sowing, Mid season adversity, Localized calamity and Post harvest losses.</a:t>
          </a:r>
          <a:endParaRPr lang="en-US" sz="2200" dirty="0"/>
        </a:p>
      </dgm:t>
    </dgm:pt>
    <dgm:pt modelId="{A062DC5C-6B48-4C6B-9503-276FC8450E05}" type="parTrans" cxnId="{A5577C98-FC5A-47A4-906B-45A0A169F2C8}">
      <dgm:prSet/>
      <dgm:spPr/>
      <dgm:t>
        <a:bodyPr/>
        <a:lstStyle/>
        <a:p>
          <a:pPr algn="just"/>
          <a:endParaRPr lang="en-US" sz="2200"/>
        </a:p>
      </dgm:t>
    </dgm:pt>
    <dgm:pt modelId="{0C834DD5-CEF5-4D79-8A2E-80A8E8A2C1F9}" type="sibTrans" cxnId="{A5577C98-FC5A-47A4-906B-45A0A169F2C8}">
      <dgm:prSet/>
      <dgm:spPr/>
      <dgm:t>
        <a:bodyPr/>
        <a:lstStyle/>
        <a:p>
          <a:pPr algn="just"/>
          <a:endParaRPr lang="en-US" sz="2200"/>
        </a:p>
      </dgm:t>
    </dgm:pt>
    <dgm:pt modelId="{D85044B3-3596-4907-9BF7-6100F04F5116}">
      <dgm:prSet custT="1"/>
      <dgm:spPr/>
      <dgm:t>
        <a:bodyPr/>
        <a:lstStyle/>
        <a:p>
          <a:pPr algn="just" rtl="0"/>
          <a:r>
            <a:rPr lang="en-US" sz="2200" b="1" dirty="0" smtClean="0"/>
            <a:t>3. The State has complete information of  74,91,020 farmer in its FRUITS (</a:t>
          </a:r>
          <a:r>
            <a:rPr lang="en-US" sz="2200" b="1" dirty="0" smtClean="0">
              <a:solidFill>
                <a:srgbClr val="60C344"/>
              </a:solidFill>
              <a:latin typeface="+mn-lt"/>
            </a:rPr>
            <a:t>F</a:t>
          </a:r>
          <a:r>
            <a:rPr lang="en-US" sz="2200" b="1" dirty="0" smtClean="0">
              <a:solidFill>
                <a:srgbClr val="000000"/>
              </a:solidFill>
              <a:latin typeface="+mn-lt"/>
            </a:rPr>
            <a:t>armer </a:t>
          </a:r>
          <a:r>
            <a:rPr lang="en-US" sz="2200" b="1" dirty="0" smtClean="0">
              <a:solidFill>
                <a:srgbClr val="60C344"/>
              </a:solidFill>
              <a:latin typeface="+mn-lt"/>
            </a:rPr>
            <a:t>R</a:t>
          </a:r>
          <a:r>
            <a:rPr lang="en-US" sz="2200" b="1" dirty="0" smtClean="0">
              <a:solidFill>
                <a:srgbClr val="000000"/>
              </a:solidFill>
              <a:latin typeface="+mn-lt"/>
            </a:rPr>
            <a:t>egistration and </a:t>
          </a:r>
          <a:r>
            <a:rPr lang="en-US" sz="2200" b="1" dirty="0" smtClean="0">
              <a:solidFill>
                <a:srgbClr val="60C344"/>
              </a:solidFill>
              <a:latin typeface="+mn-lt"/>
            </a:rPr>
            <a:t>U</a:t>
          </a:r>
          <a:r>
            <a:rPr lang="en-US" sz="2200" b="1" dirty="0" smtClean="0">
              <a:solidFill>
                <a:srgbClr val="000000"/>
              </a:solidFill>
              <a:latin typeface="+mn-lt"/>
            </a:rPr>
            <a:t>nified beneficiary </a:t>
          </a:r>
          <a:r>
            <a:rPr lang="en-US" sz="2200" b="1" dirty="0" err="1" smtClean="0">
              <a:solidFill>
                <a:srgbClr val="60C344"/>
              </a:solidFill>
              <a:latin typeface="+mn-lt"/>
            </a:rPr>
            <a:t>I</a:t>
          </a:r>
          <a:r>
            <a:rPr lang="en-US" sz="2200" b="1" dirty="0" err="1" smtClean="0">
              <a:solidFill>
                <a:srgbClr val="000000"/>
              </a:solidFill>
              <a:latin typeface="+mn-lt"/>
            </a:rPr>
            <a:t>nforma</a:t>
          </a:r>
          <a:r>
            <a:rPr lang="en-US" sz="2200" b="1" dirty="0" err="1" smtClean="0">
              <a:solidFill>
                <a:srgbClr val="60C344"/>
              </a:solidFill>
              <a:latin typeface="+mn-lt"/>
            </a:rPr>
            <a:t>T</a:t>
          </a:r>
          <a:r>
            <a:rPr lang="en-US" sz="2200" b="1" dirty="0" err="1" smtClean="0">
              <a:solidFill>
                <a:srgbClr val="000000"/>
              </a:solidFill>
              <a:latin typeface="+mn-lt"/>
            </a:rPr>
            <a:t>ion</a:t>
          </a:r>
          <a:r>
            <a:rPr lang="en-US" sz="2200" b="1" dirty="0" smtClean="0">
              <a:solidFill>
                <a:srgbClr val="000000"/>
              </a:solidFill>
              <a:latin typeface="+mn-lt"/>
            </a:rPr>
            <a:t> </a:t>
          </a:r>
          <a:r>
            <a:rPr lang="en-US" sz="2200" b="1" dirty="0" smtClean="0">
              <a:solidFill>
                <a:srgbClr val="60C344"/>
              </a:solidFill>
              <a:latin typeface="+mn-lt"/>
            </a:rPr>
            <a:t>S</a:t>
          </a:r>
          <a:r>
            <a:rPr lang="en-US" sz="2200" b="1" dirty="0" smtClean="0">
              <a:solidFill>
                <a:srgbClr val="000000"/>
              </a:solidFill>
              <a:latin typeface="+mn-lt"/>
            </a:rPr>
            <a:t>ystem)</a:t>
          </a:r>
          <a:r>
            <a:rPr lang="en-US" sz="2200" b="1" dirty="0" smtClean="0"/>
            <a:t> portal. Of which 61,37,783 farmers are land holders and 13,53,237are landless.</a:t>
          </a:r>
          <a:endParaRPr lang="en-US" sz="2200" dirty="0"/>
        </a:p>
      </dgm:t>
    </dgm:pt>
    <dgm:pt modelId="{B5598286-7EC4-43BD-84B2-C6DF64E0D17E}" type="parTrans" cxnId="{144D8FFF-DAC1-47EE-BD73-CB62C5B340CA}">
      <dgm:prSet/>
      <dgm:spPr/>
      <dgm:t>
        <a:bodyPr/>
        <a:lstStyle/>
        <a:p>
          <a:pPr algn="just"/>
          <a:endParaRPr lang="en-US" sz="2200"/>
        </a:p>
      </dgm:t>
    </dgm:pt>
    <dgm:pt modelId="{B85C25EA-24A5-4CCD-8272-73A5E88B3C1B}" type="sibTrans" cxnId="{144D8FFF-DAC1-47EE-BD73-CB62C5B340CA}">
      <dgm:prSet/>
      <dgm:spPr/>
      <dgm:t>
        <a:bodyPr/>
        <a:lstStyle/>
        <a:p>
          <a:pPr algn="just"/>
          <a:endParaRPr lang="en-US" sz="2200"/>
        </a:p>
      </dgm:t>
    </dgm:pt>
    <dgm:pt modelId="{FCD38090-9E7C-4403-A494-2BA7C1D0933A}">
      <dgm:prSet custT="1"/>
      <dgm:spPr/>
      <dgm:t>
        <a:bodyPr/>
        <a:lstStyle/>
        <a:p>
          <a:pPr algn="just" rtl="0"/>
          <a:r>
            <a:rPr lang="en-US" sz="2200" b="1" dirty="0" smtClean="0"/>
            <a:t>4. The state has its K-KISAN (</a:t>
          </a:r>
          <a:r>
            <a:rPr lang="sv-SE" sz="2200" b="1" i="0" dirty="0" smtClean="0">
              <a:solidFill>
                <a:srgbClr val="00B050"/>
              </a:solidFill>
            </a:rPr>
            <a:t>K</a:t>
          </a:r>
          <a:r>
            <a:rPr lang="sv-SE" sz="2200" b="1" i="0" dirty="0" smtClean="0"/>
            <a:t>arnataka </a:t>
          </a:r>
          <a:r>
            <a:rPr lang="sv-SE" sz="2200" b="1" i="0" dirty="0" smtClean="0">
              <a:solidFill>
                <a:srgbClr val="00B050"/>
              </a:solidFill>
            </a:rPr>
            <a:t>K</a:t>
          </a:r>
          <a:r>
            <a:rPr lang="sv-SE" sz="2200" b="1" i="0" dirty="0" smtClean="0"/>
            <a:t>rishi </a:t>
          </a:r>
          <a:r>
            <a:rPr lang="sv-SE" sz="2200" b="1" i="0" dirty="0" smtClean="0">
              <a:solidFill>
                <a:srgbClr val="00B050"/>
              </a:solidFill>
            </a:rPr>
            <a:t>I</a:t>
          </a:r>
          <a:r>
            <a:rPr lang="sv-SE" sz="2200" b="1" i="0" dirty="0" smtClean="0"/>
            <a:t>nformation </a:t>
          </a:r>
          <a:r>
            <a:rPr lang="sv-SE" sz="2200" b="1" i="0" smtClean="0">
              <a:solidFill>
                <a:srgbClr val="00B050"/>
              </a:solidFill>
            </a:rPr>
            <a:t>S</a:t>
          </a:r>
          <a:r>
            <a:rPr lang="sv-SE" sz="2200" b="1" i="0" smtClean="0">
              <a:solidFill>
                <a:schemeClr val="tx1"/>
              </a:solidFill>
            </a:rPr>
            <a:t>ervice </a:t>
          </a:r>
          <a:r>
            <a:rPr lang="sv-SE" sz="2200" b="1" i="0" smtClean="0">
              <a:solidFill>
                <a:srgbClr val="92D050"/>
              </a:solidFill>
            </a:rPr>
            <a:t>A</a:t>
          </a:r>
          <a:r>
            <a:rPr lang="sv-SE" sz="2200" b="1" i="0" smtClean="0">
              <a:solidFill>
                <a:schemeClr val="tx1"/>
              </a:solidFill>
            </a:rPr>
            <a:t>rea </a:t>
          </a:r>
          <a:r>
            <a:rPr lang="sv-SE" sz="2200" b="1" i="0" smtClean="0">
              <a:solidFill>
                <a:srgbClr val="00B050"/>
              </a:solidFill>
            </a:rPr>
            <a:t>N</a:t>
          </a:r>
          <a:r>
            <a:rPr lang="sv-SE" sz="2200" b="1" i="0" smtClean="0"/>
            <a:t>etwork</a:t>
          </a:r>
          <a:r>
            <a:rPr lang="sv-SE" sz="2200" b="1" i="0" dirty="0" smtClean="0"/>
            <a:t>)</a:t>
          </a:r>
          <a:r>
            <a:rPr lang="sv-SE" sz="2200" b="0" i="0" dirty="0" smtClean="0"/>
            <a:t> </a:t>
          </a:r>
          <a:r>
            <a:rPr lang="en-US" sz="2200" b="1" dirty="0" smtClean="0"/>
            <a:t> portal in which all the benefits given to farmers under any scheme are recorded and updated.</a:t>
          </a:r>
          <a:endParaRPr lang="en-US" sz="2200" dirty="0"/>
        </a:p>
      </dgm:t>
    </dgm:pt>
    <dgm:pt modelId="{1CB3A664-E0EE-40AB-AF8A-D7BA545044E9}" type="parTrans" cxnId="{A12E52F4-C716-4D9F-BAE9-3833E97C5C15}">
      <dgm:prSet/>
      <dgm:spPr/>
      <dgm:t>
        <a:bodyPr/>
        <a:lstStyle/>
        <a:p>
          <a:pPr algn="just"/>
          <a:endParaRPr lang="en-US" sz="2200"/>
        </a:p>
      </dgm:t>
    </dgm:pt>
    <dgm:pt modelId="{68ED607D-645F-4144-A52F-CD6539BC6421}" type="sibTrans" cxnId="{A12E52F4-C716-4D9F-BAE9-3833E97C5C15}">
      <dgm:prSet/>
      <dgm:spPr/>
      <dgm:t>
        <a:bodyPr/>
        <a:lstStyle/>
        <a:p>
          <a:pPr algn="just"/>
          <a:endParaRPr lang="en-US" sz="2200"/>
        </a:p>
      </dgm:t>
    </dgm:pt>
    <dgm:pt modelId="{2218CF61-737A-419D-8070-DE647C039E71}" type="pres">
      <dgm:prSet presAssocID="{9587AFFC-3974-4265-A810-1A4C6CA355EE}" presName="linear" presStyleCnt="0">
        <dgm:presLayoutVars>
          <dgm:animLvl val="lvl"/>
          <dgm:resizeHandles val="exact"/>
        </dgm:presLayoutVars>
      </dgm:prSet>
      <dgm:spPr/>
      <dgm:t>
        <a:bodyPr/>
        <a:lstStyle/>
        <a:p>
          <a:endParaRPr lang="en-US"/>
        </a:p>
      </dgm:t>
    </dgm:pt>
    <dgm:pt modelId="{A500C683-3040-4E39-9306-0948AEFCB1E1}" type="pres">
      <dgm:prSet presAssocID="{EC21F24F-CB99-42F5-A049-BCEACF8233C9}" presName="parentText" presStyleLbl="node1" presStyleIdx="0" presStyleCnt="4" custScaleY="72111">
        <dgm:presLayoutVars>
          <dgm:chMax val="0"/>
          <dgm:bulletEnabled val="1"/>
        </dgm:presLayoutVars>
      </dgm:prSet>
      <dgm:spPr/>
      <dgm:t>
        <a:bodyPr/>
        <a:lstStyle/>
        <a:p>
          <a:endParaRPr lang="en-US"/>
        </a:p>
      </dgm:t>
    </dgm:pt>
    <dgm:pt modelId="{134A34C8-02D2-4D46-B373-5A1F4C58808C}" type="pres">
      <dgm:prSet presAssocID="{D66EE2E6-57C8-4961-8FF7-08E9AB711154}" presName="spacer" presStyleCnt="0"/>
      <dgm:spPr/>
    </dgm:pt>
    <dgm:pt modelId="{3EDCA17D-36DD-4E3A-A4D4-24F637F7E3AB}" type="pres">
      <dgm:prSet presAssocID="{84FF169F-1777-4D48-AF5C-DA71D33E57B2}" presName="parentText" presStyleLbl="node1" presStyleIdx="1" presStyleCnt="4" custScaleY="132467">
        <dgm:presLayoutVars>
          <dgm:chMax val="0"/>
          <dgm:bulletEnabled val="1"/>
        </dgm:presLayoutVars>
      </dgm:prSet>
      <dgm:spPr/>
      <dgm:t>
        <a:bodyPr/>
        <a:lstStyle/>
        <a:p>
          <a:endParaRPr lang="en-US"/>
        </a:p>
      </dgm:t>
    </dgm:pt>
    <dgm:pt modelId="{055DB8E8-C748-476A-81A0-17A90DF9C5F4}" type="pres">
      <dgm:prSet presAssocID="{0C834DD5-CEF5-4D79-8A2E-80A8E8A2C1F9}" presName="spacer" presStyleCnt="0"/>
      <dgm:spPr/>
    </dgm:pt>
    <dgm:pt modelId="{03273EEF-50F5-4970-B571-F4DFAC672511}" type="pres">
      <dgm:prSet presAssocID="{D85044B3-3596-4907-9BF7-6100F04F5116}" presName="parentText" presStyleLbl="node1" presStyleIdx="2" presStyleCnt="4" custScaleY="72730">
        <dgm:presLayoutVars>
          <dgm:chMax val="0"/>
          <dgm:bulletEnabled val="1"/>
        </dgm:presLayoutVars>
      </dgm:prSet>
      <dgm:spPr/>
      <dgm:t>
        <a:bodyPr/>
        <a:lstStyle/>
        <a:p>
          <a:endParaRPr lang="en-US"/>
        </a:p>
      </dgm:t>
    </dgm:pt>
    <dgm:pt modelId="{D53B737C-FFC2-4EF5-BEF1-D260AD025960}" type="pres">
      <dgm:prSet presAssocID="{B85C25EA-24A5-4CCD-8272-73A5E88B3C1B}" presName="spacer" presStyleCnt="0"/>
      <dgm:spPr/>
    </dgm:pt>
    <dgm:pt modelId="{617F976A-B819-4172-9D7D-2A0BAE4C7423}" type="pres">
      <dgm:prSet presAssocID="{FCD38090-9E7C-4403-A494-2BA7C1D0933A}" presName="parentText" presStyleLbl="node1" presStyleIdx="3" presStyleCnt="4" custScaleY="86351">
        <dgm:presLayoutVars>
          <dgm:chMax val="0"/>
          <dgm:bulletEnabled val="1"/>
        </dgm:presLayoutVars>
      </dgm:prSet>
      <dgm:spPr/>
      <dgm:t>
        <a:bodyPr/>
        <a:lstStyle/>
        <a:p>
          <a:endParaRPr lang="en-US"/>
        </a:p>
      </dgm:t>
    </dgm:pt>
  </dgm:ptLst>
  <dgm:cxnLst>
    <dgm:cxn modelId="{87EC2F74-E003-46B7-A471-113BE60C4068}" type="presOf" srcId="{D85044B3-3596-4907-9BF7-6100F04F5116}" destId="{03273EEF-50F5-4970-B571-F4DFAC672511}" srcOrd="0" destOrd="0" presId="urn:microsoft.com/office/officeart/2005/8/layout/vList2"/>
    <dgm:cxn modelId="{2FC28D81-572A-474D-BA5C-14E9D9367F44}" type="presOf" srcId="{84FF169F-1777-4D48-AF5C-DA71D33E57B2}" destId="{3EDCA17D-36DD-4E3A-A4D4-24F637F7E3AB}" srcOrd="0" destOrd="0" presId="urn:microsoft.com/office/officeart/2005/8/layout/vList2"/>
    <dgm:cxn modelId="{2198548D-988C-4037-84E5-E9F68B25895D}" srcId="{9587AFFC-3974-4265-A810-1A4C6CA355EE}" destId="{EC21F24F-CB99-42F5-A049-BCEACF8233C9}" srcOrd="0" destOrd="0" parTransId="{86884976-E7B4-4D4E-844E-A63316BE9A4B}" sibTransId="{D66EE2E6-57C8-4961-8FF7-08E9AB711154}"/>
    <dgm:cxn modelId="{A12E52F4-C716-4D9F-BAE9-3833E97C5C15}" srcId="{9587AFFC-3974-4265-A810-1A4C6CA355EE}" destId="{FCD38090-9E7C-4403-A494-2BA7C1D0933A}" srcOrd="3" destOrd="0" parTransId="{1CB3A664-E0EE-40AB-AF8A-D7BA545044E9}" sibTransId="{68ED607D-645F-4144-A52F-CD6539BC6421}"/>
    <dgm:cxn modelId="{144D8FFF-DAC1-47EE-BD73-CB62C5B340CA}" srcId="{9587AFFC-3974-4265-A810-1A4C6CA355EE}" destId="{D85044B3-3596-4907-9BF7-6100F04F5116}" srcOrd="2" destOrd="0" parTransId="{B5598286-7EC4-43BD-84B2-C6DF64E0D17E}" sibTransId="{B85C25EA-24A5-4CCD-8272-73A5E88B3C1B}"/>
    <dgm:cxn modelId="{AE98A65B-52D5-4949-AE21-B7F9DC99AF84}" type="presOf" srcId="{EC21F24F-CB99-42F5-A049-BCEACF8233C9}" destId="{A500C683-3040-4E39-9306-0948AEFCB1E1}" srcOrd="0" destOrd="0" presId="urn:microsoft.com/office/officeart/2005/8/layout/vList2"/>
    <dgm:cxn modelId="{12339ABD-8AC1-4AFC-A075-208BFFB855E3}" type="presOf" srcId="{FCD38090-9E7C-4403-A494-2BA7C1D0933A}" destId="{617F976A-B819-4172-9D7D-2A0BAE4C7423}" srcOrd="0" destOrd="0" presId="urn:microsoft.com/office/officeart/2005/8/layout/vList2"/>
    <dgm:cxn modelId="{A5577C98-FC5A-47A4-906B-45A0A169F2C8}" srcId="{9587AFFC-3974-4265-A810-1A4C6CA355EE}" destId="{84FF169F-1777-4D48-AF5C-DA71D33E57B2}" srcOrd="1" destOrd="0" parTransId="{A062DC5C-6B48-4C6B-9503-276FC8450E05}" sibTransId="{0C834DD5-CEF5-4D79-8A2E-80A8E8A2C1F9}"/>
    <dgm:cxn modelId="{0D896FEF-4318-4015-851E-52544F65A1C0}" type="presOf" srcId="{9587AFFC-3974-4265-A810-1A4C6CA355EE}" destId="{2218CF61-737A-419D-8070-DE647C039E71}" srcOrd="0" destOrd="0" presId="urn:microsoft.com/office/officeart/2005/8/layout/vList2"/>
    <dgm:cxn modelId="{158B0BC1-F584-41FC-9F5C-057B191FE688}" type="presParOf" srcId="{2218CF61-737A-419D-8070-DE647C039E71}" destId="{A500C683-3040-4E39-9306-0948AEFCB1E1}" srcOrd="0" destOrd="0" presId="urn:microsoft.com/office/officeart/2005/8/layout/vList2"/>
    <dgm:cxn modelId="{D7307FB3-F1D5-4904-8C7A-8F142648445D}" type="presParOf" srcId="{2218CF61-737A-419D-8070-DE647C039E71}" destId="{134A34C8-02D2-4D46-B373-5A1F4C58808C}" srcOrd="1" destOrd="0" presId="urn:microsoft.com/office/officeart/2005/8/layout/vList2"/>
    <dgm:cxn modelId="{F87E1214-4059-42A8-8C6B-6608B26DBA4A}" type="presParOf" srcId="{2218CF61-737A-419D-8070-DE647C039E71}" destId="{3EDCA17D-36DD-4E3A-A4D4-24F637F7E3AB}" srcOrd="2" destOrd="0" presId="urn:microsoft.com/office/officeart/2005/8/layout/vList2"/>
    <dgm:cxn modelId="{613F22EC-C7C6-4978-869C-6DBD14C72A41}" type="presParOf" srcId="{2218CF61-737A-419D-8070-DE647C039E71}" destId="{055DB8E8-C748-476A-81A0-17A90DF9C5F4}" srcOrd="3" destOrd="0" presId="urn:microsoft.com/office/officeart/2005/8/layout/vList2"/>
    <dgm:cxn modelId="{1A1755E0-2C95-47E2-82D5-FE921B8C8409}" type="presParOf" srcId="{2218CF61-737A-419D-8070-DE647C039E71}" destId="{03273EEF-50F5-4970-B571-F4DFAC672511}" srcOrd="4" destOrd="0" presId="urn:microsoft.com/office/officeart/2005/8/layout/vList2"/>
    <dgm:cxn modelId="{1A988702-ECB6-4439-A459-8AE1BF39B53C}" type="presParOf" srcId="{2218CF61-737A-419D-8070-DE647C039E71}" destId="{D53B737C-FFC2-4EF5-BEF1-D260AD025960}" srcOrd="5" destOrd="0" presId="urn:microsoft.com/office/officeart/2005/8/layout/vList2"/>
    <dgm:cxn modelId="{6C21D09A-CBF6-485E-AF2C-3BFA05154758}" type="presParOf" srcId="{2218CF61-737A-419D-8070-DE647C039E71}" destId="{617F976A-B819-4172-9D7D-2A0BAE4C7423}" srcOrd="6"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92F3C0-B3C1-4FE3-B6E0-7F94EA66617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B0A14E4-86B8-41FA-A5F5-A8EA187E997E}">
      <dgm:prSet phldrT="[Text]" custT="1"/>
      <dgm:spPr>
        <a:solidFill>
          <a:schemeClr val="bg1"/>
        </a:solidFill>
        <a:ln>
          <a:solidFill>
            <a:srgbClr val="C00000"/>
          </a:solidFill>
        </a:ln>
      </dgm:spPr>
      <dgm:t>
        <a:bodyPr/>
        <a:lstStyle/>
        <a:p>
          <a:pPr algn="just"/>
          <a:r>
            <a:rPr lang="en-US" sz="2200" b="1" dirty="0" smtClean="0">
              <a:solidFill>
                <a:schemeClr val="tx1"/>
              </a:solidFill>
            </a:rPr>
            <a:t>5. The State extends all its beneficiary payments by DBT to the financial address.</a:t>
          </a:r>
          <a:endParaRPr lang="en-US" sz="2200" dirty="0">
            <a:solidFill>
              <a:schemeClr val="tx1"/>
            </a:solidFill>
          </a:endParaRPr>
        </a:p>
      </dgm:t>
    </dgm:pt>
    <dgm:pt modelId="{A2A44E42-0731-4BE4-9AF8-6F08AB2CB3B8}" type="parTrans" cxnId="{4D7DD998-BE30-4B02-AF2A-9C80ACE53AC1}">
      <dgm:prSet/>
      <dgm:spPr/>
      <dgm:t>
        <a:bodyPr/>
        <a:lstStyle/>
        <a:p>
          <a:pPr algn="just"/>
          <a:endParaRPr lang="en-US" sz="2200">
            <a:solidFill>
              <a:schemeClr val="tx1"/>
            </a:solidFill>
          </a:endParaRPr>
        </a:p>
      </dgm:t>
    </dgm:pt>
    <dgm:pt modelId="{5E57AD97-BEEC-4863-9985-2978FAFBC6BD}" type="sibTrans" cxnId="{4D7DD998-BE30-4B02-AF2A-9C80ACE53AC1}">
      <dgm:prSet/>
      <dgm:spPr/>
      <dgm:t>
        <a:bodyPr/>
        <a:lstStyle/>
        <a:p>
          <a:pPr algn="just"/>
          <a:endParaRPr lang="en-US" sz="2200">
            <a:solidFill>
              <a:schemeClr val="tx1"/>
            </a:solidFill>
          </a:endParaRPr>
        </a:p>
      </dgm:t>
    </dgm:pt>
    <dgm:pt modelId="{8E56B53B-ECE8-4A57-A33C-5760E5646F0D}">
      <dgm:prSet phldrT="[Text]" custT="1"/>
      <dgm:spPr>
        <a:solidFill>
          <a:schemeClr val="bg1"/>
        </a:solidFill>
        <a:ln>
          <a:solidFill>
            <a:srgbClr val="C00000"/>
          </a:solidFill>
        </a:ln>
      </dgm:spPr>
      <dgm:t>
        <a:bodyPr/>
        <a:lstStyle/>
        <a:p>
          <a:pPr algn="just"/>
          <a:r>
            <a:rPr lang="en-US" sz="2200" b="1" dirty="0" smtClean="0">
              <a:solidFill>
                <a:schemeClr val="tx1"/>
              </a:solidFill>
            </a:rPr>
            <a:t>7. Directorate of Secondary Agriculture: </a:t>
          </a:r>
        </a:p>
        <a:p>
          <a:pPr algn="just"/>
          <a:r>
            <a:rPr lang="en-US" sz="2200" b="1" dirty="0" smtClean="0">
              <a:solidFill>
                <a:schemeClr val="tx1"/>
              </a:solidFill>
            </a:rPr>
            <a:t>Govt. of Karnataka is pioneer in starting </a:t>
          </a:r>
          <a:r>
            <a:rPr lang="en-US" sz="2200" b="1" i="1" dirty="0" smtClean="0">
              <a:solidFill>
                <a:schemeClr val="tx1"/>
              </a:solidFill>
            </a:rPr>
            <a:t>Separate Directorate for Secondary Agriculture</a:t>
          </a:r>
          <a:r>
            <a:rPr lang="en-US" sz="2200" b="1" dirty="0" smtClean="0">
              <a:solidFill>
                <a:schemeClr val="tx1"/>
              </a:solidFill>
            </a:rPr>
            <a:t>. This would facilitate value addition of primary agricultural produce and to create better market opportunities for these produce, in turn leading to the increase in farmers income.</a:t>
          </a:r>
          <a:endParaRPr lang="en-US" sz="2200" dirty="0">
            <a:solidFill>
              <a:schemeClr val="tx1"/>
            </a:solidFill>
          </a:endParaRPr>
        </a:p>
      </dgm:t>
    </dgm:pt>
    <dgm:pt modelId="{4EA86AEC-57FC-4824-8D0E-D008D0B2DBD3}" type="parTrans" cxnId="{795E41CF-F7BE-4BBC-AD82-F92F2D0D6BF2}">
      <dgm:prSet/>
      <dgm:spPr/>
      <dgm:t>
        <a:bodyPr/>
        <a:lstStyle/>
        <a:p>
          <a:pPr algn="just"/>
          <a:endParaRPr lang="en-US" sz="2200">
            <a:solidFill>
              <a:schemeClr val="tx1"/>
            </a:solidFill>
          </a:endParaRPr>
        </a:p>
      </dgm:t>
    </dgm:pt>
    <dgm:pt modelId="{9315CF0A-8E0D-409E-A36A-025B5ED76F93}" type="sibTrans" cxnId="{795E41CF-F7BE-4BBC-AD82-F92F2D0D6BF2}">
      <dgm:prSet/>
      <dgm:spPr/>
      <dgm:t>
        <a:bodyPr/>
        <a:lstStyle/>
        <a:p>
          <a:pPr algn="just"/>
          <a:endParaRPr lang="en-US" sz="2200">
            <a:solidFill>
              <a:schemeClr val="tx1"/>
            </a:solidFill>
          </a:endParaRPr>
        </a:p>
      </dgm:t>
    </dgm:pt>
    <dgm:pt modelId="{511E5CB1-FA09-4875-9F4D-84F23B3139B3}">
      <dgm:prSet phldrT="[Text]" custT="1"/>
      <dgm:spPr>
        <a:solidFill>
          <a:schemeClr val="bg1"/>
        </a:solidFill>
        <a:ln>
          <a:solidFill>
            <a:srgbClr val="C00000"/>
          </a:solidFill>
        </a:ln>
      </dgm:spPr>
      <dgm:t>
        <a:bodyPr/>
        <a:lstStyle/>
        <a:p>
          <a:pPr algn="just"/>
          <a:r>
            <a:rPr lang="en-US" sz="2200" b="1" dirty="0" smtClean="0">
              <a:solidFill>
                <a:schemeClr val="tx1"/>
              </a:solidFill>
            </a:rPr>
            <a:t>6. PM-KISAN-Karnataka provides additional assistance of Rs 4000 per farming household, an amount of Rs. 1977.67 crore to 50.35 </a:t>
          </a:r>
          <a:r>
            <a:rPr lang="en-US" sz="2200" b="1" dirty="0" err="1" smtClean="0">
              <a:solidFill>
                <a:schemeClr val="tx1"/>
              </a:solidFill>
            </a:rPr>
            <a:t>lakh</a:t>
          </a:r>
          <a:r>
            <a:rPr lang="en-US" sz="2200" b="1" dirty="0" smtClean="0">
              <a:solidFill>
                <a:schemeClr val="tx1"/>
              </a:solidFill>
            </a:rPr>
            <a:t> beneficiaries for the year 2021-22 , eligible under PM-KISAN.</a:t>
          </a:r>
          <a:endParaRPr lang="en-US" sz="2200" dirty="0">
            <a:solidFill>
              <a:schemeClr val="tx1"/>
            </a:solidFill>
          </a:endParaRPr>
        </a:p>
      </dgm:t>
    </dgm:pt>
    <dgm:pt modelId="{6F5A7788-C3A5-4F32-B904-AC5A5D4BAFC5}" type="sibTrans" cxnId="{D2FC3831-3EA7-4533-9AD8-6D2EEA1AA835}">
      <dgm:prSet/>
      <dgm:spPr/>
      <dgm:t>
        <a:bodyPr/>
        <a:lstStyle/>
        <a:p>
          <a:pPr algn="just"/>
          <a:endParaRPr lang="en-US" sz="2200">
            <a:solidFill>
              <a:schemeClr val="tx1"/>
            </a:solidFill>
          </a:endParaRPr>
        </a:p>
      </dgm:t>
    </dgm:pt>
    <dgm:pt modelId="{FA30E0F7-2728-40E2-BBD4-DBEDDDA0B71C}" type="parTrans" cxnId="{D2FC3831-3EA7-4533-9AD8-6D2EEA1AA835}">
      <dgm:prSet/>
      <dgm:spPr/>
      <dgm:t>
        <a:bodyPr/>
        <a:lstStyle/>
        <a:p>
          <a:pPr algn="just"/>
          <a:endParaRPr lang="en-US" sz="2200">
            <a:solidFill>
              <a:schemeClr val="tx1"/>
            </a:solidFill>
          </a:endParaRPr>
        </a:p>
      </dgm:t>
    </dgm:pt>
    <dgm:pt modelId="{53243332-2BB9-4F7A-A09F-B29EF1280D32}" type="pres">
      <dgm:prSet presAssocID="{9792F3C0-B3C1-4FE3-B6E0-7F94EA666177}" presName="linear" presStyleCnt="0">
        <dgm:presLayoutVars>
          <dgm:animLvl val="lvl"/>
          <dgm:resizeHandles val="exact"/>
        </dgm:presLayoutVars>
      </dgm:prSet>
      <dgm:spPr/>
      <dgm:t>
        <a:bodyPr/>
        <a:lstStyle/>
        <a:p>
          <a:endParaRPr lang="en-IN"/>
        </a:p>
      </dgm:t>
    </dgm:pt>
    <dgm:pt modelId="{30EAC801-CA35-40AA-A97F-2C86EDBAFC92}" type="pres">
      <dgm:prSet presAssocID="{AB0A14E4-86B8-41FA-A5F5-A8EA187E997E}" presName="parentText" presStyleLbl="node1" presStyleIdx="0" presStyleCnt="3" custScaleY="82007">
        <dgm:presLayoutVars>
          <dgm:chMax val="0"/>
          <dgm:bulletEnabled val="1"/>
        </dgm:presLayoutVars>
      </dgm:prSet>
      <dgm:spPr/>
      <dgm:t>
        <a:bodyPr/>
        <a:lstStyle/>
        <a:p>
          <a:endParaRPr lang="en-US"/>
        </a:p>
      </dgm:t>
    </dgm:pt>
    <dgm:pt modelId="{9758AA74-D4B8-401F-AEB9-FE845D3856B4}" type="pres">
      <dgm:prSet presAssocID="{5E57AD97-BEEC-4863-9985-2978FAFBC6BD}" presName="spacer" presStyleCnt="0"/>
      <dgm:spPr/>
    </dgm:pt>
    <dgm:pt modelId="{89C0EDD7-9376-4ABD-9D08-F51FB4F59EF5}" type="pres">
      <dgm:prSet presAssocID="{511E5CB1-FA09-4875-9F4D-84F23B3139B3}" presName="parentText" presStyleLbl="node1" presStyleIdx="1" presStyleCnt="3">
        <dgm:presLayoutVars>
          <dgm:chMax val="0"/>
          <dgm:bulletEnabled val="1"/>
        </dgm:presLayoutVars>
      </dgm:prSet>
      <dgm:spPr/>
      <dgm:t>
        <a:bodyPr/>
        <a:lstStyle/>
        <a:p>
          <a:endParaRPr lang="en-US"/>
        </a:p>
      </dgm:t>
    </dgm:pt>
    <dgm:pt modelId="{11F96319-DDA0-4485-9106-B100619B3610}" type="pres">
      <dgm:prSet presAssocID="{6F5A7788-C3A5-4F32-B904-AC5A5D4BAFC5}" presName="spacer" presStyleCnt="0"/>
      <dgm:spPr/>
    </dgm:pt>
    <dgm:pt modelId="{7939CF88-545B-4BBF-A5D2-2BA5A45C7C6C}" type="pres">
      <dgm:prSet presAssocID="{8E56B53B-ECE8-4A57-A33C-5760E5646F0D}" presName="parentText" presStyleLbl="node1" presStyleIdx="2" presStyleCnt="3" custScaleY="118992">
        <dgm:presLayoutVars>
          <dgm:chMax val="0"/>
          <dgm:bulletEnabled val="1"/>
        </dgm:presLayoutVars>
      </dgm:prSet>
      <dgm:spPr/>
      <dgm:t>
        <a:bodyPr/>
        <a:lstStyle/>
        <a:p>
          <a:endParaRPr lang="en-US"/>
        </a:p>
      </dgm:t>
    </dgm:pt>
  </dgm:ptLst>
  <dgm:cxnLst>
    <dgm:cxn modelId="{12B85837-395B-40B2-84CE-A30B1C68E210}" type="presOf" srcId="{9792F3C0-B3C1-4FE3-B6E0-7F94EA666177}" destId="{53243332-2BB9-4F7A-A09F-B29EF1280D32}" srcOrd="0" destOrd="0" presId="urn:microsoft.com/office/officeart/2005/8/layout/vList2"/>
    <dgm:cxn modelId="{4D7DD998-BE30-4B02-AF2A-9C80ACE53AC1}" srcId="{9792F3C0-B3C1-4FE3-B6E0-7F94EA666177}" destId="{AB0A14E4-86B8-41FA-A5F5-A8EA187E997E}" srcOrd="0" destOrd="0" parTransId="{A2A44E42-0731-4BE4-9AF8-6F08AB2CB3B8}" sibTransId="{5E57AD97-BEEC-4863-9985-2978FAFBC6BD}"/>
    <dgm:cxn modelId="{1A213938-EDDE-4F95-8AEE-5696B0376FCE}" type="presOf" srcId="{8E56B53B-ECE8-4A57-A33C-5760E5646F0D}" destId="{7939CF88-545B-4BBF-A5D2-2BA5A45C7C6C}" srcOrd="0" destOrd="0" presId="urn:microsoft.com/office/officeart/2005/8/layout/vList2"/>
    <dgm:cxn modelId="{795E41CF-F7BE-4BBC-AD82-F92F2D0D6BF2}" srcId="{9792F3C0-B3C1-4FE3-B6E0-7F94EA666177}" destId="{8E56B53B-ECE8-4A57-A33C-5760E5646F0D}" srcOrd="2" destOrd="0" parTransId="{4EA86AEC-57FC-4824-8D0E-D008D0B2DBD3}" sibTransId="{9315CF0A-8E0D-409E-A36A-025B5ED76F93}"/>
    <dgm:cxn modelId="{D2FC3831-3EA7-4533-9AD8-6D2EEA1AA835}" srcId="{9792F3C0-B3C1-4FE3-B6E0-7F94EA666177}" destId="{511E5CB1-FA09-4875-9F4D-84F23B3139B3}" srcOrd="1" destOrd="0" parTransId="{FA30E0F7-2728-40E2-BBD4-DBEDDDA0B71C}" sibTransId="{6F5A7788-C3A5-4F32-B904-AC5A5D4BAFC5}"/>
    <dgm:cxn modelId="{13BD7FE3-E54C-4A36-8E40-E55B8FA0B1BA}" type="presOf" srcId="{511E5CB1-FA09-4875-9F4D-84F23B3139B3}" destId="{89C0EDD7-9376-4ABD-9D08-F51FB4F59EF5}" srcOrd="0" destOrd="0" presId="urn:microsoft.com/office/officeart/2005/8/layout/vList2"/>
    <dgm:cxn modelId="{34F5D140-F2B1-49EB-A561-DECC378390D4}" type="presOf" srcId="{AB0A14E4-86B8-41FA-A5F5-A8EA187E997E}" destId="{30EAC801-CA35-40AA-A97F-2C86EDBAFC92}" srcOrd="0" destOrd="0" presId="urn:microsoft.com/office/officeart/2005/8/layout/vList2"/>
    <dgm:cxn modelId="{59AAF1F6-A36E-4253-BE40-0CBC6B559731}" type="presParOf" srcId="{53243332-2BB9-4F7A-A09F-B29EF1280D32}" destId="{30EAC801-CA35-40AA-A97F-2C86EDBAFC92}" srcOrd="0" destOrd="0" presId="urn:microsoft.com/office/officeart/2005/8/layout/vList2"/>
    <dgm:cxn modelId="{91353875-6157-4DBA-9692-92D39D5BBB07}" type="presParOf" srcId="{53243332-2BB9-4F7A-A09F-B29EF1280D32}" destId="{9758AA74-D4B8-401F-AEB9-FE845D3856B4}" srcOrd="1" destOrd="0" presId="urn:microsoft.com/office/officeart/2005/8/layout/vList2"/>
    <dgm:cxn modelId="{F4BD8943-9416-4227-85EE-16AB7EEE7742}" type="presParOf" srcId="{53243332-2BB9-4F7A-A09F-B29EF1280D32}" destId="{89C0EDD7-9376-4ABD-9D08-F51FB4F59EF5}" srcOrd="2" destOrd="0" presId="urn:microsoft.com/office/officeart/2005/8/layout/vList2"/>
    <dgm:cxn modelId="{FEED47BF-1122-4DDC-9C1B-43EF12272E24}" type="presParOf" srcId="{53243332-2BB9-4F7A-A09F-B29EF1280D32}" destId="{11F96319-DDA0-4485-9106-B100619B3610}" srcOrd="3" destOrd="0" presId="urn:microsoft.com/office/officeart/2005/8/layout/vList2"/>
    <dgm:cxn modelId="{4C896DBE-FA48-458C-88C9-3230A619705D}" type="presParOf" srcId="{53243332-2BB9-4F7A-A09F-B29EF1280D32}" destId="{7939CF88-545B-4BBF-A5D2-2BA5A45C7C6C}" srcOrd="4" destOrd="0" presId="urn:microsoft.com/office/officeart/2005/8/layout/vList2"/>
  </dgm:cxnLst>
  <dgm:bg>
    <a:solidFill>
      <a:schemeClr val="bg1"/>
    </a:solidFill>
  </dgm:bg>
  <dgm:whole>
    <a:ln>
      <a:noFill/>
    </a:ln>
  </dgm:whole>
  <dgm:extLst>
    <a:ext uri="http://schemas.microsoft.com/office/drawing/2008/diagram">
      <dsp:dataModelExt xmlns=""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7290D9-E379-4C2F-BA55-6F86ED0637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564E04C5-AEAF-4089-992F-EC6F0A4A9A4B}">
      <dgm:prSet custT="1"/>
      <dgm:spPr/>
      <dgm:t>
        <a:bodyPr/>
        <a:lstStyle/>
        <a:p>
          <a:pPr algn="just" rtl="0"/>
          <a:r>
            <a:rPr lang="en-US" sz="2400" b="1" dirty="0" smtClean="0"/>
            <a:t>8. “CM-</a:t>
          </a:r>
          <a:r>
            <a:rPr lang="en-US" sz="2400" b="1" dirty="0" err="1" smtClean="0"/>
            <a:t>Raitha</a:t>
          </a:r>
          <a:r>
            <a:rPr lang="en-US" sz="2400" b="1" dirty="0" smtClean="0"/>
            <a:t> </a:t>
          </a:r>
          <a:r>
            <a:rPr lang="en-US" sz="2400" b="1" dirty="0" err="1" smtClean="0"/>
            <a:t>Vidya</a:t>
          </a:r>
          <a:r>
            <a:rPr lang="en-US" sz="2400" b="1" dirty="0" smtClean="0"/>
            <a:t> </a:t>
          </a:r>
          <a:r>
            <a:rPr lang="en-US" sz="2400" b="1" dirty="0" err="1" smtClean="0"/>
            <a:t>Nidhi</a:t>
          </a:r>
          <a:r>
            <a:rPr lang="en-US" sz="2400" b="1" dirty="0" smtClean="0"/>
            <a:t>”: </a:t>
          </a:r>
          <a:r>
            <a:rPr lang="en-US" sz="2400" b="1" dirty="0" err="1" smtClean="0"/>
            <a:t>Govt</a:t>
          </a:r>
          <a:r>
            <a:rPr lang="en-US" sz="2400" b="1" dirty="0" smtClean="0"/>
            <a:t> of Karnataka is pioneer in launching the scheme “</a:t>
          </a:r>
          <a:r>
            <a:rPr lang="en-US" sz="2400" b="1" dirty="0" err="1" smtClean="0"/>
            <a:t>Raitha</a:t>
          </a:r>
          <a:r>
            <a:rPr lang="en-US" sz="2400" b="1" dirty="0" smtClean="0"/>
            <a:t> </a:t>
          </a:r>
          <a:r>
            <a:rPr lang="en-US" sz="2400" b="1" dirty="0" err="1" smtClean="0"/>
            <a:t>Vidya</a:t>
          </a:r>
          <a:r>
            <a:rPr lang="en-US" sz="2400" b="1" dirty="0" smtClean="0"/>
            <a:t> </a:t>
          </a:r>
          <a:r>
            <a:rPr lang="en-US" sz="2400" b="1" dirty="0" err="1" smtClean="0"/>
            <a:t>Nidhi</a:t>
          </a:r>
          <a:r>
            <a:rPr lang="en-US" sz="2400" b="1" dirty="0" smtClean="0"/>
            <a:t>”, a </a:t>
          </a:r>
          <a:r>
            <a:rPr lang="en-US" sz="2400" b="1" dirty="0" err="1" smtClean="0"/>
            <a:t>sholarship</a:t>
          </a:r>
          <a:r>
            <a:rPr lang="en-US" sz="2400" b="1" dirty="0" smtClean="0"/>
            <a:t> programme for the farmer’s children (Rs. 261.17 </a:t>
          </a:r>
          <a:r>
            <a:rPr lang="en-US" sz="2400" b="1" dirty="0" err="1" smtClean="0"/>
            <a:t>crores</a:t>
          </a:r>
          <a:r>
            <a:rPr lang="en-US" sz="2400" b="1" dirty="0" smtClean="0"/>
            <a:t> has been transferred to 7.13 </a:t>
          </a:r>
          <a:r>
            <a:rPr lang="en-US" sz="2400" b="1" dirty="0" err="1" smtClean="0"/>
            <a:t>lakh</a:t>
          </a:r>
          <a:r>
            <a:rPr lang="en-US" sz="2400" b="1" dirty="0" smtClean="0"/>
            <a:t> student beneficiaries through DBT during the year 2021-22). </a:t>
          </a:r>
          <a:endParaRPr lang="en-US" sz="2400" b="1" dirty="0"/>
        </a:p>
      </dgm:t>
    </dgm:pt>
    <dgm:pt modelId="{465F9BE4-B9CC-4C6C-BBBD-B809FF1151FA}" type="parTrans" cxnId="{1CE6323B-B777-45C8-83EE-B47D1630E172}">
      <dgm:prSet/>
      <dgm:spPr/>
      <dgm:t>
        <a:bodyPr/>
        <a:lstStyle/>
        <a:p>
          <a:pPr algn="just"/>
          <a:endParaRPr lang="en-US" sz="2000" b="1"/>
        </a:p>
      </dgm:t>
    </dgm:pt>
    <dgm:pt modelId="{087D5284-73EC-4216-B4A7-1793FD67D620}" type="sibTrans" cxnId="{1CE6323B-B777-45C8-83EE-B47D1630E172}">
      <dgm:prSet/>
      <dgm:spPr/>
      <dgm:t>
        <a:bodyPr/>
        <a:lstStyle/>
        <a:p>
          <a:pPr algn="just"/>
          <a:endParaRPr lang="en-US" sz="2000" b="1"/>
        </a:p>
      </dgm:t>
    </dgm:pt>
    <dgm:pt modelId="{A1114D8D-923F-4689-815F-A26E5E1F66A5}">
      <dgm:prSet custT="1"/>
      <dgm:spPr/>
      <dgm:t>
        <a:bodyPr/>
        <a:lstStyle/>
        <a:p>
          <a:pPr algn="just" rtl="0"/>
          <a:endParaRPr lang="en-IN" sz="1800" b="1" dirty="0"/>
        </a:p>
      </dgm:t>
    </dgm:pt>
    <dgm:pt modelId="{B4B886B1-E22A-4DC2-B29C-301A96674668}" type="parTrans" cxnId="{00076102-C9A2-472A-A16B-272F3B934477}">
      <dgm:prSet/>
      <dgm:spPr/>
      <dgm:t>
        <a:bodyPr/>
        <a:lstStyle/>
        <a:p>
          <a:pPr algn="just"/>
          <a:endParaRPr lang="en-US" sz="2000" b="1"/>
        </a:p>
      </dgm:t>
    </dgm:pt>
    <dgm:pt modelId="{85CB4BAB-8B86-442B-B741-4539C0CCC4F3}" type="sibTrans" cxnId="{00076102-C9A2-472A-A16B-272F3B934477}">
      <dgm:prSet/>
      <dgm:spPr/>
      <dgm:t>
        <a:bodyPr/>
        <a:lstStyle/>
        <a:p>
          <a:pPr algn="just"/>
          <a:endParaRPr lang="en-US" sz="2000" b="1"/>
        </a:p>
      </dgm:t>
    </dgm:pt>
    <dgm:pt modelId="{BED50C7F-9025-435D-8F6A-AA6EB7DDC31A}" type="pres">
      <dgm:prSet presAssocID="{597290D9-E379-4C2F-BA55-6F86ED063723}" presName="linear" presStyleCnt="0">
        <dgm:presLayoutVars>
          <dgm:animLvl val="lvl"/>
          <dgm:resizeHandles val="exact"/>
        </dgm:presLayoutVars>
      </dgm:prSet>
      <dgm:spPr/>
      <dgm:t>
        <a:bodyPr/>
        <a:lstStyle/>
        <a:p>
          <a:endParaRPr lang="en-US"/>
        </a:p>
      </dgm:t>
    </dgm:pt>
    <dgm:pt modelId="{2886DC11-939D-454B-8F27-54AF37E139C2}" type="pres">
      <dgm:prSet presAssocID="{564E04C5-AEAF-4089-992F-EC6F0A4A9A4B}" presName="parentText" presStyleLbl="node1" presStyleIdx="0" presStyleCnt="1" custLinFactY="59523" custLinFactNeighborY="100000">
        <dgm:presLayoutVars>
          <dgm:chMax val="0"/>
          <dgm:bulletEnabled val="1"/>
        </dgm:presLayoutVars>
      </dgm:prSet>
      <dgm:spPr/>
      <dgm:t>
        <a:bodyPr/>
        <a:lstStyle/>
        <a:p>
          <a:endParaRPr lang="en-US"/>
        </a:p>
      </dgm:t>
    </dgm:pt>
    <dgm:pt modelId="{77785357-1085-4813-851B-F26CC605C2B3}" type="pres">
      <dgm:prSet presAssocID="{564E04C5-AEAF-4089-992F-EC6F0A4A9A4B}" presName="childText" presStyleLbl="revTx" presStyleIdx="0" presStyleCnt="1">
        <dgm:presLayoutVars>
          <dgm:bulletEnabled val="1"/>
        </dgm:presLayoutVars>
      </dgm:prSet>
      <dgm:spPr/>
      <dgm:t>
        <a:bodyPr/>
        <a:lstStyle/>
        <a:p>
          <a:endParaRPr lang="en-US"/>
        </a:p>
      </dgm:t>
    </dgm:pt>
  </dgm:ptLst>
  <dgm:cxnLst>
    <dgm:cxn modelId="{9D6747EC-F2EE-4087-95A1-DF551A7D9D62}" type="presOf" srcId="{A1114D8D-923F-4689-815F-A26E5E1F66A5}" destId="{77785357-1085-4813-851B-F26CC605C2B3}" srcOrd="0" destOrd="0" presId="urn:microsoft.com/office/officeart/2005/8/layout/vList2"/>
    <dgm:cxn modelId="{2BED0F48-C6CC-4728-AB59-894E7ABC9218}" type="presOf" srcId="{597290D9-E379-4C2F-BA55-6F86ED063723}" destId="{BED50C7F-9025-435D-8F6A-AA6EB7DDC31A}" srcOrd="0" destOrd="0" presId="urn:microsoft.com/office/officeart/2005/8/layout/vList2"/>
    <dgm:cxn modelId="{00076102-C9A2-472A-A16B-272F3B934477}" srcId="{564E04C5-AEAF-4089-992F-EC6F0A4A9A4B}" destId="{A1114D8D-923F-4689-815F-A26E5E1F66A5}" srcOrd="0" destOrd="0" parTransId="{B4B886B1-E22A-4DC2-B29C-301A96674668}" sibTransId="{85CB4BAB-8B86-442B-B741-4539C0CCC4F3}"/>
    <dgm:cxn modelId="{DF9EC5A9-2DAD-459A-8EC1-979C24B0C89E}" type="presOf" srcId="{564E04C5-AEAF-4089-992F-EC6F0A4A9A4B}" destId="{2886DC11-939D-454B-8F27-54AF37E139C2}" srcOrd="0" destOrd="0" presId="urn:microsoft.com/office/officeart/2005/8/layout/vList2"/>
    <dgm:cxn modelId="{1CE6323B-B777-45C8-83EE-B47D1630E172}" srcId="{597290D9-E379-4C2F-BA55-6F86ED063723}" destId="{564E04C5-AEAF-4089-992F-EC6F0A4A9A4B}" srcOrd="0" destOrd="0" parTransId="{465F9BE4-B9CC-4C6C-BBBD-B809FF1151FA}" sibTransId="{087D5284-73EC-4216-B4A7-1793FD67D620}"/>
    <dgm:cxn modelId="{A47B0040-0C08-4AD5-99A7-FC8152C3CF58}" type="presParOf" srcId="{BED50C7F-9025-435D-8F6A-AA6EB7DDC31A}" destId="{2886DC11-939D-454B-8F27-54AF37E139C2}" srcOrd="0" destOrd="0" presId="urn:microsoft.com/office/officeart/2005/8/layout/vList2"/>
    <dgm:cxn modelId="{EA7FCFE0-3FFC-4F9C-9B89-2FAA84B6AB12}" type="presParOf" srcId="{BED50C7F-9025-435D-8F6A-AA6EB7DDC31A}" destId="{77785357-1085-4813-851B-F26CC605C2B3}" srcOrd="1"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97290D9-E379-4C2F-BA55-6F86ED0637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83CA4043-E6F0-45EB-8482-EBB54F263921}">
      <dgm:prSet custT="1"/>
      <dgm:spPr/>
      <dgm:t>
        <a:bodyPr/>
        <a:lstStyle/>
        <a:p>
          <a:pPr algn="just" rtl="0"/>
          <a:r>
            <a:rPr lang="en-US" sz="2400" b="1" dirty="0" smtClean="0">
              <a:solidFill>
                <a:srgbClr val="C00000"/>
              </a:solidFill>
              <a:latin typeface="Times New Roman" panose="02020603050405020304" pitchFamily="18" charset="0"/>
              <a:cs typeface="Times New Roman" panose="02020603050405020304" pitchFamily="18" charset="0"/>
            </a:rPr>
            <a:t>SCHOLARSHIP ON ENTITLEMENT BASIS AND ALSO APPLICATION BASIS:</a:t>
          </a:r>
        </a:p>
        <a:p>
          <a:pPr algn="just" rtl="0"/>
          <a:r>
            <a:rPr lang="en-US" sz="2400" b="1" dirty="0" smtClean="0">
              <a:solidFill>
                <a:srgbClr val="002060"/>
              </a:solidFill>
              <a:latin typeface="+mn-lt"/>
              <a:cs typeface="Times New Roman" panose="02020603050405020304" pitchFamily="18" charset="0"/>
            </a:rPr>
            <a:t>The State has complete data base of pre </a:t>
          </a:r>
          <a:r>
            <a:rPr lang="en-US" sz="2400" b="1" dirty="0" err="1" smtClean="0">
              <a:solidFill>
                <a:srgbClr val="002060"/>
              </a:solidFill>
              <a:latin typeface="+mn-lt"/>
              <a:cs typeface="Times New Roman" panose="02020603050405020304" pitchFamily="18" charset="0"/>
            </a:rPr>
            <a:t>matric</a:t>
          </a:r>
          <a:r>
            <a:rPr lang="en-US" sz="2400" b="1" dirty="0" smtClean="0">
              <a:solidFill>
                <a:srgbClr val="002060"/>
              </a:solidFill>
              <a:latin typeface="+mn-lt"/>
              <a:cs typeface="Times New Roman" panose="02020603050405020304" pitchFamily="18" charset="0"/>
            </a:rPr>
            <a:t> students and PUC students with unique identity number mapped to AADHAR. </a:t>
          </a:r>
          <a:endParaRPr lang="en-US" sz="2400" b="1" dirty="0">
            <a:latin typeface="+mn-lt"/>
          </a:endParaRPr>
        </a:p>
      </dgm:t>
    </dgm:pt>
    <dgm:pt modelId="{1DD21DE2-D992-4855-9AC2-F92599B633C1}" type="parTrans" cxnId="{7F241DAD-6CD6-4B91-8C4F-3C4463DC342F}">
      <dgm:prSet/>
      <dgm:spPr/>
      <dgm:t>
        <a:bodyPr/>
        <a:lstStyle/>
        <a:p>
          <a:pPr algn="just"/>
          <a:endParaRPr lang="en-US" sz="2400" b="1">
            <a:latin typeface="+mn-lt"/>
          </a:endParaRPr>
        </a:p>
      </dgm:t>
    </dgm:pt>
    <dgm:pt modelId="{DB6C6646-AD58-4FD3-912F-5078D0C10E73}" type="sibTrans" cxnId="{7F241DAD-6CD6-4B91-8C4F-3C4463DC342F}">
      <dgm:prSet/>
      <dgm:spPr/>
      <dgm:t>
        <a:bodyPr/>
        <a:lstStyle/>
        <a:p>
          <a:pPr algn="just"/>
          <a:endParaRPr lang="en-US" sz="2400" b="1">
            <a:latin typeface="+mn-lt"/>
          </a:endParaRPr>
        </a:p>
      </dgm:t>
    </dgm:pt>
    <dgm:pt modelId="{D473C2FB-9D51-47E2-9AD8-337CE0AEE741}">
      <dgm:prSet custT="1"/>
      <dgm:spPr/>
      <dgm:t>
        <a:bodyPr/>
        <a:lstStyle/>
        <a:p>
          <a:pPr algn="just" rtl="0"/>
          <a:r>
            <a:rPr lang="en-US" sz="2400" b="1" dirty="0" smtClean="0">
              <a:solidFill>
                <a:srgbClr val="002060"/>
              </a:solidFill>
              <a:latin typeface="+mn-lt"/>
              <a:cs typeface="Times New Roman" panose="02020603050405020304" pitchFamily="18" charset="0"/>
            </a:rPr>
            <a:t>The State also has data base of Family (KUTUMBA Data Base) maintained by e-Governance department and the Student identity can be mapped to his family.</a:t>
          </a:r>
          <a:endParaRPr lang="en-US" sz="2400" b="1" dirty="0">
            <a:latin typeface="+mn-lt"/>
          </a:endParaRPr>
        </a:p>
      </dgm:t>
    </dgm:pt>
    <dgm:pt modelId="{B4493862-69C3-4532-8694-27E002102CE8}" type="parTrans" cxnId="{47F5EAE1-506A-41C5-8950-62811A47C84E}">
      <dgm:prSet/>
      <dgm:spPr/>
      <dgm:t>
        <a:bodyPr/>
        <a:lstStyle/>
        <a:p>
          <a:pPr algn="just"/>
          <a:endParaRPr lang="en-US" sz="2400" b="1">
            <a:latin typeface="+mn-lt"/>
          </a:endParaRPr>
        </a:p>
      </dgm:t>
    </dgm:pt>
    <dgm:pt modelId="{3B242B2D-3D1C-416B-9368-232D81D97CE5}" type="sibTrans" cxnId="{47F5EAE1-506A-41C5-8950-62811A47C84E}">
      <dgm:prSet/>
      <dgm:spPr/>
      <dgm:t>
        <a:bodyPr/>
        <a:lstStyle/>
        <a:p>
          <a:pPr algn="just"/>
          <a:endParaRPr lang="en-US" sz="2400" b="1">
            <a:latin typeface="+mn-lt"/>
          </a:endParaRPr>
        </a:p>
      </dgm:t>
    </dgm:pt>
    <dgm:pt modelId="{564E04C5-AEAF-4089-992F-EC6F0A4A9A4B}">
      <dgm:prSet custT="1"/>
      <dgm:spPr/>
      <dgm:t>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400" b="1" dirty="0" smtClean="0">
              <a:solidFill>
                <a:srgbClr val="002060"/>
              </a:solidFill>
              <a:latin typeface="+mn-lt"/>
              <a:cs typeface="Times New Roman" panose="02020603050405020304" pitchFamily="18" charset="0"/>
            </a:rPr>
            <a:t>The State also has farmer data base(FRUITS- </a:t>
          </a:r>
          <a:r>
            <a:rPr lang="en-US" sz="2400" b="1" dirty="0" smtClean="0">
              <a:solidFill>
                <a:srgbClr val="60C344"/>
              </a:solidFill>
              <a:latin typeface="+mn-lt"/>
            </a:rPr>
            <a:t>F</a:t>
          </a:r>
          <a:r>
            <a:rPr lang="en-US" sz="2400" b="1" dirty="0" smtClean="0">
              <a:solidFill>
                <a:srgbClr val="000000"/>
              </a:solidFill>
              <a:latin typeface="+mn-lt"/>
            </a:rPr>
            <a:t>armer </a:t>
          </a:r>
          <a:r>
            <a:rPr lang="en-US" sz="2400" b="1" dirty="0" smtClean="0">
              <a:solidFill>
                <a:srgbClr val="60C344"/>
              </a:solidFill>
              <a:latin typeface="+mn-lt"/>
            </a:rPr>
            <a:t>R</a:t>
          </a:r>
          <a:r>
            <a:rPr lang="en-US" sz="2400" b="1" dirty="0" smtClean="0">
              <a:solidFill>
                <a:srgbClr val="000000"/>
              </a:solidFill>
              <a:latin typeface="+mn-lt"/>
            </a:rPr>
            <a:t>egistration and </a:t>
          </a:r>
          <a:r>
            <a:rPr lang="en-US" sz="2400" b="1" dirty="0" smtClean="0">
              <a:solidFill>
                <a:srgbClr val="60C344"/>
              </a:solidFill>
              <a:latin typeface="+mn-lt"/>
            </a:rPr>
            <a:t>U</a:t>
          </a:r>
          <a:r>
            <a:rPr lang="en-US" sz="2400" b="1" dirty="0" smtClean="0">
              <a:solidFill>
                <a:srgbClr val="000000"/>
              </a:solidFill>
              <a:latin typeface="+mn-lt"/>
            </a:rPr>
            <a:t>nified beneficiary </a:t>
          </a:r>
          <a:r>
            <a:rPr lang="en-US" sz="2400" b="1" dirty="0" err="1" smtClean="0">
              <a:solidFill>
                <a:srgbClr val="60C344"/>
              </a:solidFill>
              <a:latin typeface="+mn-lt"/>
            </a:rPr>
            <a:t>I</a:t>
          </a:r>
          <a:r>
            <a:rPr lang="en-US" sz="2400" b="1" dirty="0" err="1" smtClean="0">
              <a:solidFill>
                <a:srgbClr val="000000"/>
              </a:solidFill>
              <a:latin typeface="+mn-lt"/>
            </a:rPr>
            <a:t>nforma</a:t>
          </a:r>
          <a:r>
            <a:rPr lang="en-US" sz="2400" b="1" dirty="0" err="1" smtClean="0">
              <a:solidFill>
                <a:srgbClr val="60C344"/>
              </a:solidFill>
              <a:latin typeface="+mn-lt"/>
            </a:rPr>
            <a:t>T</a:t>
          </a:r>
          <a:r>
            <a:rPr lang="en-US" sz="2400" b="1" dirty="0" err="1" smtClean="0">
              <a:solidFill>
                <a:srgbClr val="000000"/>
              </a:solidFill>
              <a:latin typeface="+mn-lt"/>
            </a:rPr>
            <a:t>ion</a:t>
          </a:r>
          <a:r>
            <a:rPr lang="en-US" sz="2400" b="1" dirty="0" smtClean="0">
              <a:solidFill>
                <a:srgbClr val="000000"/>
              </a:solidFill>
              <a:latin typeface="+mn-lt"/>
            </a:rPr>
            <a:t> </a:t>
          </a:r>
          <a:r>
            <a:rPr lang="en-US" sz="2400" b="1" dirty="0" smtClean="0">
              <a:solidFill>
                <a:srgbClr val="60C344"/>
              </a:solidFill>
              <a:latin typeface="+mn-lt"/>
            </a:rPr>
            <a:t>S</a:t>
          </a:r>
          <a:r>
            <a:rPr lang="en-US" sz="2400" b="1" dirty="0" smtClean="0">
              <a:solidFill>
                <a:srgbClr val="000000"/>
              </a:solidFill>
              <a:latin typeface="+mn-lt"/>
            </a:rPr>
            <a:t>ystem)</a:t>
          </a:r>
          <a:r>
            <a:rPr lang="en-US" sz="2400" b="1" dirty="0" smtClean="0">
              <a:solidFill>
                <a:srgbClr val="002060"/>
              </a:solidFill>
              <a:latin typeface="+mn-lt"/>
              <a:cs typeface="Times New Roman" panose="02020603050405020304" pitchFamily="18" charset="0"/>
            </a:rPr>
            <a:t> and family members can be  mapped for farmer identity</a:t>
          </a:r>
          <a:endParaRPr lang="en-US" sz="2400" b="1" dirty="0">
            <a:latin typeface="+mn-lt"/>
          </a:endParaRPr>
        </a:p>
      </dgm:t>
    </dgm:pt>
    <dgm:pt modelId="{465F9BE4-B9CC-4C6C-BBBD-B809FF1151FA}" type="parTrans" cxnId="{1CE6323B-B777-45C8-83EE-B47D1630E172}">
      <dgm:prSet/>
      <dgm:spPr/>
      <dgm:t>
        <a:bodyPr/>
        <a:lstStyle/>
        <a:p>
          <a:pPr algn="just"/>
          <a:endParaRPr lang="en-US" sz="2400" b="1">
            <a:latin typeface="+mn-lt"/>
          </a:endParaRPr>
        </a:p>
      </dgm:t>
    </dgm:pt>
    <dgm:pt modelId="{087D5284-73EC-4216-B4A7-1793FD67D620}" type="sibTrans" cxnId="{1CE6323B-B777-45C8-83EE-B47D1630E172}">
      <dgm:prSet/>
      <dgm:spPr/>
      <dgm:t>
        <a:bodyPr/>
        <a:lstStyle/>
        <a:p>
          <a:pPr algn="just"/>
          <a:endParaRPr lang="en-US" sz="2400" b="1">
            <a:latin typeface="+mn-lt"/>
          </a:endParaRPr>
        </a:p>
      </dgm:t>
    </dgm:pt>
    <dgm:pt modelId="{A1114D8D-923F-4689-815F-A26E5E1F66A5}">
      <dgm:prSet custT="1"/>
      <dgm:spPr/>
      <dgm:t>
        <a:bodyPr/>
        <a:lstStyle/>
        <a:p>
          <a:pPr algn="just" rtl="0"/>
          <a:endParaRPr lang="en-IN" sz="2400" b="1" dirty="0">
            <a:latin typeface="+mn-lt"/>
          </a:endParaRPr>
        </a:p>
      </dgm:t>
    </dgm:pt>
    <dgm:pt modelId="{B4B886B1-E22A-4DC2-B29C-301A96674668}" type="parTrans" cxnId="{00076102-C9A2-472A-A16B-272F3B934477}">
      <dgm:prSet/>
      <dgm:spPr/>
      <dgm:t>
        <a:bodyPr/>
        <a:lstStyle/>
        <a:p>
          <a:pPr algn="just"/>
          <a:endParaRPr lang="en-US" sz="2400" b="1">
            <a:latin typeface="+mn-lt"/>
          </a:endParaRPr>
        </a:p>
      </dgm:t>
    </dgm:pt>
    <dgm:pt modelId="{85CB4BAB-8B86-442B-B741-4539C0CCC4F3}" type="sibTrans" cxnId="{00076102-C9A2-472A-A16B-272F3B934477}">
      <dgm:prSet/>
      <dgm:spPr/>
      <dgm:t>
        <a:bodyPr/>
        <a:lstStyle/>
        <a:p>
          <a:pPr algn="just"/>
          <a:endParaRPr lang="en-US" sz="2400" b="1">
            <a:latin typeface="+mn-lt"/>
          </a:endParaRPr>
        </a:p>
      </dgm:t>
    </dgm:pt>
    <dgm:pt modelId="{BED50C7F-9025-435D-8F6A-AA6EB7DDC31A}" type="pres">
      <dgm:prSet presAssocID="{597290D9-E379-4C2F-BA55-6F86ED063723}" presName="linear" presStyleCnt="0">
        <dgm:presLayoutVars>
          <dgm:animLvl val="lvl"/>
          <dgm:resizeHandles val="exact"/>
        </dgm:presLayoutVars>
      </dgm:prSet>
      <dgm:spPr/>
      <dgm:t>
        <a:bodyPr/>
        <a:lstStyle/>
        <a:p>
          <a:endParaRPr lang="en-US"/>
        </a:p>
      </dgm:t>
    </dgm:pt>
    <dgm:pt modelId="{BFBC8803-1376-4DD2-B77D-ABF6050FB564}" type="pres">
      <dgm:prSet presAssocID="{83CA4043-E6F0-45EB-8482-EBB54F263921}" presName="parentText" presStyleLbl="node1" presStyleIdx="0" presStyleCnt="3">
        <dgm:presLayoutVars>
          <dgm:chMax val="0"/>
          <dgm:bulletEnabled val="1"/>
        </dgm:presLayoutVars>
      </dgm:prSet>
      <dgm:spPr/>
      <dgm:t>
        <a:bodyPr/>
        <a:lstStyle/>
        <a:p>
          <a:endParaRPr lang="en-US"/>
        </a:p>
      </dgm:t>
    </dgm:pt>
    <dgm:pt modelId="{50FC98D5-087C-4E20-8683-25E6212B6A76}" type="pres">
      <dgm:prSet presAssocID="{DB6C6646-AD58-4FD3-912F-5078D0C10E73}" presName="spacer" presStyleCnt="0"/>
      <dgm:spPr/>
    </dgm:pt>
    <dgm:pt modelId="{B971D0C9-033B-436F-BA25-E3B162598D44}" type="pres">
      <dgm:prSet presAssocID="{D473C2FB-9D51-47E2-9AD8-337CE0AEE741}" presName="parentText" presStyleLbl="node1" presStyleIdx="1" presStyleCnt="3">
        <dgm:presLayoutVars>
          <dgm:chMax val="0"/>
          <dgm:bulletEnabled val="1"/>
        </dgm:presLayoutVars>
      </dgm:prSet>
      <dgm:spPr/>
      <dgm:t>
        <a:bodyPr/>
        <a:lstStyle/>
        <a:p>
          <a:endParaRPr lang="en-US"/>
        </a:p>
      </dgm:t>
    </dgm:pt>
    <dgm:pt modelId="{F5038B99-3807-4B43-AAA0-477F0029511F}" type="pres">
      <dgm:prSet presAssocID="{3B242B2D-3D1C-416B-9368-232D81D97CE5}" presName="spacer" presStyleCnt="0"/>
      <dgm:spPr/>
    </dgm:pt>
    <dgm:pt modelId="{2886DC11-939D-454B-8F27-54AF37E139C2}" type="pres">
      <dgm:prSet presAssocID="{564E04C5-AEAF-4089-992F-EC6F0A4A9A4B}" presName="parentText" presStyleLbl="node1" presStyleIdx="2" presStyleCnt="3">
        <dgm:presLayoutVars>
          <dgm:chMax val="0"/>
          <dgm:bulletEnabled val="1"/>
        </dgm:presLayoutVars>
      </dgm:prSet>
      <dgm:spPr/>
      <dgm:t>
        <a:bodyPr/>
        <a:lstStyle/>
        <a:p>
          <a:endParaRPr lang="en-US"/>
        </a:p>
      </dgm:t>
    </dgm:pt>
    <dgm:pt modelId="{77785357-1085-4813-851B-F26CC605C2B3}" type="pres">
      <dgm:prSet presAssocID="{564E04C5-AEAF-4089-992F-EC6F0A4A9A4B}" presName="childText" presStyleLbl="revTx" presStyleIdx="0" presStyleCnt="1">
        <dgm:presLayoutVars>
          <dgm:bulletEnabled val="1"/>
        </dgm:presLayoutVars>
      </dgm:prSet>
      <dgm:spPr/>
      <dgm:t>
        <a:bodyPr/>
        <a:lstStyle/>
        <a:p>
          <a:endParaRPr lang="en-US"/>
        </a:p>
      </dgm:t>
    </dgm:pt>
  </dgm:ptLst>
  <dgm:cxnLst>
    <dgm:cxn modelId="{00076102-C9A2-472A-A16B-272F3B934477}" srcId="{564E04C5-AEAF-4089-992F-EC6F0A4A9A4B}" destId="{A1114D8D-923F-4689-815F-A26E5E1F66A5}" srcOrd="0" destOrd="0" parTransId="{B4B886B1-E22A-4DC2-B29C-301A96674668}" sibTransId="{85CB4BAB-8B86-442B-B741-4539C0CCC4F3}"/>
    <dgm:cxn modelId="{7F241DAD-6CD6-4B91-8C4F-3C4463DC342F}" srcId="{597290D9-E379-4C2F-BA55-6F86ED063723}" destId="{83CA4043-E6F0-45EB-8482-EBB54F263921}" srcOrd="0" destOrd="0" parTransId="{1DD21DE2-D992-4855-9AC2-F92599B633C1}" sibTransId="{DB6C6646-AD58-4FD3-912F-5078D0C10E73}"/>
    <dgm:cxn modelId="{47F5EAE1-506A-41C5-8950-62811A47C84E}" srcId="{597290D9-E379-4C2F-BA55-6F86ED063723}" destId="{D473C2FB-9D51-47E2-9AD8-337CE0AEE741}" srcOrd="1" destOrd="0" parTransId="{B4493862-69C3-4532-8694-27E002102CE8}" sibTransId="{3B242B2D-3D1C-416B-9368-232D81D97CE5}"/>
    <dgm:cxn modelId="{A4C8BCD5-CCB7-4B9D-8E4B-8A19310D3178}" type="presOf" srcId="{83CA4043-E6F0-45EB-8482-EBB54F263921}" destId="{BFBC8803-1376-4DD2-B77D-ABF6050FB564}" srcOrd="0" destOrd="0" presId="urn:microsoft.com/office/officeart/2005/8/layout/vList2"/>
    <dgm:cxn modelId="{F9DEA922-E5DB-44F8-AFD9-8DABDB2C880D}" type="presOf" srcId="{597290D9-E379-4C2F-BA55-6F86ED063723}" destId="{BED50C7F-9025-435D-8F6A-AA6EB7DDC31A}" srcOrd="0" destOrd="0" presId="urn:microsoft.com/office/officeart/2005/8/layout/vList2"/>
    <dgm:cxn modelId="{E3C3E9B0-7190-40ED-A9A2-066DD1C9B6A6}" type="presOf" srcId="{A1114D8D-923F-4689-815F-A26E5E1F66A5}" destId="{77785357-1085-4813-851B-F26CC605C2B3}" srcOrd="0" destOrd="0" presId="urn:microsoft.com/office/officeart/2005/8/layout/vList2"/>
    <dgm:cxn modelId="{3ED4E352-2A58-49F7-BFF6-7201E538A908}" type="presOf" srcId="{D473C2FB-9D51-47E2-9AD8-337CE0AEE741}" destId="{B971D0C9-033B-436F-BA25-E3B162598D44}" srcOrd="0" destOrd="0" presId="urn:microsoft.com/office/officeart/2005/8/layout/vList2"/>
    <dgm:cxn modelId="{A3253F88-F765-495C-9FE4-BFACDC4790A6}" type="presOf" srcId="{564E04C5-AEAF-4089-992F-EC6F0A4A9A4B}" destId="{2886DC11-939D-454B-8F27-54AF37E139C2}" srcOrd="0" destOrd="0" presId="urn:microsoft.com/office/officeart/2005/8/layout/vList2"/>
    <dgm:cxn modelId="{1CE6323B-B777-45C8-83EE-B47D1630E172}" srcId="{597290D9-E379-4C2F-BA55-6F86ED063723}" destId="{564E04C5-AEAF-4089-992F-EC6F0A4A9A4B}" srcOrd="2" destOrd="0" parTransId="{465F9BE4-B9CC-4C6C-BBBD-B809FF1151FA}" sibTransId="{087D5284-73EC-4216-B4A7-1793FD67D620}"/>
    <dgm:cxn modelId="{0C04AFDC-456D-43BC-BC2F-149CE8163724}" type="presParOf" srcId="{BED50C7F-9025-435D-8F6A-AA6EB7DDC31A}" destId="{BFBC8803-1376-4DD2-B77D-ABF6050FB564}" srcOrd="0" destOrd="0" presId="urn:microsoft.com/office/officeart/2005/8/layout/vList2"/>
    <dgm:cxn modelId="{DD645432-C827-48B8-90BA-E7F132FE7174}" type="presParOf" srcId="{BED50C7F-9025-435D-8F6A-AA6EB7DDC31A}" destId="{50FC98D5-087C-4E20-8683-25E6212B6A76}" srcOrd="1" destOrd="0" presId="urn:microsoft.com/office/officeart/2005/8/layout/vList2"/>
    <dgm:cxn modelId="{65B195A1-E0AF-48EF-9E7E-BD88B485B451}" type="presParOf" srcId="{BED50C7F-9025-435D-8F6A-AA6EB7DDC31A}" destId="{B971D0C9-033B-436F-BA25-E3B162598D44}" srcOrd="2" destOrd="0" presId="urn:microsoft.com/office/officeart/2005/8/layout/vList2"/>
    <dgm:cxn modelId="{4876E92A-E59E-4407-8791-EB3E4EC70B9B}" type="presParOf" srcId="{BED50C7F-9025-435D-8F6A-AA6EB7DDC31A}" destId="{F5038B99-3807-4B43-AAA0-477F0029511F}" srcOrd="3" destOrd="0" presId="urn:microsoft.com/office/officeart/2005/8/layout/vList2"/>
    <dgm:cxn modelId="{DB238397-209B-4FD3-8140-512AB3B891BF}" type="presParOf" srcId="{BED50C7F-9025-435D-8F6A-AA6EB7DDC31A}" destId="{2886DC11-939D-454B-8F27-54AF37E139C2}" srcOrd="4" destOrd="0" presId="urn:microsoft.com/office/officeart/2005/8/layout/vList2"/>
    <dgm:cxn modelId="{477ADE15-99EF-44B0-9B6F-ACA2C5E40652}" type="presParOf" srcId="{BED50C7F-9025-435D-8F6A-AA6EB7DDC31A}" destId="{77785357-1085-4813-851B-F26CC605C2B3}" srcOrd="5"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97290D9-E379-4C2F-BA55-6F86ED0637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83CA4043-E6F0-45EB-8482-EBB54F263921}">
      <dgm:prSet custT="1"/>
      <dgm:spPr/>
      <dgm:t>
        <a:bodyPr/>
        <a:lstStyle/>
        <a:p>
          <a:pPr algn="just" rtl="0"/>
          <a:r>
            <a:rPr lang="en-US" sz="2400" b="1" dirty="0" smtClean="0"/>
            <a:t>9. Enhancement of Disaster Relief Fund assistance to farming community.  </a:t>
          </a:r>
        </a:p>
        <a:p>
          <a:pPr algn="just" rtl="0"/>
          <a:endParaRPr lang="en-US" sz="2400" b="1" dirty="0" smtClean="0"/>
        </a:p>
        <a:p>
          <a:pPr algn="just" rtl="0"/>
          <a:endParaRPr lang="en-US" sz="2400" b="1" dirty="0" smtClean="0"/>
        </a:p>
        <a:p>
          <a:pPr algn="just" rtl="0"/>
          <a:endParaRPr lang="en-US" sz="2400" b="1" dirty="0" smtClean="0"/>
        </a:p>
        <a:p>
          <a:pPr algn="just" rtl="0"/>
          <a:endParaRPr lang="en-US" sz="2400" b="1" dirty="0" smtClean="0"/>
        </a:p>
        <a:p>
          <a:pPr algn="just" rtl="0"/>
          <a:endParaRPr lang="en-US" sz="2400" b="1" dirty="0" smtClean="0"/>
        </a:p>
        <a:p>
          <a:pPr algn="just" rtl="0"/>
          <a:endParaRPr lang="en-US" sz="2400" b="1" dirty="0" smtClean="0"/>
        </a:p>
        <a:p>
          <a:pPr algn="just" rtl="0"/>
          <a:endParaRPr lang="en-US" sz="2400" b="1" dirty="0"/>
        </a:p>
      </dgm:t>
    </dgm:pt>
    <dgm:pt modelId="{1DD21DE2-D992-4855-9AC2-F92599B633C1}" type="parTrans" cxnId="{7F241DAD-6CD6-4B91-8C4F-3C4463DC342F}">
      <dgm:prSet/>
      <dgm:spPr/>
      <dgm:t>
        <a:bodyPr/>
        <a:lstStyle/>
        <a:p>
          <a:pPr algn="just"/>
          <a:endParaRPr lang="en-US" sz="2000" b="1"/>
        </a:p>
      </dgm:t>
    </dgm:pt>
    <dgm:pt modelId="{DB6C6646-AD58-4FD3-912F-5078D0C10E73}" type="sibTrans" cxnId="{7F241DAD-6CD6-4B91-8C4F-3C4463DC342F}">
      <dgm:prSet/>
      <dgm:spPr/>
      <dgm:t>
        <a:bodyPr/>
        <a:lstStyle/>
        <a:p>
          <a:pPr algn="just"/>
          <a:endParaRPr lang="en-US" sz="2000" b="1"/>
        </a:p>
      </dgm:t>
    </dgm:pt>
    <dgm:pt modelId="{BED50C7F-9025-435D-8F6A-AA6EB7DDC31A}" type="pres">
      <dgm:prSet presAssocID="{597290D9-E379-4C2F-BA55-6F86ED063723}" presName="linear" presStyleCnt="0">
        <dgm:presLayoutVars>
          <dgm:animLvl val="lvl"/>
          <dgm:resizeHandles val="exact"/>
        </dgm:presLayoutVars>
      </dgm:prSet>
      <dgm:spPr/>
      <dgm:t>
        <a:bodyPr/>
        <a:lstStyle/>
        <a:p>
          <a:endParaRPr lang="en-US"/>
        </a:p>
      </dgm:t>
    </dgm:pt>
    <dgm:pt modelId="{BFBC8803-1376-4DD2-B77D-ABF6050FB564}" type="pres">
      <dgm:prSet presAssocID="{83CA4043-E6F0-45EB-8482-EBB54F263921}" presName="parentText" presStyleLbl="node1" presStyleIdx="0" presStyleCnt="1" custLinFactNeighborY="-9178">
        <dgm:presLayoutVars>
          <dgm:chMax val="0"/>
          <dgm:bulletEnabled val="1"/>
        </dgm:presLayoutVars>
      </dgm:prSet>
      <dgm:spPr/>
      <dgm:t>
        <a:bodyPr/>
        <a:lstStyle/>
        <a:p>
          <a:endParaRPr lang="en-US"/>
        </a:p>
      </dgm:t>
    </dgm:pt>
  </dgm:ptLst>
  <dgm:cxnLst>
    <dgm:cxn modelId="{0CCA37EC-8CC4-4EDC-813F-B79FAA8EBE08}" type="presOf" srcId="{597290D9-E379-4C2F-BA55-6F86ED063723}" destId="{BED50C7F-9025-435D-8F6A-AA6EB7DDC31A}" srcOrd="0" destOrd="0" presId="urn:microsoft.com/office/officeart/2005/8/layout/vList2"/>
    <dgm:cxn modelId="{7D6A3F8F-E001-4E9B-8A3F-D76810E08747}" type="presOf" srcId="{83CA4043-E6F0-45EB-8482-EBB54F263921}" destId="{BFBC8803-1376-4DD2-B77D-ABF6050FB564}" srcOrd="0" destOrd="0" presId="urn:microsoft.com/office/officeart/2005/8/layout/vList2"/>
    <dgm:cxn modelId="{7F241DAD-6CD6-4B91-8C4F-3C4463DC342F}" srcId="{597290D9-E379-4C2F-BA55-6F86ED063723}" destId="{83CA4043-E6F0-45EB-8482-EBB54F263921}" srcOrd="0" destOrd="0" parTransId="{1DD21DE2-D992-4855-9AC2-F92599B633C1}" sibTransId="{DB6C6646-AD58-4FD3-912F-5078D0C10E73}"/>
    <dgm:cxn modelId="{479AF8F1-CE20-409A-8ADC-734654D9B9E4}" type="presParOf" srcId="{BED50C7F-9025-435D-8F6A-AA6EB7DDC31A}" destId="{BFBC8803-1376-4DD2-B77D-ABF6050FB564}" srcOrd="0"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97290D9-E379-4C2F-BA55-6F86ED0637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83CA4043-E6F0-45EB-8482-EBB54F263921}">
      <dgm:prSet custT="1"/>
      <dgm:spPr/>
      <dgm:t>
        <a:bodyPr/>
        <a:lstStyle/>
        <a:p>
          <a:pPr algn="just" rtl="0"/>
          <a:r>
            <a:rPr lang="en-US" sz="2400" b="1" dirty="0" smtClean="0"/>
            <a:t>10. “A Day with the Farmers”</a:t>
          </a:r>
        </a:p>
        <a:p>
          <a:pPr algn="just" rtl="0"/>
          <a:r>
            <a:rPr lang="en-US" sz="2400" b="1" dirty="0" smtClean="0"/>
            <a:t>An initiative by Hon’ble Agriculture Minister, </a:t>
          </a:r>
          <a:r>
            <a:rPr lang="en-US" sz="2400" b="1" dirty="0" err="1" smtClean="0"/>
            <a:t>GoK</a:t>
          </a:r>
          <a:r>
            <a:rPr lang="en-US" sz="2400" b="1" dirty="0" smtClean="0"/>
            <a:t> to reach the farmers at their doorsteps in order to understand their field problems and providing timely technical solutions, the Dept. of Agriculture has organized “A Day with the Farmers” programme. Till now, we have organized the programme in 11 districts.</a:t>
          </a:r>
          <a:endParaRPr lang="en-US" sz="2400" b="1" dirty="0">
            <a:latin typeface="+mn-lt"/>
          </a:endParaRPr>
        </a:p>
      </dgm:t>
    </dgm:pt>
    <dgm:pt modelId="{1DD21DE2-D992-4855-9AC2-F92599B633C1}" type="parTrans" cxnId="{7F241DAD-6CD6-4B91-8C4F-3C4463DC342F}">
      <dgm:prSet/>
      <dgm:spPr/>
      <dgm:t>
        <a:bodyPr/>
        <a:lstStyle/>
        <a:p>
          <a:pPr algn="just"/>
          <a:endParaRPr lang="en-US" sz="2400" b="1">
            <a:latin typeface="+mn-lt"/>
          </a:endParaRPr>
        </a:p>
      </dgm:t>
    </dgm:pt>
    <dgm:pt modelId="{DB6C6646-AD58-4FD3-912F-5078D0C10E73}" type="sibTrans" cxnId="{7F241DAD-6CD6-4B91-8C4F-3C4463DC342F}">
      <dgm:prSet/>
      <dgm:spPr/>
      <dgm:t>
        <a:bodyPr/>
        <a:lstStyle/>
        <a:p>
          <a:pPr algn="just"/>
          <a:endParaRPr lang="en-US" sz="2400" b="1">
            <a:latin typeface="+mn-lt"/>
          </a:endParaRPr>
        </a:p>
      </dgm:t>
    </dgm:pt>
    <dgm:pt modelId="{564E04C5-AEAF-4089-992F-EC6F0A4A9A4B}">
      <dgm:prSet custT="1"/>
      <dgm:spPr/>
      <dgm:t>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400" b="1" dirty="0" smtClean="0"/>
            <a:t>11. Provision of “Jai </a:t>
          </a:r>
          <a:r>
            <a:rPr lang="en-US" sz="2400" b="1" dirty="0" err="1" smtClean="0"/>
            <a:t>Kisan</a:t>
          </a:r>
          <a:r>
            <a:rPr lang="en-US" sz="2400" b="1" dirty="0" smtClean="0"/>
            <a:t>” caller tunes for the officers mobile numbers. </a:t>
          </a:r>
          <a:endParaRPr lang="en-US" sz="2400" b="1" dirty="0">
            <a:latin typeface="+mn-lt"/>
          </a:endParaRPr>
        </a:p>
      </dgm:t>
    </dgm:pt>
    <dgm:pt modelId="{465F9BE4-B9CC-4C6C-BBBD-B809FF1151FA}" type="parTrans" cxnId="{1CE6323B-B777-45C8-83EE-B47D1630E172}">
      <dgm:prSet/>
      <dgm:spPr/>
      <dgm:t>
        <a:bodyPr/>
        <a:lstStyle/>
        <a:p>
          <a:pPr algn="just"/>
          <a:endParaRPr lang="en-US" sz="2400" b="1">
            <a:latin typeface="+mn-lt"/>
          </a:endParaRPr>
        </a:p>
      </dgm:t>
    </dgm:pt>
    <dgm:pt modelId="{087D5284-73EC-4216-B4A7-1793FD67D620}" type="sibTrans" cxnId="{1CE6323B-B777-45C8-83EE-B47D1630E172}">
      <dgm:prSet/>
      <dgm:spPr/>
      <dgm:t>
        <a:bodyPr/>
        <a:lstStyle/>
        <a:p>
          <a:pPr algn="just"/>
          <a:endParaRPr lang="en-US" sz="2400" b="1">
            <a:latin typeface="+mn-lt"/>
          </a:endParaRPr>
        </a:p>
      </dgm:t>
    </dgm:pt>
    <dgm:pt modelId="{A1114D8D-923F-4689-815F-A26E5E1F66A5}">
      <dgm:prSet custT="1"/>
      <dgm:spPr/>
      <dgm:t>
        <a:bodyPr/>
        <a:lstStyle/>
        <a:p>
          <a:pPr algn="just" rtl="0"/>
          <a:endParaRPr lang="en-IN" sz="2400" b="1" dirty="0">
            <a:latin typeface="+mn-lt"/>
          </a:endParaRPr>
        </a:p>
      </dgm:t>
    </dgm:pt>
    <dgm:pt modelId="{B4B886B1-E22A-4DC2-B29C-301A96674668}" type="parTrans" cxnId="{00076102-C9A2-472A-A16B-272F3B934477}">
      <dgm:prSet/>
      <dgm:spPr/>
      <dgm:t>
        <a:bodyPr/>
        <a:lstStyle/>
        <a:p>
          <a:pPr algn="just"/>
          <a:endParaRPr lang="en-US" sz="2400" b="1">
            <a:latin typeface="+mn-lt"/>
          </a:endParaRPr>
        </a:p>
      </dgm:t>
    </dgm:pt>
    <dgm:pt modelId="{85CB4BAB-8B86-442B-B741-4539C0CCC4F3}" type="sibTrans" cxnId="{00076102-C9A2-472A-A16B-272F3B934477}">
      <dgm:prSet/>
      <dgm:spPr/>
      <dgm:t>
        <a:bodyPr/>
        <a:lstStyle/>
        <a:p>
          <a:pPr algn="just"/>
          <a:endParaRPr lang="en-US" sz="2400" b="1">
            <a:latin typeface="+mn-lt"/>
          </a:endParaRPr>
        </a:p>
      </dgm:t>
    </dgm:pt>
    <dgm:pt modelId="{BED50C7F-9025-435D-8F6A-AA6EB7DDC31A}" type="pres">
      <dgm:prSet presAssocID="{597290D9-E379-4C2F-BA55-6F86ED063723}" presName="linear" presStyleCnt="0">
        <dgm:presLayoutVars>
          <dgm:animLvl val="lvl"/>
          <dgm:resizeHandles val="exact"/>
        </dgm:presLayoutVars>
      </dgm:prSet>
      <dgm:spPr/>
      <dgm:t>
        <a:bodyPr/>
        <a:lstStyle/>
        <a:p>
          <a:endParaRPr lang="en-US"/>
        </a:p>
      </dgm:t>
    </dgm:pt>
    <dgm:pt modelId="{BFBC8803-1376-4DD2-B77D-ABF6050FB564}" type="pres">
      <dgm:prSet presAssocID="{83CA4043-E6F0-45EB-8482-EBB54F263921}" presName="parentText" presStyleLbl="node1" presStyleIdx="0" presStyleCnt="2">
        <dgm:presLayoutVars>
          <dgm:chMax val="0"/>
          <dgm:bulletEnabled val="1"/>
        </dgm:presLayoutVars>
      </dgm:prSet>
      <dgm:spPr/>
      <dgm:t>
        <a:bodyPr/>
        <a:lstStyle/>
        <a:p>
          <a:endParaRPr lang="en-US"/>
        </a:p>
      </dgm:t>
    </dgm:pt>
    <dgm:pt modelId="{50FC98D5-087C-4E20-8683-25E6212B6A76}" type="pres">
      <dgm:prSet presAssocID="{DB6C6646-AD58-4FD3-912F-5078D0C10E73}" presName="spacer" presStyleCnt="0"/>
      <dgm:spPr/>
    </dgm:pt>
    <dgm:pt modelId="{2886DC11-939D-454B-8F27-54AF37E139C2}" type="pres">
      <dgm:prSet presAssocID="{564E04C5-AEAF-4089-992F-EC6F0A4A9A4B}" presName="parentText" presStyleLbl="node1" presStyleIdx="1" presStyleCnt="2" custScaleY="47708">
        <dgm:presLayoutVars>
          <dgm:chMax val="0"/>
          <dgm:bulletEnabled val="1"/>
        </dgm:presLayoutVars>
      </dgm:prSet>
      <dgm:spPr/>
      <dgm:t>
        <a:bodyPr/>
        <a:lstStyle/>
        <a:p>
          <a:endParaRPr lang="en-US"/>
        </a:p>
      </dgm:t>
    </dgm:pt>
    <dgm:pt modelId="{77785357-1085-4813-851B-F26CC605C2B3}" type="pres">
      <dgm:prSet presAssocID="{564E04C5-AEAF-4089-992F-EC6F0A4A9A4B}" presName="childText" presStyleLbl="revTx" presStyleIdx="0" presStyleCnt="1">
        <dgm:presLayoutVars>
          <dgm:bulletEnabled val="1"/>
        </dgm:presLayoutVars>
      </dgm:prSet>
      <dgm:spPr/>
      <dgm:t>
        <a:bodyPr/>
        <a:lstStyle/>
        <a:p>
          <a:endParaRPr lang="en-US"/>
        </a:p>
      </dgm:t>
    </dgm:pt>
  </dgm:ptLst>
  <dgm:cxnLst>
    <dgm:cxn modelId="{CAED7284-86C5-4381-BBDA-4C196539CB46}" type="presOf" srcId="{564E04C5-AEAF-4089-992F-EC6F0A4A9A4B}" destId="{2886DC11-939D-454B-8F27-54AF37E139C2}" srcOrd="0" destOrd="0" presId="urn:microsoft.com/office/officeart/2005/8/layout/vList2"/>
    <dgm:cxn modelId="{7F241DAD-6CD6-4B91-8C4F-3C4463DC342F}" srcId="{597290D9-E379-4C2F-BA55-6F86ED063723}" destId="{83CA4043-E6F0-45EB-8482-EBB54F263921}" srcOrd="0" destOrd="0" parTransId="{1DD21DE2-D992-4855-9AC2-F92599B633C1}" sibTransId="{DB6C6646-AD58-4FD3-912F-5078D0C10E73}"/>
    <dgm:cxn modelId="{00076102-C9A2-472A-A16B-272F3B934477}" srcId="{564E04C5-AEAF-4089-992F-EC6F0A4A9A4B}" destId="{A1114D8D-923F-4689-815F-A26E5E1F66A5}" srcOrd="0" destOrd="0" parTransId="{B4B886B1-E22A-4DC2-B29C-301A96674668}" sibTransId="{85CB4BAB-8B86-442B-B741-4539C0CCC4F3}"/>
    <dgm:cxn modelId="{FB25DD52-0916-4689-9082-E1157E521519}" type="presOf" srcId="{A1114D8D-923F-4689-815F-A26E5E1F66A5}" destId="{77785357-1085-4813-851B-F26CC605C2B3}" srcOrd="0" destOrd="0" presId="urn:microsoft.com/office/officeart/2005/8/layout/vList2"/>
    <dgm:cxn modelId="{780D8BDA-D622-46CF-957B-BAD0D3B7BA5C}" type="presOf" srcId="{597290D9-E379-4C2F-BA55-6F86ED063723}" destId="{BED50C7F-9025-435D-8F6A-AA6EB7DDC31A}" srcOrd="0" destOrd="0" presId="urn:microsoft.com/office/officeart/2005/8/layout/vList2"/>
    <dgm:cxn modelId="{CDEECBAE-E350-4ED8-A445-B157C6C1764B}" type="presOf" srcId="{83CA4043-E6F0-45EB-8482-EBB54F263921}" destId="{BFBC8803-1376-4DD2-B77D-ABF6050FB564}" srcOrd="0" destOrd="0" presId="urn:microsoft.com/office/officeart/2005/8/layout/vList2"/>
    <dgm:cxn modelId="{1CE6323B-B777-45C8-83EE-B47D1630E172}" srcId="{597290D9-E379-4C2F-BA55-6F86ED063723}" destId="{564E04C5-AEAF-4089-992F-EC6F0A4A9A4B}" srcOrd="1" destOrd="0" parTransId="{465F9BE4-B9CC-4C6C-BBBD-B809FF1151FA}" sibTransId="{087D5284-73EC-4216-B4A7-1793FD67D620}"/>
    <dgm:cxn modelId="{B9DE5115-3AC4-45C9-938B-A08FA547916F}" type="presParOf" srcId="{BED50C7F-9025-435D-8F6A-AA6EB7DDC31A}" destId="{BFBC8803-1376-4DD2-B77D-ABF6050FB564}" srcOrd="0" destOrd="0" presId="urn:microsoft.com/office/officeart/2005/8/layout/vList2"/>
    <dgm:cxn modelId="{209B98B2-AE42-480C-AF09-B3F562E89FE7}" type="presParOf" srcId="{BED50C7F-9025-435D-8F6A-AA6EB7DDC31A}" destId="{50FC98D5-087C-4E20-8683-25E6212B6A76}" srcOrd="1" destOrd="0" presId="urn:microsoft.com/office/officeart/2005/8/layout/vList2"/>
    <dgm:cxn modelId="{9FA272CB-ED37-4EA5-8B90-90F46703E701}" type="presParOf" srcId="{BED50C7F-9025-435D-8F6A-AA6EB7DDC31A}" destId="{2886DC11-939D-454B-8F27-54AF37E139C2}" srcOrd="2" destOrd="0" presId="urn:microsoft.com/office/officeart/2005/8/layout/vList2"/>
    <dgm:cxn modelId="{C2ED20E0-F880-4D9A-AF89-B7FAE66AB323}" type="presParOf" srcId="{BED50C7F-9025-435D-8F6A-AA6EB7DDC31A}" destId="{77785357-1085-4813-851B-F26CC605C2B3}" srcOrd="3"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97290D9-E379-4C2F-BA55-6F86ED0637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83CA4043-E6F0-45EB-8482-EBB54F263921}">
      <dgm:prSet custT="1"/>
      <dgm:spPr/>
      <dgm:t>
        <a:bodyPr/>
        <a:lstStyle/>
        <a:p>
          <a:pPr algn="just" rtl="0"/>
          <a:r>
            <a:rPr lang="en-US" sz="2000" b="1" i="0" baseline="0" dirty="0" smtClean="0"/>
            <a:t>Crop Survey programme is first of its kind in the country and the flagship programme in Government of Karnataka with an intention to involve and empower farmers to record the crops grown on their lands by themselves and to bring in a system for effective capture of survey / sub survey number wise crop information. </a:t>
          </a:r>
          <a:endParaRPr lang="en-US" sz="2000" b="1" dirty="0">
            <a:latin typeface="+mn-lt"/>
          </a:endParaRPr>
        </a:p>
      </dgm:t>
    </dgm:pt>
    <dgm:pt modelId="{1DD21DE2-D992-4855-9AC2-F92599B633C1}" type="parTrans" cxnId="{7F241DAD-6CD6-4B91-8C4F-3C4463DC342F}">
      <dgm:prSet/>
      <dgm:spPr/>
      <dgm:t>
        <a:bodyPr/>
        <a:lstStyle/>
        <a:p>
          <a:pPr algn="just"/>
          <a:endParaRPr lang="en-US" sz="2000" b="1">
            <a:latin typeface="+mn-lt"/>
          </a:endParaRPr>
        </a:p>
      </dgm:t>
    </dgm:pt>
    <dgm:pt modelId="{DB6C6646-AD58-4FD3-912F-5078D0C10E73}" type="sibTrans" cxnId="{7F241DAD-6CD6-4B91-8C4F-3C4463DC342F}">
      <dgm:prSet/>
      <dgm:spPr/>
      <dgm:t>
        <a:bodyPr/>
        <a:lstStyle/>
        <a:p>
          <a:pPr algn="just"/>
          <a:endParaRPr lang="en-US" sz="2000" b="1">
            <a:latin typeface="+mn-lt"/>
          </a:endParaRPr>
        </a:p>
      </dgm:t>
    </dgm:pt>
    <dgm:pt modelId="{D473C2FB-9D51-47E2-9AD8-337CE0AEE741}">
      <dgm:prSet custT="1"/>
      <dgm:spPr/>
      <dgm:t>
        <a:bodyPr/>
        <a:lstStyle/>
        <a:p>
          <a:pPr algn="just" rtl="0"/>
          <a:r>
            <a:rPr lang="en-US" sz="2000" b="1" i="0" baseline="0" dirty="0" smtClean="0"/>
            <a:t>Crop survey data is being used in Crop Area Enumeration by Department of Economics and Statistics (DES), Crop Insurance scheme (PMFBY), MSP operation, Input subsidy (NDRF and SDRF), entry of crop details in RTC,, crop loss compensation due to COVID-19 pandemic, Sanction of other beneficiary oriented schemes and for various schemes of the Government.  </a:t>
          </a:r>
          <a:endParaRPr lang="en-US" sz="2000" b="1" dirty="0">
            <a:latin typeface="+mn-lt"/>
          </a:endParaRPr>
        </a:p>
      </dgm:t>
    </dgm:pt>
    <dgm:pt modelId="{B4493862-69C3-4532-8694-27E002102CE8}" type="parTrans" cxnId="{47F5EAE1-506A-41C5-8950-62811A47C84E}">
      <dgm:prSet/>
      <dgm:spPr/>
      <dgm:t>
        <a:bodyPr/>
        <a:lstStyle/>
        <a:p>
          <a:pPr algn="just"/>
          <a:endParaRPr lang="en-US" sz="2000" b="1">
            <a:latin typeface="+mn-lt"/>
          </a:endParaRPr>
        </a:p>
      </dgm:t>
    </dgm:pt>
    <dgm:pt modelId="{3B242B2D-3D1C-416B-9368-232D81D97CE5}" type="sibTrans" cxnId="{47F5EAE1-506A-41C5-8950-62811A47C84E}">
      <dgm:prSet/>
      <dgm:spPr/>
      <dgm:t>
        <a:bodyPr/>
        <a:lstStyle/>
        <a:p>
          <a:pPr algn="just"/>
          <a:endParaRPr lang="en-US" sz="2000" b="1">
            <a:latin typeface="+mn-lt"/>
          </a:endParaRPr>
        </a:p>
      </dgm:t>
    </dgm:pt>
    <dgm:pt modelId="{564E04C5-AEAF-4089-992F-EC6F0A4A9A4B}">
      <dgm:prSet custT="1"/>
      <dgm:spPr/>
      <dgm:t>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1" i="0" baseline="0" dirty="0" err="1" smtClean="0"/>
            <a:t>Bele</a:t>
          </a:r>
          <a:r>
            <a:rPr lang="en-US" sz="2000" b="1" i="0" baseline="0" dirty="0" smtClean="0"/>
            <a:t> </a:t>
          </a:r>
          <a:r>
            <a:rPr lang="en-US" sz="2000" b="1" i="0" baseline="0" dirty="0" err="1" smtClean="0"/>
            <a:t>Darshak</a:t>
          </a:r>
          <a:r>
            <a:rPr lang="en-US" sz="2000" b="1" i="0" baseline="0" dirty="0" smtClean="0"/>
            <a:t> App has been developed to allow the farmers to view the details of the crop survey data of his plot and to raise objections and get corrected if any. </a:t>
          </a:r>
          <a:endParaRPr lang="en-US" sz="2000" b="1" dirty="0">
            <a:latin typeface="+mn-lt"/>
          </a:endParaRPr>
        </a:p>
      </dgm:t>
    </dgm:pt>
    <dgm:pt modelId="{465F9BE4-B9CC-4C6C-BBBD-B809FF1151FA}" type="parTrans" cxnId="{1CE6323B-B777-45C8-83EE-B47D1630E172}">
      <dgm:prSet/>
      <dgm:spPr/>
      <dgm:t>
        <a:bodyPr/>
        <a:lstStyle/>
        <a:p>
          <a:pPr algn="just"/>
          <a:endParaRPr lang="en-US" sz="2000" b="1">
            <a:latin typeface="+mn-lt"/>
          </a:endParaRPr>
        </a:p>
      </dgm:t>
    </dgm:pt>
    <dgm:pt modelId="{087D5284-73EC-4216-B4A7-1793FD67D620}" type="sibTrans" cxnId="{1CE6323B-B777-45C8-83EE-B47D1630E172}">
      <dgm:prSet/>
      <dgm:spPr/>
      <dgm:t>
        <a:bodyPr/>
        <a:lstStyle/>
        <a:p>
          <a:pPr algn="just"/>
          <a:endParaRPr lang="en-US" sz="2000" b="1">
            <a:latin typeface="+mn-lt"/>
          </a:endParaRPr>
        </a:p>
      </dgm:t>
    </dgm:pt>
    <dgm:pt modelId="{A1114D8D-923F-4689-815F-A26E5E1F66A5}">
      <dgm:prSet custT="1"/>
      <dgm:spPr/>
      <dgm:t>
        <a:bodyPr/>
        <a:lstStyle/>
        <a:p>
          <a:pPr algn="just" rtl="0"/>
          <a:endParaRPr lang="en-IN" sz="2000" b="1" dirty="0">
            <a:latin typeface="+mn-lt"/>
          </a:endParaRPr>
        </a:p>
      </dgm:t>
    </dgm:pt>
    <dgm:pt modelId="{B4B886B1-E22A-4DC2-B29C-301A96674668}" type="parTrans" cxnId="{00076102-C9A2-472A-A16B-272F3B934477}">
      <dgm:prSet/>
      <dgm:spPr/>
      <dgm:t>
        <a:bodyPr/>
        <a:lstStyle/>
        <a:p>
          <a:pPr algn="just"/>
          <a:endParaRPr lang="en-US" sz="2000" b="1">
            <a:latin typeface="+mn-lt"/>
          </a:endParaRPr>
        </a:p>
      </dgm:t>
    </dgm:pt>
    <dgm:pt modelId="{85CB4BAB-8B86-442B-B741-4539C0CCC4F3}" type="sibTrans" cxnId="{00076102-C9A2-472A-A16B-272F3B934477}">
      <dgm:prSet/>
      <dgm:spPr/>
      <dgm:t>
        <a:bodyPr/>
        <a:lstStyle/>
        <a:p>
          <a:pPr algn="just"/>
          <a:endParaRPr lang="en-US" sz="2000" b="1">
            <a:latin typeface="+mn-lt"/>
          </a:endParaRPr>
        </a:p>
      </dgm:t>
    </dgm:pt>
    <dgm:pt modelId="{BED50C7F-9025-435D-8F6A-AA6EB7DDC31A}" type="pres">
      <dgm:prSet presAssocID="{597290D9-E379-4C2F-BA55-6F86ED063723}" presName="linear" presStyleCnt="0">
        <dgm:presLayoutVars>
          <dgm:animLvl val="lvl"/>
          <dgm:resizeHandles val="exact"/>
        </dgm:presLayoutVars>
      </dgm:prSet>
      <dgm:spPr/>
      <dgm:t>
        <a:bodyPr/>
        <a:lstStyle/>
        <a:p>
          <a:endParaRPr lang="en-US"/>
        </a:p>
      </dgm:t>
    </dgm:pt>
    <dgm:pt modelId="{BFBC8803-1376-4DD2-B77D-ABF6050FB564}" type="pres">
      <dgm:prSet presAssocID="{83CA4043-E6F0-45EB-8482-EBB54F263921}" presName="parentText" presStyleLbl="node1" presStyleIdx="0" presStyleCnt="3">
        <dgm:presLayoutVars>
          <dgm:chMax val="0"/>
          <dgm:bulletEnabled val="1"/>
        </dgm:presLayoutVars>
      </dgm:prSet>
      <dgm:spPr/>
      <dgm:t>
        <a:bodyPr/>
        <a:lstStyle/>
        <a:p>
          <a:endParaRPr lang="en-US"/>
        </a:p>
      </dgm:t>
    </dgm:pt>
    <dgm:pt modelId="{50FC98D5-087C-4E20-8683-25E6212B6A76}" type="pres">
      <dgm:prSet presAssocID="{DB6C6646-AD58-4FD3-912F-5078D0C10E73}" presName="spacer" presStyleCnt="0"/>
      <dgm:spPr/>
    </dgm:pt>
    <dgm:pt modelId="{B971D0C9-033B-436F-BA25-E3B162598D44}" type="pres">
      <dgm:prSet presAssocID="{D473C2FB-9D51-47E2-9AD8-337CE0AEE741}" presName="parentText" presStyleLbl="node1" presStyleIdx="1" presStyleCnt="3">
        <dgm:presLayoutVars>
          <dgm:chMax val="0"/>
          <dgm:bulletEnabled val="1"/>
        </dgm:presLayoutVars>
      </dgm:prSet>
      <dgm:spPr/>
      <dgm:t>
        <a:bodyPr/>
        <a:lstStyle/>
        <a:p>
          <a:endParaRPr lang="en-US"/>
        </a:p>
      </dgm:t>
    </dgm:pt>
    <dgm:pt modelId="{F5038B99-3807-4B43-AAA0-477F0029511F}" type="pres">
      <dgm:prSet presAssocID="{3B242B2D-3D1C-416B-9368-232D81D97CE5}" presName="spacer" presStyleCnt="0"/>
      <dgm:spPr/>
    </dgm:pt>
    <dgm:pt modelId="{2886DC11-939D-454B-8F27-54AF37E139C2}" type="pres">
      <dgm:prSet presAssocID="{564E04C5-AEAF-4089-992F-EC6F0A4A9A4B}" presName="parentText" presStyleLbl="node1" presStyleIdx="2" presStyleCnt="3">
        <dgm:presLayoutVars>
          <dgm:chMax val="0"/>
          <dgm:bulletEnabled val="1"/>
        </dgm:presLayoutVars>
      </dgm:prSet>
      <dgm:spPr/>
      <dgm:t>
        <a:bodyPr/>
        <a:lstStyle/>
        <a:p>
          <a:endParaRPr lang="en-US"/>
        </a:p>
      </dgm:t>
    </dgm:pt>
    <dgm:pt modelId="{77785357-1085-4813-851B-F26CC605C2B3}" type="pres">
      <dgm:prSet presAssocID="{564E04C5-AEAF-4089-992F-EC6F0A4A9A4B}" presName="childText" presStyleLbl="revTx" presStyleIdx="0" presStyleCnt="1">
        <dgm:presLayoutVars>
          <dgm:bulletEnabled val="1"/>
        </dgm:presLayoutVars>
      </dgm:prSet>
      <dgm:spPr/>
      <dgm:t>
        <a:bodyPr/>
        <a:lstStyle/>
        <a:p>
          <a:endParaRPr lang="en-US"/>
        </a:p>
      </dgm:t>
    </dgm:pt>
  </dgm:ptLst>
  <dgm:cxnLst>
    <dgm:cxn modelId="{30B4AA31-ACF4-4D01-931A-60391442D116}" type="presOf" srcId="{A1114D8D-923F-4689-815F-A26E5E1F66A5}" destId="{77785357-1085-4813-851B-F26CC605C2B3}" srcOrd="0" destOrd="0" presId="urn:microsoft.com/office/officeart/2005/8/layout/vList2"/>
    <dgm:cxn modelId="{025AE977-2A77-4444-A138-7EB21A9E4084}" type="presOf" srcId="{564E04C5-AEAF-4089-992F-EC6F0A4A9A4B}" destId="{2886DC11-939D-454B-8F27-54AF37E139C2}" srcOrd="0" destOrd="0" presId="urn:microsoft.com/office/officeart/2005/8/layout/vList2"/>
    <dgm:cxn modelId="{7F241DAD-6CD6-4B91-8C4F-3C4463DC342F}" srcId="{597290D9-E379-4C2F-BA55-6F86ED063723}" destId="{83CA4043-E6F0-45EB-8482-EBB54F263921}" srcOrd="0" destOrd="0" parTransId="{1DD21DE2-D992-4855-9AC2-F92599B633C1}" sibTransId="{DB6C6646-AD58-4FD3-912F-5078D0C10E73}"/>
    <dgm:cxn modelId="{00076102-C9A2-472A-A16B-272F3B934477}" srcId="{564E04C5-AEAF-4089-992F-EC6F0A4A9A4B}" destId="{A1114D8D-923F-4689-815F-A26E5E1F66A5}" srcOrd="0" destOrd="0" parTransId="{B4B886B1-E22A-4DC2-B29C-301A96674668}" sibTransId="{85CB4BAB-8B86-442B-B741-4539C0CCC4F3}"/>
    <dgm:cxn modelId="{47F5EAE1-506A-41C5-8950-62811A47C84E}" srcId="{597290D9-E379-4C2F-BA55-6F86ED063723}" destId="{D473C2FB-9D51-47E2-9AD8-337CE0AEE741}" srcOrd="1" destOrd="0" parTransId="{B4493862-69C3-4532-8694-27E002102CE8}" sibTransId="{3B242B2D-3D1C-416B-9368-232D81D97CE5}"/>
    <dgm:cxn modelId="{39088C7D-4EA0-41DF-8B03-04301D944290}" type="presOf" srcId="{D473C2FB-9D51-47E2-9AD8-337CE0AEE741}" destId="{B971D0C9-033B-436F-BA25-E3B162598D44}" srcOrd="0" destOrd="0" presId="urn:microsoft.com/office/officeart/2005/8/layout/vList2"/>
    <dgm:cxn modelId="{50B87832-E0D4-4268-9577-CAB1618A6FFD}" type="presOf" srcId="{83CA4043-E6F0-45EB-8482-EBB54F263921}" destId="{BFBC8803-1376-4DD2-B77D-ABF6050FB564}" srcOrd="0" destOrd="0" presId="urn:microsoft.com/office/officeart/2005/8/layout/vList2"/>
    <dgm:cxn modelId="{BF4F89B3-E674-4D15-A3B3-14950AC9EE0F}" type="presOf" srcId="{597290D9-E379-4C2F-BA55-6F86ED063723}" destId="{BED50C7F-9025-435D-8F6A-AA6EB7DDC31A}" srcOrd="0" destOrd="0" presId="urn:microsoft.com/office/officeart/2005/8/layout/vList2"/>
    <dgm:cxn modelId="{1CE6323B-B777-45C8-83EE-B47D1630E172}" srcId="{597290D9-E379-4C2F-BA55-6F86ED063723}" destId="{564E04C5-AEAF-4089-992F-EC6F0A4A9A4B}" srcOrd="2" destOrd="0" parTransId="{465F9BE4-B9CC-4C6C-BBBD-B809FF1151FA}" sibTransId="{087D5284-73EC-4216-B4A7-1793FD67D620}"/>
    <dgm:cxn modelId="{3F1F0009-3DC1-4EEC-91FB-887FADAED61F}" type="presParOf" srcId="{BED50C7F-9025-435D-8F6A-AA6EB7DDC31A}" destId="{BFBC8803-1376-4DD2-B77D-ABF6050FB564}" srcOrd="0" destOrd="0" presId="urn:microsoft.com/office/officeart/2005/8/layout/vList2"/>
    <dgm:cxn modelId="{F8C0FB4A-AA57-4EC6-AB83-3A1CBE9D079F}" type="presParOf" srcId="{BED50C7F-9025-435D-8F6A-AA6EB7DDC31A}" destId="{50FC98D5-087C-4E20-8683-25E6212B6A76}" srcOrd="1" destOrd="0" presId="urn:microsoft.com/office/officeart/2005/8/layout/vList2"/>
    <dgm:cxn modelId="{1A8805A8-D30E-45D3-A199-3087CF989FF8}" type="presParOf" srcId="{BED50C7F-9025-435D-8F6A-AA6EB7DDC31A}" destId="{B971D0C9-033B-436F-BA25-E3B162598D44}" srcOrd="2" destOrd="0" presId="urn:microsoft.com/office/officeart/2005/8/layout/vList2"/>
    <dgm:cxn modelId="{EBB92702-2F6A-43BB-B719-611736D57AD4}" type="presParOf" srcId="{BED50C7F-9025-435D-8F6A-AA6EB7DDC31A}" destId="{F5038B99-3807-4B43-AAA0-477F0029511F}" srcOrd="3" destOrd="0" presId="urn:microsoft.com/office/officeart/2005/8/layout/vList2"/>
    <dgm:cxn modelId="{6356ED2E-C1E5-4926-8AE3-9AA44D24D882}" type="presParOf" srcId="{BED50C7F-9025-435D-8F6A-AA6EB7DDC31A}" destId="{2886DC11-939D-454B-8F27-54AF37E139C2}" srcOrd="4" destOrd="0" presId="urn:microsoft.com/office/officeart/2005/8/layout/vList2"/>
    <dgm:cxn modelId="{35A8CE12-38C1-4180-A020-9744C8CBE0EB}" type="presParOf" srcId="{BED50C7F-9025-435D-8F6A-AA6EB7DDC31A}" destId="{77785357-1085-4813-851B-F26CC605C2B3}" srcOrd="5" destOrd="0" presId="urn:microsoft.com/office/officeart/2005/8/layout/vList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D268D1-C5E3-4BA8-9C3D-4E66DE12358E}">
      <dsp:nvSpPr>
        <dsp:cNvPr id="0" name=""/>
        <dsp:cNvSpPr/>
      </dsp:nvSpPr>
      <dsp:spPr>
        <a:xfrm>
          <a:off x="0" y="2439"/>
          <a:ext cx="5000659" cy="10296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t>Total area in the state is 1.91 </a:t>
          </a:r>
          <a:r>
            <a:rPr lang="en-US" sz="1800" b="1" kern="1200" dirty="0" err="1" smtClean="0"/>
            <a:t>lakh</a:t>
          </a:r>
          <a:r>
            <a:rPr lang="en-US" sz="1800" b="1" kern="1200" dirty="0" smtClean="0"/>
            <a:t> sq </a:t>
          </a:r>
          <a:r>
            <a:rPr lang="en-US" sz="1800" b="1" kern="1200" dirty="0" err="1" smtClean="0"/>
            <a:t>kms</a:t>
          </a:r>
          <a:r>
            <a:rPr lang="en-US" sz="1800" b="1" kern="1200" dirty="0" smtClean="0"/>
            <a:t>, of which 118.05 </a:t>
          </a:r>
          <a:r>
            <a:rPr lang="en-US" sz="1800" b="1" kern="1200" dirty="0" err="1" smtClean="0"/>
            <a:t>lakh</a:t>
          </a:r>
          <a:r>
            <a:rPr lang="en-US" sz="1800" b="1" kern="1200" dirty="0" smtClean="0"/>
            <a:t> hectare is cultivable. Cropping intensity 122%</a:t>
          </a:r>
          <a:endParaRPr lang="en-US" sz="1800" kern="1200" dirty="0"/>
        </a:p>
      </dsp:txBody>
      <dsp:txXfrm>
        <a:off x="50261" y="52700"/>
        <a:ext cx="4900137" cy="929078"/>
      </dsp:txXfrm>
    </dsp:sp>
    <dsp:sp modelId="{21AB9C20-B650-4001-9BCD-884FDF4F3272}">
      <dsp:nvSpPr>
        <dsp:cNvPr id="0" name=""/>
        <dsp:cNvSpPr/>
      </dsp:nvSpPr>
      <dsp:spPr>
        <a:xfrm>
          <a:off x="0" y="1190439"/>
          <a:ext cx="5000659" cy="10296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t>16 districts out of 31 are drought prone. It is second most drought prone State of the Country.</a:t>
          </a:r>
          <a:endParaRPr lang="en-US" sz="1800" kern="1200" dirty="0"/>
        </a:p>
      </dsp:txBody>
      <dsp:txXfrm>
        <a:off x="50261" y="1240700"/>
        <a:ext cx="4900137" cy="929078"/>
      </dsp:txXfrm>
    </dsp:sp>
    <dsp:sp modelId="{E4E28DEF-A49C-473E-A150-C778FD4D5275}">
      <dsp:nvSpPr>
        <dsp:cNvPr id="0" name=""/>
        <dsp:cNvSpPr/>
      </dsp:nvSpPr>
      <dsp:spPr>
        <a:xfrm>
          <a:off x="0" y="2378439"/>
          <a:ext cx="5000659" cy="10296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t>The area under irrigation in Karnataka is 30.66% of the total agricultural land. Tank and well irrigation is pre-dominant.</a:t>
          </a:r>
          <a:endParaRPr lang="en-US" sz="1800" kern="1200" dirty="0"/>
        </a:p>
      </dsp:txBody>
      <dsp:txXfrm>
        <a:off x="50261" y="2428700"/>
        <a:ext cx="4900137" cy="929078"/>
      </dsp:txXfrm>
    </dsp:sp>
    <dsp:sp modelId="{C89A6D92-8C20-4D54-9B5C-ED1F7C2938C1}">
      <dsp:nvSpPr>
        <dsp:cNvPr id="0" name=""/>
        <dsp:cNvSpPr/>
      </dsp:nvSpPr>
      <dsp:spPr>
        <a:xfrm>
          <a:off x="0" y="3566439"/>
          <a:ext cx="5000659" cy="10296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t>Irrigated area wise, it ranks 12th in the country after Punjab-98.8%, Haryana-90.4%, </a:t>
          </a:r>
          <a:r>
            <a:rPr lang="en-US" sz="1800" b="1" kern="1200" dirty="0" err="1" smtClean="0"/>
            <a:t>Puducherry</a:t>
          </a:r>
          <a:r>
            <a:rPr lang="en-US" sz="1800" b="1" kern="1200" dirty="0" smtClean="0"/>
            <a:t>  82.3%, Uttar Pradesh-80.3%, Bihar-69.8% etc.</a:t>
          </a:r>
          <a:endParaRPr lang="en-US" sz="1800" kern="1200" dirty="0"/>
        </a:p>
      </dsp:txBody>
      <dsp:txXfrm>
        <a:off x="50261" y="3616700"/>
        <a:ext cx="4900137" cy="929078"/>
      </dsp:txXfrm>
    </dsp:sp>
    <dsp:sp modelId="{59204806-2BC8-4A23-8AB7-03BE9951C4D6}">
      <dsp:nvSpPr>
        <dsp:cNvPr id="0" name=""/>
        <dsp:cNvSpPr/>
      </dsp:nvSpPr>
      <dsp:spPr>
        <a:xfrm>
          <a:off x="0" y="4754438"/>
          <a:ext cx="5000659" cy="10296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en-US" sz="1800" b="1" kern="1200" dirty="0" smtClean="0"/>
            <a:t>The consumption of chemical fertilizer is 143 Kg /hectare and  usage of chemical pesticides is 1.73Kg/hectare.</a:t>
          </a:r>
          <a:endParaRPr lang="en-US" sz="1800" kern="1200" dirty="0"/>
        </a:p>
      </dsp:txBody>
      <dsp:txXfrm>
        <a:off x="50261" y="4804699"/>
        <a:ext cx="4900137" cy="929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DD1906-EEE0-42E5-9EF6-9FDE5715C1A5}">
      <dsp:nvSpPr>
        <dsp:cNvPr id="0" name=""/>
        <dsp:cNvSpPr/>
      </dsp:nvSpPr>
      <dsp:spPr>
        <a:xfrm>
          <a:off x="0" y="0"/>
          <a:ext cx="3752849" cy="3752849"/>
        </a:xfrm>
        <a:prstGeom prst="pie">
          <a:avLst>
            <a:gd name="adj1" fmla="val 5400000"/>
            <a:gd name="adj2" fmla="val 1620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FE8558-E41D-48F5-9EFA-2716E9FCCA8D}">
      <dsp:nvSpPr>
        <dsp:cNvPr id="0" name=""/>
        <dsp:cNvSpPr/>
      </dsp:nvSpPr>
      <dsp:spPr>
        <a:xfrm>
          <a:off x="1876424" y="0"/>
          <a:ext cx="5667375" cy="3752849"/>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lvl="0" algn="ctr" defTabSz="2133600" rtl="0">
            <a:lnSpc>
              <a:spcPct val="90000"/>
            </a:lnSpc>
            <a:spcBef>
              <a:spcPct val="0"/>
            </a:spcBef>
            <a:spcAft>
              <a:spcPct val="35000"/>
            </a:spcAft>
          </a:pPr>
          <a:r>
            <a:rPr lang="en-US" sz="4800" b="1" kern="1200" dirty="0" smtClean="0"/>
            <a:t>UNIQUE ACOMPLISHMENTS AND PROGRAMMES OF KARNATAKA</a:t>
          </a:r>
          <a:endParaRPr lang="en-IN" sz="4800" b="1" kern="1200" dirty="0"/>
        </a:p>
      </dsp:txBody>
      <dsp:txXfrm>
        <a:off x="1876424" y="0"/>
        <a:ext cx="5667375" cy="37528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0C683-3040-4E39-9306-0948AEFCB1E1}">
      <dsp:nvSpPr>
        <dsp:cNvPr id="0" name=""/>
        <dsp:cNvSpPr/>
      </dsp:nvSpPr>
      <dsp:spPr>
        <a:xfrm>
          <a:off x="0" y="1614"/>
          <a:ext cx="9144000" cy="1187129"/>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rtl="0">
            <a:lnSpc>
              <a:spcPct val="90000"/>
            </a:lnSpc>
            <a:spcBef>
              <a:spcPct val="0"/>
            </a:spcBef>
            <a:spcAft>
              <a:spcPct val="35000"/>
            </a:spcAft>
          </a:pPr>
          <a:r>
            <a:rPr lang="en-US" sz="2200" b="1" kern="1200" dirty="0" smtClean="0"/>
            <a:t>1. All the land records in the State are computerized and village maps, their survey numbers geo-reformed and digitized.</a:t>
          </a:r>
          <a:endParaRPr lang="en-US" sz="2200" kern="1200" dirty="0"/>
        </a:p>
      </dsp:txBody>
      <dsp:txXfrm>
        <a:off x="57951" y="59565"/>
        <a:ext cx="9028098" cy="1071227"/>
      </dsp:txXfrm>
    </dsp:sp>
    <dsp:sp modelId="{3EDCA17D-36DD-4E3A-A4D4-24F637F7E3AB}">
      <dsp:nvSpPr>
        <dsp:cNvPr id="0" name=""/>
        <dsp:cNvSpPr/>
      </dsp:nvSpPr>
      <dsp:spPr>
        <a:xfrm>
          <a:off x="0" y="1199181"/>
          <a:ext cx="9144000" cy="2180741"/>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rtl="0">
            <a:lnSpc>
              <a:spcPct val="90000"/>
            </a:lnSpc>
            <a:spcBef>
              <a:spcPct val="0"/>
            </a:spcBef>
            <a:spcAft>
              <a:spcPct val="35000"/>
            </a:spcAft>
          </a:pPr>
          <a:r>
            <a:rPr lang="en-US" sz="2200" b="1" kern="1200" dirty="0" smtClean="0"/>
            <a:t>2. The State developed Crop Insurance portal by name </a:t>
          </a:r>
          <a:r>
            <a:rPr lang="en-US" sz="2200" b="1" kern="1200" dirty="0" smtClean="0">
              <a:solidFill>
                <a:srgbClr val="C00000"/>
              </a:solidFill>
            </a:rPr>
            <a:t>“</a:t>
          </a:r>
          <a:r>
            <a:rPr lang="en-US" sz="2200" b="1" kern="1200" dirty="0" err="1" smtClean="0">
              <a:solidFill>
                <a:srgbClr val="C00000"/>
              </a:solidFill>
            </a:rPr>
            <a:t>Samrakshane</a:t>
          </a:r>
          <a:r>
            <a:rPr lang="en-US" sz="2200" b="1" kern="1200" dirty="0" smtClean="0">
              <a:solidFill>
                <a:srgbClr val="C00000"/>
              </a:solidFill>
            </a:rPr>
            <a:t>” </a:t>
          </a:r>
          <a:r>
            <a:rPr lang="en-US" sz="2200" b="1" kern="1200" dirty="0" smtClean="0"/>
            <a:t>portal (End to End solution)- During </a:t>
          </a:r>
          <a:r>
            <a:rPr lang="en-US" sz="2200" b="1" kern="1200" dirty="0" err="1" smtClean="0"/>
            <a:t>Kharif</a:t>
          </a:r>
          <a:r>
            <a:rPr lang="en-US" sz="2200" b="1" kern="1200" dirty="0" smtClean="0"/>
            <a:t> 2021, an amount of 123.42 </a:t>
          </a:r>
          <a:r>
            <a:rPr lang="en-US" sz="2200" b="1" kern="1200" dirty="0" err="1" smtClean="0"/>
            <a:t>crores</a:t>
          </a:r>
          <a:r>
            <a:rPr lang="en-US" sz="2200" b="1" kern="1200" dirty="0" smtClean="0"/>
            <a:t> claims have been settled for 1.84 </a:t>
          </a:r>
          <a:r>
            <a:rPr lang="en-US" sz="2200" b="1" kern="1200" dirty="0" err="1" smtClean="0"/>
            <a:t>lakh</a:t>
          </a:r>
          <a:r>
            <a:rPr lang="en-US" sz="2200" b="1" kern="1200" dirty="0" smtClean="0"/>
            <a:t> farmers in terms of add on area coverage of Prevented sowing, Mid season adversity, Localized calamity and Post harvest losses.</a:t>
          </a:r>
          <a:endParaRPr lang="en-US" sz="2200" kern="1200" dirty="0"/>
        </a:p>
      </dsp:txBody>
      <dsp:txXfrm>
        <a:off x="106455" y="1305636"/>
        <a:ext cx="8931090" cy="1967831"/>
      </dsp:txXfrm>
    </dsp:sp>
    <dsp:sp modelId="{03273EEF-50F5-4970-B571-F4DFAC672511}">
      <dsp:nvSpPr>
        <dsp:cNvPr id="0" name=""/>
        <dsp:cNvSpPr/>
      </dsp:nvSpPr>
      <dsp:spPr>
        <a:xfrm>
          <a:off x="0" y="3390360"/>
          <a:ext cx="9144000" cy="1197319"/>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rtl="0">
            <a:lnSpc>
              <a:spcPct val="90000"/>
            </a:lnSpc>
            <a:spcBef>
              <a:spcPct val="0"/>
            </a:spcBef>
            <a:spcAft>
              <a:spcPct val="35000"/>
            </a:spcAft>
          </a:pPr>
          <a:r>
            <a:rPr lang="en-US" sz="2200" b="1" kern="1200" dirty="0" smtClean="0"/>
            <a:t>3. The State has complete information of  74,91,020 farmer in its FRUITS (</a:t>
          </a:r>
          <a:r>
            <a:rPr lang="en-US" sz="2200" b="1" kern="1200" dirty="0" smtClean="0">
              <a:solidFill>
                <a:srgbClr val="60C344"/>
              </a:solidFill>
              <a:latin typeface="+mn-lt"/>
            </a:rPr>
            <a:t>F</a:t>
          </a:r>
          <a:r>
            <a:rPr lang="en-US" sz="2200" b="1" kern="1200" dirty="0" smtClean="0">
              <a:solidFill>
                <a:srgbClr val="000000"/>
              </a:solidFill>
              <a:latin typeface="+mn-lt"/>
            </a:rPr>
            <a:t>armer </a:t>
          </a:r>
          <a:r>
            <a:rPr lang="en-US" sz="2200" b="1" kern="1200" dirty="0" smtClean="0">
              <a:solidFill>
                <a:srgbClr val="60C344"/>
              </a:solidFill>
              <a:latin typeface="+mn-lt"/>
            </a:rPr>
            <a:t>R</a:t>
          </a:r>
          <a:r>
            <a:rPr lang="en-US" sz="2200" b="1" kern="1200" dirty="0" smtClean="0">
              <a:solidFill>
                <a:srgbClr val="000000"/>
              </a:solidFill>
              <a:latin typeface="+mn-lt"/>
            </a:rPr>
            <a:t>egistration and </a:t>
          </a:r>
          <a:r>
            <a:rPr lang="en-US" sz="2200" b="1" kern="1200" dirty="0" smtClean="0">
              <a:solidFill>
                <a:srgbClr val="60C344"/>
              </a:solidFill>
              <a:latin typeface="+mn-lt"/>
            </a:rPr>
            <a:t>U</a:t>
          </a:r>
          <a:r>
            <a:rPr lang="en-US" sz="2200" b="1" kern="1200" dirty="0" smtClean="0">
              <a:solidFill>
                <a:srgbClr val="000000"/>
              </a:solidFill>
              <a:latin typeface="+mn-lt"/>
            </a:rPr>
            <a:t>nified beneficiary </a:t>
          </a:r>
          <a:r>
            <a:rPr lang="en-US" sz="2200" b="1" kern="1200" dirty="0" err="1" smtClean="0">
              <a:solidFill>
                <a:srgbClr val="60C344"/>
              </a:solidFill>
              <a:latin typeface="+mn-lt"/>
            </a:rPr>
            <a:t>I</a:t>
          </a:r>
          <a:r>
            <a:rPr lang="en-US" sz="2200" b="1" kern="1200" dirty="0" err="1" smtClean="0">
              <a:solidFill>
                <a:srgbClr val="000000"/>
              </a:solidFill>
              <a:latin typeface="+mn-lt"/>
            </a:rPr>
            <a:t>nforma</a:t>
          </a:r>
          <a:r>
            <a:rPr lang="en-US" sz="2200" b="1" kern="1200" dirty="0" err="1" smtClean="0">
              <a:solidFill>
                <a:srgbClr val="60C344"/>
              </a:solidFill>
              <a:latin typeface="+mn-lt"/>
            </a:rPr>
            <a:t>T</a:t>
          </a:r>
          <a:r>
            <a:rPr lang="en-US" sz="2200" b="1" kern="1200" dirty="0" err="1" smtClean="0">
              <a:solidFill>
                <a:srgbClr val="000000"/>
              </a:solidFill>
              <a:latin typeface="+mn-lt"/>
            </a:rPr>
            <a:t>ion</a:t>
          </a:r>
          <a:r>
            <a:rPr lang="en-US" sz="2200" b="1" kern="1200" dirty="0" smtClean="0">
              <a:solidFill>
                <a:srgbClr val="000000"/>
              </a:solidFill>
              <a:latin typeface="+mn-lt"/>
            </a:rPr>
            <a:t> </a:t>
          </a:r>
          <a:r>
            <a:rPr lang="en-US" sz="2200" b="1" kern="1200" dirty="0" smtClean="0">
              <a:solidFill>
                <a:srgbClr val="60C344"/>
              </a:solidFill>
              <a:latin typeface="+mn-lt"/>
            </a:rPr>
            <a:t>S</a:t>
          </a:r>
          <a:r>
            <a:rPr lang="en-US" sz="2200" b="1" kern="1200" dirty="0" smtClean="0">
              <a:solidFill>
                <a:srgbClr val="000000"/>
              </a:solidFill>
              <a:latin typeface="+mn-lt"/>
            </a:rPr>
            <a:t>ystem)</a:t>
          </a:r>
          <a:r>
            <a:rPr lang="en-US" sz="2200" b="1" kern="1200" dirty="0" smtClean="0"/>
            <a:t> portal. Of which 61,37,783 farmers are land holders and 13,53,237are landless.</a:t>
          </a:r>
          <a:endParaRPr lang="en-US" sz="2200" kern="1200" dirty="0"/>
        </a:p>
      </dsp:txBody>
      <dsp:txXfrm>
        <a:off x="58448" y="3448808"/>
        <a:ext cx="9027104" cy="1080423"/>
      </dsp:txXfrm>
    </dsp:sp>
    <dsp:sp modelId="{617F976A-B819-4172-9D7D-2A0BAE4C7423}">
      <dsp:nvSpPr>
        <dsp:cNvPr id="0" name=""/>
        <dsp:cNvSpPr/>
      </dsp:nvSpPr>
      <dsp:spPr>
        <a:xfrm>
          <a:off x="0" y="4598117"/>
          <a:ext cx="9144000" cy="1421555"/>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rtl="0">
            <a:lnSpc>
              <a:spcPct val="90000"/>
            </a:lnSpc>
            <a:spcBef>
              <a:spcPct val="0"/>
            </a:spcBef>
            <a:spcAft>
              <a:spcPct val="35000"/>
            </a:spcAft>
          </a:pPr>
          <a:r>
            <a:rPr lang="en-US" sz="2200" b="1" kern="1200" dirty="0" smtClean="0"/>
            <a:t>4. The state has its K-KISAN (</a:t>
          </a:r>
          <a:r>
            <a:rPr lang="sv-SE" sz="2200" b="1" i="0" kern="1200" dirty="0" smtClean="0">
              <a:solidFill>
                <a:srgbClr val="00B050"/>
              </a:solidFill>
            </a:rPr>
            <a:t>K</a:t>
          </a:r>
          <a:r>
            <a:rPr lang="sv-SE" sz="2200" b="1" i="0" kern="1200" dirty="0" smtClean="0"/>
            <a:t>arnataka </a:t>
          </a:r>
          <a:r>
            <a:rPr lang="sv-SE" sz="2200" b="1" i="0" kern="1200" dirty="0" smtClean="0">
              <a:solidFill>
                <a:srgbClr val="00B050"/>
              </a:solidFill>
            </a:rPr>
            <a:t>K</a:t>
          </a:r>
          <a:r>
            <a:rPr lang="sv-SE" sz="2200" b="1" i="0" kern="1200" dirty="0" smtClean="0"/>
            <a:t>rishi </a:t>
          </a:r>
          <a:r>
            <a:rPr lang="sv-SE" sz="2200" b="1" i="0" kern="1200" dirty="0" smtClean="0">
              <a:solidFill>
                <a:srgbClr val="00B050"/>
              </a:solidFill>
            </a:rPr>
            <a:t>I</a:t>
          </a:r>
          <a:r>
            <a:rPr lang="sv-SE" sz="2200" b="1" i="0" kern="1200" dirty="0" smtClean="0"/>
            <a:t>nformation </a:t>
          </a:r>
          <a:r>
            <a:rPr lang="sv-SE" sz="2200" b="1" i="0" kern="1200" dirty="0" smtClean="0">
              <a:solidFill>
                <a:srgbClr val="00B050"/>
              </a:solidFill>
            </a:rPr>
            <a:t>S</a:t>
          </a:r>
          <a:r>
            <a:rPr lang="sv-SE" sz="2200" b="1" i="0" kern="1200" dirty="0" smtClean="0"/>
            <a:t>tudies </a:t>
          </a:r>
          <a:r>
            <a:rPr lang="sv-SE" sz="2200" b="1" i="0" kern="1200" dirty="0" smtClean="0">
              <a:solidFill>
                <a:srgbClr val="00B050"/>
              </a:solidFill>
            </a:rPr>
            <a:t>a</a:t>
          </a:r>
          <a:r>
            <a:rPr lang="sv-SE" sz="2200" b="1" i="0" kern="1200" dirty="0" smtClean="0"/>
            <a:t>nd </a:t>
          </a:r>
          <a:r>
            <a:rPr lang="sv-SE" sz="2200" b="1" i="0" kern="1200" dirty="0" smtClean="0">
              <a:solidFill>
                <a:srgbClr val="00B050"/>
              </a:solidFill>
            </a:rPr>
            <a:t>N</a:t>
          </a:r>
          <a:r>
            <a:rPr lang="sv-SE" sz="2200" b="1" i="0" kern="1200" dirty="0" smtClean="0"/>
            <a:t>etwork)</a:t>
          </a:r>
          <a:r>
            <a:rPr lang="sv-SE" sz="2200" b="0" i="0" kern="1200" dirty="0" smtClean="0"/>
            <a:t> </a:t>
          </a:r>
          <a:r>
            <a:rPr lang="en-US" sz="2200" b="1" kern="1200" dirty="0" smtClean="0"/>
            <a:t> portal in which all the benefits given to farmers under any scheme are recorded and updated.</a:t>
          </a:r>
          <a:endParaRPr lang="en-US" sz="2200" kern="1200" dirty="0"/>
        </a:p>
      </dsp:txBody>
      <dsp:txXfrm>
        <a:off x="69395" y="4667512"/>
        <a:ext cx="9005210" cy="12827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EAC801-CA35-40AA-A97F-2C86EDBAFC92}">
      <dsp:nvSpPr>
        <dsp:cNvPr id="0" name=""/>
        <dsp:cNvSpPr/>
      </dsp:nvSpPr>
      <dsp:spPr>
        <a:xfrm>
          <a:off x="0" y="408264"/>
          <a:ext cx="8496944" cy="1163909"/>
        </a:xfrm>
        <a:prstGeom prst="roundRect">
          <a:avLst/>
        </a:prstGeom>
        <a:solidFill>
          <a:schemeClr val="bg1"/>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a:lnSpc>
              <a:spcPct val="90000"/>
            </a:lnSpc>
            <a:spcBef>
              <a:spcPct val="0"/>
            </a:spcBef>
            <a:spcAft>
              <a:spcPct val="35000"/>
            </a:spcAft>
          </a:pPr>
          <a:r>
            <a:rPr lang="en-US" sz="2200" b="1" kern="1200" dirty="0" smtClean="0">
              <a:solidFill>
                <a:schemeClr val="tx1"/>
              </a:solidFill>
            </a:rPr>
            <a:t>5. The State extends all its beneficiary payments by DBT to the financial address.</a:t>
          </a:r>
          <a:endParaRPr lang="en-US" sz="2200" kern="1200" dirty="0">
            <a:solidFill>
              <a:schemeClr val="tx1"/>
            </a:solidFill>
          </a:endParaRPr>
        </a:p>
      </dsp:txBody>
      <dsp:txXfrm>
        <a:off x="56817" y="465081"/>
        <a:ext cx="8383310" cy="1050275"/>
      </dsp:txXfrm>
    </dsp:sp>
    <dsp:sp modelId="{89C0EDD7-9376-4ABD-9D08-F51FB4F59EF5}">
      <dsp:nvSpPr>
        <dsp:cNvPr id="0" name=""/>
        <dsp:cNvSpPr/>
      </dsp:nvSpPr>
      <dsp:spPr>
        <a:xfrm>
          <a:off x="0" y="1584183"/>
          <a:ext cx="8496944" cy="1419280"/>
        </a:xfrm>
        <a:prstGeom prst="roundRect">
          <a:avLst/>
        </a:prstGeom>
        <a:solidFill>
          <a:schemeClr val="bg1"/>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a:lnSpc>
              <a:spcPct val="90000"/>
            </a:lnSpc>
            <a:spcBef>
              <a:spcPct val="0"/>
            </a:spcBef>
            <a:spcAft>
              <a:spcPct val="35000"/>
            </a:spcAft>
          </a:pPr>
          <a:r>
            <a:rPr lang="en-US" sz="2200" b="1" kern="1200" dirty="0" smtClean="0">
              <a:solidFill>
                <a:schemeClr val="tx1"/>
              </a:solidFill>
            </a:rPr>
            <a:t>6. PM-KISAN-Karnataka provides additional assistance of Rs 4000 per farming household, an amount of Rs. 1977.67 crore to 50.35 </a:t>
          </a:r>
          <a:r>
            <a:rPr lang="en-US" sz="2200" b="1" kern="1200" dirty="0" err="1" smtClean="0">
              <a:solidFill>
                <a:schemeClr val="tx1"/>
              </a:solidFill>
            </a:rPr>
            <a:t>lakh</a:t>
          </a:r>
          <a:r>
            <a:rPr lang="en-US" sz="2200" b="1" kern="1200" dirty="0" smtClean="0">
              <a:solidFill>
                <a:schemeClr val="tx1"/>
              </a:solidFill>
            </a:rPr>
            <a:t> beneficiaries for the year 2021-22 , eligible under PM-KISAN.</a:t>
          </a:r>
          <a:endParaRPr lang="en-US" sz="2200" kern="1200" dirty="0">
            <a:solidFill>
              <a:schemeClr val="tx1"/>
            </a:solidFill>
          </a:endParaRPr>
        </a:p>
      </dsp:txBody>
      <dsp:txXfrm>
        <a:off x="69284" y="1653467"/>
        <a:ext cx="8358376" cy="1280712"/>
      </dsp:txXfrm>
    </dsp:sp>
    <dsp:sp modelId="{7939CF88-545B-4BBF-A5D2-2BA5A45C7C6C}">
      <dsp:nvSpPr>
        <dsp:cNvPr id="0" name=""/>
        <dsp:cNvSpPr/>
      </dsp:nvSpPr>
      <dsp:spPr>
        <a:xfrm>
          <a:off x="0" y="3015473"/>
          <a:ext cx="8496944" cy="1688830"/>
        </a:xfrm>
        <a:prstGeom prst="roundRect">
          <a:avLst/>
        </a:prstGeom>
        <a:solidFill>
          <a:schemeClr val="bg1"/>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just" defTabSz="977900">
            <a:lnSpc>
              <a:spcPct val="90000"/>
            </a:lnSpc>
            <a:spcBef>
              <a:spcPct val="0"/>
            </a:spcBef>
            <a:spcAft>
              <a:spcPct val="35000"/>
            </a:spcAft>
          </a:pPr>
          <a:r>
            <a:rPr lang="en-US" sz="2200" b="1" kern="1200" dirty="0" smtClean="0">
              <a:solidFill>
                <a:schemeClr val="tx1"/>
              </a:solidFill>
            </a:rPr>
            <a:t>7. Directorate of Secondary Agriculture: </a:t>
          </a:r>
        </a:p>
        <a:p>
          <a:pPr lvl="0" algn="just" defTabSz="977900">
            <a:lnSpc>
              <a:spcPct val="90000"/>
            </a:lnSpc>
            <a:spcBef>
              <a:spcPct val="0"/>
            </a:spcBef>
            <a:spcAft>
              <a:spcPct val="35000"/>
            </a:spcAft>
          </a:pPr>
          <a:r>
            <a:rPr lang="en-US" sz="2200" b="1" kern="1200" dirty="0" smtClean="0">
              <a:solidFill>
                <a:schemeClr val="tx1"/>
              </a:solidFill>
            </a:rPr>
            <a:t>Govt. of Karnataka is pioneer in starting </a:t>
          </a:r>
          <a:r>
            <a:rPr lang="en-US" sz="2200" b="1" i="1" kern="1200" dirty="0" smtClean="0">
              <a:solidFill>
                <a:schemeClr val="tx1"/>
              </a:solidFill>
            </a:rPr>
            <a:t>Separate Directorate for Secondary Agriculture</a:t>
          </a:r>
          <a:r>
            <a:rPr lang="en-US" sz="2200" b="1" kern="1200" dirty="0" smtClean="0">
              <a:solidFill>
                <a:schemeClr val="tx1"/>
              </a:solidFill>
            </a:rPr>
            <a:t>. This would facilitate value addition of primary agricultural produce and to create better market opportunities for these produce, in turn leading to the increase in farmers income.</a:t>
          </a:r>
          <a:endParaRPr lang="en-US" sz="2200" kern="1200" dirty="0">
            <a:solidFill>
              <a:schemeClr val="tx1"/>
            </a:solidFill>
          </a:endParaRPr>
        </a:p>
      </dsp:txBody>
      <dsp:txXfrm>
        <a:off x="82442" y="3097915"/>
        <a:ext cx="8332060" cy="15239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6DC11-939D-454B-8F27-54AF37E139C2}">
      <dsp:nvSpPr>
        <dsp:cNvPr id="0" name=""/>
        <dsp:cNvSpPr/>
      </dsp:nvSpPr>
      <dsp:spPr>
        <a:xfrm>
          <a:off x="0" y="3453241"/>
          <a:ext cx="8532440" cy="2091375"/>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b="1" kern="1200" dirty="0" smtClean="0"/>
            <a:t>8. “CM-</a:t>
          </a:r>
          <a:r>
            <a:rPr lang="en-US" sz="2400" b="1" kern="1200" dirty="0" err="1" smtClean="0"/>
            <a:t>Raitha</a:t>
          </a:r>
          <a:r>
            <a:rPr lang="en-US" sz="2400" b="1" kern="1200" dirty="0" smtClean="0"/>
            <a:t> </a:t>
          </a:r>
          <a:r>
            <a:rPr lang="en-US" sz="2400" b="1" kern="1200" dirty="0" err="1" smtClean="0"/>
            <a:t>Vidya</a:t>
          </a:r>
          <a:r>
            <a:rPr lang="en-US" sz="2400" b="1" kern="1200" dirty="0" smtClean="0"/>
            <a:t> </a:t>
          </a:r>
          <a:r>
            <a:rPr lang="en-US" sz="2400" b="1" kern="1200" dirty="0" err="1" smtClean="0"/>
            <a:t>Nidhi</a:t>
          </a:r>
          <a:r>
            <a:rPr lang="en-US" sz="2400" b="1" kern="1200" dirty="0" smtClean="0"/>
            <a:t>”: </a:t>
          </a:r>
          <a:r>
            <a:rPr lang="en-US" sz="2400" b="1" kern="1200" dirty="0" err="1" smtClean="0"/>
            <a:t>Govt</a:t>
          </a:r>
          <a:r>
            <a:rPr lang="en-US" sz="2400" b="1" kern="1200" dirty="0" smtClean="0"/>
            <a:t> of Karnataka is pioneer in launching the scheme “</a:t>
          </a:r>
          <a:r>
            <a:rPr lang="en-US" sz="2400" b="1" kern="1200" dirty="0" err="1" smtClean="0"/>
            <a:t>Raitha</a:t>
          </a:r>
          <a:r>
            <a:rPr lang="en-US" sz="2400" b="1" kern="1200" dirty="0" smtClean="0"/>
            <a:t> </a:t>
          </a:r>
          <a:r>
            <a:rPr lang="en-US" sz="2400" b="1" kern="1200" dirty="0" err="1" smtClean="0"/>
            <a:t>Vidya</a:t>
          </a:r>
          <a:r>
            <a:rPr lang="en-US" sz="2400" b="1" kern="1200" dirty="0" smtClean="0"/>
            <a:t> </a:t>
          </a:r>
          <a:r>
            <a:rPr lang="en-US" sz="2400" b="1" kern="1200" dirty="0" err="1" smtClean="0"/>
            <a:t>Nidhi</a:t>
          </a:r>
          <a:r>
            <a:rPr lang="en-US" sz="2400" b="1" kern="1200" dirty="0" smtClean="0"/>
            <a:t>”, a </a:t>
          </a:r>
          <a:r>
            <a:rPr lang="en-US" sz="2400" b="1" kern="1200" dirty="0" err="1" smtClean="0"/>
            <a:t>sholarship</a:t>
          </a:r>
          <a:r>
            <a:rPr lang="en-US" sz="2400" b="1" kern="1200" dirty="0" smtClean="0"/>
            <a:t> programme for the farmer’s children (Rs. 261.17 </a:t>
          </a:r>
          <a:r>
            <a:rPr lang="en-US" sz="2400" b="1" kern="1200" dirty="0" err="1" smtClean="0"/>
            <a:t>crores</a:t>
          </a:r>
          <a:r>
            <a:rPr lang="en-US" sz="2400" b="1" kern="1200" dirty="0" smtClean="0"/>
            <a:t> has been transferred to 7.13 </a:t>
          </a:r>
          <a:r>
            <a:rPr lang="en-US" sz="2400" b="1" kern="1200" dirty="0" err="1" smtClean="0"/>
            <a:t>lakh</a:t>
          </a:r>
          <a:r>
            <a:rPr lang="en-US" sz="2400" b="1" kern="1200" dirty="0" smtClean="0"/>
            <a:t> student beneficiaries through DBT during the year 2021-22). </a:t>
          </a:r>
          <a:endParaRPr lang="en-US" sz="2400" b="1" kern="1200" dirty="0"/>
        </a:p>
      </dsp:txBody>
      <dsp:txXfrm>
        <a:off x="102093" y="3555334"/>
        <a:ext cx="8328254" cy="1887189"/>
      </dsp:txXfrm>
    </dsp:sp>
    <dsp:sp modelId="{77785357-1085-4813-851B-F26CC605C2B3}">
      <dsp:nvSpPr>
        <dsp:cNvPr id="0" name=""/>
        <dsp:cNvSpPr/>
      </dsp:nvSpPr>
      <dsp:spPr>
        <a:xfrm>
          <a:off x="0" y="3279795"/>
          <a:ext cx="853244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05" tIns="22860" rIns="128016" bIns="22860" numCol="1" spcCol="1270" anchor="t" anchorCtr="0">
          <a:noAutofit/>
        </a:bodyPr>
        <a:lstStyle/>
        <a:p>
          <a:pPr marL="171450" lvl="1" indent="-171450" algn="just" defTabSz="800100" rtl="0">
            <a:lnSpc>
              <a:spcPct val="90000"/>
            </a:lnSpc>
            <a:spcBef>
              <a:spcPct val="0"/>
            </a:spcBef>
            <a:spcAft>
              <a:spcPct val="20000"/>
            </a:spcAft>
            <a:buChar char="••"/>
          </a:pPr>
          <a:endParaRPr lang="en-IN" sz="1800" b="1" kern="1200" dirty="0"/>
        </a:p>
      </dsp:txBody>
      <dsp:txXfrm>
        <a:off x="0" y="3279795"/>
        <a:ext cx="8532440"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552" cy="480447"/>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4142924" y="1"/>
            <a:ext cx="3170552" cy="480447"/>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3111B0EB-66D9-4359-9E55-C089BAA59385}" type="datetimeFigureOut">
              <a:rPr lang="en-US"/>
              <a:pPr>
                <a:defRPr/>
              </a:pPr>
              <a:t>4/19/2022</a:t>
            </a:fld>
            <a:endParaRPr lang="en-US"/>
          </a:p>
        </p:txBody>
      </p:sp>
      <p:sp>
        <p:nvSpPr>
          <p:cNvPr id="4" name="Footer Placeholder 3"/>
          <p:cNvSpPr>
            <a:spLocks noGrp="1"/>
          </p:cNvSpPr>
          <p:nvPr>
            <p:ph type="ftr" sz="quarter" idx="2"/>
          </p:nvPr>
        </p:nvSpPr>
        <p:spPr>
          <a:xfrm>
            <a:off x="1" y="9119209"/>
            <a:ext cx="3170552" cy="480446"/>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4142924" y="9119209"/>
            <a:ext cx="3170552" cy="480446"/>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1E191E9-B9F3-4D0E-92D6-3AF15A699AF0}" type="slidenum">
              <a:rPr lang="en-US"/>
              <a:pPr>
                <a:defRPr/>
              </a:pPr>
              <a:t>‹#›</a:t>
            </a:fld>
            <a:endParaRPr lang="en-US"/>
          </a:p>
        </p:txBody>
      </p:sp>
    </p:spTree>
    <p:extLst>
      <p:ext uri="{BB962C8B-B14F-4D97-AF65-F5344CB8AC3E}">
        <p14:creationId xmlns="" xmlns:p14="http://schemas.microsoft.com/office/powerpoint/2010/main" val="3177520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552" cy="480447"/>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4142924" y="1"/>
            <a:ext cx="3170552" cy="480447"/>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FD239BA-42D0-4A44-8EAA-9DE6991690EE}" type="datetimeFigureOut">
              <a:rPr lang="en-US"/>
              <a:pPr>
                <a:defRPr/>
              </a:pPr>
              <a:t>4/19/2022</a:t>
            </a:fld>
            <a:endParaRPr lang="en-US"/>
          </a:p>
        </p:txBody>
      </p:sp>
      <p:sp>
        <p:nvSpPr>
          <p:cNvPr id="4" name="Slide Image Placeholder 3"/>
          <p:cNvSpPr>
            <a:spLocks noGrp="1" noRot="1" noChangeAspect="1"/>
          </p:cNvSpPr>
          <p:nvPr>
            <p:ph type="sldImg" idx="2"/>
          </p:nvPr>
        </p:nvSpPr>
        <p:spPr>
          <a:xfrm>
            <a:off x="1255713" y="719138"/>
            <a:ext cx="4803775" cy="3602037"/>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731003" y="4560377"/>
            <a:ext cx="5853195" cy="4320926"/>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1" y="9119209"/>
            <a:ext cx="3170552" cy="480446"/>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142924" y="9119209"/>
            <a:ext cx="3170552" cy="480446"/>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8AF9942-AA6F-4127-8C26-3291ABFFCF42}" type="slidenum">
              <a:rPr lang="en-US"/>
              <a:pPr>
                <a:defRPr/>
              </a:pPr>
              <a:t>‹#›</a:t>
            </a:fld>
            <a:endParaRPr lang="en-US"/>
          </a:p>
        </p:txBody>
      </p:sp>
    </p:spTree>
    <p:extLst>
      <p:ext uri="{BB962C8B-B14F-4D97-AF65-F5344CB8AC3E}">
        <p14:creationId xmlns="" xmlns:p14="http://schemas.microsoft.com/office/powerpoint/2010/main" val="22931270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63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45CA045-76AF-4918-9C36-8617DDC8B36B}" type="slidenum">
              <a:rPr lang="en-US" smtClean="0"/>
              <a:pPr fontAlgn="base">
                <a:spcBef>
                  <a:spcPct val="0"/>
                </a:spcBef>
                <a:spcAft>
                  <a:spcPct val="0"/>
                </a:spcAft>
                <a:defRPr/>
              </a:pPr>
              <a:t>1</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0EF46D9-6AE1-4BE2-BEBF-8F85A258A0C8}" type="datetimeFigureOut">
              <a:rPr lang="en-US"/>
              <a:pPr>
                <a:defRPr/>
              </a:pPr>
              <a:t>4/19/2022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0F6561-8A92-4DE0-95D6-171B805A6E0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79EA40B-B646-4460-B965-CB96FA376F63}" type="datetimeFigureOut">
              <a:rPr lang="en-US"/>
              <a:pPr>
                <a:defRPr/>
              </a:pPr>
              <a:t>4/19/2022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4A7E085-9566-455B-9A59-C77D102B2D3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859BBD96-C6B5-4B92-80DA-AD8C33B4701B}" type="datetimeFigureOut">
              <a:rPr lang="en-US"/>
              <a:pPr>
                <a:defRPr/>
              </a:pPr>
              <a:t>4/19/2022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B0EA114-36DB-4162-A89F-216FC7AF53A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A47020A-B368-42B3-BC51-81F8F80CF160}" type="datetimeFigureOut">
              <a:rPr lang="en-US"/>
              <a:pPr>
                <a:defRPr/>
              </a:pPr>
              <a:t>4/19/2022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5AC846C-C948-442D-BE25-8E0335EEA6C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72F84B3-82EF-43F0-B024-E9DEA8CFFFB1}" type="datetimeFigureOut">
              <a:rPr lang="en-US"/>
              <a:pPr>
                <a:defRPr/>
              </a:pPr>
              <a:t>4/19/2022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DB70E2F-0F3F-4FE7-9A25-E55CC6CE8AB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9D328C4-4657-46F5-8847-1C14CD5CB047}" type="datetimeFigureOut">
              <a:rPr lang="en-US"/>
              <a:pPr>
                <a:defRPr/>
              </a:pPr>
              <a:t>4/19/2022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EC7747E-6107-4A31-AC09-EDBF2DBA7D5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F05DB4-765F-4052-8E76-705E581C6650}" type="datetimeFigureOut">
              <a:rPr lang="en-US"/>
              <a:pPr>
                <a:defRPr/>
              </a:pPr>
              <a:t>4/19/2022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898DCB4-441B-4AA1-A84F-D0A4EA1E391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46E4F3B-8906-42DC-A2B7-A2DCAF847244}" type="datetimeFigureOut">
              <a:rPr lang="en-US"/>
              <a:pPr>
                <a:defRPr/>
              </a:pPr>
              <a:t>4/19/2022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59F9326-E292-4B44-93E9-67124E00B54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DF1F1BF-2260-4731-9DC8-83DE5FCD1078}" type="datetimeFigureOut">
              <a:rPr lang="en-US"/>
              <a:pPr>
                <a:defRPr/>
              </a:pPr>
              <a:t>4/19/2022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1C00B00-B440-4652-AA08-098EBEF879F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87DC54E-78CF-4F50-AD30-4B2B3A05730D}" type="datetimeFigureOut">
              <a:rPr lang="en-US"/>
              <a:pPr>
                <a:defRPr/>
              </a:pPr>
              <a:t>4/19/2022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53520A9-769D-4B78-95B4-BA515EB381C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8A93506-E45D-4D21-8F15-D3C5296A2BA5}" type="datetimeFigureOut">
              <a:rPr lang="en-US"/>
              <a:pPr>
                <a:defRPr/>
              </a:pPr>
              <a:t>4/19/2022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32F577-2643-42D8-B9DF-3B12A984011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3AE84D3A-2068-4817-875A-AD89C9C66771}" type="datetimeFigureOut">
              <a:rPr lang="en-US"/>
              <a:pPr>
                <a:defRPr/>
              </a:pPr>
              <a:t>4/19/2022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B1CEEA4-A3B5-44CC-AE69-10EBEF463A3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diagramLayout" Target="../diagrams/layout2.xml"/><Relationship Id="rId7" Type="http://schemas.openxmlformats.org/officeDocument/2006/relationships/image" Target="../media/image2.jpe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diagramLayout" Target="../diagrams/layout3.xml"/><Relationship Id="rId7" Type="http://schemas.openxmlformats.org/officeDocument/2006/relationships/image" Target="../media/image4.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5.jpeg"/><Relationship Id="rId7" Type="http://schemas.openxmlformats.org/officeDocument/2006/relationships/diagramColors" Target="../diagrams/colors4.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Layout" Target="../diagrams/layout5.xml"/><Relationship Id="rId7" Type="http://schemas.openxmlformats.org/officeDocument/2006/relationships/image" Target="../media/image5.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microsoft.com/office/2007/relationships/diagramDrawing" Target="../diagrams/drawing5.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diagramLayout" Target="../diagrams/layout6.xml"/><Relationship Id="rId7" Type="http://schemas.openxmlformats.org/officeDocument/2006/relationships/image" Target="../media/image5.jpe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diagramLayout" Target="../diagrams/layout7.xml"/><Relationship Id="rId7" Type="http://schemas.openxmlformats.org/officeDocument/2006/relationships/image" Target="../media/image5.jpe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diagramLayout" Target="../diagrams/layout8.xml"/><Relationship Id="rId7" Type="http://schemas.openxmlformats.org/officeDocument/2006/relationships/image" Target="../media/image5.jpe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diagramLayout" Target="../diagrams/layout9.xml"/><Relationship Id="rId7" Type="http://schemas.openxmlformats.org/officeDocument/2006/relationships/image" Target="../media/image5.jpe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7.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evel 1"/>
          <p:cNvSpPr/>
          <p:nvPr/>
        </p:nvSpPr>
        <p:spPr>
          <a:xfrm>
            <a:off x="0" y="0"/>
            <a:ext cx="9144000" cy="6858000"/>
          </a:xfrm>
          <a:prstGeom prst="bevel">
            <a:avLst/>
          </a:prstGeom>
        </p:spPr>
        <p:style>
          <a:lnRef idx="2">
            <a:schemeClr val="accent5"/>
          </a:lnRef>
          <a:fillRef idx="1">
            <a:schemeClr val="lt1"/>
          </a:fillRef>
          <a:effectRef idx="0">
            <a:schemeClr val="accent5"/>
          </a:effectRef>
          <a:fontRef idx="minor">
            <a:schemeClr val="dk1"/>
          </a:fontRef>
        </p:style>
        <p:txBody>
          <a:bodyPr anchor="ctr"/>
          <a:lstStyle/>
          <a:p>
            <a:pPr algn="ctr" fontAlgn="auto">
              <a:spcBef>
                <a:spcPts val="0"/>
              </a:spcBef>
              <a:spcAft>
                <a:spcPts val="0"/>
              </a:spcAft>
              <a:buFont typeface="Arial" pitchFamily="34" charset="0"/>
              <a:buNone/>
              <a:defRPr/>
            </a:pPr>
            <a:r>
              <a:rPr lang="en-US" sz="4000" b="1" dirty="0">
                <a:solidFill>
                  <a:srgbClr val="008000"/>
                </a:solidFill>
                <a:latin typeface="Times New Roman" pitchFamily="18" charset="0"/>
                <a:cs typeface="Times New Roman" pitchFamily="18" charset="0"/>
              </a:rPr>
              <a:t>National Conference on Agriculture for </a:t>
            </a:r>
            <a:br>
              <a:rPr lang="en-US" sz="4000" b="1" dirty="0">
                <a:solidFill>
                  <a:srgbClr val="008000"/>
                </a:solidFill>
                <a:latin typeface="Times New Roman" pitchFamily="18" charset="0"/>
                <a:cs typeface="Times New Roman" pitchFamily="18" charset="0"/>
              </a:rPr>
            </a:br>
            <a:r>
              <a:rPr lang="en-US" sz="4000" b="1" dirty="0" err="1">
                <a:solidFill>
                  <a:srgbClr val="008000"/>
                </a:solidFill>
                <a:latin typeface="Times New Roman" pitchFamily="18" charset="0"/>
                <a:cs typeface="Times New Roman" pitchFamily="18" charset="0"/>
              </a:rPr>
              <a:t>Kharif</a:t>
            </a:r>
            <a:r>
              <a:rPr lang="en-US" sz="4000" b="1" dirty="0">
                <a:solidFill>
                  <a:srgbClr val="008000"/>
                </a:solidFill>
                <a:latin typeface="Times New Roman" pitchFamily="18" charset="0"/>
                <a:cs typeface="Times New Roman" pitchFamily="18" charset="0"/>
              </a:rPr>
              <a:t> Campaign 2022</a:t>
            </a:r>
            <a:r>
              <a:rPr lang="en-US" sz="4000" dirty="0">
                <a:solidFill>
                  <a:srgbClr val="008000"/>
                </a:solidFill>
                <a:latin typeface="Times New Roman" pitchFamily="18" charset="0"/>
                <a:cs typeface="Times New Roman" pitchFamily="18" charset="0"/>
              </a:rPr>
              <a:t/>
            </a:r>
            <a:br>
              <a:rPr lang="en-US" sz="4000" dirty="0">
                <a:solidFill>
                  <a:srgbClr val="008000"/>
                </a:solidFill>
                <a:latin typeface="Times New Roman" pitchFamily="18" charset="0"/>
                <a:cs typeface="Times New Roman" pitchFamily="18" charset="0"/>
              </a:rPr>
            </a:br>
            <a:endPar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2051" name="TextBox 3"/>
          <p:cNvSpPr txBox="1">
            <a:spLocks noChangeArrowheads="1"/>
          </p:cNvSpPr>
          <p:nvPr/>
        </p:nvSpPr>
        <p:spPr bwMode="auto">
          <a:xfrm>
            <a:off x="381000" y="4357688"/>
            <a:ext cx="8305800" cy="461962"/>
          </a:xfrm>
          <a:prstGeom prst="rect">
            <a:avLst/>
          </a:prstGeom>
          <a:noFill/>
          <a:ln w="9525">
            <a:noFill/>
            <a:miter lim="800000"/>
            <a:headEnd/>
            <a:tailEnd/>
          </a:ln>
        </p:spPr>
        <p:txBody>
          <a:bodyPr>
            <a:spAutoFit/>
          </a:bodyPr>
          <a:lstStyle/>
          <a:p>
            <a:pPr algn="ctr"/>
            <a:r>
              <a:rPr lang="en-US" sz="2400" b="1">
                <a:solidFill>
                  <a:srgbClr val="008000"/>
                </a:solidFill>
                <a:latin typeface="Times New Roman" pitchFamily="18" charset="0"/>
                <a:cs typeface="Times New Roman" pitchFamily="18" charset="0"/>
              </a:rPr>
              <a:t>19</a:t>
            </a:r>
            <a:r>
              <a:rPr lang="en-US" sz="2400" b="1" baseline="30000">
                <a:solidFill>
                  <a:srgbClr val="008000"/>
                </a:solidFill>
                <a:latin typeface="Times New Roman" pitchFamily="18" charset="0"/>
                <a:cs typeface="Times New Roman" pitchFamily="18" charset="0"/>
              </a:rPr>
              <a:t>th</a:t>
            </a:r>
            <a:r>
              <a:rPr lang="en-US" sz="2400" b="1">
                <a:solidFill>
                  <a:srgbClr val="008000"/>
                </a:solidFill>
                <a:latin typeface="Times New Roman" pitchFamily="18" charset="0"/>
                <a:cs typeface="Times New Roman" pitchFamily="18" charset="0"/>
              </a:rPr>
              <a:t> April 2022</a:t>
            </a:r>
            <a:endParaRPr lang="en-US" sz="2400" b="1">
              <a:latin typeface="Calibri" pitchFamily="34" charset="0"/>
            </a:endParaRPr>
          </a:p>
        </p:txBody>
      </p:sp>
      <p:sp>
        <p:nvSpPr>
          <p:cNvPr id="2052" name="TextBox 5"/>
          <p:cNvSpPr txBox="1">
            <a:spLocks noChangeArrowheads="1"/>
          </p:cNvSpPr>
          <p:nvPr/>
        </p:nvSpPr>
        <p:spPr bwMode="auto">
          <a:xfrm>
            <a:off x="1571625" y="5214938"/>
            <a:ext cx="6357938" cy="523875"/>
          </a:xfrm>
          <a:prstGeom prst="rect">
            <a:avLst/>
          </a:prstGeom>
          <a:noFill/>
          <a:ln w="9525">
            <a:noFill/>
            <a:miter lim="800000"/>
            <a:headEnd/>
            <a:tailEnd/>
          </a:ln>
        </p:spPr>
        <p:txBody>
          <a:bodyPr>
            <a:spAutoFit/>
          </a:bodyPr>
          <a:lstStyle/>
          <a:p>
            <a:pPr algn="ctr"/>
            <a:r>
              <a:rPr lang="en-US" sz="2800" b="1">
                <a:solidFill>
                  <a:srgbClr val="0070C0"/>
                </a:solidFill>
                <a:latin typeface="Calibri" pitchFamily="34" charset="0"/>
              </a:rPr>
              <a:t>KARANTAKA STATE</a:t>
            </a:r>
          </a:p>
        </p:txBody>
      </p:sp>
      <p:pic>
        <p:nvPicPr>
          <p:cNvPr id="2053" name="Picture 8" descr="Download Lori Writing, Rangoli Making and Deshbhakti Geet Writing"/>
          <p:cNvPicPr>
            <a:picLocks noChangeAspect="1" noChangeArrowheads="1"/>
          </p:cNvPicPr>
          <p:nvPr/>
        </p:nvPicPr>
        <p:blipFill>
          <a:blip r:embed="rId3" cstate="print"/>
          <a:srcRect/>
          <a:stretch>
            <a:fillRect/>
          </a:stretch>
        </p:blipFill>
        <p:spPr bwMode="auto">
          <a:xfrm>
            <a:off x="1000125" y="1157288"/>
            <a:ext cx="785813" cy="628650"/>
          </a:xfrm>
          <a:prstGeom prst="rect">
            <a:avLst/>
          </a:prstGeom>
          <a:noFill/>
          <a:ln w="9525">
            <a:noFill/>
            <a:miter lim="800000"/>
            <a:headEnd/>
            <a:tailEnd/>
          </a:ln>
        </p:spPr>
      </p:pic>
      <p:pic>
        <p:nvPicPr>
          <p:cNvPr id="2054" name="Picture 4" descr="Karnataka government appeals to all hospitals in the state to run only  emergency medicine in the wake of Coronavirus scare"/>
          <p:cNvPicPr>
            <a:picLocks noChangeAspect="1" noChangeArrowheads="1"/>
          </p:cNvPicPr>
          <p:nvPr/>
        </p:nvPicPr>
        <p:blipFill>
          <a:blip r:embed="rId4" cstate="print"/>
          <a:srcRect/>
          <a:stretch>
            <a:fillRect/>
          </a:stretch>
        </p:blipFill>
        <p:spPr bwMode="auto">
          <a:xfrm>
            <a:off x="7143750" y="1214438"/>
            <a:ext cx="857250" cy="6429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A7930DD-896E-4B86-87B1-A88694C3254C}" type="slidenum">
              <a:rPr lang="en-IN"/>
              <a:pPr>
                <a:defRPr/>
              </a:pPr>
              <a:t>2</a:t>
            </a:fld>
            <a:endParaRPr lang="en-IN"/>
          </a:p>
        </p:txBody>
      </p:sp>
      <p:sp>
        <p:nvSpPr>
          <p:cNvPr id="3075" name="Rectangle 2"/>
          <p:cNvSpPr>
            <a:spLocks noChangeArrowheads="1"/>
          </p:cNvSpPr>
          <p:nvPr/>
        </p:nvSpPr>
        <p:spPr bwMode="auto">
          <a:xfrm>
            <a:off x="4714875" y="142875"/>
            <a:ext cx="3286125" cy="523875"/>
          </a:xfrm>
          <a:prstGeom prst="rect">
            <a:avLst/>
          </a:prstGeom>
          <a:solidFill>
            <a:srgbClr val="92D050"/>
          </a:solidFill>
          <a:ln w="9525">
            <a:noFill/>
            <a:miter lim="800000"/>
            <a:headEnd/>
            <a:tailEnd/>
          </a:ln>
        </p:spPr>
        <p:txBody>
          <a:bodyPr>
            <a:spAutoFit/>
          </a:bodyPr>
          <a:lstStyle/>
          <a:p>
            <a:pPr algn="ctr"/>
            <a:r>
              <a:rPr lang="en-US" sz="2800" b="1">
                <a:latin typeface="Times New Roman" pitchFamily="18" charset="0"/>
                <a:cs typeface="Times New Roman" pitchFamily="18" charset="0"/>
              </a:rPr>
              <a:t> KARNATAKA </a:t>
            </a:r>
          </a:p>
        </p:txBody>
      </p:sp>
      <p:pic>
        <p:nvPicPr>
          <p:cNvPr id="3076" name="Picture 4" descr="Karnataka Map"/>
          <p:cNvPicPr>
            <a:picLocks noChangeAspect="1" noChangeArrowheads="1"/>
          </p:cNvPicPr>
          <p:nvPr/>
        </p:nvPicPr>
        <p:blipFill>
          <a:blip r:embed="rId2" cstate="print"/>
          <a:srcRect/>
          <a:stretch>
            <a:fillRect/>
          </a:stretch>
        </p:blipFill>
        <p:spPr bwMode="auto">
          <a:xfrm>
            <a:off x="142875" y="142875"/>
            <a:ext cx="3643313" cy="6500813"/>
          </a:xfrm>
          <a:prstGeom prst="rect">
            <a:avLst/>
          </a:prstGeom>
          <a:noFill/>
          <a:ln w="9525">
            <a:noFill/>
            <a:miter lim="800000"/>
            <a:headEnd/>
            <a:tailEnd/>
          </a:ln>
        </p:spPr>
      </p:pic>
      <p:graphicFrame>
        <p:nvGraphicFramePr>
          <p:cNvPr id="8" name="Diagram 7"/>
          <p:cNvGraphicFramePr/>
          <p:nvPr/>
        </p:nvGraphicFramePr>
        <p:xfrm>
          <a:off x="3857620" y="857232"/>
          <a:ext cx="5000659" cy="57864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078" name="AutoShape 6" descr="Download Lori Writing, Rangoli Making and Deshbhakti Geet Writing"/>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atin typeface="Calibri" pitchFamily="34" charset="0"/>
            </a:endParaRPr>
          </a:p>
        </p:txBody>
      </p:sp>
      <p:pic>
        <p:nvPicPr>
          <p:cNvPr id="3079" name="Picture 8" descr="Download Lori Writing, Rangoli Making and Deshbhakti Geet Writing"/>
          <p:cNvPicPr>
            <a:picLocks noChangeAspect="1" noChangeArrowheads="1"/>
          </p:cNvPicPr>
          <p:nvPr/>
        </p:nvPicPr>
        <p:blipFill>
          <a:blip r:embed="rId7" cstate="print"/>
          <a:srcRect/>
          <a:stretch>
            <a:fillRect/>
          </a:stretch>
        </p:blipFill>
        <p:spPr bwMode="auto">
          <a:xfrm>
            <a:off x="71438" y="57150"/>
            <a:ext cx="1000125" cy="800100"/>
          </a:xfrm>
          <a:prstGeom prst="rect">
            <a:avLst/>
          </a:prstGeom>
          <a:noFill/>
          <a:ln w="9525">
            <a:noFill/>
            <a:miter lim="800000"/>
            <a:headEnd/>
            <a:tailEnd/>
          </a:ln>
        </p:spPr>
      </p:pic>
      <p:pic>
        <p:nvPicPr>
          <p:cNvPr id="3080" name="Picture 4" descr="Karnataka government appeals to all hospitals in the state to run only  emergency medicine in the wake of Coronavirus scare"/>
          <p:cNvPicPr>
            <a:picLocks noChangeAspect="1" noChangeArrowheads="1"/>
          </p:cNvPicPr>
          <p:nvPr/>
        </p:nvPicPr>
        <p:blipFill>
          <a:blip r:embed="rId8" cstate="print"/>
          <a:srcRect/>
          <a:stretch>
            <a:fillRect/>
          </a:stretch>
        </p:blipFill>
        <p:spPr bwMode="auto">
          <a:xfrm>
            <a:off x="8072438" y="71438"/>
            <a:ext cx="857250" cy="6429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313" y="638175"/>
            <a:ext cx="8705850" cy="1004888"/>
          </a:xfrm>
          <a:solidFill>
            <a:srgbClr val="92D050"/>
          </a:solidFill>
        </p:spPr>
        <p:txBody>
          <a:bodyPr rtlCol="0">
            <a:noAutofit/>
          </a:bodyPr>
          <a:lstStyle/>
          <a:p>
            <a:pPr eaLnBrk="1" fontAlgn="auto" hangingPunct="1">
              <a:spcAft>
                <a:spcPts val="0"/>
              </a:spcAft>
              <a:defRPr/>
            </a:pPr>
            <a:r>
              <a:rPr lang="en-US" sz="2000" b="1" dirty="0">
                <a:solidFill>
                  <a:schemeClr val="tx1">
                    <a:lumMod val="75000"/>
                    <a:lumOff val="25000"/>
                  </a:schemeClr>
                </a:solidFill>
                <a:latin typeface="Times New Roman" pitchFamily="18" charset="0"/>
                <a:cs typeface="Times New Roman" pitchFamily="18" charset="0"/>
              </a:rPr>
              <a:t>   CROPWISE AREA, ANNUAL PRODUCTION AND YIELD DETAILS</a:t>
            </a:r>
            <a:r>
              <a:rPr lang="en-GB" sz="2000" b="1" dirty="0">
                <a:solidFill>
                  <a:schemeClr val="tx1">
                    <a:lumMod val="75000"/>
                    <a:lumOff val="25000"/>
                  </a:schemeClr>
                </a:solidFill>
                <a:latin typeface="Times New Roman" pitchFamily="18" charset="0"/>
                <a:cs typeface="Times New Roman" pitchFamily="18" charset="0"/>
              </a:rPr>
              <a:t/>
            </a:r>
            <a:br>
              <a:rPr lang="en-GB" sz="2000" b="1" dirty="0">
                <a:solidFill>
                  <a:schemeClr val="tx1">
                    <a:lumMod val="75000"/>
                    <a:lumOff val="25000"/>
                  </a:schemeClr>
                </a:solidFill>
                <a:latin typeface="Times New Roman" pitchFamily="18" charset="0"/>
                <a:cs typeface="Times New Roman" pitchFamily="18" charset="0"/>
              </a:rPr>
            </a:br>
            <a:r>
              <a:rPr lang="en-GB" sz="1200" dirty="0">
                <a:solidFill>
                  <a:schemeClr val="tx1">
                    <a:lumMod val="75000"/>
                    <a:lumOff val="25000"/>
                  </a:schemeClr>
                </a:solidFill>
                <a:latin typeface="Times New Roman" pitchFamily="18" charset="0"/>
                <a:cs typeface="Times New Roman" pitchFamily="18" charset="0"/>
              </a:rPr>
              <a:t>  </a:t>
            </a:r>
            <a:r>
              <a:rPr lang="en-GB" sz="1200" b="1" dirty="0">
                <a:solidFill>
                  <a:schemeClr val="tx1">
                    <a:lumMod val="75000"/>
                    <a:lumOff val="25000"/>
                  </a:schemeClr>
                </a:solidFill>
                <a:latin typeface="Times New Roman" pitchFamily="18" charset="0"/>
                <a:cs typeface="Times New Roman" pitchFamily="18" charset="0"/>
              </a:rPr>
              <a:t>Unit: Area in lakh ha, Production in Lakh Tonnes, Cotton* (prod.170 kg / bale) ,Yield in kgs/Ha , Sugarcane * (Tonnes/Ha)</a:t>
            </a:r>
            <a:r>
              <a:rPr lang="en-GB" sz="1200" dirty="0">
                <a:solidFill>
                  <a:schemeClr val="tx1">
                    <a:lumMod val="75000"/>
                    <a:lumOff val="25000"/>
                  </a:schemeClr>
                </a:solidFill>
                <a:latin typeface="Times New Roman" pitchFamily="18" charset="0"/>
                <a:cs typeface="Times New Roman" pitchFamily="18" charset="0"/>
              </a:rPr>
              <a:t> </a:t>
            </a:r>
          </a:p>
        </p:txBody>
      </p:sp>
      <p:graphicFrame>
        <p:nvGraphicFramePr>
          <p:cNvPr id="9" name="Content Placeholder 8">
            <a:extLst>
              <a:ext uri="{FF2B5EF4-FFF2-40B4-BE49-F238E27FC236}"/>
            </a:extLst>
          </p:cNvPr>
          <p:cNvGraphicFramePr>
            <a:graphicFrameLocks noGrp="1"/>
          </p:cNvGraphicFramePr>
          <p:nvPr>
            <p:ph idx="1"/>
          </p:nvPr>
        </p:nvGraphicFramePr>
        <p:xfrm>
          <a:off x="142875" y="1825625"/>
          <a:ext cx="8777316" cy="4889853"/>
        </p:xfrm>
        <a:graphic>
          <a:graphicData uri="http://schemas.openxmlformats.org/drawingml/2006/table">
            <a:tbl>
              <a:tblPr firstRow="1" bandRow="1">
                <a:tableStyleId>{16D9F66E-5EB9-4882-86FB-DCBF35E3C3E4}</a:tableStyleId>
              </a:tblPr>
              <a:tblGrid>
                <a:gridCol w="486550">
                  <a:extLst>
                    <a:ext uri="{9D8B030D-6E8A-4147-A177-3AD203B41FA5}"/>
                  </a:extLst>
                </a:gridCol>
                <a:gridCol w="1109325">
                  <a:extLst>
                    <a:ext uri="{9D8B030D-6E8A-4147-A177-3AD203B41FA5}"/>
                  </a:extLst>
                </a:gridCol>
                <a:gridCol w="797938">
                  <a:extLst>
                    <a:ext uri="{9D8B030D-6E8A-4147-A177-3AD203B41FA5}"/>
                  </a:extLst>
                </a:gridCol>
                <a:gridCol w="927188">
                  <a:extLst>
                    <a:ext uri="{9D8B030D-6E8A-4147-A177-3AD203B41FA5}"/>
                  </a:extLst>
                </a:gridCol>
                <a:gridCol w="668688">
                  <a:extLst>
                    <a:ext uri="{9D8B030D-6E8A-4147-A177-3AD203B41FA5}"/>
                  </a:extLst>
                </a:gridCol>
                <a:gridCol w="677676">
                  <a:extLst>
                    <a:ext uri="{9D8B030D-6E8A-4147-A177-3AD203B41FA5}"/>
                  </a:extLst>
                </a:gridCol>
                <a:gridCol w="992058">
                  <a:extLst>
                    <a:ext uri="{9D8B030D-6E8A-4147-A177-3AD203B41FA5}"/>
                  </a:extLst>
                </a:gridCol>
                <a:gridCol w="724079">
                  <a:extLst>
                    <a:ext uri="{9D8B030D-6E8A-4147-A177-3AD203B41FA5}"/>
                  </a:extLst>
                </a:gridCol>
                <a:gridCol w="693147">
                  <a:extLst>
                    <a:ext uri="{9D8B030D-6E8A-4147-A177-3AD203B41FA5}"/>
                  </a:extLst>
                </a:gridCol>
                <a:gridCol w="902729">
                  <a:extLst>
                    <a:ext uri="{9D8B030D-6E8A-4147-A177-3AD203B41FA5}"/>
                  </a:extLst>
                </a:gridCol>
                <a:gridCol w="797938">
                  <a:extLst>
                    <a:ext uri="{9D8B030D-6E8A-4147-A177-3AD203B41FA5}"/>
                  </a:extLst>
                </a:gridCol>
              </a:tblGrid>
              <a:tr h="566726">
                <a:tc rowSpan="2">
                  <a:txBody>
                    <a:bodyPr/>
                    <a:lstStyle/>
                    <a:p>
                      <a:pPr algn="ctr" rtl="0" fontAlgn="ctr"/>
                      <a:r>
                        <a:rPr lang="en-IN" sz="1400" b="1" u="none" strike="noStrike" dirty="0">
                          <a:effectLst/>
                        </a:rPr>
                        <a:t>Sl. No.</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rowSpan="2">
                  <a:txBody>
                    <a:bodyPr/>
                    <a:lstStyle/>
                    <a:p>
                      <a:pPr algn="ctr" rtl="0" fontAlgn="ctr"/>
                      <a:r>
                        <a:rPr lang="en-IN" sz="1400" b="1" u="none" strike="noStrike" dirty="0">
                          <a:effectLst/>
                        </a:rPr>
                        <a:t>Crops</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gridSpan="3">
                  <a:txBody>
                    <a:bodyPr/>
                    <a:lstStyle/>
                    <a:p>
                      <a:pPr algn="ctr" rtl="0" fontAlgn="b"/>
                      <a:r>
                        <a:rPr lang="en-IN" sz="1600" b="1" i="0" u="none" strike="noStrike" dirty="0" smtClean="0">
                          <a:solidFill>
                            <a:srgbClr val="000000"/>
                          </a:solidFill>
                          <a:effectLst/>
                          <a:latin typeface="Times New Roman" panose="02020603050405020304" pitchFamily="18" charset="0"/>
                        </a:rPr>
                        <a:t>2019-20</a:t>
                      </a:r>
                      <a:endParaRPr lang="en-IN" sz="16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IN"/>
                    </a:p>
                  </a:txBody>
                  <a:tcPr/>
                </a:tc>
                <a:tc hMerge="1">
                  <a:txBody>
                    <a:bodyPr/>
                    <a:lstStyle/>
                    <a:p>
                      <a:endParaRPr lang="en-IN"/>
                    </a:p>
                  </a:txBody>
                  <a:tcPr/>
                </a:tc>
                <a:tc gridSpan="3">
                  <a:txBody>
                    <a:bodyPr/>
                    <a:lstStyle/>
                    <a:p>
                      <a:pPr algn="ctr" rtl="0" fontAlgn="b"/>
                      <a:r>
                        <a:rPr lang="en-IN" sz="1600" u="none" strike="noStrike" dirty="0" smtClean="0">
                          <a:effectLst/>
                        </a:rPr>
                        <a:t>2020-21</a:t>
                      </a:r>
                      <a:endParaRPr lang="en-IN" sz="16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IN"/>
                    </a:p>
                  </a:txBody>
                  <a:tcPr/>
                </a:tc>
                <a:tc hMerge="1">
                  <a:txBody>
                    <a:bodyPr/>
                    <a:lstStyle/>
                    <a:p>
                      <a:endParaRPr lang="en-IN"/>
                    </a:p>
                  </a:txBody>
                  <a:tcPr/>
                </a:tc>
                <a:tc gridSpan="3">
                  <a:txBody>
                    <a:bodyPr/>
                    <a:lstStyle/>
                    <a:p>
                      <a:pPr algn="ctr" rtl="0" fontAlgn="b"/>
                      <a:r>
                        <a:rPr lang="en-IN" sz="1600" u="none" strike="noStrike" dirty="0" smtClean="0">
                          <a:effectLst/>
                        </a:rPr>
                        <a:t>2021-22 </a:t>
                      </a:r>
                    </a:p>
                    <a:p>
                      <a:pPr algn="ctr" rtl="0" fontAlgn="b"/>
                      <a:r>
                        <a:rPr lang="en-IN" sz="1600" u="none" strike="noStrike" dirty="0" smtClean="0">
                          <a:effectLst/>
                        </a:rPr>
                        <a:t>(3</a:t>
                      </a:r>
                      <a:r>
                        <a:rPr lang="en-IN" sz="1600" u="none" strike="noStrike" baseline="30000" dirty="0" smtClean="0">
                          <a:effectLst/>
                        </a:rPr>
                        <a:t>rd</a:t>
                      </a:r>
                      <a:r>
                        <a:rPr lang="en-IN" sz="1600" u="none" strike="noStrike" baseline="0" dirty="0" smtClean="0">
                          <a:effectLst/>
                        </a:rPr>
                        <a:t> </a:t>
                      </a:r>
                      <a:r>
                        <a:rPr lang="en-IN" sz="1600" u="none" strike="noStrike" dirty="0" smtClean="0">
                          <a:effectLst/>
                        </a:rPr>
                        <a:t> </a:t>
                      </a:r>
                      <a:r>
                        <a:rPr lang="en-IN" sz="1600" u="none" strike="noStrike" dirty="0">
                          <a:effectLst/>
                        </a:rPr>
                        <a:t>Advance Estimate) </a:t>
                      </a:r>
                      <a:endParaRPr lang="en-IN" sz="16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IN"/>
                    </a:p>
                  </a:txBody>
                  <a:tcPr/>
                </a:tc>
                <a:tc hMerge="1">
                  <a:txBody>
                    <a:bodyPr/>
                    <a:lstStyle/>
                    <a:p>
                      <a:endParaRPr lang="en-IN"/>
                    </a:p>
                  </a:txBody>
                  <a:tcPr/>
                </a:tc>
                <a:extLst>
                  <a:ext uri="{0D108BD9-81ED-4DB2-BD59-A6C34878D82A}"/>
                </a:extLst>
              </a:tr>
              <a:tr h="379482">
                <a:tc vMerge="1">
                  <a:txBody>
                    <a:bodyPr/>
                    <a:lstStyle/>
                    <a:p>
                      <a:endParaRPr lang="en-IN"/>
                    </a:p>
                  </a:txBody>
                  <a:tcPr/>
                </a:tc>
                <a:tc vMerge="1">
                  <a:txBody>
                    <a:bodyPr/>
                    <a:lstStyle/>
                    <a:p>
                      <a:endParaRPr lang="en-IN"/>
                    </a:p>
                  </a:txBody>
                  <a:tcPr/>
                </a:tc>
                <a:tc>
                  <a:txBody>
                    <a:bodyPr/>
                    <a:lstStyle/>
                    <a:p>
                      <a:pPr algn="ctr" rtl="0" fontAlgn="b"/>
                      <a:r>
                        <a:rPr lang="en-IN" sz="1400" b="1" u="none" strike="noStrike" dirty="0">
                          <a:effectLst/>
                        </a:rPr>
                        <a:t>Area</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Production</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Yield</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Area</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Production</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Yield</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Area</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Production</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rtl="0" fontAlgn="b"/>
                      <a:r>
                        <a:rPr lang="en-IN" sz="1400" b="1" u="none" strike="noStrike" dirty="0">
                          <a:effectLst/>
                        </a:rPr>
                        <a:t>Yield</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extLst>
              </a:tr>
              <a:tr h="297985">
                <a:tc>
                  <a:txBody>
                    <a:bodyPr/>
                    <a:lstStyle/>
                    <a:p>
                      <a:pPr algn="ctr" rtl="0" fontAlgn="b"/>
                      <a:r>
                        <a:rPr lang="en-IN" sz="1400" b="1" u="none" strike="noStrike" dirty="0">
                          <a:effectLst/>
                        </a:rPr>
                        <a:t>1</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Rice</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11.86</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39.48</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3330</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14.84</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47.17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3179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13.41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60.98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3095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dirty="0">
                          <a:effectLst/>
                        </a:rPr>
                        <a:t>2</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a:t>
                      </a:r>
                      <a:r>
                        <a:rPr lang="en-IN" sz="1400" b="1" u="none" strike="noStrike" dirty="0" err="1">
                          <a:effectLst/>
                        </a:rPr>
                        <a:t>Jowar</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8.68</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10.45</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1204</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7.49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9.04</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1206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8.02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9.50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1186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a:effectLst/>
                        </a:rPr>
                        <a:t>3</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a:t>
                      </a:r>
                      <a:r>
                        <a:rPr lang="en-IN" sz="1400" b="1" u="none" strike="noStrike" dirty="0" err="1">
                          <a:effectLst/>
                        </a:rPr>
                        <a:t>Ragi</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smtClean="0">
                          <a:effectLst/>
                        </a:rPr>
                        <a:t>6.40</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11.62</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1816</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7.85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13.69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1745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8.14</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10.79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1326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a:effectLst/>
                        </a:rPr>
                        <a:t>4</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Maize</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14.25</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47.46</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3329</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17.27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63.72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3689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16.42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53.38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3251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a:effectLst/>
                        </a:rPr>
                        <a:t>5</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a:t>
                      </a:r>
                      <a:r>
                        <a:rPr lang="en-IN" sz="1400" b="1" u="none" strike="noStrike" dirty="0" err="1">
                          <a:effectLst/>
                        </a:rPr>
                        <a:t>Tur</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15.45</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11.26</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729</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16.31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12.38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759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17.19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11.45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666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440582">
                <a:tc>
                  <a:txBody>
                    <a:bodyPr/>
                    <a:lstStyle/>
                    <a:p>
                      <a:pPr algn="ctr" rtl="0" fontAlgn="b"/>
                      <a:r>
                        <a:rPr lang="en-IN" sz="1400" b="1" u="none" strike="noStrike">
                          <a:effectLst/>
                        </a:rPr>
                        <a:t>6</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a:t>
                      </a:r>
                      <a:r>
                        <a:rPr lang="en-IN" sz="1400" b="1" u="none" strike="noStrike" dirty="0" err="1">
                          <a:effectLst/>
                        </a:rPr>
                        <a:t>Bengalgram</a:t>
                      </a:r>
                      <a:r>
                        <a:rPr lang="en-IN" sz="1400" b="1" u="none" strike="noStrike" dirty="0">
                          <a:effectLst/>
                        </a:rPr>
                        <a:t> </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8.64</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6.75</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782</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7.13</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4.46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625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9.80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6.92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706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a:effectLst/>
                        </a:rPr>
                        <a:t>7</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Groundnut</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5.04</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5.03</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1000</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7.20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7.20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1000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6.20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5.32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859</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460381">
                <a:tc>
                  <a:txBody>
                    <a:bodyPr/>
                    <a:lstStyle/>
                    <a:p>
                      <a:pPr algn="ctr" rtl="0" fontAlgn="b"/>
                      <a:r>
                        <a:rPr lang="en-IN" sz="1400" b="1" u="none" strike="noStrike">
                          <a:effectLst/>
                        </a:rPr>
                        <a:t>8</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Sunflower</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1.29</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1.03</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802</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1.21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1.08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895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1.61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1.36</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843</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297985">
                <a:tc>
                  <a:txBody>
                    <a:bodyPr/>
                    <a:lstStyle/>
                    <a:p>
                      <a:pPr algn="ctr" rtl="0" fontAlgn="b"/>
                      <a:r>
                        <a:rPr lang="en-IN" sz="1400" b="1" u="none" strike="noStrike">
                          <a:effectLst/>
                        </a:rPr>
                        <a:t>9</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a:t>
                      </a:r>
                      <a:r>
                        <a:rPr lang="en-IN" sz="1400" b="1" u="none" strike="noStrike" dirty="0" err="1">
                          <a:effectLst/>
                        </a:rPr>
                        <a:t>Soyabean</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3.2</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3.79</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1183</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3.11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3.77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1212</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3.71</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4.33</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1165</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67314">
                <a:tc>
                  <a:txBody>
                    <a:bodyPr/>
                    <a:lstStyle/>
                    <a:p>
                      <a:pPr algn="ctr" rtl="0" fontAlgn="b"/>
                      <a:r>
                        <a:rPr lang="en-IN" sz="1400" b="1" u="none" strike="noStrike">
                          <a:effectLst/>
                        </a:rPr>
                        <a:t>10</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Cotton</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8.17</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a:effectLst/>
                        </a:rPr>
                        <a:t>23.29</a:t>
                      </a:r>
                      <a:endParaRPr lang="en-IN" sz="1400" b="1" i="0" u="none" strike="noStrike">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51000</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8.20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23.17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48000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6.777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19.53</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49000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589473">
                <a:tc>
                  <a:txBody>
                    <a:bodyPr/>
                    <a:lstStyle/>
                    <a:p>
                      <a:pPr algn="ctr" rtl="0" fontAlgn="b"/>
                      <a:r>
                        <a:rPr lang="en-IN" sz="1400" b="1" u="none" strike="noStrike" dirty="0">
                          <a:effectLst/>
                        </a:rPr>
                        <a:t>11</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IN" sz="1400" b="1" u="none" strike="noStrike" dirty="0">
                          <a:effectLst/>
                        </a:rPr>
                        <a:t>  Sugarcane         (Harvested)</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4.29</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360.34</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IN" sz="1400" b="1" u="none" strike="noStrike" dirty="0">
                          <a:effectLst/>
                        </a:rPr>
                        <a:t>8900</a:t>
                      </a:r>
                      <a:endParaRPr lang="en-IN" sz="1400" b="1" i="0" u="none" strike="noStrike" dirty="0">
                        <a:solidFill>
                          <a:srgbClr val="000000"/>
                        </a:solidFill>
                        <a:effectLst/>
                        <a:latin typeface="Times New Roman" panose="02020603050405020304" pitchFamily="18" charset="0"/>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4.43</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423.17</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9600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5.88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564.48</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IN" sz="1400" b="1" u="none" strike="noStrike" kern="1200" dirty="0" smtClean="0">
                          <a:solidFill>
                            <a:schemeClr val="dk1"/>
                          </a:solidFill>
                          <a:effectLst/>
                          <a:latin typeface="+mn-lt"/>
                          <a:ea typeface="+mn-ea"/>
                          <a:cs typeface="+mn-cs"/>
                        </a:rPr>
                        <a:t>9600</a:t>
                      </a:r>
                      <a:endParaRPr lang="en-IN" sz="1400" b="1" u="none" strike="noStrike" kern="1200" dirty="0">
                        <a:solidFill>
                          <a:schemeClr val="dk1"/>
                        </a:solidFill>
                        <a:effectLst/>
                        <a:latin typeface="+mn-lt"/>
                        <a:ea typeface="+mn-ea"/>
                        <a:cs typeface="+mn-cs"/>
                      </a:endParaRPr>
                    </a:p>
                  </a:txBody>
                  <a:tcPr marL="4755" marR="4755" marT="47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4261"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0"/>
            <a:ext cx="785812" cy="628650"/>
          </a:xfrm>
          <a:prstGeom prst="rect">
            <a:avLst/>
          </a:prstGeom>
          <a:noFill/>
          <a:ln w="9525">
            <a:noFill/>
            <a:miter lim="800000"/>
            <a:headEnd/>
            <a:tailEnd/>
          </a:ln>
        </p:spPr>
      </p:pic>
      <p:pic>
        <p:nvPicPr>
          <p:cNvPr id="4262"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71438"/>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743200" y="3271838"/>
          <a:ext cx="3657600" cy="190500"/>
        </p:xfrm>
        <a:graphic>
          <a:graphicData uri="http://schemas.openxmlformats.org/drawingml/2006/table">
            <a:tbl>
              <a:tblPr/>
              <a:tblGrid>
                <a:gridCol w="3657600"/>
              </a:tblGrid>
              <a:tr h="190500">
                <a:tc>
                  <a:txBody>
                    <a:bodyPr/>
                    <a:lstStyle/>
                    <a:p>
                      <a:pPr algn="ctr" fontAlgn="b"/>
                      <a:endParaRPr lang="en-US" sz="1000" b="1" i="0" u="none" strike="noStrike" dirty="0">
                        <a:solidFill>
                          <a:srgbClr val="000000"/>
                        </a:solidFill>
                        <a:latin typeface="Times New Roman"/>
                      </a:endParaRPr>
                    </a:p>
                  </a:txBody>
                  <a:tcPr marL="9525" marR="9525" marT="9525" marB="0" anchor="b">
                    <a:lnL>
                      <a:noFill/>
                    </a:lnL>
                    <a:lnR>
                      <a:noFill/>
                    </a:lnR>
                    <a:lnT>
                      <a:noFill/>
                    </a:lnT>
                    <a:lnB>
                      <a:noFill/>
                    </a:lnB>
                  </a:tcPr>
                </a:tc>
              </a:tr>
            </a:tbl>
          </a:graphicData>
        </a:graphic>
      </p:graphicFrame>
      <p:sp>
        <p:nvSpPr>
          <p:cNvPr id="5124" name="Rectangle 2"/>
          <p:cNvSpPr>
            <a:spLocks noChangeArrowheads="1"/>
          </p:cNvSpPr>
          <p:nvPr/>
        </p:nvSpPr>
        <p:spPr bwMode="auto">
          <a:xfrm>
            <a:off x="1071563" y="142875"/>
            <a:ext cx="7143750" cy="769938"/>
          </a:xfrm>
          <a:prstGeom prst="rect">
            <a:avLst/>
          </a:prstGeom>
          <a:solidFill>
            <a:srgbClr val="92D050"/>
          </a:solidFill>
          <a:ln w="9525">
            <a:noFill/>
            <a:miter lim="800000"/>
            <a:headEnd/>
            <a:tailEnd/>
          </a:ln>
        </p:spPr>
        <p:txBody>
          <a:bodyPr>
            <a:spAutoFit/>
          </a:bodyPr>
          <a:lstStyle/>
          <a:p>
            <a:pPr algn="ctr" fontAlgn="b"/>
            <a:r>
              <a:rPr lang="en-US" sz="2200" b="1">
                <a:solidFill>
                  <a:srgbClr val="000000"/>
                </a:solidFill>
                <a:latin typeface="Times New Roman" pitchFamily="18" charset="0"/>
              </a:rPr>
              <a:t>Proposed Target of Season-wise Area under Major Agriculture Crops in Karnataka during 2022-23</a:t>
            </a:r>
          </a:p>
        </p:txBody>
      </p:sp>
      <p:graphicFrame>
        <p:nvGraphicFramePr>
          <p:cNvPr id="4" name="Table 3"/>
          <p:cNvGraphicFramePr>
            <a:graphicFrameLocks noGrp="1"/>
          </p:cNvGraphicFramePr>
          <p:nvPr/>
        </p:nvGraphicFramePr>
        <p:xfrm>
          <a:off x="323529" y="1214438"/>
          <a:ext cx="8568951" cy="5382912"/>
        </p:xfrm>
        <a:graphic>
          <a:graphicData uri="http://schemas.openxmlformats.org/drawingml/2006/table">
            <a:tbl>
              <a:tblPr/>
              <a:tblGrid>
                <a:gridCol w="1960690"/>
                <a:gridCol w="1466891"/>
                <a:gridCol w="1713790"/>
                <a:gridCol w="1713790"/>
                <a:gridCol w="1713790"/>
              </a:tblGrid>
              <a:tr h="448576">
                <a:tc>
                  <a:txBody>
                    <a:bodyPr/>
                    <a:lstStyle/>
                    <a:p>
                      <a:pPr algn="ctr" fontAlgn="ctr"/>
                      <a:r>
                        <a:rPr lang="en-US" sz="1800" b="1" i="0" u="none" strike="noStrike" dirty="0">
                          <a:solidFill>
                            <a:srgbClr val="000000"/>
                          </a:solidFill>
                          <a:latin typeface="Times New Roman"/>
                        </a:rPr>
                        <a:t>Crops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b"/>
                      <a:r>
                        <a:rPr lang="en-US" sz="1800" b="1" i="0" u="none" strike="noStrike" dirty="0">
                          <a:solidFill>
                            <a:srgbClr val="000000"/>
                          </a:solidFill>
                          <a:latin typeface="Times New Roman"/>
                        </a:rPr>
                        <a:t>KHARIF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b"/>
                      <a:r>
                        <a:rPr lang="en-US" sz="1800" b="1" i="0" u="none" strike="noStrike" dirty="0">
                          <a:solidFill>
                            <a:srgbClr val="000000"/>
                          </a:solidFill>
                          <a:latin typeface="Times New Roman"/>
                        </a:rPr>
                        <a:t>RABI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b"/>
                      <a:r>
                        <a:rPr lang="en-US" sz="1800" b="1" i="0" u="none" strike="noStrike" dirty="0">
                          <a:solidFill>
                            <a:srgbClr val="000000"/>
                          </a:solidFill>
                          <a:latin typeface="Times New Roman"/>
                        </a:rPr>
                        <a:t>SUMMER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ctr" fontAlgn="b"/>
                      <a:r>
                        <a:rPr lang="en-US" sz="1800" b="1" i="0" u="none" strike="noStrike" dirty="0" smtClean="0">
                          <a:solidFill>
                            <a:srgbClr val="000000"/>
                          </a:solidFill>
                          <a:latin typeface="Times New Roman"/>
                        </a:rPr>
                        <a:t>TOTAL</a:t>
                      </a:r>
                      <a:endParaRPr lang="en-US" sz="1800" b="1"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r>
              <a:tr h="448576">
                <a:tc>
                  <a:txBody>
                    <a:bodyPr/>
                    <a:lstStyle/>
                    <a:p>
                      <a:pPr algn="l" fontAlgn="b"/>
                      <a:r>
                        <a:rPr lang="en-US" sz="1800" b="0" i="0" u="none" strike="noStrike" dirty="0">
                          <a:solidFill>
                            <a:srgbClr val="000000"/>
                          </a:solidFill>
                          <a:latin typeface="Times New Roman"/>
                        </a:rPr>
                        <a:t> Rice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10.62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2.72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13.50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a:t>
                      </a:r>
                      <a:r>
                        <a:rPr lang="en-US" sz="1800" b="0" i="0" u="none" strike="noStrike" dirty="0" err="1">
                          <a:solidFill>
                            <a:srgbClr val="000000"/>
                          </a:solidFill>
                          <a:latin typeface="Times New Roman"/>
                        </a:rPr>
                        <a:t>Jowar</a:t>
                      </a:r>
                      <a:endParaRPr lang="en-US" sz="1800" b="0"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7.59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a:t>
                      </a:r>
                      <a:r>
                        <a:rPr lang="en-US" sz="1800" b="0" i="0" u="none" strike="noStrike" dirty="0" err="1">
                          <a:solidFill>
                            <a:srgbClr val="000000"/>
                          </a:solidFill>
                          <a:latin typeface="Times New Roman"/>
                        </a:rPr>
                        <a:t>Ragi</a:t>
                      </a:r>
                      <a:endParaRPr lang="en-US" sz="1800" b="0"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7.17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7.57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Maize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14.34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15.91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a:t>
                      </a:r>
                      <a:r>
                        <a:rPr lang="en-US" sz="1800" b="0" i="0" u="none" strike="noStrike" dirty="0" err="1">
                          <a:solidFill>
                            <a:srgbClr val="000000"/>
                          </a:solidFill>
                          <a:latin typeface="Times New Roman"/>
                        </a:rPr>
                        <a:t>Tur</a:t>
                      </a:r>
                      <a:endParaRPr lang="en-US" sz="1800" b="0"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16.03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a:t>
                      </a:r>
                      <a:r>
                        <a:rPr lang="en-US" sz="1800" b="0" i="0" u="none" strike="noStrike" dirty="0" smtClean="0">
                          <a:solidFill>
                            <a:srgbClr val="000000"/>
                          </a:solidFill>
                          <a:latin typeface="Times New Roman"/>
                        </a:rPr>
                        <a:t>Bengal gram</a:t>
                      </a:r>
                      <a:endParaRPr lang="en-US" sz="1800" b="0"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10.54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10.56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Groundnut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4.61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6.78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Sunflower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0.97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1.64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Cotton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7.28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7.70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l" fontAlgn="b"/>
                      <a:r>
                        <a:rPr lang="en-US" sz="1800" b="0" i="0" u="none" strike="noStrike" dirty="0">
                          <a:solidFill>
                            <a:srgbClr val="000000"/>
                          </a:solidFill>
                          <a:latin typeface="Times New Roman"/>
                        </a:rPr>
                        <a:t> Sugarcane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6.51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latin typeface="Times New Roman"/>
                        </a:rPr>
                        <a:t>0.97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0.39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Times New Roman"/>
                        </a:rPr>
                        <a:t>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576">
                <a:tc>
                  <a:txBody>
                    <a:bodyPr/>
                    <a:lstStyle/>
                    <a:p>
                      <a:pPr algn="ctr" fontAlgn="b"/>
                      <a:r>
                        <a:rPr lang="en-US" sz="1800" b="1" i="0" u="none" strike="noStrike" dirty="0" smtClean="0">
                          <a:solidFill>
                            <a:srgbClr val="000000"/>
                          </a:solidFill>
                          <a:latin typeface="Times New Roman"/>
                        </a:rPr>
                        <a:t>Total of All crops</a:t>
                      </a:r>
                      <a:endParaRPr lang="en-US" sz="1800" b="1"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algn="ctr" defTabSz="914400" rtl="0" eaLnBrk="1" fontAlgn="b" latinLnBrk="0" hangingPunct="1"/>
                      <a:r>
                        <a:rPr lang="en-US" sz="1800" b="1" i="0" u="none" strike="noStrike" kern="1200" dirty="0" smtClean="0">
                          <a:solidFill>
                            <a:srgbClr val="000000"/>
                          </a:solidFill>
                          <a:latin typeface="Times New Roman"/>
                          <a:ea typeface="+mn-ea"/>
                          <a:cs typeface="+mn-cs"/>
                        </a:rPr>
                        <a:t>82.67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algn="ctr" defTabSz="914400" rtl="0" eaLnBrk="1" fontAlgn="b" latinLnBrk="0" hangingPunct="1"/>
                      <a:r>
                        <a:rPr lang="en-US" sz="1800" b="1" i="0" u="none" strike="noStrike" kern="1200" dirty="0" smtClean="0">
                          <a:solidFill>
                            <a:srgbClr val="000000"/>
                          </a:solidFill>
                          <a:latin typeface="Times New Roman"/>
                          <a:ea typeface="+mn-ea"/>
                          <a:cs typeface="+mn-cs"/>
                        </a:rPr>
                        <a:t>26.68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algn="ctr" defTabSz="914400" rtl="0" eaLnBrk="1" fontAlgn="b" latinLnBrk="0" hangingPunct="1"/>
                      <a:r>
                        <a:rPr lang="en-US" sz="1800" b="1" i="0" u="none" strike="noStrike" kern="1200" dirty="0" smtClean="0">
                          <a:solidFill>
                            <a:srgbClr val="000000"/>
                          </a:solidFill>
                          <a:latin typeface="Times New Roman"/>
                          <a:ea typeface="+mn-ea"/>
                          <a:cs typeface="+mn-cs"/>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b"/>
                      <a:r>
                        <a:rPr lang="en-US" sz="1800" b="1" i="0" u="none" strike="noStrike" dirty="0" smtClean="0">
                          <a:solidFill>
                            <a:srgbClr val="000000"/>
                          </a:solidFill>
                          <a:latin typeface="Times New Roman"/>
                        </a:rPr>
                        <a:t>114.55</a:t>
                      </a:r>
                      <a:endParaRPr lang="en-US" sz="1800" b="1" i="0" u="none" strike="noStrike" dirty="0">
                        <a:solidFill>
                          <a:srgbClr val="000000"/>
                        </a:solidFill>
                        <a:latin typeface="Times New Roman"/>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r>
            </a:tbl>
          </a:graphicData>
        </a:graphic>
      </p:graphicFrame>
      <p:pic>
        <p:nvPicPr>
          <p:cNvPr id="5205"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1000125" cy="800100"/>
          </a:xfrm>
          <a:prstGeom prst="rect">
            <a:avLst/>
          </a:prstGeom>
          <a:noFill/>
          <a:ln w="9525">
            <a:noFill/>
            <a:miter lim="800000"/>
            <a:headEnd/>
            <a:tailEnd/>
          </a:ln>
        </p:spPr>
      </p:pic>
      <p:pic>
        <p:nvPicPr>
          <p:cNvPr id="5206"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310563" y="214313"/>
            <a:ext cx="762000" cy="571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822325" y="1357298"/>
          <a:ext cx="7543800" cy="3752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7"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1000125" cy="800100"/>
          </a:xfrm>
          <a:prstGeom prst="rect">
            <a:avLst/>
          </a:prstGeom>
          <a:noFill/>
          <a:ln w="9525">
            <a:noFill/>
            <a:miter lim="800000"/>
            <a:headEnd/>
            <a:tailEnd/>
          </a:ln>
        </p:spPr>
      </p:pic>
      <p:pic>
        <p:nvPicPr>
          <p:cNvPr id="6148"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001000" y="214313"/>
            <a:ext cx="857250" cy="6429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extLst>
          </p:cNvPr>
          <p:cNvSpPr>
            <a:spLocks noGrp="1"/>
          </p:cNvSpPr>
          <p:nvPr>
            <p:ph type="title"/>
          </p:nvPr>
        </p:nvSpPr>
        <p:spPr>
          <a:xfrm>
            <a:off x="1115616" y="188640"/>
            <a:ext cx="6721971" cy="504056"/>
          </a:xfrm>
          <a:solidFill>
            <a:srgbClr val="92D050"/>
          </a:solidFill>
        </p:spPr>
        <p:txBody>
          <a:bodyPr rtlCol="0">
            <a:noAutofit/>
          </a:bodyPr>
          <a:lstStyle/>
          <a:p>
            <a:pPr eaLnBrk="1" fontAlgn="auto" hangingPunct="1">
              <a:spcAft>
                <a:spcPts val="0"/>
              </a:spcAft>
              <a:defRPr/>
            </a:pPr>
            <a:r>
              <a:rPr lang="en-IN" sz="2400" b="1" dirty="0">
                <a:solidFill>
                  <a:schemeClr val="tx1">
                    <a:lumMod val="75000"/>
                    <a:lumOff val="25000"/>
                  </a:schemeClr>
                </a:solidFill>
                <a:latin typeface="Times New Roman" panose="02020603050405020304" pitchFamily="18" charset="0"/>
                <a:cs typeface="Times New Roman" panose="02020603050405020304" pitchFamily="18" charset="0"/>
              </a:rPr>
              <a:t>ACCOMPLISHMENTS </a:t>
            </a:r>
            <a:r>
              <a:rPr lang="en-IN" sz="2400" b="1" dirty="0" smtClean="0">
                <a:solidFill>
                  <a:schemeClr val="tx1">
                    <a:lumMod val="75000"/>
                    <a:lumOff val="25000"/>
                  </a:schemeClr>
                </a:solidFill>
                <a:latin typeface="Times New Roman" panose="02020603050405020304" pitchFamily="18" charset="0"/>
                <a:cs typeface="Times New Roman" panose="02020603050405020304" pitchFamily="18" charset="0"/>
              </a:rPr>
              <a:t>  &amp;  PROGRAMMES</a:t>
            </a:r>
            <a:endParaRPr lang="en-IN" sz="24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nvPr>
        </p:nvGraphicFramePr>
        <p:xfrm>
          <a:off x="0" y="836712"/>
          <a:ext cx="9144000" cy="6021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2" name="Picture 4" descr="Karnataka government appeals to all hospitals in the state to run only  emergency medicine in the wake of Coronavirus scare"/>
          <p:cNvPicPr>
            <a:picLocks noChangeAspect="1" noChangeArrowheads="1"/>
          </p:cNvPicPr>
          <p:nvPr/>
        </p:nvPicPr>
        <p:blipFill>
          <a:blip r:embed="rId6" cstate="print"/>
          <a:srcRect/>
          <a:stretch>
            <a:fillRect/>
          </a:stretch>
        </p:blipFill>
        <p:spPr bwMode="auto">
          <a:xfrm>
            <a:off x="8072438" y="71438"/>
            <a:ext cx="857250" cy="642937"/>
          </a:xfrm>
          <a:prstGeom prst="rect">
            <a:avLst/>
          </a:prstGeom>
          <a:noFill/>
          <a:ln w="9525">
            <a:noFill/>
            <a:miter lim="800000"/>
            <a:headEnd/>
            <a:tailEnd/>
          </a:ln>
        </p:spPr>
      </p:pic>
      <p:pic>
        <p:nvPicPr>
          <p:cNvPr id="7173" name="Picture 8" descr="Download Lori Writing, Rangoli Making and Deshbhakti Geet Writing"/>
          <p:cNvPicPr>
            <a:picLocks noChangeAspect="1" noChangeArrowheads="1"/>
          </p:cNvPicPr>
          <p:nvPr/>
        </p:nvPicPr>
        <p:blipFill>
          <a:blip r:embed="rId7" cstate="print"/>
          <a:srcRect/>
          <a:stretch>
            <a:fillRect/>
          </a:stretch>
        </p:blipFill>
        <p:spPr bwMode="auto">
          <a:xfrm>
            <a:off x="71438" y="57150"/>
            <a:ext cx="1000125" cy="800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b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&amp;  PROGRAMMES</a:t>
            </a:r>
          </a:p>
        </p:txBody>
      </p:sp>
      <p:pic>
        <p:nvPicPr>
          <p:cNvPr id="8196"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71438"/>
            <a:ext cx="666750" cy="500062"/>
          </a:xfrm>
          <a:prstGeom prst="rect">
            <a:avLst/>
          </a:prstGeom>
          <a:noFill/>
          <a:ln w="9525">
            <a:noFill/>
            <a:miter lim="800000"/>
            <a:headEnd/>
            <a:tailEnd/>
          </a:ln>
        </p:spPr>
      </p:pic>
      <p:graphicFrame>
        <p:nvGraphicFramePr>
          <p:cNvPr id="10" name="Content Placeholder 9"/>
          <p:cNvGraphicFramePr>
            <a:graphicFrameLocks noGrp="1"/>
          </p:cNvGraphicFramePr>
          <p:nvPr>
            <p:ph idx="1"/>
          </p:nvPr>
        </p:nvGraphicFramePr>
        <p:xfrm>
          <a:off x="251520" y="1268760"/>
          <a:ext cx="8496944" cy="51125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23528" y="1196752"/>
          <a:ext cx="853244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b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&amp;  PROGRAMMES</a:t>
            </a:r>
          </a:p>
        </p:txBody>
      </p:sp>
      <p:pic>
        <p:nvPicPr>
          <p:cNvPr id="8196"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262938" y="71438"/>
            <a:ext cx="666750" cy="500062"/>
          </a:xfrm>
          <a:prstGeom prst="rect">
            <a:avLst/>
          </a:prstGeom>
          <a:noFill/>
          <a:ln w="9525">
            <a:noFill/>
            <a:miter lim="800000"/>
            <a:headEnd/>
            <a:tailEnd/>
          </a:ln>
        </p:spPr>
      </p:pic>
      <p:pic>
        <p:nvPicPr>
          <p:cNvPr id="9" name="Picture 2" descr="C:\Users\Dell\Downloads\SWT_0007 (4).JPG"/>
          <p:cNvPicPr>
            <a:picLocks noChangeAspect="1" noChangeArrowheads="1"/>
          </p:cNvPicPr>
          <p:nvPr/>
        </p:nvPicPr>
        <p:blipFill>
          <a:blip r:embed="rId8" cstate="print"/>
          <a:srcRect l="148" r="148"/>
          <a:stretch>
            <a:fillRect/>
          </a:stretch>
        </p:blipFill>
        <p:spPr bwMode="auto">
          <a:xfrm>
            <a:off x="323528" y="1337047"/>
            <a:ext cx="8496944" cy="31000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23528" y="1268760"/>
          <a:ext cx="853244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b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&amp;  PROGRAMMES</a:t>
            </a:r>
          </a:p>
        </p:txBody>
      </p:sp>
      <p:pic>
        <p:nvPicPr>
          <p:cNvPr id="8196"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262938" y="71438"/>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23528" y="1196752"/>
          <a:ext cx="8532440" cy="4536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b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&amp;  PROGRAMMES</a:t>
            </a:r>
          </a:p>
        </p:txBody>
      </p:sp>
      <p:pic>
        <p:nvPicPr>
          <p:cNvPr id="8196"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262938" y="71438"/>
            <a:ext cx="666750" cy="500062"/>
          </a:xfrm>
          <a:prstGeom prst="rect">
            <a:avLst/>
          </a:prstGeom>
          <a:noFill/>
          <a:ln w="9525">
            <a:noFill/>
            <a:miter lim="800000"/>
            <a:headEnd/>
            <a:tailEnd/>
          </a:ln>
        </p:spPr>
      </p:pic>
      <p:graphicFrame>
        <p:nvGraphicFramePr>
          <p:cNvPr id="7" name="Table 6"/>
          <p:cNvGraphicFramePr>
            <a:graphicFrameLocks noGrp="1"/>
          </p:cNvGraphicFramePr>
          <p:nvPr/>
        </p:nvGraphicFramePr>
        <p:xfrm>
          <a:off x="539552" y="2420888"/>
          <a:ext cx="8136904" cy="2851512"/>
        </p:xfrm>
        <a:graphic>
          <a:graphicData uri="http://schemas.openxmlformats.org/drawingml/2006/table">
            <a:tbl>
              <a:tblPr firstRow="1" bandRow="1">
                <a:tableStyleId>{93296810-A885-4BE3-A3E7-6D5BEEA58F35}</a:tableStyleId>
              </a:tblPr>
              <a:tblGrid>
                <a:gridCol w="2034226"/>
                <a:gridCol w="2034226"/>
                <a:gridCol w="2034226"/>
                <a:gridCol w="2034226"/>
              </a:tblGrid>
              <a:tr h="712878">
                <a:tc>
                  <a:txBody>
                    <a:bodyPr/>
                    <a:lstStyle/>
                    <a:p>
                      <a:pPr algn="ctr"/>
                      <a:r>
                        <a:rPr lang="en-US" b="1" dirty="0" smtClean="0"/>
                        <a:t>Type</a:t>
                      </a:r>
                      <a:r>
                        <a:rPr lang="en-US" b="1" baseline="0" dirty="0" smtClean="0"/>
                        <a:t> of Crop</a:t>
                      </a:r>
                      <a:endParaRPr 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As per </a:t>
                      </a:r>
                      <a:r>
                        <a:rPr lang="en-US" b="1" dirty="0" err="1" smtClean="0"/>
                        <a:t>GoI</a:t>
                      </a:r>
                      <a:r>
                        <a:rPr lang="en-US" b="1" dirty="0" smtClean="0"/>
                        <a:t> norms</a:t>
                      </a:r>
                      <a:r>
                        <a:rPr lang="en-US" b="1" baseline="0" dirty="0" smtClean="0"/>
                        <a:t> (Rs/Ha.)</a:t>
                      </a:r>
                      <a:endParaRPr 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Additional</a:t>
                      </a:r>
                      <a:r>
                        <a:rPr lang="en-US" b="1" baseline="0" dirty="0" smtClean="0"/>
                        <a:t> Assistance (Rs/Ha.)</a:t>
                      </a:r>
                      <a:endParaRPr 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Revised </a:t>
                      </a:r>
                      <a:r>
                        <a:rPr lang="en-US" b="1" baseline="0" dirty="0" smtClean="0"/>
                        <a:t> Assistance (Rs/Ha.)</a:t>
                      </a:r>
                      <a:endParaRPr 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2878">
                <a:tc>
                  <a:txBody>
                    <a:bodyPr/>
                    <a:lstStyle/>
                    <a:p>
                      <a:pPr algn="ctr"/>
                      <a:r>
                        <a:rPr lang="en-US" b="1" dirty="0" smtClean="0"/>
                        <a:t>DRYLAND</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6800.00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6800.00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13600.00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2878">
                <a:tc>
                  <a:txBody>
                    <a:bodyPr/>
                    <a:lstStyle/>
                    <a:p>
                      <a:pPr algn="ctr"/>
                      <a:r>
                        <a:rPr lang="en-US" b="1" dirty="0" smtClean="0"/>
                        <a:t>IRRIGATED</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13500.00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11500.00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25000.00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2878">
                <a:tc>
                  <a:txBody>
                    <a:bodyPr/>
                    <a:lstStyle/>
                    <a:p>
                      <a:pPr algn="ctr"/>
                      <a:r>
                        <a:rPr lang="en-US" b="1" dirty="0" smtClean="0"/>
                        <a:t>PERENNIAL</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18000.00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10000.00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28000.00</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Rectangle 8"/>
          <p:cNvSpPr/>
          <p:nvPr/>
        </p:nvSpPr>
        <p:spPr>
          <a:xfrm>
            <a:off x="467544" y="5877272"/>
            <a:ext cx="8280920" cy="864096"/>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An amount of Rs. 2435.57 crore assistance has been provided to 18.49 </a:t>
            </a:r>
            <a:r>
              <a:rPr lang="en-US" sz="2400" b="1" dirty="0" err="1" smtClean="0">
                <a:solidFill>
                  <a:schemeClr val="tx1"/>
                </a:solidFill>
              </a:rPr>
              <a:t>lakh</a:t>
            </a:r>
            <a:r>
              <a:rPr lang="en-US" sz="2400" b="1" dirty="0" smtClean="0">
                <a:solidFill>
                  <a:schemeClr val="tx1"/>
                </a:solidFill>
              </a:rPr>
              <a:t> farmers during the year 2021-22 </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23528" y="1313384"/>
          <a:ext cx="853244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r>
              <a:rPr lang="en-IN" sz="3200" b="1" spc="-50">
                <a:solidFill>
                  <a:schemeClr val="tx1">
                    <a:lumMod val="75000"/>
                    <a:lumOff val="25000"/>
                  </a:schemeClr>
                </a:solidFill>
                <a:latin typeface="Times New Roman" panose="02020603050405020304" pitchFamily="18" charset="0"/>
                <a:ea typeface="+mj-ea"/>
                <a:cs typeface="Times New Roman" panose="02020603050405020304" pitchFamily="18" charset="0"/>
              </a:rPr>
              <a:t/>
            </a:r>
            <a:br>
              <a:rPr lang="en-IN" sz="3200" b="1" spc="-5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smtClean="0">
                <a:solidFill>
                  <a:schemeClr val="tx1">
                    <a:lumMod val="75000"/>
                    <a:lumOff val="25000"/>
                  </a:schemeClr>
                </a:solidFill>
                <a:latin typeface="Times New Roman" panose="02020603050405020304" pitchFamily="18" charset="0"/>
                <a:ea typeface="+mj-ea"/>
                <a:cs typeface="Times New Roman" panose="02020603050405020304" pitchFamily="18" charset="0"/>
              </a:rPr>
              <a:t>&amp;  </a:t>
            </a: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PROGRAMMES</a:t>
            </a:r>
          </a:p>
        </p:txBody>
      </p:sp>
      <p:pic>
        <p:nvPicPr>
          <p:cNvPr id="8196"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262938" y="71438"/>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extLst>
          </p:cNvPr>
          <p:cNvSpPr txBox="1">
            <a:spLocks/>
          </p:cNvSpPr>
          <p:nvPr/>
        </p:nvSpPr>
        <p:spPr>
          <a:xfrm>
            <a:off x="971600" y="44624"/>
            <a:ext cx="6984776" cy="1093788"/>
          </a:xfrm>
          <a:prstGeom prst="rect">
            <a:avLst/>
          </a:prstGeom>
          <a:solidFill>
            <a:schemeClr val="accent4">
              <a:lumMod val="20000"/>
              <a:lumOff val="80000"/>
            </a:schemeClr>
          </a:solidFill>
        </p:spPr>
        <p:txBody>
          <a:bodyPr anchor="ctr">
            <a:normAutofit/>
          </a:bodyPr>
          <a:lstStyle/>
          <a:p>
            <a:pPr lvl="0" algn="ctr"/>
            <a:r>
              <a:rPr lang="en-US" sz="3200" b="1" dirty="0" smtClean="0"/>
              <a:t>“A Day with the Farmers”</a:t>
            </a:r>
            <a:endParaRPr lang="en-US" sz="3200" dirty="0"/>
          </a:p>
        </p:txBody>
      </p:sp>
      <p:pic>
        <p:nvPicPr>
          <p:cNvPr id="8196"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71438"/>
            <a:ext cx="666750" cy="500062"/>
          </a:xfrm>
          <a:prstGeom prst="rect">
            <a:avLst/>
          </a:prstGeom>
          <a:noFill/>
          <a:ln w="9525">
            <a:noFill/>
            <a:miter lim="800000"/>
            <a:headEnd/>
            <a:tailEnd/>
          </a:ln>
        </p:spPr>
      </p:pic>
      <p:pic>
        <p:nvPicPr>
          <p:cNvPr id="2050" name="Picture 2"/>
          <p:cNvPicPr>
            <a:picLocks noChangeAspect="1" noChangeArrowheads="1"/>
          </p:cNvPicPr>
          <p:nvPr/>
        </p:nvPicPr>
        <p:blipFill>
          <a:blip r:embed="rId4" cstate="print"/>
          <a:srcRect/>
          <a:stretch>
            <a:fillRect/>
          </a:stretch>
        </p:blipFill>
        <p:spPr bwMode="auto">
          <a:xfrm>
            <a:off x="4499992" y="1124745"/>
            <a:ext cx="4464496" cy="2736304"/>
          </a:xfrm>
          <a:prstGeom prst="rect">
            <a:avLst/>
          </a:prstGeom>
          <a:noFill/>
          <a:ln w="9525">
            <a:noFill/>
            <a:miter lim="800000"/>
            <a:headEnd/>
            <a:tailEnd/>
          </a:ln>
        </p:spPr>
      </p:pic>
      <p:pic>
        <p:nvPicPr>
          <p:cNvPr id="2051" name="Picture 3"/>
          <p:cNvPicPr>
            <a:picLocks noChangeAspect="1" noChangeArrowheads="1"/>
          </p:cNvPicPr>
          <p:nvPr/>
        </p:nvPicPr>
        <p:blipFill>
          <a:blip r:embed="rId5" cstate="print"/>
          <a:srcRect/>
          <a:stretch>
            <a:fillRect/>
          </a:stretch>
        </p:blipFill>
        <p:spPr bwMode="auto">
          <a:xfrm>
            <a:off x="179512" y="3906641"/>
            <a:ext cx="4320480" cy="2834727"/>
          </a:xfrm>
          <a:prstGeom prst="rect">
            <a:avLst/>
          </a:prstGeom>
          <a:noFill/>
          <a:ln w="9525">
            <a:noFill/>
            <a:miter lim="800000"/>
            <a:headEnd/>
            <a:tailEnd/>
          </a:ln>
        </p:spPr>
      </p:pic>
      <p:pic>
        <p:nvPicPr>
          <p:cNvPr id="2052" name="Picture 4"/>
          <p:cNvPicPr>
            <a:picLocks noChangeAspect="1" noChangeArrowheads="1"/>
          </p:cNvPicPr>
          <p:nvPr/>
        </p:nvPicPr>
        <p:blipFill>
          <a:blip r:embed="rId6" cstate="print"/>
          <a:srcRect/>
          <a:stretch>
            <a:fillRect/>
          </a:stretch>
        </p:blipFill>
        <p:spPr bwMode="auto">
          <a:xfrm>
            <a:off x="4499992" y="3933056"/>
            <a:ext cx="4464496" cy="2808312"/>
          </a:xfrm>
          <a:prstGeom prst="rect">
            <a:avLst/>
          </a:prstGeom>
          <a:noFill/>
          <a:ln w="9525">
            <a:noFill/>
            <a:miter lim="800000"/>
            <a:headEnd/>
            <a:tailEnd/>
          </a:ln>
        </p:spPr>
      </p:pic>
      <p:pic>
        <p:nvPicPr>
          <p:cNvPr id="2053" name="Picture 5"/>
          <p:cNvPicPr>
            <a:picLocks noChangeAspect="1" noChangeArrowheads="1"/>
          </p:cNvPicPr>
          <p:nvPr/>
        </p:nvPicPr>
        <p:blipFill>
          <a:blip r:embed="rId7" cstate="print"/>
          <a:srcRect/>
          <a:stretch>
            <a:fillRect/>
          </a:stretch>
        </p:blipFill>
        <p:spPr bwMode="auto">
          <a:xfrm>
            <a:off x="179512" y="1124744"/>
            <a:ext cx="4320480" cy="2736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23528" y="1268760"/>
          <a:ext cx="853244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3">
            <a:extLst>
              <a:ext uri="{FF2B5EF4-FFF2-40B4-BE49-F238E27FC236}"/>
            </a:extLst>
          </p:cNvPr>
          <p:cNvSpPr txBox="1">
            <a:spLocks/>
          </p:cNvSpPr>
          <p:nvPr/>
        </p:nvSpPr>
        <p:spPr>
          <a:xfrm>
            <a:off x="971600" y="44624"/>
            <a:ext cx="6984776"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ACCOMPLISHMENTS </a:t>
            </a:r>
            <a:b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br>
            <a:r>
              <a:rPr lang="en-IN" sz="32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&amp;  PROGRAMMES</a:t>
            </a:r>
          </a:p>
        </p:txBody>
      </p:sp>
      <p:pic>
        <p:nvPicPr>
          <p:cNvPr id="8196" name="Picture 8" descr="Download Lori Writing, Rangoli Making and Deshbhakti Geet Writing"/>
          <p:cNvPicPr>
            <a:picLocks noChangeAspect="1" noChangeArrowheads="1"/>
          </p:cNvPicPr>
          <p:nvPr/>
        </p:nvPicPr>
        <p:blipFill>
          <a:blip r:embed="rId6" cstate="print"/>
          <a:srcRect/>
          <a:stretch>
            <a:fillRect/>
          </a:stretch>
        </p:blipFill>
        <p:spPr bwMode="auto">
          <a:xfrm>
            <a:off x="71438" y="57150"/>
            <a:ext cx="714375" cy="571500"/>
          </a:xfrm>
          <a:prstGeom prst="rect">
            <a:avLst/>
          </a:prstGeom>
          <a:noFill/>
          <a:ln w="9525">
            <a:noFill/>
            <a:miter lim="800000"/>
            <a:headEnd/>
            <a:tailEnd/>
          </a:ln>
        </p:spPr>
      </p:pic>
      <p:pic>
        <p:nvPicPr>
          <p:cNvPr id="8197" name="Picture 4" descr="Karnataka government appeals to all hospitals in the state to run only  emergency medicine in the wake of Coronavirus scare"/>
          <p:cNvPicPr>
            <a:picLocks noChangeAspect="1" noChangeArrowheads="1"/>
          </p:cNvPicPr>
          <p:nvPr/>
        </p:nvPicPr>
        <p:blipFill>
          <a:blip r:embed="rId7" cstate="print"/>
          <a:srcRect/>
          <a:stretch>
            <a:fillRect/>
          </a:stretch>
        </p:blipFill>
        <p:spPr bwMode="auto">
          <a:xfrm>
            <a:off x="8262938" y="71438"/>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971600" y="116632"/>
            <a:ext cx="6957963" cy="954107"/>
          </a:xfrm>
          <a:prstGeom prst="rect">
            <a:avLst/>
          </a:prstGeom>
          <a:solidFill>
            <a:srgbClr val="92D050"/>
          </a:solidFill>
          <a:ln w="9525">
            <a:noFill/>
            <a:miter lim="800000"/>
            <a:headEnd/>
            <a:tailEnd/>
          </a:ln>
        </p:spPr>
        <p:txBody>
          <a:bodyPr wrap="square">
            <a:spAutoFit/>
          </a:bodyPr>
          <a:lstStyle/>
          <a:p>
            <a:pPr algn="ctr" fontAlgn="t"/>
            <a:r>
              <a:rPr lang="sv-SE" sz="3200" b="1" dirty="0">
                <a:latin typeface="Times New Roman" pitchFamily="18" charset="0"/>
                <a:cs typeface="Times New Roman" pitchFamily="18" charset="0"/>
              </a:rPr>
              <a:t>CROP SURVEY </a:t>
            </a:r>
            <a:br>
              <a:rPr lang="sv-SE" sz="3200" b="1" dirty="0">
                <a:latin typeface="Times New Roman" pitchFamily="18" charset="0"/>
                <a:cs typeface="Times New Roman" pitchFamily="18" charset="0"/>
              </a:rPr>
            </a:br>
            <a:r>
              <a:rPr lang="sv-SE" b="1" dirty="0">
                <a:latin typeface="Times New Roman" pitchFamily="18" charset="0"/>
                <a:cs typeface="Times New Roman" pitchFamily="18" charset="0"/>
              </a:rPr>
              <a:t>Total plots in Karnataka=210 lakhs</a:t>
            </a:r>
            <a:endParaRPr lang="sv-SE" sz="2400" b="1" dirty="0">
              <a:solidFill>
                <a:srgbClr val="000000"/>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323528" y="1268760"/>
          <a:ext cx="8496944" cy="4382349"/>
        </p:xfrm>
        <a:graphic>
          <a:graphicData uri="http://schemas.openxmlformats.org/drawingml/2006/table">
            <a:tbl>
              <a:tblPr>
                <a:tableStyleId>{7DF18680-E054-41AD-8BC1-D1AEF772440D}</a:tableStyleId>
              </a:tblPr>
              <a:tblGrid>
                <a:gridCol w="731957">
                  <a:extLst>
                    <a:ext uri="{9D8B030D-6E8A-4147-A177-3AD203B41FA5}"/>
                  </a:extLst>
                </a:gridCol>
                <a:gridCol w="1932339">
                  <a:extLst>
                    <a:ext uri="{9D8B030D-6E8A-4147-A177-3AD203B41FA5}"/>
                  </a:extLst>
                </a:gridCol>
                <a:gridCol w="1584176">
                  <a:extLst>
                    <a:ext uri="{9D8B030D-6E8A-4147-A177-3AD203B41FA5}"/>
                  </a:extLst>
                </a:gridCol>
                <a:gridCol w="1512168">
                  <a:extLst>
                    <a:ext uri="{9D8B030D-6E8A-4147-A177-3AD203B41FA5}"/>
                  </a:extLst>
                </a:gridCol>
                <a:gridCol w="1440160">
                  <a:extLst>
                    <a:ext uri="{9D8B030D-6E8A-4147-A177-3AD203B41FA5}"/>
                  </a:extLst>
                </a:gridCol>
                <a:gridCol w="1296144">
                  <a:extLst>
                    <a:ext uri="{9D8B030D-6E8A-4147-A177-3AD203B41FA5}"/>
                  </a:extLst>
                </a:gridCol>
              </a:tblGrid>
              <a:tr h="708054">
                <a:tc rowSpan="2">
                  <a:txBody>
                    <a:bodyPr/>
                    <a:lstStyle/>
                    <a:p>
                      <a:pPr algn="ctr" fontAlgn="t"/>
                      <a:r>
                        <a:rPr lang="en-IN" sz="2400" b="1" u="none" strike="noStrike" dirty="0" smtClean="0">
                          <a:effectLst/>
                        </a:rPr>
                        <a:t>Sl. No.</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rowSpan="2">
                  <a:txBody>
                    <a:bodyPr/>
                    <a:lstStyle/>
                    <a:p>
                      <a:pPr algn="ctr" fontAlgn="t"/>
                      <a:r>
                        <a:rPr lang="en-IN" sz="2400" b="1" u="none" strike="noStrike" dirty="0">
                          <a:effectLst/>
                        </a:rPr>
                        <a:t>Year</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gridSpan="4">
                  <a:txBody>
                    <a:bodyPr/>
                    <a:lstStyle/>
                    <a:p>
                      <a:pPr algn="ctr" fontAlgn="t"/>
                      <a:r>
                        <a:rPr lang="en-IN" sz="2400" b="1" u="none" strike="noStrike" dirty="0">
                          <a:effectLst/>
                        </a:rPr>
                        <a:t>Plots covered in </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extLst>
              </a:tr>
              <a:tr h="588090">
                <a:tc vMerge="1">
                  <a:txBody>
                    <a:bodyPr/>
                    <a:lstStyle/>
                    <a:p>
                      <a:endParaRPr lang="en-IN"/>
                    </a:p>
                  </a:txBody>
                  <a:tcPr/>
                </a:tc>
                <a:tc vMerge="1">
                  <a:txBody>
                    <a:bodyPr/>
                    <a:lstStyle/>
                    <a:p>
                      <a:endParaRPr lang="en-IN"/>
                    </a:p>
                  </a:txBody>
                  <a:tcPr/>
                </a:tc>
                <a:tc>
                  <a:txBody>
                    <a:bodyPr/>
                    <a:lstStyle/>
                    <a:p>
                      <a:pPr algn="ctr" fontAlgn="t"/>
                      <a:r>
                        <a:rPr lang="en-IN" sz="2400" b="1" u="none" strike="noStrike" dirty="0" smtClean="0">
                          <a:effectLst/>
                        </a:rPr>
                        <a:t>KHARIF </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t"/>
                      <a:r>
                        <a:rPr lang="en-IN" sz="2400" b="1" u="none" strike="noStrike" dirty="0" smtClean="0">
                          <a:effectLst/>
                        </a:rPr>
                        <a:t>RABI </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t"/>
                      <a:r>
                        <a:rPr lang="en-IN" sz="2400" b="1" u="none" strike="noStrike" dirty="0" smtClean="0">
                          <a:effectLst/>
                        </a:rPr>
                        <a:t>SUMMER</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t"/>
                      <a:r>
                        <a:rPr lang="en-IN" sz="2400" b="1" u="none" strike="noStrike" dirty="0" smtClean="0">
                          <a:effectLst/>
                        </a:rPr>
                        <a:t>TOTAL</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extLst>
              </a:tr>
              <a:tr h="571811">
                <a:tc>
                  <a:txBody>
                    <a:bodyPr/>
                    <a:lstStyle/>
                    <a:p>
                      <a:pPr algn="ctr" fontAlgn="t"/>
                      <a:r>
                        <a:rPr lang="en-IN" sz="2400" b="1" u="none" strike="noStrike" dirty="0">
                          <a:effectLst/>
                        </a:rPr>
                        <a:t>1</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2017-18</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152.52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0 </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US" sz="2400" b="1" u="none" strike="noStrike" dirty="0">
                          <a:effectLst/>
                        </a:rPr>
                        <a:t>0</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152.52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extLst>
              </a:tr>
              <a:tr h="571811">
                <a:tc>
                  <a:txBody>
                    <a:bodyPr/>
                    <a:lstStyle/>
                    <a:p>
                      <a:pPr algn="ctr" fontAlgn="t"/>
                      <a:r>
                        <a:rPr lang="en-IN" sz="2400" b="1" u="none" strike="noStrike" dirty="0">
                          <a:effectLst/>
                        </a:rPr>
                        <a:t>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2018-19</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206.91</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 0</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0 </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206.91</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extLst>
              </a:tr>
              <a:tr h="571811">
                <a:tc>
                  <a:txBody>
                    <a:bodyPr/>
                    <a:lstStyle/>
                    <a:p>
                      <a:pPr algn="ctr" fontAlgn="t"/>
                      <a:r>
                        <a:rPr lang="en-IN" sz="2400" b="1" u="none" strike="noStrike" dirty="0">
                          <a:effectLst/>
                        </a:rPr>
                        <a:t>3</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2019-20</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a:effectLst/>
                        </a:rPr>
                        <a:t>223.75</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a:effectLst/>
                        </a:rPr>
                        <a:t>109.35</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a:effectLst/>
                        </a:rPr>
                        <a:t>22.86</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a:effectLst/>
                        </a:rPr>
                        <a:t>355.96</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extLst>
              </a:tr>
              <a:tr h="571811">
                <a:tc>
                  <a:txBody>
                    <a:bodyPr/>
                    <a:lstStyle/>
                    <a:p>
                      <a:pPr algn="ctr" fontAlgn="t"/>
                      <a:r>
                        <a:rPr lang="en-IN" sz="2400" b="1" u="none" strike="noStrike" dirty="0">
                          <a:effectLst/>
                        </a:rPr>
                        <a:t>4</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2020-21</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211.45</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110.75</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51.62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373.82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extLst>
              </a:tr>
              <a:tr h="798961">
                <a:tc>
                  <a:txBody>
                    <a:bodyPr/>
                    <a:lstStyle/>
                    <a:p>
                      <a:pPr algn="ctr" fontAlgn="t"/>
                      <a:r>
                        <a:rPr lang="en-IN" sz="2400" b="1" u="none" strike="noStrike" dirty="0">
                          <a:effectLst/>
                        </a:rPr>
                        <a:t>5</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a:effectLst/>
                        </a:rPr>
                        <a:t>2021-22 </a:t>
                      </a:r>
                      <a:endParaRPr lang="en-IN" sz="2400" b="1" u="none" strike="noStrike" dirty="0" smtClean="0">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smtClean="0">
                          <a:effectLst/>
                        </a:rPr>
                        <a:t>256.96</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IN" sz="2400" b="1" u="none" strike="noStrike" dirty="0" smtClean="0">
                          <a:effectLst/>
                        </a:rPr>
                        <a:t>102.62</a:t>
                      </a:r>
                      <a:endParaRPr lang="en-IN" sz="2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smtClean="0">
                          <a:effectLst/>
                        </a:rPr>
                        <a:t>32.53</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t" latinLnBrk="0" hangingPunct="1"/>
                      <a:r>
                        <a:rPr lang="en-IN" sz="2400" b="1" u="none" strike="noStrike" kern="1200" dirty="0" smtClean="0">
                          <a:effectLst/>
                        </a:rPr>
                        <a:t>392.11</a:t>
                      </a:r>
                      <a:endParaRPr lang="en-IN" sz="2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extLst>
              </a:tr>
            </a:tbl>
          </a:graphicData>
        </a:graphic>
      </p:graphicFrame>
      <p:sp>
        <p:nvSpPr>
          <p:cNvPr id="9272" name="Rectangle 4"/>
          <p:cNvSpPr>
            <a:spLocks noChangeArrowheads="1"/>
          </p:cNvSpPr>
          <p:nvPr/>
        </p:nvSpPr>
        <p:spPr bwMode="auto">
          <a:xfrm>
            <a:off x="323528" y="5765502"/>
            <a:ext cx="8496944" cy="831850"/>
          </a:xfrm>
          <a:prstGeom prst="rect">
            <a:avLst/>
          </a:prstGeom>
          <a:solidFill>
            <a:srgbClr val="FFCC99"/>
          </a:solidFill>
          <a:ln w="9525">
            <a:noFill/>
            <a:miter lim="800000"/>
            <a:headEnd/>
            <a:tailEnd/>
          </a:ln>
        </p:spPr>
        <p:txBody>
          <a:bodyPr wrap="square">
            <a:spAutoFit/>
          </a:bodyPr>
          <a:lstStyle/>
          <a:p>
            <a:pPr algn="just"/>
            <a:r>
              <a:rPr lang="en-IN" sz="1600" b="1" dirty="0">
                <a:latin typeface="Times New Roman" pitchFamily="18" charset="0"/>
                <a:cs typeface="Times New Roman" pitchFamily="18" charset="0"/>
              </a:rPr>
              <a:t>1. In 2020-21, 80 </a:t>
            </a:r>
            <a:r>
              <a:rPr lang="en-IN" sz="1600" b="1" dirty="0" err="1">
                <a:latin typeface="Times New Roman" pitchFamily="18" charset="0"/>
                <a:cs typeface="Times New Roman" pitchFamily="18" charset="0"/>
              </a:rPr>
              <a:t>lakh</a:t>
            </a:r>
            <a:r>
              <a:rPr lang="en-IN" sz="1600" b="1" dirty="0">
                <a:latin typeface="Times New Roman" pitchFamily="18" charset="0"/>
                <a:cs typeface="Times New Roman" pitchFamily="18" charset="0"/>
              </a:rPr>
              <a:t> plot details have been uploaded by farmers or persons outsourced </a:t>
            </a:r>
          </a:p>
          <a:p>
            <a:pPr algn="just"/>
            <a:r>
              <a:rPr lang="en-IN" sz="1600" b="1" dirty="0" smtClean="0">
                <a:latin typeface="Times New Roman" pitchFamily="18" charset="0"/>
                <a:cs typeface="Times New Roman" pitchFamily="18" charset="0"/>
              </a:rPr>
              <a:t>2. Crop the crop details uploaded in survey were entered in the RTCs is 170 </a:t>
            </a:r>
            <a:r>
              <a:rPr lang="en-IN" sz="1600" b="1" dirty="0" err="1" smtClean="0">
                <a:latin typeface="Times New Roman" pitchFamily="18" charset="0"/>
                <a:cs typeface="Times New Roman" pitchFamily="18" charset="0"/>
              </a:rPr>
              <a:t>lakh</a:t>
            </a:r>
            <a:r>
              <a:rPr lang="en-IN" sz="1600" b="1" dirty="0" smtClean="0">
                <a:latin typeface="Times New Roman" pitchFamily="18" charset="0"/>
                <a:cs typeface="Times New Roman" pitchFamily="18" charset="0"/>
              </a:rPr>
              <a:t> plots in June 2020-21</a:t>
            </a:r>
            <a:endParaRPr lang="en-IN" sz="1600" b="1" dirty="0">
              <a:latin typeface="Times New Roman" pitchFamily="18" charset="0"/>
              <a:cs typeface="Times New Roman" pitchFamily="18" charset="0"/>
            </a:endParaRPr>
          </a:p>
        </p:txBody>
      </p:sp>
      <p:pic>
        <p:nvPicPr>
          <p:cNvPr id="9273"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642937" cy="571500"/>
          </a:xfrm>
          <a:prstGeom prst="rect">
            <a:avLst/>
          </a:prstGeom>
          <a:noFill/>
          <a:ln w="9525">
            <a:noFill/>
            <a:miter lim="800000"/>
            <a:headEnd/>
            <a:tailEnd/>
          </a:ln>
        </p:spPr>
      </p:pic>
      <p:pic>
        <p:nvPicPr>
          <p:cNvPr id="9274" name="Picture 5"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71438"/>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14438" y="116632"/>
            <a:ext cx="6786562" cy="928687"/>
          </a:xfrm>
          <a:solidFill>
            <a:srgbClr val="92D050"/>
          </a:solidFill>
        </p:spPr>
        <p:txBody>
          <a:bodyPr/>
          <a:lstStyle/>
          <a:p>
            <a:pPr eaLnBrk="1" hangingPunct="1"/>
            <a:r>
              <a:rPr lang="en-IN" sz="3200" b="1" dirty="0" smtClean="0"/>
              <a:t>Mobile Plant Health Clinics </a:t>
            </a:r>
            <a:br>
              <a:rPr lang="en-IN" sz="3200" b="1" dirty="0" smtClean="0"/>
            </a:br>
            <a:r>
              <a:rPr lang="en-IN" sz="3200" b="1" dirty="0" smtClean="0"/>
              <a:t>(</a:t>
            </a:r>
            <a:r>
              <a:rPr lang="en-IN" sz="3200" b="1" dirty="0" err="1" smtClean="0"/>
              <a:t>Krishi</a:t>
            </a:r>
            <a:r>
              <a:rPr lang="en-IN" sz="3200" b="1" dirty="0" smtClean="0"/>
              <a:t> </a:t>
            </a:r>
            <a:r>
              <a:rPr lang="en-IN" sz="3200" b="1" dirty="0" err="1" smtClean="0"/>
              <a:t>Sanjeevini</a:t>
            </a:r>
            <a:r>
              <a:rPr lang="en-IN" sz="3200" b="1" dirty="0" smtClean="0"/>
              <a:t>)</a:t>
            </a:r>
            <a:endParaRPr lang="en-US" sz="3200" dirty="0" smtClean="0"/>
          </a:p>
        </p:txBody>
      </p:sp>
      <p:sp>
        <p:nvSpPr>
          <p:cNvPr id="3" name="Content Placeholder 2"/>
          <p:cNvSpPr>
            <a:spLocks noGrp="1"/>
          </p:cNvSpPr>
          <p:nvPr>
            <p:ph idx="1"/>
          </p:nvPr>
        </p:nvSpPr>
        <p:spPr>
          <a:xfrm>
            <a:off x="251520" y="1214438"/>
            <a:ext cx="8640960" cy="5310906"/>
          </a:xfrm>
          <a:solidFill>
            <a:schemeClr val="accent3">
              <a:lumMod val="20000"/>
              <a:lumOff val="80000"/>
            </a:schemeClr>
          </a:solidFill>
        </p:spPr>
        <p:style>
          <a:lnRef idx="2">
            <a:schemeClr val="accent2"/>
          </a:lnRef>
          <a:fillRef idx="1">
            <a:schemeClr val="lt1"/>
          </a:fillRef>
          <a:effectRef idx="0">
            <a:schemeClr val="accent2"/>
          </a:effectRef>
          <a:fontRef idx="minor">
            <a:schemeClr val="dk1"/>
          </a:fontRef>
        </p:style>
        <p:txBody>
          <a:bodyPr rtlCol="0">
            <a:noAutofit/>
          </a:bodyPr>
          <a:lstStyle/>
          <a:p>
            <a:pPr algn="just" eaLnBrk="1" fontAlgn="auto" hangingPunct="1">
              <a:spcAft>
                <a:spcPts val="0"/>
              </a:spcAft>
              <a:defRPr/>
            </a:pPr>
            <a:r>
              <a:rPr lang="en-IN" sz="2800" b="1" dirty="0" smtClean="0">
                <a:solidFill>
                  <a:schemeClr val="tx1"/>
                </a:solidFill>
              </a:rPr>
              <a:t>“Mobile Plant Health Clinics” have been established for </a:t>
            </a:r>
            <a:r>
              <a:rPr lang="en-US" sz="2800" b="1" dirty="0" smtClean="0">
                <a:solidFill>
                  <a:schemeClr val="tx1"/>
                </a:solidFill>
              </a:rPr>
              <a:t>Facilitating early monitoring, identification and guiding of farmers regarding soil conditions, nutritional requirements, pest identification and management as well as to reduce the indiscriminate use of chemical pesticides in order to reduce the residues in crop produce and to promote good agricultural practices.   </a:t>
            </a:r>
          </a:p>
          <a:p>
            <a:pPr algn="just" eaLnBrk="1" fontAlgn="auto" hangingPunct="1">
              <a:spcAft>
                <a:spcPts val="0"/>
              </a:spcAft>
              <a:defRPr/>
            </a:pPr>
            <a:r>
              <a:rPr lang="en-US" sz="2800" b="1" dirty="0" smtClean="0">
                <a:solidFill>
                  <a:schemeClr val="tx1"/>
                </a:solidFill>
              </a:rPr>
              <a:t>These clinics will also Suggest timely corrective measures for farmers to increase yields and to reduce the cost of cultivation. </a:t>
            </a:r>
            <a:r>
              <a:rPr lang="en-US" sz="2800" b="1" dirty="0" smtClean="0">
                <a:solidFill>
                  <a:srgbClr val="002060"/>
                </a:solidFill>
              </a:rPr>
              <a:t>160 Mobile Plant Health Clinics have been established through out the State. </a:t>
            </a:r>
          </a:p>
        </p:txBody>
      </p:sp>
      <p:pic>
        <p:nvPicPr>
          <p:cNvPr id="11268"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1000125" cy="800100"/>
          </a:xfrm>
          <a:prstGeom prst="rect">
            <a:avLst/>
          </a:prstGeom>
          <a:noFill/>
          <a:ln w="9525">
            <a:noFill/>
            <a:miter lim="800000"/>
            <a:headEnd/>
            <a:tailEnd/>
          </a:ln>
        </p:spPr>
      </p:pic>
      <p:pic>
        <p:nvPicPr>
          <p:cNvPr id="11269"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214313"/>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214438" y="116632"/>
            <a:ext cx="6786562" cy="928687"/>
          </a:xfrm>
          <a:solidFill>
            <a:schemeClr val="accent4">
              <a:lumMod val="20000"/>
              <a:lumOff val="80000"/>
            </a:schemeClr>
          </a:solidFill>
        </p:spPr>
        <p:txBody>
          <a:bodyPr/>
          <a:lstStyle/>
          <a:p>
            <a:pPr eaLnBrk="1" hangingPunct="1"/>
            <a:r>
              <a:rPr lang="en-IN" sz="3200" b="1" dirty="0" smtClean="0"/>
              <a:t>Mobile Plant Health Clinics </a:t>
            </a:r>
            <a:br>
              <a:rPr lang="en-IN" sz="3200" b="1" dirty="0" smtClean="0"/>
            </a:br>
            <a:r>
              <a:rPr lang="en-IN" sz="3200" b="1" dirty="0" smtClean="0"/>
              <a:t>(</a:t>
            </a:r>
            <a:r>
              <a:rPr lang="en-IN" sz="3200" b="1" dirty="0" err="1" smtClean="0"/>
              <a:t>Krishi</a:t>
            </a:r>
            <a:r>
              <a:rPr lang="en-IN" sz="3200" b="1" dirty="0" smtClean="0"/>
              <a:t> </a:t>
            </a:r>
            <a:r>
              <a:rPr lang="en-IN" sz="3200" b="1" dirty="0" err="1" smtClean="0"/>
              <a:t>Sanjeevini</a:t>
            </a:r>
            <a:r>
              <a:rPr lang="en-IN" sz="3200" b="1" dirty="0" smtClean="0"/>
              <a:t>)</a:t>
            </a:r>
            <a:endParaRPr lang="en-US" sz="3200" dirty="0" smtClean="0"/>
          </a:p>
        </p:txBody>
      </p:sp>
      <p:pic>
        <p:nvPicPr>
          <p:cNvPr id="11268"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1000125" cy="800100"/>
          </a:xfrm>
          <a:prstGeom prst="rect">
            <a:avLst/>
          </a:prstGeom>
          <a:noFill/>
          <a:ln w="9525">
            <a:noFill/>
            <a:miter lim="800000"/>
            <a:headEnd/>
            <a:tailEnd/>
          </a:ln>
        </p:spPr>
      </p:pic>
      <p:pic>
        <p:nvPicPr>
          <p:cNvPr id="11269" name="Picture 4"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214313"/>
            <a:ext cx="666750" cy="500062"/>
          </a:xfrm>
          <a:prstGeom prst="rect">
            <a:avLst/>
          </a:prstGeom>
          <a:noFill/>
          <a:ln w="9525">
            <a:noFill/>
            <a:miter lim="800000"/>
            <a:headEnd/>
            <a:tailEnd/>
          </a:ln>
        </p:spPr>
      </p:pic>
      <p:pic>
        <p:nvPicPr>
          <p:cNvPr id="1026" name="Picture 13" descr="WhatsApp Image 2021-04-03 at 2.41.40 PM (5).jpeg"/>
          <p:cNvPicPr>
            <a:picLocks noChangeAspect="1" noChangeArrowheads="1"/>
          </p:cNvPicPr>
          <p:nvPr/>
        </p:nvPicPr>
        <p:blipFill>
          <a:blip r:embed="rId4" cstate="print"/>
          <a:srcRect/>
          <a:stretch>
            <a:fillRect/>
          </a:stretch>
        </p:blipFill>
        <p:spPr bwMode="auto">
          <a:xfrm>
            <a:off x="4499992" y="4180588"/>
            <a:ext cx="4464496" cy="2488772"/>
          </a:xfrm>
          <a:prstGeom prst="rect">
            <a:avLst/>
          </a:prstGeom>
          <a:noFill/>
          <a:ln w="9525">
            <a:noFill/>
            <a:miter lim="800000"/>
            <a:headEnd/>
            <a:tailEnd/>
          </a:ln>
        </p:spPr>
      </p:pic>
      <p:pic>
        <p:nvPicPr>
          <p:cNvPr id="1027" name="Picture 3" descr="Picture1"/>
          <p:cNvPicPr>
            <a:picLocks noChangeAspect="1" noChangeArrowheads="1"/>
          </p:cNvPicPr>
          <p:nvPr/>
        </p:nvPicPr>
        <p:blipFill>
          <a:blip r:embed="rId5" cstate="print"/>
          <a:srcRect l="48433" t="44" r="1484" b="49202"/>
          <a:stretch>
            <a:fillRect/>
          </a:stretch>
        </p:blipFill>
        <p:spPr bwMode="auto">
          <a:xfrm>
            <a:off x="179512" y="1052736"/>
            <a:ext cx="4248472" cy="3096344"/>
          </a:xfrm>
          <a:prstGeom prst="rect">
            <a:avLst/>
          </a:prstGeom>
          <a:noFill/>
          <a:ln w="9525">
            <a:noFill/>
            <a:miter lim="800000"/>
            <a:headEnd/>
            <a:tailEnd/>
          </a:ln>
        </p:spPr>
      </p:pic>
      <p:pic>
        <p:nvPicPr>
          <p:cNvPr id="1028" name="Picture 54" descr="WhatsApp Image 2021-04-03 at 2.27.32 PM.jpeg"/>
          <p:cNvPicPr>
            <a:picLocks noChangeAspect="1" noChangeArrowheads="1"/>
          </p:cNvPicPr>
          <p:nvPr/>
        </p:nvPicPr>
        <p:blipFill>
          <a:blip r:embed="rId6" cstate="print"/>
          <a:srcRect/>
          <a:stretch>
            <a:fillRect/>
          </a:stretch>
        </p:blipFill>
        <p:spPr bwMode="auto">
          <a:xfrm>
            <a:off x="179512" y="4221088"/>
            <a:ext cx="4275582" cy="2501825"/>
          </a:xfrm>
          <a:prstGeom prst="rect">
            <a:avLst/>
          </a:prstGeom>
          <a:noFill/>
          <a:ln w="9525">
            <a:noFill/>
            <a:miter lim="800000"/>
            <a:headEnd/>
            <a:tailEnd/>
          </a:ln>
        </p:spPr>
      </p:pic>
      <p:pic>
        <p:nvPicPr>
          <p:cNvPr id="1029" name="Picture 17" descr="C:\Users\oms1\Desktop\b.jpg"/>
          <p:cNvPicPr>
            <a:picLocks noChangeAspect="1" noChangeArrowheads="1"/>
          </p:cNvPicPr>
          <p:nvPr/>
        </p:nvPicPr>
        <p:blipFill>
          <a:blip r:embed="rId7" cstate="print"/>
          <a:srcRect/>
          <a:stretch>
            <a:fillRect/>
          </a:stretch>
        </p:blipFill>
        <p:spPr bwMode="auto">
          <a:xfrm>
            <a:off x="4499992" y="1052736"/>
            <a:ext cx="4464496" cy="30963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extLst>
          </p:cNvPr>
          <p:cNvSpPr txBox="1">
            <a:spLocks/>
          </p:cNvSpPr>
          <p:nvPr/>
        </p:nvSpPr>
        <p:spPr>
          <a:xfrm>
            <a:off x="1115616" y="116632"/>
            <a:ext cx="6912767"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600" b="1" spc="-50" dirty="0" smtClean="0">
                <a:solidFill>
                  <a:schemeClr val="tx1">
                    <a:lumMod val="75000"/>
                    <a:lumOff val="25000"/>
                  </a:schemeClr>
                </a:solidFill>
                <a:latin typeface="Times New Roman" panose="02020603050405020304" pitchFamily="18" charset="0"/>
                <a:ea typeface="+mj-ea"/>
                <a:cs typeface="Times New Roman" panose="02020603050405020304" pitchFamily="18" charset="0"/>
              </a:rPr>
              <a:t>Budget Announcements for </a:t>
            </a:r>
          </a:p>
          <a:p>
            <a:pPr algn="ctr" fontAlgn="auto">
              <a:lnSpc>
                <a:spcPct val="85000"/>
              </a:lnSpc>
              <a:spcBef>
                <a:spcPts val="0"/>
              </a:spcBef>
              <a:spcAft>
                <a:spcPts val="0"/>
              </a:spcAft>
              <a:defRPr/>
            </a:pPr>
            <a:r>
              <a:rPr lang="en-IN" sz="3600" b="1" spc="-50" dirty="0" smtClean="0">
                <a:solidFill>
                  <a:schemeClr val="tx1">
                    <a:lumMod val="75000"/>
                    <a:lumOff val="25000"/>
                  </a:schemeClr>
                </a:solidFill>
                <a:latin typeface="Times New Roman" panose="02020603050405020304" pitchFamily="18" charset="0"/>
                <a:ea typeface="+mj-ea"/>
                <a:cs typeface="Times New Roman" panose="02020603050405020304" pitchFamily="18" charset="0"/>
              </a:rPr>
              <a:t>2022-23</a:t>
            </a:r>
            <a:endParaRPr lang="en-IN" sz="36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p:txBody>
      </p:sp>
      <p:sp>
        <p:nvSpPr>
          <p:cNvPr id="4" name="Content Placeholder 3"/>
          <p:cNvSpPr>
            <a:spLocks noGrp="1"/>
          </p:cNvSpPr>
          <p:nvPr>
            <p:ph idx="1"/>
          </p:nvPr>
        </p:nvSpPr>
        <p:spPr>
          <a:xfrm>
            <a:off x="179512" y="1500188"/>
            <a:ext cx="8784976" cy="5097164"/>
          </a:xfrm>
        </p:spPr>
        <p:txBody>
          <a:bodyPr rtlCol="0">
            <a:normAutofit fontScale="77500" lnSpcReduction="20000"/>
          </a:bodyPr>
          <a:lstStyle/>
          <a:p>
            <a:pPr algn="just" eaLnBrk="1" fontAlgn="auto" hangingPunct="1">
              <a:spcAft>
                <a:spcPts val="0"/>
              </a:spcAft>
              <a:buFont typeface="Arial" pitchFamily="34" charset="0"/>
              <a:buChar char="•"/>
              <a:defRPr/>
            </a:pPr>
            <a:r>
              <a:rPr lang="en-US" b="1" dirty="0" smtClean="0">
                <a:solidFill>
                  <a:schemeClr val="accent6">
                    <a:lumMod val="50000"/>
                  </a:schemeClr>
                </a:solidFill>
              </a:rPr>
              <a:t>Total Budget For 2022-2023 is 5765.85 </a:t>
            </a:r>
            <a:r>
              <a:rPr lang="en-US" b="1" dirty="0" err="1" smtClean="0">
                <a:solidFill>
                  <a:schemeClr val="accent6">
                    <a:lumMod val="50000"/>
                  </a:schemeClr>
                </a:solidFill>
              </a:rPr>
              <a:t>cr</a:t>
            </a:r>
            <a:r>
              <a:rPr lang="en-US" b="1" dirty="0" smtClean="0">
                <a:solidFill>
                  <a:schemeClr val="accent6">
                    <a:lumMod val="50000"/>
                  </a:schemeClr>
                </a:solidFill>
              </a:rPr>
              <a:t> </a:t>
            </a:r>
            <a:r>
              <a:rPr lang="en-US" b="1" dirty="0" smtClean="0">
                <a:solidFill>
                  <a:schemeClr val="accent6">
                    <a:lumMod val="50000"/>
                  </a:schemeClr>
                </a:solidFill>
              </a:rPr>
              <a:t>O</a:t>
            </a:r>
            <a:r>
              <a:rPr lang="en-US" b="1" dirty="0" smtClean="0">
                <a:solidFill>
                  <a:schemeClr val="accent6">
                    <a:lumMod val="50000"/>
                  </a:schemeClr>
                </a:solidFill>
              </a:rPr>
              <a:t>ut </a:t>
            </a:r>
            <a:r>
              <a:rPr lang="en-US" b="1" dirty="0" smtClean="0">
                <a:solidFill>
                  <a:schemeClr val="accent6">
                    <a:lumMod val="50000"/>
                  </a:schemeClr>
                </a:solidFill>
              </a:rPr>
              <a:t>O</a:t>
            </a:r>
            <a:r>
              <a:rPr lang="en-US" b="1" dirty="0" smtClean="0">
                <a:solidFill>
                  <a:schemeClr val="accent6">
                    <a:lumMod val="50000"/>
                  </a:schemeClr>
                </a:solidFill>
              </a:rPr>
              <a:t>f W</a:t>
            </a:r>
            <a:r>
              <a:rPr lang="en-US" b="1" dirty="0" smtClean="0">
                <a:solidFill>
                  <a:schemeClr val="accent6">
                    <a:lumMod val="50000"/>
                  </a:schemeClr>
                </a:solidFill>
              </a:rPr>
              <a:t>hich CSS Budget 1157.42 </a:t>
            </a:r>
            <a:r>
              <a:rPr lang="en-US" b="1" smtClean="0">
                <a:solidFill>
                  <a:schemeClr val="accent6">
                    <a:lumMod val="50000"/>
                  </a:schemeClr>
                </a:solidFill>
              </a:rPr>
              <a:t>cr </a:t>
            </a:r>
            <a:endParaRPr lang="en-US" b="1" dirty="0" smtClean="0">
              <a:solidFill>
                <a:schemeClr val="accent6">
                  <a:lumMod val="50000"/>
                </a:schemeClr>
              </a:solidFill>
            </a:endParaRPr>
          </a:p>
          <a:p>
            <a:pPr algn="just" eaLnBrk="1" fontAlgn="auto" hangingPunct="1">
              <a:spcAft>
                <a:spcPts val="0"/>
              </a:spcAft>
              <a:buFont typeface="Arial" pitchFamily="34" charset="0"/>
              <a:buChar char="•"/>
              <a:defRPr/>
            </a:pPr>
            <a:r>
              <a:rPr lang="en-US" b="1" dirty="0" smtClean="0">
                <a:solidFill>
                  <a:schemeClr val="accent6">
                    <a:lumMod val="50000"/>
                  </a:schemeClr>
                </a:solidFill>
              </a:rPr>
              <a:t>“</a:t>
            </a:r>
            <a:r>
              <a:rPr lang="en-US" b="1" dirty="0" err="1" smtClean="0">
                <a:solidFill>
                  <a:schemeClr val="accent6">
                    <a:lumMod val="50000"/>
                  </a:schemeClr>
                </a:solidFill>
              </a:rPr>
              <a:t>Raitha</a:t>
            </a:r>
            <a:r>
              <a:rPr lang="en-US" b="1" dirty="0" smtClean="0">
                <a:solidFill>
                  <a:schemeClr val="accent6">
                    <a:lumMod val="50000"/>
                  </a:schemeClr>
                </a:solidFill>
              </a:rPr>
              <a:t> </a:t>
            </a:r>
            <a:r>
              <a:rPr lang="en-US" b="1" dirty="0" err="1" smtClean="0">
                <a:solidFill>
                  <a:schemeClr val="accent6">
                    <a:lumMod val="50000"/>
                  </a:schemeClr>
                </a:solidFill>
              </a:rPr>
              <a:t>Shakthi</a:t>
            </a:r>
            <a:r>
              <a:rPr lang="en-US" b="1" dirty="0" smtClean="0">
                <a:solidFill>
                  <a:schemeClr val="accent6">
                    <a:lumMod val="50000"/>
                  </a:schemeClr>
                </a:solidFill>
              </a:rPr>
              <a:t>”: </a:t>
            </a:r>
            <a:r>
              <a:rPr lang="en-US" b="1" dirty="0" smtClean="0"/>
              <a:t>In order to encourage farm mechanization in the State, Programme has been announced in 2022-23 budget to provide Diesel subsidy of Rs.250/acre(Max. 5 acres) to all the farmers through DBT.</a:t>
            </a:r>
          </a:p>
          <a:p>
            <a:pPr algn="just" eaLnBrk="1" fontAlgn="auto" hangingPunct="1">
              <a:spcAft>
                <a:spcPts val="0"/>
              </a:spcAft>
              <a:buFont typeface="Arial" pitchFamily="34" charset="0"/>
              <a:buNone/>
              <a:defRPr/>
            </a:pPr>
            <a:endParaRPr lang="en-US" b="1" dirty="0" smtClean="0"/>
          </a:p>
          <a:p>
            <a:pPr algn="just" eaLnBrk="1" fontAlgn="auto" hangingPunct="1">
              <a:spcAft>
                <a:spcPts val="0"/>
              </a:spcAft>
              <a:buFont typeface="Arial" pitchFamily="34" charset="0"/>
              <a:buChar char="•"/>
              <a:defRPr/>
            </a:pPr>
            <a:r>
              <a:rPr lang="en-US" b="1" dirty="0" smtClean="0">
                <a:solidFill>
                  <a:schemeClr val="accent6">
                    <a:lumMod val="50000"/>
                  </a:schemeClr>
                </a:solidFill>
              </a:rPr>
              <a:t>“Chief Minister’s Natural Farming Scheme”: </a:t>
            </a:r>
            <a:r>
              <a:rPr lang="en-US" b="1" dirty="0" smtClean="0"/>
              <a:t>An area of 1000 acres each will be selected under the purview of each of Agricultural /Horticultural University covering a total area of​ 5000 acres.  In this area,  evaluation/standardization of data with respect to yield stability, productivity, varieties, changes in soil fertility, soil micro-flora and economics  in order to bring out a new sustainable natural farming model. </a:t>
            </a:r>
            <a:endParaRPr lang="en-US" b="1" dirty="0"/>
          </a:p>
        </p:txBody>
      </p:sp>
      <p:pic>
        <p:nvPicPr>
          <p:cNvPr id="12292"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1000125" cy="800100"/>
          </a:xfrm>
          <a:prstGeom prst="rect">
            <a:avLst/>
          </a:prstGeom>
          <a:noFill/>
          <a:ln w="9525">
            <a:noFill/>
            <a:miter lim="800000"/>
            <a:headEnd/>
            <a:tailEnd/>
          </a:ln>
        </p:spPr>
      </p:pic>
      <p:pic>
        <p:nvPicPr>
          <p:cNvPr id="12293" name="Picture 6"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214313"/>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extLst>
          </p:cNvPr>
          <p:cNvSpPr txBox="1">
            <a:spLocks/>
          </p:cNvSpPr>
          <p:nvPr/>
        </p:nvSpPr>
        <p:spPr>
          <a:xfrm>
            <a:off x="1115616" y="116632"/>
            <a:ext cx="6912767" cy="1093788"/>
          </a:xfrm>
          <a:prstGeom prst="rect">
            <a:avLst/>
          </a:prstGeom>
          <a:solidFill>
            <a:srgbClr val="92D050"/>
          </a:solidFill>
        </p:spPr>
        <p:txBody>
          <a:bodyPr anchor="b">
            <a:normAutofit/>
          </a:bodyPr>
          <a:lstStyle/>
          <a:p>
            <a:pPr algn="ctr" fontAlgn="auto">
              <a:lnSpc>
                <a:spcPct val="85000"/>
              </a:lnSpc>
              <a:spcBef>
                <a:spcPts val="0"/>
              </a:spcBef>
              <a:spcAft>
                <a:spcPts val="0"/>
              </a:spcAft>
              <a:defRPr/>
            </a:pPr>
            <a:r>
              <a:rPr lang="en-IN" sz="3600" b="1" spc="-50" dirty="0" smtClean="0">
                <a:solidFill>
                  <a:schemeClr val="tx1">
                    <a:lumMod val="75000"/>
                    <a:lumOff val="25000"/>
                  </a:schemeClr>
                </a:solidFill>
                <a:latin typeface="Times New Roman" panose="02020603050405020304" pitchFamily="18" charset="0"/>
                <a:ea typeface="+mj-ea"/>
                <a:cs typeface="Times New Roman" panose="02020603050405020304" pitchFamily="18" charset="0"/>
              </a:rPr>
              <a:t>Budget Announcements for </a:t>
            </a:r>
          </a:p>
          <a:p>
            <a:pPr algn="ctr" fontAlgn="auto">
              <a:lnSpc>
                <a:spcPct val="85000"/>
              </a:lnSpc>
              <a:spcBef>
                <a:spcPts val="0"/>
              </a:spcBef>
              <a:spcAft>
                <a:spcPts val="0"/>
              </a:spcAft>
              <a:defRPr/>
            </a:pPr>
            <a:r>
              <a:rPr lang="en-IN" sz="3600" b="1" spc="-50" dirty="0" smtClean="0">
                <a:solidFill>
                  <a:schemeClr val="tx1">
                    <a:lumMod val="75000"/>
                    <a:lumOff val="25000"/>
                  </a:schemeClr>
                </a:solidFill>
                <a:latin typeface="Times New Roman" panose="02020603050405020304" pitchFamily="18" charset="0"/>
                <a:ea typeface="+mj-ea"/>
                <a:cs typeface="Times New Roman" panose="02020603050405020304" pitchFamily="18" charset="0"/>
              </a:rPr>
              <a:t>2022-23</a:t>
            </a:r>
            <a:endParaRPr lang="en-IN" sz="3600" b="1"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p:txBody>
      </p:sp>
      <p:sp>
        <p:nvSpPr>
          <p:cNvPr id="4" name="Content Placeholder 3"/>
          <p:cNvSpPr>
            <a:spLocks noGrp="1"/>
          </p:cNvSpPr>
          <p:nvPr>
            <p:ph idx="1"/>
          </p:nvPr>
        </p:nvSpPr>
        <p:spPr>
          <a:xfrm>
            <a:off x="179512" y="1500188"/>
            <a:ext cx="8784976" cy="5097164"/>
          </a:xfrm>
        </p:spPr>
        <p:txBody>
          <a:bodyPr rtlCol="0">
            <a:normAutofit/>
          </a:bodyPr>
          <a:lstStyle/>
          <a:p>
            <a:pPr algn="just" eaLnBrk="1" fontAlgn="auto" hangingPunct="1">
              <a:spcAft>
                <a:spcPts val="0"/>
              </a:spcAft>
              <a:defRPr/>
            </a:pPr>
            <a:r>
              <a:rPr lang="en-US" b="1" i="1" dirty="0" smtClean="0">
                <a:solidFill>
                  <a:schemeClr val="accent6">
                    <a:lumMod val="50000"/>
                  </a:schemeClr>
                </a:solidFill>
              </a:rPr>
              <a:t>“</a:t>
            </a:r>
            <a:r>
              <a:rPr lang="en-US" b="1" i="1" dirty="0" err="1" smtClean="0">
                <a:solidFill>
                  <a:schemeClr val="accent6">
                    <a:lumMod val="50000"/>
                  </a:schemeClr>
                </a:solidFill>
              </a:rPr>
              <a:t>Krishi</a:t>
            </a:r>
            <a:r>
              <a:rPr lang="en-US" b="1" i="1" dirty="0" smtClean="0">
                <a:solidFill>
                  <a:schemeClr val="accent6">
                    <a:lumMod val="50000"/>
                  </a:schemeClr>
                </a:solidFill>
              </a:rPr>
              <a:t> </a:t>
            </a:r>
            <a:r>
              <a:rPr lang="en-US" b="1" i="1" dirty="0" err="1" smtClean="0">
                <a:solidFill>
                  <a:schemeClr val="accent6">
                    <a:lumMod val="50000"/>
                  </a:schemeClr>
                </a:solidFill>
              </a:rPr>
              <a:t>prashasthi</a:t>
            </a:r>
            <a:r>
              <a:rPr lang="en-US" b="1" i="1" dirty="0" smtClean="0">
                <a:solidFill>
                  <a:schemeClr val="accent6">
                    <a:lumMod val="50000"/>
                  </a:schemeClr>
                </a:solidFill>
              </a:rPr>
              <a:t> and </a:t>
            </a:r>
            <a:r>
              <a:rPr lang="en-US" b="1" i="1" dirty="0" err="1" smtClean="0">
                <a:solidFill>
                  <a:schemeClr val="accent6">
                    <a:lumMod val="50000"/>
                  </a:schemeClr>
                </a:solidFill>
              </a:rPr>
              <a:t>Krishi</a:t>
            </a:r>
            <a:r>
              <a:rPr lang="en-US" b="1" i="1" dirty="0" smtClean="0">
                <a:solidFill>
                  <a:schemeClr val="accent6">
                    <a:lumMod val="50000"/>
                  </a:schemeClr>
                </a:solidFill>
              </a:rPr>
              <a:t> </a:t>
            </a:r>
            <a:r>
              <a:rPr lang="en-US" b="1" i="1" dirty="0" err="1" smtClean="0">
                <a:solidFill>
                  <a:schemeClr val="accent6">
                    <a:lumMod val="50000"/>
                  </a:schemeClr>
                </a:solidFill>
              </a:rPr>
              <a:t>Pandita</a:t>
            </a:r>
            <a:r>
              <a:rPr lang="en-US" b="1" i="1" dirty="0" smtClean="0">
                <a:solidFill>
                  <a:schemeClr val="accent6">
                    <a:lumMod val="50000"/>
                  </a:schemeClr>
                </a:solidFill>
              </a:rPr>
              <a:t> </a:t>
            </a:r>
            <a:r>
              <a:rPr lang="en-US" b="1" i="1" dirty="0" err="1" smtClean="0">
                <a:solidFill>
                  <a:schemeClr val="accent6">
                    <a:lumMod val="50000"/>
                  </a:schemeClr>
                </a:solidFill>
              </a:rPr>
              <a:t>prashasthi</a:t>
            </a:r>
            <a:r>
              <a:rPr lang="en-US" b="1" i="1" dirty="0" smtClean="0">
                <a:solidFill>
                  <a:schemeClr val="accent6">
                    <a:lumMod val="50000"/>
                  </a:schemeClr>
                </a:solidFill>
              </a:rPr>
              <a:t> for Women farmers”</a:t>
            </a:r>
            <a:endParaRPr lang="en-US" dirty="0" smtClean="0">
              <a:solidFill>
                <a:schemeClr val="accent6">
                  <a:lumMod val="50000"/>
                </a:schemeClr>
              </a:solidFill>
            </a:endParaRPr>
          </a:p>
          <a:p>
            <a:pPr algn="just" eaLnBrk="1" fontAlgn="auto" hangingPunct="1">
              <a:spcAft>
                <a:spcPts val="0"/>
              </a:spcAft>
              <a:buNone/>
              <a:defRPr/>
            </a:pPr>
            <a:r>
              <a:rPr lang="en-US" dirty="0" smtClean="0"/>
              <a:t>    In order to encourage woman farmers and to attract more women towards farming, </a:t>
            </a:r>
            <a:r>
              <a:rPr lang="en-US" b="1" i="1" dirty="0" smtClean="0"/>
              <a:t>separate </a:t>
            </a:r>
            <a:r>
              <a:rPr lang="en-US" b="1" i="1" dirty="0" err="1" smtClean="0"/>
              <a:t>Krishi</a:t>
            </a:r>
            <a:r>
              <a:rPr lang="en-US" b="1" i="1" dirty="0" smtClean="0"/>
              <a:t> </a:t>
            </a:r>
            <a:r>
              <a:rPr lang="en-US" b="1" i="1" dirty="0" err="1" smtClean="0"/>
              <a:t>Prashasthi</a:t>
            </a:r>
            <a:r>
              <a:rPr lang="en-US" b="1" i="1" dirty="0" smtClean="0"/>
              <a:t> and </a:t>
            </a:r>
            <a:r>
              <a:rPr lang="en-US" b="1" i="1" dirty="0" err="1" smtClean="0"/>
              <a:t>Krishi</a:t>
            </a:r>
            <a:r>
              <a:rPr lang="en-US" b="1" i="1" dirty="0" smtClean="0"/>
              <a:t> </a:t>
            </a:r>
            <a:r>
              <a:rPr lang="en-US" b="1" i="1" dirty="0" err="1" smtClean="0"/>
              <a:t>Pandita</a:t>
            </a:r>
            <a:r>
              <a:rPr lang="en-US" b="1" i="1" dirty="0" smtClean="0"/>
              <a:t> </a:t>
            </a:r>
            <a:r>
              <a:rPr lang="en-US" b="1" i="1" dirty="0" err="1" smtClean="0"/>
              <a:t>Prashasthi</a:t>
            </a:r>
            <a:r>
              <a:rPr lang="en-US" b="1" i="1" dirty="0" smtClean="0"/>
              <a:t> </a:t>
            </a:r>
            <a:r>
              <a:rPr lang="en-US" dirty="0" smtClean="0"/>
              <a:t>will be awarded. </a:t>
            </a:r>
            <a:endParaRPr lang="en-US" b="1" dirty="0" smtClean="0"/>
          </a:p>
        </p:txBody>
      </p:sp>
      <p:pic>
        <p:nvPicPr>
          <p:cNvPr id="12292" name="Picture 8" descr="Download Lori Writing, Rangoli Making and Deshbhakti Geet Writing"/>
          <p:cNvPicPr>
            <a:picLocks noChangeAspect="1" noChangeArrowheads="1"/>
          </p:cNvPicPr>
          <p:nvPr/>
        </p:nvPicPr>
        <p:blipFill>
          <a:blip r:embed="rId2" cstate="print"/>
          <a:srcRect/>
          <a:stretch>
            <a:fillRect/>
          </a:stretch>
        </p:blipFill>
        <p:spPr bwMode="auto">
          <a:xfrm>
            <a:off x="71438" y="57150"/>
            <a:ext cx="1000125" cy="800100"/>
          </a:xfrm>
          <a:prstGeom prst="rect">
            <a:avLst/>
          </a:prstGeom>
          <a:noFill/>
          <a:ln w="9525">
            <a:noFill/>
            <a:miter lim="800000"/>
            <a:headEnd/>
            <a:tailEnd/>
          </a:ln>
        </p:spPr>
      </p:pic>
      <p:pic>
        <p:nvPicPr>
          <p:cNvPr id="12293" name="Picture 6" descr="Karnataka government appeals to all hospitals in the state to run only  emergency medicine in the wake of Coronavirus scare"/>
          <p:cNvPicPr>
            <a:picLocks noChangeAspect="1" noChangeArrowheads="1"/>
          </p:cNvPicPr>
          <p:nvPr/>
        </p:nvPicPr>
        <p:blipFill>
          <a:blip r:embed="rId3" cstate="print"/>
          <a:srcRect/>
          <a:stretch>
            <a:fillRect/>
          </a:stretch>
        </p:blipFill>
        <p:spPr bwMode="auto">
          <a:xfrm>
            <a:off x="8262938" y="214313"/>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384"/>
            <a:ext cx="9144000" cy="1143000"/>
          </a:xfrm>
          <a:solidFill>
            <a:schemeClr val="bg2">
              <a:lumMod val="90000"/>
            </a:schemeClr>
          </a:solidFill>
        </p:spPr>
        <p:txBody>
          <a:bodyPr>
            <a:normAutofit fontScale="90000"/>
          </a:bodyPr>
          <a:lstStyle/>
          <a:p>
            <a:r>
              <a:rPr lang="en-US" sz="3600" b="1" dirty="0">
                <a:latin typeface="Times New Roman" pitchFamily="18" charset="0"/>
                <a:cs typeface="Times New Roman" pitchFamily="18" charset="0"/>
              </a:rPr>
              <a:t>State Specific Action plan for </a:t>
            </a:r>
            <a:r>
              <a:rPr lang="en-US" sz="3600" b="1" dirty="0" smtClean="0">
                <a:latin typeface="Times New Roman" pitchFamily="18" charset="0"/>
                <a:cs typeface="Times New Roman" pitchFamily="18" charset="0"/>
              </a:rPr>
              <a:t>Sunflower </a:t>
            </a:r>
            <a:br>
              <a:rPr lang="en-US" sz="3600" b="1" dirty="0" smtClean="0">
                <a:latin typeface="Times New Roman" pitchFamily="18" charset="0"/>
                <a:cs typeface="Times New Roman" pitchFamily="18" charset="0"/>
              </a:rPr>
            </a:br>
            <a:r>
              <a:rPr lang="en-US" sz="3600" b="1" dirty="0" smtClean="0">
                <a:latin typeface="Times New Roman" pitchFamily="18" charset="0"/>
                <a:cs typeface="Times New Roman" pitchFamily="18" charset="0"/>
              </a:rPr>
              <a:t>(National Food Security Mission</a:t>
            </a:r>
            <a:endParaRPr lang="en-US" sz="3600" b="1" dirty="0">
              <a:latin typeface="Times New Roman" pitchFamily="18" charset="0"/>
              <a:cs typeface="Times New Roman" pitchFamily="18" charset="0"/>
            </a:endParaRPr>
          </a:p>
        </p:txBody>
      </p:sp>
      <p:sp>
        <p:nvSpPr>
          <p:cNvPr id="3" name="Rectangle 2"/>
          <p:cNvSpPr/>
          <p:nvPr/>
        </p:nvSpPr>
        <p:spPr>
          <a:xfrm>
            <a:off x="0" y="1143001"/>
            <a:ext cx="9144000" cy="5354799"/>
          </a:xfrm>
          <a:prstGeom prst="rect">
            <a:avLst/>
          </a:prstGeom>
          <a:solidFill>
            <a:schemeClr val="accent6">
              <a:lumMod val="20000"/>
              <a:lumOff val="80000"/>
            </a:schemeClr>
          </a:solidFill>
        </p:spPr>
        <p:txBody>
          <a:bodyPr wrap="square">
            <a:spAutoFit/>
          </a:bodyPr>
          <a:lstStyle/>
          <a:p>
            <a:pPr marL="285750" indent="-285750" algn="just">
              <a:lnSpc>
                <a:spcPct val="115000"/>
              </a:lnSpc>
              <a:spcAft>
                <a:spcPts val="1000"/>
              </a:spcAft>
              <a:buFont typeface="Wingdings" panose="05000000000000000000" pitchFamily="2" charset="2"/>
              <a:buChar char="Ø"/>
            </a:pPr>
            <a:r>
              <a:rPr lang="en-US" sz="2200" b="1" dirty="0">
                <a:latin typeface="+mn-lt"/>
                <a:ea typeface="Verdana" panose="020B0604030504040204" pitchFamily="34" charset="0"/>
                <a:cs typeface="Times New Roman" panose="02020603050405020304" pitchFamily="18" charset="0"/>
              </a:rPr>
              <a:t>Sunflower is an important oilseed crop grown in Kharif and Rabi seasons across the </a:t>
            </a:r>
            <a:r>
              <a:rPr lang="en-US" sz="2200" b="1" dirty="0" smtClean="0">
                <a:latin typeface="+mn-lt"/>
                <a:ea typeface="Verdana" panose="020B0604030504040204" pitchFamily="34" charset="0"/>
                <a:cs typeface="Times New Roman" panose="02020603050405020304" pitchFamily="18" charset="0"/>
              </a:rPr>
              <a:t>country grown </a:t>
            </a:r>
            <a:r>
              <a:rPr lang="en-US" sz="2200" b="1" dirty="0">
                <a:latin typeface="+mn-lt"/>
                <a:ea typeface="Verdana" panose="020B0604030504040204" pitchFamily="34" charset="0"/>
                <a:cs typeface="Times New Roman" panose="02020603050405020304" pitchFamily="18" charset="0"/>
              </a:rPr>
              <a:t>in all the 3 seasons in Karnataka and stands first in Area and </a:t>
            </a:r>
            <a:r>
              <a:rPr lang="en-US" sz="2200" b="1" dirty="0" smtClean="0">
                <a:latin typeface="+mn-lt"/>
                <a:ea typeface="Verdana" panose="020B0604030504040204" pitchFamily="34" charset="0"/>
                <a:cs typeface="Times New Roman" panose="02020603050405020304" pitchFamily="18" charset="0"/>
              </a:rPr>
              <a:t>Production </a:t>
            </a:r>
            <a:r>
              <a:rPr lang="en-US" sz="2200" b="1" dirty="0">
                <a:latin typeface="+mn-lt"/>
                <a:ea typeface="Verdana" panose="020B0604030504040204" pitchFamily="34" charset="0"/>
                <a:cs typeface="Times New Roman" panose="02020603050405020304" pitchFamily="18" charset="0"/>
              </a:rPr>
              <a:t>in the country.</a:t>
            </a:r>
          </a:p>
          <a:p>
            <a:pPr marL="285750" indent="-285750" algn="just">
              <a:lnSpc>
                <a:spcPct val="115000"/>
              </a:lnSpc>
              <a:spcAft>
                <a:spcPts val="1000"/>
              </a:spcAft>
              <a:buFont typeface="Wingdings" panose="05000000000000000000" pitchFamily="2" charset="2"/>
              <a:buChar char="Ø"/>
            </a:pPr>
            <a:r>
              <a:rPr lang="en-US" sz="2200" b="1" dirty="0">
                <a:latin typeface="+mn-lt"/>
                <a:ea typeface="Verdana" panose="020B0604030504040204" pitchFamily="34" charset="0"/>
                <a:cs typeface="Times New Roman" panose="02020603050405020304" pitchFamily="18" charset="0"/>
              </a:rPr>
              <a:t>During 1990-95 the Area under sunflower in Karnataka was 8 to 15 lakh ha but has reduced to 1.2 to 2.2 lakh ha because of various </a:t>
            </a:r>
            <a:r>
              <a:rPr lang="en-US" sz="2200" b="1" dirty="0" smtClean="0">
                <a:latin typeface="+mn-lt"/>
                <a:ea typeface="Verdana" panose="020B0604030504040204" pitchFamily="34" charset="0"/>
                <a:cs typeface="Times New Roman" panose="02020603050405020304" pitchFamily="18" charset="0"/>
              </a:rPr>
              <a:t>reasons.</a:t>
            </a:r>
          </a:p>
          <a:p>
            <a:pPr marL="285750" indent="-285750" algn="just">
              <a:lnSpc>
                <a:spcPct val="115000"/>
              </a:lnSpc>
              <a:spcAft>
                <a:spcPts val="1000"/>
              </a:spcAft>
              <a:buFont typeface="Wingdings" panose="05000000000000000000" pitchFamily="2" charset="2"/>
              <a:buChar char="Ø"/>
            </a:pPr>
            <a:r>
              <a:rPr lang="en-US" sz="2200" b="1" dirty="0" smtClean="0">
                <a:latin typeface="+mn-lt"/>
                <a:cs typeface="Times New Roman" pitchFamily="18" charset="0"/>
              </a:rPr>
              <a:t>A </a:t>
            </a:r>
            <a:r>
              <a:rPr lang="en-US" sz="2200" b="1" dirty="0">
                <a:latin typeface="+mn-lt"/>
                <a:cs typeface="Times New Roman" pitchFamily="18" charset="0"/>
              </a:rPr>
              <a:t>special action plan is proposed for </a:t>
            </a:r>
            <a:r>
              <a:rPr lang="en-IN" sz="2200" b="1" dirty="0">
                <a:latin typeface="+mn-lt"/>
                <a:cs typeface="Times New Roman" pitchFamily="18" charset="0"/>
              </a:rPr>
              <a:t>Increasing the Sunflower Area and Production in Karnataka under National Food Security </a:t>
            </a:r>
            <a:r>
              <a:rPr lang="en-IN" sz="2200" b="1" dirty="0" smtClean="0">
                <a:latin typeface="+mn-lt"/>
                <a:cs typeface="Times New Roman" pitchFamily="18" charset="0"/>
              </a:rPr>
              <a:t>Mission.</a:t>
            </a:r>
            <a:endParaRPr lang="en-IN" sz="2200" b="1" dirty="0">
              <a:latin typeface="+mn-lt"/>
              <a:cs typeface="Times New Roman" pitchFamily="18" charset="0"/>
            </a:endParaRPr>
          </a:p>
          <a:p>
            <a:pPr marL="285750" indent="-285750" algn="just">
              <a:lnSpc>
                <a:spcPct val="115000"/>
              </a:lnSpc>
              <a:spcAft>
                <a:spcPts val="1000"/>
              </a:spcAft>
              <a:buFont typeface="Wingdings" panose="05000000000000000000" pitchFamily="2" charset="2"/>
              <a:buChar char="Ø"/>
            </a:pPr>
            <a:r>
              <a:rPr lang="en-IN" sz="2200" b="1" dirty="0" smtClean="0">
                <a:latin typeface="+mn-lt"/>
                <a:cs typeface="Times New Roman" pitchFamily="18" charset="0"/>
              </a:rPr>
              <a:t>It </a:t>
            </a:r>
            <a:r>
              <a:rPr lang="en-IN" sz="2200" b="1" dirty="0">
                <a:latin typeface="+mn-lt"/>
                <a:cs typeface="Times New Roman" pitchFamily="18" charset="0"/>
              </a:rPr>
              <a:t>has been proposed for 3 years viz. </a:t>
            </a:r>
            <a:r>
              <a:rPr lang="en-IN" sz="2200" b="1" dirty="0" smtClean="0">
                <a:latin typeface="+mn-lt"/>
                <a:cs typeface="Times New Roman" pitchFamily="18" charset="0"/>
              </a:rPr>
              <a:t>2022-2025 </a:t>
            </a:r>
            <a:r>
              <a:rPr lang="en-IN" sz="2200" b="1" dirty="0">
                <a:latin typeface="+mn-lt"/>
                <a:cs typeface="Times New Roman" pitchFamily="18" charset="0"/>
              </a:rPr>
              <a:t>with a total budget outlay of Rs.400.00 </a:t>
            </a:r>
            <a:r>
              <a:rPr lang="en-IN" sz="2200" b="1" dirty="0" err="1" smtClean="0">
                <a:latin typeface="+mn-lt"/>
                <a:cs typeface="Times New Roman" pitchFamily="18" charset="0"/>
              </a:rPr>
              <a:t>crores</a:t>
            </a:r>
            <a:r>
              <a:rPr lang="en-IN" sz="2200" b="1" dirty="0" smtClean="0">
                <a:latin typeface="+mn-lt"/>
                <a:cs typeface="Times New Roman" pitchFamily="18" charset="0"/>
              </a:rPr>
              <a:t>.</a:t>
            </a:r>
          </a:p>
          <a:p>
            <a:pPr marL="285750" indent="-285750" algn="just">
              <a:lnSpc>
                <a:spcPct val="115000"/>
              </a:lnSpc>
              <a:spcAft>
                <a:spcPts val="1000"/>
              </a:spcAft>
              <a:buFont typeface="Wingdings" panose="05000000000000000000" pitchFamily="2" charset="2"/>
              <a:buChar char="Ø"/>
            </a:pPr>
            <a:r>
              <a:rPr lang="en-IN" sz="2200" b="1" dirty="0" smtClean="0">
                <a:latin typeface="+mn-lt"/>
                <a:cs typeface="Times New Roman" pitchFamily="18" charset="0"/>
              </a:rPr>
              <a:t>Various </a:t>
            </a:r>
            <a:r>
              <a:rPr lang="en-IN" sz="2200" b="1" dirty="0">
                <a:latin typeface="+mn-lt"/>
                <a:cs typeface="Times New Roman" pitchFamily="18" charset="0"/>
              </a:rPr>
              <a:t>immediate and long term interventions are proposed in </a:t>
            </a:r>
            <a:r>
              <a:rPr lang="en-IN" sz="2200" b="1" dirty="0" smtClean="0">
                <a:latin typeface="+mn-lt"/>
                <a:cs typeface="Times New Roman" pitchFamily="18" charset="0"/>
              </a:rPr>
              <a:t>a </a:t>
            </a:r>
            <a:r>
              <a:rPr lang="en-IN" sz="2200" b="1" dirty="0">
                <a:latin typeface="+mn-lt"/>
                <a:cs typeface="Times New Roman" pitchFamily="18" charset="0"/>
              </a:rPr>
              <a:t>Special Action to revive the Area and Production of Sunflower in the state</a:t>
            </a:r>
            <a:r>
              <a:rPr lang="en-IN" sz="2200" b="1" dirty="0" smtClean="0">
                <a:latin typeface="+mn-lt"/>
                <a:cs typeface="Times New Roman" pitchFamily="18" charset="0"/>
              </a:rPr>
              <a:t>.</a:t>
            </a:r>
            <a:endParaRPr lang="en-IN" sz="2200" b="1" dirty="0">
              <a:latin typeface="+mn-lt"/>
              <a:cs typeface="Times New Roman" pitchFamily="18" charset="0"/>
            </a:endParaRPr>
          </a:p>
          <a:p>
            <a:pPr algn="just"/>
            <a:endParaRPr lang="en-US" sz="2200" b="1" dirty="0">
              <a:latin typeface="+mn-lt"/>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4016"/>
            <a:ext cx="9144000" cy="548680"/>
          </a:xfrm>
          <a:solidFill>
            <a:schemeClr val="accent2">
              <a:lumMod val="40000"/>
              <a:lumOff val="60000"/>
            </a:schemeClr>
          </a:solidFill>
        </p:spPr>
        <p:txBody>
          <a:bodyPr/>
          <a:lstStyle/>
          <a:p>
            <a:r>
              <a:rPr lang="en-US" sz="2400" b="1" dirty="0" smtClean="0">
                <a:solidFill>
                  <a:srgbClr val="000000"/>
                </a:solidFill>
                <a:latin typeface="Verdana"/>
              </a:rPr>
              <a:t>State  Action plan for Sunflower 2022-2025 </a:t>
            </a:r>
            <a:br>
              <a:rPr lang="en-US" sz="2400" b="1" dirty="0" smtClean="0">
                <a:solidFill>
                  <a:srgbClr val="000000"/>
                </a:solidFill>
                <a:latin typeface="Verdana"/>
              </a:rPr>
            </a:br>
            <a:endParaRPr lang="en-US" sz="2400" dirty="0"/>
          </a:p>
        </p:txBody>
      </p:sp>
      <p:sp>
        <p:nvSpPr>
          <p:cNvPr id="3" name="Text Placeholder 2"/>
          <p:cNvSpPr>
            <a:spLocks noGrp="1"/>
          </p:cNvSpPr>
          <p:nvPr>
            <p:ph type="body" idx="1"/>
          </p:nvPr>
        </p:nvSpPr>
        <p:spPr>
          <a:xfrm>
            <a:off x="179512" y="908720"/>
            <a:ext cx="8784976" cy="5688632"/>
          </a:xfrm>
          <a:solidFill>
            <a:schemeClr val="accent3">
              <a:lumMod val="20000"/>
              <a:lumOff val="80000"/>
            </a:schemeClr>
          </a:solidFill>
        </p:spPr>
        <p:txBody>
          <a:bodyPr/>
          <a:lstStyle/>
          <a:p>
            <a:pPr algn="just">
              <a:buFont typeface="Arial" pitchFamily="34" charset="0"/>
              <a:buChar char="•"/>
            </a:pPr>
            <a:r>
              <a:rPr lang="en-US" sz="2200" b="1" dirty="0" smtClean="0">
                <a:solidFill>
                  <a:srgbClr val="000000"/>
                </a:solidFill>
                <a:latin typeface="Verdana"/>
              </a:rPr>
              <a:t> Area expansion: Motivational amount for Sunflower growing farmers limited to 2hectares/farmer to based on crop survey data </a:t>
            </a:r>
            <a:r>
              <a:rPr lang="en-US" sz="2200" b="1" i="1" dirty="0" smtClean="0">
                <a:solidFill>
                  <a:srgbClr val="C00000"/>
                </a:solidFill>
                <a:latin typeface="Verdana"/>
              </a:rPr>
              <a:t>(</a:t>
            </a:r>
            <a:r>
              <a:rPr lang="it-IT" sz="2200" b="1" i="1" dirty="0" smtClean="0">
                <a:solidFill>
                  <a:srgbClr val="C00000"/>
                </a:solidFill>
                <a:latin typeface="Verdana"/>
              </a:rPr>
              <a:t>Rs.3000/ha in 2022-23, Rs.4000/ha 2023-24 &amp; Rs.2000/ha  in 2024-25)</a:t>
            </a:r>
            <a:endParaRPr lang="en-US" sz="2200" b="1" i="1" dirty="0" smtClean="0">
              <a:solidFill>
                <a:srgbClr val="C00000"/>
              </a:solidFill>
              <a:latin typeface="Verdana"/>
            </a:endParaRPr>
          </a:p>
          <a:p>
            <a:pPr algn="just">
              <a:buFont typeface="Arial" pitchFamily="34" charset="0"/>
              <a:buChar char="•"/>
            </a:pPr>
            <a:r>
              <a:rPr lang="en-US" sz="2200" b="1" dirty="0" smtClean="0">
                <a:solidFill>
                  <a:srgbClr val="000000"/>
                </a:solidFill>
                <a:latin typeface="Verdana"/>
              </a:rPr>
              <a:t> Reimbursement of 50% farmers share of PMFBY premium limited to 2 ha/farmer </a:t>
            </a:r>
            <a:r>
              <a:rPr lang="en-US" sz="2200" b="1" i="1" dirty="0" smtClean="0">
                <a:solidFill>
                  <a:srgbClr val="C00000"/>
                </a:solidFill>
                <a:latin typeface="Verdana"/>
              </a:rPr>
              <a:t>@ Rs.350/ha</a:t>
            </a:r>
          </a:p>
          <a:p>
            <a:pPr algn="just">
              <a:buFont typeface="Arial" pitchFamily="34" charset="0"/>
              <a:buChar char="•"/>
            </a:pPr>
            <a:r>
              <a:rPr lang="en-US" sz="2200" b="1" dirty="0" smtClean="0">
                <a:solidFill>
                  <a:srgbClr val="000000"/>
                </a:solidFill>
                <a:latin typeface="Verdana"/>
              </a:rPr>
              <a:t> Providing 50% subsidy on </a:t>
            </a:r>
            <a:r>
              <a:rPr lang="en-US" sz="2200" b="1" dirty="0" err="1" smtClean="0">
                <a:solidFill>
                  <a:srgbClr val="000000"/>
                </a:solidFill>
                <a:latin typeface="Verdana"/>
              </a:rPr>
              <a:t>upto</a:t>
            </a:r>
            <a:r>
              <a:rPr lang="en-US" sz="2200" b="1" dirty="0" smtClean="0">
                <a:solidFill>
                  <a:srgbClr val="000000"/>
                </a:solidFill>
                <a:latin typeface="Verdana"/>
              </a:rPr>
              <a:t> 4 bee boxes per farmer per  hectare </a:t>
            </a:r>
            <a:r>
              <a:rPr lang="en-US" sz="2200" b="1" i="1" dirty="0" smtClean="0">
                <a:solidFill>
                  <a:srgbClr val="C00000"/>
                </a:solidFill>
                <a:latin typeface="Verdana"/>
              </a:rPr>
              <a:t>(Rs.2000/box)</a:t>
            </a:r>
          </a:p>
          <a:p>
            <a:pPr algn="just">
              <a:buFont typeface="Arial" pitchFamily="34" charset="0"/>
              <a:buChar char="•"/>
            </a:pPr>
            <a:r>
              <a:rPr lang="en-US" sz="2200" b="1" dirty="0" smtClean="0">
                <a:solidFill>
                  <a:srgbClr val="000000"/>
                </a:solidFill>
                <a:latin typeface="Verdana"/>
              </a:rPr>
              <a:t> Production of Hybrid seeds </a:t>
            </a:r>
          </a:p>
          <a:p>
            <a:pPr algn="just"/>
            <a:r>
              <a:rPr lang="en-US" sz="2200" b="1" dirty="0" smtClean="0"/>
              <a:t>    </a:t>
            </a:r>
            <a:r>
              <a:rPr lang="en-US" sz="2200" dirty="0" err="1" smtClean="0">
                <a:solidFill>
                  <a:srgbClr val="000000"/>
                </a:solidFill>
                <a:latin typeface="Verdana"/>
              </a:rPr>
              <a:t>i</a:t>
            </a:r>
            <a:r>
              <a:rPr lang="en-US" sz="2200" dirty="0" smtClean="0">
                <a:solidFill>
                  <a:srgbClr val="000000"/>
                </a:solidFill>
                <a:latin typeface="Verdana"/>
              </a:rPr>
              <a:t>. Breeder Seed  Purchase.</a:t>
            </a:r>
          </a:p>
          <a:p>
            <a:pPr algn="just"/>
            <a:r>
              <a:rPr lang="en-US" sz="2200" dirty="0" smtClean="0">
                <a:solidFill>
                  <a:srgbClr val="000000"/>
                </a:solidFill>
                <a:latin typeface="Verdana"/>
              </a:rPr>
              <a:t>  </a:t>
            </a:r>
            <a:r>
              <a:rPr lang="en-US" sz="2200" dirty="0" err="1" smtClean="0">
                <a:solidFill>
                  <a:srgbClr val="000000"/>
                </a:solidFill>
                <a:latin typeface="Verdana"/>
              </a:rPr>
              <a:t>ii.Incentive</a:t>
            </a:r>
            <a:r>
              <a:rPr lang="en-US" sz="2200" dirty="0" smtClean="0">
                <a:solidFill>
                  <a:srgbClr val="000000"/>
                </a:solidFill>
                <a:latin typeface="Verdana"/>
              </a:rPr>
              <a:t> for Certified seed production</a:t>
            </a:r>
          </a:p>
          <a:p>
            <a:pPr algn="just">
              <a:buFont typeface="Arial" pitchFamily="34" charset="0"/>
              <a:buChar char="•"/>
            </a:pPr>
            <a:r>
              <a:rPr lang="en-US" sz="2200" b="1" dirty="0" smtClean="0">
                <a:solidFill>
                  <a:srgbClr val="000000"/>
                </a:solidFill>
                <a:latin typeface="Verdana"/>
              </a:rPr>
              <a:t> Providing Micronutrients (Boron)</a:t>
            </a:r>
          </a:p>
          <a:p>
            <a:pPr algn="just">
              <a:buFont typeface="Arial" pitchFamily="34" charset="0"/>
              <a:buChar char="•"/>
            </a:pPr>
            <a:r>
              <a:rPr lang="en-US" sz="2200" b="1" dirty="0" smtClean="0">
                <a:solidFill>
                  <a:srgbClr val="000000"/>
                </a:solidFill>
                <a:latin typeface="Verdana"/>
              </a:rPr>
              <a:t> IEC (Training for Sunflower pollination, promotion of Contract farming, administrative cost and  evaluation  etc.)</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000125"/>
            <a:ext cx="8712968" cy="4357688"/>
          </a:xfrm>
        </p:spPr>
        <p:txBody>
          <a:bodyPr rtlCol="0">
            <a:normAutofit fontScale="92500" lnSpcReduction="20000"/>
          </a:bodyPr>
          <a:lstStyle/>
          <a:p>
            <a:pPr algn="just" eaLnBrk="1" fontAlgn="auto" hangingPunct="1">
              <a:spcAft>
                <a:spcPts val="0"/>
              </a:spcAft>
              <a:buFont typeface="Arial" pitchFamily="34" charset="0"/>
              <a:buChar char="•"/>
              <a:defRPr/>
            </a:pPr>
            <a:r>
              <a:rPr lang="en-IN" sz="2400" dirty="0" smtClean="0">
                <a:latin typeface="Bookman Old Style" pitchFamily="18" charset="0"/>
              </a:rPr>
              <a:t>The year 2022-23 has been declared as   </a:t>
            </a:r>
            <a:r>
              <a:rPr lang="en-IN" sz="2400" b="1" dirty="0" smtClean="0">
                <a:solidFill>
                  <a:schemeClr val="accent6">
                    <a:lumMod val="50000"/>
                  </a:schemeClr>
                </a:solidFill>
                <a:latin typeface="Bookman Old Style" pitchFamily="18" charset="0"/>
              </a:rPr>
              <a:t>‘International Year of Millets’</a:t>
            </a:r>
            <a:r>
              <a:rPr lang="en-IN" sz="2400" dirty="0" smtClean="0">
                <a:latin typeface="Bookman Old Style" pitchFamily="18" charset="0"/>
              </a:rPr>
              <a:t> to boost the production of the nutrient-rich millets and to encourage the </a:t>
            </a:r>
            <a:r>
              <a:rPr lang="en-IN" sz="2400" dirty="0" err="1" smtClean="0">
                <a:latin typeface="Bookman Old Style" pitchFamily="18" charset="0"/>
              </a:rPr>
              <a:t>agri</a:t>
            </a:r>
            <a:r>
              <a:rPr lang="en-IN" sz="2400" dirty="0" smtClean="0">
                <a:latin typeface="Bookman Old Style" pitchFamily="18" charset="0"/>
              </a:rPr>
              <a:t> industries involved in it.</a:t>
            </a:r>
          </a:p>
          <a:p>
            <a:pPr algn="just" eaLnBrk="1" fontAlgn="auto" hangingPunct="1">
              <a:spcAft>
                <a:spcPts val="0"/>
              </a:spcAft>
              <a:buFont typeface="Arial" pitchFamily="34" charset="0"/>
              <a:buChar char="•"/>
              <a:defRPr/>
            </a:pPr>
            <a:r>
              <a:rPr lang="en-US" sz="2400" dirty="0" smtClean="0">
                <a:latin typeface="Bookman Old Style" pitchFamily="18" charset="0"/>
              </a:rPr>
              <a:t>The perspective is to encourage the production of millets-the proven smart food since ages. </a:t>
            </a:r>
          </a:p>
          <a:p>
            <a:pPr algn="just" eaLnBrk="1" fontAlgn="auto" hangingPunct="1">
              <a:spcAft>
                <a:spcPts val="0"/>
              </a:spcAft>
              <a:buFont typeface="Arial" pitchFamily="34" charset="0"/>
              <a:buChar char="•"/>
              <a:defRPr/>
            </a:pPr>
            <a:r>
              <a:rPr lang="en-IN" sz="2400" dirty="0" smtClean="0">
                <a:latin typeface="Bookman Old Style" pitchFamily="18" charset="0"/>
              </a:rPr>
              <a:t>Major millets  of Karnataka include </a:t>
            </a:r>
            <a:r>
              <a:rPr lang="en-IN" sz="2400" dirty="0" err="1" smtClean="0">
                <a:latin typeface="Bookman Old Style" pitchFamily="18" charset="0"/>
              </a:rPr>
              <a:t>Jowar</a:t>
            </a:r>
            <a:r>
              <a:rPr lang="en-IN" sz="2400" dirty="0" smtClean="0">
                <a:latin typeface="Bookman Old Style" pitchFamily="18" charset="0"/>
              </a:rPr>
              <a:t>, </a:t>
            </a:r>
            <a:r>
              <a:rPr lang="en-IN" sz="2400" dirty="0" err="1" smtClean="0">
                <a:latin typeface="Bookman Old Style" pitchFamily="18" charset="0"/>
              </a:rPr>
              <a:t>Bajra</a:t>
            </a:r>
            <a:r>
              <a:rPr lang="en-IN" sz="2400" dirty="0" smtClean="0">
                <a:latin typeface="Bookman Old Style" pitchFamily="18" charset="0"/>
              </a:rPr>
              <a:t>, </a:t>
            </a:r>
            <a:r>
              <a:rPr lang="en-IN" sz="2400" dirty="0" err="1" smtClean="0">
                <a:latin typeface="Bookman Old Style" pitchFamily="18" charset="0"/>
              </a:rPr>
              <a:t>Ragi</a:t>
            </a:r>
            <a:r>
              <a:rPr lang="en-IN" sz="2400" dirty="0" smtClean="0">
                <a:latin typeface="Bookman Old Style" pitchFamily="18" charset="0"/>
              </a:rPr>
              <a:t>, little millets viz.-little millet(</a:t>
            </a:r>
            <a:r>
              <a:rPr lang="en-IN" sz="2400" dirty="0" err="1" smtClean="0">
                <a:latin typeface="Bookman Old Style" pitchFamily="18" charset="0"/>
              </a:rPr>
              <a:t>Kutki</a:t>
            </a:r>
            <a:r>
              <a:rPr lang="en-IN" sz="2400" dirty="0" smtClean="0">
                <a:latin typeface="Bookman Old Style" pitchFamily="18" charset="0"/>
              </a:rPr>
              <a:t>), </a:t>
            </a:r>
            <a:r>
              <a:rPr lang="en-IN" sz="2400" dirty="0" err="1" smtClean="0">
                <a:latin typeface="Bookman Old Style" pitchFamily="18" charset="0"/>
              </a:rPr>
              <a:t>kodo</a:t>
            </a:r>
            <a:r>
              <a:rPr lang="en-IN" sz="2400" dirty="0" smtClean="0">
                <a:latin typeface="Bookman Old Style" pitchFamily="18" charset="0"/>
              </a:rPr>
              <a:t> millet(</a:t>
            </a:r>
            <a:r>
              <a:rPr lang="en-IN" sz="2400" dirty="0" err="1" smtClean="0">
                <a:latin typeface="Bookman Old Style" pitchFamily="18" charset="0"/>
              </a:rPr>
              <a:t>Kodo</a:t>
            </a:r>
            <a:r>
              <a:rPr lang="en-IN" sz="2400" dirty="0" smtClean="0">
                <a:latin typeface="Bookman Old Style" pitchFamily="18" charset="0"/>
              </a:rPr>
              <a:t>), barnyard millet(</a:t>
            </a:r>
            <a:r>
              <a:rPr lang="en-IN" sz="2400" dirty="0" err="1" smtClean="0">
                <a:latin typeface="Bookman Old Style" pitchFamily="18" charset="0"/>
              </a:rPr>
              <a:t>Sawa</a:t>
            </a:r>
            <a:r>
              <a:rPr lang="en-IN" sz="2400" dirty="0" smtClean="0">
                <a:latin typeface="Bookman Old Style" pitchFamily="18" charset="0"/>
              </a:rPr>
              <a:t>), foxtail millet(</a:t>
            </a:r>
            <a:r>
              <a:rPr lang="en-IN" sz="2400" dirty="0" err="1" smtClean="0">
                <a:latin typeface="Bookman Old Style" pitchFamily="18" charset="0"/>
              </a:rPr>
              <a:t>Kangni</a:t>
            </a:r>
            <a:r>
              <a:rPr lang="en-IN" sz="2400" dirty="0" smtClean="0">
                <a:latin typeface="Bookman Old Style" pitchFamily="18" charset="0"/>
              </a:rPr>
              <a:t>) and </a:t>
            </a:r>
            <a:r>
              <a:rPr lang="en-IN" sz="2400" dirty="0" err="1" smtClean="0">
                <a:latin typeface="Bookman Old Style" pitchFamily="18" charset="0"/>
              </a:rPr>
              <a:t>proso</a:t>
            </a:r>
            <a:r>
              <a:rPr lang="en-IN" sz="2400" dirty="0" smtClean="0">
                <a:latin typeface="Bookman Old Style" pitchFamily="18" charset="0"/>
              </a:rPr>
              <a:t> millet(</a:t>
            </a:r>
            <a:r>
              <a:rPr lang="en-IN" sz="2400" dirty="0" err="1" smtClean="0">
                <a:latin typeface="Bookman Old Style" pitchFamily="18" charset="0"/>
              </a:rPr>
              <a:t>Cheena</a:t>
            </a:r>
            <a:r>
              <a:rPr lang="en-IN" sz="2400" dirty="0" smtClean="0">
                <a:latin typeface="Bookman Old Style" pitchFamily="18" charset="0"/>
              </a:rPr>
              <a:t>).</a:t>
            </a:r>
          </a:p>
          <a:p>
            <a:pPr algn="just" eaLnBrk="1" fontAlgn="auto" hangingPunct="1">
              <a:spcAft>
                <a:spcPts val="0"/>
              </a:spcAft>
              <a:buFont typeface="Arial" pitchFamily="34" charset="0"/>
              <a:buChar char="•"/>
              <a:defRPr/>
            </a:pPr>
            <a:r>
              <a:rPr lang="en-IN" sz="2400" dirty="0" smtClean="0">
                <a:latin typeface="Bookman Old Style" pitchFamily="18" charset="0"/>
              </a:rPr>
              <a:t>In order to encourage production of millets in the State </a:t>
            </a:r>
            <a:r>
              <a:rPr lang="en-IN" sz="2400" b="1" dirty="0" smtClean="0">
                <a:solidFill>
                  <a:schemeClr val="accent6">
                    <a:lumMod val="50000"/>
                  </a:schemeClr>
                </a:solidFill>
                <a:latin typeface="Bookman Old Style" pitchFamily="18" charset="0"/>
              </a:rPr>
              <a:t>“</a:t>
            </a:r>
            <a:r>
              <a:rPr lang="en-IN" sz="2400" b="1" dirty="0" err="1" smtClean="0">
                <a:solidFill>
                  <a:schemeClr val="accent6">
                    <a:lumMod val="50000"/>
                  </a:schemeClr>
                </a:solidFill>
                <a:latin typeface="Bookman Old Style" pitchFamily="18" charset="0"/>
              </a:rPr>
              <a:t>Raitha</a:t>
            </a:r>
            <a:r>
              <a:rPr lang="en-IN" sz="2400" b="1" dirty="0" smtClean="0">
                <a:solidFill>
                  <a:schemeClr val="accent6">
                    <a:lumMod val="50000"/>
                  </a:schemeClr>
                </a:solidFill>
                <a:latin typeface="Bookman Old Style" pitchFamily="18" charset="0"/>
              </a:rPr>
              <a:t> </a:t>
            </a:r>
            <a:r>
              <a:rPr lang="en-IN" sz="2400" b="1" dirty="0" err="1" smtClean="0">
                <a:solidFill>
                  <a:schemeClr val="accent6">
                    <a:lumMod val="50000"/>
                  </a:schemeClr>
                </a:solidFill>
                <a:latin typeface="Bookman Old Style" pitchFamily="18" charset="0"/>
              </a:rPr>
              <a:t>Siri</a:t>
            </a:r>
            <a:r>
              <a:rPr lang="en-IN" sz="2400" b="1" dirty="0" smtClean="0">
                <a:solidFill>
                  <a:schemeClr val="accent6">
                    <a:lumMod val="50000"/>
                  </a:schemeClr>
                </a:solidFill>
                <a:latin typeface="Bookman Old Style" pitchFamily="18" charset="0"/>
              </a:rPr>
              <a:t>” </a:t>
            </a:r>
            <a:r>
              <a:rPr lang="en-IN" sz="2400" dirty="0" smtClean="0">
                <a:latin typeface="Bookman Old Style" pitchFamily="18" charset="0"/>
              </a:rPr>
              <a:t>programme is being implemented wherein, Rs.10000/Ha production incentive is provided for an area of max. 2.00ha.</a:t>
            </a:r>
            <a:endParaRPr lang="en-IN" sz="2400" dirty="0">
              <a:latin typeface="Bookman Old Style" pitchFamily="18" charset="0"/>
            </a:endParaRPr>
          </a:p>
        </p:txBody>
      </p:sp>
      <p:pic>
        <p:nvPicPr>
          <p:cNvPr id="13315" name="Picture 2" descr="Image result for millets images with names"/>
          <p:cNvPicPr>
            <a:picLocks noChangeAspect="1" noChangeArrowheads="1"/>
          </p:cNvPicPr>
          <p:nvPr/>
        </p:nvPicPr>
        <p:blipFill>
          <a:blip r:embed="rId2" cstate="print"/>
          <a:srcRect/>
          <a:stretch>
            <a:fillRect/>
          </a:stretch>
        </p:blipFill>
        <p:spPr bwMode="auto">
          <a:xfrm>
            <a:off x="4788024" y="4945994"/>
            <a:ext cx="4176464" cy="1716744"/>
          </a:xfrm>
          <a:prstGeom prst="rect">
            <a:avLst/>
          </a:prstGeom>
          <a:noFill/>
          <a:ln w="9525">
            <a:noFill/>
            <a:miter lim="800000"/>
            <a:headEnd/>
            <a:tailEnd/>
          </a:ln>
        </p:spPr>
      </p:pic>
      <p:sp>
        <p:nvSpPr>
          <p:cNvPr id="5" name="Rectangle 4"/>
          <p:cNvSpPr/>
          <p:nvPr/>
        </p:nvSpPr>
        <p:spPr>
          <a:xfrm>
            <a:off x="1428750" y="71438"/>
            <a:ext cx="6738938"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latin typeface="Times New Roman" pitchFamily="18" charset="0"/>
                <a:cs typeface="Times New Roman" pitchFamily="18" charset="0"/>
              </a:rPr>
              <a:t> Scenario of Millets in Karnataka</a:t>
            </a:r>
            <a:endParaRPr lang="en-IN" sz="3200" b="1" dirty="0">
              <a:latin typeface="Times New Roman" pitchFamily="18" charset="0"/>
              <a:cs typeface="Times New Roman" pitchFamily="18" charset="0"/>
            </a:endParaRPr>
          </a:p>
        </p:txBody>
      </p:sp>
      <p:pic>
        <p:nvPicPr>
          <p:cNvPr id="13317" name="Picture 2" descr="Image result for millets images with names"/>
          <p:cNvPicPr>
            <a:picLocks noChangeAspect="1" noChangeArrowheads="1"/>
          </p:cNvPicPr>
          <p:nvPr/>
        </p:nvPicPr>
        <p:blipFill>
          <a:blip r:embed="rId3" cstate="print"/>
          <a:srcRect/>
          <a:stretch>
            <a:fillRect/>
          </a:stretch>
        </p:blipFill>
        <p:spPr bwMode="auto">
          <a:xfrm>
            <a:off x="142874" y="4982974"/>
            <a:ext cx="4501134" cy="1803590"/>
          </a:xfrm>
          <a:prstGeom prst="rect">
            <a:avLst/>
          </a:prstGeom>
          <a:noFill/>
          <a:ln w="9525">
            <a:noFill/>
            <a:miter lim="800000"/>
            <a:headEnd/>
            <a:tailEnd/>
          </a:ln>
        </p:spPr>
      </p:pic>
      <p:pic>
        <p:nvPicPr>
          <p:cNvPr id="13318" name="Picture 8" descr="Download Lori Writing, Rangoli Making and Deshbhakti Geet Writing"/>
          <p:cNvPicPr>
            <a:picLocks noChangeAspect="1" noChangeArrowheads="1"/>
          </p:cNvPicPr>
          <p:nvPr/>
        </p:nvPicPr>
        <p:blipFill>
          <a:blip r:embed="rId4" cstate="print"/>
          <a:srcRect/>
          <a:stretch>
            <a:fillRect/>
          </a:stretch>
        </p:blipFill>
        <p:spPr bwMode="auto">
          <a:xfrm>
            <a:off x="71438" y="57150"/>
            <a:ext cx="1000125" cy="800100"/>
          </a:xfrm>
          <a:prstGeom prst="rect">
            <a:avLst/>
          </a:prstGeom>
          <a:noFill/>
          <a:ln w="9525">
            <a:noFill/>
            <a:miter lim="800000"/>
            <a:headEnd/>
            <a:tailEnd/>
          </a:ln>
        </p:spPr>
      </p:pic>
      <p:pic>
        <p:nvPicPr>
          <p:cNvPr id="13319" name="Picture 7" descr="Karnataka government appeals to all hospitals in the state to run only  emergency medicine in the wake of Coronavirus scare"/>
          <p:cNvPicPr>
            <a:picLocks noChangeAspect="1" noChangeArrowheads="1"/>
          </p:cNvPicPr>
          <p:nvPr/>
        </p:nvPicPr>
        <p:blipFill>
          <a:blip r:embed="rId5" cstate="print"/>
          <a:srcRect/>
          <a:stretch>
            <a:fillRect/>
          </a:stretch>
        </p:blipFill>
        <p:spPr bwMode="auto">
          <a:xfrm>
            <a:off x="8262938" y="214313"/>
            <a:ext cx="666750" cy="50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3" descr="E:\Krishimela-2010\Copy of Photos of KM 2010\Krishimela 12-11-10 VG\DSC_0557.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5363" name="TextBox 2"/>
          <p:cNvSpPr txBox="1">
            <a:spLocks noChangeArrowheads="1"/>
          </p:cNvSpPr>
          <p:nvPr/>
        </p:nvSpPr>
        <p:spPr bwMode="auto">
          <a:xfrm>
            <a:off x="0" y="-71438"/>
            <a:ext cx="9144000" cy="1108076"/>
          </a:xfrm>
          <a:prstGeom prst="rect">
            <a:avLst/>
          </a:prstGeom>
          <a:noFill/>
          <a:ln w="9525">
            <a:noFill/>
            <a:miter lim="800000"/>
            <a:headEnd/>
            <a:tailEnd/>
          </a:ln>
        </p:spPr>
        <p:txBody>
          <a:bodyPr>
            <a:spAutoFit/>
          </a:bodyPr>
          <a:lstStyle/>
          <a:p>
            <a:pPr algn="ctr"/>
            <a:r>
              <a:rPr lang="en-US" sz="6600" b="1" dirty="0">
                <a:solidFill>
                  <a:srgbClr val="FFFF00"/>
                </a:solidFill>
                <a:latin typeface="Calibri" pitchFamily="34" charset="0"/>
              </a:rPr>
              <a:t>THANK YOU</a:t>
            </a:r>
          </a:p>
        </p:txBody>
      </p:sp>
      <p:sp>
        <p:nvSpPr>
          <p:cNvPr id="14340"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FF934E-98E3-4F55-AF58-61FCFD9223D8}" type="slidenum">
              <a:rPr lang="en-US" altLang="en-US" b="1" smtClean="0">
                <a:solidFill>
                  <a:schemeClr val="tx1"/>
                </a:solidFill>
              </a:rPr>
              <a:pPr fontAlgn="base">
                <a:spcBef>
                  <a:spcPct val="0"/>
                </a:spcBef>
                <a:spcAft>
                  <a:spcPct val="0"/>
                </a:spcAft>
                <a:defRPr/>
              </a:pPr>
              <a:t>22</a:t>
            </a:fld>
            <a:endParaRPr lang="en-US" altLang="en-US" b="1" smtClean="0">
              <a:solidFill>
                <a:schemeClr val="tx1"/>
              </a:solidFill>
            </a:endParaRPr>
          </a:p>
        </p:txBody>
      </p:sp>
    </p:spTree>
  </p:cSld>
  <p:clrMapOvr>
    <a:masterClrMapping/>
  </p:clrMapOvr>
  <p:transition advClick="0"/>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337</TotalTime>
  <Words>1731</Words>
  <Application>Microsoft Office PowerPoint</Application>
  <PresentationFormat>On-screen Show (4:3)</PresentationFormat>
  <Paragraphs>336</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   CROPWISE AREA, ANNUAL PRODUCTION AND YIELD DETAILS   Unit: Area in lakh ha, Production in Lakh Tonnes, Cotton* (prod.170 kg / bale) ,Yield in kgs/Ha , Sugarcane * (Tonnes/Ha) </vt:lpstr>
      <vt:lpstr>Slide 4</vt:lpstr>
      <vt:lpstr>Slide 5</vt:lpstr>
      <vt:lpstr>ACCOMPLISHMENTS   &amp;  PROGRAMMES</vt:lpstr>
      <vt:lpstr>Slide 7</vt:lpstr>
      <vt:lpstr>Slide 8</vt:lpstr>
      <vt:lpstr>Slide 9</vt:lpstr>
      <vt:lpstr>Slide 10</vt:lpstr>
      <vt:lpstr>Slide 11</vt:lpstr>
      <vt:lpstr>Slide 12</vt:lpstr>
      <vt:lpstr>Slide 13</vt:lpstr>
      <vt:lpstr>Slide 14</vt:lpstr>
      <vt:lpstr>Mobile Plant Health Clinics  (Krishi Sanjeevini)</vt:lpstr>
      <vt:lpstr>Mobile Plant Health Clinics  (Krishi Sanjeevini)</vt:lpstr>
      <vt:lpstr>Slide 17</vt:lpstr>
      <vt:lpstr>Slide 18</vt:lpstr>
      <vt:lpstr>State Specific Action plan for Sunflower  (National Food Security Mission</vt:lpstr>
      <vt:lpstr>State  Action plan for Sunflower 2022-2025  </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PLANNING</dc:creator>
  <cp:lastModifiedBy>Inderpreet</cp:lastModifiedBy>
  <cp:revision>119</cp:revision>
  <dcterms:created xsi:type="dcterms:W3CDTF">2022-04-13T09:49:49Z</dcterms:created>
  <dcterms:modified xsi:type="dcterms:W3CDTF">2022-04-19T04:43:02Z</dcterms:modified>
</cp:coreProperties>
</file>