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9" r:id="rId3"/>
    <p:sldId id="293" r:id="rId4"/>
    <p:sldId id="285" r:id="rId5"/>
    <p:sldId id="292" r:id="rId6"/>
    <p:sldId id="287" r:id="rId7"/>
    <p:sldId id="288" r:id="rId8"/>
    <p:sldId id="289" r:id="rId9"/>
    <p:sldId id="290" r:id="rId10"/>
    <p:sldId id="271" r:id="rId11"/>
  </p:sldIdLst>
  <p:sldSz cx="9144000" cy="6858000" type="screen4x3"/>
  <p:notesSz cx="6797675" cy="9928225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T Sans Narrow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8DB5"/>
    <a:srgbClr val="8AAD2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3"/>
    <p:restoredTop sz="94687"/>
  </p:normalViewPr>
  <p:slideViewPr>
    <p:cSldViewPr snapToGrid="0">
      <p:cViewPr varScale="1">
        <p:scale>
          <a:sx n="121" d="100"/>
          <a:sy n="121" d="100"/>
        </p:scale>
        <p:origin x="11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033B7C-32BB-4FE3-AAFB-9384D0F283F0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11221-37F9-4B68-A0DA-A7028E5983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12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" name="Shape 48"/>
          <p:cNvSpPr>
            <a:spLocks noGrp="1"/>
          </p:cNvSpPr>
          <p:nvPr>
            <p:ph type="body" sz="quarter" idx="1"/>
          </p:nvPr>
        </p:nvSpPr>
        <p:spPr>
          <a:xfrm>
            <a:off x="906357" y="4715907"/>
            <a:ext cx="4984962" cy="446770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PT Sans Narrow"/>
      </a:defRPr>
    </a:lvl1pPr>
    <a:lvl2pPr indent="228600" latinLnBrk="0">
      <a:defRPr sz="1200">
        <a:latin typeface="+mj-lt"/>
        <a:ea typeface="+mj-ea"/>
        <a:cs typeface="+mj-cs"/>
        <a:sym typeface="PT Sans Narrow"/>
      </a:defRPr>
    </a:lvl2pPr>
    <a:lvl3pPr indent="457200" latinLnBrk="0">
      <a:defRPr sz="1200">
        <a:latin typeface="+mj-lt"/>
        <a:ea typeface="+mj-ea"/>
        <a:cs typeface="+mj-cs"/>
        <a:sym typeface="PT Sans Narrow"/>
      </a:defRPr>
    </a:lvl3pPr>
    <a:lvl4pPr indent="685800" latinLnBrk="0">
      <a:defRPr sz="1200">
        <a:latin typeface="+mj-lt"/>
        <a:ea typeface="+mj-ea"/>
        <a:cs typeface="+mj-cs"/>
        <a:sym typeface="PT Sans Narrow"/>
      </a:defRPr>
    </a:lvl4pPr>
    <a:lvl5pPr indent="914400" latinLnBrk="0">
      <a:defRPr sz="1200">
        <a:latin typeface="+mj-lt"/>
        <a:ea typeface="+mj-ea"/>
        <a:cs typeface="+mj-cs"/>
        <a:sym typeface="PT Sans Narrow"/>
      </a:defRPr>
    </a:lvl5pPr>
    <a:lvl6pPr indent="1143000" latinLnBrk="0">
      <a:defRPr sz="1200">
        <a:latin typeface="+mj-lt"/>
        <a:ea typeface="+mj-ea"/>
        <a:cs typeface="+mj-cs"/>
        <a:sym typeface="PT Sans Narrow"/>
      </a:defRPr>
    </a:lvl6pPr>
    <a:lvl7pPr indent="1371600" latinLnBrk="0">
      <a:defRPr sz="1200">
        <a:latin typeface="+mj-lt"/>
        <a:ea typeface="+mj-ea"/>
        <a:cs typeface="+mj-cs"/>
        <a:sym typeface="PT Sans Narrow"/>
      </a:defRPr>
    </a:lvl7pPr>
    <a:lvl8pPr indent="1600200" latinLnBrk="0">
      <a:defRPr sz="1200">
        <a:latin typeface="+mj-lt"/>
        <a:ea typeface="+mj-ea"/>
        <a:cs typeface="+mj-cs"/>
        <a:sym typeface="PT Sans Narrow"/>
      </a:defRPr>
    </a:lvl8pPr>
    <a:lvl9pPr indent="1828800" latinLnBrk="0">
      <a:defRPr sz="1200">
        <a:latin typeface="+mj-lt"/>
        <a:ea typeface="+mj-ea"/>
        <a:cs typeface="+mj-cs"/>
        <a:sym typeface="PT Sans Narrow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Essential backbone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7803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9"/>
          <p:cNvSpPr/>
          <p:nvPr/>
        </p:nvSpPr>
        <p:spPr>
          <a:xfrm>
            <a:off x="0" y="6079254"/>
            <a:ext cx="9144000" cy="778748"/>
          </a:xfrm>
          <a:prstGeom prst="rect">
            <a:avLst/>
          </a:prstGeom>
          <a:solidFill>
            <a:srgbClr val="008DB4"/>
          </a:solidFill>
          <a:ln w="12700">
            <a:solidFill>
              <a:srgbClr val="008DB4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Rechteck 3"/>
          <p:cNvSpPr/>
          <p:nvPr/>
        </p:nvSpPr>
        <p:spPr>
          <a:xfrm>
            <a:off x="-7707" y="1014882"/>
            <a:ext cx="2605422" cy="506842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" name="LOGO_GREEN_cmyk_white_background_PRINT.jpg" descr="LOGO_GREEN_cmyk_white_background_PRI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44" y="275056"/>
            <a:ext cx="1491814" cy="564816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Gerader Verbinder 12"/>
          <p:cNvSpPr/>
          <p:nvPr/>
        </p:nvSpPr>
        <p:spPr>
          <a:xfrm>
            <a:off x="-1" y="1014882"/>
            <a:ext cx="9144001" cy="1"/>
          </a:xfrm>
          <a:prstGeom prst="line">
            <a:avLst/>
          </a:prstGeom>
          <a:ln w="6350">
            <a:solidFill>
              <a:srgbClr val="008DB4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9" name="Titeltext"/>
          <p:cNvSpPr txBox="1">
            <a:spLocks noGrp="1"/>
          </p:cNvSpPr>
          <p:nvPr>
            <p:ph type="title"/>
          </p:nvPr>
        </p:nvSpPr>
        <p:spPr>
          <a:xfrm>
            <a:off x="2596045" y="2385218"/>
            <a:ext cx="6196121" cy="1124745"/>
          </a:xfrm>
          <a:prstGeom prst="rect">
            <a:avLst/>
          </a:prstGeom>
        </p:spPr>
        <p:txBody>
          <a:bodyPr lIns="45718" tIns="45718" rIns="45718" bIns="45718" anchor="b"/>
          <a:lstStyle>
            <a:lvl1pPr algn="ctr">
              <a:defRPr sz="6000">
                <a:solidFill>
                  <a:srgbClr val="8AAD29"/>
                </a:solidFill>
              </a:defRPr>
            </a:lvl1pPr>
          </a:lstStyle>
          <a:p>
            <a:r>
              <a:t>Titeltext</a:t>
            </a:r>
          </a:p>
        </p:txBody>
      </p:sp>
      <p:sp>
        <p:nvSpPr>
          <p:cNvPr id="20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460487" y="6181619"/>
            <a:ext cx="229869" cy="269239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sz="1100">
                <a:solidFill>
                  <a:srgbClr val="888888"/>
                </a:solidFill>
                <a:latin typeface="+mj-lt"/>
                <a:ea typeface="+mj-ea"/>
                <a:cs typeface="+mj-cs"/>
                <a:sym typeface="PT Sans Narrow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28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9"/>
          <p:cNvSpPr/>
          <p:nvPr/>
        </p:nvSpPr>
        <p:spPr>
          <a:xfrm>
            <a:off x="0" y="6079254"/>
            <a:ext cx="9144000" cy="778748"/>
          </a:xfrm>
          <a:prstGeom prst="rect">
            <a:avLst/>
          </a:prstGeom>
          <a:solidFill>
            <a:srgbClr val="008DB4"/>
          </a:solidFill>
          <a:ln w="12700">
            <a:solidFill>
              <a:srgbClr val="008DB4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hteck 3"/>
          <p:cNvSpPr/>
          <p:nvPr/>
        </p:nvSpPr>
        <p:spPr>
          <a:xfrm>
            <a:off x="-7707" y="1014882"/>
            <a:ext cx="2605422" cy="506842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Gerader Verbinder 12"/>
          <p:cNvSpPr/>
          <p:nvPr/>
        </p:nvSpPr>
        <p:spPr>
          <a:xfrm>
            <a:off x="-1" y="1014882"/>
            <a:ext cx="9144001" cy="1"/>
          </a:xfrm>
          <a:prstGeom prst="line">
            <a:avLst/>
          </a:prstGeom>
          <a:ln w="6350">
            <a:solidFill>
              <a:srgbClr val="008DB4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9" name="Rechteck 3"/>
          <p:cNvSpPr/>
          <p:nvPr/>
        </p:nvSpPr>
        <p:spPr>
          <a:xfrm flipH="1">
            <a:off x="6524407" y="1014882"/>
            <a:ext cx="2605422" cy="506842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0" name="LOGO_GREEN_cmyk_white_background_PRINT.jpg" descr="LOGO_GREEN_cmyk_white_background_PRI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44" y="275056"/>
            <a:ext cx="1491814" cy="564816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274052" y="6397945"/>
            <a:ext cx="241299" cy="281939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PT Sans Narrow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>
            <a:spLocks noGrp="1"/>
          </p:cNvSpPr>
          <p:nvPr>
            <p:ph type="title"/>
          </p:nvPr>
        </p:nvSpPr>
        <p:spPr>
          <a:xfrm>
            <a:off x="311698" y="216178"/>
            <a:ext cx="6979357" cy="763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rmAutofit/>
          </a:bodyPr>
          <a:lstStyle/>
          <a:p>
            <a:r>
              <a:t>Titeltext</a:t>
            </a:r>
          </a:p>
        </p:txBody>
      </p:sp>
      <p:sp>
        <p:nvSpPr>
          <p:cNvPr id="3" name="Rechteck 9"/>
          <p:cNvSpPr/>
          <p:nvPr/>
        </p:nvSpPr>
        <p:spPr>
          <a:xfrm>
            <a:off x="0" y="6079254"/>
            <a:ext cx="9144000" cy="778748"/>
          </a:xfrm>
          <a:prstGeom prst="rect">
            <a:avLst/>
          </a:prstGeom>
          <a:solidFill>
            <a:srgbClr val="008DB4"/>
          </a:solidFill>
          <a:ln w="12700">
            <a:solidFill>
              <a:srgbClr val="008DB4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Gerader Verbinder 12"/>
          <p:cNvSpPr/>
          <p:nvPr/>
        </p:nvSpPr>
        <p:spPr>
          <a:xfrm>
            <a:off x="-1" y="1014882"/>
            <a:ext cx="9144001" cy="1"/>
          </a:xfrm>
          <a:prstGeom prst="line">
            <a:avLst/>
          </a:prstGeom>
          <a:ln w="6350">
            <a:solidFill>
              <a:srgbClr val="008DB4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" name="Textfeld 13"/>
          <p:cNvSpPr txBox="1"/>
          <p:nvPr/>
        </p:nvSpPr>
        <p:spPr>
          <a:xfrm>
            <a:off x="7395761" y="6236800"/>
            <a:ext cx="2227588" cy="23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Wheat Initiative | Page </a:t>
            </a:r>
          </a:p>
        </p:txBody>
      </p:sp>
      <p:sp>
        <p:nvSpPr>
          <p:cNvPr id="6" name="Textebene 1…"/>
          <p:cNvSpPr txBox="1">
            <a:spLocks noGrp="1"/>
          </p:cNvSpPr>
          <p:nvPr>
            <p:ph type="body" idx="1"/>
          </p:nvPr>
        </p:nvSpPr>
        <p:spPr>
          <a:xfrm>
            <a:off x="377325" y="1406200"/>
            <a:ext cx="6848103" cy="471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pic>
        <p:nvPicPr>
          <p:cNvPr id="7" name="LOGO_GREEN_cmyk_white_background_PRINT.jpg" descr="LOGO_GREEN_cmyk_white_background_PRIN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144" y="275056"/>
            <a:ext cx="1491814" cy="564816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8567220" y="6198715"/>
            <a:ext cx="322686" cy="322549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spAutoFit/>
          </a:bodyPr>
          <a:lstStyle>
            <a:lvl1pPr algn="r">
              <a:defRPr sz="9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hf hdr="0" dt="0"/>
  <p:txStyles>
    <p:titleStyle>
      <a:lvl1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all" spc="0" baseline="0">
          <a:solidFill>
            <a:srgbClr val="008DB4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just" defTabSz="9144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heatinitiative.org" TargetMode="External"/><Relationship Id="rId2" Type="http://schemas.openxmlformats.org/officeDocument/2006/relationships/hyperlink" Target="mailto:wheat.initiative@julius-kuehn.de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82EBD3A-6D46-3A3E-9CFF-8E5683D6A161}"/>
              </a:ext>
            </a:extLst>
          </p:cNvPr>
          <p:cNvSpPr txBox="1"/>
          <p:nvPr/>
        </p:nvSpPr>
        <p:spPr>
          <a:xfrm>
            <a:off x="1682061" y="2827012"/>
            <a:ext cx="6968358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hangingPunct="1"/>
            <a:r>
              <a:rPr lang="en-GB" sz="4400" dirty="0">
                <a:solidFill>
                  <a:srgbClr val="8AAD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WHEAT INITIATIVE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632931D-2862-AC96-2A70-F348CDE9DEAD}"/>
              </a:ext>
            </a:extLst>
          </p:cNvPr>
          <p:cNvSpPr txBox="1"/>
          <p:nvPr/>
        </p:nvSpPr>
        <p:spPr>
          <a:xfrm>
            <a:off x="3803431" y="4979468"/>
            <a:ext cx="4713514" cy="974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hangingPunct="1">
              <a:spcBef>
                <a:spcPts val="200"/>
              </a:spcBef>
              <a:spcAft>
                <a:spcPts val="200"/>
              </a:spcAft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John Spink</a:t>
            </a:r>
          </a:p>
          <a:p>
            <a:pPr algn="r" hangingPunct="1">
              <a:spcBef>
                <a:spcPts val="200"/>
              </a:spcBef>
              <a:spcAft>
                <a:spcPts val="200"/>
              </a:spcAft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Chairman, Institutions Coordinating Committee Wheat Initiative </a:t>
            </a:r>
          </a:p>
        </p:txBody>
      </p:sp>
      <p:sp>
        <p:nvSpPr>
          <p:cNvPr id="4" name="Textfeld 4">
            <a:extLst>
              <a:ext uri="{FF2B5EF4-FFF2-40B4-BE49-F238E27FC236}">
                <a16:creationId xmlns:a16="http://schemas.microsoft.com/office/drawing/2014/main" id="{A632931D-2862-AC96-2A70-F348CDE9DEAD}"/>
              </a:ext>
            </a:extLst>
          </p:cNvPr>
          <p:cNvSpPr txBox="1"/>
          <p:nvPr/>
        </p:nvSpPr>
        <p:spPr>
          <a:xfrm>
            <a:off x="189186" y="290678"/>
            <a:ext cx="7228490" cy="6976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hangingPunct="1">
              <a:spcBef>
                <a:spcPts val="200"/>
              </a:spcBef>
              <a:spcAft>
                <a:spcPts val="200"/>
              </a:spcAft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G20 India Presidency │ First Agriculture Working Group Meeting</a:t>
            </a:r>
          </a:p>
          <a:p>
            <a:pPr hangingPunct="1">
              <a:spcBef>
                <a:spcPts val="200"/>
              </a:spcBef>
              <a:spcAft>
                <a:spcPts val="200"/>
              </a:spcAft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Stock taking of G-20 initiatives in Agriculture  │ February 13</a:t>
            </a:r>
            <a:r>
              <a:rPr lang="en-GB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2023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Wheat Initiative"/>
          <p:cNvSpPr txBox="1">
            <a:spLocks noGrp="1"/>
          </p:cNvSpPr>
          <p:nvPr>
            <p:ph type="title"/>
          </p:nvPr>
        </p:nvSpPr>
        <p:spPr>
          <a:xfrm>
            <a:off x="259085" y="250131"/>
            <a:ext cx="7623988" cy="763602"/>
          </a:xfrm>
          <a:prstGeom prst="rect">
            <a:avLst/>
          </a:prstGeom>
        </p:spPr>
        <p:txBody>
          <a:bodyPr>
            <a:noAutofit/>
          </a:bodyPr>
          <a:lstStyle>
            <a:lvl1pPr defTabSz="397763">
              <a:lnSpc>
                <a:spcPct val="100000"/>
              </a:lnSpc>
              <a:defRPr sz="3400"/>
            </a:lvl1pPr>
          </a:lstStyle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Wheat Initiative</a:t>
            </a:r>
            <a:endParaRPr lang="de-DE" sz="2400" b="1" dirty="0">
              <a:solidFill>
                <a:srgbClr val="0D8DB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559" y="4260815"/>
            <a:ext cx="7544944" cy="1417686"/>
          </a:xfrm>
        </p:spPr>
        <p:txBody>
          <a:bodyPr>
            <a:noAutofit/>
          </a:bodyPr>
          <a:lstStyle/>
          <a:p>
            <a:pPr marL="346075" indent="-228600"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buClr>
                <a:srgbClr val="8AAD28"/>
              </a:buClr>
              <a:buFont typeface="Arial Narrow" panose="020B0606020202030204" pitchFamily="34" charset="0"/>
              <a:buChar char="●"/>
            </a:pPr>
            <a:r>
              <a:rPr lang="en-GB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Co-ordinate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investments to meet wheat research and development goals. </a:t>
            </a:r>
          </a:p>
          <a:p>
            <a:pPr marL="346075" indent="-228600"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buClr>
                <a:srgbClr val="8AAD28"/>
              </a:buClr>
              <a:buFont typeface="Arial Narrow" panose="020B0606020202030204" pitchFamily="34" charset="0"/>
              <a:buChar char="●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Initiate and support </a:t>
            </a:r>
            <a:r>
              <a:rPr lang="en-GB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communication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and increase access for all to information, resources and </a:t>
            </a:r>
            <a:r>
              <a:rPr lang="en-GB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technologies for wheat improvement.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6075" indent="-228600" algn="l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buClr>
                <a:srgbClr val="8AAD28"/>
              </a:buClr>
              <a:buFont typeface="Arial Narrow" panose="020B0606020202030204" pitchFamily="34" charset="0"/>
              <a:buChar char="●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Build capacity to address </a:t>
            </a:r>
            <a:r>
              <a:rPr lang="en-GB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production challenges in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an increasingly variable environment</a:t>
            </a:r>
            <a:endParaRPr lang="en-GB" sz="1000" cap="all" dirty="0">
              <a:solidFill>
                <a:srgbClr val="008DB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8552972" y="6182866"/>
            <a:ext cx="242341" cy="32313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800"/>
            </a:lvl1pPr>
          </a:lstStyle>
          <a:p>
            <a:fld id="{86CB4B4D-7CA3-9044-876B-883B54F8677D}" type="slidenum">
              <a:rPr sz="90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8758" y="1307935"/>
            <a:ext cx="2379391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117475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buClr>
                <a:srgbClr val="8AAD28"/>
              </a:buClr>
            </a:pPr>
            <a:r>
              <a:rPr lang="en-GB" sz="1600" b="1" dirty="0">
                <a:solidFill>
                  <a:srgbClr val="8AAD2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Established in 2011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8514" y="1218757"/>
            <a:ext cx="5923334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GB" sz="1600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"/>
              </a:rPr>
              <a:t>Hosted at the Julius Kühn Institute in Berlin, </a:t>
            </a:r>
            <a:r>
              <a:rPr lang="en-GB" sz="1600" dirty="0" smtClean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"/>
              </a:rPr>
              <a:t>supported by </a:t>
            </a:r>
            <a:r>
              <a:rPr lang="en-GB" sz="1600" dirty="0"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"/>
              </a:rPr>
              <a:t>the German Ministry for Food and Agriculture. 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8757" y="1044869"/>
            <a:ext cx="2055043" cy="961034"/>
          </a:xfrm>
          <a:prstGeom prst="rightArrow">
            <a:avLst/>
          </a:prstGeom>
          <a:noFill/>
          <a:ln w="25400" cap="flat">
            <a:solidFill>
              <a:srgbClr val="8AAD2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spc="0" normalizeH="0" baseline="0">
              <a:ln>
                <a:noFill/>
              </a:ln>
              <a:solidFill>
                <a:srgbClr val="0D8DB5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PT Sans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8759" y="2166332"/>
            <a:ext cx="918335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11113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66332"/>
            <a:ext cx="7400258" cy="1467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346075" indent="-228600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buClr>
                <a:srgbClr val="8AAD28"/>
              </a:buClr>
              <a:buFont typeface="Arial Narrow" panose="020B0606020202030204" pitchFamily="34" charset="0"/>
              <a:buChar char="●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Establish strategic priorities for wheat research </a:t>
            </a:r>
            <a:r>
              <a:rPr lang="en-GB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both developed and developing countries. </a:t>
            </a:r>
          </a:p>
          <a:p>
            <a:pPr marL="346075" indent="-228600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buClr>
                <a:srgbClr val="8AAD28"/>
              </a:buClr>
              <a:buFont typeface="Arial Narrow" panose="020B0606020202030204" pitchFamily="34" charset="0"/>
              <a:buChar char="●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Foster communication between the research community, funders and policy makers.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cs typeface="Calibri" panose="020F0502020204030204" pitchFamily="34" charset="0"/>
              <a:sym typeface="PT Sans Narro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8758" y="3227374"/>
            <a:ext cx="918335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11113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Aims: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2305" y="3225420"/>
            <a:ext cx="7300953" cy="9130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96863" indent="-285750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  <a:buClr>
                <a:srgbClr val="8AAD28"/>
              </a:buClr>
              <a:buFont typeface="Arial Narrow" panose="020B0606020202030204" pitchFamily="34" charset="0"/>
              <a:buChar char="●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Encourage and support the development of a vibrant global wheat public-private research community sharing resources, capabilities, data and ideas to improve wheat productivity, quality and sustainable </a:t>
            </a:r>
            <a:r>
              <a:rPr lang="en-GB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production.  </a:t>
            </a:r>
            <a:endParaRPr lang="en-GB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" y="4288416"/>
            <a:ext cx="1212794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11113">
              <a:lnSpc>
                <a:spcPts val="2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</p:txBody>
      </p:sp>
    </p:spTree>
    <p:extLst>
      <p:ext uri="{BB962C8B-B14F-4D97-AF65-F5344CB8AC3E}">
        <p14:creationId xmlns:p14="http://schemas.microsoft.com/office/powerpoint/2010/main" val="11497383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88031" y="1162379"/>
            <a:ext cx="7755228" cy="4476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no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sz="2000" b="0" i="0" u="none" strike="noStrike" cap="none" spc="0" normalizeH="0" baseline="0" dirty="0" smtClean="0">
                <a:ln>
                  <a:noFill/>
                </a:ln>
                <a:solidFill>
                  <a:srgbClr val="8AAD28"/>
                </a:solidFill>
                <a:effectLst/>
                <a:uFillTx/>
                <a:latin typeface="Arial Narrow" panose="020B0606020202030204" pitchFamily="34" charset="0"/>
                <a:sym typeface="PT Sans Narrow"/>
              </a:rPr>
              <a:t>Adaptation of Wheat to Abiotic Stress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de-DE" sz="2000" dirty="0" smtClean="0">
                <a:solidFill>
                  <a:srgbClr val="8AAD28"/>
                </a:solidFill>
                <a:latin typeface="Arial Narrow" panose="020B0606020202030204" pitchFamily="34" charset="0"/>
              </a:rPr>
              <a:t>Control of Wheat Pathogens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de-DE" sz="2000" b="0" i="0" u="none" strike="noStrike" cap="none" spc="0" normalizeH="0" baseline="0" dirty="0" smtClean="0">
                <a:ln>
                  <a:noFill/>
                </a:ln>
                <a:solidFill>
                  <a:srgbClr val="8AAD28"/>
                </a:solidFill>
                <a:effectLst/>
                <a:uFillTx/>
                <a:latin typeface="Arial Narrow" panose="020B0606020202030204" pitchFamily="34" charset="0"/>
                <a:sym typeface="PT Sans Narrow"/>
              </a:rPr>
              <a:t>Control of Wheat Pests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rgbClr val="8AAD28"/>
                </a:solidFill>
                <a:latin typeface="Arial Narrow" panose="020B0606020202030204" pitchFamily="34" charset="0"/>
              </a:rPr>
              <a:t>Wheat Breeding Methods and Strategies</a:t>
            </a:r>
            <a:endParaRPr kumimoji="0" lang="de-DE" sz="2000" b="0" i="0" u="none" strike="noStrike" cap="none" spc="0" normalizeH="0" baseline="0" dirty="0" smtClean="0">
              <a:ln>
                <a:noFill/>
              </a:ln>
              <a:solidFill>
                <a:srgbClr val="8AAD28"/>
              </a:solidFill>
              <a:effectLst/>
              <a:uFillTx/>
              <a:latin typeface="Arial Narrow" panose="020B0606020202030204" pitchFamily="34" charset="0"/>
              <a:sym typeface="PT Sans Narrow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de-DE" sz="2000" dirty="0" smtClean="0">
                <a:solidFill>
                  <a:srgbClr val="8AAD28"/>
                </a:solidFill>
                <a:latin typeface="Arial Narrow" panose="020B0606020202030204" pitchFamily="34" charset="0"/>
              </a:rPr>
              <a:t>Durum Wheat Genomics and Breeding</a:t>
            </a:r>
            <a:r>
              <a:rPr lang="de-DE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de-DE" sz="1600" dirty="0">
                <a:solidFill>
                  <a:srgbClr val="FF0000"/>
                </a:solidFill>
              </a:rPr>
              <a:t>New Chair</a:t>
            </a:r>
            <a:endParaRPr lang="de-DE" sz="1600" dirty="0" smtClean="0">
              <a:solidFill>
                <a:srgbClr val="8AAD28"/>
              </a:solidFill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de-DE" sz="2000" dirty="0">
                <a:solidFill>
                  <a:srgbClr val="8AAD28"/>
                </a:solidFill>
                <a:latin typeface="Arial Narrow" panose="020B0606020202030204" pitchFamily="34" charset="0"/>
              </a:rPr>
              <a:t>Global Wheat Germplasm Conservation and Use Community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de-DE" sz="2000" dirty="0">
                <a:solidFill>
                  <a:srgbClr val="8AAD28"/>
                </a:solidFill>
                <a:latin typeface="Arial Narrow" panose="020B0606020202030204" pitchFamily="34" charset="0"/>
              </a:rPr>
              <a:t>Improving Wheat Quality for processing and health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rgbClr val="8AAD28"/>
                </a:solidFill>
                <a:latin typeface="Arial Narrow" panose="020B0606020202030204" pitchFamily="34" charset="0"/>
              </a:rPr>
              <a:t>Nutrient Use Efficiency in Wheat </a:t>
            </a:r>
            <a:r>
              <a:rPr lang="de-DE" sz="1600" dirty="0">
                <a:solidFill>
                  <a:srgbClr val="FF0000"/>
                </a:solidFill>
              </a:rPr>
              <a:t>New Chair</a:t>
            </a:r>
            <a:endParaRPr kumimoji="0" lang="de-DE" sz="1600" b="0" i="0" u="none" strike="noStrike" cap="none" spc="0" normalizeH="0" dirty="0" smtClean="0">
              <a:ln>
                <a:noFill/>
              </a:ln>
              <a:solidFill>
                <a:srgbClr val="8AAD28"/>
              </a:solidFill>
              <a:effectLst/>
              <a:uFillTx/>
              <a:sym typeface="PT Sans Narrow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rgbClr val="8AAD28"/>
                </a:solidFill>
                <a:latin typeface="Arial Narrow" panose="020B0606020202030204" pitchFamily="34" charset="0"/>
              </a:rPr>
              <a:t>Wheat Agronomy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de-DE" sz="2000" dirty="0">
                <a:solidFill>
                  <a:srgbClr val="8AAD28"/>
                </a:solidFill>
                <a:latin typeface="Arial Narrow" panose="020B0606020202030204" pitchFamily="34" charset="0"/>
              </a:rPr>
              <a:t>Wheat Information System </a:t>
            </a:r>
            <a:r>
              <a:rPr lang="de-DE" sz="1600" dirty="0">
                <a:solidFill>
                  <a:srgbClr val="FF0000"/>
                </a:solidFill>
              </a:rPr>
              <a:t>New Chair</a:t>
            </a:r>
            <a:endParaRPr lang="de-DE" sz="1600" dirty="0" smtClean="0">
              <a:solidFill>
                <a:srgbClr val="8AAD28"/>
              </a:solidFill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de-DE" sz="2000" dirty="0">
                <a:solidFill>
                  <a:srgbClr val="8AAD28"/>
                </a:solidFill>
                <a:latin typeface="Arial Narrow" panose="020B0606020202030204" pitchFamily="34" charset="0"/>
              </a:rPr>
              <a:t>Wheat Phenotyping to Support Wheat Improvement </a:t>
            </a:r>
            <a:r>
              <a:rPr kumimoji="0" lang="de-DE" sz="16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sym typeface="PT Sans Narrow"/>
              </a:rPr>
              <a:t>New Chair</a:t>
            </a:r>
            <a:endParaRPr lang="de-DE" sz="1600" baseline="0" dirty="0">
              <a:solidFill>
                <a:srgbClr val="FF0000"/>
              </a:solidFill>
            </a:endParaRPr>
          </a:p>
        </p:txBody>
      </p:sp>
      <p:sp>
        <p:nvSpPr>
          <p:cNvPr id="14" name="INTERNATIONAL WHEAT CONGRESS (IWC)"/>
          <p:cNvSpPr txBox="1">
            <a:spLocks noGrp="1"/>
          </p:cNvSpPr>
          <p:nvPr>
            <p:ph type="title"/>
          </p:nvPr>
        </p:nvSpPr>
        <p:spPr>
          <a:xfrm>
            <a:off x="654237" y="240497"/>
            <a:ext cx="5663436" cy="452555"/>
          </a:xfrm>
          <a:prstGeom prst="rect">
            <a:avLst/>
          </a:prstGeom>
        </p:spPr>
        <p:txBody>
          <a:bodyPr>
            <a:noAutofit/>
          </a:bodyPr>
          <a:lstStyle>
            <a:lvl1pPr defTabSz="549005">
              <a:defRPr sz="2584"/>
            </a:lvl1pPr>
          </a:lstStyle>
          <a:p>
            <a:r>
              <a:rPr lang="de-DE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Expert working groups</a:t>
            </a:r>
            <a:endParaRPr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8543259" y="6189507"/>
            <a:ext cx="252054" cy="30984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800"/>
            </a:lvl1pPr>
          </a:lstStyle>
          <a:p>
            <a:fld id="{86CB4B4D-7CA3-9044-876B-883B54F8677D}" type="slidenum">
              <a:t>3</a:t>
            </a:fld>
            <a:endParaRPr dirty="0"/>
          </a:p>
        </p:txBody>
      </p:sp>
      <p:grpSp>
        <p:nvGrpSpPr>
          <p:cNvPr id="6" name="Group 5"/>
          <p:cNvGrpSpPr/>
          <p:nvPr/>
        </p:nvGrpSpPr>
        <p:grpSpPr>
          <a:xfrm>
            <a:off x="5262229" y="1503862"/>
            <a:ext cx="1274618" cy="498764"/>
            <a:chOff x="5417127" y="1468581"/>
            <a:chExt cx="1274618" cy="498764"/>
          </a:xfrm>
        </p:grpSpPr>
        <p:sp>
          <p:nvSpPr>
            <p:cNvPr id="4" name="6-Point Star 3"/>
            <p:cNvSpPr/>
            <p:nvPr/>
          </p:nvSpPr>
          <p:spPr>
            <a:xfrm>
              <a:off x="5417127" y="1468581"/>
              <a:ext cx="1274618" cy="498764"/>
            </a:xfrm>
            <a:prstGeom prst="star6">
              <a:avLst/>
            </a:prstGeom>
            <a:solidFill>
              <a:srgbClr val="FF0000"/>
            </a:solidFill>
            <a:ln w="25400" cap="flat">
              <a:solidFill>
                <a:srgbClr val="FF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E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PT Sans Narrow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805054" y="1533299"/>
              <a:ext cx="671945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IE" sz="1800" b="0" i="0" u="none" strike="noStrike" cap="none" spc="0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PT Sans Narrow"/>
                </a:rPr>
                <a:t>New</a:t>
              </a:r>
              <a:endParaRPr kumimoji="0" lang="en-IE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PT Sans Narrow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30436" y="1937908"/>
            <a:ext cx="1274618" cy="498764"/>
            <a:chOff x="5417127" y="1468581"/>
            <a:chExt cx="1274618" cy="498764"/>
          </a:xfrm>
        </p:grpSpPr>
        <p:sp>
          <p:nvSpPr>
            <p:cNvPr id="13" name="6-Point Star 12"/>
            <p:cNvSpPr/>
            <p:nvPr/>
          </p:nvSpPr>
          <p:spPr>
            <a:xfrm>
              <a:off x="5417127" y="1468581"/>
              <a:ext cx="1274618" cy="498764"/>
            </a:xfrm>
            <a:prstGeom prst="star6">
              <a:avLst/>
            </a:prstGeom>
            <a:solidFill>
              <a:srgbClr val="FF0000"/>
            </a:solidFill>
            <a:ln w="25400" cap="flat">
              <a:solidFill>
                <a:srgbClr val="FF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IE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PT Sans Narrow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05054" y="1533299"/>
              <a:ext cx="671945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t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IE" sz="1800" b="0" i="0" u="none" strike="noStrike" cap="none" spc="0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+mj-lt"/>
                  <a:ea typeface="+mj-ea"/>
                  <a:cs typeface="+mj-cs"/>
                  <a:sym typeface="PT Sans Narrow"/>
                </a:rPr>
                <a:t>New</a:t>
              </a:r>
              <a:endParaRPr kumimoji="0" lang="en-IE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PT Sans Narrow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634759" y="5531078"/>
            <a:ext cx="4061771" cy="4770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2000" b="1" dirty="0">
                <a:solidFill>
                  <a:srgbClr val="FF0000"/>
                </a:solidFill>
              </a:rPr>
              <a:t>468 </a:t>
            </a:r>
            <a:r>
              <a:rPr lang="de-DE" sz="2000" b="1" dirty="0" smtClean="0">
                <a:solidFill>
                  <a:srgbClr val="FF0000"/>
                </a:solidFill>
              </a:rPr>
              <a:t>scientists from </a:t>
            </a:r>
            <a:r>
              <a:rPr lang="de-DE" sz="2000" b="1" dirty="0">
                <a:solidFill>
                  <a:srgbClr val="FF0000"/>
                </a:solidFill>
              </a:rPr>
              <a:t>52 countries</a:t>
            </a:r>
            <a:endParaRPr lang="en-GB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4268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Wheat Initiative"/>
          <p:cNvSpPr txBox="1">
            <a:spLocks noGrp="1"/>
          </p:cNvSpPr>
          <p:nvPr>
            <p:ph type="title"/>
          </p:nvPr>
        </p:nvSpPr>
        <p:spPr>
          <a:xfrm>
            <a:off x="259085" y="250131"/>
            <a:ext cx="7623988" cy="763602"/>
          </a:xfrm>
          <a:prstGeom prst="rect">
            <a:avLst/>
          </a:prstGeom>
        </p:spPr>
        <p:txBody>
          <a:bodyPr>
            <a:noAutofit/>
          </a:bodyPr>
          <a:lstStyle>
            <a:lvl1pPr defTabSz="397763">
              <a:lnSpc>
                <a:spcPct val="100000"/>
              </a:lnSpc>
              <a:defRPr sz="3400"/>
            </a:lvl1pPr>
          </a:lstStyle>
          <a:p>
            <a:r>
              <a:rPr lang="en-GB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Progress Since 2021</a:t>
            </a:r>
            <a:endParaRPr lang="de-DE" sz="2400" b="1" dirty="0">
              <a:solidFill>
                <a:srgbClr val="0D8DB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085" y="1033792"/>
            <a:ext cx="8856311" cy="1072099"/>
          </a:xfrm>
        </p:spPr>
        <p:txBody>
          <a:bodyPr>
            <a:noAutofit/>
          </a:bodyPr>
          <a:lstStyle/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Support from The German Ministry of Food and Agriculture </a:t>
            </a:r>
            <a:b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and the JKI renewed to 2027.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8559385" y="6190560"/>
            <a:ext cx="235928" cy="3077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800"/>
            </a:lvl1pPr>
          </a:lstStyle>
          <a:p>
            <a:fld id="{86CB4B4D-7CA3-9044-876B-883B54F8677D}" type="slidenum">
              <a:rPr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86F306-F334-6758-AF0C-801FCC7DDC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32" y="4260610"/>
            <a:ext cx="2579864" cy="1441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E13C5-5CF0-A18D-B77C-A50FF87EAB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28" t="21117" r="57397" b="15390"/>
          <a:stretch/>
        </p:blipFill>
        <p:spPr>
          <a:xfrm>
            <a:off x="6897813" y="1155701"/>
            <a:ext cx="1994619" cy="28193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812" y="2105891"/>
            <a:ext cx="6026727" cy="10259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96863" indent="-2857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New Strategic Research Agenda (SRA)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published.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811" y="2839029"/>
            <a:ext cx="6026727" cy="10259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96863" indent="-2857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second International Wheat Congress 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(IWC) was held in China as a hybrid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10" y="4064236"/>
            <a:ext cx="6026727" cy="6104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96863" indent="-28575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Early career research program to support young scientists. </a:t>
            </a:r>
          </a:p>
        </p:txBody>
      </p:sp>
    </p:spTree>
    <p:extLst>
      <p:ext uri="{BB962C8B-B14F-4D97-AF65-F5344CB8AC3E}">
        <p14:creationId xmlns:p14="http://schemas.microsoft.com/office/powerpoint/2010/main" val="14986552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E215-6C34-C7EB-CACB-EC3298A41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8" y="1073819"/>
            <a:ext cx="6268551" cy="657999"/>
          </a:xfrm>
        </p:spPr>
        <p:txBody>
          <a:bodyPr>
            <a:noAutofit/>
          </a:bodyPr>
          <a:lstStyle/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Updated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WheatIS – portal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for genomics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data.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003A2-19D2-6D24-09BF-7FF6E7BBD5C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47566" y="6198424"/>
            <a:ext cx="242340" cy="323131"/>
          </a:xfrm>
        </p:spPr>
        <p:txBody>
          <a:bodyPr/>
          <a:lstStyle/>
          <a:p>
            <a:fld id="{86CB4B4D-7CA3-9044-876B-883B54F8677D}" type="slidenum">
              <a:rPr lang="en-DE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en-D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Wheat Initiative">
            <a:extLst>
              <a:ext uri="{FF2B5EF4-FFF2-40B4-BE49-F238E27FC236}">
                <a16:creationId xmlns:a16="http://schemas.microsoft.com/office/drawing/2014/main" id="{2BAC2724-4D68-F6D2-0888-7EC5938A8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defTabSz="397763">
              <a:lnSpc>
                <a:spcPct val="100000"/>
              </a:lnSpc>
              <a:defRPr sz="3400"/>
            </a:lvl1pPr>
          </a:lstStyle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Progress Since </a:t>
            </a:r>
            <a:r>
              <a:rPr lang="en-GB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2021</a:t>
            </a:r>
            <a:endParaRPr lang="de-DE" sz="2400" b="1" dirty="0">
              <a:solidFill>
                <a:srgbClr val="0D8DB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30B14-2017-9989-0AAC-40D4B78A4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824" y="4246323"/>
            <a:ext cx="2080096" cy="773795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F729CA37-5026-94F2-EA4D-6FA2C519700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8824" y="1073819"/>
            <a:ext cx="2419728" cy="1168084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4DF0151D-C5EB-0D97-AD98-D95FB26DD48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2159" y="2314130"/>
            <a:ext cx="3066393" cy="152768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E28E215-6C34-C7EB-CACB-EC3298A41377}"/>
              </a:ext>
            </a:extLst>
          </p:cNvPr>
          <p:cNvSpPr txBox="1">
            <a:spLocks/>
          </p:cNvSpPr>
          <p:nvPr/>
        </p:nvSpPr>
        <p:spPr>
          <a:xfrm>
            <a:off x="311697" y="1731818"/>
            <a:ext cx="6268551" cy="65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Autofit/>
          </a:bodyPr>
          <a:lstStyle>
            <a:lvl1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WheatVIVO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 launched – database of researchers, organisations, projects, publications and more.</a:t>
            </a:r>
          </a:p>
          <a:p>
            <a:pPr hangingPunct="1">
              <a:lnSpc>
                <a:spcPct val="150000"/>
              </a:lnSpc>
            </a:pPr>
            <a:endParaRPr lang="en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28E215-6C34-C7EB-CACB-EC3298A41377}"/>
              </a:ext>
            </a:extLst>
          </p:cNvPr>
          <p:cNvSpPr txBox="1">
            <a:spLocks/>
          </p:cNvSpPr>
          <p:nvPr/>
        </p:nvSpPr>
        <p:spPr>
          <a:xfrm>
            <a:off x="311697" y="2853520"/>
            <a:ext cx="6268551" cy="65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Autofit/>
          </a:bodyPr>
          <a:lstStyle>
            <a:lvl1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The Wheat Initiative Crop Health Alliance (WATCH-A) - A global disease diagnosis and monitoring system.</a:t>
            </a:r>
          </a:p>
          <a:p>
            <a:pPr hangingPunct="1">
              <a:lnSpc>
                <a:spcPct val="150000"/>
              </a:lnSpc>
            </a:pPr>
            <a:endParaRPr lang="en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E28E215-6C34-C7EB-CACB-EC3298A41377}"/>
              </a:ext>
            </a:extLst>
          </p:cNvPr>
          <p:cNvSpPr txBox="1">
            <a:spLocks/>
          </p:cNvSpPr>
          <p:nvPr/>
        </p:nvSpPr>
        <p:spPr>
          <a:xfrm>
            <a:off x="250273" y="3975222"/>
            <a:ext cx="6268551" cy="65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Autofit/>
          </a:bodyPr>
          <a:lstStyle>
            <a:lvl1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The Alliance for Wheat Adaptation to Heat and Drought (AHEAD) welcomed new members from UK, Switzerland, Egypt, France, Morocco, USA and Canada.</a:t>
            </a:r>
          </a:p>
          <a:p>
            <a:pPr hangingPunct="1">
              <a:lnSpc>
                <a:spcPct val="150000"/>
              </a:lnSpc>
            </a:pPr>
            <a:endParaRPr lang="en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8315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Wheat Initiative"/>
          <p:cNvSpPr txBox="1">
            <a:spLocks noGrp="1"/>
          </p:cNvSpPr>
          <p:nvPr>
            <p:ph type="title"/>
          </p:nvPr>
        </p:nvSpPr>
        <p:spPr>
          <a:xfrm>
            <a:off x="259085" y="250131"/>
            <a:ext cx="7623988" cy="763602"/>
          </a:xfrm>
          <a:prstGeom prst="rect">
            <a:avLst/>
          </a:prstGeom>
        </p:spPr>
        <p:txBody>
          <a:bodyPr>
            <a:noAutofit/>
          </a:bodyPr>
          <a:lstStyle>
            <a:lvl1pPr defTabSz="397763">
              <a:lnSpc>
                <a:spcPct val="100000"/>
              </a:lnSpc>
              <a:defRPr sz="3400"/>
            </a:lvl1pPr>
          </a:lstStyle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Reflections on questions</a:t>
            </a:r>
            <a:endParaRPr lang="de-DE" sz="2400" b="1" dirty="0">
              <a:solidFill>
                <a:srgbClr val="0D8DB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737" y="1033792"/>
            <a:ext cx="8260527" cy="5155715"/>
          </a:xfrm>
        </p:spPr>
        <p:txBody>
          <a:bodyPr>
            <a:noAutofit/>
          </a:bodyPr>
          <a:lstStyle/>
          <a:p>
            <a:pPr marL="11113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sz="20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emerging priorities, opportunities, and challenges</a:t>
            </a:r>
            <a:endParaRPr lang="de-D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17488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sz="20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GB" sz="2000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Coping with increasingly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variable climate and rising costs of agricultural inputs.</a:t>
            </a:r>
          </a:p>
          <a:p>
            <a:pPr marL="11113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sz="20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n-GB" sz="2000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Improvements in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crop breeding and production technologies.  </a:t>
            </a:r>
          </a:p>
          <a:p>
            <a:pPr marL="11113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sz="20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GB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 Sharing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of resources, germplasm and capabilities needs to be expanded.</a:t>
            </a:r>
          </a:p>
          <a:p>
            <a:pPr marL="228600" indent="-217488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sz="2000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n-GB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Support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systems to allow the research community to identify potential collaborators, training opportunities and </a:t>
            </a:r>
            <a:r>
              <a:rPr lang="en-GB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resources.</a:t>
            </a:r>
          </a:p>
          <a:p>
            <a:pPr marL="228600" indent="-22860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tabLst>
                <a:tab pos="228600" algn="l"/>
              </a:tabLst>
            </a:pPr>
            <a:r>
              <a:rPr lang="en-GB" sz="2000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 </a:t>
            </a:r>
            <a:r>
              <a:rPr lang="en-GB" sz="2000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increasing age of the agricultural workforce and the low intake of students.</a:t>
            </a:r>
          </a:p>
          <a:p>
            <a:pPr marL="11113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8559385" y="6190560"/>
            <a:ext cx="235928" cy="3077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800"/>
            </a:lvl1pPr>
          </a:lstStyle>
          <a:p>
            <a:fld id="{86CB4B4D-7CA3-9044-876B-883B54F8677D}" type="slidenum">
              <a:rPr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38211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432" y="1281747"/>
            <a:ext cx="8260527" cy="2092037"/>
          </a:xfrm>
        </p:spPr>
        <p:txBody>
          <a:bodyPr>
            <a:noAutofit/>
          </a:bodyPr>
          <a:lstStyle/>
          <a:p>
            <a:pPr marL="11113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 scale through coordination and partnerships </a:t>
            </a:r>
          </a:p>
          <a:p>
            <a:pPr marL="11113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among G20 member nations and stakeholders</a:t>
            </a:r>
            <a:r>
              <a:rPr lang="en-GB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GB" b="1" cap="all" dirty="0">
              <a:solidFill>
                <a:srgbClr val="008DB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Support multinational research activities, scientific exchanges </a:t>
            </a: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Combine research efforts to address challenges of global significance</a:t>
            </a:r>
          </a:p>
          <a:p>
            <a:pPr marL="11113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8544959" y="6148627"/>
            <a:ext cx="250354" cy="39161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800"/>
            </a:lvl1pPr>
          </a:lstStyle>
          <a:p>
            <a:pPr>
              <a:lnSpc>
                <a:spcPct val="150000"/>
              </a:lnSpc>
            </a:pPr>
            <a:fld id="{86CB4B4D-7CA3-9044-876B-883B54F8677D}" type="slidenum">
              <a:rPr sz="1000">
                <a:latin typeface="Calibri" panose="020F0502020204030204" pitchFamily="34" charset="0"/>
                <a:cs typeface="Calibri" panose="020F0502020204030204" pitchFamily="34" charset="0"/>
              </a:rPr>
              <a:pPr>
                <a:lnSpc>
                  <a:spcPct val="150000"/>
                </a:lnSpc>
              </a:pPr>
              <a:t>7</a:t>
            </a:fld>
            <a:endParaRPr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Wheat Initiative"/>
          <p:cNvSpPr txBox="1">
            <a:spLocks noGrp="1"/>
          </p:cNvSpPr>
          <p:nvPr>
            <p:ph type="title"/>
          </p:nvPr>
        </p:nvSpPr>
        <p:spPr>
          <a:xfrm>
            <a:off x="259085" y="250131"/>
            <a:ext cx="7623988" cy="763602"/>
          </a:xfrm>
          <a:prstGeom prst="rect">
            <a:avLst/>
          </a:prstGeom>
        </p:spPr>
        <p:txBody>
          <a:bodyPr>
            <a:noAutofit/>
          </a:bodyPr>
          <a:lstStyle>
            <a:lvl1pPr defTabSz="397763">
              <a:lnSpc>
                <a:spcPct val="100000"/>
              </a:lnSpc>
              <a:defRPr sz="3400"/>
            </a:lvl1pPr>
          </a:lstStyle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Reflections on questions</a:t>
            </a:r>
            <a:endParaRPr lang="de-DE" sz="2400" b="1" dirty="0">
              <a:solidFill>
                <a:srgbClr val="0D8DB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 txBox="1">
            <a:spLocks/>
          </p:cNvSpPr>
          <p:nvPr/>
        </p:nvSpPr>
        <p:spPr>
          <a:xfrm>
            <a:off x="284432" y="3470537"/>
            <a:ext cx="8260527" cy="2360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Autofit/>
          </a:bodyPr>
          <a:lstStyle>
            <a:lvl1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11113" algn="l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an appropriate framework to capture the learning and exchange of ideas between the initiatives for successful outcomes?</a:t>
            </a: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The G20 MACS initiatives provide a good framework </a:t>
            </a: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But G20 members need to engage in the initiatives and provide support.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837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851" y="1021730"/>
            <a:ext cx="8658191" cy="2839024"/>
          </a:xfrm>
        </p:spPr>
        <p:txBody>
          <a:bodyPr>
            <a:noAutofit/>
          </a:bodyPr>
          <a:lstStyle/>
          <a:p>
            <a:pPr marL="11113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strengthening Capabilities for a result-driven delivery of </a:t>
            </a:r>
          </a:p>
          <a:p>
            <a:pPr marL="11113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initiatives?</a:t>
            </a: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Investing in staff and student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training and supporting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exchange of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personnel. 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Support international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activities targeted to facilitating exchange of resources, particularly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germplasm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Actively participate in Wheat Initiative research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alliances.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8379859" y="5450127"/>
            <a:ext cx="250354" cy="39161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800"/>
            </a:lvl1pPr>
          </a:lstStyle>
          <a:p>
            <a:pPr>
              <a:lnSpc>
                <a:spcPct val="150000"/>
              </a:lnSpc>
            </a:pPr>
            <a:fld id="{86CB4B4D-7CA3-9044-876B-883B54F8677D}" type="slidenum">
              <a:rPr sz="1000">
                <a:latin typeface="Calibri" panose="020F0502020204030204" pitchFamily="34" charset="0"/>
                <a:cs typeface="Calibri" panose="020F0502020204030204" pitchFamily="34" charset="0"/>
              </a:rPr>
              <a:pPr>
                <a:lnSpc>
                  <a:spcPct val="150000"/>
                </a:lnSpc>
              </a:pPr>
              <a:t>8</a:t>
            </a:fld>
            <a:endParaRPr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Wheat Initiative"/>
          <p:cNvSpPr txBox="1">
            <a:spLocks noGrp="1"/>
          </p:cNvSpPr>
          <p:nvPr>
            <p:ph type="title"/>
          </p:nvPr>
        </p:nvSpPr>
        <p:spPr>
          <a:xfrm>
            <a:off x="259085" y="250131"/>
            <a:ext cx="7623988" cy="763602"/>
          </a:xfrm>
          <a:prstGeom prst="rect">
            <a:avLst/>
          </a:prstGeom>
        </p:spPr>
        <p:txBody>
          <a:bodyPr>
            <a:noAutofit/>
          </a:bodyPr>
          <a:lstStyle>
            <a:lvl1pPr defTabSz="397763">
              <a:lnSpc>
                <a:spcPct val="100000"/>
              </a:lnSpc>
              <a:defRPr sz="3400"/>
            </a:lvl1pPr>
          </a:lstStyle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Reflections on questions</a:t>
            </a:r>
            <a:endParaRPr lang="de-DE" sz="2400" b="1" dirty="0">
              <a:solidFill>
                <a:srgbClr val="0D8DB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 txBox="1">
            <a:spLocks/>
          </p:cNvSpPr>
          <p:nvPr/>
        </p:nvSpPr>
        <p:spPr>
          <a:xfrm>
            <a:off x="274851" y="3943789"/>
            <a:ext cx="8658191" cy="2185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Autofit/>
          </a:bodyPr>
          <a:lstStyle>
            <a:lvl1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11113" algn="l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critical variables for Monitoring, Evaluation and Learning (MEL) to support the global initiatives?</a:t>
            </a: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Each initiative will have its own measures for assessing progress.  </a:t>
            </a: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The Wheat Initiative seeks feedback and monitors membership and use of Expert Working Groups, Newsletters, Media Briefs, Twitter and web-based resources.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9127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222" y="1015895"/>
            <a:ext cx="8260527" cy="2158707"/>
          </a:xfrm>
        </p:spPr>
        <p:txBody>
          <a:bodyPr>
            <a:noAutofit/>
          </a:bodyPr>
          <a:lstStyle/>
          <a:p>
            <a:pPr marL="11113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outputs of global initiatives aligned with the national </a:t>
            </a:r>
          </a:p>
          <a:p>
            <a:pPr marL="11113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priorities of G20 member nations and AWG agenda?</a:t>
            </a: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Active participation from multiple government agencies in the activities to ensure the initiatives can address national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priorities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with strong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engagement from members.</a:t>
            </a:r>
          </a:p>
          <a:p>
            <a:pPr marL="11113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endParaRPr lang="en-GB" b="1" cap="all" dirty="0">
              <a:solidFill>
                <a:srgbClr val="008DB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113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6863" indent="-28575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liennummernplatzhalter 5"/>
          <p:cNvSpPr txBox="1">
            <a:spLocks noGrp="1"/>
          </p:cNvSpPr>
          <p:nvPr>
            <p:ph type="sldNum" sz="quarter" idx="2"/>
          </p:nvPr>
        </p:nvSpPr>
        <p:spPr>
          <a:xfrm>
            <a:off x="8457785" y="4988236"/>
            <a:ext cx="235928" cy="35019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800"/>
            </a:lvl1pPr>
          </a:lstStyle>
          <a:p>
            <a:pPr>
              <a:lnSpc>
                <a:spcPct val="150000"/>
              </a:lnSpc>
            </a:pPr>
            <a:fld id="{86CB4B4D-7CA3-9044-876B-883B54F8677D}" type="slidenum">
              <a:rPr>
                <a:latin typeface="Calibri" panose="020F0502020204030204" pitchFamily="34" charset="0"/>
                <a:cs typeface="Calibri" panose="020F0502020204030204" pitchFamily="34" charset="0"/>
              </a:rPr>
              <a:pPr>
                <a:lnSpc>
                  <a:spcPct val="150000"/>
                </a:lnSpc>
              </a:pPr>
              <a:t>9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Wheat Initiative"/>
          <p:cNvSpPr txBox="1">
            <a:spLocks noGrp="1"/>
          </p:cNvSpPr>
          <p:nvPr>
            <p:ph type="title"/>
          </p:nvPr>
        </p:nvSpPr>
        <p:spPr>
          <a:xfrm>
            <a:off x="259085" y="250131"/>
            <a:ext cx="7623988" cy="763602"/>
          </a:xfrm>
          <a:prstGeom prst="rect">
            <a:avLst/>
          </a:prstGeom>
        </p:spPr>
        <p:txBody>
          <a:bodyPr>
            <a:noAutofit/>
          </a:bodyPr>
          <a:lstStyle>
            <a:lvl1pPr defTabSz="397763">
              <a:lnSpc>
                <a:spcPct val="100000"/>
              </a:lnSpc>
              <a:defRPr sz="3400"/>
            </a:lvl1pPr>
          </a:lstStyle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Reflections on questions</a:t>
            </a:r>
            <a:endParaRPr lang="de-DE" sz="2400" b="1" dirty="0">
              <a:solidFill>
                <a:srgbClr val="0D8DB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1906777B-4C2C-DD63-EFD6-B16BE68336FA}"/>
              </a:ext>
            </a:extLst>
          </p:cNvPr>
          <p:cNvSpPr txBox="1">
            <a:spLocks/>
          </p:cNvSpPr>
          <p:nvPr/>
        </p:nvSpPr>
        <p:spPr>
          <a:xfrm>
            <a:off x="315222" y="3315808"/>
            <a:ext cx="8260527" cy="290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23" tIns="91423" rIns="91423" bIns="91423">
            <a:noAutofit/>
          </a:bodyPr>
          <a:lstStyle>
            <a:lvl1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1pPr>
            <a:lvl2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2pPr>
            <a:lvl3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3pPr>
            <a:lvl4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4pPr>
            <a:lvl5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5pPr>
            <a:lvl6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0" marR="0" indent="0" algn="just" defTabSz="91440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pPr marL="11113" algn="l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</a:pPr>
            <a:r>
              <a:rPr lang="en-GB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towards a common goal in 2030 to align with SDG</a:t>
            </a:r>
            <a:r>
              <a:rPr lang="en-GB" sz="1600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b="1" cap="all" dirty="0" smtClean="0">
                <a:solidFill>
                  <a:srgbClr val="008DB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Active engagement of members to define the specific outcomes from each initiative.  </a:t>
            </a: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A mechanism for communication between initiatives to align goals and measures of performance.</a:t>
            </a: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endParaRPr lang="de-DE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endParaRPr lang="de-DE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96863" indent="-285750" algn="l" hangingPunct="1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rgbClr val="8AAD28"/>
              </a:buClr>
              <a:buFont typeface="Arial Narrow" panose="020B0606020202030204" pitchFamily="34" charset="0"/>
              <a:buChar char="—"/>
            </a:pP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2791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Wheat Initiative | Königin-Luise-Straße 19 | 14195 Berlin | Germany…"/>
          <p:cNvSpPr txBox="1"/>
          <p:nvPr/>
        </p:nvSpPr>
        <p:spPr>
          <a:xfrm>
            <a:off x="2060246" y="5180189"/>
            <a:ext cx="5096660" cy="791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defRPr sz="1100">
                <a:latin typeface="+mn-lt"/>
                <a:ea typeface="+mn-ea"/>
                <a:cs typeface="+mn-cs"/>
                <a:sym typeface="Helvetica"/>
              </a:defRPr>
            </a:pPr>
            <a:r>
              <a:rPr sz="1200" dirty="0"/>
              <a:t>Wheat Initiative | </a:t>
            </a:r>
            <a:r>
              <a:rPr sz="1200" dirty="0" err="1"/>
              <a:t>Königin-Luise-Straße</a:t>
            </a:r>
            <a:r>
              <a:rPr sz="1200" dirty="0"/>
              <a:t> 19 | 14195 Berlin | Germany</a:t>
            </a:r>
          </a:p>
          <a:p>
            <a:pPr algn="ctr" defTabSz="9144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defRPr sz="1100">
                <a:latin typeface="+mn-lt"/>
                <a:ea typeface="+mn-ea"/>
                <a:cs typeface="+mn-cs"/>
                <a:sym typeface="Helvetica"/>
              </a:defRPr>
            </a:pPr>
            <a:r>
              <a:rPr sz="1200" dirty="0"/>
              <a:t>E: </a:t>
            </a:r>
            <a:r>
              <a:rPr sz="1200" dirty="0">
                <a:hlinkClick r:id="rId2"/>
              </a:rPr>
              <a:t>wheat.initiative@julius-kuehn.de</a:t>
            </a:r>
            <a:r>
              <a:rPr sz="1200" dirty="0"/>
              <a:t> </a:t>
            </a:r>
          </a:p>
          <a:p>
            <a:pPr algn="ctr" defTabSz="914400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defRPr sz="1100">
                <a:latin typeface="+mn-lt"/>
                <a:ea typeface="+mn-ea"/>
                <a:cs typeface="+mn-cs"/>
                <a:sym typeface="Helvetica"/>
              </a:defRPr>
            </a:pPr>
            <a:r>
              <a:rPr sz="1200" dirty="0"/>
              <a:t>W: </a:t>
            </a:r>
            <a:r>
              <a:rPr sz="1200" dirty="0">
                <a:hlinkClick r:id="rId3"/>
              </a:rPr>
              <a:t>www.wheatinitiative.org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DB28A13-A4C3-A2F9-2299-1D02E84AEEC2}"/>
              </a:ext>
            </a:extLst>
          </p:cNvPr>
          <p:cNvSpPr txBox="1"/>
          <p:nvPr/>
        </p:nvSpPr>
        <p:spPr>
          <a:xfrm>
            <a:off x="2173443" y="3320684"/>
            <a:ext cx="4585252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8AAD2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wheatinitiative.org</a:t>
            </a:r>
          </a:p>
          <a:p>
            <a:pPr algn="ctr"/>
            <a:endParaRPr lang="en-US" sz="2400" dirty="0">
              <a:solidFill>
                <a:srgbClr val="8AAD28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rgbClr val="8AAD2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</a:t>
            </a:r>
            <a:r>
              <a:rPr lang="en-US" sz="2400" dirty="0" err="1">
                <a:solidFill>
                  <a:srgbClr val="8AAD2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WheatInitiative</a:t>
            </a:r>
            <a:endParaRPr lang="en-US" sz="2400" dirty="0">
              <a:solidFill>
                <a:srgbClr val="8AAD28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9DB28A13-A4C3-A2F9-2299-1D02E84AEEC2}"/>
              </a:ext>
            </a:extLst>
          </p:cNvPr>
          <p:cNvSpPr txBox="1"/>
          <p:nvPr/>
        </p:nvSpPr>
        <p:spPr>
          <a:xfrm>
            <a:off x="2173443" y="2216346"/>
            <a:ext cx="458525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8AAD2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10</a:t>
            </a:fld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PT Sans Narrow"/>
        <a:ea typeface="PT Sans Narrow"/>
        <a:cs typeface="PT Sans Narrow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T Sans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T Sans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PT Sans Narrow"/>
        <a:ea typeface="PT Sans Narrow"/>
        <a:cs typeface="PT Sans Narrow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T Sans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T Sans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2632956</vt:lpwstr>
  </property>
  <property fmtid="{D5CDD505-2E9C-101B-9397-08002B2CF9AE}" pid="4" name="OptimizationTime">
    <vt:lpwstr>20230214_1900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Office PowerPoint</Application>
  <PresentationFormat>On-screen Show (4:3)</PresentationFormat>
  <Paragraphs>94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Narrow</vt:lpstr>
      <vt:lpstr>Calibri</vt:lpstr>
      <vt:lpstr>Calibri Light</vt:lpstr>
      <vt:lpstr>Helvetica</vt:lpstr>
      <vt:lpstr>PT Sans Narrow</vt:lpstr>
      <vt:lpstr>Wingdings</vt:lpstr>
      <vt:lpstr>Office</vt:lpstr>
      <vt:lpstr>PowerPoint Presentation</vt:lpstr>
      <vt:lpstr>Wheat Initiative</vt:lpstr>
      <vt:lpstr>Expert working groups</vt:lpstr>
      <vt:lpstr>Progress Since 2021</vt:lpstr>
      <vt:lpstr>Progress Since 2021</vt:lpstr>
      <vt:lpstr>Reflections on questions</vt:lpstr>
      <vt:lpstr>Reflections on questions</vt:lpstr>
      <vt:lpstr>Reflections on questions</vt:lpstr>
      <vt:lpstr>Reflections on 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Wheat initiative</dc:title>
  <dc:creator>Saavedra, Teresa</dc:creator>
  <cp:lastModifiedBy>Saavedra, Teresa</cp:lastModifiedBy>
  <cp:revision>98</cp:revision>
  <cp:lastPrinted>2022-11-30T05:38:06Z</cp:lastPrinted>
  <dcterms:modified xsi:type="dcterms:W3CDTF">2023-02-10T12:59:09Z</dcterms:modified>
</cp:coreProperties>
</file>