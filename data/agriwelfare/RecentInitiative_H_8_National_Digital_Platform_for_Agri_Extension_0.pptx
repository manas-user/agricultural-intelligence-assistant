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5143500" type="screen16x9"/>
  <p:notesSz cx="6858000" cy="9144000"/>
  <p:embeddedFontLst>
    <p:embeddedFont>
      <p:font typeface="Fira Sans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-684" y="-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1d6f68ae9a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21d6f68ae9a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1d6f68ae9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1d6f68ae9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1d6f68ae9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1d6f68ae9a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1d6f68ae9a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1d6f68ae9a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1d6f68ae9a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1d6f68ae9a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2d1f450606_2_2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2d1f450606_2_2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3456837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8F3DF2-4791-30BE-63D0-4C91EC649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51D5EC3-F2CE-1C33-B5AE-E647A8AC2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7E5EF78-82A4-65A0-2ED5-A4DBA7054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D246330-C730-F34A-A97F-3228365F7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5B396AB-F52A-80AD-D9C8-9BE881B1E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8575">
              <a:spcBef>
                <a:spcPts val="41"/>
              </a:spcBef>
            </a:pPr>
            <a:fld id="{81D60167-4931-47E6-BA6A-407CBD079E47}" type="slidenum">
              <a:rPr lang="en-IN" smtClean="0"/>
              <a:pPr marL="28575">
                <a:spcBef>
                  <a:spcPts val="41"/>
                </a:spcBef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326110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t="13359" b="2244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0" y="3819600"/>
            <a:ext cx="9144000" cy="1323900"/>
          </a:xfrm>
          <a:prstGeom prst="rect">
            <a:avLst/>
          </a:prstGeom>
          <a:solidFill>
            <a:srgbClr val="071F5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71F5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74000" y="4142825"/>
            <a:ext cx="40980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200" b="1" i="0" u="none" strike="noStrike" cap="non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National Digital Platform for Agriculture Extension</a:t>
            </a:r>
            <a:endParaRPr sz="2200" b="1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56326" y="4069687"/>
            <a:ext cx="1844199" cy="82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14"/>
          <p:cNvGrpSpPr/>
          <p:nvPr/>
        </p:nvGrpSpPr>
        <p:grpSpPr>
          <a:xfrm>
            <a:off x="268463" y="301463"/>
            <a:ext cx="8607075" cy="4464375"/>
            <a:chOff x="268463" y="301463"/>
            <a:chExt cx="8607075" cy="4464375"/>
          </a:xfrm>
        </p:grpSpPr>
        <p:sp>
          <p:nvSpPr>
            <p:cNvPr id="63" name="Google Shape;63;p14"/>
            <p:cNvSpPr txBox="1"/>
            <p:nvPr/>
          </p:nvSpPr>
          <p:spPr>
            <a:xfrm>
              <a:off x="268463" y="301463"/>
              <a:ext cx="80151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002060"/>
                  </a:solidFill>
                  <a:latin typeface="Fira Sans"/>
                  <a:ea typeface="Fira Sans"/>
                  <a:cs typeface="Fira Sans"/>
                  <a:sym typeface="Fira Sans"/>
                </a:rPr>
                <a:t>National Digital Platform for Agriculture Extension</a:t>
              </a:r>
              <a:endParaRPr sz="15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64" name="Google Shape;64;p14"/>
            <p:cNvSpPr txBox="1"/>
            <p:nvPr/>
          </p:nvSpPr>
          <p:spPr>
            <a:xfrm>
              <a:off x="311738" y="716963"/>
              <a:ext cx="8563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The Ministry of Agriculture &amp; Farmers’ Welfare and Digital Green are building a </a:t>
              </a:r>
              <a:r>
                <a:rPr lang="en" sz="1000" b="1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national digital platform to strengthen the extension system</a:t>
              </a:r>
              <a:r>
                <a:rPr lang="en" sz="10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. This will work with a vast network of extension workers across agriculture, horticulture, fisheries, livestock and rural livelihoods missions to build their </a:t>
              </a:r>
              <a:r>
                <a:rPr lang="en" sz="1000" b="1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digital capacities</a:t>
              </a:r>
              <a:r>
                <a:rPr lang="en" sz="10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, and transform the </a:t>
              </a:r>
              <a:r>
                <a:rPr lang="en" sz="1000" b="1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accessibility of verified knowledge from lab-to-land</a:t>
              </a:r>
              <a:r>
                <a:rPr lang="en" sz="10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 at the farmer-level through </a:t>
              </a:r>
              <a:r>
                <a:rPr lang="en" sz="1000" b="1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audio-video advisories</a:t>
              </a:r>
              <a:r>
                <a:rPr lang="en" sz="100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. </a:t>
              </a:r>
              <a:endParaRPr sz="10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311751" y="1425425"/>
              <a:ext cx="8015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latin typeface="Fira Sans"/>
                  <a:ea typeface="Fira Sans"/>
                  <a:cs typeface="Fira Sans"/>
                  <a:sym typeface="Fira Sans"/>
                </a:rPr>
                <a:t>Fundamental to this digital unification and strengthening is a true model of convergence. The components of the platform include:</a:t>
              </a:r>
              <a:endParaRPr sz="1000"/>
            </a:p>
          </p:txBody>
        </p:sp>
        <p:pic>
          <p:nvPicPr>
            <p:cNvPr id="66" name="Google Shape;66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1455" y="1857188"/>
              <a:ext cx="475325" cy="475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139264" y="2017351"/>
              <a:ext cx="475325" cy="475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" name="Google Shape;68;p14"/>
            <p:cNvSpPr txBox="1"/>
            <p:nvPr/>
          </p:nvSpPr>
          <p:spPr>
            <a:xfrm>
              <a:off x="3057238" y="2532463"/>
              <a:ext cx="23547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A5DE48"/>
                  </a:solidFill>
                  <a:latin typeface="Fira Sans"/>
                  <a:ea typeface="Fira Sans"/>
                  <a:cs typeface="Fira Sans"/>
                  <a:sym typeface="Fira Sans"/>
                </a:rPr>
                <a:t>Learning Management System </a:t>
              </a:r>
              <a:r>
                <a:rPr lang="en" sz="900">
                  <a:solidFill>
                    <a:srgbClr val="3D3D3F"/>
                  </a:solidFill>
                  <a:latin typeface="Fira Sans"/>
                  <a:ea typeface="Fira Sans"/>
                  <a:cs typeface="Fira Sans"/>
                  <a:sym typeface="Fira Sans"/>
                </a:rPr>
                <a:t>of frontline extension workers through a self-paced, interesting easy to use modules</a:t>
              </a:r>
              <a:endParaRPr sz="900">
                <a:solidFill>
                  <a:srgbClr val="3D3D3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69" name="Google Shape;69;p14"/>
            <p:cNvSpPr txBox="1"/>
            <p:nvPr/>
          </p:nvSpPr>
          <p:spPr>
            <a:xfrm>
              <a:off x="5732288" y="2532463"/>
              <a:ext cx="27948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A5DE48"/>
                  </a:solidFill>
                  <a:latin typeface="Fira Sans"/>
                  <a:ea typeface="Fira Sans"/>
                  <a:cs typeface="Fira Sans"/>
                  <a:sym typeface="Fira Sans"/>
                </a:rPr>
                <a:t>Feedback Management System </a:t>
              </a:r>
              <a:r>
                <a:rPr lang="en" sz="900">
                  <a:solidFill>
                    <a:srgbClr val="3D3D3F"/>
                  </a:solidFill>
                  <a:latin typeface="Fira Sans"/>
                  <a:ea typeface="Fira Sans"/>
                  <a:cs typeface="Fira Sans"/>
                  <a:sym typeface="Fira Sans"/>
                </a:rPr>
                <a:t>that helps to collect timely feedback that can be analysed at all levels for strengthening the content and capacity for the extension system </a:t>
              </a:r>
              <a:endParaRPr sz="900">
                <a:solidFill>
                  <a:srgbClr val="3D3D3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0" name="Google Shape;70;p14"/>
            <p:cNvSpPr txBox="1"/>
            <p:nvPr/>
          </p:nvSpPr>
          <p:spPr>
            <a:xfrm>
              <a:off x="312638" y="2532438"/>
              <a:ext cx="26274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A5DE48"/>
                  </a:solidFill>
                  <a:latin typeface="Fira Sans"/>
                  <a:ea typeface="Fira Sans"/>
                  <a:cs typeface="Fira Sans"/>
                  <a:sym typeface="Fira Sans"/>
                </a:rPr>
                <a:t>Content Management</a:t>
              </a:r>
              <a:r>
                <a:rPr lang="en" sz="900">
                  <a:solidFill>
                    <a:srgbClr val="3D3D3F"/>
                  </a:solidFill>
                  <a:latin typeface="Fira Sans"/>
                  <a:ea typeface="Fira Sans"/>
                  <a:cs typeface="Fira Sans"/>
                  <a:sym typeface="Fira Sans"/>
                </a:rPr>
                <a:t> </a:t>
              </a:r>
              <a:r>
                <a:rPr lang="en" sz="900" b="1">
                  <a:solidFill>
                    <a:srgbClr val="A5DE48"/>
                  </a:solidFill>
                  <a:latin typeface="Fira Sans"/>
                  <a:ea typeface="Fira Sans"/>
                  <a:cs typeface="Fira Sans"/>
                  <a:sym typeface="Fira Sans"/>
                </a:rPr>
                <a:t>System </a:t>
              </a:r>
              <a:r>
                <a:rPr lang="en" sz="900">
                  <a:solidFill>
                    <a:srgbClr val="3D3D3F"/>
                  </a:solidFill>
                  <a:latin typeface="Fira Sans"/>
                  <a:ea typeface="Fira Sans"/>
                  <a:cs typeface="Fira Sans"/>
                  <a:sym typeface="Fira Sans"/>
                </a:rPr>
                <a:t>that has components of audio/visual and reference reading materials on agriculture and allied sectors, govt. schemes. </a:t>
              </a:r>
              <a:endParaRPr sz="900">
                <a:solidFill>
                  <a:srgbClr val="3D3D3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pic>
          <p:nvPicPr>
            <p:cNvPr id="71" name="Google Shape;71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72513" y="2017345"/>
              <a:ext cx="475325" cy="4753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p14"/>
            <p:cNvSpPr txBox="1"/>
            <p:nvPr/>
          </p:nvSpPr>
          <p:spPr>
            <a:xfrm>
              <a:off x="273488" y="3366913"/>
              <a:ext cx="8091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just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Our aim is to strengthen the capacity of the Agriculture Extension System through a unified digital platform to achieve following objectives:</a:t>
              </a:r>
              <a:endParaRPr sz="1000" b="1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344763" y="4165538"/>
              <a:ext cx="25854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900" b="1" i="0" u="none" strike="noStrike" cap="none">
                  <a:solidFill>
                    <a:srgbClr val="A5DE48"/>
                  </a:solidFill>
                  <a:latin typeface="Fira Sans"/>
                  <a:ea typeface="Fira Sans"/>
                  <a:cs typeface="Fira Sans"/>
                  <a:sym typeface="Fira Sans"/>
                </a:rPr>
                <a:t>Skills and capacity enhancement </a:t>
              </a:r>
              <a:r>
                <a:rPr lang="en" sz="900" b="0" i="0" u="none" strike="noStrike" cap="none">
                  <a:solidFill>
                    <a:srgbClr val="3D3D3F"/>
                  </a:solidFill>
                  <a:latin typeface="Fira Sans"/>
                  <a:ea typeface="Fira Sans"/>
                  <a:cs typeface="Fira Sans"/>
                  <a:sym typeface="Fira Sans"/>
                </a:rPr>
                <a:t>of frontline extension system through a self-paced, interesting easy to use modules</a:t>
              </a:r>
              <a:endParaRPr sz="900" b="0" i="0" u="none" strike="noStrike" cap="none">
                <a:solidFill>
                  <a:srgbClr val="3D3D3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4" name="Google Shape;74;p14"/>
            <p:cNvSpPr txBox="1"/>
            <p:nvPr/>
          </p:nvSpPr>
          <p:spPr>
            <a:xfrm>
              <a:off x="3254526" y="4165538"/>
              <a:ext cx="22056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900" b="1" i="0" u="none" strike="noStrike" cap="none">
                  <a:solidFill>
                    <a:srgbClr val="A5DE48"/>
                  </a:solidFill>
                  <a:latin typeface="Fira Sans"/>
                  <a:ea typeface="Fira Sans"/>
                  <a:cs typeface="Fira Sans"/>
                  <a:sym typeface="Fira Sans"/>
                </a:rPr>
                <a:t>Continuous data enrichment </a:t>
              </a:r>
              <a:r>
                <a:rPr lang="en" sz="900" b="0" i="0" u="none" strike="noStrike" cap="none">
                  <a:solidFill>
                    <a:srgbClr val="3D3D3F"/>
                  </a:solidFill>
                  <a:latin typeface="Fira Sans"/>
                  <a:ea typeface="Fira Sans"/>
                  <a:cs typeface="Fira Sans"/>
                  <a:sym typeface="Fira Sans"/>
                </a:rPr>
                <a:t>that forms the foundation for efficiency and impact of digital agriculture</a:t>
              </a:r>
              <a:endParaRPr sz="900" b="0" i="0" u="none" strike="noStrike" cap="none">
                <a:solidFill>
                  <a:srgbClr val="3D3D3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5" name="Google Shape;75;p14"/>
            <p:cNvSpPr txBox="1"/>
            <p:nvPr/>
          </p:nvSpPr>
          <p:spPr>
            <a:xfrm>
              <a:off x="5784513" y="4165538"/>
              <a:ext cx="24768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900" b="0" i="0" u="none" strike="noStrike" cap="none">
                  <a:solidFill>
                    <a:srgbClr val="3D3D3F"/>
                  </a:solidFill>
                  <a:latin typeface="Fira Sans"/>
                  <a:ea typeface="Fira Sans"/>
                  <a:cs typeface="Fira Sans"/>
                  <a:sym typeface="Fira Sans"/>
                </a:rPr>
                <a:t>A </a:t>
              </a:r>
              <a:r>
                <a:rPr lang="en" sz="900" b="1" i="0" u="none" strike="noStrike" cap="none">
                  <a:solidFill>
                    <a:srgbClr val="A5DE48"/>
                  </a:solidFill>
                  <a:latin typeface="Fira Sans"/>
                  <a:ea typeface="Fira Sans"/>
                  <a:cs typeface="Fira Sans"/>
                  <a:sym typeface="Fira Sans"/>
                </a:rPr>
                <a:t>digital platform</a:t>
              </a:r>
              <a:r>
                <a:rPr lang="en" sz="900" b="0" i="0" u="none" strike="noStrike" cap="none">
                  <a:solidFill>
                    <a:srgbClr val="3D3D3F"/>
                  </a:solidFill>
                  <a:latin typeface="Fira Sans"/>
                  <a:ea typeface="Fira Sans"/>
                  <a:cs typeface="Fira Sans"/>
                  <a:sym typeface="Fira Sans"/>
                </a:rPr>
                <a:t> that has components of content management, capacity building &amp; feedback mechanism</a:t>
              </a:r>
              <a:endParaRPr sz="900" b="0" i="0" u="none" strike="noStrike" cap="none">
                <a:solidFill>
                  <a:srgbClr val="3D3D3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6" name="Google Shape;76;p14"/>
            <p:cNvSpPr txBox="1"/>
            <p:nvPr/>
          </p:nvSpPr>
          <p:spPr>
            <a:xfrm>
              <a:off x="361263" y="3801188"/>
              <a:ext cx="622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071F58"/>
                  </a:solidFill>
                  <a:latin typeface="Fira Sans"/>
                  <a:ea typeface="Fira Sans"/>
                  <a:cs typeface="Fira Sans"/>
                  <a:sym typeface="Fira Sans"/>
                </a:rPr>
                <a:t>01</a:t>
              </a:r>
              <a:endParaRPr sz="1600">
                <a:solidFill>
                  <a:srgbClr val="071F58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7" name="Google Shape;77;p14"/>
            <p:cNvSpPr txBox="1"/>
            <p:nvPr/>
          </p:nvSpPr>
          <p:spPr>
            <a:xfrm>
              <a:off x="3254538" y="3801188"/>
              <a:ext cx="622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071F58"/>
                  </a:solidFill>
                  <a:latin typeface="Fira Sans"/>
                  <a:ea typeface="Fira Sans"/>
                  <a:cs typeface="Fira Sans"/>
                  <a:sym typeface="Fira Sans"/>
                </a:rPr>
                <a:t>02</a:t>
              </a:r>
              <a:endParaRPr sz="1600">
                <a:solidFill>
                  <a:srgbClr val="071F58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78" name="Google Shape;78;p14"/>
            <p:cNvSpPr txBox="1"/>
            <p:nvPr/>
          </p:nvSpPr>
          <p:spPr>
            <a:xfrm>
              <a:off x="5781790" y="3801188"/>
              <a:ext cx="622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071F58"/>
                  </a:solidFill>
                  <a:latin typeface="Fira Sans"/>
                  <a:ea typeface="Fira Sans"/>
                  <a:cs typeface="Fira Sans"/>
                  <a:sym typeface="Fira Sans"/>
                </a:rPr>
                <a:t>03</a:t>
              </a:r>
              <a:endParaRPr sz="1600">
                <a:solidFill>
                  <a:srgbClr val="071F58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/>
        </p:nvSpPr>
        <p:spPr>
          <a:xfrm>
            <a:off x="378650" y="442250"/>
            <a:ext cx="801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Program Plan</a:t>
            </a:r>
            <a:endParaRPr sz="18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378650" y="903950"/>
            <a:ext cx="47637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The Program is designed with the digital platform as its backbone and functions into the following implementation Streams -</a:t>
            </a:r>
            <a:endParaRPr sz="1100" b="1"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450625" y="2395250"/>
            <a:ext cx="16659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A5DE48"/>
                </a:solidFill>
                <a:latin typeface="Fira Sans"/>
                <a:ea typeface="Fira Sans"/>
                <a:cs typeface="Fira Sans"/>
                <a:sym typeface="Fira Sans"/>
              </a:rPr>
              <a:t>Pool of National Level Master Trainers</a:t>
            </a:r>
            <a:r>
              <a:rPr lang="en" sz="1100">
                <a:solidFill>
                  <a:srgbClr val="A5DE48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Who are capacitated to train content creators and mentor front line workers in support with the KVKs</a:t>
            </a:r>
            <a:endParaRPr sz="9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457800" y="1795225"/>
            <a:ext cx="582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A5DE48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sz="3000" b="1">
              <a:solidFill>
                <a:srgbClr val="A5DE48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2371613" y="2441725"/>
            <a:ext cx="19125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 well trained and oriented </a:t>
            </a:r>
            <a:r>
              <a:rPr lang="en" sz="1100" b="1">
                <a:solidFill>
                  <a:srgbClr val="A5DE48"/>
                </a:solidFill>
                <a:latin typeface="Fira Sans"/>
                <a:ea typeface="Fira Sans"/>
                <a:cs typeface="Fira Sans"/>
                <a:sym typeface="Fira Sans"/>
              </a:rPr>
              <a:t>unit of audio/video production</a:t>
            </a:r>
            <a:r>
              <a:rPr lang="en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with experts in script writing, production and editing, established at the district level in all states</a:t>
            </a:r>
            <a:endParaRPr sz="1100" b="1">
              <a:solidFill>
                <a:srgbClr val="A5DE48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2371613" y="1783775"/>
            <a:ext cx="642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A5DE48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sz="3000" b="1">
              <a:solidFill>
                <a:srgbClr val="A5DE48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4539225" y="2441725"/>
            <a:ext cx="18261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A5DE48"/>
                </a:solidFill>
                <a:latin typeface="Fira Sans"/>
                <a:ea typeface="Fira Sans"/>
                <a:cs typeface="Fira Sans"/>
                <a:sym typeface="Fira Sans"/>
              </a:rPr>
              <a:t>Content library </a:t>
            </a:r>
            <a:r>
              <a:rPr lang="en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that is customised and contextualised for the needs of each district with a convergence from all agriculture and allied sectors to serve specific needs of the community</a:t>
            </a:r>
            <a:endParaRPr sz="11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4539225" y="1783775"/>
            <a:ext cx="642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A5DE48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sz="3000" b="1">
              <a:solidFill>
                <a:srgbClr val="A5DE48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6620425" y="2453175"/>
            <a:ext cx="19893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 progressive, </a:t>
            </a:r>
            <a:r>
              <a:rPr lang="en" sz="1100" b="1">
                <a:solidFill>
                  <a:srgbClr val="A5DE48"/>
                </a:solidFill>
                <a:latin typeface="Fira Sans"/>
                <a:ea typeface="Fira Sans"/>
                <a:cs typeface="Fira Sans"/>
                <a:sym typeface="Fira Sans"/>
              </a:rPr>
              <a:t>self learning and certified courseware</a:t>
            </a:r>
            <a:r>
              <a:rPr lang="en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for the frontline workers to enhance their digital skills, mobilisation skills and farmer focussed approach to behavioural change </a:t>
            </a:r>
            <a:endParaRPr sz="1100" b="1">
              <a:solidFill>
                <a:srgbClr val="A5DE48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6620425" y="1795225"/>
            <a:ext cx="642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A5DE48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sz="3000" b="1">
              <a:solidFill>
                <a:srgbClr val="A5DE48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93" name="Google Shape;93;p15"/>
          <p:cNvCxnSpPr/>
          <p:nvPr/>
        </p:nvCxnSpPr>
        <p:spPr>
          <a:xfrm>
            <a:off x="2197100" y="1823175"/>
            <a:ext cx="7200" cy="1999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" name="Google Shape;94;p15"/>
          <p:cNvCxnSpPr/>
          <p:nvPr/>
        </p:nvCxnSpPr>
        <p:spPr>
          <a:xfrm>
            <a:off x="4364875" y="1823175"/>
            <a:ext cx="7200" cy="1999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" name="Google Shape;95;p15"/>
          <p:cNvCxnSpPr/>
          <p:nvPr/>
        </p:nvCxnSpPr>
        <p:spPr>
          <a:xfrm>
            <a:off x="6489275" y="1823175"/>
            <a:ext cx="7200" cy="19998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6" name="Google Shape;96;p15"/>
          <p:cNvSpPr/>
          <p:nvPr/>
        </p:nvSpPr>
        <p:spPr>
          <a:xfrm rot="-5400000">
            <a:off x="8378384" y="439450"/>
            <a:ext cx="1204800" cy="326100"/>
          </a:xfrm>
          <a:prstGeom prst="rect">
            <a:avLst/>
          </a:prstGeom>
          <a:solidFill>
            <a:srgbClr val="A5DE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A5DE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7944900" y="0"/>
            <a:ext cx="1199100" cy="327900"/>
          </a:xfrm>
          <a:prstGeom prst="rect">
            <a:avLst/>
          </a:prstGeom>
          <a:solidFill>
            <a:srgbClr val="A5DE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A5DE4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/>
          <p:nvPr/>
        </p:nvSpPr>
        <p:spPr>
          <a:xfrm>
            <a:off x="251700" y="2215375"/>
            <a:ext cx="5570700" cy="2698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1816863" y="1215013"/>
            <a:ext cx="594300" cy="36900"/>
          </a:xfrm>
          <a:prstGeom prst="roundRect">
            <a:avLst>
              <a:gd name="adj" fmla="val 50000"/>
            </a:avLst>
          </a:prstGeom>
          <a:solidFill>
            <a:srgbClr val="A5DE48"/>
          </a:solidFill>
          <a:ln w="9525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954622" y="924050"/>
            <a:ext cx="594300" cy="594300"/>
          </a:xfrm>
          <a:prstGeom prst="ellipse">
            <a:avLst/>
          </a:prstGeom>
          <a:solidFill>
            <a:srgbClr val="A5DE48"/>
          </a:solidFill>
          <a:ln w="38100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1031153" y="1017531"/>
            <a:ext cx="436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sz="13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2109650" y="1577025"/>
            <a:ext cx="1854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Decision &amp; identification (commodity, geography, content source &amp; FLWs)</a:t>
            </a:r>
            <a:endParaRPr sz="900"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2679118" y="924050"/>
            <a:ext cx="594300" cy="594300"/>
          </a:xfrm>
          <a:prstGeom prst="ellipse">
            <a:avLst/>
          </a:prstGeom>
          <a:solidFill>
            <a:srgbClr val="A5DE48"/>
          </a:solidFill>
          <a:ln w="38100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2755649" y="1017531"/>
            <a:ext cx="436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sz="13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4383052" y="924050"/>
            <a:ext cx="594300" cy="594300"/>
          </a:xfrm>
          <a:prstGeom prst="ellipse">
            <a:avLst/>
          </a:prstGeom>
          <a:solidFill>
            <a:srgbClr val="A5DE48"/>
          </a:solidFill>
          <a:ln w="38100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4459583" y="1017531"/>
            <a:ext cx="436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sz="13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3531088" y="1215013"/>
            <a:ext cx="594300" cy="36900"/>
          </a:xfrm>
          <a:prstGeom prst="roundRect">
            <a:avLst>
              <a:gd name="adj" fmla="val 50000"/>
            </a:avLst>
          </a:prstGeom>
          <a:solidFill>
            <a:srgbClr val="A5DE48"/>
          </a:solidFill>
          <a:ln w="9525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3963654" y="1577025"/>
            <a:ext cx="211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Capacity &amp; Infrastructure</a:t>
            </a:r>
            <a:endParaRPr sz="900"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(Training of MTs, Establishment of Video Production Units)</a:t>
            </a:r>
            <a:endParaRPr sz="900"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435050" y="1595975"/>
            <a:ext cx="1629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Constitution of CWG (Content Working Group)</a:t>
            </a:r>
            <a:endParaRPr sz="6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1107450" y="298375"/>
            <a:ext cx="385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Content Management System</a:t>
            </a:r>
            <a:endParaRPr sz="18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15" name="Google Shape;11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925" y="219225"/>
            <a:ext cx="404350" cy="404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" name="Google Shape;116;p16"/>
          <p:cNvCxnSpPr/>
          <p:nvPr/>
        </p:nvCxnSpPr>
        <p:spPr>
          <a:xfrm>
            <a:off x="1056225" y="235125"/>
            <a:ext cx="0" cy="4461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7" name="Google Shape;117;p16"/>
          <p:cNvSpPr/>
          <p:nvPr/>
        </p:nvSpPr>
        <p:spPr>
          <a:xfrm>
            <a:off x="1833813" y="2666988"/>
            <a:ext cx="594300" cy="36900"/>
          </a:xfrm>
          <a:prstGeom prst="roundRect">
            <a:avLst>
              <a:gd name="adj" fmla="val 50000"/>
            </a:avLst>
          </a:prstGeom>
          <a:solidFill>
            <a:srgbClr val="A5DE48"/>
          </a:solidFill>
          <a:ln w="9525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971572" y="2376025"/>
            <a:ext cx="594300" cy="594300"/>
          </a:xfrm>
          <a:prstGeom prst="ellipse">
            <a:avLst/>
          </a:prstGeom>
          <a:solidFill>
            <a:srgbClr val="A5DE48"/>
          </a:solidFill>
          <a:ln w="38100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1048103" y="2469506"/>
            <a:ext cx="436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sz="13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2059325" y="3029000"/>
            <a:ext cx="1854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Pool of advisory</a:t>
            </a:r>
            <a:endParaRPr sz="900"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(Repurposing, creation of generic videos &amp; PoP videos)</a:t>
            </a:r>
            <a:endParaRPr sz="900"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2696068" y="2376025"/>
            <a:ext cx="594300" cy="594300"/>
          </a:xfrm>
          <a:prstGeom prst="ellipse">
            <a:avLst/>
          </a:prstGeom>
          <a:solidFill>
            <a:srgbClr val="A5DE48"/>
          </a:solidFill>
          <a:ln w="38100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2772599" y="2469506"/>
            <a:ext cx="436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05</a:t>
            </a:r>
            <a:endParaRPr sz="13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4400002" y="2376025"/>
            <a:ext cx="594300" cy="594300"/>
          </a:xfrm>
          <a:prstGeom prst="ellipse">
            <a:avLst/>
          </a:prstGeom>
          <a:solidFill>
            <a:srgbClr val="A5DE48"/>
          </a:solidFill>
          <a:ln w="38100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4476533" y="2469506"/>
            <a:ext cx="436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06</a:t>
            </a:r>
            <a:endParaRPr sz="13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3548038" y="2666988"/>
            <a:ext cx="594300" cy="36900"/>
          </a:xfrm>
          <a:prstGeom prst="roundRect">
            <a:avLst>
              <a:gd name="adj" fmla="val 50000"/>
            </a:avLst>
          </a:prstGeom>
          <a:solidFill>
            <a:srgbClr val="A5DE48"/>
          </a:solidFill>
          <a:ln w="9525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4140196" y="3022925"/>
            <a:ext cx="1113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Approvals &amp; verification</a:t>
            </a:r>
            <a:endParaRPr sz="900"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655675" y="3022925"/>
            <a:ext cx="1226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Content sourcing through CWG</a:t>
            </a:r>
            <a:endParaRPr sz="900"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1872150" y="4004863"/>
            <a:ext cx="594300" cy="36900"/>
          </a:xfrm>
          <a:prstGeom prst="roundRect">
            <a:avLst>
              <a:gd name="adj" fmla="val 50000"/>
            </a:avLst>
          </a:prstGeom>
          <a:solidFill>
            <a:srgbClr val="A5DE48"/>
          </a:solidFill>
          <a:ln w="9525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1009909" y="3713900"/>
            <a:ext cx="594300" cy="594300"/>
          </a:xfrm>
          <a:prstGeom prst="ellipse">
            <a:avLst/>
          </a:prstGeom>
          <a:solidFill>
            <a:srgbClr val="A5DE48"/>
          </a:solidFill>
          <a:ln w="38100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1086441" y="3807381"/>
            <a:ext cx="436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07</a:t>
            </a:r>
            <a:endParaRPr sz="13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2441475" y="4360800"/>
            <a:ext cx="1175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Quality assurances &amp; feedback</a:t>
            </a:r>
            <a:endParaRPr sz="6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2734405" y="3713900"/>
            <a:ext cx="594300" cy="594300"/>
          </a:xfrm>
          <a:prstGeom prst="ellipse">
            <a:avLst/>
          </a:prstGeom>
          <a:solidFill>
            <a:srgbClr val="A5DE48"/>
          </a:solidFill>
          <a:ln w="38100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2810937" y="3807381"/>
            <a:ext cx="436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08</a:t>
            </a:r>
            <a:endParaRPr sz="13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4438339" y="3713900"/>
            <a:ext cx="594300" cy="594300"/>
          </a:xfrm>
          <a:prstGeom prst="ellipse">
            <a:avLst/>
          </a:prstGeom>
          <a:solidFill>
            <a:srgbClr val="A5DE48"/>
          </a:solidFill>
          <a:ln w="38100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4514870" y="3807381"/>
            <a:ext cx="436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09</a:t>
            </a:r>
            <a:endParaRPr sz="13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3586375" y="4004863"/>
            <a:ext cx="594300" cy="36900"/>
          </a:xfrm>
          <a:prstGeom prst="roundRect">
            <a:avLst>
              <a:gd name="adj" fmla="val 50000"/>
            </a:avLst>
          </a:prstGeom>
          <a:solidFill>
            <a:srgbClr val="A5DE48"/>
          </a:solidFill>
          <a:ln w="9525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4091574" y="4360800"/>
            <a:ext cx="1283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Documentation of farmer innovations</a:t>
            </a:r>
            <a:endParaRPr sz="900"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694013" y="4360800"/>
            <a:ext cx="1226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Uploading on the platform</a:t>
            </a:r>
            <a:endParaRPr sz="900"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39" name="Google Shape;139;p16"/>
          <p:cNvCxnSpPr/>
          <p:nvPr/>
        </p:nvCxnSpPr>
        <p:spPr>
          <a:xfrm rot="10800000">
            <a:off x="4090100" y="4913775"/>
            <a:ext cx="1180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0" name="Google Shape;140;p16"/>
          <p:cNvCxnSpPr/>
          <p:nvPr/>
        </p:nvCxnSpPr>
        <p:spPr>
          <a:xfrm flipH="1">
            <a:off x="2292925" y="4909575"/>
            <a:ext cx="1411200" cy="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1" name="Google Shape;141;p16"/>
          <p:cNvCxnSpPr/>
          <p:nvPr/>
        </p:nvCxnSpPr>
        <p:spPr>
          <a:xfrm rot="10800000">
            <a:off x="663650" y="4913775"/>
            <a:ext cx="117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2" name="Google Shape;142;p16"/>
          <p:cNvCxnSpPr/>
          <p:nvPr/>
        </p:nvCxnSpPr>
        <p:spPr>
          <a:xfrm rot="10800000">
            <a:off x="251650" y="3564875"/>
            <a:ext cx="11100" cy="93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3" name="Google Shape;143;p16"/>
          <p:cNvCxnSpPr/>
          <p:nvPr/>
        </p:nvCxnSpPr>
        <p:spPr>
          <a:xfrm rot="10800000">
            <a:off x="262750" y="2563800"/>
            <a:ext cx="0" cy="79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4" name="Google Shape;144;p16"/>
          <p:cNvCxnSpPr/>
          <p:nvPr/>
        </p:nvCxnSpPr>
        <p:spPr>
          <a:xfrm rot="10800000">
            <a:off x="4160175" y="2227631"/>
            <a:ext cx="1180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45" name="Google Shape;145;p16"/>
          <p:cNvCxnSpPr/>
          <p:nvPr/>
        </p:nvCxnSpPr>
        <p:spPr>
          <a:xfrm flipH="1">
            <a:off x="2363000" y="2223431"/>
            <a:ext cx="1411200" cy="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46" name="Google Shape;146;p16"/>
          <p:cNvCxnSpPr/>
          <p:nvPr/>
        </p:nvCxnSpPr>
        <p:spPr>
          <a:xfrm rot="10800000">
            <a:off x="733725" y="2227631"/>
            <a:ext cx="117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47" name="Google Shape;147;p16"/>
          <p:cNvCxnSpPr/>
          <p:nvPr/>
        </p:nvCxnSpPr>
        <p:spPr>
          <a:xfrm rot="10800000">
            <a:off x="5822584" y="3564875"/>
            <a:ext cx="11100" cy="93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48" name="Google Shape;148;p16"/>
          <p:cNvCxnSpPr/>
          <p:nvPr/>
        </p:nvCxnSpPr>
        <p:spPr>
          <a:xfrm rot="10800000">
            <a:off x="5833684" y="2563800"/>
            <a:ext cx="0" cy="79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49" name="Google Shape;149;p16"/>
          <p:cNvSpPr/>
          <p:nvPr/>
        </p:nvSpPr>
        <p:spPr>
          <a:xfrm>
            <a:off x="6406900" y="574800"/>
            <a:ext cx="2517600" cy="2538900"/>
          </a:xfrm>
          <a:prstGeom prst="rect">
            <a:avLst/>
          </a:prstGeom>
          <a:solidFill>
            <a:srgbClr val="071F58"/>
          </a:solidFill>
          <a:ln w="9525" cap="flat" cmpd="sng">
            <a:solidFill>
              <a:srgbClr val="071F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395925" y="222925"/>
            <a:ext cx="2517600" cy="404400"/>
          </a:xfrm>
          <a:prstGeom prst="rect">
            <a:avLst/>
          </a:prstGeom>
          <a:solidFill>
            <a:srgbClr val="A5DE48"/>
          </a:solidFill>
          <a:ln w="9525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6549150" y="653400"/>
            <a:ext cx="2117100" cy="23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FLW app</a:t>
            </a:r>
            <a:r>
              <a:rPr lang="en" sz="105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for categorised and relevant advisory buckets </a:t>
            </a:r>
            <a:endParaRPr sz="105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Additional materials for reference</a:t>
            </a:r>
            <a:r>
              <a:rPr lang="en" sz="105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(audio, PDF documents, expert videos)</a:t>
            </a:r>
            <a:endParaRPr sz="105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Search engine</a:t>
            </a:r>
            <a:r>
              <a:rPr lang="en" sz="105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to pull advisory</a:t>
            </a:r>
            <a:endParaRPr sz="105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5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5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Backend dashboards</a:t>
            </a:r>
            <a:r>
              <a:rPr lang="en" sz="105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for approval and uploading for different content sources</a:t>
            </a:r>
            <a:endParaRPr sz="1000"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6492606" y="266388"/>
            <a:ext cx="3442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500" b="1">
                <a:solidFill>
                  <a:srgbClr val="071F58"/>
                </a:solidFill>
                <a:latin typeface="Fira Sans"/>
                <a:ea typeface="Fira Sans"/>
                <a:cs typeface="Fira Sans"/>
                <a:sym typeface="Fira Sans"/>
              </a:rPr>
              <a:t>Key Components</a:t>
            </a:r>
            <a:endParaRPr sz="1500" b="1" i="0" u="none" strike="noStrike" cap="none">
              <a:solidFill>
                <a:srgbClr val="071F58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53" name="Google Shape;153;p16"/>
          <p:cNvPicPr preferRelativeResize="0"/>
          <p:nvPr/>
        </p:nvPicPr>
        <p:blipFill rotWithShape="1">
          <a:blip r:embed="rId4">
            <a:alphaModFix/>
          </a:blip>
          <a:srcRect l="-8700" t="-208960" r="-7308" b="-16878"/>
          <a:stretch/>
        </p:blipFill>
        <p:spPr>
          <a:xfrm>
            <a:off x="6184900" y="0"/>
            <a:ext cx="2920724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918" y="255993"/>
            <a:ext cx="404350" cy="40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1107450" y="298375"/>
            <a:ext cx="385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Learning Management System</a:t>
            </a:r>
            <a:endParaRPr sz="18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60" name="Google Shape;160;p17"/>
          <p:cNvCxnSpPr/>
          <p:nvPr/>
        </p:nvCxnSpPr>
        <p:spPr>
          <a:xfrm>
            <a:off x="1056225" y="235125"/>
            <a:ext cx="0" cy="4461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" name="Google Shape;161;p17"/>
          <p:cNvSpPr/>
          <p:nvPr/>
        </p:nvSpPr>
        <p:spPr>
          <a:xfrm>
            <a:off x="515934" y="1149325"/>
            <a:ext cx="594300" cy="594300"/>
          </a:xfrm>
          <a:prstGeom prst="ellipse">
            <a:avLst/>
          </a:prstGeom>
          <a:solidFill>
            <a:srgbClr val="A5DE48"/>
          </a:solidFill>
          <a:ln w="38100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sz="13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1733505" y="1149325"/>
            <a:ext cx="594300" cy="594300"/>
          </a:xfrm>
          <a:prstGeom prst="ellipse">
            <a:avLst/>
          </a:prstGeom>
          <a:solidFill>
            <a:srgbClr val="A5DE48"/>
          </a:solidFill>
          <a:ln w="38100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sz="13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2951064" y="1149325"/>
            <a:ext cx="594300" cy="594300"/>
          </a:xfrm>
          <a:prstGeom prst="ellipse">
            <a:avLst/>
          </a:prstGeom>
          <a:solidFill>
            <a:srgbClr val="A5DE48"/>
          </a:solidFill>
          <a:ln w="38100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sz="13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4168653" y="1149325"/>
            <a:ext cx="594300" cy="594300"/>
          </a:xfrm>
          <a:prstGeom prst="ellipse">
            <a:avLst/>
          </a:prstGeom>
          <a:solidFill>
            <a:srgbClr val="A5DE48"/>
          </a:solidFill>
          <a:ln w="38100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sz="13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5386231" y="1149325"/>
            <a:ext cx="594300" cy="594300"/>
          </a:xfrm>
          <a:prstGeom prst="ellipse">
            <a:avLst/>
          </a:prstGeom>
          <a:solidFill>
            <a:srgbClr val="A5DE48"/>
          </a:solidFill>
          <a:ln w="38100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05</a:t>
            </a:r>
            <a:endParaRPr sz="13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6603806" y="1149325"/>
            <a:ext cx="594300" cy="594300"/>
          </a:xfrm>
          <a:prstGeom prst="ellipse">
            <a:avLst/>
          </a:prstGeom>
          <a:solidFill>
            <a:srgbClr val="A5DE48"/>
          </a:solidFill>
          <a:ln w="38100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 06</a:t>
            </a:r>
            <a:endParaRPr sz="13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7821381" y="1149325"/>
            <a:ext cx="594300" cy="594300"/>
          </a:xfrm>
          <a:prstGeom prst="ellipse">
            <a:avLst/>
          </a:prstGeom>
          <a:solidFill>
            <a:srgbClr val="A5DE48"/>
          </a:solidFill>
          <a:ln w="38100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07</a:t>
            </a:r>
            <a:endParaRPr sz="13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141750" y="1819775"/>
            <a:ext cx="1265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ASCI certified framework for FLW level courseware </a:t>
            </a:r>
            <a:endParaRPr sz="10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1398100" y="1821700"/>
            <a:ext cx="1265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Learning materials for courseware with assessments</a:t>
            </a:r>
            <a:endParaRPr sz="10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3871350" y="1819775"/>
            <a:ext cx="1265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Progressive, self-learning courseware</a:t>
            </a:r>
            <a:endParaRPr sz="10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2744563" y="1819775"/>
            <a:ext cx="1067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MANAGE approves and launches LMS</a:t>
            </a:r>
            <a:endParaRPr sz="10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5149675" y="1821700"/>
            <a:ext cx="1067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Incentivisation on course completion</a:t>
            </a:r>
            <a:endParaRPr sz="10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6276462" y="1819775"/>
            <a:ext cx="1265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Core components of courseware - regular updates</a:t>
            </a:r>
            <a:endParaRPr sz="10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7539525" y="1821700"/>
            <a:ext cx="1158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Feedback &amp; Monitoring</a:t>
            </a:r>
            <a:endParaRPr sz="10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1277563" y="1428025"/>
            <a:ext cx="288600" cy="36900"/>
          </a:xfrm>
          <a:prstGeom prst="roundRect">
            <a:avLst>
              <a:gd name="adj" fmla="val 50000"/>
            </a:avLst>
          </a:prstGeom>
          <a:solidFill>
            <a:srgbClr val="A5DE48"/>
          </a:solidFill>
          <a:ln w="9525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2495125" y="1428025"/>
            <a:ext cx="288600" cy="36900"/>
          </a:xfrm>
          <a:prstGeom prst="roundRect">
            <a:avLst>
              <a:gd name="adj" fmla="val 50000"/>
            </a:avLst>
          </a:prstGeom>
          <a:solidFill>
            <a:srgbClr val="A5DE48"/>
          </a:solidFill>
          <a:ln w="9525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3712713" y="1428025"/>
            <a:ext cx="288600" cy="36900"/>
          </a:xfrm>
          <a:prstGeom prst="roundRect">
            <a:avLst>
              <a:gd name="adj" fmla="val 50000"/>
            </a:avLst>
          </a:prstGeom>
          <a:solidFill>
            <a:srgbClr val="A5DE48"/>
          </a:solidFill>
          <a:ln w="9525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4930275" y="1428025"/>
            <a:ext cx="288600" cy="36900"/>
          </a:xfrm>
          <a:prstGeom prst="roundRect">
            <a:avLst>
              <a:gd name="adj" fmla="val 50000"/>
            </a:avLst>
          </a:prstGeom>
          <a:solidFill>
            <a:srgbClr val="A5DE48"/>
          </a:solidFill>
          <a:ln w="9525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6147863" y="1428025"/>
            <a:ext cx="288600" cy="36900"/>
          </a:xfrm>
          <a:prstGeom prst="roundRect">
            <a:avLst>
              <a:gd name="adj" fmla="val 50000"/>
            </a:avLst>
          </a:prstGeom>
          <a:solidFill>
            <a:srgbClr val="A5DE48"/>
          </a:solidFill>
          <a:ln w="9525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7365425" y="1428025"/>
            <a:ext cx="288600" cy="36900"/>
          </a:xfrm>
          <a:prstGeom prst="roundRect">
            <a:avLst>
              <a:gd name="adj" fmla="val 50000"/>
            </a:avLst>
          </a:prstGeom>
          <a:solidFill>
            <a:srgbClr val="A5DE48"/>
          </a:solidFill>
          <a:ln w="9525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181" name="Google Shape;181;p17"/>
          <p:cNvSpPr/>
          <p:nvPr/>
        </p:nvSpPr>
        <p:spPr>
          <a:xfrm rot="-5400000">
            <a:off x="8378384" y="439450"/>
            <a:ext cx="1204800" cy="326100"/>
          </a:xfrm>
          <a:prstGeom prst="rect">
            <a:avLst/>
          </a:prstGeom>
          <a:solidFill>
            <a:srgbClr val="A5DE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A5DE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7944900" y="0"/>
            <a:ext cx="1199100" cy="327900"/>
          </a:xfrm>
          <a:prstGeom prst="rect">
            <a:avLst/>
          </a:prstGeom>
          <a:solidFill>
            <a:srgbClr val="A5DE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A5DE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518225" y="3319250"/>
            <a:ext cx="4910700" cy="1824300"/>
          </a:xfrm>
          <a:prstGeom prst="rect">
            <a:avLst/>
          </a:prstGeom>
          <a:solidFill>
            <a:srgbClr val="071F58"/>
          </a:solidFill>
          <a:ln w="9525" cap="flat" cmpd="sng">
            <a:solidFill>
              <a:srgbClr val="071F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507250" y="2814975"/>
            <a:ext cx="4910700" cy="507900"/>
          </a:xfrm>
          <a:prstGeom prst="rect">
            <a:avLst/>
          </a:prstGeom>
          <a:solidFill>
            <a:srgbClr val="A5DE48"/>
          </a:solidFill>
          <a:ln w="9525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603925" y="3403933"/>
            <a:ext cx="4750800" cy="16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Courseware on Digital Training</a:t>
            </a:r>
            <a:r>
              <a:rPr lang="en" sz="105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, Community Mobilisation, SBCC, Communication Skills, Conducting meetings and visits, Gender understanding, Climate Understanding, Govt. Schemes</a:t>
            </a:r>
            <a:endParaRPr sz="105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User app</a:t>
            </a:r>
            <a:r>
              <a:rPr lang="en" sz="105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for course consumption</a:t>
            </a:r>
            <a:endParaRPr sz="105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Evaluations</a:t>
            </a:r>
            <a:r>
              <a:rPr lang="en" sz="105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and exercises</a:t>
            </a:r>
            <a:endParaRPr sz="105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Uploading </a:t>
            </a:r>
            <a:r>
              <a:rPr lang="en" sz="105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photos and videos</a:t>
            </a:r>
            <a:endParaRPr sz="1050"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Grading and incentive</a:t>
            </a:r>
            <a:r>
              <a:rPr lang="en" sz="105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calculator </a:t>
            </a:r>
            <a:endParaRPr sz="105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Dashboard</a:t>
            </a:r>
            <a:r>
              <a:rPr lang="en" sz="105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for progress review of courseware</a:t>
            </a:r>
            <a:endParaRPr sz="1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603931" y="2934638"/>
            <a:ext cx="3442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500" b="1">
                <a:solidFill>
                  <a:srgbClr val="071F58"/>
                </a:solidFill>
                <a:latin typeface="Fira Sans"/>
                <a:ea typeface="Fira Sans"/>
                <a:cs typeface="Fira Sans"/>
                <a:sym typeface="Fira Sans"/>
              </a:rPr>
              <a:t>Key Components</a:t>
            </a:r>
            <a:endParaRPr sz="1500" b="1" i="0" u="none" strike="noStrike" cap="none">
              <a:solidFill>
                <a:srgbClr val="071F58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87" name="Google Shape;187;p17"/>
          <p:cNvPicPr preferRelativeResize="0"/>
          <p:nvPr/>
        </p:nvPicPr>
        <p:blipFill rotWithShape="1">
          <a:blip r:embed="rId4">
            <a:alphaModFix/>
          </a:blip>
          <a:srcRect l="-160239" t="-4253" r="-5365"/>
          <a:stretch/>
        </p:blipFill>
        <p:spPr>
          <a:xfrm>
            <a:off x="0" y="2681475"/>
            <a:ext cx="9144003" cy="246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 txBox="1"/>
          <p:nvPr/>
        </p:nvSpPr>
        <p:spPr>
          <a:xfrm>
            <a:off x="1107450" y="298375"/>
            <a:ext cx="385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Feedback Management System</a:t>
            </a:r>
            <a:endParaRPr sz="18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93" name="Google Shape;193;p18"/>
          <p:cNvCxnSpPr/>
          <p:nvPr/>
        </p:nvCxnSpPr>
        <p:spPr>
          <a:xfrm>
            <a:off x="1056225" y="235125"/>
            <a:ext cx="0" cy="4461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4" name="Google Shape;1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050" y="255986"/>
            <a:ext cx="404350" cy="40437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8"/>
          <p:cNvSpPr/>
          <p:nvPr/>
        </p:nvSpPr>
        <p:spPr>
          <a:xfrm>
            <a:off x="497586" y="1301725"/>
            <a:ext cx="696000" cy="713400"/>
          </a:xfrm>
          <a:prstGeom prst="ellipse">
            <a:avLst/>
          </a:prstGeom>
          <a:solidFill>
            <a:srgbClr val="A5DE48"/>
          </a:solidFill>
          <a:ln w="38100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sz="13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1923985" y="1301725"/>
            <a:ext cx="696000" cy="713400"/>
          </a:xfrm>
          <a:prstGeom prst="ellipse">
            <a:avLst/>
          </a:prstGeom>
          <a:solidFill>
            <a:srgbClr val="A5DE48"/>
          </a:solidFill>
          <a:ln w="38100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sz="13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3350369" y="1301725"/>
            <a:ext cx="696000" cy="713400"/>
          </a:xfrm>
          <a:prstGeom prst="ellipse">
            <a:avLst/>
          </a:prstGeom>
          <a:solidFill>
            <a:srgbClr val="A5DE48"/>
          </a:solidFill>
          <a:ln w="38100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sz="13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4776788" y="1301725"/>
            <a:ext cx="696000" cy="713400"/>
          </a:xfrm>
          <a:prstGeom prst="ellipse">
            <a:avLst/>
          </a:prstGeom>
          <a:solidFill>
            <a:srgbClr val="A5DE48"/>
          </a:solidFill>
          <a:ln w="38100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sz="13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6203195" y="1301725"/>
            <a:ext cx="696000" cy="713400"/>
          </a:xfrm>
          <a:prstGeom prst="ellipse">
            <a:avLst/>
          </a:prstGeom>
          <a:solidFill>
            <a:srgbClr val="A5DE48"/>
          </a:solidFill>
          <a:ln w="38100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05</a:t>
            </a:r>
            <a:endParaRPr sz="13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7629599" y="1301725"/>
            <a:ext cx="696000" cy="713400"/>
          </a:xfrm>
          <a:prstGeom prst="ellipse">
            <a:avLst/>
          </a:prstGeom>
          <a:solidFill>
            <a:srgbClr val="A5DE48"/>
          </a:solidFill>
          <a:ln w="38100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 06</a:t>
            </a:r>
            <a:endParaRPr sz="13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59225" y="2106414"/>
            <a:ext cx="1482000" cy="5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Content</a:t>
            </a:r>
            <a:endParaRPr sz="10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(Relevance)</a:t>
            </a:r>
            <a:endParaRPr sz="10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1558725" y="2106425"/>
            <a:ext cx="1426500" cy="5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Outreach</a:t>
            </a:r>
            <a:endParaRPr sz="10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2957457" y="2108725"/>
            <a:ext cx="1482000" cy="5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Upcoming seasonal needs</a:t>
            </a:r>
            <a:endParaRPr sz="10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4499664" y="2106414"/>
            <a:ext cx="1250400" cy="5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Innovations &amp; best practices</a:t>
            </a:r>
            <a:endParaRPr sz="10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5926067" y="2108725"/>
            <a:ext cx="1250400" cy="5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Barriers &amp; Challenges</a:t>
            </a:r>
            <a:endParaRPr sz="10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7299401" y="2106414"/>
            <a:ext cx="1356300" cy="5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Availed government services &amp; schemes</a:t>
            </a:r>
            <a:endParaRPr sz="1000" b="1">
              <a:solidFill>
                <a:srgbClr val="00206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1389843" y="1636227"/>
            <a:ext cx="337800" cy="44400"/>
          </a:xfrm>
          <a:prstGeom prst="roundRect">
            <a:avLst>
              <a:gd name="adj" fmla="val 50000"/>
            </a:avLst>
          </a:prstGeom>
          <a:solidFill>
            <a:srgbClr val="A5DE48"/>
          </a:solidFill>
          <a:ln w="9525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2816231" y="1636227"/>
            <a:ext cx="337800" cy="44400"/>
          </a:xfrm>
          <a:prstGeom prst="roundRect">
            <a:avLst>
              <a:gd name="adj" fmla="val 50000"/>
            </a:avLst>
          </a:prstGeom>
          <a:solidFill>
            <a:srgbClr val="A5DE48"/>
          </a:solidFill>
          <a:ln w="9525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4242649" y="1636227"/>
            <a:ext cx="337800" cy="44400"/>
          </a:xfrm>
          <a:prstGeom prst="roundRect">
            <a:avLst>
              <a:gd name="adj" fmla="val 50000"/>
            </a:avLst>
          </a:prstGeom>
          <a:solidFill>
            <a:srgbClr val="A5DE48"/>
          </a:solidFill>
          <a:ln w="9525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5669038" y="1636227"/>
            <a:ext cx="337800" cy="44400"/>
          </a:xfrm>
          <a:prstGeom prst="roundRect">
            <a:avLst>
              <a:gd name="adj" fmla="val 50000"/>
            </a:avLst>
          </a:prstGeom>
          <a:solidFill>
            <a:srgbClr val="A5DE48"/>
          </a:solidFill>
          <a:ln w="9525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7095456" y="1636227"/>
            <a:ext cx="337800" cy="44400"/>
          </a:xfrm>
          <a:prstGeom prst="roundRect">
            <a:avLst>
              <a:gd name="adj" fmla="val 50000"/>
            </a:avLst>
          </a:prstGeom>
          <a:solidFill>
            <a:srgbClr val="A5DE48"/>
          </a:solidFill>
          <a:ln w="9525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060"/>
              </a:solidFill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518225" y="3319250"/>
            <a:ext cx="4910700" cy="1824300"/>
          </a:xfrm>
          <a:prstGeom prst="rect">
            <a:avLst/>
          </a:prstGeom>
          <a:solidFill>
            <a:srgbClr val="071F58"/>
          </a:solidFill>
          <a:ln w="9525" cap="flat" cmpd="sng">
            <a:solidFill>
              <a:srgbClr val="071F5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507250" y="2814975"/>
            <a:ext cx="4910700" cy="507900"/>
          </a:xfrm>
          <a:prstGeom prst="rect">
            <a:avLst/>
          </a:prstGeom>
          <a:solidFill>
            <a:srgbClr val="A5DE48"/>
          </a:solidFill>
          <a:ln w="9525" cap="flat" cmpd="sng">
            <a:solidFill>
              <a:srgbClr val="A5DE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603925" y="3303500"/>
            <a:ext cx="4750800" cy="18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KVK Level</a:t>
            </a:r>
            <a:r>
              <a:rPr lang="en" sz="1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- quality check, approval and uploading of Videos onto the platform</a:t>
            </a:r>
            <a:endParaRPr sz="1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State level</a:t>
            </a:r>
            <a:r>
              <a:rPr lang="en" sz="1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- Dashboard on overall content creation and delivery performance of the platform (Program Management Committee with convergence) </a:t>
            </a:r>
            <a:endParaRPr sz="1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Central (Institutional) Level</a:t>
            </a:r>
            <a:r>
              <a:rPr lang="en" sz="1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 - Periodic overview on dashboard to provide insights</a:t>
            </a:r>
            <a:endParaRPr sz="1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FLW Leve</a:t>
            </a:r>
            <a:r>
              <a:rPr lang="en" sz="1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l </a:t>
            </a:r>
            <a:r>
              <a:rPr lang="en" sz="100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User App </a:t>
            </a:r>
            <a:r>
              <a:rPr lang="en" sz="1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- for entering inputs for the FMS</a:t>
            </a:r>
            <a:endParaRPr sz="1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User Authorisation- </a:t>
            </a:r>
            <a:r>
              <a:rPr lang="en" sz="1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for each level for uploading, approval and tracking</a:t>
            </a:r>
            <a:endParaRPr sz="1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3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603931" y="2858438"/>
            <a:ext cx="3442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500" b="1">
                <a:solidFill>
                  <a:srgbClr val="071F58"/>
                </a:solidFill>
                <a:latin typeface="Fira Sans"/>
                <a:ea typeface="Fira Sans"/>
                <a:cs typeface="Fira Sans"/>
                <a:sym typeface="Fira Sans"/>
              </a:rPr>
              <a:t>Key Components</a:t>
            </a:r>
            <a:endParaRPr sz="1500" b="1" i="0" u="none" strike="noStrike" cap="none">
              <a:solidFill>
                <a:srgbClr val="071F58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6" name="Google Shape;216;p18"/>
          <p:cNvSpPr/>
          <p:nvPr/>
        </p:nvSpPr>
        <p:spPr>
          <a:xfrm rot="-5400000">
            <a:off x="8378384" y="439450"/>
            <a:ext cx="1204800" cy="326100"/>
          </a:xfrm>
          <a:prstGeom prst="rect">
            <a:avLst/>
          </a:prstGeom>
          <a:solidFill>
            <a:srgbClr val="A5DE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A5DE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7944900" y="0"/>
            <a:ext cx="1199100" cy="327900"/>
          </a:xfrm>
          <a:prstGeom prst="rect">
            <a:avLst/>
          </a:prstGeom>
          <a:solidFill>
            <a:srgbClr val="A5DE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A5DE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18"/>
          <p:cNvPicPr preferRelativeResize="0"/>
          <p:nvPr/>
        </p:nvPicPr>
        <p:blipFill rotWithShape="1">
          <a:blip r:embed="rId4">
            <a:alphaModFix/>
          </a:blip>
          <a:srcRect b="-2396"/>
          <a:stretch/>
        </p:blipFill>
        <p:spPr>
          <a:xfrm>
            <a:off x="5571710" y="2814975"/>
            <a:ext cx="3572291" cy="238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2d1f450606_2_2170"/>
          <p:cNvSpPr txBox="1"/>
          <p:nvPr/>
        </p:nvSpPr>
        <p:spPr>
          <a:xfrm>
            <a:off x="3688850" y="2959825"/>
            <a:ext cx="17247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>
                <a:latin typeface="Fira Sans"/>
                <a:ea typeface="Fira Sans"/>
                <a:cs typeface="Fira Sans"/>
                <a:sym typeface="Fira Sans"/>
              </a:rPr>
              <a:t>International Conference  on Digitalisation of Extension System</a:t>
            </a:r>
            <a:endParaRPr sz="900" b="1"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>
                <a:latin typeface="Fira Sans"/>
                <a:ea typeface="Fira Sans"/>
                <a:cs typeface="Fira Sans"/>
                <a:sym typeface="Fira Sans"/>
              </a:rPr>
              <a:t>FLW Courseware completed - 5 modules (end to end)</a:t>
            </a:r>
            <a:endParaRPr sz="900" b="1"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Video Content uploading for platform testing begins </a:t>
            </a:r>
            <a:endParaRPr sz="9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Platform testing</a:t>
            </a:r>
            <a:endParaRPr sz="9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1" name="Google Shape;341;g22d1f450606_2_2170"/>
          <p:cNvSpPr txBox="1"/>
          <p:nvPr/>
        </p:nvSpPr>
        <p:spPr>
          <a:xfrm>
            <a:off x="310400" y="371525"/>
            <a:ext cx="790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800" b="1">
                <a:solidFill>
                  <a:srgbClr val="071F58"/>
                </a:solidFill>
                <a:latin typeface="Fira Sans"/>
                <a:ea typeface="Fira Sans"/>
                <a:cs typeface="Fira Sans"/>
                <a:sym typeface="Fira Sans"/>
              </a:rPr>
              <a:t>Detailed timelines</a:t>
            </a:r>
            <a:endParaRPr sz="1800" b="1" i="0" u="none" strike="noStrike" cap="none">
              <a:solidFill>
                <a:srgbClr val="071F58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342" name="Google Shape;342;g22d1f450606_2_2170"/>
          <p:cNvCxnSpPr/>
          <p:nvPr/>
        </p:nvCxnSpPr>
        <p:spPr>
          <a:xfrm rot="10800000" flipH="1">
            <a:off x="306892" y="2541886"/>
            <a:ext cx="8430300" cy="7500"/>
          </a:xfrm>
          <a:prstGeom prst="straightConnector1">
            <a:avLst/>
          </a:prstGeom>
          <a:noFill/>
          <a:ln w="28575" cap="flat" cmpd="sng">
            <a:solidFill>
              <a:srgbClr val="A5DE48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3" name="Google Shape;343;g22d1f450606_2_2170"/>
          <p:cNvCxnSpPr/>
          <p:nvPr/>
        </p:nvCxnSpPr>
        <p:spPr>
          <a:xfrm rot="10800000">
            <a:off x="320811" y="1360675"/>
            <a:ext cx="0" cy="1188900"/>
          </a:xfrm>
          <a:prstGeom prst="straightConnector1">
            <a:avLst/>
          </a:prstGeom>
          <a:noFill/>
          <a:ln w="19050" cap="flat" cmpd="sng">
            <a:solidFill>
              <a:srgbClr val="A5DE48"/>
            </a:solidFill>
            <a:prstDash val="dot"/>
            <a:round/>
            <a:headEnd type="none" w="sm" len="sm"/>
            <a:tailEnd type="oval" w="med" len="med"/>
          </a:ln>
        </p:spPr>
      </p:cxnSp>
      <p:sp>
        <p:nvSpPr>
          <p:cNvPr id="344" name="Google Shape;344;g22d1f450606_2_2170"/>
          <p:cNvSpPr txBox="1"/>
          <p:nvPr/>
        </p:nvSpPr>
        <p:spPr>
          <a:xfrm>
            <a:off x="406925" y="1686380"/>
            <a:ext cx="1088100" cy="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MOU Signing</a:t>
            </a:r>
            <a:endParaRPr sz="900" b="0" i="0" u="none" strike="noStrike" cap="none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5" name="Google Shape;345;g22d1f450606_2_2170"/>
          <p:cNvSpPr txBox="1"/>
          <p:nvPr/>
        </p:nvSpPr>
        <p:spPr>
          <a:xfrm>
            <a:off x="838906" y="2488446"/>
            <a:ext cx="1961648" cy="2539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dirty="0">
                <a:latin typeface="Fira Sans"/>
                <a:ea typeface="Fira Sans"/>
                <a:cs typeface="Fira Sans"/>
                <a:sym typeface="Fira Sans"/>
              </a:rPr>
              <a:t>Consultative meeting with all Pr. Secretaries of ten states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lang="en" sz="900" b="1" dirty="0"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dirty="0">
                <a:latin typeface="Fira Sans"/>
                <a:ea typeface="Fira Sans"/>
                <a:cs typeface="Fira Sans"/>
                <a:sym typeface="Fira Sans"/>
              </a:rPr>
              <a:t>National Workshop with states Director/</a:t>
            </a:r>
            <a:r>
              <a:rPr lang="en" sz="900" b="1" dirty="0" err="1">
                <a:latin typeface="Fira Sans"/>
                <a:ea typeface="Fira Sans"/>
                <a:cs typeface="Fira Sans"/>
                <a:sym typeface="Fira Sans"/>
              </a:rPr>
              <a:t>Jt</a:t>
            </a:r>
            <a:r>
              <a:rPr lang="en" sz="900" b="1" dirty="0">
                <a:latin typeface="Fira Sans"/>
                <a:ea typeface="Fira Sans"/>
                <a:cs typeface="Fira Sans"/>
                <a:sym typeface="Fira Sans"/>
              </a:rPr>
              <a:t> Director, Agriculture at MANAGE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lang="en" sz="900" b="1" i="0" u="none" strike="noStrike" cap="none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Constitution of PMU &amp; Steering and Working Committees</a:t>
            </a:r>
            <a:endParaRPr sz="900" b="1" i="0" u="none" strike="noStrike" cap="none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dirty="0"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dirty="0">
                <a:latin typeface="Fira Sans"/>
                <a:ea typeface="Fira Sans"/>
                <a:cs typeface="Fira Sans"/>
                <a:sym typeface="Fira Sans"/>
              </a:rPr>
              <a:t>Identification of commodities, districts &amp; FLWs (20 Districts, 3000-5000 FLWs  for Launch)</a:t>
            </a:r>
            <a:endParaRPr sz="900" dirty="0"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dirty="0"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dirty="0">
                <a:latin typeface="Fira Sans"/>
                <a:ea typeface="Fira Sans"/>
                <a:cs typeface="Fira Sans"/>
                <a:sym typeface="Fira Sans"/>
              </a:rPr>
              <a:t>FLW Courseware Outline</a:t>
            </a:r>
            <a:endParaRPr sz="900" dirty="0"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dirty="0"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dirty="0" err="1">
                <a:latin typeface="Fira Sans"/>
                <a:ea typeface="Fira Sans"/>
                <a:cs typeface="Fira Sans"/>
                <a:sym typeface="Fira Sans"/>
              </a:rPr>
              <a:t>ToT</a:t>
            </a:r>
            <a:r>
              <a:rPr lang="en" sz="900" dirty="0">
                <a:latin typeface="Fira Sans"/>
                <a:ea typeface="Fira Sans"/>
                <a:cs typeface="Fira Sans"/>
                <a:sym typeface="Fira Sans"/>
              </a:rPr>
              <a:t> Modules Design</a:t>
            </a:r>
            <a:endParaRPr sz="900" dirty="0"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346" name="Google Shape;346;g22d1f450606_2_2170"/>
          <p:cNvCxnSpPr>
            <a:cxnSpLocks/>
          </p:cNvCxnSpPr>
          <p:nvPr/>
        </p:nvCxnSpPr>
        <p:spPr>
          <a:xfrm flipV="1">
            <a:off x="714913" y="2663116"/>
            <a:ext cx="0" cy="2282409"/>
          </a:xfrm>
          <a:prstGeom prst="straightConnector1">
            <a:avLst/>
          </a:prstGeom>
          <a:noFill/>
          <a:ln w="19050" cap="flat" cmpd="sng">
            <a:solidFill>
              <a:srgbClr val="A5DE48"/>
            </a:solidFill>
            <a:prstDash val="dot"/>
            <a:round/>
            <a:headEnd type="oval" w="med" len="med"/>
            <a:tailEnd type="none" w="sm" len="sm"/>
          </a:ln>
        </p:spPr>
      </p:cxnSp>
      <p:sp>
        <p:nvSpPr>
          <p:cNvPr id="347" name="Google Shape;347;g22d1f450606_2_2170"/>
          <p:cNvSpPr txBox="1"/>
          <p:nvPr/>
        </p:nvSpPr>
        <p:spPr>
          <a:xfrm>
            <a:off x="406925" y="1407705"/>
            <a:ext cx="9891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71F58"/>
                </a:solidFill>
                <a:latin typeface="Fira Sans"/>
                <a:ea typeface="Fira Sans"/>
                <a:cs typeface="Fira Sans"/>
                <a:sym typeface="Fira Sans"/>
              </a:rPr>
              <a:t>Feb 2023 </a:t>
            </a:r>
            <a:endParaRPr sz="1600" b="1" i="0" u="none" strike="noStrike" cap="none" dirty="0">
              <a:solidFill>
                <a:srgbClr val="071F5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22d1f450606_2_2170"/>
          <p:cNvSpPr txBox="1"/>
          <p:nvPr/>
        </p:nvSpPr>
        <p:spPr>
          <a:xfrm>
            <a:off x="852234" y="4702086"/>
            <a:ext cx="12081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71F58"/>
                </a:solidFill>
                <a:latin typeface="Fira Sans"/>
                <a:ea typeface="Fira Sans"/>
                <a:cs typeface="Fira Sans"/>
                <a:sym typeface="Fira Sans"/>
              </a:rPr>
              <a:t>April 2023 </a:t>
            </a:r>
            <a:endParaRPr sz="1600" b="1" i="0" u="none" strike="noStrike" cap="none" dirty="0">
              <a:solidFill>
                <a:srgbClr val="071F5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9" name="Google Shape;349;g22d1f450606_2_2170"/>
          <p:cNvCxnSpPr>
            <a:cxnSpLocks/>
          </p:cNvCxnSpPr>
          <p:nvPr/>
        </p:nvCxnSpPr>
        <p:spPr>
          <a:xfrm flipV="1">
            <a:off x="2152700" y="1111525"/>
            <a:ext cx="0" cy="1544090"/>
          </a:xfrm>
          <a:prstGeom prst="straightConnector1">
            <a:avLst/>
          </a:prstGeom>
          <a:noFill/>
          <a:ln w="19050" cap="flat" cmpd="sng">
            <a:solidFill>
              <a:srgbClr val="A5DE48"/>
            </a:solidFill>
            <a:prstDash val="dot"/>
            <a:round/>
            <a:headEnd type="none" w="sm" len="sm"/>
            <a:tailEnd type="oval" w="med" len="med"/>
          </a:ln>
        </p:spPr>
      </p:cxnSp>
      <p:sp>
        <p:nvSpPr>
          <p:cNvPr id="350" name="Google Shape;350;g22d1f450606_2_2170"/>
          <p:cNvSpPr txBox="1"/>
          <p:nvPr/>
        </p:nvSpPr>
        <p:spPr>
          <a:xfrm>
            <a:off x="2276300" y="1161747"/>
            <a:ext cx="2889000" cy="8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9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FLW Courseware Framework with ASCI &amp; MANAGE</a:t>
            </a:r>
            <a:endParaRPr sz="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Platform Architecture Design</a:t>
            </a:r>
            <a:endParaRPr sz="900" i="0" u="none" strike="noStrike" cap="none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9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Program Development update to all stakeholders</a:t>
            </a:r>
            <a:endParaRPr sz="9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1" name="Google Shape;351;g22d1f450606_2_2170"/>
          <p:cNvSpPr txBox="1"/>
          <p:nvPr/>
        </p:nvSpPr>
        <p:spPr>
          <a:xfrm>
            <a:off x="2299797" y="896425"/>
            <a:ext cx="9891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71F58"/>
                </a:solidFill>
                <a:latin typeface="Fira Sans"/>
                <a:ea typeface="Fira Sans"/>
                <a:cs typeface="Fira Sans"/>
                <a:sym typeface="Fira Sans"/>
              </a:rPr>
              <a:t>May 2023</a:t>
            </a:r>
            <a:endParaRPr sz="1600" b="1" i="0" u="none" strike="noStrike" cap="none" dirty="0">
              <a:solidFill>
                <a:srgbClr val="071F5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22d1f450606_2_2170"/>
          <p:cNvSpPr txBox="1"/>
          <p:nvPr/>
        </p:nvSpPr>
        <p:spPr>
          <a:xfrm>
            <a:off x="2299797" y="1926246"/>
            <a:ext cx="3080700" cy="5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Master Trainer (MT)  </a:t>
            </a:r>
            <a:r>
              <a:rPr lang="en" sz="9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ToT</a:t>
            </a:r>
            <a:r>
              <a:rPr lang="en" sz="9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Framework</a:t>
            </a:r>
            <a:endParaRPr sz="9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Empanelment ads for MTs</a:t>
            </a:r>
            <a:endParaRPr sz="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353" name="Google Shape;353;g22d1f450606_2_2170"/>
          <p:cNvCxnSpPr/>
          <p:nvPr/>
        </p:nvCxnSpPr>
        <p:spPr>
          <a:xfrm rot="10800000">
            <a:off x="3541925" y="2839175"/>
            <a:ext cx="21900" cy="2134500"/>
          </a:xfrm>
          <a:prstGeom prst="straightConnector1">
            <a:avLst/>
          </a:prstGeom>
          <a:noFill/>
          <a:ln w="19050" cap="flat" cmpd="sng">
            <a:solidFill>
              <a:srgbClr val="A5DE48"/>
            </a:solidFill>
            <a:prstDash val="dot"/>
            <a:round/>
            <a:headEnd type="oval" w="med" len="med"/>
            <a:tailEnd type="none" w="sm" len="sm"/>
          </a:ln>
        </p:spPr>
      </p:cxnSp>
      <p:sp>
        <p:nvSpPr>
          <p:cNvPr id="354" name="Google Shape;354;g22d1f450606_2_2170"/>
          <p:cNvSpPr txBox="1"/>
          <p:nvPr/>
        </p:nvSpPr>
        <p:spPr>
          <a:xfrm>
            <a:off x="3657962" y="4605916"/>
            <a:ext cx="12081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71F58"/>
                </a:solidFill>
                <a:latin typeface="Fira Sans"/>
                <a:ea typeface="Fira Sans"/>
                <a:cs typeface="Fira Sans"/>
                <a:sym typeface="Fira Sans"/>
              </a:rPr>
              <a:t>June 2023 </a:t>
            </a:r>
            <a:endParaRPr sz="1600" b="1" i="0" u="none" strike="noStrike" cap="none">
              <a:solidFill>
                <a:srgbClr val="071F5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5" name="Google Shape;355;g22d1f450606_2_2170"/>
          <p:cNvCxnSpPr>
            <a:cxnSpLocks/>
          </p:cNvCxnSpPr>
          <p:nvPr/>
        </p:nvCxnSpPr>
        <p:spPr>
          <a:xfrm flipH="1" flipV="1">
            <a:off x="5679075" y="1065925"/>
            <a:ext cx="11462" cy="1597191"/>
          </a:xfrm>
          <a:prstGeom prst="straightConnector1">
            <a:avLst/>
          </a:prstGeom>
          <a:noFill/>
          <a:ln w="19050" cap="flat" cmpd="sng">
            <a:solidFill>
              <a:srgbClr val="A5DE48"/>
            </a:solidFill>
            <a:prstDash val="dot"/>
            <a:round/>
            <a:headEnd type="none" w="sm" len="sm"/>
            <a:tailEnd type="oval" w="med" len="med"/>
          </a:ln>
        </p:spPr>
      </p:cxnSp>
      <p:sp>
        <p:nvSpPr>
          <p:cNvPr id="356" name="Google Shape;356;g22d1f450606_2_2170"/>
          <p:cNvSpPr txBox="1"/>
          <p:nvPr/>
        </p:nvSpPr>
        <p:spPr>
          <a:xfrm>
            <a:off x="5820172" y="908525"/>
            <a:ext cx="9891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71F58"/>
                </a:solidFill>
                <a:latin typeface="Fira Sans"/>
                <a:ea typeface="Fira Sans"/>
                <a:cs typeface="Fira Sans"/>
                <a:sym typeface="Fira Sans"/>
              </a:rPr>
              <a:t>July 2023</a:t>
            </a:r>
            <a:endParaRPr sz="1600" b="1" i="0" u="none" strike="noStrike" cap="none" dirty="0">
              <a:solidFill>
                <a:srgbClr val="071F5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g22d1f450606_2_2170"/>
          <p:cNvSpPr txBox="1"/>
          <p:nvPr/>
        </p:nvSpPr>
        <p:spPr>
          <a:xfrm>
            <a:off x="6465700" y="2959825"/>
            <a:ext cx="21984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9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Platform Launch (4 States)</a:t>
            </a:r>
            <a:endParaRPr sz="900"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Master Trainers Training Begins</a:t>
            </a:r>
            <a:endParaRPr sz="9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Onboarding of FLWs onto platform</a:t>
            </a:r>
            <a:endParaRPr sz="900"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358" name="Google Shape;358;g22d1f450606_2_2170"/>
          <p:cNvCxnSpPr/>
          <p:nvPr/>
        </p:nvCxnSpPr>
        <p:spPr>
          <a:xfrm rot="10800000" flipH="1">
            <a:off x="6377525" y="2839075"/>
            <a:ext cx="4500" cy="1395900"/>
          </a:xfrm>
          <a:prstGeom prst="straightConnector1">
            <a:avLst/>
          </a:prstGeom>
          <a:noFill/>
          <a:ln w="19050" cap="flat" cmpd="sng">
            <a:solidFill>
              <a:srgbClr val="A5DE48"/>
            </a:solidFill>
            <a:prstDash val="dot"/>
            <a:round/>
            <a:headEnd type="oval" w="med" len="med"/>
            <a:tailEnd type="none" w="sm" len="sm"/>
          </a:ln>
        </p:spPr>
      </p:cxnSp>
      <p:sp>
        <p:nvSpPr>
          <p:cNvPr id="359" name="Google Shape;359;g22d1f450606_2_2170"/>
          <p:cNvSpPr txBox="1"/>
          <p:nvPr/>
        </p:nvSpPr>
        <p:spPr>
          <a:xfrm>
            <a:off x="6455513" y="3837025"/>
            <a:ext cx="12081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71F58"/>
                </a:solidFill>
                <a:latin typeface="Fira Sans"/>
                <a:ea typeface="Fira Sans"/>
                <a:cs typeface="Fira Sans"/>
                <a:sym typeface="Fira Sans"/>
              </a:rPr>
              <a:t>August 2023 </a:t>
            </a:r>
            <a:endParaRPr sz="1600" b="1" i="0" u="none" strike="noStrike" cap="none">
              <a:solidFill>
                <a:srgbClr val="071F5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22d1f450606_2_2170"/>
          <p:cNvSpPr/>
          <p:nvPr/>
        </p:nvSpPr>
        <p:spPr>
          <a:xfrm rot="-5400000">
            <a:off x="8378409" y="439375"/>
            <a:ext cx="1204800" cy="326100"/>
          </a:xfrm>
          <a:prstGeom prst="rect">
            <a:avLst/>
          </a:prstGeom>
          <a:solidFill>
            <a:srgbClr val="A5DE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A5DE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22d1f450606_2_2170"/>
          <p:cNvSpPr/>
          <p:nvPr/>
        </p:nvSpPr>
        <p:spPr>
          <a:xfrm>
            <a:off x="7944925" y="-75"/>
            <a:ext cx="1199100" cy="327900"/>
          </a:xfrm>
          <a:prstGeom prst="rect">
            <a:avLst/>
          </a:prstGeom>
          <a:solidFill>
            <a:srgbClr val="A5DE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A5DE4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22d1f450606_2_2170"/>
          <p:cNvSpPr txBox="1"/>
          <p:nvPr/>
        </p:nvSpPr>
        <p:spPr>
          <a:xfrm>
            <a:off x="5793388" y="1177335"/>
            <a:ext cx="2770800" cy="11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9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400 audio-visual advisories approved &amp; uploaded on platform</a:t>
            </a:r>
            <a:endParaRPr sz="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dirty="0">
                <a:solidFill>
                  <a:schemeClr val="dk1"/>
                </a:solidFill>
                <a:highlight>
                  <a:srgbClr val="FFFFFF"/>
                </a:highlight>
                <a:latin typeface="Fira Sans"/>
                <a:ea typeface="Fira Sans"/>
                <a:cs typeface="Fira Sans"/>
                <a:sym typeface="Fira Sans"/>
              </a:rPr>
              <a:t>Comms &amp; Media Campaign initiates</a:t>
            </a:r>
            <a:endParaRPr sz="900" dirty="0">
              <a:solidFill>
                <a:schemeClr val="dk1"/>
              </a:solidFill>
              <a:highlight>
                <a:srgbClr val="FFFFFF"/>
              </a:highlight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Onboarding of </a:t>
            </a:r>
            <a:r>
              <a:rPr lang="en" sz="9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24</a:t>
            </a:r>
            <a:r>
              <a:rPr lang="en" sz="9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MTs</a:t>
            </a:r>
            <a:endParaRPr sz="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 sz="9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SoPs</a:t>
            </a:r>
            <a:r>
              <a:rPr lang="en" sz="9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&amp; Protocols developed, orientation of KVKs</a:t>
            </a:r>
            <a:endParaRPr sz="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20531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4038" y="467917"/>
            <a:ext cx="5495925" cy="4207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57325654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844</Words>
  <Application>Microsoft Office PowerPoint</Application>
  <PresentationFormat>On-screen Show (16:9)</PresentationFormat>
  <Paragraphs>140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Fira Sans</vt:lpstr>
      <vt:lpstr>Simple Light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2</cp:revision>
  <dcterms:modified xsi:type="dcterms:W3CDTF">2023-04-26T11:58:14Z</dcterms:modified>
</cp:coreProperties>
</file>