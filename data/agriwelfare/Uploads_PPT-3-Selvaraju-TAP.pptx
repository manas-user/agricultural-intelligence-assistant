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259" r:id="rId4"/>
    <p:sldId id="260" r:id="rId5"/>
    <p:sldId id="261" r:id="rId6"/>
    <p:sldId id="263" r:id="rId7"/>
    <p:sldId id="264" r:id="rId8"/>
    <p:sldId id="266" r:id="rId9"/>
    <p:sldId id="268" r:id="rId10"/>
    <p:sldId id="269" r:id="rId11"/>
    <p:sldId id="270" r:id="rId12"/>
    <p:sldId id="271" r:id="rId13"/>
    <p:sldId id="272" r:id="rId14"/>
    <p:sldId id="27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8213" autoAdjust="0"/>
  </p:normalViewPr>
  <p:slideViewPr>
    <p:cSldViewPr snapToGrid="0">
      <p:cViewPr varScale="1">
        <p:scale>
          <a:sx n="76" d="100"/>
          <a:sy n="76" d="100"/>
        </p:scale>
        <p:origin x="997"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BA7E694-B979-4DBB-BA90-85DB6F4117A0}" type="doc">
      <dgm:prSet loTypeId="urn:microsoft.com/office/officeart/2005/8/layout/arrow2" loCatId="process" qsTypeId="urn:microsoft.com/office/officeart/2005/8/quickstyle/simple5" qsCatId="simple" csTypeId="urn:microsoft.com/office/officeart/2005/8/colors/accent5_1" csCatId="accent5" phldr="1"/>
      <dgm:spPr/>
    </dgm:pt>
    <dgm:pt modelId="{3C109216-D0EF-43C0-8164-D3CFAD515FC0}">
      <dgm:prSet phldrT="[Text]" custT="1"/>
      <dgm:spPr/>
      <dgm:t>
        <a:bodyPr/>
        <a:lstStyle/>
        <a:p>
          <a:r>
            <a:rPr lang="en-US" sz="2400" b="0" dirty="0"/>
            <a:t>2012-2013</a:t>
          </a:r>
        </a:p>
      </dgm:t>
    </dgm:pt>
    <dgm:pt modelId="{170DFF18-F9C1-4ECC-9E09-89B248A886F1}" type="parTrans" cxnId="{1A543BBC-A919-46AD-95E8-C8F12A2B20F5}">
      <dgm:prSet/>
      <dgm:spPr/>
      <dgm:t>
        <a:bodyPr/>
        <a:lstStyle/>
        <a:p>
          <a:endParaRPr lang="en-US"/>
        </a:p>
      </dgm:t>
    </dgm:pt>
    <dgm:pt modelId="{11299BE9-AD72-463C-89BF-672835EC82BB}" type="sibTrans" cxnId="{1A543BBC-A919-46AD-95E8-C8F12A2B20F5}">
      <dgm:prSet/>
      <dgm:spPr/>
      <dgm:t>
        <a:bodyPr/>
        <a:lstStyle/>
        <a:p>
          <a:endParaRPr lang="en-US"/>
        </a:p>
      </dgm:t>
    </dgm:pt>
    <dgm:pt modelId="{5E42D1D4-CF68-4E97-B692-D2E7E1671189}">
      <dgm:prSet phldrT="[Text]" custT="1"/>
      <dgm:spPr/>
      <dgm:t>
        <a:bodyPr/>
        <a:lstStyle/>
        <a:p>
          <a:r>
            <a:rPr lang="en-US" sz="2400" b="0" dirty="0"/>
            <a:t>2014 - 2015</a:t>
          </a:r>
        </a:p>
      </dgm:t>
    </dgm:pt>
    <dgm:pt modelId="{10007EEF-6650-435E-A400-2D80FCF63AE0}" type="parTrans" cxnId="{E408C836-45C9-4260-A003-2A952126AAAF}">
      <dgm:prSet/>
      <dgm:spPr/>
      <dgm:t>
        <a:bodyPr/>
        <a:lstStyle/>
        <a:p>
          <a:endParaRPr lang="en-US"/>
        </a:p>
      </dgm:t>
    </dgm:pt>
    <dgm:pt modelId="{BB22A122-FDA5-438C-9E32-6A59CF5A8848}" type="sibTrans" cxnId="{E408C836-45C9-4260-A003-2A952126AAAF}">
      <dgm:prSet/>
      <dgm:spPr/>
      <dgm:t>
        <a:bodyPr/>
        <a:lstStyle/>
        <a:p>
          <a:endParaRPr lang="en-US"/>
        </a:p>
      </dgm:t>
    </dgm:pt>
    <dgm:pt modelId="{5531E708-5BB3-4C16-BED0-0212D53C9724}">
      <dgm:prSet phldrT="[Text]" custT="1"/>
      <dgm:spPr/>
      <dgm:t>
        <a:bodyPr/>
        <a:lstStyle/>
        <a:p>
          <a:r>
            <a:rPr lang="en-US" sz="2600" dirty="0"/>
            <a:t>2016-2018</a:t>
          </a:r>
        </a:p>
      </dgm:t>
    </dgm:pt>
    <dgm:pt modelId="{245127F3-C721-41F7-A6A2-E3F3ACEE34E7}" type="parTrans" cxnId="{3C9DAB0A-EA17-47EB-B805-EF1893108367}">
      <dgm:prSet/>
      <dgm:spPr/>
      <dgm:t>
        <a:bodyPr/>
        <a:lstStyle/>
        <a:p>
          <a:endParaRPr lang="en-US"/>
        </a:p>
      </dgm:t>
    </dgm:pt>
    <dgm:pt modelId="{257902F6-AFEC-404D-96C3-A0567AAD041F}" type="sibTrans" cxnId="{3C9DAB0A-EA17-47EB-B805-EF1893108367}">
      <dgm:prSet/>
      <dgm:spPr/>
      <dgm:t>
        <a:bodyPr/>
        <a:lstStyle/>
        <a:p>
          <a:endParaRPr lang="en-US"/>
        </a:p>
      </dgm:t>
    </dgm:pt>
    <dgm:pt modelId="{034B33E8-4A24-4945-B061-9FD053B6445A}" type="pres">
      <dgm:prSet presAssocID="{2BA7E694-B979-4DBB-BA90-85DB6F4117A0}" presName="arrowDiagram" presStyleCnt="0">
        <dgm:presLayoutVars>
          <dgm:chMax val="5"/>
          <dgm:dir/>
          <dgm:resizeHandles val="exact"/>
        </dgm:presLayoutVars>
      </dgm:prSet>
      <dgm:spPr/>
    </dgm:pt>
    <dgm:pt modelId="{CC6BC9F8-4CD6-4D31-868F-1EC918CD53EB}" type="pres">
      <dgm:prSet presAssocID="{2BA7E694-B979-4DBB-BA90-85DB6F4117A0}" presName="arrow" presStyleLbl="bgShp" presStyleIdx="0" presStyleCnt="1" custAng="472147" custScaleX="122950" custLinFactNeighborX="3478"/>
      <dgm:spPr/>
    </dgm:pt>
    <dgm:pt modelId="{6AFBB29B-FBE5-4C0A-AAAD-A35E6B776C72}" type="pres">
      <dgm:prSet presAssocID="{2BA7E694-B979-4DBB-BA90-85DB6F4117A0}" presName="arrowDiagram3" presStyleCnt="0"/>
      <dgm:spPr/>
    </dgm:pt>
    <dgm:pt modelId="{93926DEB-AE61-4EF5-8411-96E35279BB1E}" type="pres">
      <dgm:prSet presAssocID="{3C109216-D0EF-43C0-8164-D3CFAD515FC0}" presName="bullet3a" presStyleLbl="node1" presStyleIdx="0" presStyleCnt="3" custLinFactX="-200000" custLinFactY="-51924" custLinFactNeighborX="-271508" custLinFactNeighborY="-100000"/>
      <dgm:spPr/>
    </dgm:pt>
    <dgm:pt modelId="{323EE442-6E09-49F0-BEFA-F6BB7B8A259E}" type="pres">
      <dgm:prSet presAssocID="{3C109216-D0EF-43C0-8164-D3CFAD515FC0}" presName="textBox3a" presStyleLbl="revTx" presStyleIdx="0" presStyleCnt="3" custLinFactX="-28687" custLinFactNeighborX="-100000" custLinFactNeighborY="-67153">
        <dgm:presLayoutVars>
          <dgm:bulletEnabled val="1"/>
        </dgm:presLayoutVars>
      </dgm:prSet>
      <dgm:spPr/>
    </dgm:pt>
    <dgm:pt modelId="{A22C7527-4A8F-4DD2-93FD-FD3B14491C7C}" type="pres">
      <dgm:prSet presAssocID="{5E42D1D4-CF68-4E97-B692-D2E7E1671189}" presName="bullet3b" presStyleLbl="node1" presStyleIdx="1" presStyleCnt="3" custFlipHor="1" custScaleX="101717" custScaleY="106828" custLinFactNeighborX="-94648" custLinFactNeighborY="-1889"/>
      <dgm:spPr/>
    </dgm:pt>
    <dgm:pt modelId="{C35C2EE1-5D3A-4B38-BB77-9E76AEDDF37D}" type="pres">
      <dgm:prSet presAssocID="{5E42D1D4-CF68-4E97-B692-D2E7E1671189}" presName="textBox3b" presStyleLbl="revTx" presStyleIdx="1" presStyleCnt="3" custScaleX="173378" custScaleY="119425" custLinFactNeighborX="-83301" custLinFactNeighborY="-15659">
        <dgm:presLayoutVars>
          <dgm:bulletEnabled val="1"/>
        </dgm:presLayoutVars>
      </dgm:prSet>
      <dgm:spPr/>
    </dgm:pt>
    <dgm:pt modelId="{97673E8B-6F71-45F4-807E-5220C27BEE72}" type="pres">
      <dgm:prSet presAssocID="{5531E708-5BB3-4C16-BED0-0212D53C9724}" presName="bullet3c" presStyleLbl="node1" presStyleIdx="2" presStyleCnt="3" custScaleX="53378" custScaleY="36820" custLinFactX="-486861" custLinFactY="128116" custLinFactNeighborX="-500000" custLinFactNeighborY="200000"/>
      <dgm:spPr/>
    </dgm:pt>
    <dgm:pt modelId="{8D80289B-BB20-4502-8215-7F272C480199}" type="pres">
      <dgm:prSet presAssocID="{5531E708-5BB3-4C16-BED0-0212D53C9724}" presName="textBox3c" presStyleLbl="revTx" presStyleIdx="2" presStyleCnt="3" custScaleX="127085" custLinFactNeighborX="-87713" custLinFactNeighborY="-17431">
        <dgm:presLayoutVars>
          <dgm:bulletEnabled val="1"/>
        </dgm:presLayoutVars>
      </dgm:prSet>
      <dgm:spPr/>
    </dgm:pt>
  </dgm:ptLst>
  <dgm:cxnLst>
    <dgm:cxn modelId="{3C9DAB0A-EA17-47EB-B805-EF1893108367}" srcId="{2BA7E694-B979-4DBB-BA90-85DB6F4117A0}" destId="{5531E708-5BB3-4C16-BED0-0212D53C9724}" srcOrd="2" destOrd="0" parTransId="{245127F3-C721-41F7-A6A2-E3F3ACEE34E7}" sibTransId="{257902F6-AFEC-404D-96C3-A0567AAD041F}"/>
    <dgm:cxn modelId="{E408C836-45C9-4260-A003-2A952126AAAF}" srcId="{2BA7E694-B979-4DBB-BA90-85DB6F4117A0}" destId="{5E42D1D4-CF68-4E97-B692-D2E7E1671189}" srcOrd="1" destOrd="0" parTransId="{10007EEF-6650-435E-A400-2D80FCF63AE0}" sibTransId="{BB22A122-FDA5-438C-9E32-6A59CF5A8848}"/>
    <dgm:cxn modelId="{93B50638-EAF3-4004-9689-E7377708E93A}" type="presOf" srcId="{3C109216-D0EF-43C0-8164-D3CFAD515FC0}" destId="{323EE442-6E09-49F0-BEFA-F6BB7B8A259E}" srcOrd="0" destOrd="0" presId="urn:microsoft.com/office/officeart/2005/8/layout/arrow2"/>
    <dgm:cxn modelId="{2B4D0E8F-469E-40A6-A820-A712DCC07FEB}" type="presOf" srcId="{5E42D1D4-CF68-4E97-B692-D2E7E1671189}" destId="{C35C2EE1-5D3A-4B38-BB77-9E76AEDDF37D}" srcOrd="0" destOrd="0" presId="urn:microsoft.com/office/officeart/2005/8/layout/arrow2"/>
    <dgm:cxn modelId="{1A543BBC-A919-46AD-95E8-C8F12A2B20F5}" srcId="{2BA7E694-B979-4DBB-BA90-85DB6F4117A0}" destId="{3C109216-D0EF-43C0-8164-D3CFAD515FC0}" srcOrd="0" destOrd="0" parTransId="{170DFF18-F9C1-4ECC-9E09-89B248A886F1}" sibTransId="{11299BE9-AD72-463C-89BF-672835EC82BB}"/>
    <dgm:cxn modelId="{92B4ADD4-9BD6-4308-A77E-761EA6A1BF01}" type="presOf" srcId="{2BA7E694-B979-4DBB-BA90-85DB6F4117A0}" destId="{034B33E8-4A24-4945-B061-9FD053B6445A}" srcOrd="0" destOrd="0" presId="urn:microsoft.com/office/officeart/2005/8/layout/arrow2"/>
    <dgm:cxn modelId="{399BF8E5-16CF-488F-82DB-5908B0273E47}" type="presOf" srcId="{5531E708-5BB3-4C16-BED0-0212D53C9724}" destId="{8D80289B-BB20-4502-8215-7F272C480199}" srcOrd="0" destOrd="0" presId="urn:microsoft.com/office/officeart/2005/8/layout/arrow2"/>
    <dgm:cxn modelId="{104253D9-2F89-4172-969C-69750E7D4D84}" type="presParOf" srcId="{034B33E8-4A24-4945-B061-9FD053B6445A}" destId="{CC6BC9F8-4CD6-4D31-868F-1EC918CD53EB}" srcOrd="0" destOrd="0" presId="urn:microsoft.com/office/officeart/2005/8/layout/arrow2"/>
    <dgm:cxn modelId="{6D46270B-C7B9-43F8-8C6E-760C4958AC67}" type="presParOf" srcId="{034B33E8-4A24-4945-B061-9FD053B6445A}" destId="{6AFBB29B-FBE5-4C0A-AAAD-A35E6B776C72}" srcOrd="1" destOrd="0" presId="urn:microsoft.com/office/officeart/2005/8/layout/arrow2"/>
    <dgm:cxn modelId="{CCA980D4-B5FE-4A0C-A9B5-EC853BB9FFDE}" type="presParOf" srcId="{6AFBB29B-FBE5-4C0A-AAAD-A35E6B776C72}" destId="{93926DEB-AE61-4EF5-8411-96E35279BB1E}" srcOrd="0" destOrd="0" presId="urn:microsoft.com/office/officeart/2005/8/layout/arrow2"/>
    <dgm:cxn modelId="{B1989326-CFF5-49F9-9F9E-40E5FD092F11}" type="presParOf" srcId="{6AFBB29B-FBE5-4C0A-AAAD-A35E6B776C72}" destId="{323EE442-6E09-49F0-BEFA-F6BB7B8A259E}" srcOrd="1" destOrd="0" presId="urn:microsoft.com/office/officeart/2005/8/layout/arrow2"/>
    <dgm:cxn modelId="{AB2EF279-07C2-4838-A9CA-F4B38C84D61C}" type="presParOf" srcId="{6AFBB29B-FBE5-4C0A-AAAD-A35E6B776C72}" destId="{A22C7527-4A8F-4DD2-93FD-FD3B14491C7C}" srcOrd="2" destOrd="0" presId="urn:microsoft.com/office/officeart/2005/8/layout/arrow2"/>
    <dgm:cxn modelId="{F927BB9D-AC80-4405-AB9F-7C9950981928}" type="presParOf" srcId="{6AFBB29B-FBE5-4C0A-AAAD-A35E6B776C72}" destId="{C35C2EE1-5D3A-4B38-BB77-9E76AEDDF37D}" srcOrd="3" destOrd="0" presId="urn:microsoft.com/office/officeart/2005/8/layout/arrow2"/>
    <dgm:cxn modelId="{0A3DB93D-AE03-42EE-AE96-2A6A76E2CD1B}" type="presParOf" srcId="{6AFBB29B-FBE5-4C0A-AAAD-A35E6B776C72}" destId="{97673E8B-6F71-45F4-807E-5220C27BEE72}" srcOrd="4" destOrd="0" presId="urn:microsoft.com/office/officeart/2005/8/layout/arrow2"/>
    <dgm:cxn modelId="{71D00090-7FA8-42E2-9EBF-F7C58B565512}" type="presParOf" srcId="{6AFBB29B-FBE5-4C0A-AAAD-A35E6B776C72}" destId="{8D80289B-BB20-4502-8215-7F272C480199}" srcOrd="5" destOrd="0" presId="urn:microsoft.com/office/officeart/2005/8/layout/arrow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6BC9F8-4CD6-4D31-868F-1EC918CD53EB}">
      <dsp:nvSpPr>
        <dsp:cNvPr id="0" name=""/>
        <dsp:cNvSpPr/>
      </dsp:nvSpPr>
      <dsp:spPr>
        <a:xfrm rot="472147">
          <a:off x="108613" y="-117545"/>
          <a:ext cx="8752920" cy="4449431"/>
        </a:xfrm>
        <a:prstGeom prst="swooshArrow">
          <a:avLst>
            <a:gd name="adj1" fmla="val 25000"/>
            <a:gd name="adj2" fmla="val 25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93926DEB-AE61-4EF5-8411-96E35279BB1E}">
      <dsp:nvSpPr>
        <dsp:cNvPr id="0" name=""/>
        <dsp:cNvSpPr/>
      </dsp:nvSpPr>
      <dsp:spPr>
        <a:xfrm>
          <a:off x="729703" y="2672246"/>
          <a:ext cx="185096" cy="185096"/>
        </a:xfrm>
        <a:prstGeom prst="ellipse">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323EE442-6E09-49F0-BEFA-F6BB7B8A259E}">
      <dsp:nvSpPr>
        <dsp:cNvPr id="0" name=""/>
        <dsp:cNvSpPr/>
      </dsp:nvSpPr>
      <dsp:spPr>
        <a:xfrm>
          <a:off x="0" y="2182489"/>
          <a:ext cx="1658747" cy="12858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079" tIns="0" rIns="0" bIns="0" numCol="1" spcCol="1270" anchor="t" anchorCtr="0">
          <a:noAutofit/>
        </a:bodyPr>
        <a:lstStyle/>
        <a:p>
          <a:pPr marL="0" lvl="0" indent="0" algn="l" defTabSz="1066800">
            <a:lnSpc>
              <a:spcPct val="90000"/>
            </a:lnSpc>
            <a:spcBef>
              <a:spcPct val="0"/>
            </a:spcBef>
            <a:spcAft>
              <a:spcPct val="35000"/>
            </a:spcAft>
            <a:buNone/>
          </a:pPr>
          <a:r>
            <a:rPr lang="en-US" sz="2400" b="0" kern="1200" dirty="0"/>
            <a:t>2012-2013</a:t>
          </a:r>
        </a:p>
      </dsp:txBody>
      <dsp:txXfrm>
        <a:off x="0" y="2182489"/>
        <a:ext cx="1658747" cy="1285885"/>
      </dsp:txXfrm>
    </dsp:sp>
    <dsp:sp modelId="{A22C7527-4A8F-4DD2-93FD-FD3B14491C7C}">
      <dsp:nvSpPr>
        <dsp:cNvPr id="0" name=""/>
        <dsp:cNvSpPr/>
      </dsp:nvSpPr>
      <dsp:spPr>
        <a:xfrm flipH="1">
          <a:off x="2916716" y="1726353"/>
          <a:ext cx="340342" cy="357443"/>
        </a:xfrm>
        <a:prstGeom prst="ellipse">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C35C2EE1-5D3A-4B38-BB77-9E76AEDDF37D}">
      <dsp:nvSpPr>
        <dsp:cNvPr id="0" name=""/>
        <dsp:cNvSpPr/>
      </dsp:nvSpPr>
      <dsp:spPr>
        <a:xfrm>
          <a:off x="1353450" y="1297280"/>
          <a:ext cx="2962304" cy="28906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296" tIns="0" rIns="0" bIns="0" numCol="1" spcCol="1270" anchor="t" anchorCtr="0">
          <a:noAutofit/>
        </a:bodyPr>
        <a:lstStyle/>
        <a:p>
          <a:pPr marL="0" lvl="0" indent="0" algn="l" defTabSz="1066800">
            <a:lnSpc>
              <a:spcPct val="90000"/>
            </a:lnSpc>
            <a:spcBef>
              <a:spcPct val="0"/>
            </a:spcBef>
            <a:spcAft>
              <a:spcPct val="35000"/>
            </a:spcAft>
            <a:buNone/>
          </a:pPr>
          <a:r>
            <a:rPr lang="en-US" sz="2400" b="0" kern="1200" dirty="0"/>
            <a:t>2014 - 2015</a:t>
          </a:r>
        </a:p>
      </dsp:txBody>
      <dsp:txXfrm>
        <a:off x="1353450" y="1297280"/>
        <a:ext cx="2962304" cy="2890670"/>
      </dsp:txXfrm>
    </dsp:sp>
    <dsp:sp modelId="{97673E8B-6F71-45F4-807E-5220C27BEE72}">
      <dsp:nvSpPr>
        <dsp:cNvPr id="0" name=""/>
        <dsp:cNvSpPr/>
      </dsp:nvSpPr>
      <dsp:spPr>
        <a:xfrm>
          <a:off x="742408" y="2672667"/>
          <a:ext cx="247001" cy="170381"/>
        </a:xfrm>
        <a:prstGeom prst="ellipse">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8D80289B-BB20-4502-8215-7F272C480199}">
      <dsp:nvSpPr>
        <dsp:cNvPr id="0" name=""/>
        <dsp:cNvSpPr/>
      </dsp:nvSpPr>
      <dsp:spPr>
        <a:xfrm>
          <a:off x="3702485" y="700503"/>
          <a:ext cx="2171350" cy="30923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5197" tIns="0" rIns="0" bIns="0" numCol="1" spcCol="1270" anchor="t" anchorCtr="0">
          <a:noAutofit/>
        </a:bodyPr>
        <a:lstStyle/>
        <a:p>
          <a:pPr marL="0" lvl="0" indent="0" algn="l" defTabSz="1155700">
            <a:lnSpc>
              <a:spcPct val="90000"/>
            </a:lnSpc>
            <a:spcBef>
              <a:spcPct val="0"/>
            </a:spcBef>
            <a:spcAft>
              <a:spcPct val="35000"/>
            </a:spcAft>
            <a:buNone/>
          </a:pPr>
          <a:r>
            <a:rPr lang="en-US" sz="2600" kern="1200" dirty="0"/>
            <a:t>2016-2018</a:t>
          </a:r>
        </a:p>
      </dsp:txBody>
      <dsp:txXfrm>
        <a:off x="3702485" y="700503"/>
        <a:ext cx="2171350" cy="3092354"/>
      </dsp:txXfrm>
    </dsp:sp>
  </dsp:spTree>
</dsp:drawing>
</file>

<file path=ppt/diagrams/layout1.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DECF0A-2D7E-489E-BB5F-E9DE0F206A9B}" type="datetimeFigureOut">
              <a:rPr lang="en-US" smtClean="0"/>
              <a:t>2/13/2023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32C898-007E-4F66-B888-C8566E93D18D}" type="slidenum">
              <a:rPr lang="en-US" smtClean="0"/>
              <a:t>‹#›</a:t>
            </a:fld>
            <a:endParaRPr lang="en-US"/>
          </a:p>
        </p:txBody>
      </p:sp>
    </p:spTree>
    <p:extLst>
      <p:ext uri="{BB962C8B-B14F-4D97-AF65-F5344CB8AC3E}">
        <p14:creationId xmlns:p14="http://schemas.microsoft.com/office/powerpoint/2010/main" val="35600860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D6F6F7E3-3E2A-41A0-90B3-ECA07D20105C}" type="slidenum">
              <a:rPr lang="de-DE" smtClean="0"/>
              <a:t>12</a:t>
            </a:fld>
            <a:endParaRPr lang="de-DE"/>
          </a:p>
        </p:txBody>
      </p:sp>
    </p:spTree>
    <p:extLst>
      <p:ext uri="{BB962C8B-B14F-4D97-AF65-F5344CB8AC3E}">
        <p14:creationId xmlns:p14="http://schemas.microsoft.com/office/powerpoint/2010/main" val="33696234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DACA411-F0BE-414B-85F7-8558E39D1CAF}" type="datetimeFigureOut">
              <a:rPr lang="en-US" smtClean="0"/>
              <a:t>2/13/2023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68652F-06D4-411C-A14E-DF34E695F9B5}" type="slidenum">
              <a:rPr lang="en-US" smtClean="0"/>
              <a:t>‹#›</a:t>
            </a:fld>
            <a:endParaRPr lang="en-US"/>
          </a:p>
        </p:txBody>
      </p:sp>
    </p:spTree>
    <p:extLst>
      <p:ext uri="{BB962C8B-B14F-4D97-AF65-F5344CB8AC3E}">
        <p14:creationId xmlns:p14="http://schemas.microsoft.com/office/powerpoint/2010/main" val="357706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DACA411-F0BE-414B-85F7-8558E39D1CAF}" type="datetimeFigureOut">
              <a:rPr lang="en-US" smtClean="0"/>
              <a:t>2/13/2023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68652F-06D4-411C-A14E-DF34E695F9B5}" type="slidenum">
              <a:rPr lang="en-US" smtClean="0"/>
              <a:t>‹#›</a:t>
            </a:fld>
            <a:endParaRPr lang="en-US"/>
          </a:p>
        </p:txBody>
      </p:sp>
    </p:spTree>
    <p:extLst>
      <p:ext uri="{BB962C8B-B14F-4D97-AF65-F5344CB8AC3E}">
        <p14:creationId xmlns:p14="http://schemas.microsoft.com/office/powerpoint/2010/main" val="2298432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DACA411-F0BE-414B-85F7-8558E39D1CAF}" type="datetimeFigureOut">
              <a:rPr lang="en-US" smtClean="0"/>
              <a:t>2/13/2023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68652F-06D4-411C-A14E-DF34E695F9B5}" type="slidenum">
              <a:rPr lang="en-US" smtClean="0"/>
              <a:t>‹#›</a:t>
            </a:fld>
            <a:endParaRPr lang="en-US"/>
          </a:p>
        </p:txBody>
      </p:sp>
    </p:spTree>
    <p:extLst>
      <p:ext uri="{BB962C8B-B14F-4D97-AF65-F5344CB8AC3E}">
        <p14:creationId xmlns:p14="http://schemas.microsoft.com/office/powerpoint/2010/main" val="23020842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DACA411-F0BE-414B-85F7-8558E39D1CAF}" type="datetimeFigureOut">
              <a:rPr lang="en-US" smtClean="0"/>
              <a:t>2/13/2023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68652F-06D4-411C-A14E-DF34E695F9B5}" type="slidenum">
              <a:rPr lang="en-US" smtClean="0"/>
              <a:t>‹#›</a:t>
            </a:fld>
            <a:endParaRPr lang="en-US"/>
          </a:p>
        </p:txBody>
      </p:sp>
    </p:spTree>
    <p:extLst>
      <p:ext uri="{BB962C8B-B14F-4D97-AF65-F5344CB8AC3E}">
        <p14:creationId xmlns:p14="http://schemas.microsoft.com/office/powerpoint/2010/main" val="4317806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DACA411-F0BE-414B-85F7-8558E39D1CAF}" type="datetimeFigureOut">
              <a:rPr lang="en-US" smtClean="0"/>
              <a:t>2/13/2023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F68652F-06D4-411C-A14E-DF34E695F9B5}" type="slidenum">
              <a:rPr lang="en-US" smtClean="0"/>
              <a:t>‹#›</a:t>
            </a:fld>
            <a:endParaRPr lang="en-US"/>
          </a:p>
        </p:txBody>
      </p:sp>
    </p:spTree>
    <p:extLst>
      <p:ext uri="{BB962C8B-B14F-4D97-AF65-F5344CB8AC3E}">
        <p14:creationId xmlns:p14="http://schemas.microsoft.com/office/powerpoint/2010/main" val="765423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DACA411-F0BE-414B-85F7-8558E39D1CAF}" type="datetimeFigureOut">
              <a:rPr lang="en-US" smtClean="0"/>
              <a:t>2/13/2023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F68652F-06D4-411C-A14E-DF34E695F9B5}" type="slidenum">
              <a:rPr lang="en-US" smtClean="0"/>
              <a:t>‹#›</a:t>
            </a:fld>
            <a:endParaRPr lang="en-US"/>
          </a:p>
        </p:txBody>
      </p:sp>
    </p:spTree>
    <p:extLst>
      <p:ext uri="{BB962C8B-B14F-4D97-AF65-F5344CB8AC3E}">
        <p14:creationId xmlns:p14="http://schemas.microsoft.com/office/powerpoint/2010/main" val="886268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ACA411-F0BE-414B-85F7-8558E39D1CAF}" type="datetimeFigureOut">
              <a:rPr lang="en-US" smtClean="0"/>
              <a:t>2/13/2023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F68652F-06D4-411C-A14E-DF34E695F9B5}" type="slidenum">
              <a:rPr lang="en-US" smtClean="0"/>
              <a:t>‹#›</a:t>
            </a:fld>
            <a:endParaRPr lang="en-US"/>
          </a:p>
        </p:txBody>
      </p:sp>
    </p:spTree>
    <p:extLst>
      <p:ext uri="{BB962C8B-B14F-4D97-AF65-F5344CB8AC3E}">
        <p14:creationId xmlns:p14="http://schemas.microsoft.com/office/powerpoint/2010/main" val="750256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DACA411-F0BE-414B-85F7-8558E39D1CAF}" type="datetimeFigureOut">
              <a:rPr lang="en-US" smtClean="0"/>
              <a:t>2/13/2023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68652F-06D4-411C-A14E-DF34E695F9B5}" type="slidenum">
              <a:rPr lang="en-US" smtClean="0"/>
              <a:t>‹#›</a:t>
            </a:fld>
            <a:endParaRPr lang="en-US"/>
          </a:p>
        </p:txBody>
      </p:sp>
    </p:spTree>
    <p:extLst>
      <p:ext uri="{BB962C8B-B14F-4D97-AF65-F5344CB8AC3E}">
        <p14:creationId xmlns:p14="http://schemas.microsoft.com/office/powerpoint/2010/main" val="495023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DACA411-F0BE-414B-85F7-8558E39D1CAF}" type="datetimeFigureOut">
              <a:rPr lang="en-US" smtClean="0"/>
              <a:t>2/13/2023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68652F-06D4-411C-A14E-DF34E695F9B5}" type="slidenum">
              <a:rPr lang="en-US" smtClean="0"/>
              <a:t>‹#›</a:t>
            </a:fld>
            <a:endParaRPr lang="en-US"/>
          </a:p>
        </p:txBody>
      </p:sp>
    </p:spTree>
    <p:extLst>
      <p:ext uri="{BB962C8B-B14F-4D97-AF65-F5344CB8AC3E}">
        <p14:creationId xmlns:p14="http://schemas.microsoft.com/office/powerpoint/2010/main" val="35342018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DACA411-F0BE-414B-85F7-8558E39D1CAF}" type="datetimeFigureOut">
              <a:rPr lang="en-US" smtClean="0"/>
              <a:t>2/13/2023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68652F-06D4-411C-A14E-DF34E695F9B5}" type="slidenum">
              <a:rPr lang="en-US" smtClean="0"/>
              <a:t>‹#›</a:t>
            </a:fld>
            <a:endParaRPr lang="en-US"/>
          </a:p>
        </p:txBody>
      </p:sp>
    </p:spTree>
    <p:extLst>
      <p:ext uri="{BB962C8B-B14F-4D97-AF65-F5344CB8AC3E}">
        <p14:creationId xmlns:p14="http://schemas.microsoft.com/office/powerpoint/2010/main" val="19493384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DACA411-F0BE-414B-85F7-8558E39D1CAF}" type="datetimeFigureOut">
              <a:rPr lang="en-US" smtClean="0"/>
              <a:t>2/13/2023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68652F-06D4-411C-A14E-DF34E695F9B5}" type="slidenum">
              <a:rPr lang="en-US" smtClean="0"/>
              <a:t>‹#›</a:t>
            </a:fld>
            <a:endParaRPr lang="en-US"/>
          </a:p>
        </p:txBody>
      </p:sp>
    </p:spTree>
    <p:extLst>
      <p:ext uri="{BB962C8B-B14F-4D97-AF65-F5344CB8AC3E}">
        <p14:creationId xmlns:p14="http://schemas.microsoft.com/office/powerpoint/2010/main" val="3024977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ACA411-F0BE-414B-85F7-8558E39D1CAF}" type="datetimeFigureOut">
              <a:rPr lang="en-US" smtClean="0"/>
              <a:t>2/13/2023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68652F-06D4-411C-A14E-DF34E695F9B5}" type="slidenum">
              <a:rPr lang="en-US" smtClean="0"/>
              <a:t>‹#›</a:t>
            </a:fld>
            <a:endParaRPr lang="en-US"/>
          </a:p>
        </p:txBody>
      </p:sp>
    </p:spTree>
    <p:extLst>
      <p:ext uri="{BB962C8B-B14F-4D97-AF65-F5344CB8AC3E}">
        <p14:creationId xmlns:p14="http://schemas.microsoft.com/office/powerpoint/2010/main" val="29400405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9.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3" Type="http://schemas.openxmlformats.org/officeDocument/2006/relationships/image" Target="../media/image14.png"/><Relationship Id="rId18" Type="http://schemas.openxmlformats.org/officeDocument/2006/relationships/image" Target="../media/image19.jpeg"/><Relationship Id="rId26" Type="http://schemas.openxmlformats.org/officeDocument/2006/relationships/hyperlink" Target="http://www.agreenium.org/" TargetMode="External"/><Relationship Id="rId39" Type="http://schemas.openxmlformats.org/officeDocument/2006/relationships/image" Target="../media/image36.png"/><Relationship Id="rId21" Type="http://schemas.openxmlformats.org/officeDocument/2006/relationships/image" Target="../media/image22.jpeg"/><Relationship Id="rId34" Type="http://schemas.openxmlformats.org/officeDocument/2006/relationships/image" Target="../media/image32.png"/><Relationship Id="rId42" Type="http://schemas.openxmlformats.org/officeDocument/2006/relationships/image" Target="../media/image39.png"/><Relationship Id="rId47" Type="http://schemas.openxmlformats.org/officeDocument/2006/relationships/image" Target="../media/image44.png"/><Relationship Id="rId50" Type="http://schemas.openxmlformats.org/officeDocument/2006/relationships/image" Target="../media/image47.jpeg"/><Relationship Id="rId55" Type="http://schemas.openxmlformats.org/officeDocument/2006/relationships/image" Target="../media/image52.emf"/><Relationship Id="rId7" Type="http://schemas.openxmlformats.org/officeDocument/2006/relationships/image" Target="../media/image8.jpeg"/><Relationship Id="rId2" Type="http://schemas.openxmlformats.org/officeDocument/2006/relationships/image" Target="../media/image2.jpeg"/><Relationship Id="rId16" Type="http://schemas.openxmlformats.org/officeDocument/2006/relationships/image" Target="../media/image17.png"/><Relationship Id="rId29" Type="http://schemas.openxmlformats.org/officeDocument/2006/relationships/image" Target="../media/image28.gif"/><Relationship Id="rId11" Type="http://schemas.openxmlformats.org/officeDocument/2006/relationships/image" Target="../media/image12.jpeg"/><Relationship Id="rId24" Type="http://schemas.openxmlformats.org/officeDocument/2006/relationships/image" Target="../media/image25.jpeg"/><Relationship Id="rId32" Type="http://schemas.openxmlformats.org/officeDocument/2006/relationships/image" Target="../media/image30.png"/><Relationship Id="rId37" Type="http://schemas.openxmlformats.org/officeDocument/2006/relationships/image" Target="../media/image34.png"/><Relationship Id="rId40" Type="http://schemas.openxmlformats.org/officeDocument/2006/relationships/image" Target="../media/image37.jpeg"/><Relationship Id="rId45" Type="http://schemas.openxmlformats.org/officeDocument/2006/relationships/image" Target="../media/image42.jpeg"/><Relationship Id="rId53" Type="http://schemas.openxmlformats.org/officeDocument/2006/relationships/image" Target="../media/image50.png"/><Relationship Id="rId5" Type="http://schemas.openxmlformats.org/officeDocument/2006/relationships/image" Target="../media/image6.png"/><Relationship Id="rId19" Type="http://schemas.openxmlformats.org/officeDocument/2006/relationships/image" Target="../media/image20.jpeg"/><Relationship Id="rId4" Type="http://schemas.openxmlformats.org/officeDocument/2006/relationships/image" Target="../media/image5.tiff"/><Relationship Id="rId9" Type="http://schemas.openxmlformats.org/officeDocument/2006/relationships/image" Target="../media/image10.jpeg"/><Relationship Id="rId14" Type="http://schemas.openxmlformats.org/officeDocument/2006/relationships/image" Target="../media/image15.jpeg"/><Relationship Id="rId22" Type="http://schemas.openxmlformats.org/officeDocument/2006/relationships/image" Target="../media/image23.jpeg"/><Relationship Id="rId27" Type="http://schemas.openxmlformats.org/officeDocument/2006/relationships/image" Target="../media/image27.jpeg"/><Relationship Id="rId30" Type="http://schemas.openxmlformats.org/officeDocument/2006/relationships/hyperlink" Target="http://www.asbraer.org.br/" TargetMode="External"/><Relationship Id="rId35" Type="http://schemas.openxmlformats.org/officeDocument/2006/relationships/hyperlink" Target="http://www.embrapa.br/" TargetMode="External"/><Relationship Id="rId43" Type="http://schemas.openxmlformats.org/officeDocument/2006/relationships/image" Target="../media/image40.jpeg"/><Relationship Id="rId48" Type="http://schemas.openxmlformats.org/officeDocument/2006/relationships/image" Target="../media/image45.jpeg"/><Relationship Id="rId56" Type="http://schemas.openxmlformats.org/officeDocument/2006/relationships/image" Target="../media/image53.emf"/><Relationship Id="rId8" Type="http://schemas.openxmlformats.org/officeDocument/2006/relationships/image" Target="../media/image9.jpeg"/><Relationship Id="rId51" Type="http://schemas.openxmlformats.org/officeDocument/2006/relationships/image" Target="../media/image48.png"/><Relationship Id="rId3" Type="http://schemas.openxmlformats.org/officeDocument/2006/relationships/image" Target="../media/image1.png"/><Relationship Id="rId12" Type="http://schemas.openxmlformats.org/officeDocument/2006/relationships/image" Target="../media/image13.png"/><Relationship Id="rId17" Type="http://schemas.openxmlformats.org/officeDocument/2006/relationships/image" Target="../media/image18.jpeg"/><Relationship Id="rId25" Type="http://schemas.openxmlformats.org/officeDocument/2006/relationships/image" Target="../media/image26.png"/><Relationship Id="rId33" Type="http://schemas.openxmlformats.org/officeDocument/2006/relationships/image" Target="../media/image31.png"/><Relationship Id="rId38" Type="http://schemas.openxmlformats.org/officeDocument/2006/relationships/image" Target="../media/image35.png"/><Relationship Id="rId46" Type="http://schemas.openxmlformats.org/officeDocument/2006/relationships/image" Target="../media/image43.png"/><Relationship Id="rId20" Type="http://schemas.openxmlformats.org/officeDocument/2006/relationships/image" Target="../media/image21.png"/><Relationship Id="rId41" Type="http://schemas.openxmlformats.org/officeDocument/2006/relationships/image" Target="../media/image38.png"/><Relationship Id="rId54"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7.jpeg"/><Relationship Id="rId15" Type="http://schemas.openxmlformats.org/officeDocument/2006/relationships/image" Target="../media/image16.jpeg"/><Relationship Id="rId23" Type="http://schemas.openxmlformats.org/officeDocument/2006/relationships/image" Target="../media/image24.jpeg"/><Relationship Id="rId28" Type="http://schemas.openxmlformats.org/officeDocument/2006/relationships/hyperlink" Target="http://www.arc.agric.za/" TargetMode="External"/><Relationship Id="rId36" Type="http://schemas.openxmlformats.org/officeDocument/2006/relationships/image" Target="../media/image33.jpeg"/><Relationship Id="rId49" Type="http://schemas.openxmlformats.org/officeDocument/2006/relationships/image" Target="../media/image46.png"/><Relationship Id="rId57" Type="http://schemas.openxmlformats.org/officeDocument/2006/relationships/image" Target="../media/image54.emf"/><Relationship Id="rId10" Type="http://schemas.openxmlformats.org/officeDocument/2006/relationships/image" Target="../media/image11.jpeg"/><Relationship Id="rId31" Type="http://schemas.openxmlformats.org/officeDocument/2006/relationships/image" Target="../media/image29.jpeg"/><Relationship Id="rId44" Type="http://schemas.openxmlformats.org/officeDocument/2006/relationships/image" Target="../media/image41.png"/><Relationship Id="rId52" Type="http://schemas.openxmlformats.org/officeDocument/2006/relationships/image" Target="../media/image49.png"/></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5.jpe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jpe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2.pn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jpe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63.jpeg"/><Relationship Id="rId1" Type="http://schemas.openxmlformats.org/officeDocument/2006/relationships/slideLayout" Target="../slideLayouts/slideLayout2.xml"/><Relationship Id="rId6" Type="http://schemas.openxmlformats.org/officeDocument/2006/relationships/image" Target="../media/image65.jpeg"/><Relationship Id="rId5" Type="http://schemas.openxmlformats.org/officeDocument/2006/relationships/image" Target="../media/image64.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2.jpeg"/><Relationship Id="rId7" Type="http://schemas.openxmlformats.org/officeDocument/2006/relationships/image" Target="../media/image7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png"/><Relationship Id="rId10" Type="http://schemas.openxmlformats.org/officeDocument/2006/relationships/image" Target="../media/image74.png"/><Relationship Id="rId4" Type="http://schemas.openxmlformats.org/officeDocument/2006/relationships/image" Target="../media/image1.png"/><Relationship Id="rId9" Type="http://schemas.openxmlformats.org/officeDocument/2006/relationships/image" Target="../media/image73.png"/></Relationships>
</file>

<file path=ppt/slides/_rels/slide13.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1.png"/><Relationship Id="rId7" Type="http://schemas.openxmlformats.org/officeDocument/2006/relationships/image" Target="../media/image78.jpe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76.jpeg"/><Relationship Id="rId4" Type="http://schemas.openxmlformats.org/officeDocument/2006/relationships/image" Target="../media/image75.jpe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ttangolo 11"/>
          <p:cNvSpPr/>
          <p:nvPr/>
        </p:nvSpPr>
        <p:spPr>
          <a:xfrm>
            <a:off x="6003667" y="3244335"/>
            <a:ext cx="237566" cy="369332"/>
          </a:xfrm>
          <a:prstGeom prst="rect">
            <a:avLst/>
          </a:prstGeom>
        </p:spPr>
        <p:txBody>
          <a:bodyPr wrap="none">
            <a:spAutoFit/>
          </a:bodyPr>
          <a:lstStyle/>
          <a:p>
            <a:r>
              <a:rPr lang="it-IT" dirty="0"/>
              <a:t> </a:t>
            </a:r>
          </a:p>
        </p:txBody>
      </p:sp>
      <p:pic>
        <p:nvPicPr>
          <p:cNvPr id="17" name="Immagine 16"/>
          <p:cNvPicPr>
            <a:picLocks noChangeAspect="1"/>
          </p:cNvPicPr>
          <p:nvPr/>
        </p:nvPicPr>
        <p:blipFill>
          <a:blip r:embed="rId2"/>
          <a:stretch>
            <a:fillRect/>
          </a:stretch>
        </p:blipFill>
        <p:spPr>
          <a:xfrm>
            <a:off x="10347797" y="172593"/>
            <a:ext cx="1092811" cy="1196628"/>
          </a:xfrm>
          <a:prstGeom prst="rect">
            <a:avLst/>
          </a:prstGeom>
        </p:spPr>
      </p:pic>
      <p:pic>
        <p:nvPicPr>
          <p:cNvPr id="20" name="Immagine 19" descr="FAO_logo_Blue_3lines_en.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1958" y="5577494"/>
            <a:ext cx="2392680" cy="966216"/>
          </a:xfrm>
          <a:prstGeom prst="rect">
            <a:avLst/>
          </a:prstGeom>
        </p:spPr>
      </p:pic>
      <p:pic>
        <p:nvPicPr>
          <p:cNvPr id="21" name="Immagine 20"/>
          <p:cNvPicPr>
            <a:picLocks noChangeAspect="1"/>
          </p:cNvPicPr>
          <p:nvPr/>
        </p:nvPicPr>
        <p:blipFill rotWithShape="1">
          <a:blip r:embed="rId4"/>
          <a:srcRect l="61730"/>
          <a:stretch/>
        </p:blipFill>
        <p:spPr>
          <a:xfrm>
            <a:off x="10347797" y="5822156"/>
            <a:ext cx="1013505" cy="728283"/>
          </a:xfrm>
          <a:prstGeom prst="rect">
            <a:avLst/>
          </a:prstGeom>
        </p:spPr>
      </p:pic>
      <p:sp>
        <p:nvSpPr>
          <p:cNvPr id="22" name="Rettangolo 21"/>
          <p:cNvSpPr/>
          <p:nvPr/>
        </p:nvSpPr>
        <p:spPr>
          <a:xfrm>
            <a:off x="491706" y="2124793"/>
            <a:ext cx="11110822" cy="2123658"/>
          </a:xfrm>
          <a:prstGeom prst="rect">
            <a:avLst/>
          </a:prstGeom>
        </p:spPr>
        <p:txBody>
          <a:bodyPr wrap="square">
            <a:spAutoFit/>
          </a:bodyPr>
          <a:lstStyle/>
          <a:p>
            <a:pPr algn="ctr"/>
            <a:r>
              <a:rPr lang="en-US" sz="5400" baseline="30000" dirty="0">
                <a:solidFill>
                  <a:srgbClr val="7CBC6F"/>
                </a:solidFill>
              </a:rPr>
              <a:t>Tropical Agriculture Platform (TAP)</a:t>
            </a:r>
          </a:p>
          <a:p>
            <a:pPr algn="ctr"/>
            <a:r>
              <a:rPr lang="is-IS" sz="2400" b="1" dirty="0"/>
              <a:t>TAP Secretariat</a:t>
            </a:r>
          </a:p>
          <a:p>
            <a:pPr algn="ctr"/>
            <a:r>
              <a:rPr lang="is-IS" sz="2400" dirty="0"/>
              <a:t>Office of Innovation</a:t>
            </a:r>
          </a:p>
          <a:p>
            <a:pPr algn="ctr"/>
            <a:r>
              <a:rPr lang="is-IS" sz="2400" dirty="0"/>
              <a:t>Food and Agriculture Organization of the UN</a:t>
            </a:r>
          </a:p>
          <a:p>
            <a:pPr algn="ctr"/>
            <a:r>
              <a:rPr lang="is-IS" sz="2400" dirty="0"/>
              <a:t>Rome</a:t>
            </a:r>
          </a:p>
        </p:txBody>
      </p:sp>
      <p:pic>
        <p:nvPicPr>
          <p:cNvPr id="2" name="Grafik 1" descr="Gipfeltreffen in Neu-Delhi">
            <a:extLst>
              <a:ext uri="{FF2B5EF4-FFF2-40B4-BE49-F238E27FC236}">
                <a16:creationId xmlns:a16="http://schemas.microsoft.com/office/drawing/2014/main" id="{351B4C9C-5D2E-0979-6053-056C0B8A6EFA}"/>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1958" y="279818"/>
            <a:ext cx="1844554" cy="982179"/>
          </a:xfrm>
          <a:prstGeom prst="rect">
            <a:avLst/>
          </a:prstGeom>
          <a:noFill/>
          <a:ln>
            <a:noFill/>
          </a:ln>
        </p:spPr>
      </p:pic>
      <p:sp>
        <p:nvSpPr>
          <p:cNvPr id="4" name="TextBox 3">
            <a:extLst>
              <a:ext uri="{FF2B5EF4-FFF2-40B4-BE49-F238E27FC236}">
                <a16:creationId xmlns:a16="http://schemas.microsoft.com/office/drawing/2014/main" id="{EEF40D06-8E13-2BF0-C77E-AE7485B9D96B}"/>
              </a:ext>
            </a:extLst>
          </p:cNvPr>
          <p:cNvSpPr txBox="1"/>
          <p:nvPr/>
        </p:nvSpPr>
        <p:spPr>
          <a:xfrm>
            <a:off x="2891790" y="5768214"/>
            <a:ext cx="6094476" cy="584775"/>
          </a:xfrm>
          <a:prstGeom prst="rect">
            <a:avLst/>
          </a:prstGeom>
          <a:noFill/>
        </p:spPr>
        <p:txBody>
          <a:bodyPr wrap="square">
            <a:spAutoFit/>
          </a:bodyPr>
          <a:lstStyle/>
          <a:p>
            <a:pPr algn="ctr"/>
            <a:r>
              <a:rPr lang="en-US" sz="2400" b="1" baseline="30000" dirty="0">
                <a:solidFill>
                  <a:srgbClr val="7CBC6F"/>
                </a:solidFill>
              </a:rPr>
              <a:t>First Agriculture Working Group Meeting</a:t>
            </a:r>
          </a:p>
          <a:p>
            <a:pPr algn="ctr"/>
            <a:r>
              <a:rPr lang="en-US" sz="2400" b="1" baseline="30000" dirty="0">
                <a:solidFill>
                  <a:srgbClr val="7CBC6F"/>
                </a:solidFill>
              </a:rPr>
              <a:t>13-15 Feb, 2023; Indore, MP, India</a:t>
            </a:r>
          </a:p>
        </p:txBody>
      </p:sp>
    </p:spTree>
    <p:extLst>
      <p:ext uri="{BB962C8B-B14F-4D97-AF65-F5344CB8AC3E}">
        <p14:creationId xmlns:p14="http://schemas.microsoft.com/office/powerpoint/2010/main" val="10060970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magine 5" descr="FAO_logo_Blue_3lines_en.jp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5342" y="97292"/>
            <a:ext cx="2392680" cy="966216"/>
          </a:xfrm>
          <a:prstGeom prst="rect">
            <a:avLst/>
          </a:prstGeom>
        </p:spPr>
      </p:pic>
      <p:pic>
        <p:nvPicPr>
          <p:cNvPr id="10" name="Immagine 9"/>
          <p:cNvPicPr>
            <a:picLocks noChangeAspect="1"/>
          </p:cNvPicPr>
          <p:nvPr/>
        </p:nvPicPr>
        <p:blipFill>
          <a:blip r:embed="rId3"/>
          <a:stretch>
            <a:fillRect/>
          </a:stretch>
        </p:blipFill>
        <p:spPr>
          <a:xfrm>
            <a:off x="9028682" y="1938824"/>
            <a:ext cx="2721780" cy="2980351"/>
          </a:xfrm>
          <a:prstGeom prst="rect">
            <a:avLst/>
          </a:prstGeom>
        </p:spPr>
      </p:pic>
      <p:sp>
        <p:nvSpPr>
          <p:cNvPr id="11" name="Rettangolo 10"/>
          <p:cNvSpPr/>
          <p:nvPr/>
        </p:nvSpPr>
        <p:spPr>
          <a:xfrm>
            <a:off x="1802428" y="1095248"/>
            <a:ext cx="7900372" cy="2590453"/>
          </a:xfrm>
          <a:prstGeom prst="rect">
            <a:avLst/>
          </a:prstGeom>
        </p:spPr>
        <p:txBody>
          <a:bodyPr wrap="square">
            <a:spAutoFit/>
          </a:bodyPr>
          <a:lstStyle/>
          <a:p>
            <a:pPr algn="ctr"/>
            <a:endParaRPr lang="it-IT" sz="1000" dirty="0">
              <a:solidFill>
                <a:srgbClr val="7CBC6F"/>
              </a:solidFill>
            </a:endParaRPr>
          </a:p>
          <a:p>
            <a:pPr algn="ctr"/>
            <a:endParaRPr lang="it-IT" sz="900" dirty="0">
              <a:solidFill>
                <a:srgbClr val="7CBC6F"/>
              </a:solidFill>
            </a:endParaRPr>
          </a:p>
          <a:p>
            <a:pPr algn="ctr"/>
            <a:endParaRPr lang="is-IS" sz="4400" baseline="30000" dirty="0"/>
          </a:p>
          <a:p>
            <a:pPr algn="ctr"/>
            <a:endParaRPr lang="it-IT" sz="4400" dirty="0">
              <a:solidFill>
                <a:srgbClr val="7CBC6F"/>
              </a:solidFill>
            </a:endParaRPr>
          </a:p>
          <a:p>
            <a:pPr algn="ctr"/>
            <a:endParaRPr lang="pt-BR" sz="2400" baseline="30000" dirty="0"/>
          </a:p>
          <a:p>
            <a:pPr algn="ctr">
              <a:lnSpc>
                <a:spcPct val="150000"/>
              </a:lnSpc>
            </a:pPr>
            <a:endParaRPr lang="it-IT" sz="3600" dirty="0"/>
          </a:p>
        </p:txBody>
      </p:sp>
      <p:sp>
        <p:nvSpPr>
          <p:cNvPr id="2" name="Titel 1">
            <a:extLst>
              <a:ext uri="{FF2B5EF4-FFF2-40B4-BE49-F238E27FC236}">
                <a16:creationId xmlns:a16="http://schemas.microsoft.com/office/drawing/2014/main" id="{66F0561C-7352-4F08-900B-890512CFDBE5}"/>
              </a:ext>
            </a:extLst>
          </p:cNvPr>
          <p:cNvSpPr>
            <a:spLocks noGrp="1"/>
          </p:cNvSpPr>
          <p:nvPr>
            <p:ph type="title"/>
          </p:nvPr>
        </p:nvSpPr>
        <p:spPr>
          <a:xfrm>
            <a:off x="3457127" y="273703"/>
            <a:ext cx="6455880" cy="694029"/>
          </a:xfrm>
        </p:spPr>
        <p:txBody>
          <a:bodyPr>
            <a:noAutofit/>
          </a:bodyPr>
          <a:lstStyle/>
          <a:p>
            <a:pPr algn="l"/>
            <a:r>
              <a:rPr lang="en-US" sz="2500" b="1" dirty="0">
                <a:solidFill>
                  <a:srgbClr val="7CBC6F"/>
                </a:solidFill>
                <a:latin typeface="+mn-lt"/>
              </a:rPr>
              <a:t>Tropical Agriculture Platform (TAP)</a:t>
            </a:r>
            <a:endParaRPr lang="en-US" sz="2800" b="1" dirty="0">
              <a:latin typeface="+mn-lt"/>
            </a:endParaRPr>
          </a:p>
        </p:txBody>
      </p:sp>
      <p:sp>
        <p:nvSpPr>
          <p:cNvPr id="7" name="Textfeld 6">
            <a:extLst>
              <a:ext uri="{FF2B5EF4-FFF2-40B4-BE49-F238E27FC236}">
                <a16:creationId xmlns:a16="http://schemas.microsoft.com/office/drawing/2014/main" id="{541211BD-3EF0-F513-F36C-533005794A54}"/>
              </a:ext>
            </a:extLst>
          </p:cNvPr>
          <p:cNvSpPr txBox="1"/>
          <p:nvPr/>
        </p:nvSpPr>
        <p:spPr>
          <a:xfrm>
            <a:off x="809297" y="1361263"/>
            <a:ext cx="7900373" cy="4903907"/>
          </a:xfrm>
          <a:prstGeom prst="rect">
            <a:avLst/>
          </a:prstGeom>
          <a:noFill/>
        </p:spPr>
        <p:txBody>
          <a:bodyPr wrap="square">
            <a:spAutoFit/>
          </a:bodyPr>
          <a:lstStyle/>
          <a:p>
            <a:pPr marL="342900" indent="-342900">
              <a:spcBef>
                <a:spcPts val="100"/>
              </a:spcBef>
              <a:buFont typeface="Wingdings" pitchFamily="2" charset="2"/>
              <a:buChar char="§"/>
            </a:pPr>
            <a:r>
              <a:rPr lang="en-US" dirty="0"/>
              <a:t>TAP is a </a:t>
            </a:r>
            <a:r>
              <a:rPr lang="en-US" b="1" dirty="0"/>
              <a:t>G20 initiative</a:t>
            </a:r>
            <a:r>
              <a:rPr lang="en-US" dirty="0"/>
              <a:t>, established at the 1st MACS meeting in Mexico in 2012 to promote greater coherence and impact of </a:t>
            </a:r>
            <a:r>
              <a:rPr lang="en-US" b="1" dirty="0"/>
              <a:t>Capacity Development (CD) and knowledge sharing to strengthen National Agricultural Innovation System (AIS)</a:t>
            </a:r>
            <a:r>
              <a:rPr lang="en-US" dirty="0"/>
              <a:t>.</a:t>
            </a:r>
          </a:p>
          <a:p>
            <a:pPr marL="342900" indent="-342900">
              <a:spcBef>
                <a:spcPts val="100"/>
              </a:spcBef>
              <a:buFont typeface="Wingdings" pitchFamily="2" charset="2"/>
              <a:buChar char="§"/>
            </a:pPr>
            <a:endParaRPr lang="en-US" dirty="0"/>
          </a:p>
          <a:p>
            <a:pPr marL="342900" indent="-342900">
              <a:spcBef>
                <a:spcPts val="100"/>
              </a:spcBef>
              <a:buFont typeface="Wingdings" pitchFamily="2" charset="2"/>
              <a:buChar char="§"/>
            </a:pPr>
            <a:r>
              <a:rPr lang="en-US" dirty="0"/>
              <a:t>TAP is a </a:t>
            </a:r>
            <a:r>
              <a:rPr lang="en-US" b="1" dirty="0"/>
              <a:t>multilateral facilitation mechanism</a:t>
            </a:r>
            <a:r>
              <a:rPr lang="en-US" dirty="0"/>
              <a:t> to promote greater coherence and impact of Capacity Development (CD) programs and knowledge sharing to </a:t>
            </a:r>
            <a:r>
              <a:rPr lang="en-US" b="1" dirty="0"/>
              <a:t>strengthen Agricultural Innovation System (AIS)</a:t>
            </a:r>
            <a:r>
              <a:rPr lang="en-US" dirty="0"/>
              <a:t> in the tropics and sub-tropics. </a:t>
            </a:r>
          </a:p>
          <a:p>
            <a:pPr marL="342900" indent="-342900">
              <a:spcBef>
                <a:spcPts val="100"/>
              </a:spcBef>
              <a:buFont typeface="Wingdings" pitchFamily="2" charset="2"/>
              <a:buChar char="§"/>
            </a:pPr>
            <a:endParaRPr lang="en-US" dirty="0"/>
          </a:p>
          <a:p>
            <a:pPr marL="342900" indent="-342900">
              <a:spcBef>
                <a:spcPts val="100"/>
              </a:spcBef>
              <a:buFont typeface="Wingdings" pitchFamily="2" charset="2"/>
              <a:buChar char="§"/>
            </a:pPr>
            <a:r>
              <a:rPr lang="en-US" dirty="0"/>
              <a:t>Governance includes  Partners Assembly (PA), Steering Committee, and the Secretariat. </a:t>
            </a:r>
          </a:p>
          <a:p>
            <a:pPr marL="342900" indent="-342900">
              <a:spcBef>
                <a:spcPts val="100"/>
              </a:spcBef>
              <a:buFont typeface="Wingdings" pitchFamily="2" charset="2"/>
              <a:buChar char="§"/>
            </a:pPr>
            <a:endParaRPr lang="en-US" dirty="0"/>
          </a:p>
          <a:p>
            <a:pPr marL="342900" indent="-342900">
              <a:spcBef>
                <a:spcPts val="100"/>
              </a:spcBef>
              <a:buFont typeface="Wingdings" pitchFamily="2" charset="2"/>
              <a:buChar char="§"/>
            </a:pPr>
            <a:r>
              <a:rPr lang="en-US" b="1" dirty="0"/>
              <a:t>TAP-PA approved the TAP Action Plans:</a:t>
            </a:r>
            <a:r>
              <a:rPr lang="en-US" dirty="0"/>
              <a:t> </a:t>
            </a:r>
          </a:p>
          <a:p>
            <a:pPr marL="800100" lvl="1" indent="-342900">
              <a:spcBef>
                <a:spcPts val="100"/>
              </a:spcBef>
              <a:buFont typeface="Wingdings" pitchFamily="2" charset="2"/>
              <a:buChar char="§"/>
            </a:pPr>
            <a:r>
              <a:rPr lang="en-US" b="1" dirty="0"/>
              <a:t>2014-2017 / 2018-2021 </a:t>
            </a:r>
            <a:r>
              <a:rPr lang="en-US" dirty="0"/>
              <a:t>focused on developing and piloting the Common Framework on CD for AIS.</a:t>
            </a:r>
          </a:p>
          <a:p>
            <a:pPr marL="800100" lvl="1" indent="-342900">
              <a:spcBef>
                <a:spcPts val="100"/>
              </a:spcBef>
              <a:buFont typeface="Wingdings" pitchFamily="2" charset="2"/>
              <a:buChar char="§"/>
            </a:pPr>
            <a:r>
              <a:rPr lang="en-US" b="1" dirty="0"/>
              <a:t>2022-2025</a:t>
            </a:r>
            <a:r>
              <a:rPr lang="en-US" dirty="0"/>
              <a:t> focused on mainstream AIS approaches at the national, regional and global institutional and policy level.</a:t>
            </a:r>
          </a:p>
        </p:txBody>
      </p:sp>
    </p:spTree>
    <p:extLst>
      <p:ext uri="{BB962C8B-B14F-4D97-AF65-F5344CB8AC3E}">
        <p14:creationId xmlns:p14="http://schemas.microsoft.com/office/powerpoint/2010/main" val="1546327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magine 5" descr="FAO_logo_Blue_3lines_en.jp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0960" y="83071"/>
            <a:ext cx="2392680" cy="966216"/>
          </a:xfrm>
          <a:prstGeom prst="rect">
            <a:avLst/>
          </a:prstGeom>
        </p:spPr>
      </p:pic>
      <p:pic>
        <p:nvPicPr>
          <p:cNvPr id="10" name="Immagine 9"/>
          <p:cNvPicPr>
            <a:picLocks noChangeAspect="1"/>
          </p:cNvPicPr>
          <p:nvPr/>
        </p:nvPicPr>
        <p:blipFill>
          <a:blip r:embed="rId3"/>
          <a:stretch>
            <a:fillRect/>
          </a:stretch>
        </p:blipFill>
        <p:spPr>
          <a:xfrm>
            <a:off x="10790545" y="158327"/>
            <a:ext cx="731711" cy="801224"/>
          </a:xfrm>
          <a:prstGeom prst="rect">
            <a:avLst/>
          </a:prstGeom>
        </p:spPr>
      </p:pic>
      <p:sp>
        <p:nvSpPr>
          <p:cNvPr id="11" name="Rettangolo 10"/>
          <p:cNvSpPr/>
          <p:nvPr/>
        </p:nvSpPr>
        <p:spPr>
          <a:xfrm>
            <a:off x="1802428" y="1095248"/>
            <a:ext cx="7900372" cy="2590453"/>
          </a:xfrm>
          <a:prstGeom prst="rect">
            <a:avLst/>
          </a:prstGeom>
        </p:spPr>
        <p:txBody>
          <a:bodyPr wrap="square">
            <a:spAutoFit/>
          </a:bodyPr>
          <a:lstStyle/>
          <a:p>
            <a:pPr algn="ctr"/>
            <a:endParaRPr lang="it-IT" sz="1000" dirty="0">
              <a:solidFill>
                <a:srgbClr val="7CBC6F"/>
              </a:solidFill>
            </a:endParaRPr>
          </a:p>
          <a:p>
            <a:pPr algn="ctr"/>
            <a:endParaRPr lang="it-IT" sz="900" dirty="0">
              <a:solidFill>
                <a:srgbClr val="7CBC6F"/>
              </a:solidFill>
            </a:endParaRPr>
          </a:p>
          <a:p>
            <a:pPr algn="ctr"/>
            <a:endParaRPr lang="is-IS" sz="4400" baseline="30000" dirty="0"/>
          </a:p>
          <a:p>
            <a:pPr algn="ctr"/>
            <a:endParaRPr lang="it-IT" sz="4400" dirty="0">
              <a:solidFill>
                <a:srgbClr val="7CBC6F"/>
              </a:solidFill>
            </a:endParaRPr>
          </a:p>
          <a:p>
            <a:pPr algn="ctr"/>
            <a:endParaRPr lang="pt-BR" sz="2400" baseline="30000" dirty="0"/>
          </a:p>
          <a:p>
            <a:pPr algn="ctr">
              <a:lnSpc>
                <a:spcPct val="150000"/>
              </a:lnSpc>
            </a:pPr>
            <a:endParaRPr lang="it-IT" sz="3600" dirty="0"/>
          </a:p>
        </p:txBody>
      </p:sp>
      <p:sp>
        <p:nvSpPr>
          <p:cNvPr id="2" name="Titel 1">
            <a:extLst>
              <a:ext uri="{FF2B5EF4-FFF2-40B4-BE49-F238E27FC236}">
                <a16:creationId xmlns:a16="http://schemas.microsoft.com/office/drawing/2014/main" id="{66F0561C-7352-4F08-900B-890512CFDBE5}"/>
              </a:ext>
            </a:extLst>
          </p:cNvPr>
          <p:cNvSpPr>
            <a:spLocks noGrp="1"/>
          </p:cNvSpPr>
          <p:nvPr>
            <p:ph type="title"/>
          </p:nvPr>
        </p:nvSpPr>
        <p:spPr>
          <a:xfrm>
            <a:off x="5415479" y="175761"/>
            <a:ext cx="2071059" cy="731805"/>
          </a:xfrm>
        </p:spPr>
        <p:txBody>
          <a:bodyPr>
            <a:noAutofit/>
          </a:bodyPr>
          <a:lstStyle/>
          <a:p>
            <a:pPr algn="l"/>
            <a:r>
              <a:rPr lang="en-US" sz="2500" b="1" dirty="0">
                <a:solidFill>
                  <a:srgbClr val="7CBC6F"/>
                </a:solidFill>
                <a:latin typeface="+mn-lt"/>
              </a:rPr>
              <a:t>TAP Partners</a:t>
            </a:r>
            <a:endParaRPr lang="en-US" sz="2800" b="1" dirty="0">
              <a:latin typeface="+mn-lt"/>
            </a:endParaRPr>
          </a:p>
        </p:txBody>
      </p:sp>
      <p:grpSp>
        <p:nvGrpSpPr>
          <p:cNvPr id="64" name="Gruppieren 63">
            <a:extLst>
              <a:ext uri="{FF2B5EF4-FFF2-40B4-BE49-F238E27FC236}">
                <a16:creationId xmlns:a16="http://schemas.microsoft.com/office/drawing/2014/main" id="{6FA7CDB8-D1C3-C8E6-FD72-BFB9C54703C1}"/>
              </a:ext>
            </a:extLst>
          </p:cNvPr>
          <p:cNvGrpSpPr/>
          <p:nvPr/>
        </p:nvGrpSpPr>
        <p:grpSpPr>
          <a:xfrm>
            <a:off x="474453" y="1377131"/>
            <a:ext cx="11274723" cy="5178944"/>
            <a:chOff x="260669" y="1935682"/>
            <a:chExt cx="8855075" cy="4207621"/>
          </a:xfrm>
        </p:grpSpPr>
        <p:sp>
          <p:nvSpPr>
            <p:cNvPr id="56" name="AutoShape 4" descr="Risultati immagini per relaser logo">
              <a:extLst>
                <a:ext uri="{FF2B5EF4-FFF2-40B4-BE49-F238E27FC236}">
                  <a16:creationId xmlns:a16="http://schemas.microsoft.com/office/drawing/2014/main" id="{51ABF4F7-B40E-1257-A3EE-00CC95ECD0D8}"/>
                </a:ext>
              </a:extLst>
            </p:cNvPr>
            <p:cNvSpPr>
              <a:spLocks noChangeAspect="1" noChangeArrowheads="1"/>
            </p:cNvSpPr>
            <p:nvPr/>
          </p:nvSpPr>
          <p:spPr bwMode="auto">
            <a:xfrm>
              <a:off x="1966067" y="5845264"/>
              <a:ext cx="1254420" cy="298039"/>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350"/>
            </a:p>
          </p:txBody>
        </p:sp>
        <p:pic>
          <p:nvPicPr>
            <p:cNvPr id="8" name="Picture 44">
              <a:extLst>
                <a:ext uri="{FF2B5EF4-FFF2-40B4-BE49-F238E27FC236}">
                  <a16:creationId xmlns:a16="http://schemas.microsoft.com/office/drawing/2014/main" id="{C0979B52-C323-B2EF-50CE-512C87B3E79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4081" y="1935682"/>
              <a:ext cx="626490" cy="612013"/>
            </a:xfrm>
            <a:prstGeom prst="rect">
              <a:avLst/>
            </a:prstGeom>
          </p:spPr>
        </p:pic>
        <p:pic>
          <p:nvPicPr>
            <p:cNvPr id="12" name="Picture 58">
              <a:extLst>
                <a:ext uri="{FF2B5EF4-FFF2-40B4-BE49-F238E27FC236}">
                  <a16:creationId xmlns:a16="http://schemas.microsoft.com/office/drawing/2014/main" id="{41D70EE1-7F4F-2942-22D8-85B6F7D237AD}"/>
                </a:ext>
              </a:extLst>
            </p:cNvPr>
            <p:cNvPicPr>
              <a:picLocks noChangeAspect="1"/>
            </p:cNvPicPr>
            <p:nvPr/>
          </p:nvPicPr>
          <p:blipFill>
            <a:blip r:embed="rId5"/>
            <a:stretch>
              <a:fillRect/>
            </a:stretch>
          </p:blipFill>
          <p:spPr>
            <a:xfrm>
              <a:off x="1142544" y="1974052"/>
              <a:ext cx="806648" cy="672550"/>
            </a:xfrm>
            <a:prstGeom prst="rect">
              <a:avLst/>
            </a:prstGeom>
          </p:spPr>
        </p:pic>
        <p:pic>
          <p:nvPicPr>
            <p:cNvPr id="13" name="Picture 65">
              <a:extLst>
                <a:ext uri="{FF2B5EF4-FFF2-40B4-BE49-F238E27FC236}">
                  <a16:creationId xmlns:a16="http://schemas.microsoft.com/office/drawing/2014/main" id="{8E929FDD-F8AC-5085-F1DB-B1B9AD2F2C8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286540" y="1963477"/>
              <a:ext cx="712811" cy="584218"/>
            </a:xfrm>
            <a:prstGeom prst="rect">
              <a:avLst/>
            </a:prstGeom>
          </p:spPr>
        </p:pic>
        <p:pic>
          <p:nvPicPr>
            <p:cNvPr id="14" name="Picture 69">
              <a:extLst>
                <a:ext uri="{FF2B5EF4-FFF2-40B4-BE49-F238E27FC236}">
                  <a16:creationId xmlns:a16="http://schemas.microsoft.com/office/drawing/2014/main" id="{44686DEB-6A96-A3D4-93AE-39C007479C1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266430" y="2022607"/>
              <a:ext cx="534808" cy="514299"/>
            </a:xfrm>
            <a:prstGeom prst="rect">
              <a:avLst/>
            </a:prstGeom>
          </p:spPr>
        </p:pic>
        <p:pic>
          <p:nvPicPr>
            <p:cNvPr id="15" name="Picture 71">
              <a:extLst>
                <a:ext uri="{FF2B5EF4-FFF2-40B4-BE49-F238E27FC236}">
                  <a16:creationId xmlns:a16="http://schemas.microsoft.com/office/drawing/2014/main" id="{BC1D5CD3-1328-5F30-A497-6348BA108FA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818732" y="3056589"/>
              <a:ext cx="831241" cy="285097"/>
            </a:xfrm>
            <a:prstGeom prst="rect">
              <a:avLst/>
            </a:prstGeom>
          </p:spPr>
        </p:pic>
        <p:pic>
          <p:nvPicPr>
            <p:cNvPr id="16" name="Picture 82">
              <a:extLst>
                <a:ext uri="{FF2B5EF4-FFF2-40B4-BE49-F238E27FC236}">
                  <a16:creationId xmlns:a16="http://schemas.microsoft.com/office/drawing/2014/main" id="{4B376509-3D62-A925-E69C-748BCA5B0D4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407760" y="3068014"/>
              <a:ext cx="783306" cy="249928"/>
            </a:xfrm>
            <a:prstGeom prst="rect">
              <a:avLst/>
            </a:prstGeom>
          </p:spPr>
        </p:pic>
        <p:pic>
          <p:nvPicPr>
            <p:cNvPr id="17" name="Picture 86">
              <a:extLst>
                <a:ext uri="{FF2B5EF4-FFF2-40B4-BE49-F238E27FC236}">
                  <a16:creationId xmlns:a16="http://schemas.microsoft.com/office/drawing/2014/main" id="{9BDE03A3-6C27-5C51-E23F-B42861DE7E7B}"/>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472034" y="3010736"/>
              <a:ext cx="1643710" cy="278235"/>
            </a:xfrm>
            <a:prstGeom prst="rect">
              <a:avLst/>
            </a:prstGeom>
          </p:spPr>
        </p:pic>
        <p:pic>
          <p:nvPicPr>
            <p:cNvPr id="18" name="Picture 88">
              <a:extLst>
                <a:ext uri="{FF2B5EF4-FFF2-40B4-BE49-F238E27FC236}">
                  <a16:creationId xmlns:a16="http://schemas.microsoft.com/office/drawing/2014/main" id="{E0C80F43-C585-F782-2ED6-0DE8AEA1329C}"/>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443743" y="3779935"/>
              <a:ext cx="458541" cy="383426"/>
            </a:xfrm>
            <a:prstGeom prst="rect">
              <a:avLst/>
            </a:prstGeom>
          </p:spPr>
        </p:pic>
        <p:pic>
          <p:nvPicPr>
            <p:cNvPr id="19" name="Picture 89">
              <a:extLst>
                <a:ext uri="{FF2B5EF4-FFF2-40B4-BE49-F238E27FC236}">
                  <a16:creationId xmlns:a16="http://schemas.microsoft.com/office/drawing/2014/main" id="{68596F44-EC1A-B274-0732-778A2A1BA0C1}"/>
                </a:ext>
              </a:extLst>
            </p:cNvPr>
            <p:cNvPicPr>
              <a:picLocks noChangeAspect="1"/>
            </p:cNvPicPr>
            <p:nvPr/>
          </p:nvPicPr>
          <p:blipFill>
            <a:blip r:embed="rId12" cstate="print">
              <a:extLst>
                <a:ext uri="{28A0092B-C50C-407E-A947-70E740481C1C}">
                  <a14:useLocalDpi xmlns:a14="http://schemas.microsoft.com/office/drawing/2010/main" val="0"/>
                </a:ext>
              </a:extLst>
            </a:blip>
            <a:srcRect/>
            <a:stretch/>
          </p:blipFill>
          <p:spPr>
            <a:xfrm>
              <a:off x="5252942" y="3669203"/>
              <a:ext cx="545659" cy="545513"/>
            </a:xfrm>
            <a:prstGeom prst="rect">
              <a:avLst/>
            </a:prstGeom>
          </p:spPr>
        </p:pic>
        <p:pic>
          <p:nvPicPr>
            <p:cNvPr id="20" name="Picture 90">
              <a:extLst>
                <a:ext uri="{FF2B5EF4-FFF2-40B4-BE49-F238E27FC236}">
                  <a16:creationId xmlns:a16="http://schemas.microsoft.com/office/drawing/2014/main" id="{255C58AD-4C71-A4A5-FCD6-7F4B1BFF28B5}"/>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2617584" y="4660145"/>
              <a:ext cx="1235132" cy="291971"/>
            </a:xfrm>
            <a:prstGeom prst="rect">
              <a:avLst/>
            </a:prstGeom>
          </p:spPr>
        </p:pic>
        <p:pic>
          <p:nvPicPr>
            <p:cNvPr id="21" name="Picture 91">
              <a:extLst>
                <a:ext uri="{FF2B5EF4-FFF2-40B4-BE49-F238E27FC236}">
                  <a16:creationId xmlns:a16="http://schemas.microsoft.com/office/drawing/2014/main" id="{636A6A9F-48DE-F158-2F4E-D712CBEE99F8}"/>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6409447" y="4675637"/>
              <a:ext cx="729270" cy="320875"/>
            </a:xfrm>
            <a:prstGeom prst="rect">
              <a:avLst/>
            </a:prstGeom>
          </p:spPr>
        </p:pic>
        <p:pic>
          <p:nvPicPr>
            <p:cNvPr id="23" name="Picture 94">
              <a:extLst>
                <a:ext uri="{FF2B5EF4-FFF2-40B4-BE49-F238E27FC236}">
                  <a16:creationId xmlns:a16="http://schemas.microsoft.com/office/drawing/2014/main" id="{D571ACDC-322B-AC3E-9CF8-4565476C4840}"/>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3852716" y="3695800"/>
              <a:ext cx="1406052" cy="554673"/>
            </a:xfrm>
            <a:prstGeom prst="rect">
              <a:avLst/>
            </a:prstGeom>
          </p:spPr>
        </p:pic>
        <p:pic>
          <p:nvPicPr>
            <p:cNvPr id="24" name="Picture 95">
              <a:extLst>
                <a:ext uri="{FF2B5EF4-FFF2-40B4-BE49-F238E27FC236}">
                  <a16:creationId xmlns:a16="http://schemas.microsoft.com/office/drawing/2014/main" id="{74696687-2147-00ED-DC00-382E094515E4}"/>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6032868" y="3740341"/>
              <a:ext cx="590446" cy="507080"/>
            </a:xfrm>
            <a:prstGeom prst="rect">
              <a:avLst/>
            </a:prstGeom>
          </p:spPr>
        </p:pic>
        <p:pic>
          <p:nvPicPr>
            <p:cNvPr id="25" name="Picture 96">
              <a:extLst>
                <a:ext uri="{FF2B5EF4-FFF2-40B4-BE49-F238E27FC236}">
                  <a16:creationId xmlns:a16="http://schemas.microsoft.com/office/drawing/2014/main" id="{F150B25F-FCFF-3483-855B-99D4B55C0CC1}"/>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6842434" y="3737291"/>
              <a:ext cx="372866" cy="445658"/>
            </a:xfrm>
            <a:prstGeom prst="rect">
              <a:avLst/>
            </a:prstGeom>
          </p:spPr>
        </p:pic>
        <p:pic>
          <p:nvPicPr>
            <p:cNvPr id="26" name="Picture 97">
              <a:extLst>
                <a:ext uri="{FF2B5EF4-FFF2-40B4-BE49-F238E27FC236}">
                  <a16:creationId xmlns:a16="http://schemas.microsoft.com/office/drawing/2014/main" id="{080D349A-DA7F-952B-C24E-0D8B67AB6BC0}"/>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260669" y="5548500"/>
              <a:ext cx="1291490" cy="207698"/>
            </a:xfrm>
            <a:prstGeom prst="rect">
              <a:avLst/>
            </a:prstGeom>
          </p:spPr>
        </p:pic>
        <p:pic>
          <p:nvPicPr>
            <p:cNvPr id="27" name="Picture 98">
              <a:extLst>
                <a:ext uri="{FF2B5EF4-FFF2-40B4-BE49-F238E27FC236}">
                  <a16:creationId xmlns:a16="http://schemas.microsoft.com/office/drawing/2014/main" id="{DC551306-E8EB-AAB3-BFA2-6257087F1888}"/>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1841903" y="4741998"/>
              <a:ext cx="669410" cy="171660"/>
            </a:xfrm>
            <a:prstGeom prst="rect">
              <a:avLst/>
            </a:prstGeom>
          </p:spPr>
        </p:pic>
        <p:pic>
          <p:nvPicPr>
            <p:cNvPr id="28" name="Picture 99">
              <a:extLst>
                <a:ext uri="{FF2B5EF4-FFF2-40B4-BE49-F238E27FC236}">
                  <a16:creationId xmlns:a16="http://schemas.microsoft.com/office/drawing/2014/main" id="{9D5AD1CB-8B9A-BDA1-75A6-105FB6924B41}"/>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4149527" y="2022607"/>
              <a:ext cx="809847" cy="406642"/>
            </a:xfrm>
            <a:prstGeom prst="rect">
              <a:avLst/>
            </a:prstGeom>
          </p:spPr>
        </p:pic>
        <p:pic>
          <p:nvPicPr>
            <p:cNvPr id="29" name="Picture 100">
              <a:extLst>
                <a:ext uri="{FF2B5EF4-FFF2-40B4-BE49-F238E27FC236}">
                  <a16:creationId xmlns:a16="http://schemas.microsoft.com/office/drawing/2014/main" id="{EAA3A260-C90B-8880-8B03-08DA8ACC67A0}"/>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5109778" y="4592573"/>
              <a:ext cx="763460" cy="381649"/>
            </a:xfrm>
            <a:prstGeom prst="rect">
              <a:avLst/>
            </a:prstGeom>
          </p:spPr>
        </p:pic>
        <p:pic>
          <p:nvPicPr>
            <p:cNvPr id="30" name="Picture 101">
              <a:extLst>
                <a:ext uri="{FF2B5EF4-FFF2-40B4-BE49-F238E27FC236}">
                  <a16:creationId xmlns:a16="http://schemas.microsoft.com/office/drawing/2014/main" id="{EE248EBB-5715-1501-000D-2BCAC702FBE8}"/>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7902509" y="5386892"/>
              <a:ext cx="330886" cy="323240"/>
            </a:xfrm>
            <a:prstGeom prst="rect">
              <a:avLst/>
            </a:prstGeom>
          </p:spPr>
        </p:pic>
        <p:pic>
          <p:nvPicPr>
            <p:cNvPr id="31" name="Picture 103">
              <a:extLst>
                <a:ext uri="{FF2B5EF4-FFF2-40B4-BE49-F238E27FC236}">
                  <a16:creationId xmlns:a16="http://schemas.microsoft.com/office/drawing/2014/main" id="{6CFF1294-0A26-2092-C57D-A44F25E9A912}"/>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2038892" y="3007998"/>
              <a:ext cx="706865" cy="422127"/>
            </a:xfrm>
            <a:prstGeom prst="rect">
              <a:avLst/>
            </a:prstGeom>
          </p:spPr>
        </p:pic>
        <p:pic>
          <p:nvPicPr>
            <p:cNvPr id="32" name="Picture 104">
              <a:extLst>
                <a:ext uri="{FF2B5EF4-FFF2-40B4-BE49-F238E27FC236}">
                  <a16:creationId xmlns:a16="http://schemas.microsoft.com/office/drawing/2014/main" id="{0D3B3D0F-F7AC-4CF6-AD4F-2EC0A038693A}"/>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214826" y="3662241"/>
              <a:ext cx="981128" cy="663280"/>
            </a:xfrm>
            <a:prstGeom prst="rect">
              <a:avLst/>
            </a:prstGeom>
          </p:spPr>
        </p:pic>
        <p:pic>
          <p:nvPicPr>
            <p:cNvPr id="33" name="Picture 105">
              <a:extLst>
                <a:ext uri="{FF2B5EF4-FFF2-40B4-BE49-F238E27FC236}">
                  <a16:creationId xmlns:a16="http://schemas.microsoft.com/office/drawing/2014/main" id="{B115327D-FC1E-298B-2151-80504B76AE5B}"/>
                </a:ext>
              </a:extLst>
            </p:cNvPr>
            <p:cNvPicPr>
              <a:picLocks noChangeAspect="1"/>
            </p:cNvPicPr>
            <p:nvPr/>
          </p:nvPicPr>
          <p:blipFill>
            <a:blip r:embed="rId25" cstate="print">
              <a:extLst>
                <a:ext uri="{28A0092B-C50C-407E-A947-70E740481C1C}">
                  <a14:useLocalDpi xmlns:a14="http://schemas.microsoft.com/office/drawing/2010/main" val="0"/>
                </a:ext>
              </a:extLst>
            </a:blip>
            <a:stretch>
              <a:fillRect/>
            </a:stretch>
          </p:blipFill>
          <p:spPr>
            <a:xfrm>
              <a:off x="7344696" y="3798270"/>
              <a:ext cx="682187" cy="306011"/>
            </a:xfrm>
            <a:prstGeom prst="rect">
              <a:avLst/>
            </a:prstGeom>
          </p:spPr>
        </p:pic>
        <p:pic>
          <p:nvPicPr>
            <p:cNvPr id="34" name="Picture 5" descr="AGREENIUM logo">
              <a:hlinkClick r:id="rId26"/>
              <a:extLst>
                <a:ext uri="{FF2B5EF4-FFF2-40B4-BE49-F238E27FC236}">
                  <a16:creationId xmlns:a16="http://schemas.microsoft.com/office/drawing/2014/main" id="{F2C41EF4-B4B1-1219-B7B5-67002CBCE3E8}"/>
                </a:ext>
              </a:extLst>
            </p:cNvPr>
            <p:cNvPicPr>
              <a:picLocks noChangeAspect="1" noChangeArrowheads="1"/>
            </p:cNvPicPr>
            <p:nvPr/>
          </p:nvPicPr>
          <p:blipFill>
            <a:blip r:embed="rId27" cstate="email">
              <a:extLst>
                <a:ext uri="{28A0092B-C50C-407E-A947-70E740481C1C}">
                  <a14:useLocalDpi xmlns:a14="http://schemas.microsoft.com/office/drawing/2010/main"/>
                </a:ext>
              </a:extLst>
            </a:blip>
            <a:srcRect/>
            <a:stretch>
              <a:fillRect/>
            </a:stretch>
          </p:blipFill>
          <p:spPr bwMode="auto">
            <a:xfrm>
              <a:off x="1973838" y="2090117"/>
              <a:ext cx="1133492" cy="348757"/>
            </a:xfrm>
            <a:prstGeom prst="rect">
              <a:avLst/>
            </a:prstGeom>
            <a:noFill/>
          </p:spPr>
        </p:pic>
        <p:pic>
          <p:nvPicPr>
            <p:cNvPr id="35" name="Picture 8" descr="http://www.tropagplatform.org/sites/default/files/ARC.gif">
              <a:hlinkClick r:id="rId28"/>
              <a:extLst>
                <a:ext uri="{FF2B5EF4-FFF2-40B4-BE49-F238E27FC236}">
                  <a16:creationId xmlns:a16="http://schemas.microsoft.com/office/drawing/2014/main" id="{2C7FA7A1-B5DE-1154-DBD2-50DF6957F335}"/>
                </a:ext>
              </a:extLst>
            </p:cNvPr>
            <p:cNvPicPr>
              <a:picLocks noChangeAspect="1" noChangeArrowheads="1"/>
            </p:cNvPicPr>
            <p:nvPr/>
          </p:nvPicPr>
          <p:blipFill>
            <a:blip r:embed="rId29" cstate="print"/>
            <a:srcRect/>
            <a:stretch>
              <a:fillRect/>
            </a:stretch>
          </p:blipFill>
          <p:spPr bwMode="auto">
            <a:xfrm>
              <a:off x="6056610" y="2068812"/>
              <a:ext cx="661442" cy="433987"/>
            </a:xfrm>
            <a:prstGeom prst="rect">
              <a:avLst/>
            </a:prstGeom>
            <a:noFill/>
          </p:spPr>
        </p:pic>
        <p:pic>
          <p:nvPicPr>
            <p:cNvPr id="36" name="Picture 9" descr="http://www.tropagplatform.org/sites/default/files/Logo%20Pequena.jpg">
              <a:hlinkClick r:id="rId30"/>
              <a:extLst>
                <a:ext uri="{FF2B5EF4-FFF2-40B4-BE49-F238E27FC236}">
                  <a16:creationId xmlns:a16="http://schemas.microsoft.com/office/drawing/2014/main" id="{0E1665C7-F09F-C7AE-7914-B783CEF24F2A}"/>
                </a:ext>
              </a:extLst>
            </p:cNvPr>
            <p:cNvPicPr>
              <a:picLocks noChangeAspect="1" noChangeArrowheads="1"/>
            </p:cNvPicPr>
            <p:nvPr/>
          </p:nvPicPr>
          <p:blipFill>
            <a:blip r:embed="rId31" cstate="print"/>
            <a:srcRect/>
            <a:stretch>
              <a:fillRect/>
            </a:stretch>
          </p:blipFill>
          <p:spPr bwMode="auto">
            <a:xfrm>
              <a:off x="8122125" y="2019708"/>
              <a:ext cx="594378" cy="567741"/>
            </a:xfrm>
            <a:prstGeom prst="rect">
              <a:avLst/>
            </a:prstGeom>
            <a:noFill/>
          </p:spPr>
        </p:pic>
        <p:pic>
          <p:nvPicPr>
            <p:cNvPr id="37" name="Picture 3">
              <a:extLst>
                <a:ext uri="{FF2B5EF4-FFF2-40B4-BE49-F238E27FC236}">
                  <a16:creationId xmlns:a16="http://schemas.microsoft.com/office/drawing/2014/main" id="{FC8AE312-0A58-8234-0D8F-427790E53938}"/>
                </a:ext>
              </a:extLst>
            </p:cNvPr>
            <p:cNvPicPr>
              <a:picLocks noChangeAspect="1"/>
            </p:cNvPicPr>
            <p:nvPr/>
          </p:nvPicPr>
          <p:blipFill>
            <a:blip r:embed="rId32"/>
            <a:stretch>
              <a:fillRect/>
            </a:stretch>
          </p:blipFill>
          <p:spPr>
            <a:xfrm>
              <a:off x="1310796" y="2955457"/>
              <a:ext cx="527303" cy="523493"/>
            </a:xfrm>
            <a:prstGeom prst="rect">
              <a:avLst/>
            </a:prstGeom>
          </p:spPr>
        </p:pic>
        <p:pic>
          <p:nvPicPr>
            <p:cNvPr id="38" name="Picture 8">
              <a:extLst>
                <a:ext uri="{FF2B5EF4-FFF2-40B4-BE49-F238E27FC236}">
                  <a16:creationId xmlns:a16="http://schemas.microsoft.com/office/drawing/2014/main" id="{7EC88313-4AA5-01EB-C800-A04EA424D0C7}"/>
                </a:ext>
              </a:extLst>
            </p:cNvPr>
            <p:cNvPicPr>
              <a:picLocks noChangeAspect="1"/>
            </p:cNvPicPr>
            <p:nvPr/>
          </p:nvPicPr>
          <p:blipFill>
            <a:blip r:embed="rId33"/>
            <a:stretch>
              <a:fillRect/>
            </a:stretch>
          </p:blipFill>
          <p:spPr>
            <a:xfrm>
              <a:off x="3745454" y="2969084"/>
              <a:ext cx="520505" cy="508478"/>
            </a:xfrm>
            <a:prstGeom prst="rect">
              <a:avLst/>
            </a:prstGeom>
          </p:spPr>
        </p:pic>
        <p:pic>
          <p:nvPicPr>
            <p:cNvPr id="39" name="Picture 11">
              <a:extLst>
                <a:ext uri="{FF2B5EF4-FFF2-40B4-BE49-F238E27FC236}">
                  <a16:creationId xmlns:a16="http://schemas.microsoft.com/office/drawing/2014/main" id="{EA5BE0D5-628D-6649-69C3-021053E66D80}"/>
                </a:ext>
              </a:extLst>
            </p:cNvPr>
            <p:cNvPicPr>
              <a:picLocks noChangeAspect="1"/>
            </p:cNvPicPr>
            <p:nvPr/>
          </p:nvPicPr>
          <p:blipFill>
            <a:blip r:embed="rId34"/>
            <a:stretch>
              <a:fillRect/>
            </a:stretch>
          </p:blipFill>
          <p:spPr>
            <a:xfrm>
              <a:off x="6059614" y="2961766"/>
              <a:ext cx="629536" cy="331984"/>
            </a:xfrm>
            <a:prstGeom prst="rect">
              <a:avLst/>
            </a:prstGeom>
          </p:spPr>
        </p:pic>
        <p:pic>
          <p:nvPicPr>
            <p:cNvPr id="40" name="Picture 18" descr="http://www.tropagplatform.org/sites/default/files/embrapa.jpg">
              <a:hlinkClick r:id="rId35"/>
              <a:extLst>
                <a:ext uri="{FF2B5EF4-FFF2-40B4-BE49-F238E27FC236}">
                  <a16:creationId xmlns:a16="http://schemas.microsoft.com/office/drawing/2014/main" id="{9A8A01C1-F46D-3372-F744-C936100964AB}"/>
                </a:ext>
              </a:extLst>
            </p:cNvPr>
            <p:cNvPicPr>
              <a:picLocks noChangeAspect="1" noChangeArrowheads="1"/>
            </p:cNvPicPr>
            <p:nvPr/>
          </p:nvPicPr>
          <p:blipFill>
            <a:blip r:embed="rId36" cstate="print"/>
            <a:srcRect/>
            <a:stretch>
              <a:fillRect/>
            </a:stretch>
          </p:blipFill>
          <p:spPr bwMode="auto">
            <a:xfrm>
              <a:off x="408109" y="3884246"/>
              <a:ext cx="678585" cy="219268"/>
            </a:xfrm>
            <a:prstGeom prst="rect">
              <a:avLst/>
            </a:prstGeom>
            <a:noFill/>
          </p:spPr>
        </p:pic>
        <p:pic>
          <p:nvPicPr>
            <p:cNvPr id="41" name="Picture 12">
              <a:extLst>
                <a:ext uri="{FF2B5EF4-FFF2-40B4-BE49-F238E27FC236}">
                  <a16:creationId xmlns:a16="http://schemas.microsoft.com/office/drawing/2014/main" id="{17D6E29A-A5A5-9956-0BFA-07EC708E9BBF}"/>
                </a:ext>
              </a:extLst>
            </p:cNvPr>
            <p:cNvPicPr>
              <a:picLocks noChangeAspect="1"/>
            </p:cNvPicPr>
            <p:nvPr/>
          </p:nvPicPr>
          <p:blipFill>
            <a:blip r:embed="rId37"/>
            <a:stretch>
              <a:fillRect/>
            </a:stretch>
          </p:blipFill>
          <p:spPr>
            <a:xfrm>
              <a:off x="8156279" y="3834679"/>
              <a:ext cx="781244" cy="200566"/>
            </a:xfrm>
            <a:prstGeom prst="rect">
              <a:avLst/>
            </a:prstGeom>
          </p:spPr>
        </p:pic>
        <p:pic>
          <p:nvPicPr>
            <p:cNvPr id="42" name="Picture 13">
              <a:extLst>
                <a:ext uri="{FF2B5EF4-FFF2-40B4-BE49-F238E27FC236}">
                  <a16:creationId xmlns:a16="http://schemas.microsoft.com/office/drawing/2014/main" id="{9A4AE8F3-CCDE-5EB0-A93A-B5C445E09050}"/>
                </a:ext>
              </a:extLst>
            </p:cNvPr>
            <p:cNvPicPr>
              <a:picLocks noChangeAspect="1"/>
            </p:cNvPicPr>
            <p:nvPr/>
          </p:nvPicPr>
          <p:blipFill>
            <a:blip r:embed="rId38"/>
            <a:stretch>
              <a:fillRect/>
            </a:stretch>
          </p:blipFill>
          <p:spPr>
            <a:xfrm>
              <a:off x="1251867" y="4504961"/>
              <a:ext cx="451774" cy="625892"/>
            </a:xfrm>
            <a:prstGeom prst="rect">
              <a:avLst/>
            </a:prstGeom>
          </p:spPr>
        </p:pic>
        <p:pic>
          <p:nvPicPr>
            <p:cNvPr id="43" name="Picture 14">
              <a:extLst>
                <a:ext uri="{FF2B5EF4-FFF2-40B4-BE49-F238E27FC236}">
                  <a16:creationId xmlns:a16="http://schemas.microsoft.com/office/drawing/2014/main" id="{A315911D-3051-4973-22BF-526C205B5F1D}"/>
                </a:ext>
              </a:extLst>
            </p:cNvPr>
            <p:cNvPicPr>
              <a:picLocks noChangeAspect="1"/>
            </p:cNvPicPr>
            <p:nvPr/>
          </p:nvPicPr>
          <p:blipFill>
            <a:blip r:embed="rId39"/>
            <a:stretch>
              <a:fillRect/>
            </a:stretch>
          </p:blipFill>
          <p:spPr>
            <a:xfrm>
              <a:off x="8211468" y="4720831"/>
              <a:ext cx="591277" cy="284497"/>
            </a:xfrm>
            <a:prstGeom prst="rect">
              <a:avLst/>
            </a:prstGeom>
          </p:spPr>
        </p:pic>
        <p:pic>
          <p:nvPicPr>
            <p:cNvPr id="44" name="Picture 15">
              <a:extLst>
                <a:ext uri="{FF2B5EF4-FFF2-40B4-BE49-F238E27FC236}">
                  <a16:creationId xmlns:a16="http://schemas.microsoft.com/office/drawing/2014/main" id="{47C99574-2F34-2583-190C-092AAAD6997D}"/>
                </a:ext>
              </a:extLst>
            </p:cNvPr>
            <p:cNvPicPr>
              <a:picLocks noChangeAspect="1"/>
            </p:cNvPicPr>
            <p:nvPr/>
          </p:nvPicPr>
          <p:blipFill>
            <a:blip r:embed="rId40" cstate="print">
              <a:extLst>
                <a:ext uri="{28A0092B-C50C-407E-A947-70E740481C1C}">
                  <a14:useLocalDpi xmlns:a14="http://schemas.microsoft.com/office/drawing/2010/main" val="0"/>
                </a:ext>
              </a:extLst>
            </a:blip>
            <a:stretch>
              <a:fillRect/>
            </a:stretch>
          </p:blipFill>
          <p:spPr>
            <a:xfrm>
              <a:off x="5957284" y="4690256"/>
              <a:ext cx="313901" cy="291636"/>
            </a:xfrm>
            <a:prstGeom prst="rect">
              <a:avLst/>
            </a:prstGeom>
          </p:spPr>
        </p:pic>
        <p:pic>
          <p:nvPicPr>
            <p:cNvPr id="45" name="Picture 16">
              <a:extLst>
                <a:ext uri="{FF2B5EF4-FFF2-40B4-BE49-F238E27FC236}">
                  <a16:creationId xmlns:a16="http://schemas.microsoft.com/office/drawing/2014/main" id="{5EB1A0F9-C7B3-B2AA-5240-DB13DCB2739F}"/>
                </a:ext>
              </a:extLst>
            </p:cNvPr>
            <p:cNvPicPr>
              <a:picLocks noChangeAspect="1"/>
            </p:cNvPicPr>
            <p:nvPr/>
          </p:nvPicPr>
          <p:blipFill>
            <a:blip r:embed="rId41"/>
            <a:stretch>
              <a:fillRect/>
            </a:stretch>
          </p:blipFill>
          <p:spPr>
            <a:xfrm>
              <a:off x="7256366" y="4748649"/>
              <a:ext cx="646143" cy="254651"/>
            </a:xfrm>
            <a:prstGeom prst="rect">
              <a:avLst/>
            </a:prstGeom>
          </p:spPr>
        </p:pic>
        <p:pic>
          <p:nvPicPr>
            <p:cNvPr id="46" name="Picture 17">
              <a:extLst>
                <a:ext uri="{FF2B5EF4-FFF2-40B4-BE49-F238E27FC236}">
                  <a16:creationId xmlns:a16="http://schemas.microsoft.com/office/drawing/2014/main" id="{1ECCC4A9-B118-33D5-3A53-BD41F0876021}"/>
                </a:ext>
              </a:extLst>
            </p:cNvPr>
            <p:cNvPicPr>
              <a:picLocks noChangeAspect="1"/>
            </p:cNvPicPr>
            <p:nvPr/>
          </p:nvPicPr>
          <p:blipFill>
            <a:blip r:embed="rId42"/>
            <a:stretch>
              <a:fillRect/>
            </a:stretch>
          </p:blipFill>
          <p:spPr>
            <a:xfrm>
              <a:off x="2788146" y="5355456"/>
              <a:ext cx="1119212" cy="354183"/>
            </a:xfrm>
            <a:prstGeom prst="rect">
              <a:avLst/>
            </a:prstGeom>
          </p:spPr>
        </p:pic>
        <p:pic>
          <p:nvPicPr>
            <p:cNvPr id="47" name="Picture 18">
              <a:extLst>
                <a:ext uri="{FF2B5EF4-FFF2-40B4-BE49-F238E27FC236}">
                  <a16:creationId xmlns:a16="http://schemas.microsoft.com/office/drawing/2014/main" id="{9EEAC403-E12F-E824-6D49-ACF57C54F770}"/>
                </a:ext>
              </a:extLst>
            </p:cNvPr>
            <p:cNvPicPr>
              <a:picLocks noChangeAspect="1"/>
            </p:cNvPicPr>
            <p:nvPr/>
          </p:nvPicPr>
          <p:blipFill>
            <a:blip r:embed="rId43" cstate="print">
              <a:extLst>
                <a:ext uri="{28A0092B-C50C-407E-A947-70E740481C1C}">
                  <a14:useLocalDpi xmlns:a14="http://schemas.microsoft.com/office/drawing/2010/main" val="0"/>
                </a:ext>
              </a:extLst>
            </a:blip>
            <a:stretch>
              <a:fillRect/>
            </a:stretch>
          </p:blipFill>
          <p:spPr>
            <a:xfrm>
              <a:off x="1631876" y="5379316"/>
              <a:ext cx="513967" cy="330323"/>
            </a:xfrm>
            <a:prstGeom prst="rect">
              <a:avLst/>
            </a:prstGeom>
          </p:spPr>
        </p:pic>
        <p:pic>
          <p:nvPicPr>
            <p:cNvPr id="48" name="Picture 19">
              <a:extLst>
                <a:ext uri="{FF2B5EF4-FFF2-40B4-BE49-F238E27FC236}">
                  <a16:creationId xmlns:a16="http://schemas.microsoft.com/office/drawing/2014/main" id="{D41144BE-5111-520F-BA12-AE17FC7DFF60}"/>
                </a:ext>
              </a:extLst>
            </p:cNvPr>
            <p:cNvPicPr>
              <a:picLocks noChangeAspect="1"/>
            </p:cNvPicPr>
            <p:nvPr/>
          </p:nvPicPr>
          <p:blipFill>
            <a:blip r:embed="rId44"/>
            <a:stretch>
              <a:fillRect/>
            </a:stretch>
          </p:blipFill>
          <p:spPr>
            <a:xfrm>
              <a:off x="6257713" y="5444428"/>
              <a:ext cx="1028353" cy="296715"/>
            </a:xfrm>
            <a:prstGeom prst="rect">
              <a:avLst/>
            </a:prstGeom>
          </p:spPr>
        </p:pic>
        <p:pic>
          <p:nvPicPr>
            <p:cNvPr id="49" name="Picture 20">
              <a:extLst>
                <a:ext uri="{FF2B5EF4-FFF2-40B4-BE49-F238E27FC236}">
                  <a16:creationId xmlns:a16="http://schemas.microsoft.com/office/drawing/2014/main" id="{E539F1B3-EB67-597D-1E84-4050547FB8E1}"/>
                </a:ext>
              </a:extLst>
            </p:cNvPr>
            <p:cNvPicPr>
              <a:picLocks noChangeAspect="1"/>
            </p:cNvPicPr>
            <p:nvPr/>
          </p:nvPicPr>
          <p:blipFill>
            <a:blip r:embed="rId45">
              <a:extLst>
                <a:ext uri="{28A0092B-C50C-407E-A947-70E740481C1C}">
                  <a14:useLocalDpi xmlns:a14="http://schemas.microsoft.com/office/drawing/2010/main" val="0"/>
                </a:ext>
              </a:extLst>
            </a:blip>
            <a:stretch>
              <a:fillRect/>
            </a:stretch>
          </p:blipFill>
          <p:spPr>
            <a:xfrm>
              <a:off x="7390102" y="5461792"/>
              <a:ext cx="352972" cy="244245"/>
            </a:xfrm>
            <a:prstGeom prst="rect">
              <a:avLst/>
            </a:prstGeom>
          </p:spPr>
        </p:pic>
        <p:pic>
          <p:nvPicPr>
            <p:cNvPr id="50" name="Picture 21">
              <a:extLst>
                <a:ext uri="{FF2B5EF4-FFF2-40B4-BE49-F238E27FC236}">
                  <a16:creationId xmlns:a16="http://schemas.microsoft.com/office/drawing/2014/main" id="{47CE4196-CF12-BF37-6227-1D2557C95C94}"/>
                </a:ext>
              </a:extLst>
            </p:cNvPr>
            <p:cNvPicPr>
              <a:picLocks noChangeAspect="1"/>
            </p:cNvPicPr>
            <p:nvPr/>
          </p:nvPicPr>
          <p:blipFill>
            <a:blip r:embed="rId46"/>
            <a:stretch>
              <a:fillRect/>
            </a:stretch>
          </p:blipFill>
          <p:spPr>
            <a:xfrm>
              <a:off x="8268371" y="5242090"/>
              <a:ext cx="557059" cy="544187"/>
            </a:xfrm>
            <a:prstGeom prst="rect">
              <a:avLst/>
            </a:prstGeom>
          </p:spPr>
        </p:pic>
        <p:pic>
          <p:nvPicPr>
            <p:cNvPr id="51" name="Picture 22">
              <a:extLst>
                <a:ext uri="{FF2B5EF4-FFF2-40B4-BE49-F238E27FC236}">
                  <a16:creationId xmlns:a16="http://schemas.microsoft.com/office/drawing/2014/main" id="{56E0443C-4CBA-8712-81B3-F6BB3D1846F5}"/>
                </a:ext>
              </a:extLst>
            </p:cNvPr>
            <p:cNvPicPr>
              <a:picLocks noChangeAspect="1"/>
            </p:cNvPicPr>
            <p:nvPr/>
          </p:nvPicPr>
          <p:blipFill>
            <a:blip r:embed="rId47"/>
            <a:stretch>
              <a:fillRect/>
            </a:stretch>
          </p:blipFill>
          <p:spPr>
            <a:xfrm>
              <a:off x="5240504" y="2747713"/>
              <a:ext cx="798891" cy="729849"/>
            </a:xfrm>
            <a:prstGeom prst="rect">
              <a:avLst/>
            </a:prstGeom>
          </p:spPr>
        </p:pic>
        <p:pic>
          <p:nvPicPr>
            <p:cNvPr id="52" name="Grafik 4">
              <a:extLst>
                <a:ext uri="{FF2B5EF4-FFF2-40B4-BE49-F238E27FC236}">
                  <a16:creationId xmlns:a16="http://schemas.microsoft.com/office/drawing/2014/main" id="{AD1E03D5-6D54-1654-4BAE-118B20C554B5}"/>
                </a:ext>
              </a:extLst>
            </p:cNvPr>
            <p:cNvPicPr>
              <a:picLocks noChangeAspect="1"/>
            </p:cNvPicPr>
            <p:nvPr/>
          </p:nvPicPr>
          <p:blipFill>
            <a:blip r:embed="rId48"/>
            <a:stretch>
              <a:fillRect/>
            </a:stretch>
          </p:blipFill>
          <p:spPr>
            <a:xfrm>
              <a:off x="3189867" y="3873784"/>
              <a:ext cx="586637" cy="240193"/>
            </a:xfrm>
            <a:prstGeom prst="rect">
              <a:avLst/>
            </a:prstGeom>
          </p:spPr>
        </p:pic>
        <p:pic>
          <p:nvPicPr>
            <p:cNvPr id="53" name="Grafik 6">
              <a:extLst>
                <a:ext uri="{FF2B5EF4-FFF2-40B4-BE49-F238E27FC236}">
                  <a16:creationId xmlns:a16="http://schemas.microsoft.com/office/drawing/2014/main" id="{02C6B37C-5319-2DBC-F790-A9CA8BD2954A}"/>
                </a:ext>
              </a:extLst>
            </p:cNvPr>
            <p:cNvPicPr>
              <a:picLocks noChangeAspect="1"/>
            </p:cNvPicPr>
            <p:nvPr/>
          </p:nvPicPr>
          <p:blipFill>
            <a:blip r:embed="rId49"/>
            <a:stretch>
              <a:fillRect/>
            </a:stretch>
          </p:blipFill>
          <p:spPr>
            <a:xfrm>
              <a:off x="2234615" y="5281746"/>
              <a:ext cx="466948" cy="456159"/>
            </a:xfrm>
            <a:prstGeom prst="rect">
              <a:avLst/>
            </a:prstGeom>
          </p:spPr>
        </p:pic>
        <p:pic>
          <p:nvPicPr>
            <p:cNvPr id="54" name="Picture 6" descr="C:\Users\SultanaN\AppData\Local\Microsoft\Windows\Temporary Internet Files\Content.Outlook\4TR0F10M\bangla logo final 04-07-13.jpg">
              <a:extLst>
                <a:ext uri="{FF2B5EF4-FFF2-40B4-BE49-F238E27FC236}">
                  <a16:creationId xmlns:a16="http://schemas.microsoft.com/office/drawing/2014/main" id="{8657E613-1E05-71A3-7C23-3113ED3B7EBA}"/>
                </a:ext>
              </a:extLst>
            </p:cNvPr>
            <p:cNvPicPr/>
            <p:nvPr/>
          </p:nvPicPr>
          <p:blipFill>
            <a:blip r:embed="rId50" cstate="print">
              <a:extLst>
                <a:ext uri="{28A0092B-C50C-407E-A947-70E740481C1C}">
                  <a14:useLocalDpi xmlns:a14="http://schemas.microsoft.com/office/drawing/2010/main" val="0"/>
                </a:ext>
              </a:extLst>
            </a:blip>
            <a:srcRect/>
            <a:stretch>
              <a:fillRect/>
            </a:stretch>
          </p:blipFill>
          <p:spPr bwMode="auto">
            <a:xfrm>
              <a:off x="414081" y="2848722"/>
              <a:ext cx="687471" cy="635769"/>
            </a:xfrm>
            <a:prstGeom prst="rect">
              <a:avLst/>
            </a:prstGeom>
            <a:noFill/>
            <a:ln>
              <a:noFill/>
            </a:ln>
          </p:spPr>
        </p:pic>
        <p:pic>
          <p:nvPicPr>
            <p:cNvPr id="55" name="Picture 2" descr="Risultati immagini per logo icra training the netherlands">
              <a:extLst>
                <a:ext uri="{FF2B5EF4-FFF2-40B4-BE49-F238E27FC236}">
                  <a16:creationId xmlns:a16="http://schemas.microsoft.com/office/drawing/2014/main" id="{1974B0AB-B616-A09F-CA41-EDEC9BC2CA34}"/>
                </a:ext>
              </a:extLst>
            </p:cNvPr>
            <p:cNvPicPr>
              <a:picLocks noChangeAspect="1" noChangeArrowheads="1"/>
            </p:cNvPicPr>
            <p:nvPr/>
          </p:nvPicPr>
          <p:blipFill>
            <a:blip r:embed="rId51" cstate="print">
              <a:extLst>
                <a:ext uri="{28A0092B-C50C-407E-A947-70E740481C1C}">
                  <a14:useLocalDpi xmlns:a14="http://schemas.microsoft.com/office/drawing/2010/main" val="0"/>
                </a:ext>
              </a:extLst>
            </a:blip>
            <a:srcRect/>
            <a:stretch>
              <a:fillRect/>
            </a:stretch>
          </p:blipFill>
          <p:spPr bwMode="auto">
            <a:xfrm>
              <a:off x="3885315" y="4670607"/>
              <a:ext cx="1069292" cy="311286"/>
            </a:xfrm>
            <a:prstGeom prst="rect">
              <a:avLst/>
            </a:prstGeom>
            <a:noFill/>
            <a:extLst>
              <a:ext uri="{909E8E84-426E-40dd-AFC4-6F175D3DCCD1}">
                <a14:hiddenFill xmlns:a14="http://schemas.microsoft.com/office/drawing/2010/main" xmlns="">
                  <a:solidFill>
                    <a:srgbClr val="FFFFFF"/>
                  </a:solidFill>
                </a14:hiddenFill>
              </a:ext>
            </a:extLst>
          </p:spPr>
        </p:pic>
        <p:pic>
          <p:nvPicPr>
            <p:cNvPr id="57" name="Picture 5">
              <a:extLst>
                <a:ext uri="{FF2B5EF4-FFF2-40B4-BE49-F238E27FC236}">
                  <a16:creationId xmlns:a16="http://schemas.microsoft.com/office/drawing/2014/main" id="{372B1CDD-031C-45EE-D04D-8D330F9C9197}"/>
                </a:ext>
              </a:extLst>
            </p:cNvPr>
            <p:cNvPicPr>
              <a:picLocks noChangeAspect="1"/>
            </p:cNvPicPr>
            <p:nvPr/>
          </p:nvPicPr>
          <p:blipFill rotWithShape="1">
            <a:blip r:embed="rId52"/>
            <a:srcRect l="6852" t="3403" b="-1"/>
            <a:stretch/>
          </p:blipFill>
          <p:spPr>
            <a:xfrm>
              <a:off x="5102120" y="5477957"/>
              <a:ext cx="1125829" cy="278241"/>
            </a:xfrm>
            <a:prstGeom prst="rect">
              <a:avLst/>
            </a:prstGeom>
          </p:spPr>
        </p:pic>
        <p:pic>
          <p:nvPicPr>
            <p:cNvPr id="58" name="Picture 4" descr="Home">
              <a:extLst>
                <a:ext uri="{FF2B5EF4-FFF2-40B4-BE49-F238E27FC236}">
                  <a16:creationId xmlns:a16="http://schemas.microsoft.com/office/drawing/2014/main" id="{CF90788E-2E83-1394-3D6A-AE02B9DCBAF8}"/>
                </a:ext>
              </a:extLst>
            </p:cNvPr>
            <p:cNvPicPr>
              <a:picLocks noChangeAspect="1" noChangeArrowheads="1"/>
            </p:cNvPicPr>
            <p:nvPr/>
          </p:nvPicPr>
          <p:blipFill>
            <a:blip r:embed="rId53">
              <a:extLst>
                <a:ext uri="{28A0092B-C50C-407E-A947-70E740481C1C}">
                  <a14:useLocalDpi xmlns:a14="http://schemas.microsoft.com/office/drawing/2010/main" val="0"/>
                </a:ext>
              </a:extLst>
            </a:blip>
            <a:srcRect/>
            <a:stretch>
              <a:fillRect/>
            </a:stretch>
          </p:blipFill>
          <p:spPr bwMode="auto">
            <a:xfrm>
              <a:off x="6911149" y="2228719"/>
              <a:ext cx="1106215" cy="274080"/>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6" descr="Home | International Association for Agriculture Sustainability (IAAS)">
              <a:extLst>
                <a:ext uri="{FF2B5EF4-FFF2-40B4-BE49-F238E27FC236}">
                  <a16:creationId xmlns:a16="http://schemas.microsoft.com/office/drawing/2014/main" id="{7FD7DBD8-4760-0FC9-9111-9A305872099A}"/>
                </a:ext>
              </a:extLst>
            </p:cNvPr>
            <p:cNvPicPr>
              <a:picLocks noChangeAspect="1" noChangeArrowheads="1"/>
            </p:cNvPicPr>
            <p:nvPr/>
          </p:nvPicPr>
          <p:blipFill>
            <a:blip r:embed="rId54" cstate="print">
              <a:extLst>
                <a:ext uri="{28A0092B-C50C-407E-A947-70E740481C1C}">
                  <a14:useLocalDpi xmlns:a14="http://schemas.microsoft.com/office/drawing/2010/main" val="0"/>
                </a:ext>
              </a:extLst>
            </a:blip>
            <a:srcRect/>
            <a:stretch>
              <a:fillRect/>
            </a:stretch>
          </p:blipFill>
          <p:spPr bwMode="auto">
            <a:xfrm>
              <a:off x="394829" y="4518257"/>
              <a:ext cx="678585" cy="424443"/>
            </a:xfrm>
            <a:prstGeom prst="rect">
              <a:avLst/>
            </a:prstGeom>
            <a:noFill/>
            <a:extLst>
              <a:ext uri="{909E8E84-426E-40DD-AFC4-6F175D3DCCD1}">
                <a14:hiddenFill xmlns:a14="http://schemas.microsoft.com/office/drawing/2010/main">
                  <a:solidFill>
                    <a:srgbClr val="FFFFFF"/>
                  </a:solidFill>
                </a14:hiddenFill>
              </a:ext>
            </a:extLst>
          </p:spPr>
        </p:pic>
        <p:pic>
          <p:nvPicPr>
            <p:cNvPr id="61" name="Grafik 60">
              <a:extLst>
                <a:ext uri="{FF2B5EF4-FFF2-40B4-BE49-F238E27FC236}">
                  <a16:creationId xmlns:a16="http://schemas.microsoft.com/office/drawing/2014/main" id="{718DA2C0-E556-B997-C0A5-43BA2182AC82}"/>
                </a:ext>
              </a:extLst>
            </p:cNvPr>
            <p:cNvPicPr>
              <a:picLocks noChangeAspect="1"/>
            </p:cNvPicPr>
            <p:nvPr/>
          </p:nvPicPr>
          <p:blipFill>
            <a:blip r:embed="rId55"/>
            <a:stretch>
              <a:fillRect/>
            </a:stretch>
          </p:blipFill>
          <p:spPr>
            <a:xfrm>
              <a:off x="6800821" y="2922320"/>
              <a:ext cx="623321" cy="441191"/>
            </a:xfrm>
            <a:prstGeom prst="rect">
              <a:avLst/>
            </a:prstGeom>
          </p:spPr>
        </p:pic>
        <p:pic>
          <p:nvPicPr>
            <p:cNvPr id="62" name="Grafik 61">
              <a:extLst>
                <a:ext uri="{FF2B5EF4-FFF2-40B4-BE49-F238E27FC236}">
                  <a16:creationId xmlns:a16="http://schemas.microsoft.com/office/drawing/2014/main" id="{4B89BA5D-BE46-4D1D-963D-BCF78F4298DF}"/>
                </a:ext>
              </a:extLst>
            </p:cNvPr>
            <p:cNvPicPr>
              <a:picLocks noChangeAspect="1"/>
            </p:cNvPicPr>
            <p:nvPr/>
          </p:nvPicPr>
          <p:blipFill>
            <a:blip r:embed="rId56"/>
            <a:stretch>
              <a:fillRect/>
            </a:stretch>
          </p:blipFill>
          <p:spPr>
            <a:xfrm>
              <a:off x="3977568" y="5248139"/>
              <a:ext cx="451774" cy="508059"/>
            </a:xfrm>
            <a:prstGeom prst="rect">
              <a:avLst/>
            </a:prstGeom>
          </p:spPr>
        </p:pic>
        <p:pic>
          <p:nvPicPr>
            <p:cNvPr id="63" name="Grafik 62">
              <a:extLst>
                <a:ext uri="{FF2B5EF4-FFF2-40B4-BE49-F238E27FC236}">
                  <a16:creationId xmlns:a16="http://schemas.microsoft.com/office/drawing/2014/main" id="{A09174F2-514F-DA46-ED23-8050F7FC05BB}"/>
                </a:ext>
              </a:extLst>
            </p:cNvPr>
            <p:cNvPicPr>
              <a:picLocks noChangeAspect="1"/>
            </p:cNvPicPr>
            <p:nvPr/>
          </p:nvPicPr>
          <p:blipFill>
            <a:blip r:embed="rId57"/>
            <a:stretch>
              <a:fillRect/>
            </a:stretch>
          </p:blipFill>
          <p:spPr>
            <a:xfrm>
              <a:off x="4527759" y="5208079"/>
              <a:ext cx="559479" cy="554674"/>
            </a:xfrm>
            <a:prstGeom prst="rect">
              <a:avLst/>
            </a:prstGeom>
          </p:spPr>
        </p:pic>
      </p:grpSp>
    </p:spTree>
    <p:extLst>
      <p:ext uri="{BB962C8B-B14F-4D97-AF65-F5344CB8AC3E}">
        <p14:creationId xmlns:p14="http://schemas.microsoft.com/office/powerpoint/2010/main" val="19028956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magine 5" descr="FAO_logo_Blue_3lines_en.jp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6384" y="218478"/>
            <a:ext cx="2392680" cy="966216"/>
          </a:xfrm>
          <a:prstGeom prst="rect">
            <a:avLst/>
          </a:prstGeom>
        </p:spPr>
      </p:pic>
      <p:pic>
        <p:nvPicPr>
          <p:cNvPr id="10" name="Immagine 9"/>
          <p:cNvPicPr>
            <a:picLocks noChangeAspect="1"/>
          </p:cNvPicPr>
          <p:nvPr/>
        </p:nvPicPr>
        <p:blipFill>
          <a:blip r:embed="rId3"/>
          <a:stretch>
            <a:fillRect/>
          </a:stretch>
        </p:blipFill>
        <p:spPr>
          <a:xfrm>
            <a:off x="10839940" y="294024"/>
            <a:ext cx="731711" cy="801224"/>
          </a:xfrm>
          <a:prstGeom prst="rect">
            <a:avLst/>
          </a:prstGeom>
        </p:spPr>
      </p:pic>
      <p:sp>
        <p:nvSpPr>
          <p:cNvPr id="11" name="Rettangolo 10"/>
          <p:cNvSpPr/>
          <p:nvPr/>
        </p:nvSpPr>
        <p:spPr>
          <a:xfrm>
            <a:off x="1802428" y="1095248"/>
            <a:ext cx="7900372" cy="2590453"/>
          </a:xfrm>
          <a:prstGeom prst="rect">
            <a:avLst/>
          </a:prstGeom>
        </p:spPr>
        <p:txBody>
          <a:bodyPr wrap="square">
            <a:spAutoFit/>
          </a:bodyPr>
          <a:lstStyle/>
          <a:p>
            <a:pPr algn="ctr"/>
            <a:endParaRPr lang="it-IT" sz="1000" dirty="0">
              <a:solidFill>
                <a:srgbClr val="7CBC6F"/>
              </a:solidFill>
            </a:endParaRPr>
          </a:p>
          <a:p>
            <a:pPr algn="ctr"/>
            <a:endParaRPr lang="it-IT" sz="900" dirty="0">
              <a:solidFill>
                <a:srgbClr val="7CBC6F"/>
              </a:solidFill>
            </a:endParaRPr>
          </a:p>
          <a:p>
            <a:pPr algn="ctr"/>
            <a:endParaRPr lang="is-IS" sz="4400" baseline="30000" dirty="0"/>
          </a:p>
          <a:p>
            <a:pPr algn="ctr"/>
            <a:endParaRPr lang="it-IT" sz="4400" dirty="0">
              <a:solidFill>
                <a:srgbClr val="7CBC6F"/>
              </a:solidFill>
            </a:endParaRPr>
          </a:p>
          <a:p>
            <a:pPr algn="ctr"/>
            <a:endParaRPr lang="pt-BR" sz="2400" baseline="30000" dirty="0"/>
          </a:p>
          <a:p>
            <a:pPr algn="ctr">
              <a:lnSpc>
                <a:spcPct val="150000"/>
              </a:lnSpc>
            </a:pPr>
            <a:endParaRPr lang="it-IT" sz="3600" dirty="0"/>
          </a:p>
        </p:txBody>
      </p:sp>
      <p:sp>
        <p:nvSpPr>
          <p:cNvPr id="2" name="Titel 1">
            <a:extLst>
              <a:ext uri="{FF2B5EF4-FFF2-40B4-BE49-F238E27FC236}">
                <a16:creationId xmlns:a16="http://schemas.microsoft.com/office/drawing/2014/main" id="{66F0561C-7352-4F08-900B-890512CFDBE5}"/>
              </a:ext>
            </a:extLst>
          </p:cNvPr>
          <p:cNvSpPr>
            <a:spLocks noGrp="1"/>
          </p:cNvSpPr>
          <p:nvPr>
            <p:ph type="title"/>
          </p:nvPr>
        </p:nvSpPr>
        <p:spPr>
          <a:xfrm>
            <a:off x="4202952" y="398140"/>
            <a:ext cx="3099325" cy="633627"/>
          </a:xfrm>
        </p:spPr>
        <p:txBody>
          <a:bodyPr>
            <a:noAutofit/>
          </a:bodyPr>
          <a:lstStyle/>
          <a:p>
            <a:pPr algn="l"/>
            <a:r>
              <a:rPr lang="en-US" sz="2500" b="1" dirty="0">
                <a:solidFill>
                  <a:srgbClr val="7CBC6F"/>
                </a:solidFill>
                <a:latin typeface="+mn-lt"/>
              </a:rPr>
              <a:t>TAP Major Milestones</a:t>
            </a:r>
            <a:endParaRPr lang="en-US" sz="2800" b="1" dirty="0">
              <a:latin typeface="+mn-lt"/>
            </a:endParaRPr>
          </a:p>
        </p:txBody>
      </p:sp>
      <p:grpSp>
        <p:nvGrpSpPr>
          <p:cNvPr id="8" name="Gruppieren 7">
            <a:extLst>
              <a:ext uri="{FF2B5EF4-FFF2-40B4-BE49-F238E27FC236}">
                <a16:creationId xmlns:a16="http://schemas.microsoft.com/office/drawing/2014/main" id="{D8C383BD-7A24-C353-C015-6E48313EC3F3}"/>
              </a:ext>
            </a:extLst>
          </p:cNvPr>
          <p:cNvGrpSpPr/>
          <p:nvPr/>
        </p:nvGrpSpPr>
        <p:grpSpPr>
          <a:xfrm>
            <a:off x="1257300" y="1184694"/>
            <a:ext cx="9376125" cy="5884994"/>
            <a:chOff x="-18634" y="974035"/>
            <a:chExt cx="8802454" cy="5375208"/>
          </a:xfrm>
        </p:grpSpPr>
        <p:graphicFrame>
          <p:nvGraphicFramePr>
            <p:cNvPr id="12" name="Diagram 12">
              <a:extLst>
                <a:ext uri="{FF2B5EF4-FFF2-40B4-BE49-F238E27FC236}">
                  <a16:creationId xmlns:a16="http://schemas.microsoft.com/office/drawing/2014/main" id="{98FEED5A-201E-11C9-33E2-DBB1C0D87C1A}"/>
                </a:ext>
              </a:extLst>
            </p:cNvPr>
            <p:cNvGraphicFramePr/>
            <p:nvPr/>
          </p:nvGraphicFramePr>
          <p:xfrm>
            <a:off x="598814" y="2285243"/>
            <a:ext cx="7994707" cy="4064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3" name="TextBox 13">
              <a:extLst>
                <a:ext uri="{FF2B5EF4-FFF2-40B4-BE49-F238E27FC236}">
                  <a16:creationId xmlns:a16="http://schemas.microsoft.com/office/drawing/2014/main" id="{BBC8B1BC-E132-70DC-1A4C-5B71660479F0}"/>
                </a:ext>
              </a:extLst>
            </p:cNvPr>
            <p:cNvSpPr txBox="1"/>
            <p:nvPr/>
          </p:nvSpPr>
          <p:spPr>
            <a:xfrm>
              <a:off x="-18634" y="2430904"/>
              <a:ext cx="1791204" cy="1815882"/>
            </a:xfrm>
            <a:prstGeom prst="rect">
              <a:avLst/>
            </a:prstGeom>
            <a:noFill/>
            <a:ln w="25400">
              <a:solidFill>
                <a:srgbClr val="FFC000"/>
              </a:solidFill>
            </a:ln>
          </p:spPr>
          <p:txBody>
            <a:bodyPr wrap="square" rtlCol="0">
              <a:spAutoFit/>
            </a:bodyPr>
            <a:lstStyle/>
            <a:p>
              <a:pPr marL="180975" indent="-180975">
                <a:buFont typeface="Arial" pitchFamily="34" charset="0"/>
                <a:buChar char="•"/>
              </a:pPr>
              <a:r>
                <a:rPr lang="en-US" sz="1400" b="1" dirty="0">
                  <a:cs typeface="Arial" panose="020B0604020202020204" pitchFamily="34" charset="0"/>
                </a:rPr>
                <a:t>TAP launched at G20 MACS in Mexico</a:t>
              </a:r>
            </a:p>
            <a:p>
              <a:pPr marL="180975" indent="-180975">
                <a:buFont typeface="Arial" pitchFamily="34" charset="0"/>
                <a:buChar char="•"/>
              </a:pPr>
              <a:r>
                <a:rPr lang="en-US" sz="1400" b="1" dirty="0">
                  <a:cs typeface="Arial" panose="020B0604020202020204" pitchFamily="34" charset="0"/>
                </a:rPr>
                <a:t>Regional needs assessments</a:t>
              </a:r>
            </a:p>
            <a:p>
              <a:pPr marL="180975" indent="-180975">
                <a:buFont typeface="Arial" pitchFamily="34" charset="0"/>
                <a:buChar char="•"/>
              </a:pPr>
              <a:r>
                <a:rPr lang="en-US" sz="1400" b="1" dirty="0">
                  <a:cs typeface="Arial" panose="020B0604020202020204" pitchFamily="34" charset="0"/>
                </a:rPr>
                <a:t>1</a:t>
              </a:r>
              <a:r>
                <a:rPr lang="en-US" sz="1400" b="1" baseline="30000" dirty="0">
                  <a:cs typeface="Arial" panose="020B0604020202020204" pitchFamily="34" charset="0"/>
                </a:rPr>
                <a:t>st</a:t>
              </a:r>
              <a:r>
                <a:rPr lang="en-US" sz="1400" b="1" dirty="0">
                  <a:cs typeface="Arial" panose="020B0604020202020204" pitchFamily="34" charset="0"/>
                </a:rPr>
                <a:t> TAP Partners Assembly (PA) in China</a:t>
              </a:r>
            </a:p>
          </p:txBody>
        </p:sp>
        <p:sp>
          <p:nvSpPr>
            <p:cNvPr id="14" name="TextBox 15">
              <a:extLst>
                <a:ext uri="{FF2B5EF4-FFF2-40B4-BE49-F238E27FC236}">
                  <a16:creationId xmlns:a16="http://schemas.microsoft.com/office/drawing/2014/main" id="{171879A3-5ACF-BDEE-DBC0-F023BF9F7C91}"/>
                </a:ext>
              </a:extLst>
            </p:cNvPr>
            <p:cNvSpPr txBox="1"/>
            <p:nvPr/>
          </p:nvSpPr>
          <p:spPr>
            <a:xfrm>
              <a:off x="2006135" y="1406989"/>
              <a:ext cx="2000671" cy="1994029"/>
            </a:xfrm>
            <a:prstGeom prst="rect">
              <a:avLst/>
            </a:prstGeom>
            <a:noFill/>
            <a:ln w="25400">
              <a:solidFill>
                <a:srgbClr val="FFC000"/>
              </a:solidFill>
            </a:ln>
          </p:spPr>
          <p:txBody>
            <a:bodyPr wrap="square" rtlCol="0">
              <a:spAutoFit/>
            </a:bodyPr>
            <a:lstStyle/>
            <a:p>
              <a:pPr marL="180975" indent="-180975">
                <a:buFont typeface="Arial" pitchFamily="34" charset="0"/>
                <a:buChar char="•"/>
              </a:pPr>
              <a:r>
                <a:rPr lang="en-US" sz="1400" b="1" dirty="0">
                  <a:cs typeface="Arial" panose="020B0604020202020204" pitchFamily="34" charset="0"/>
                </a:rPr>
                <a:t>EU funds mobilized (CDAIS  project by </a:t>
              </a:r>
              <a:r>
                <a:rPr lang="en-US" sz="1400" b="1" dirty="0" err="1">
                  <a:cs typeface="Arial" panose="020B0604020202020204" pitchFamily="34" charset="0"/>
                </a:rPr>
                <a:t>Agrinatura</a:t>
              </a:r>
              <a:r>
                <a:rPr lang="en-US" sz="1400" b="1" dirty="0">
                  <a:cs typeface="Arial" panose="020B0604020202020204" pitchFamily="34" charset="0"/>
                </a:rPr>
                <a:t> &amp; FAO)  </a:t>
              </a:r>
            </a:p>
            <a:p>
              <a:pPr marL="180975" indent="-180975">
                <a:buFont typeface="Arial" pitchFamily="34" charset="0"/>
                <a:buChar char="•"/>
              </a:pPr>
              <a:r>
                <a:rPr lang="en-US" sz="1400" b="1" dirty="0">
                  <a:cs typeface="Arial" panose="020B0604020202020204" pitchFamily="34" charset="0"/>
                </a:rPr>
                <a:t>TAP Global Task Force &amp; CD Expert Group launched</a:t>
              </a:r>
            </a:p>
            <a:p>
              <a:pPr marL="180975" indent="-180975">
                <a:buFont typeface="Arial" pitchFamily="34" charset="0"/>
                <a:buChar char="•"/>
              </a:pPr>
              <a:r>
                <a:rPr lang="en-US" sz="1400" b="1" dirty="0">
                  <a:cs typeface="Arial" panose="020B0604020202020204" pitchFamily="34" charset="0"/>
                </a:rPr>
                <a:t>TAP Common Framework (CF) and TAPipedia developed</a:t>
              </a:r>
            </a:p>
          </p:txBody>
        </p:sp>
        <p:sp>
          <p:nvSpPr>
            <p:cNvPr id="15" name="TextBox 6">
              <a:extLst>
                <a:ext uri="{FF2B5EF4-FFF2-40B4-BE49-F238E27FC236}">
                  <a16:creationId xmlns:a16="http://schemas.microsoft.com/office/drawing/2014/main" id="{3FE21958-36C1-717F-D880-AA5B7B076216}"/>
                </a:ext>
              </a:extLst>
            </p:cNvPr>
            <p:cNvSpPr txBox="1"/>
            <p:nvPr/>
          </p:nvSpPr>
          <p:spPr>
            <a:xfrm>
              <a:off x="6221901" y="2735921"/>
              <a:ext cx="1934982" cy="523220"/>
            </a:xfrm>
            <a:prstGeom prst="rect">
              <a:avLst/>
            </a:prstGeom>
            <a:noFill/>
          </p:spPr>
          <p:txBody>
            <a:bodyPr wrap="square" rtlCol="0">
              <a:spAutoFit/>
            </a:bodyPr>
            <a:lstStyle/>
            <a:p>
              <a:r>
                <a:rPr lang="en-US" sz="2800" dirty="0"/>
                <a:t>2019-2022</a:t>
              </a:r>
            </a:p>
          </p:txBody>
        </p:sp>
        <p:sp>
          <p:nvSpPr>
            <p:cNvPr id="16" name="Oval 7">
              <a:extLst>
                <a:ext uri="{FF2B5EF4-FFF2-40B4-BE49-F238E27FC236}">
                  <a16:creationId xmlns:a16="http://schemas.microsoft.com/office/drawing/2014/main" id="{FEC37BFA-07C4-8DC7-7DAD-C9F215535DEE}"/>
                </a:ext>
              </a:extLst>
            </p:cNvPr>
            <p:cNvSpPr/>
            <p:nvPr/>
          </p:nvSpPr>
          <p:spPr>
            <a:xfrm>
              <a:off x="5026384" y="3437262"/>
              <a:ext cx="596602" cy="555266"/>
            </a:xfrm>
            <a:prstGeom prst="ellipse">
              <a:avLst/>
            </a:prstGeom>
            <a:solidFill>
              <a:srgbClr val="006600"/>
            </a:solidFill>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sp>
        <p:sp>
          <p:nvSpPr>
            <p:cNvPr id="17" name="Oval 9">
              <a:extLst>
                <a:ext uri="{FF2B5EF4-FFF2-40B4-BE49-F238E27FC236}">
                  <a16:creationId xmlns:a16="http://schemas.microsoft.com/office/drawing/2014/main" id="{6F9CE2EA-41E3-5DAE-2568-18A4D070E0DA}"/>
                </a:ext>
              </a:extLst>
            </p:cNvPr>
            <p:cNvSpPr/>
            <p:nvPr/>
          </p:nvSpPr>
          <p:spPr>
            <a:xfrm>
              <a:off x="6856522" y="3259141"/>
              <a:ext cx="674675" cy="671539"/>
            </a:xfrm>
            <a:prstGeom prst="ellipse">
              <a:avLst/>
            </a:prstGeom>
            <a:solidFill>
              <a:srgbClr val="006600"/>
            </a:solidFill>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sp>
        <p:sp>
          <p:nvSpPr>
            <p:cNvPr id="18" name="TextBox 11">
              <a:extLst>
                <a:ext uri="{FF2B5EF4-FFF2-40B4-BE49-F238E27FC236}">
                  <a16:creationId xmlns:a16="http://schemas.microsoft.com/office/drawing/2014/main" id="{88FED232-AAAC-7FD8-F8E5-2BF130A2C6AA}"/>
                </a:ext>
              </a:extLst>
            </p:cNvPr>
            <p:cNvSpPr txBox="1"/>
            <p:nvPr/>
          </p:nvSpPr>
          <p:spPr>
            <a:xfrm>
              <a:off x="4093031" y="974035"/>
              <a:ext cx="3160835" cy="1815882"/>
            </a:xfrm>
            <a:prstGeom prst="rect">
              <a:avLst/>
            </a:prstGeom>
            <a:noFill/>
            <a:ln w="28575">
              <a:solidFill>
                <a:srgbClr val="FFC000"/>
              </a:solidFill>
            </a:ln>
          </p:spPr>
          <p:txBody>
            <a:bodyPr wrap="square" rtlCol="0">
              <a:spAutoFit/>
            </a:bodyPr>
            <a:lstStyle/>
            <a:p>
              <a:pPr marL="180975" indent="-180975">
                <a:buFont typeface="Arial" pitchFamily="34" charset="0"/>
                <a:buChar char="•"/>
              </a:pPr>
              <a:r>
                <a:rPr lang="en-US" sz="1400" b="1" dirty="0">
                  <a:cs typeface="Arial" panose="020B0604020202020204" pitchFamily="34" charset="0"/>
                </a:rPr>
                <a:t>TAP Partners Assembly &amp; cross-country learning event in Laos in Rwanda (2016) and Laos (2017)</a:t>
              </a:r>
            </a:p>
            <a:p>
              <a:pPr marL="180975" indent="-180975">
                <a:buFont typeface="Arial" pitchFamily="34" charset="0"/>
                <a:buChar char="•"/>
              </a:pPr>
              <a:r>
                <a:rPr lang="en-US" sz="1400" b="1" dirty="0">
                  <a:cs typeface="Arial" panose="020B0604020202020204" pitchFamily="34" charset="0"/>
                </a:rPr>
                <a:t>Common Framework &amp; </a:t>
              </a:r>
              <a:r>
                <a:rPr lang="en-US" sz="1400" b="1" dirty="0" err="1">
                  <a:cs typeface="Arial" panose="020B0604020202020204" pitchFamily="34" charset="0"/>
                </a:rPr>
                <a:t>TAPipedia</a:t>
              </a:r>
              <a:r>
                <a:rPr lang="en-US" sz="1400" b="1" dirty="0">
                  <a:cs typeface="Arial" panose="020B0604020202020204" pitchFamily="34" charset="0"/>
                </a:rPr>
                <a:t> approved</a:t>
              </a:r>
            </a:p>
            <a:p>
              <a:pPr marL="180975" indent="-180975">
                <a:buFont typeface="Arial" pitchFamily="34" charset="0"/>
                <a:buChar char="•"/>
              </a:pPr>
              <a:r>
                <a:rPr lang="en-US" sz="1400" b="1" dirty="0">
                  <a:cs typeface="Arial" panose="020B0604020202020204" pitchFamily="34" charset="0"/>
                </a:rPr>
                <a:t>E-conference, symposium &amp; other events to advocate for CD for AIS and </a:t>
              </a:r>
              <a:r>
                <a:rPr lang="en-US" sz="1400" b="1" dirty="0" err="1">
                  <a:cs typeface="Arial" panose="020B0604020202020204" pitchFamily="34" charset="0"/>
                </a:rPr>
                <a:t>TAPipedia</a:t>
              </a:r>
              <a:r>
                <a:rPr lang="en-US" sz="1400" b="1" dirty="0">
                  <a:cs typeface="Arial" panose="020B0604020202020204" pitchFamily="34" charset="0"/>
                </a:rPr>
                <a:t> (global &amp; regional)</a:t>
              </a:r>
            </a:p>
          </p:txBody>
        </p:sp>
        <p:sp>
          <p:nvSpPr>
            <p:cNvPr id="19" name="Oval 16">
              <a:extLst>
                <a:ext uri="{FF2B5EF4-FFF2-40B4-BE49-F238E27FC236}">
                  <a16:creationId xmlns:a16="http://schemas.microsoft.com/office/drawing/2014/main" id="{5BAC70FD-F0CF-8AA8-18F3-16CF9233DFC8}"/>
                </a:ext>
              </a:extLst>
            </p:cNvPr>
            <p:cNvSpPr/>
            <p:nvPr/>
          </p:nvSpPr>
          <p:spPr>
            <a:xfrm>
              <a:off x="3250347" y="3780506"/>
              <a:ext cx="502885" cy="489568"/>
            </a:xfrm>
            <a:prstGeom prst="ellipse">
              <a:avLst/>
            </a:prstGeom>
            <a:solidFill>
              <a:srgbClr val="006600"/>
            </a:solidFill>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sp>
        <p:sp>
          <p:nvSpPr>
            <p:cNvPr id="20" name="TextBox 19">
              <a:extLst>
                <a:ext uri="{FF2B5EF4-FFF2-40B4-BE49-F238E27FC236}">
                  <a16:creationId xmlns:a16="http://schemas.microsoft.com/office/drawing/2014/main" id="{F61AF509-78F7-DA86-1788-6C9EFADE7FE8}"/>
                </a:ext>
              </a:extLst>
            </p:cNvPr>
            <p:cNvSpPr txBox="1"/>
            <p:nvPr/>
          </p:nvSpPr>
          <p:spPr>
            <a:xfrm>
              <a:off x="5622986" y="4112011"/>
              <a:ext cx="3160834" cy="1571054"/>
            </a:xfrm>
            <a:prstGeom prst="rect">
              <a:avLst/>
            </a:prstGeom>
            <a:noFill/>
            <a:ln w="57150">
              <a:solidFill>
                <a:srgbClr val="FFC000"/>
              </a:solidFill>
            </a:ln>
          </p:spPr>
          <p:txBody>
            <a:bodyPr wrap="square" rtlCol="0">
              <a:spAutoFit/>
            </a:bodyPr>
            <a:lstStyle/>
            <a:p>
              <a:pPr marL="285750" indent="-285750">
                <a:buFont typeface="Arial" panose="020B0604020202020204" pitchFamily="34" charset="0"/>
                <a:buChar char="•"/>
              </a:pPr>
              <a:r>
                <a:rPr lang="en-US" sz="1400" b="1" dirty="0">
                  <a:cs typeface="Arial" panose="020B0604020202020204" pitchFamily="34" charset="0"/>
                </a:rPr>
                <a:t>Implementation of TAP-AIS project initiated.</a:t>
              </a:r>
            </a:p>
            <a:p>
              <a:pPr marL="285750" indent="-285750">
                <a:buFont typeface="Arial" panose="020B0604020202020204" pitchFamily="34" charset="0"/>
                <a:buChar char="•"/>
              </a:pPr>
              <a:r>
                <a:rPr lang="en-US" sz="1400" b="1" dirty="0">
                  <a:cs typeface="Arial" panose="020B0604020202020204" pitchFamily="34" charset="0"/>
                </a:rPr>
                <a:t>TAP CDEG re-launched.</a:t>
              </a:r>
            </a:p>
            <a:p>
              <a:pPr marL="285750" indent="-285750">
                <a:buFont typeface="Arial" panose="020B0604020202020204" pitchFamily="34" charset="0"/>
                <a:buChar char="•"/>
              </a:pPr>
              <a:r>
                <a:rPr lang="en-US" sz="1400" b="1" dirty="0">
                  <a:cs typeface="Arial" panose="020B0604020202020204" pitchFamily="34" charset="0"/>
                </a:rPr>
                <a:t>Collaboration among TAP Partners strengthened (under the EU-DeSIRA initiative)</a:t>
              </a:r>
            </a:p>
            <a:p>
              <a:pPr marL="285750" indent="-285750">
                <a:buFont typeface="Arial" panose="020B0604020202020204" pitchFamily="34" charset="0"/>
                <a:buChar char="•"/>
              </a:pPr>
              <a:r>
                <a:rPr lang="en-US" sz="1400" b="1" dirty="0">
                  <a:cs typeface="Arial" panose="020B0604020202020204" pitchFamily="34" charset="0"/>
                </a:rPr>
                <a:t>TAP AP 2022-2025 developed</a:t>
              </a:r>
            </a:p>
          </p:txBody>
        </p:sp>
        <p:sp>
          <p:nvSpPr>
            <p:cNvPr id="21" name="Oval 18">
              <a:extLst>
                <a:ext uri="{FF2B5EF4-FFF2-40B4-BE49-F238E27FC236}">
                  <a16:creationId xmlns:a16="http://schemas.microsoft.com/office/drawing/2014/main" id="{6D9964AC-793D-4CA8-4ED2-43F423396901}"/>
                </a:ext>
              </a:extLst>
            </p:cNvPr>
            <p:cNvSpPr/>
            <p:nvPr/>
          </p:nvSpPr>
          <p:spPr>
            <a:xfrm>
              <a:off x="1277283" y="4620103"/>
              <a:ext cx="335452" cy="340336"/>
            </a:xfrm>
            <a:prstGeom prst="ellipse">
              <a:avLst/>
            </a:prstGeom>
            <a:solidFill>
              <a:srgbClr val="006600"/>
            </a:solidFill>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sp>
      </p:grpSp>
    </p:spTree>
    <p:extLst>
      <p:ext uri="{BB962C8B-B14F-4D97-AF65-F5344CB8AC3E}">
        <p14:creationId xmlns:p14="http://schemas.microsoft.com/office/powerpoint/2010/main" val="27478946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magine 5" descr="FAO_logo_Blue_3lines_en.jp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413" y="175113"/>
            <a:ext cx="2392680" cy="966216"/>
          </a:xfrm>
          <a:prstGeom prst="rect">
            <a:avLst/>
          </a:prstGeom>
        </p:spPr>
      </p:pic>
      <p:pic>
        <p:nvPicPr>
          <p:cNvPr id="10" name="Immagine 9"/>
          <p:cNvPicPr>
            <a:picLocks noChangeAspect="1"/>
          </p:cNvPicPr>
          <p:nvPr/>
        </p:nvPicPr>
        <p:blipFill>
          <a:blip r:embed="rId3"/>
          <a:stretch>
            <a:fillRect/>
          </a:stretch>
        </p:blipFill>
        <p:spPr>
          <a:xfrm>
            <a:off x="10848732" y="175113"/>
            <a:ext cx="731711" cy="801224"/>
          </a:xfrm>
          <a:prstGeom prst="rect">
            <a:avLst/>
          </a:prstGeom>
        </p:spPr>
      </p:pic>
      <p:sp>
        <p:nvSpPr>
          <p:cNvPr id="11" name="Rettangolo 10"/>
          <p:cNvSpPr/>
          <p:nvPr/>
        </p:nvSpPr>
        <p:spPr>
          <a:xfrm>
            <a:off x="1802428" y="1095248"/>
            <a:ext cx="7900372" cy="2590453"/>
          </a:xfrm>
          <a:prstGeom prst="rect">
            <a:avLst/>
          </a:prstGeom>
        </p:spPr>
        <p:txBody>
          <a:bodyPr wrap="square">
            <a:spAutoFit/>
          </a:bodyPr>
          <a:lstStyle/>
          <a:p>
            <a:pPr algn="ctr"/>
            <a:endParaRPr lang="it-IT" sz="1000" dirty="0">
              <a:solidFill>
                <a:srgbClr val="7CBC6F"/>
              </a:solidFill>
            </a:endParaRPr>
          </a:p>
          <a:p>
            <a:pPr algn="ctr"/>
            <a:endParaRPr lang="it-IT" sz="900" dirty="0">
              <a:solidFill>
                <a:srgbClr val="7CBC6F"/>
              </a:solidFill>
            </a:endParaRPr>
          </a:p>
          <a:p>
            <a:pPr algn="ctr"/>
            <a:endParaRPr lang="is-IS" sz="4400" baseline="30000" dirty="0"/>
          </a:p>
          <a:p>
            <a:pPr algn="ctr"/>
            <a:endParaRPr lang="it-IT" sz="4400" dirty="0">
              <a:solidFill>
                <a:srgbClr val="7CBC6F"/>
              </a:solidFill>
            </a:endParaRPr>
          </a:p>
          <a:p>
            <a:pPr algn="ctr"/>
            <a:endParaRPr lang="pt-BR" sz="2400" baseline="30000" dirty="0"/>
          </a:p>
          <a:p>
            <a:pPr algn="ctr">
              <a:lnSpc>
                <a:spcPct val="150000"/>
              </a:lnSpc>
            </a:pPr>
            <a:endParaRPr lang="it-IT" sz="3600" dirty="0"/>
          </a:p>
        </p:txBody>
      </p:sp>
      <p:sp>
        <p:nvSpPr>
          <p:cNvPr id="2" name="Titel 1">
            <a:extLst>
              <a:ext uri="{FF2B5EF4-FFF2-40B4-BE49-F238E27FC236}">
                <a16:creationId xmlns:a16="http://schemas.microsoft.com/office/drawing/2014/main" id="{66F0561C-7352-4F08-900B-890512CFDBE5}"/>
              </a:ext>
            </a:extLst>
          </p:cNvPr>
          <p:cNvSpPr>
            <a:spLocks noGrp="1"/>
          </p:cNvSpPr>
          <p:nvPr>
            <p:ph type="title"/>
          </p:nvPr>
        </p:nvSpPr>
        <p:spPr>
          <a:xfrm>
            <a:off x="2163721" y="976561"/>
            <a:ext cx="7900371" cy="579078"/>
          </a:xfrm>
        </p:spPr>
        <p:txBody>
          <a:bodyPr>
            <a:noAutofit/>
          </a:bodyPr>
          <a:lstStyle/>
          <a:p>
            <a:r>
              <a:rPr lang="en-US" sz="2500" b="1" dirty="0">
                <a:solidFill>
                  <a:srgbClr val="7CBC6F"/>
                </a:solidFill>
                <a:latin typeface="+mn-lt"/>
              </a:rPr>
              <a:t>Goal and main outcomes of the TAP Action Plan 2022-20</a:t>
            </a:r>
            <a:r>
              <a:rPr lang="en-US" sz="2400" b="1" dirty="0">
                <a:solidFill>
                  <a:srgbClr val="7CBC6F"/>
                </a:solidFill>
                <a:latin typeface="+mn-lt"/>
              </a:rPr>
              <a:t>25</a:t>
            </a:r>
            <a:endParaRPr lang="en-US" sz="2800" b="1" dirty="0">
              <a:latin typeface="+mn-lt"/>
            </a:endParaRPr>
          </a:p>
        </p:txBody>
      </p:sp>
      <p:sp>
        <p:nvSpPr>
          <p:cNvPr id="3" name="Inhaltsplatzhalter 2">
            <a:extLst>
              <a:ext uri="{FF2B5EF4-FFF2-40B4-BE49-F238E27FC236}">
                <a16:creationId xmlns:a16="http://schemas.microsoft.com/office/drawing/2014/main" id="{6299360F-721C-4BED-9CE1-5D1138561D5F}"/>
              </a:ext>
            </a:extLst>
          </p:cNvPr>
          <p:cNvSpPr>
            <a:spLocks noGrp="1"/>
          </p:cNvSpPr>
          <p:nvPr>
            <p:ph idx="1"/>
          </p:nvPr>
        </p:nvSpPr>
        <p:spPr>
          <a:xfrm>
            <a:off x="1107346" y="2975442"/>
            <a:ext cx="9290536" cy="2773367"/>
          </a:xfrm>
        </p:spPr>
        <p:txBody>
          <a:bodyPr>
            <a:normAutofit/>
          </a:bodyPr>
          <a:lstStyle/>
          <a:p>
            <a:pPr marL="0" indent="0" algn="just">
              <a:buNone/>
            </a:pPr>
            <a:r>
              <a:rPr lang="en-US" sz="1800" b="1" dirty="0"/>
              <a:t>Outcomes:</a:t>
            </a:r>
          </a:p>
          <a:p>
            <a:pPr marL="514350" indent="-514350" algn="just">
              <a:buFont typeface="+mj-lt"/>
              <a:buAutoNum type="arabicPeriod"/>
            </a:pPr>
            <a:r>
              <a:rPr lang="en-US" sz="1800" b="1" dirty="0"/>
              <a:t>Innovation capacities</a:t>
            </a:r>
            <a:r>
              <a:rPr lang="en-US" sz="1800" dirty="0"/>
              <a:t> are improved at country level by establishing effective AIS </a:t>
            </a:r>
          </a:p>
          <a:p>
            <a:pPr marL="514350" indent="-514350" algn="just">
              <a:buFont typeface="+mj-lt"/>
              <a:buAutoNum type="arabicPeriod"/>
            </a:pPr>
            <a:r>
              <a:rPr lang="en-US" sz="1800" b="1" dirty="0"/>
              <a:t>Regional organizations</a:t>
            </a:r>
            <a:r>
              <a:rPr lang="en-US" sz="1800" dirty="0"/>
              <a:t> (Education, Extension and Research) improve their capacities to support countries and their innovation capacities</a:t>
            </a:r>
          </a:p>
          <a:p>
            <a:pPr marL="514350" indent="-514350" algn="just">
              <a:buFont typeface="+mj-lt"/>
              <a:buAutoNum type="arabicPeriod"/>
            </a:pPr>
            <a:r>
              <a:rPr lang="en-US" sz="1800" dirty="0"/>
              <a:t>TAP partners and stakeholders acknowledge the importance of CD for AIS, and </a:t>
            </a:r>
            <a:r>
              <a:rPr lang="en-US" sz="1800" b="1" dirty="0"/>
              <a:t>advocate for more investments in AIS</a:t>
            </a:r>
            <a:r>
              <a:rPr lang="en-US" sz="1800" dirty="0"/>
              <a:t> of countries to contribute to the G20 initiatives and attainment of the SDGs of the United Nations</a:t>
            </a:r>
          </a:p>
          <a:p>
            <a:pPr marL="514350" indent="-514350" algn="just">
              <a:buFont typeface="+mj-lt"/>
              <a:buAutoNum type="arabicPeriod"/>
            </a:pPr>
            <a:r>
              <a:rPr lang="en-US" sz="1800" b="1" dirty="0"/>
              <a:t>TAP Secretariat and its governance improve</a:t>
            </a:r>
            <a:r>
              <a:rPr lang="en-US" sz="1800" dirty="0"/>
              <a:t> its capacities to achieve its mandate</a:t>
            </a:r>
          </a:p>
        </p:txBody>
      </p:sp>
      <p:sp>
        <p:nvSpPr>
          <p:cNvPr id="9" name="Textfeld 8">
            <a:extLst>
              <a:ext uri="{FF2B5EF4-FFF2-40B4-BE49-F238E27FC236}">
                <a16:creationId xmlns:a16="http://schemas.microsoft.com/office/drawing/2014/main" id="{FEB39690-D1B9-4709-AC81-618096EA1170}"/>
              </a:ext>
            </a:extLst>
          </p:cNvPr>
          <p:cNvSpPr txBox="1"/>
          <p:nvPr/>
        </p:nvSpPr>
        <p:spPr>
          <a:xfrm>
            <a:off x="1099037" y="1708192"/>
            <a:ext cx="9574825" cy="923330"/>
          </a:xfrm>
          <a:prstGeom prst="rect">
            <a:avLst/>
          </a:prstGeom>
          <a:noFill/>
        </p:spPr>
        <p:txBody>
          <a:bodyPr wrap="square">
            <a:spAutoFit/>
          </a:bodyPr>
          <a:lstStyle/>
          <a:p>
            <a:r>
              <a:rPr lang="en-US" b="1" dirty="0"/>
              <a:t>Goal: </a:t>
            </a:r>
            <a:r>
              <a:rPr lang="en-US" dirty="0"/>
              <a:t>Strengthen capacities (technical, functional, partnerships and resources) of stakeholders to </a:t>
            </a:r>
            <a:r>
              <a:rPr lang="en-US" b="1" dirty="0"/>
              <a:t>integrate AIS approaches at the institutional and policy level</a:t>
            </a:r>
            <a:r>
              <a:rPr lang="en-US" dirty="0"/>
              <a:t> with high commitment and inclusive bottom-up approaches into AIS.</a:t>
            </a:r>
            <a:endParaRPr lang="de-DE" dirty="0"/>
          </a:p>
        </p:txBody>
      </p:sp>
    </p:spTree>
    <p:extLst>
      <p:ext uri="{BB962C8B-B14F-4D97-AF65-F5344CB8AC3E}">
        <p14:creationId xmlns:p14="http://schemas.microsoft.com/office/powerpoint/2010/main" val="402103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magine 5" descr="FAO_logo_Blue_3lines_en.jp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3199" y="29043"/>
            <a:ext cx="2392680" cy="966216"/>
          </a:xfrm>
          <a:prstGeom prst="rect">
            <a:avLst/>
          </a:prstGeom>
        </p:spPr>
      </p:pic>
      <p:pic>
        <p:nvPicPr>
          <p:cNvPr id="10" name="Immagine 9"/>
          <p:cNvPicPr>
            <a:picLocks noChangeAspect="1"/>
          </p:cNvPicPr>
          <p:nvPr/>
        </p:nvPicPr>
        <p:blipFill>
          <a:blip r:embed="rId3"/>
          <a:stretch>
            <a:fillRect/>
          </a:stretch>
        </p:blipFill>
        <p:spPr>
          <a:xfrm>
            <a:off x="11028393" y="111539"/>
            <a:ext cx="731711" cy="801224"/>
          </a:xfrm>
          <a:prstGeom prst="rect">
            <a:avLst/>
          </a:prstGeom>
        </p:spPr>
      </p:pic>
      <p:sp>
        <p:nvSpPr>
          <p:cNvPr id="11" name="Rettangolo 10"/>
          <p:cNvSpPr/>
          <p:nvPr/>
        </p:nvSpPr>
        <p:spPr>
          <a:xfrm>
            <a:off x="1802428" y="1095248"/>
            <a:ext cx="7900372" cy="2590453"/>
          </a:xfrm>
          <a:prstGeom prst="rect">
            <a:avLst/>
          </a:prstGeom>
        </p:spPr>
        <p:txBody>
          <a:bodyPr wrap="square">
            <a:spAutoFit/>
          </a:bodyPr>
          <a:lstStyle/>
          <a:p>
            <a:pPr algn="ctr"/>
            <a:endParaRPr lang="it-IT" sz="1000">
              <a:solidFill>
                <a:srgbClr val="7CBC6F"/>
              </a:solidFill>
            </a:endParaRPr>
          </a:p>
          <a:p>
            <a:pPr algn="ctr"/>
            <a:endParaRPr lang="it-IT" sz="900">
              <a:solidFill>
                <a:srgbClr val="7CBC6F"/>
              </a:solidFill>
            </a:endParaRPr>
          </a:p>
          <a:p>
            <a:pPr algn="ctr"/>
            <a:endParaRPr lang="is-IS" sz="4400" baseline="30000"/>
          </a:p>
          <a:p>
            <a:pPr algn="ctr"/>
            <a:endParaRPr lang="it-IT" sz="4400">
              <a:solidFill>
                <a:srgbClr val="7CBC6F"/>
              </a:solidFill>
            </a:endParaRPr>
          </a:p>
          <a:p>
            <a:pPr algn="ctr"/>
            <a:endParaRPr lang="pt-BR" sz="2400" baseline="30000"/>
          </a:p>
          <a:p>
            <a:pPr algn="ctr">
              <a:lnSpc>
                <a:spcPct val="150000"/>
              </a:lnSpc>
            </a:pPr>
            <a:endParaRPr lang="it-IT" sz="3600" dirty="0"/>
          </a:p>
        </p:txBody>
      </p:sp>
      <p:sp>
        <p:nvSpPr>
          <p:cNvPr id="2" name="Titel 1">
            <a:extLst>
              <a:ext uri="{FF2B5EF4-FFF2-40B4-BE49-F238E27FC236}">
                <a16:creationId xmlns:a16="http://schemas.microsoft.com/office/drawing/2014/main" id="{66F0561C-7352-4F08-900B-890512CFDBE5}"/>
              </a:ext>
            </a:extLst>
          </p:cNvPr>
          <p:cNvSpPr>
            <a:spLocks noGrp="1"/>
          </p:cNvSpPr>
          <p:nvPr>
            <p:ph type="title"/>
          </p:nvPr>
        </p:nvSpPr>
        <p:spPr>
          <a:xfrm>
            <a:off x="400314" y="1021798"/>
            <a:ext cx="9989257" cy="413558"/>
          </a:xfrm>
        </p:spPr>
        <p:txBody>
          <a:bodyPr>
            <a:noAutofit/>
          </a:bodyPr>
          <a:lstStyle/>
          <a:p>
            <a:r>
              <a:rPr lang="en-US" sz="2000" b="1" dirty="0">
                <a:solidFill>
                  <a:srgbClr val="7CBC6F"/>
                </a:solidFill>
                <a:latin typeface="+mn-lt"/>
              </a:rPr>
              <a:t>Outcome 1: Innovation capacities are improved at country level by establishing effective AIS </a:t>
            </a:r>
            <a:endParaRPr lang="de-DE" sz="3200" dirty="0">
              <a:latin typeface="+mn-lt"/>
            </a:endParaRPr>
          </a:p>
        </p:txBody>
      </p:sp>
      <p:sp>
        <p:nvSpPr>
          <p:cNvPr id="3" name="Inhaltsplatzhalter 2">
            <a:extLst>
              <a:ext uri="{FF2B5EF4-FFF2-40B4-BE49-F238E27FC236}">
                <a16:creationId xmlns:a16="http://schemas.microsoft.com/office/drawing/2014/main" id="{6299360F-721C-4BED-9CE1-5D1138561D5F}"/>
              </a:ext>
            </a:extLst>
          </p:cNvPr>
          <p:cNvSpPr>
            <a:spLocks noGrp="1"/>
          </p:cNvSpPr>
          <p:nvPr>
            <p:ph idx="1"/>
          </p:nvPr>
        </p:nvSpPr>
        <p:spPr>
          <a:xfrm>
            <a:off x="265176" y="1674906"/>
            <a:ext cx="7900372" cy="4808189"/>
          </a:xfrm>
        </p:spPr>
        <p:txBody>
          <a:bodyPr>
            <a:noAutofit/>
          </a:bodyPr>
          <a:lstStyle/>
          <a:p>
            <a:pPr>
              <a:lnSpc>
                <a:spcPct val="120000"/>
              </a:lnSpc>
            </a:pPr>
            <a:r>
              <a:rPr lang="en-US" sz="1800" dirty="0">
                <a:ea typeface="外交粗仿宋"/>
              </a:rPr>
              <a:t>CDAIS initiative in </a:t>
            </a:r>
            <a:r>
              <a:rPr lang="en-US" sz="1800" b="1" dirty="0">
                <a:ea typeface="外交粗仿宋"/>
              </a:rPr>
              <a:t>El Salvador</a:t>
            </a:r>
            <a:r>
              <a:rPr lang="en-US" sz="1800" dirty="0">
                <a:ea typeface="外交粗仿宋"/>
              </a:rPr>
              <a:t> (February 2021) - The initiative supported agricultural innovation in four productive areas (coffee, beans, tomatoes and plantains).</a:t>
            </a:r>
          </a:p>
          <a:p>
            <a:pPr>
              <a:lnSpc>
                <a:spcPct val="120000"/>
              </a:lnSpc>
            </a:pPr>
            <a:r>
              <a:rPr lang="en-US" sz="1800" b="1" dirty="0"/>
              <a:t>“Developing capacities in agricultural innovation systems: scaling up the Tropical Agriculture Platform (TAP) Framework”</a:t>
            </a:r>
            <a:r>
              <a:rPr lang="en-US" sz="1800" dirty="0"/>
              <a:t> (TAP-AIS) – funded by EC and implemented in 9 countries (Cambodia, Lao PDR, Pakistan, Burkina Faso, Senegal, Eritrea, Rwanda, Malawi and Colombia) </a:t>
            </a:r>
          </a:p>
          <a:p>
            <a:pPr lvl="1">
              <a:lnSpc>
                <a:spcPct val="120000"/>
              </a:lnSpc>
            </a:pPr>
            <a:r>
              <a:rPr lang="en-US" sz="1800" b="1" dirty="0"/>
              <a:t>AIS assessments conducted in eight of the nine countries</a:t>
            </a:r>
            <a:r>
              <a:rPr lang="en-US" sz="1800" dirty="0"/>
              <a:t> of the TAP-AIS project. </a:t>
            </a:r>
          </a:p>
          <a:p>
            <a:pPr lvl="1">
              <a:lnSpc>
                <a:spcPct val="120000"/>
              </a:lnSpc>
            </a:pPr>
            <a:r>
              <a:rPr lang="en-US" sz="1800" b="1" dirty="0"/>
              <a:t>Capacity development activities of selected key organizations</a:t>
            </a:r>
            <a:r>
              <a:rPr lang="en-US" sz="1800" dirty="0"/>
              <a:t> are being implemented in six of TAP-AIS countries.</a:t>
            </a:r>
          </a:p>
          <a:p>
            <a:pPr lvl="1">
              <a:lnSpc>
                <a:spcPct val="120000"/>
              </a:lnSpc>
            </a:pPr>
            <a:r>
              <a:rPr lang="en-US" sz="1800" b="1" dirty="0"/>
              <a:t>Policy dialogue and other bridging events</a:t>
            </a:r>
            <a:r>
              <a:rPr lang="en-US" sz="1800" dirty="0"/>
              <a:t> (i.e., innovation fairs) are being facilitated in all TAP-AIS countries.</a:t>
            </a:r>
          </a:p>
        </p:txBody>
      </p:sp>
      <p:pic>
        <p:nvPicPr>
          <p:cNvPr id="8" name="Grafik 7" descr="Ein Bild, das Text, Person, Läufer enthält.&#10;&#10;Automatisch generierte Beschreibung">
            <a:extLst>
              <a:ext uri="{FF2B5EF4-FFF2-40B4-BE49-F238E27FC236}">
                <a16:creationId xmlns:a16="http://schemas.microsoft.com/office/drawing/2014/main" id="{F9ECB7D6-5567-DA96-5114-B7CC6ADCB832}"/>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7795" y="1661649"/>
            <a:ext cx="2693821" cy="2020114"/>
          </a:xfrm>
          <a:prstGeom prst="rect">
            <a:avLst/>
          </a:prstGeom>
          <a:noFill/>
          <a:ln>
            <a:noFill/>
          </a:ln>
        </p:spPr>
      </p:pic>
      <p:pic>
        <p:nvPicPr>
          <p:cNvPr id="9" name="Grafik 8" descr="Ein Bild, das Straße, draußen, Person, Personen enthält.&#10;&#10;Automatisch generierte Beschreibung">
            <a:extLst>
              <a:ext uri="{FF2B5EF4-FFF2-40B4-BE49-F238E27FC236}">
                <a16:creationId xmlns:a16="http://schemas.microsoft.com/office/drawing/2014/main" id="{23305C52-9AAB-EA48-5CDC-B3E3A072197A}"/>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246848" y="4097401"/>
            <a:ext cx="2644768" cy="1983576"/>
          </a:xfrm>
          <a:prstGeom prst="rect">
            <a:avLst/>
          </a:prstGeom>
          <a:noFill/>
          <a:ln>
            <a:noFill/>
          </a:ln>
        </p:spPr>
      </p:pic>
      <p:sp>
        <p:nvSpPr>
          <p:cNvPr id="13" name="Textfeld 12">
            <a:extLst>
              <a:ext uri="{FF2B5EF4-FFF2-40B4-BE49-F238E27FC236}">
                <a16:creationId xmlns:a16="http://schemas.microsoft.com/office/drawing/2014/main" id="{A434B33B-8D0E-C858-9744-F2F85C177C51}"/>
              </a:ext>
            </a:extLst>
          </p:cNvPr>
          <p:cNvSpPr txBox="1"/>
          <p:nvPr/>
        </p:nvSpPr>
        <p:spPr>
          <a:xfrm>
            <a:off x="8247811" y="6189139"/>
            <a:ext cx="3038168" cy="461665"/>
          </a:xfrm>
          <a:prstGeom prst="rect">
            <a:avLst/>
          </a:prstGeom>
          <a:noFill/>
        </p:spPr>
        <p:txBody>
          <a:bodyPr wrap="square">
            <a:spAutoFit/>
          </a:bodyPr>
          <a:lstStyle/>
          <a:p>
            <a:r>
              <a:rPr lang="en-US" sz="1200" dirty="0">
                <a:solidFill>
                  <a:srgbClr val="000000"/>
                </a:solidFill>
                <a:latin typeface="+mj-lt"/>
                <a:ea typeface="Times New Roman" panose="02020603050405020304" pitchFamily="18" charset="0"/>
              </a:rPr>
              <a:t>Participants of the national policy dialogue in Phnom Penh, Cambodia</a:t>
            </a:r>
            <a:endParaRPr lang="de-DE" sz="1200" dirty="0">
              <a:latin typeface="+mj-lt"/>
            </a:endParaRPr>
          </a:p>
        </p:txBody>
      </p:sp>
      <p:sp>
        <p:nvSpPr>
          <p:cNvPr id="15" name="Textfeld 14">
            <a:extLst>
              <a:ext uri="{FF2B5EF4-FFF2-40B4-BE49-F238E27FC236}">
                <a16:creationId xmlns:a16="http://schemas.microsoft.com/office/drawing/2014/main" id="{EE89F69A-8E7C-2B55-C3D8-C91FA54CEFEF}"/>
              </a:ext>
            </a:extLst>
          </p:cNvPr>
          <p:cNvSpPr txBox="1"/>
          <p:nvPr/>
        </p:nvSpPr>
        <p:spPr>
          <a:xfrm>
            <a:off x="8405716" y="3712240"/>
            <a:ext cx="2722359" cy="276999"/>
          </a:xfrm>
          <a:prstGeom prst="rect">
            <a:avLst/>
          </a:prstGeom>
          <a:noFill/>
        </p:spPr>
        <p:txBody>
          <a:bodyPr wrap="square">
            <a:spAutoFit/>
          </a:bodyPr>
          <a:lstStyle/>
          <a:p>
            <a:r>
              <a:rPr lang="en-US" sz="1200" dirty="0">
                <a:solidFill>
                  <a:srgbClr val="000000"/>
                </a:solidFill>
                <a:latin typeface="+mj-lt"/>
                <a:ea typeface="Times New Roman" panose="02020603050405020304" pitchFamily="18" charset="0"/>
              </a:rPr>
              <a:t>TAP-AIS Final Workshop in Lao PDR </a:t>
            </a:r>
            <a:endParaRPr lang="de-DE" sz="1200" dirty="0">
              <a:latin typeface="+mj-lt"/>
            </a:endParaRPr>
          </a:p>
        </p:txBody>
      </p:sp>
    </p:spTree>
    <p:extLst>
      <p:ext uri="{BB962C8B-B14F-4D97-AF65-F5344CB8AC3E}">
        <p14:creationId xmlns:p14="http://schemas.microsoft.com/office/powerpoint/2010/main" val="2428741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magine 5" descr="FAO_logo_Blue_3lines_en.jp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692" y="0"/>
            <a:ext cx="2392680" cy="966216"/>
          </a:xfrm>
          <a:prstGeom prst="rect">
            <a:avLst/>
          </a:prstGeom>
        </p:spPr>
      </p:pic>
      <p:pic>
        <p:nvPicPr>
          <p:cNvPr id="10" name="Immagine 9"/>
          <p:cNvPicPr>
            <a:picLocks noChangeAspect="1"/>
          </p:cNvPicPr>
          <p:nvPr/>
        </p:nvPicPr>
        <p:blipFill>
          <a:blip r:embed="rId3"/>
          <a:stretch>
            <a:fillRect/>
          </a:stretch>
        </p:blipFill>
        <p:spPr>
          <a:xfrm>
            <a:off x="11158724" y="0"/>
            <a:ext cx="731711" cy="801224"/>
          </a:xfrm>
          <a:prstGeom prst="rect">
            <a:avLst/>
          </a:prstGeom>
        </p:spPr>
      </p:pic>
      <p:sp>
        <p:nvSpPr>
          <p:cNvPr id="11" name="Rettangolo 10"/>
          <p:cNvSpPr/>
          <p:nvPr/>
        </p:nvSpPr>
        <p:spPr>
          <a:xfrm>
            <a:off x="1802428" y="1095248"/>
            <a:ext cx="7900372" cy="2590453"/>
          </a:xfrm>
          <a:prstGeom prst="rect">
            <a:avLst/>
          </a:prstGeom>
        </p:spPr>
        <p:txBody>
          <a:bodyPr wrap="square">
            <a:spAutoFit/>
          </a:bodyPr>
          <a:lstStyle/>
          <a:p>
            <a:pPr algn="ctr"/>
            <a:endParaRPr lang="it-IT" sz="1000" dirty="0">
              <a:solidFill>
                <a:srgbClr val="7CBC6F"/>
              </a:solidFill>
            </a:endParaRPr>
          </a:p>
          <a:p>
            <a:pPr algn="ctr"/>
            <a:endParaRPr lang="it-IT" sz="900" dirty="0">
              <a:solidFill>
                <a:srgbClr val="7CBC6F"/>
              </a:solidFill>
            </a:endParaRPr>
          </a:p>
          <a:p>
            <a:pPr algn="ctr"/>
            <a:endParaRPr lang="is-IS" sz="4400" baseline="30000" dirty="0"/>
          </a:p>
          <a:p>
            <a:pPr algn="ctr"/>
            <a:endParaRPr lang="it-IT" sz="4400" dirty="0">
              <a:solidFill>
                <a:srgbClr val="7CBC6F"/>
              </a:solidFill>
            </a:endParaRPr>
          </a:p>
          <a:p>
            <a:pPr algn="ctr"/>
            <a:endParaRPr lang="pt-BR" sz="2400" baseline="30000" dirty="0"/>
          </a:p>
          <a:p>
            <a:pPr algn="ctr">
              <a:lnSpc>
                <a:spcPct val="150000"/>
              </a:lnSpc>
            </a:pPr>
            <a:endParaRPr lang="it-IT" sz="3600" dirty="0"/>
          </a:p>
        </p:txBody>
      </p:sp>
      <p:sp>
        <p:nvSpPr>
          <p:cNvPr id="3" name="Inhaltsplatzhalter 2">
            <a:extLst>
              <a:ext uri="{FF2B5EF4-FFF2-40B4-BE49-F238E27FC236}">
                <a16:creationId xmlns:a16="http://schemas.microsoft.com/office/drawing/2014/main" id="{6299360F-721C-4BED-9CE1-5D1138561D5F}"/>
              </a:ext>
            </a:extLst>
          </p:cNvPr>
          <p:cNvSpPr>
            <a:spLocks noGrp="1"/>
          </p:cNvSpPr>
          <p:nvPr>
            <p:ph idx="1"/>
          </p:nvPr>
        </p:nvSpPr>
        <p:spPr>
          <a:xfrm>
            <a:off x="640171" y="1219804"/>
            <a:ext cx="9448799" cy="5189857"/>
          </a:xfrm>
        </p:spPr>
        <p:txBody>
          <a:bodyPr>
            <a:noAutofit/>
          </a:bodyPr>
          <a:lstStyle/>
          <a:p>
            <a:pPr>
              <a:lnSpc>
                <a:spcPct val="100000"/>
              </a:lnSpc>
              <a:spcAft>
                <a:spcPts val="800"/>
              </a:spcAft>
            </a:pPr>
            <a:r>
              <a:rPr lang="en-US" sz="1700" b="1" dirty="0">
                <a:ea typeface="Calibri" panose="020F0502020204030204" pitchFamily="34" charset="0"/>
                <a:cs typeface="Times New Roman" panose="02020603050405020304" pitchFamily="18" charset="0"/>
              </a:rPr>
              <a:t>FAO and RREOs: Training of trainers (</a:t>
            </a:r>
            <a:r>
              <a:rPr lang="en-US" sz="1700" b="1" dirty="0" err="1">
                <a:ea typeface="Calibri" panose="020F0502020204030204" pitchFamily="34" charset="0"/>
                <a:cs typeface="Times New Roman" panose="02020603050405020304" pitchFamily="18" charset="0"/>
              </a:rPr>
              <a:t>ToT</a:t>
            </a:r>
            <a:r>
              <a:rPr lang="en-US" sz="1700" b="1" dirty="0">
                <a:ea typeface="Calibri" panose="020F0502020204030204" pitchFamily="34" charset="0"/>
                <a:cs typeface="Times New Roman" panose="02020603050405020304" pitchFamily="18" charset="0"/>
              </a:rPr>
              <a:t>) </a:t>
            </a:r>
            <a:r>
              <a:rPr lang="en-US" sz="1700" dirty="0">
                <a:ea typeface="Calibri" panose="020F0502020204030204" pitchFamily="34" charset="0"/>
                <a:cs typeface="Times New Roman" panose="02020603050405020304" pitchFamily="18" charset="0"/>
              </a:rPr>
              <a:t>on </a:t>
            </a:r>
            <a:r>
              <a:rPr lang="en-US" sz="1700" i="1" dirty="0">
                <a:ea typeface="Calibri" panose="020F0502020204030204" pitchFamily="34" charset="0"/>
                <a:cs typeface="Times New Roman" panose="02020603050405020304" pitchFamily="18" charset="0"/>
              </a:rPr>
              <a:t>Strengthening agriculture innovation systems: TAP common framework and approaches</a:t>
            </a:r>
            <a:r>
              <a:rPr lang="en-US" sz="1700" dirty="0">
                <a:ea typeface="Calibri" panose="020F0502020204030204" pitchFamily="34" charset="0"/>
                <a:cs typeface="Times New Roman" panose="02020603050405020304" pitchFamily="18" charset="0"/>
              </a:rPr>
              <a:t>. </a:t>
            </a:r>
          </a:p>
          <a:p>
            <a:pPr>
              <a:lnSpc>
                <a:spcPct val="100000"/>
              </a:lnSpc>
              <a:spcAft>
                <a:spcPts val="800"/>
              </a:spcAft>
            </a:pPr>
            <a:r>
              <a:rPr lang="en-US" sz="1700" b="1" dirty="0">
                <a:ea typeface="Calibri" panose="020F0502020204030204" pitchFamily="34" charset="0"/>
                <a:cs typeface="Times New Roman" panose="02020603050405020304" pitchFamily="18" charset="0"/>
              </a:rPr>
              <a:t>APAARI:</a:t>
            </a:r>
            <a:r>
              <a:rPr lang="en-US" sz="1700" dirty="0">
                <a:ea typeface="Calibri" panose="020F0502020204030204" pitchFamily="34" charset="0"/>
                <a:cs typeface="Times New Roman" panose="02020603050405020304" pitchFamily="18" charset="0"/>
              </a:rPr>
              <a:t> Developed a </a:t>
            </a:r>
            <a:r>
              <a:rPr lang="en-US" sz="1700" b="1" dirty="0" err="1">
                <a:ea typeface="Calibri" panose="020F0502020204030204" pitchFamily="34" charset="0"/>
                <a:cs typeface="Times New Roman" panose="02020603050405020304" pitchFamily="18" charset="0"/>
              </a:rPr>
              <a:t>ToT</a:t>
            </a:r>
            <a:r>
              <a:rPr lang="en-US" sz="1700" b="1" dirty="0">
                <a:ea typeface="Calibri" panose="020F0502020204030204" pitchFamily="34" charset="0"/>
                <a:cs typeface="Times New Roman" panose="02020603050405020304" pitchFamily="18" charset="0"/>
              </a:rPr>
              <a:t> refresher course </a:t>
            </a:r>
            <a:r>
              <a:rPr lang="en-US" sz="1700" dirty="0">
                <a:ea typeface="Calibri" panose="020F0502020204030204" pitchFamily="34" charset="0"/>
                <a:cs typeface="Times New Roman" panose="02020603050405020304" pitchFamily="18" charset="0"/>
              </a:rPr>
              <a:t>on applying TAP tools in technical projects on </a:t>
            </a:r>
            <a:r>
              <a:rPr lang="en-US" sz="1700" b="1" dirty="0">
                <a:ea typeface="Calibri" panose="020F0502020204030204" pitchFamily="34" charset="0"/>
                <a:cs typeface="Times New Roman" panose="02020603050405020304" pitchFamily="18" charset="0"/>
              </a:rPr>
              <a:t>Pesticide Residue Mitigation</a:t>
            </a:r>
            <a:r>
              <a:rPr lang="en-US" sz="1700" dirty="0">
                <a:ea typeface="Calibri" panose="020F0502020204030204" pitchFamily="34" charset="0"/>
                <a:cs typeface="Times New Roman" panose="02020603050405020304" pitchFamily="18" charset="0"/>
              </a:rPr>
              <a:t> and </a:t>
            </a:r>
            <a:r>
              <a:rPr lang="en-US" sz="1700" b="1" dirty="0">
                <a:ea typeface="Calibri" panose="020F0502020204030204" pitchFamily="34" charset="0"/>
                <a:cs typeface="Times New Roman" panose="02020603050405020304" pitchFamily="18" charset="0"/>
              </a:rPr>
              <a:t>Phytosanitary and Biopesticide</a:t>
            </a:r>
            <a:r>
              <a:rPr lang="en-US" sz="1700" dirty="0">
                <a:ea typeface="Calibri" panose="020F0502020204030204" pitchFamily="34" charset="0"/>
                <a:cs typeface="Times New Roman" panose="02020603050405020304" pitchFamily="18" charset="0"/>
              </a:rPr>
              <a:t> in Asia.</a:t>
            </a:r>
            <a:endParaRPr lang="de-DE" sz="1700" dirty="0">
              <a:ea typeface="Calibri" panose="020F0502020204030204" pitchFamily="34" charset="0"/>
              <a:cs typeface="Times New Roman" panose="02020603050405020304" pitchFamily="18" charset="0"/>
            </a:endParaRPr>
          </a:p>
          <a:p>
            <a:pPr>
              <a:lnSpc>
                <a:spcPct val="100000"/>
              </a:lnSpc>
              <a:spcAft>
                <a:spcPts val="800"/>
              </a:spcAft>
            </a:pPr>
            <a:r>
              <a:rPr lang="en-GB" sz="1700" b="1" dirty="0">
                <a:latin typeface="Calibri" panose="020F0502020204030204" pitchFamily="34" charset="0"/>
                <a:cs typeface="Times New Roman" panose="02020603050405020304" pitchFamily="18" charset="0"/>
              </a:rPr>
              <a:t>APAARI and APIRAS: </a:t>
            </a:r>
            <a:r>
              <a:rPr lang="en-GB" sz="1700" dirty="0">
                <a:latin typeface="Calibri" panose="020F0502020204030204" pitchFamily="34" charset="0"/>
                <a:cs typeface="Times New Roman" panose="02020603050405020304" pitchFamily="18" charset="0"/>
              </a:rPr>
              <a:t>T</a:t>
            </a:r>
            <a:r>
              <a:rPr lang="en-GB" sz="1700" b="1" dirty="0">
                <a:latin typeface="Calibri" panose="020F0502020204030204" pitchFamily="34" charset="0"/>
                <a:cs typeface="Times New Roman" panose="02020603050405020304" pitchFamily="18" charset="0"/>
              </a:rPr>
              <a:t>wo regional working groups on agroecology and biotechnology </a:t>
            </a:r>
            <a:r>
              <a:rPr lang="en-GB" sz="1700" dirty="0">
                <a:latin typeface="Calibri" panose="020F0502020204030204" pitchFamily="34" charset="0"/>
                <a:cs typeface="Times New Roman" panose="02020603050405020304" pitchFamily="18" charset="0"/>
              </a:rPr>
              <a:t>were facilitated.</a:t>
            </a:r>
          </a:p>
          <a:p>
            <a:pPr>
              <a:lnSpc>
                <a:spcPct val="100000"/>
              </a:lnSpc>
              <a:spcAft>
                <a:spcPts val="800"/>
              </a:spcAft>
            </a:pPr>
            <a:r>
              <a:rPr lang="en-GB" sz="1700" b="1" dirty="0">
                <a:ea typeface="Calibri" panose="020F0502020204030204" pitchFamily="34" charset="0"/>
                <a:cs typeface="Times New Roman" panose="02020603050405020304" pitchFamily="18" charset="0"/>
              </a:rPr>
              <a:t>IICA and RELASER: Operational guide</a:t>
            </a:r>
            <a:r>
              <a:rPr lang="en-GB" sz="1700" dirty="0">
                <a:ea typeface="Calibri" panose="020F0502020204030204" pitchFamily="34" charset="0"/>
                <a:cs typeface="Times New Roman" panose="02020603050405020304" pitchFamily="18" charset="0"/>
              </a:rPr>
              <a:t> on strengthening capacity to innovate with focus on functional capacities for Latin America.</a:t>
            </a:r>
          </a:p>
          <a:p>
            <a:pPr algn="just">
              <a:lnSpc>
                <a:spcPct val="100000"/>
              </a:lnSpc>
              <a:spcAft>
                <a:spcPts val="800"/>
              </a:spcAft>
            </a:pPr>
            <a:r>
              <a:rPr lang="en-US" sz="1700" b="1" dirty="0">
                <a:latin typeface="Calibri" panose="020F0502020204030204" pitchFamily="34" charset="0"/>
                <a:cs typeface="Times New Roman" panose="02020603050405020304" pitchFamily="18" charset="0"/>
              </a:rPr>
              <a:t>AARINENA:</a:t>
            </a:r>
            <a:r>
              <a:rPr lang="en-US" sz="1700" dirty="0">
                <a:latin typeface="Calibri" panose="020F0502020204030204" pitchFamily="34" charset="0"/>
                <a:cs typeface="Times New Roman" panose="02020603050405020304" pitchFamily="18" charset="0"/>
              </a:rPr>
              <a:t> Launched its </a:t>
            </a:r>
            <a:r>
              <a:rPr lang="en-US" sz="1700" b="1" dirty="0">
                <a:latin typeface="Calibri" panose="020F0502020204030204" pitchFamily="34" charset="0"/>
                <a:cs typeface="Times New Roman" panose="02020603050405020304" pitchFamily="18" charset="0"/>
              </a:rPr>
              <a:t>Date Palm Innovation Platform </a:t>
            </a:r>
            <a:r>
              <a:rPr lang="en-US" sz="1700" dirty="0">
                <a:latin typeface="Calibri" panose="020F0502020204030204" pitchFamily="34" charset="0"/>
                <a:cs typeface="Times New Roman" panose="02020603050405020304" pitchFamily="18" charset="0"/>
              </a:rPr>
              <a:t>in March 2022 at the </a:t>
            </a:r>
            <a:r>
              <a:rPr lang="en-GB" sz="1700" b="1" dirty="0">
                <a:latin typeface="Calibri" panose="020F0502020204030204" pitchFamily="34" charset="0"/>
                <a:cs typeface="Times New Roman" panose="02020603050405020304" pitchFamily="18" charset="0"/>
              </a:rPr>
              <a:t>7th International Date Palm Conference in Abu Dhabi,</a:t>
            </a:r>
            <a:r>
              <a:rPr lang="en-GB" sz="1700" dirty="0">
                <a:latin typeface="Calibri" panose="020F0502020204030204" pitchFamily="34" charset="0"/>
                <a:cs typeface="Times New Roman" panose="02020603050405020304" pitchFamily="18" charset="0"/>
              </a:rPr>
              <a:t> and supported by the General Secretariat of the Khalifa International Award for Date Palm and Agricultural Innovation. </a:t>
            </a:r>
            <a:endParaRPr lang="de-DE" sz="1700" dirty="0">
              <a:latin typeface="Calibri" panose="020F0502020204030204" pitchFamily="34" charset="0"/>
              <a:cs typeface="Times New Roman" panose="02020603050405020304" pitchFamily="18" charset="0"/>
            </a:endParaRPr>
          </a:p>
          <a:p>
            <a:pPr algn="just">
              <a:lnSpc>
                <a:spcPct val="100000"/>
              </a:lnSpc>
              <a:spcAft>
                <a:spcPts val="800"/>
              </a:spcAft>
            </a:pPr>
            <a:r>
              <a:rPr lang="en-US" sz="1700" b="1" dirty="0">
                <a:latin typeface="Calibri" panose="020F0502020204030204" pitchFamily="34" charset="0"/>
                <a:cs typeface="Times New Roman" panose="02020603050405020304" pitchFamily="18" charset="0"/>
              </a:rPr>
              <a:t>CATAS: Training courses </a:t>
            </a:r>
            <a:r>
              <a:rPr lang="en-US" sz="1700" dirty="0">
                <a:latin typeface="Calibri" panose="020F0502020204030204" pitchFamily="34" charset="0"/>
                <a:cs typeface="Times New Roman" panose="02020603050405020304" pitchFamily="18" charset="0"/>
              </a:rPr>
              <a:t>facilitated in support on capacity strengthening in Republic of the Congo, </a:t>
            </a:r>
            <a:r>
              <a:rPr lang="en-GB" sz="1700" dirty="0">
                <a:latin typeface="Calibri" panose="020F0502020204030204" pitchFamily="34" charset="0"/>
                <a:cs typeface="Times New Roman" panose="02020603050405020304" pitchFamily="18" charset="0"/>
              </a:rPr>
              <a:t>Grenada and Guyana.</a:t>
            </a:r>
          </a:p>
          <a:p>
            <a:pPr algn="just">
              <a:lnSpc>
                <a:spcPct val="100000"/>
              </a:lnSpc>
              <a:spcAft>
                <a:spcPts val="800"/>
              </a:spcAft>
            </a:pPr>
            <a:r>
              <a:rPr lang="en-GB" sz="1700" b="1" dirty="0">
                <a:latin typeface="Calibri" panose="020F0502020204030204" pitchFamily="34" charset="0"/>
                <a:cs typeface="Times New Roman" panose="02020603050405020304" pitchFamily="18" charset="0"/>
              </a:rPr>
              <a:t>The World Vegetable</a:t>
            </a:r>
            <a:r>
              <a:rPr lang="en-GB" sz="1700" dirty="0">
                <a:latin typeface="Calibri" panose="020F0502020204030204" pitchFamily="34" charset="0"/>
                <a:cs typeface="Times New Roman" panose="02020603050405020304" pitchFamily="18" charset="0"/>
              </a:rPr>
              <a:t> </a:t>
            </a:r>
            <a:r>
              <a:rPr lang="en-GB" sz="1700" b="1" dirty="0" err="1">
                <a:latin typeface="Calibri" panose="020F0502020204030204" pitchFamily="34" charset="0"/>
                <a:cs typeface="Times New Roman" panose="02020603050405020304" pitchFamily="18" charset="0"/>
              </a:rPr>
              <a:t>Center</a:t>
            </a:r>
            <a:r>
              <a:rPr lang="en-GB" sz="1700" dirty="0">
                <a:latin typeface="Calibri" panose="020F0502020204030204" pitchFamily="34" charset="0"/>
                <a:cs typeface="Times New Roman" panose="02020603050405020304" pitchFamily="18" charset="0"/>
              </a:rPr>
              <a:t> (</a:t>
            </a:r>
            <a:r>
              <a:rPr lang="en-GB" sz="1700" dirty="0" err="1">
                <a:latin typeface="Calibri" panose="020F0502020204030204" pitchFamily="34" charset="0"/>
                <a:cs typeface="Times New Roman" panose="02020603050405020304" pitchFamily="18" charset="0"/>
              </a:rPr>
              <a:t>WorldVeg</a:t>
            </a:r>
            <a:r>
              <a:rPr lang="en-GB" sz="1700" dirty="0">
                <a:latin typeface="Calibri" panose="020F0502020204030204" pitchFamily="34" charset="0"/>
                <a:cs typeface="Times New Roman" panose="02020603050405020304" pitchFamily="18" charset="0"/>
              </a:rPr>
              <a:t>): Developed a new </a:t>
            </a:r>
            <a:r>
              <a:rPr lang="en-GB" sz="1700" b="1" dirty="0">
                <a:latin typeface="Calibri" panose="020F0502020204030204" pitchFamily="34" charset="0"/>
                <a:cs typeface="Times New Roman" panose="02020603050405020304" pitchFamily="18" charset="0"/>
              </a:rPr>
              <a:t>training course for vegetable seed producers in Africa</a:t>
            </a:r>
            <a:r>
              <a:rPr lang="en-GB" sz="1700" dirty="0">
                <a:latin typeface="Calibri" panose="020F0502020204030204" pitchFamily="34" charset="0"/>
                <a:cs typeface="Times New Roman" panose="02020603050405020304" pitchFamily="18" charset="0"/>
              </a:rPr>
              <a:t> to help improve the quality of seed production.</a:t>
            </a:r>
            <a:endParaRPr lang="en-US" sz="1700" dirty="0">
              <a:latin typeface="Calibri" panose="020F0502020204030204" pitchFamily="34" charset="0"/>
              <a:cs typeface="Times New Roman" panose="02020603050405020304" pitchFamily="18" charset="0"/>
            </a:endParaRPr>
          </a:p>
        </p:txBody>
      </p:sp>
      <p:sp>
        <p:nvSpPr>
          <p:cNvPr id="13" name="Titel 1">
            <a:extLst>
              <a:ext uri="{FF2B5EF4-FFF2-40B4-BE49-F238E27FC236}">
                <a16:creationId xmlns:a16="http://schemas.microsoft.com/office/drawing/2014/main" id="{35F490BE-74D2-4D04-A740-072AC25C9B49}"/>
              </a:ext>
            </a:extLst>
          </p:cNvPr>
          <p:cNvSpPr txBox="1">
            <a:spLocks/>
          </p:cNvSpPr>
          <p:nvPr/>
        </p:nvSpPr>
        <p:spPr>
          <a:xfrm>
            <a:off x="2481372" y="176497"/>
            <a:ext cx="8439807" cy="773782"/>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000" b="1" dirty="0">
                <a:solidFill>
                  <a:srgbClr val="7CBC6F"/>
                </a:solidFill>
                <a:latin typeface="+mn-lt"/>
              </a:rPr>
              <a:t>Outcome 2: Regional organizations (Education, Extension and Research) improve their capacities to support countries and their innovation capacities</a:t>
            </a:r>
            <a:endParaRPr lang="de-DE" sz="3200" dirty="0">
              <a:latin typeface="+mn-lt"/>
            </a:endParaRPr>
          </a:p>
        </p:txBody>
      </p:sp>
      <p:pic>
        <p:nvPicPr>
          <p:cNvPr id="2" name="Grafik 1">
            <a:extLst>
              <a:ext uri="{FF2B5EF4-FFF2-40B4-BE49-F238E27FC236}">
                <a16:creationId xmlns:a16="http://schemas.microsoft.com/office/drawing/2014/main" id="{6FB94274-0E31-FADF-05E8-BC3FBD9701A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302234" y="4180018"/>
            <a:ext cx="1712980" cy="2420650"/>
          </a:xfrm>
          <a:prstGeom prst="rect">
            <a:avLst/>
          </a:prstGeom>
          <a:noFill/>
          <a:ln>
            <a:noFill/>
          </a:ln>
        </p:spPr>
      </p:pic>
      <p:pic>
        <p:nvPicPr>
          <p:cNvPr id="18" name="Grafik 17">
            <a:extLst>
              <a:ext uri="{FF2B5EF4-FFF2-40B4-BE49-F238E27FC236}">
                <a16:creationId xmlns:a16="http://schemas.microsoft.com/office/drawing/2014/main" id="{66243687-CD37-F56F-E3DF-63D07CD157EC}"/>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32959" t="16204" r="34524" b="14186"/>
          <a:stretch/>
        </p:blipFill>
        <p:spPr bwMode="auto">
          <a:xfrm>
            <a:off x="10088970" y="1597023"/>
            <a:ext cx="1712980" cy="244425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207955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magine 5" descr="FAO_logo_Blue_3lines_en.jp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425" y="146596"/>
            <a:ext cx="2392680" cy="966216"/>
          </a:xfrm>
          <a:prstGeom prst="rect">
            <a:avLst/>
          </a:prstGeom>
        </p:spPr>
      </p:pic>
      <p:pic>
        <p:nvPicPr>
          <p:cNvPr id="10" name="Immagine 9"/>
          <p:cNvPicPr>
            <a:picLocks noChangeAspect="1"/>
          </p:cNvPicPr>
          <p:nvPr/>
        </p:nvPicPr>
        <p:blipFill>
          <a:blip r:embed="rId3"/>
          <a:stretch>
            <a:fillRect/>
          </a:stretch>
        </p:blipFill>
        <p:spPr>
          <a:xfrm>
            <a:off x="11106031" y="133845"/>
            <a:ext cx="731711" cy="801224"/>
          </a:xfrm>
          <a:prstGeom prst="rect">
            <a:avLst/>
          </a:prstGeom>
        </p:spPr>
      </p:pic>
      <p:sp>
        <p:nvSpPr>
          <p:cNvPr id="11" name="Rettangolo 10"/>
          <p:cNvSpPr/>
          <p:nvPr/>
        </p:nvSpPr>
        <p:spPr>
          <a:xfrm>
            <a:off x="1802428" y="1095248"/>
            <a:ext cx="7900372" cy="2590453"/>
          </a:xfrm>
          <a:prstGeom prst="rect">
            <a:avLst/>
          </a:prstGeom>
        </p:spPr>
        <p:txBody>
          <a:bodyPr wrap="square">
            <a:spAutoFit/>
          </a:bodyPr>
          <a:lstStyle/>
          <a:p>
            <a:pPr algn="ctr"/>
            <a:endParaRPr lang="it-IT" sz="1000" dirty="0">
              <a:solidFill>
                <a:srgbClr val="7CBC6F"/>
              </a:solidFill>
            </a:endParaRPr>
          </a:p>
          <a:p>
            <a:pPr algn="ctr"/>
            <a:endParaRPr lang="it-IT" sz="900" dirty="0">
              <a:solidFill>
                <a:srgbClr val="7CBC6F"/>
              </a:solidFill>
            </a:endParaRPr>
          </a:p>
          <a:p>
            <a:pPr algn="ctr"/>
            <a:endParaRPr lang="is-IS" sz="4400" baseline="30000" dirty="0"/>
          </a:p>
          <a:p>
            <a:pPr algn="ctr"/>
            <a:endParaRPr lang="it-IT" sz="4400" dirty="0">
              <a:solidFill>
                <a:srgbClr val="7CBC6F"/>
              </a:solidFill>
            </a:endParaRPr>
          </a:p>
          <a:p>
            <a:pPr algn="ctr"/>
            <a:endParaRPr lang="pt-BR" sz="2400" baseline="30000" dirty="0"/>
          </a:p>
          <a:p>
            <a:pPr algn="ctr">
              <a:lnSpc>
                <a:spcPct val="150000"/>
              </a:lnSpc>
            </a:pPr>
            <a:endParaRPr lang="it-IT" sz="3600" dirty="0"/>
          </a:p>
        </p:txBody>
      </p:sp>
      <p:sp>
        <p:nvSpPr>
          <p:cNvPr id="2" name="Titel 1">
            <a:extLst>
              <a:ext uri="{FF2B5EF4-FFF2-40B4-BE49-F238E27FC236}">
                <a16:creationId xmlns:a16="http://schemas.microsoft.com/office/drawing/2014/main" id="{66F0561C-7352-4F08-900B-890512CFDBE5}"/>
              </a:ext>
            </a:extLst>
          </p:cNvPr>
          <p:cNvSpPr>
            <a:spLocks noGrp="1"/>
          </p:cNvSpPr>
          <p:nvPr>
            <p:ph type="title"/>
          </p:nvPr>
        </p:nvSpPr>
        <p:spPr>
          <a:xfrm>
            <a:off x="550387" y="1071363"/>
            <a:ext cx="10714006" cy="910959"/>
          </a:xfrm>
        </p:spPr>
        <p:txBody>
          <a:bodyPr>
            <a:noAutofit/>
          </a:bodyPr>
          <a:lstStyle/>
          <a:p>
            <a:r>
              <a:rPr lang="en-US" sz="2000" b="1" dirty="0">
                <a:solidFill>
                  <a:srgbClr val="7CBC6F"/>
                </a:solidFill>
                <a:latin typeface="+mn-lt"/>
              </a:rPr>
              <a:t>Outcome 3: TAP partners and stakeholders acknowledge the importance of CD for AIS, and advocate for more investments in AIS of countries to contribute to the G20 initiatives and attainment of the SDGs of the United Nations</a:t>
            </a:r>
            <a:endParaRPr lang="de-DE" sz="3200" dirty="0">
              <a:latin typeface="+mn-lt"/>
            </a:endParaRPr>
          </a:p>
        </p:txBody>
      </p:sp>
      <p:sp>
        <p:nvSpPr>
          <p:cNvPr id="3" name="Inhaltsplatzhalter 2">
            <a:extLst>
              <a:ext uri="{FF2B5EF4-FFF2-40B4-BE49-F238E27FC236}">
                <a16:creationId xmlns:a16="http://schemas.microsoft.com/office/drawing/2014/main" id="{6299360F-721C-4BED-9CE1-5D1138561D5F}"/>
              </a:ext>
            </a:extLst>
          </p:cNvPr>
          <p:cNvSpPr>
            <a:spLocks noGrp="1"/>
          </p:cNvSpPr>
          <p:nvPr>
            <p:ph idx="1"/>
          </p:nvPr>
        </p:nvSpPr>
        <p:spPr>
          <a:xfrm>
            <a:off x="550387" y="2247283"/>
            <a:ext cx="8872633" cy="4037664"/>
          </a:xfrm>
        </p:spPr>
        <p:txBody>
          <a:bodyPr>
            <a:noAutofit/>
          </a:bodyPr>
          <a:lstStyle/>
          <a:p>
            <a:pPr algn="just"/>
            <a:r>
              <a:rPr lang="en-US" sz="2000" b="1" dirty="0"/>
              <a:t>TAP Stocktaking report </a:t>
            </a:r>
            <a:r>
              <a:rPr lang="en-US" sz="2000" dirty="0"/>
              <a:t>and the </a:t>
            </a:r>
            <a:r>
              <a:rPr lang="en-US" sz="2000" b="1" dirty="0"/>
              <a:t>video</a:t>
            </a:r>
            <a:r>
              <a:rPr lang="en-US" sz="2000" dirty="0"/>
              <a:t> shared during the </a:t>
            </a:r>
            <a:r>
              <a:rPr lang="en-US" sz="2000" b="1" dirty="0"/>
              <a:t>G20 - Agriculture Deputies meeting </a:t>
            </a:r>
            <a:r>
              <a:rPr lang="en-US" sz="2000" dirty="0"/>
              <a:t>organized by the Ministry of Agricultural Food and Forestry Policies of Italy (April 2021).</a:t>
            </a:r>
          </a:p>
          <a:p>
            <a:pPr algn="just"/>
            <a:r>
              <a:rPr lang="en-GB" sz="2000" dirty="0"/>
              <a:t>TAP was represented at the </a:t>
            </a:r>
            <a:r>
              <a:rPr lang="en-GB" sz="2000" b="1" dirty="0"/>
              <a:t>G20 Agricultural Chief Scientists (MACS) </a:t>
            </a:r>
            <a:r>
              <a:rPr lang="en-GB" sz="2000" dirty="0"/>
              <a:t>in Indonesia (July 2022).</a:t>
            </a:r>
          </a:p>
          <a:p>
            <a:pPr algn="just"/>
            <a:r>
              <a:rPr lang="en-US" sz="2000" dirty="0">
                <a:solidFill>
                  <a:srgbClr val="000000"/>
                </a:solidFill>
              </a:rPr>
              <a:t>TAP’s work was highlighted during the  “</a:t>
            </a:r>
            <a:r>
              <a:rPr lang="en-US" sz="2000" i="1" dirty="0">
                <a:solidFill>
                  <a:srgbClr val="187FBC"/>
                </a:solidFill>
              </a:rPr>
              <a:t>High-level dialogue on the Partnership in Action on Science, Technology and Innovation for SDGs Roadmaps</a:t>
            </a:r>
            <a:r>
              <a:rPr lang="en-US" sz="2000" dirty="0">
                <a:solidFill>
                  <a:srgbClr val="000000"/>
                </a:solidFill>
              </a:rPr>
              <a:t>”, (July 2021) organized by UNDESA.</a:t>
            </a:r>
          </a:p>
          <a:p>
            <a:pPr algn="just"/>
            <a:r>
              <a:rPr lang="en-US" sz="2000" b="1" dirty="0"/>
              <a:t>Science Days of United Nations Food Systems Summit (UNFSS) 2021</a:t>
            </a:r>
          </a:p>
          <a:p>
            <a:pPr lvl="1" algn="just"/>
            <a:r>
              <a:rPr lang="en-US" sz="1600" dirty="0"/>
              <a:t>TAP organized a side event on “Capacity development for agricultural innovation systems - Lessons learned and future action of the TAP partnership”</a:t>
            </a:r>
            <a:endParaRPr lang="en-US" sz="1600" b="1" dirty="0"/>
          </a:p>
          <a:p>
            <a:pPr algn="just"/>
            <a:r>
              <a:rPr lang="en-US" sz="2000" b="1" dirty="0"/>
              <a:t>APAARI</a:t>
            </a:r>
            <a:r>
              <a:rPr lang="en-US" sz="2000" dirty="0"/>
              <a:t> and </a:t>
            </a:r>
            <a:r>
              <a:rPr lang="en-US" sz="2000" b="1" dirty="0"/>
              <a:t>COSAI</a:t>
            </a:r>
            <a:r>
              <a:rPr lang="en-US" sz="2000" dirty="0"/>
              <a:t> - hosted the dialogue focusing on the innovation investment landscape and future food systems in the Asia-Pacific (Sep 2021).</a:t>
            </a:r>
            <a:endParaRPr lang="de-DE" sz="2000" dirty="0"/>
          </a:p>
          <a:p>
            <a:pPr algn="just"/>
            <a:endParaRPr lang="en-US" sz="2000" dirty="0"/>
          </a:p>
          <a:p>
            <a:pPr algn="just"/>
            <a:endParaRPr lang="en-US" sz="2000" dirty="0"/>
          </a:p>
          <a:p>
            <a:pPr marL="342900" lvl="1" indent="-342900" algn="just">
              <a:lnSpc>
                <a:spcPct val="110000"/>
              </a:lnSpc>
              <a:spcAft>
                <a:spcPts val="800"/>
              </a:spcAft>
            </a:pPr>
            <a:endParaRPr lang="de-DE" sz="2000" dirty="0">
              <a:cs typeface="Times New Roman" panose="02020603050405020304" pitchFamily="18" charset="0"/>
            </a:endParaRPr>
          </a:p>
          <a:p>
            <a:pPr lvl="1">
              <a:buFont typeface="Arial" panose="020B0604020202020204" pitchFamily="34" charset="0"/>
              <a:buChar char="•"/>
            </a:pPr>
            <a:endParaRPr lang="de-DE" sz="2000" dirty="0">
              <a:ea typeface="Calibri" panose="020F0502020204030204" pitchFamily="34" charset="0"/>
            </a:endParaRPr>
          </a:p>
          <a:p>
            <a:pPr lvl="1">
              <a:buFont typeface="Arial" panose="020B0604020202020204" pitchFamily="34" charset="0"/>
              <a:buChar char="•"/>
            </a:pPr>
            <a:endParaRPr lang="en-US" sz="2000" dirty="0">
              <a:cs typeface="Times New Roman" panose="02020603050405020304" pitchFamily="18" charset="0"/>
            </a:endParaRPr>
          </a:p>
          <a:p>
            <a:pPr algn="just">
              <a:buFont typeface="Arial" panose="020B0604020202020204" pitchFamily="34" charset="0"/>
              <a:buChar char="•"/>
            </a:pPr>
            <a:endParaRPr lang="en-US" sz="2000" dirty="0"/>
          </a:p>
          <a:p>
            <a:pPr algn="just">
              <a:buFont typeface="Arial" panose="020B0604020202020204" pitchFamily="34" charset="0"/>
              <a:buChar char="•"/>
            </a:pPr>
            <a:endParaRPr lang="de-DE" sz="2000" dirty="0"/>
          </a:p>
        </p:txBody>
      </p:sp>
      <p:pic>
        <p:nvPicPr>
          <p:cNvPr id="9" name="Picture 7" descr="Bildergebnis für g20 macs italy">
            <a:extLst>
              <a:ext uri="{FF2B5EF4-FFF2-40B4-BE49-F238E27FC236}">
                <a16:creationId xmlns:a16="http://schemas.microsoft.com/office/drawing/2014/main" id="{13402588-1D86-0BFA-4B8B-B67F7352CF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84782" y="2102860"/>
            <a:ext cx="1458473" cy="157515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G20-Gipfel auf Bali 2022 – Wikipedia">
            <a:extLst>
              <a:ext uri="{FF2B5EF4-FFF2-40B4-BE49-F238E27FC236}">
                <a16:creationId xmlns:a16="http://schemas.microsoft.com/office/drawing/2014/main" id="{E4DE3971-A3D2-1775-CFD2-D7516BE359A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54841" y="1902494"/>
            <a:ext cx="1069924" cy="178320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9" descr="Quellbild anzeigen">
            <a:extLst>
              <a:ext uri="{FF2B5EF4-FFF2-40B4-BE49-F238E27FC236}">
                <a16:creationId xmlns:a16="http://schemas.microsoft.com/office/drawing/2014/main" id="{A2F6E708-F117-5D46-936B-CF17A31EAAA3}"/>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10081"/>
          <a:stretch/>
        </p:blipFill>
        <p:spPr bwMode="auto">
          <a:xfrm>
            <a:off x="9619451" y="3685079"/>
            <a:ext cx="2108336" cy="146853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02ED9D38-022A-1C34-971B-279AAB22254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688431" y="4912139"/>
            <a:ext cx="2445314" cy="13728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7875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4">
            <a:extLst>
              <a:ext uri="{FF2B5EF4-FFF2-40B4-BE49-F238E27FC236}">
                <a16:creationId xmlns:a16="http://schemas.microsoft.com/office/drawing/2014/main" id="{503F29F5-001A-3496-44A4-2B4B4A33B17A}"/>
              </a:ext>
            </a:extLst>
          </p:cNvPr>
          <p:cNvPicPr>
            <a:picLocks noChangeAspect="1"/>
          </p:cNvPicPr>
          <p:nvPr/>
        </p:nvPicPr>
        <p:blipFill>
          <a:blip r:embed="rId2" cstate="print"/>
          <a:srcRect/>
          <a:stretch>
            <a:fillRect/>
          </a:stretch>
        </p:blipFill>
        <p:spPr>
          <a:xfrm>
            <a:off x="10115645" y="3797849"/>
            <a:ext cx="1983359" cy="2237953"/>
          </a:xfrm>
          <a:prstGeom prst="rect">
            <a:avLst/>
          </a:prstGeom>
          <a:noFill/>
          <a:ln w="9525">
            <a:noFill/>
            <a:miter lim="800000"/>
            <a:headEnd/>
            <a:tailEnd/>
          </a:ln>
        </p:spPr>
      </p:pic>
      <p:pic>
        <p:nvPicPr>
          <p:cNvPr id="6" name="Immagine 5" descr="FAO_logo_Blue_3lines_en.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318" y="30382"/>
            <a:ext cx="2392680" cy="966216"/>
          </a:xfrm>
          <a:prstGeom prst="rect">
            <a:avLst/>
          </a:prstGeom>
        </p:spPr>
      </p:pic>
      <p:pic>
        <p:nvPicPr>
          <p:cNvPr id="10" name="Immagine 9"/>
          <p:cNvPicPr>
            <a:picLocks noChangeAspect="1"/>
          </p:cNvPicPr>
          <p:nvPr/>
        </p:nvPicPr>
        <p:blipFill>
          <a:blip r:embed="rId4"/>
          <a:stretch>
            <a:fillRect/>
          </a:stretch>
        </p:blipFill>
        <p:spPr>
          <a:xfrm>
            <a:off x="10674710" y="112878"/>
            <a:ext cx="731711" cy="801224"/>
          </a:xfrm>
          <a:prstGeom prst="rect">
            <a:avLst/>
          </a:prstGeom>
        </p:spPr>
      </p:pic>
      <p:sp>
        <p:nvSpPr>
          <p:cNvPr id="11" name="Rettangolo 10"/>
          <p:cNvSpPr/>
          <p:nvPr/>
        </p:nvSpPr>
        <p:spPr>
          <a:xfrm>
            <a:off x="1802428" y="1095248"/>
            <a:ext cx="7900372" cy="2590453"/>
          </a:xfrm>
          <a:prstGeom prst="rect">
            <a:avLst/>
          </a:prstGeom>
        </p:spPr>
        <p:txBody>
          <a:bodyPr wrap="square">
            <a:spAutoFit/>
          </a:bodyPr>
          <a:lstStyle/>
          <a:p>
            <a:pPr algn="ctr"/>
            <a:endParaRPr lang="it-IT" sz="1000" dirty="0">
              <a:solidFill>
                <a:srgbClr val="7CBC6F"/>
              </a:solidFill>
            </a:endParaRPr>
          </a:p>
          <a:p>
            <a:pPr algn="ctr"/>
            <a:endParaRPr lang="it-IT" sz="900" dirty="0">
              <a:solidFill>
                <a:srgbClr val="7CBC6F"/>
              </a:solidFill>
            </a:endParaRPr>
          </a:p>
          <a:p>
            <a:pPr algn="ctr"/>
            <a:endParaRPr lang="is-IS" sz="4400" baseline="30000" dirty="0"/>
          </a:p>
          <a:p>
            <a:pPr algn="ctr"/>
            <a:endParaRPr lang="it-IT" sz="4400" dirty="0">
              <a:solidFill>
                <a:srgbClr val="7CBC6F"/>
              </a:solidFill>
            </a:endParaRPr>
          </a:p>
          <a:p>
            <a:pPr algn="ctr"/>
            <a:endParaRPr lang="pt-BR" sz="2400" baseline="30000" dirty="0"/>
          </a:p>
          <a:p>
            <a:pPr algn="ctr">
              <a:lnSpc>
                <a:spcPct val="150000"/>
              </a:lnSpc>
            </a:pPr>
            <a:endParaRPr lang="it-IT" sz="3600" dirty="0"/>
          </a:p>
        </p:txBody>
      </p:sp>
      <p:sp>
        <p:nvSpPr>
          <p:cNvPr id="3" name="Inhaltsplatzhalter 2">
            <a:extLst>
              <a:ext uri="{FF2B5EF4-FFF2-40B4-BE49-F238E27FC236}">
                <a16:creationId xmlns:a16="http://schemas.microsoft.com/office/drawing/2014/main" id="{6299360F-721C-4BED-9CE1-5D1138561D5F}"/>
              </a:ext>
            </a:extLst>
          </p:cNvPr>
          <p:cNvSpPr>
            <a:spLocks noGrp="1"/>
          </p:cNvSpPr>
          <p:nvPr>
            <p:ph idx="1"/>
          </p:nvPr>
        </p:nvSpPr>
        <p:spPr>
          <a:xfrm>
            <a:off x="323103" y="1419200"/>
            <a:ext cx="7248106" cy="5101307"/>
          </a:xfrm>
        </p:spPr>
        <p:txBody>
          <a:bodyPr>
            <a:noAutofit/>
          </a:bodyPr>
          <a:lstStyle/>
          <a:p>
            <a:pPr>
              <a:lnSpc>
                <a:spcPct val="110000"/>
              </a:lnSpc>
              <a:spcAft>
                <a:spcPts val="800"/>
              </a:spcAft>
            </a:pPr>
            <a:r>
              <a:rPr lang="en-US" sz="2000" b="1" dirty="0">
                <a:cs typeface="Times New Roman" panose="02020603050405020304" pitchFamily="18" charset="0"/>
              </a:rPr>
              <a:t>FAO, APIRAS</a:t>
            </a:r>
            <a:r>
              <a:rPr lang="en-US" sz="2000" dirty="0">
                <a:cs typeface="Times New Roman" panose="02020603050405020304" pitchFamily="18" charset="0"/>
              </a:rPr>
              <a:t> and </a:t>
            </a:r>
            <a:r>
              <a:rPr lang="en-US" sz="2000" b="1" dirty="0">
                <a:cs typeface="Times New Roman" panose="02020603050405020304" pitchFamily="18" charset="0"/>
              </a:rPr>
              <a:t>APAARI: </a:t>
            </a:r>
            <a:r>
              <a:rPr lang="en-US" sz="2000" dirty="0">
                <a:cs typeface="Times New Roman" panose="02020603050405020304" pitchFamily="18" charset="0"/>
              </a:rPr>
              <a:t>Organized a promotional event (21 June 2022) on “Strengthening capacities of agricultural research and extension organizations” to support agriculture innovation in Asia-Pacific.</a:t>
            </a:r>
          </a:p>
          <a:p>
            <a:pPr>
              <a:lnSpc>
                <a:spcPct val="110000"/>
              </a:lnSpc>
              <a:spcAft>
                <a:spcPts val="800"/>
              </a:spcAft>
            </a:pPr>
            <a:r>
              <a:rPr lang="en-US" sz="2000" b="1" dirty="0">
                <a:cs typeface="Times New Roman" panose="02020603050405020304" pitchFamily="18" charset="0"/>
              </a:rPr>
              <a:t>JIRCAS: </a:t>
            </a:r>
            <a:r>
              <a:rPr lang="en-US" sz="2000" dirty="0">
                <a:cs typeface="Times New Roman" panose="02020603050405020304" pitchFamily="18" charset="0"/>
              </a:rPr>
              <a:t> Organized the </a:t>
            </a:r>
            <a:r>
              <a:rPr lang="en-GB" sz="2000" dirty="0">
                <a:ea typeface="Calibri" panose="020F0502020204030204" pitchFamily="34" charset="0"/>
              </a:rPr>
              <a:t>International Symposium 2022 - "Artisanal Fisheries and Aquaculture in the Sustainable Food Systems“ (November 2022), as a follow up of the 2021 UN Food Systems Summit, and on the occasion of the International Year of Artisanal Fisheries and Aquaculture (IYAFA 2022). </a:t>
            </a:r>
            <a:endParaRPr lang="en-US" sz="2000" dirty="0">
              <a:ea typeface="Calibri" panose="020F0502020204030204" pitchFamily="34" charset="0"/>
              <a:cs typeface="Times New Roman" panose="02020603050405020304" pitchFamily="18" charset="0"/>
            </a:endParaRPr>
          </a:p>
          <a:p>
            <a:pPr>
              <a:lnSpc>
                <a:spcPct val="110000"/>
              </a:lnSpc>
              <a:spcAft>
                <a:spcPts val="800"/>
              </a:spcAft>
            </a:pPr>
            <a:r>
              <a:rPr lang="en-GB" sz="2000" b="1" dirty="0">
                <a:cs typeface="Times New Roman" panose="02020603050405020304" pitchFamily="18" charset="0"/>
              </a:rPr>
              <a:t>CATAS</a:t>
            </a:r>
            <a:r>
              <a:rPr lang="en-GB" sz="2000" dirty="0">
                <a:cs typeface="Times New Roman" panose="02020603050405020304" pitchFamily="18" charset="0"/>
              </a:rPr>
              <a:t> and </a:t>
            </a:r>
            <a:r>
              <a:rPr lang="en-GB" sz="2000" b="1" dirty="0">
                <a:cs typeface="Times New Roman" panose="02020603050405020304" pitchFamily="18" charset="0"/>
              </a:rPr>
              <a:t>CIRAD:</a:t>
            </a:r>
            <a:r>
              <a:rPr lang="en-GB" sz="2000" dirty="0">
                <a:cs typeface="Times New Roman" panose="02020603050405020304" pitchFamily="18" charset="0"/>
              </a:rPr>
              <a:t> Signed a New Framework Agreement for Scientific Cooperation (March 2022) to further expand the areas of cooperation to offer better solutions for the sustainable development of tropical agriculture.</a:t>
            </a:r>
            <a:endParaRPr lang="en-US" sz="2000" dirty="0">
              <a:cs typeface="Times New Roman" panose="02020603050405020304" pitchFamily="18" charset="0"/>
            </a:endParaRPr>
          </a:p>
          <a:p>
            <a:pPr>
              <a:lnSpc>
                <a:spcPct val="110000"/>
              </a:lnSpc>
              <a:buFont typeface="Arial" panose="020B0604020202020204" pitchFamily="34" charset="0"/>
              <a:buChar char="•"/>
            </a:pPr>
            <a:endParaRPr lang="en-US" sz="2000" dirty="0"/>
          </a:p>
          <a:p>
            <a:pPr>
              <a:lnSpc>
                <a:spcPct val="110000"/>
              </a:lnSpc>
              <a:buFont typeface="Arial" panose="020B0604020202020204" pitchFamily="34" charset="0"/>
              <a:buChar char="•"/>
            </a:pPr>
            <a:endParaRPr lang="de-DE" sz="2000" dirty="0"/>
          </a:p>
        </p:txBody>
      </p:sp>
      <p:pic>
        <p:nvPicPr>
          <p:cNvPr id="4" name="図 2" descr="テキスト&#10;&#10;自動的に生成された説明">
            <a:extLst>
              <a:ext uri="{FF2B5EF4-FFF2-40B4-BE49-F238E27FC236}">
                <a16:creationId xmlns:a16="http://schemas.microsoft.com/office/drawing/2014/main" id="{EE7668CF-8F79-64AE-9BA6-0DA5F9A85A23}"/>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b="16272"/>
          <a:stretch/>
        </p:blipFill>
        <p:spPr bwMode="auto">
          <a:xfrm>
            <a:off x="7939939" y="1282477"/>
            <a:ext cx="4022102" cy="2506911"/>
          </a:xfrm>
          <a:prstGeom prst="rect">
            <a:avLst/>
          </a:prstGeom>
          <a:ln>
            <a:noFill/>
          </a:ln>
          <a:extLst>
            <a:ext uri="{53640926-AAD7-44D8-BBD7-CCE9431645EC}">
              <a14:shadowObscured xmlns:a14="http://schemas.microsoft.com/office/drawing/2010/main"/>
            </a:ext>
          </a:extLst>
        </p:spPr>
      </p:pic>
      <p:pic>
        <p:nvPicPr>
          <p:cNvPr id="5" name="图片 3">
            <a:extLst>
              <a:ext uri="{FF2B5EF4-FFF2-40B4-BE49-F238E27FC236}">
                <a16:creationId xmlns:a16="http://schemas.microsoft.com/office/drawing/2014/main" id="{BD2D921D-C2CE-8691-5153-5054D0AF8E0E}"/>
              </a:ext>
            </a:extLst>
          </p:cNvPr>
          <p:cNvPicPr>
            <a:picLocks noChangeAspect="1"/>
          </p:cNvPicPr>
          <p:nvPr/>
        </p:nvPicPr>
        <p:blipFill>
          <a:blip r:embed="rId6" cstate="print"/>
          <a:srcRect/>
          <a:stretch>
            <a:fillRect/>
          </a:stretch>
        </p:blipFill>
        <p:spPr>
          <a:xfrm>
            <a:off x="7787920" y="4382379"/>
            <a:ext cx="2163070" cy="1441450"/>
          </a:xfrm>
          <a:prstGeom prst="rect">
            <a:avLst/>
          </a:prstGeom>
          <a:noFill/>
          <a:ln w="9525">
            <a:noFill/>
            <a:miter lim="800000"/>
            <a:headEnd/>
            <a:tailEnd/>
          </a:ln>
        </p:spPr>
      </p:pic>
      <p:sp>
        <p:nvSpPr>
          <p:cNvPr id="8" name="Textfeld 7">
            <a:extLst>
              <a:ext uri="{FF2B5EF4-FFF2-40B4-BE49-F238E27FC236}">
                <a16:creationId xmlns:a16="http://schemas.microsoft.com/office/drawing/2014/main" id="{6E831288-599A-8576-A07D-A468D15ABCCA}"/>
              </a:ext>
            </a:extLst>
          </p:cNvPr>
          <p:cNvSpPr txBox="1"/>
          <p:nvPr/>
        </p:nvSpPr>
        <p:spPr>
          <a:xfrm>
            <a:off x="8482534" y="6344833"/>
            <a:ext cx="3086510" cy="461665"/>
          </a:xfrm>
          <a:prstGeom prst="rect">
            <a:avLst/>
          </a:prstGeom>
          <a:noFill/>
        </p:spPr>
        <p:txBody>
          <a:bodyPr wrap="square">
            <a:spAutoFit/>
          </a:bodyPr>
          <a:lstStyle/>
          <a:p>
            <a:r>
              <a:rPr lang="en-US" sz="1200" dirty="0">
                <a:solidFill>
                  <a:srgbClr val="000000"/>
                </a:solidFill>
                <a:latin typeface="+mj-lt"/>
                <a:ea typeface="Times New Roman" panose="02020603050405020304" pitchFamily="18" charset="0"/>
              </a:rPr>
              <a:t>CATAS / CIRAD New Framework Agreement </a:t>
            </a:r>
          </a:p>
          <a:p>
            <a:r>
              <a:rPr lang="en-US" sz="1200" dirty="0">
                <a:solidFill>
                  <a:srgbClr val="000000"/>
                </a:solidFill>
                <a:latin typeface="+mj-lt"/>
                <a:ea typeface="Times New Roman" panose="02020603050405020304" pitchFamily="18" charset="0"/>
              </a:rPr>
              <a:t>Signing Ceremony </a:t>
            </a:r>
            <a:endParaRPr lang="de-DE" sz="1200" dirty="0">
              <a:latin typeface="+mj-lt"/>
            </a:endParaRPr>
          </a:p>
        </p:txBody>
      </p:sp>
      <p:sp>
        <p:nvSpPr>
          <p:cNvPr id="13" name="Titel 1">
            <a:extLst>
              <a:ext uri="{FF2B5EF4-FFF2-40B4-BE49-F238E27FC236}">
                <a16:creationId xmlns:a16="http://schemas.microsoft.com/office/drawing/2014/main" id="{E016CB7A-81CA-5DA0-EAA1-D511642A7D58}"/>
              </a:ext>
            </a:extLst>
          </p:cNvPr>
          <p:cNvSpPr txBox="1">
            <a:spLocks/>
          </p:cNvSpPr>
          <p:nvPr/>
        </p:nvSpPr>
        <p:spPr>
          <a:xfrm>
            <a:off x="2231090" y="337493"/>
            <a:ext cx="8052772" cy="801224"/>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400" b="1" dirty="0">
                <a:solidFill>
                  <a:srgbClr val="7CBC6F"/>
                </a:solidFill>
                <a:latin typeface="+mn-lt"/>
              </a:rPr>
              <a:t>Outcome 3: Major events organized to raise awareness on agricultural innovation</a:t>
            </a:r>
            <a:endParaRPr lang="de-DE" sz="3200" dirty="0">
              <a:latin typeface="+mn-lt"/>
            </a:endParaRPr>
          </a:p>
        </p:txBody>
      </p:sp>
    </p:spTree>
    <p:extLst>
      <p:ext uri="{BB962C8B-B14F-4D97-AF65-F5344CB8AC3E}">
        <p14:creationId xmlns:p14="http://schemas.microsoft.com/office/powerpoint/2010/main" val="1812426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magine 5" descr="FAO_logo_Blue_3lines_en.jp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572" y="78515"/>
            <a:ext cx="2392680" cy="966216"/>
          </a:xfrm>
          <a:prstGeom prst="rect">
            <a:avLst/>
          </a:prstGeom>
        </p:spPr>
      </p:pic>
      <p:pic>
        <p:nvPicPr>
          <p:cNvPr id="10" name="Immagine 9"/>
          <p:cNvPicPr>
            <a:picLocks noChangeAspect="1"/>
          </p:cNvPicPr>
          <p:nvPr/>
        </p:nvPicPr>
        <p:blipFill>
          <a:blip r:embed="rId3"/>
          <a:stretch>
            <a:fillRect/>
          </a:stretch>
        </p:blipFill>
        <p:spPr>
          <a:xfrm>
            <a:off x="11295812" y="78515"/>
            <a:ext cx="731711" cy="801224"/>
          </a:xfrm>
          <a:prstGeom prst="rect">
            <a:avLst/>
          </a:prstGeom>
        </p:spPr>
      </p:pic>
      <p:sp>
        <p:nvSpPr>
          <p:cNvPr id="11" name="Rettangolo 10"/>
          <p:cNvSpPr/>
          <p:nvPr/>
        </p:nvSpPr>
        <p:spPr>
          <a:xfrm>
            <a:off x="1802428" y="1095248"/>
            <a:ext cx="7900372" cy="2590453"/>
          </a:xfrm>
          <a:prstGeom prst="rect">
            <a:avLst/>
          </a:prstGeom>
        </p:spPr>
        <p:txBody>
          <a:bodyPr wrap="square">
            <a:spAutoFit/>
          </a:bodyPr>
          <a:lstStyle/>
          <a:p>
            <a:pPr algn="ctr"/>
            <a:endParaRPr lang="it-IT" sz="1000" dirty="0">
              <a:solidFill>
                <a:srgbClr val="7CBC6F"/>
              </a:solidFill>
            </a:endParaRPr>
          </a:p>
          <a:p>
            <a:pPr algn="ctr"/>
            <a:endParaRPr lang="it-IT" sz="900" dirty="0">
              <a:solidFill>
                <a:srgbClr val="7CBC6F"/>
              </a:solidFill>
            </a:endParaRPr>
          </a:p>
          <a:p>
            <a:pPr algn="ctr"/>
            <a:endParaRPr lang="is-IS" sz="4400" baseline="30000" dirty="0"/>
          </a:p>
          <a:p>
            <a:pPr algn="ctr"/>
            <a:endParaRPr lang="it-IT" sz="4400" dirty="0">
              <a:solidFill>
                <a:srgbClr val="7CBC6F"/>
              </a:solidFill>
            </a:endParaRPr>
          </a:p>
          <a:p>
            <a:pPr algn="ctr"/>
            <a:endParaRPr lang="pt-BR" sz="2400" baseline="30000" dirty="0"/>
          </a:p>
          <a:p>
            <a:pPr algn="ctr">
              <a:lnSpc>
                <a:spcPct val="150000"/>
              </a:lnSpc>
            </a:pPr>
            <a:endParaRPr lang="it-IT" sz="3600" dirty="0"/>
          </a:p>
        </p:txBody>
      </p:sp>
      <p:sp>
        <p:nvSpPr>
          <p:cNvPr id="3" name="Inhaltsplatzhalter 2">
            <a:extLst>
              <a:ext uri="{FF2B5EF4-FFF2-40B4-BE49-F238E27FC236}">
                <a16:creationId xmlns:a16="http://schemas.microsoft.com/office/drawing/2014/main" id="{6299360F-721C-4BED-9CE1-5D1138561D5F}"/>
              </a:ext>
            </a:extLst>
          </p:cNvPr>
          <p:cNvSpPr>
            <a:spLocks noGrp="1"/>
          </p:cNvSpPr>
          <p:nvPr>
            <p:ph idx="1"/>
          </p:nvPr>
        </p:nvSpPr>
        <p:spPr>
          <a:xfrm>
            <a:off x="337321" y="2185318"/>
            <a:ext cx="8274997" cy="4273085"/>
          </a:xfrm>
        </p:spPr>
        <p:txBody>
          <a:bodyPr>
            <a:noAutofit/>
          </a:bodyPr>
          <a:lstStyle/>
          <a:p>
            <a:pPr>
              <a:lnSpc>
                <a:spcPct val="110000"/>
              </a:lnSpc>
              <a:spcAft>
                <a:spcPts val="800"/>
              </a:spcAft>
            </a:pPr>
            <a:r>
              <a:rPr lang="en-US" sz="2400" dirty="0">
                <a:latin typeface="Calibri" panose="020F0502020204030204" pitchFamily="34" charset="0"/>
                <a:cs typeface="Times New Roman" panose="02020603050405020304" pitchFamily="18" charset="0"/>
              </a:rPr>
              <a:t>TAP Partners organized several events during the </a:t>
            </a:r>
            <a:r>
              <a:rPr lang="en-US" sz="2400" b="1" dirty="0">
                <a:latin typeface="Calibri" panose="020F0502020204030204" pitchFamily="34" charset="0"/>
                <a:cs typeface="Times New Roman" panose="02020603050405020304" pitchFamily="18" charset="0"/>
              </a:rPr>
              <a:t>FAO Science and Innovation Forum </a:t>
            </a:r>
            <a:r>
              <a:rPr lang="en-US" sz="2400" dirty="0">
                <a:latin typeface="Calibri" panose="020F0502020204030204" pitchFamily="34" charset="0"/>
                <a:cs typeface="Times New Roman" panose="02020603050405020304" pitchFamily="18" charset="0"/>
              </a:rPr>
              <a:t>(October 2022).</a:t>
            </a:r>
          </a:p>
          <a:p>
            <a:pPr lvl="1"/>
            <a:r>
              <a:rPr lang="en-GB" sz="1800" b="1" dirty="0">
                <a:latin typeface="Calibri" panose="020F0502020204030204" pitchFamily="34" charset="0"/>
                <a:cs typeface="Times New Roman" panose="02020603050405020304" pitchFamily="18" charset="0"/>
              </a:rPr>
              <a:t>Capacity development for agricultural innovation systems (AIS)</a:t>
            </a:r>
            <a:r>
              <a:rPr lang="en-GB" sz="1800" dirty="0">
                <a:latin typeface="Calibri" panose="020F0502020204030204" pitchFamily="34" charset="0"/>
                <a:cs typeface="Times New Roman" panose="02020603050405020304" pitchFamily="18" charset="0"/>
              </a:rPr>
              <a:t> mainstreaming and investments through the Tropical Agriculture Platform by FAO, AFAAS, AGRINATURA, APAARI, EC, FARA, IICA and RELASER</a:t>
            </a:r>
          </a:p>
          <a:p>
            <a:pPr lvl="1"/>
            <a:r>
              <a:rPr lang="en-US" sz="1800" dirty="0">
                <a:latin typeface="Calibri" panose="020F0502020204030204" pitchFamily="34" charset="0"/>
                <a:cs typeface="Times New Roman" panose="02020603050405020304" pitchFamily="18" charset="0"/>
              </a:rPr>
              <a:t>Creating Evidence on </a:t>
            </a:r>
            <a:r>
              <a:rPr lang="en-US" sz="1800" b="1" dirty="0">
                <a:latin typeface="Calibri" panose="020F0502020204030204" pitchFamily="34" charset="0"/>
                <a:cs typeface="Times New Roman" panose="02020603050405020304" pitchFamily="18" charset="0"/>
              </a:rPr>
              <a:t>Extension and Advisory Services </a:t>
            </a:r>
            <a:r>
              <a:rPr lang="en-US" sz="1800" dirty="0">
                <a:latin typeface="Calibri" panose="020F0502020204030204" pitchFamily="34" charset="0"/>
                <a:cs typeface="Times New Roman" panose="02020603050405020304" pitchFamily="18" charset="0"/>
              </a:rPr>
              <a:t>(EAS) by AFAAS, APIRAS, RELASER, </a:t>
            </a:r>
            <a:r>
              <a:rPr lang="en-US" sz="1800" dirty="0" err="1">
                <a:latin typeface="Calibri" panose="020F0502020204030204" pitchFamily="34" charset="0"/>
                <a:cs typeface="Times New Roman" panose="02020603050405020304" pitchFamily="18" charset="0"/>
              </a:rPr>
              <a:t>FiBL</a:t>
            </a:r>
            <a:r>
              <a:rPr lang="en-US" sz="1800" dirty="0">
                <a:latin typeface="Calibri" panose="020F0502020204030204" pitchFamily="34" charset="0"/>
                <a:cs typeface="Times New Roman" panose="02020603050405020304" pitchFamily="18" charset="0"/>
              </a:rPr>
              <a:t> and FAO</a:t>
            </a:r>
          </a:p>
          <a:p>
            <a:pPr lvl="1"/>
            <a:r>
              <a:rPr lang="en-US" sz="1800" dirty="0">
                <a:latin typeface="Calibri" panose="020F0502020204030204" pitchFamily="34" charset="0"/>
                <a:cs typeface="Times New Roman" panose="02020603050405020304" pitchFamily="18" charset="0"/>
              </a:rPr>
              <a:t>Enhancing knowledge sharing in support of agricultural innovation “</a:t>
            </a:r>
            <a:r>
              <a:rPr lang="en-US" sz="1800" b="1" dirty="0">
                <a:latin typeface="Calibri" panose="020F0502020204030204" pitchFamily="34" charset="0"/>
                <a:cs typeface="Times New Roman" panose="02020603050405020304" pitchFamily="18" charset="0"/>
              </a:rPr>
              <a:t>Date Palm Innovation Platform</a:t>
            </a:r>
            <a:r>
              <a:rPr lang="en-US" sz="1800" dirty="0">
                <a:latin typeface="Calibri" panose="020F0502020204030204" pitchFamily="34" charset="0"/>
                <a:cs typeface="Times New Roman" panose="02020603050405020304" pitchFamily="18" charset="0"/>
              </a:rPr>
              <a:t>” by AARINENA</a:t>
            </a:r>
          </a:p>
          <a:p>
            <a:pPr lvl="1"/>
            <a:r>
              <a:rPr lang="en-GB" sz="1800" dirty="0">
                <a:latin typeface="Calibri" panose="020F0502020204030204" pitchFamily="34" charset="0"/>
                <a:cs typeface="Times New Roman" panose="02020603050405020304" pitchFamily="18" charset="0"/>
              </a:rPr>
              <a:t>Strengthening AIS: learning from past and present research interventions</a:t>
            </a:r>
            <a:r>
              <a:rPr lang="en-US" sz="1800" dirty="0">
                <a:latin typeface="Calibri" panose="020F0502020204030204" pitchFamily="34" charset="0"/>
                <a:cs typeface="Times New Roman" panose="02020603050405020304" pitchFamily="18" charset="0"/>
              </a:rPr>
              <a:t> by </a:t>
            </a:r>
            <a:r>
              <a:rPr lang="en-US" sz="1800" b="1" dirty="0">
                <a:latin typeface="Calibri" panose="020F0502020204030204" pitchFamily="34" charset="0"/>
                <a:cs typeface="Times New Roman" panose="02020603050405020304" pitchFamily="18" charset="0"/>
              </a:rPr>
              <a:t>DeSIRA LIFT </a:t>
            </a:r>
            <a:r>
              <a:rPr lang="en-US" sz="1800" dirty="0">
                <a:latin typeface="Calibri" panose="020F0502020204030204" pitchFamily="34" charset="0"/>
                <a:cs typeface="Times New Roman" panose="02020603050405020304" pitchFamily="18" charset="0"/>
              </a:rPr>
              <a:t>project</a:t>
            </a:r>
          </a:p>
          <a:p>
            <a:pPr lvl="1"/>
            <a:r>
              <a:rPr lang="en-US" sz="1800" b="1" dirty="0" err="1">
                <a:latin typeface="Calibri" panose="020F0502020204030204" pitchFamily="34" charset="0"/>
                <a:cs typeface="Times New Roman" panose="02020603050405020304" pitchFamily="18" charset="0"/>
              </a:rPr>
              <a:t>TAPipedia</a:t>
            </a:r>
            <a:r>
              <a:rPr lang="en-US" sz="1800" dirty="0">
                <a:latin typeface="Calibri" panose="020F0502020204030204" pitchFamily="34" charset="0"/>
                <a:cs typeface="Times New Roman" panose="02020603050405020304" pitchFamily="18" charset="0"/>
              </a:rPr>
              <a:t>: </a:t>
            </a:r>
            <a:r>
              <a:rPr lang="en-GB" sz="1800" dirty="0">
                <a:latin typeface="Calibri" panose="020F0502020204030204" pitchFamily="34" charset="0"/>
                <a:cs typeface="Times New Roman" panose="02020603050405020304" pitchFamily="18" charset="0"/>
              </a:rPr>
              <a:t>Fostering knowledge sharing in support of agricultural innovation” by FAO, IICA, GFAR, GODAN and Ghent University, EU </a:t>
            </a:r>
            <a:r>
              <a:rPr lang="en-GB" sz="1800" dirty="0" err="1">
                <a:latin typeface="Calibri" panose="020F0502020204030204" pitchFamily="34" charset="0"/>
                <a:cs typeface="Times New Roman" panose="02020603050405020304" pitchFamily="18" charset="0"/>
              </a:rPr>
              <a:t>Farmbook</a:t>
            </a:r>
            <a:r>
              <a:rPr lang="en-GB" sz="1800" dirty="0">
                <a:latin typeface="Calibri" panose="020F0502020204030204" pitchFamily="34" charset="0"/>
                <a:cs typeface="Times New Roman" panose="02020603050405020304" pitchFamily="18" charset="0"/>
              </a:rPr>
              <a:t> platform</a:t>
            </a:r>
          </a:p>
          <a:p>
            <a:pPr lvl="1"/>
            <a:endParaRPr lang="en-US" dirty="0">
              <a:latin typeface="Calibri" panose="020F0502020204030204" pitchFamily="34" charset="0"/>
              <a:cs typeface="Times New Roman" panose="02020603050405020304" pitchFamily="18" charset="0"/>
            </a:endParaRPr>
          </a:p>
          <a:p>
            <a:pPr marL="457200" lvl="1" indent="0">
              <a:buNone/>
            </a:pPr>
            <a:endParaRPr lang="de-DE" dirty="0">
              <a:latin typeface="Times New Roman" panose="02020603050405020304" pitchFamily="18" charset="0"/>
              <a:ea typeface="Calibri" panose="020F0502020204030204" pitchFamily="34" charset="0"/>
            </a:endParaRPr>
          </a:p>
          <a:p>
            <a:pPr lvl="1"/>
            <a:endParaRPr lang="en-US" dirty="0">
              <a:latin typeface="Calibri" panose="020F0502020204030204" pitchFamily="34" charset="0"/>
              <a:cs typeface="Times New Roman" panose="02020603050405020304" pitchFamily="18" charset="0"/>
            </a:endParaRPr>
          </a:p>
          <a:p>
            <a:endParaRPr lang="en-US" sz="2400" dirty="0"/>
          </a:p>
          <a:p>
            <a:endParaRPr lang="de-DE" sz="2400" dirty="0"/>
          </a:p>
        </p:txBody>
      </p:sp>
      <p:pic>
        <p:nvPicPr>
          <p:cNvPr id="12" name="Grafik 11">
            <a:extLst>
              <a:ext uri="{FF2B5EF4-FFF2-40B4-BE49-F238E27FC236}">
                <a16:creationId xmlns:a16="http://schemas.microsoft.com/office/drawing/2014/main" id="{033FCCB8-5CD7-6B91-693B-0DFB289D3E29}"/>
              </a:ext>
            </a:extLst>
          </p:cNvPr>
          <p:cNvPicPr>
            <a:picLocks noChangeAspect="1"/>
          </p:cNvPicPr>
          <p:nvPr/>
        </p:nvPicPr>
        <p:blipFill rotWithShape="1">
          <a:blip r:embed="rId4"/>
          <a:srcRect l="1935" t="19233" r="43011" b="34037"/>
          <a:stretch/>
        </p:blipFill>
        <p:spPr>
          <a:xfrm>
            <a:off x="8698796" y="2769356"/>
            <a:ext cx="3030450" cy="1714835"/>
          </a:xfrm>
          <a:prstGeom prst="rect">
            <a:avLst/>
          </a:prstGeom>
        </p:spPr>
      </p:pic>
      <p:pic>
        <p:nvPicPr>
          <p:cNvPr id="23" name="Grafik 22">
            <a:extLst>
              <a:ext uri="{FF2B5EF4-FFF2-40B4-BE49-F238E27FC236}">
                <a16:creationId xmlns:a16="http://schemas.microsoft.com/office/drawing/2014/main" id="{840CD86B-98EF-172E-4902-1DC461BA9382}"/>
              </a:ext>
            </a:extLst>
          </p:cNvPr>
          <p:cNvPicPr>
            <a:picLocks noChangeAspect="1"/>
          </p:cNvPicPr>
          <p:nvPr/>
        </p:nvPicPr>
        <p:blipFill rotWithShape="1">
          <a:blip r:embed="rId5"/>
          <a:srcRect l="3045" t="30201" r="42671" b="26250"/>
          <a:stretch/>
        </p:blipFill>
        <p:spPr>
          <a:xfrm>
            <a:off x="8632474" y="4802176"/>
            <a:ext cx="3096772" cy="1656227"/>
          </a:xfrm>
          <a:prstGeom prst="rect">
            <a:avLst/>
          </a:prstGeom>
        </p:spPr>
      </p:pic>
      <p:sp>
        <p:nvSpPr>
          <p:cNvPr id="24" name="Textfeld 23">
            <a:extLst>
              <a:ext uri="{FF2B5EF4-FFF2-40B4-BE49-F238E27FC236}">
                <a16:creationId xmlns:a16="http://schemas.microsoft.com/office/drawing/2014/main" id="{9264D390-825B-9C37-79CC-6228E9DA7B10}"/>
              </a:ext>
            </a:extLst>
          </p:cNvPr>
          <p:cNvSpPr txBox="1"/>
          <p:nvPr/>
        </p:nvSpPr>
        <p:spPr>
          <a:xfrm>
            <a:off x="8856761" y="6499389"/>
            <a:ext cx="2834720" cy="276999"/>
          </a:xfrm>
          <a:prstGeom prst="rect">
            <a:avLst/>
          </a:prstGeom>
          <a:noFill/>
        </p:spPr>
        <p:txBody>
          <a:bodyPr wrap="square">
            <a:spAutoFit/>
          </a:bodyPr>
          <a:lstStyle/>
          <a:p>
            <a:r>
              <a:rPr lang="en-US" sz="1200" dirty="0">
                <a:solidFill>
                  <a:srgbClr val="000000"/>
                </a:solidFill>
                <a:latin typeface="+mj-lt"/>
                <a:ea typeface="Times New Roman" panose="02020603050405020304" pitchFamily="18" charset="0"/>
              </a:rPr>
              <a:t>ARINENA´s side event at the FAO SIF 2022</a:t>
            </a:r>
            <a:endParaRPr lang="de-DE" sz="1200" dirty="0">
              <a:latin typeface="+mj-lt"/>
            </a:endParaRPr>
          </a:p>
        </p:txBody>
      </p:sp>
      <p:sp>
        <p:nvSpPr>
          <p:cNvPr id="25" name="Textfeld 24">
            <a:extLst>
              <a:ext uri="{FF2B5EF4-FFF2-40B4-BE49-F238E27FC236}">
                <a16:creationId xmlns:a16="http://schemas.microsoft.com/office/drawing/2014/main" id="{BBBEE6EA-F305-5862-8520-B548A328A7D1}"/>
              </a:ext>
            </a:extLst>
          </p:cNvPr>
          <p:cNvSpPr txBox="1"/>
          <p:nvPr/>
        </p:nvSpPr>
        <p:spPr>
          <a:xfrm>
            <a:off x="8824823" y="4529667"/>
            <a:ext cx="2812211" cy="276999"/>
          </a:xfrm>
          <a:prstGeom prst="rect">
            <a:avLst/>
          </a:prstGeom>
          <a:noFill/>
        </p:spPr>
        <p:txBody>
          <a:bodyPr wrap="square">
            <a:spAutoFit/>
          </a:bodyPr>
          <a:lstStyle/>
          <a:p>
            <a:r>
              <a:rPr lang="en-US" sz="1200" dirty="0">
                <a:solidFill>
                  <a:srgbClr val="000000"/>
                </a:solidFill>
                <a:latin typeface="+mj-lt"/>
                <a:ea typeface="Times New Roman" panose="02020603050405020304" pitchFamily="18" charset="0"/>
              </a:rPr>
              <a:t>Intervention of FARA at the TAP side event </a:t>
            </a:r>
            <a:endParaRPr lang="de-DE" sz="1200" dirty="0">
              <a:latin typeface="+mj-lt"/>
            </a:endParaRPr>
          </a:p>
        </p:txBody>
      </p:sp>
      <p:sp>
        <p:nvSpPr>
          <p:cNvPr id="7" name="Titel 1">
            <a:extLst>
              <a:ext uri="{FF2B5EF4-FFF2-40B4-BE49-F238E27FC236}">
                <a16:creationId xmlns:a16="http://schemas.microsoft.com/office/drawing/2014/main" id="{C265B180-385D-F2C0-C8CD-C5942FF6D705}"/>
              </a:ext>
            </a:extLst>
          </p:cNvPr>
          <p:cNvSpPr txBox="1">
            <a:spLocks/>
          </p:cNvSpPr>
          <p:nvPr/>
        </p:nvSpPr>
        <p:spPr>
          <a:xfrm>
            <a:off x="1176860" y="947652"/>
            <a:ext cx="9375525" cy="801224"/>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800" b="1" dirty="0">
                <a:solidFill>
                  <a:srgbClr val="7CBC6F"/>
                </a:solidFill>
                <a:latin typeface="+mn-lt"/>
              </a:rPr>
              <a:t>Outcome 3: Major events organized to raise awareness on agricultural innovation</a:t>
            </a:r>
            <a:endParaRPr lang="de-DE" sz="3600" dirty="0">
              <a:latin typeface="+mn-lt"/>
            </a:endParaRPr>
          </a:p>
        </p:txBody>
      </p:sp>
      <p:pic>
        <p:nvPicPr>
          <p:cNvPr id="9" name="Grafik 8">
            <a:extLst>
              <a:ext uri="{FF2B5EF4-FFF2-40B4-BE49-F238E27FC236}">
                <a16:creationId xmlns:a16="http://schemas.microsoft.com/office/drawing/2014/main" id="{73C7CA4B-6DAD-B35A-6C73-F7AC64C1ACAE}"/>
              </a:ext>
            </a:extLst>
          </p:cNvPr>
          <p:cNvPicPr>
            <a:picLocks noChangeAspect="1"/>
          </p:cNvPicPr>
          <p:nvPr/>
        </p:nvPicPr>
        <p:blipFill rotWithShape="1">
          <a:blip r:embed="rId6"/>
          <a:srcRect l="3045" t="38428" r="60968" b="36733"/>
          <a:stretch/>
        </p:blipFill>
        <p:spPr>
          <a:xfrm>
            <a:off x="9045236" y="1852754"/>
            <a:ext cx="1937121" cy="891343"/>
          </a:xfrm>
          <a:prstGeom prst="rect">
            <a:avLst/>
          </a:prstGeom>
        </p:spPr>
      </p:pic>
    </p:spTree>
    <p:extLst>
      <p:ext uri="{BB962C8B-B14F-4D97-AF65-F5344CB8AC3E}">
        <p14:creationId xmlns:p14="http://schemas.microsoft.com/office/powerpoint/2010/main" val="26441373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magine 5" descr="FAO_logo_Blue_3lines_en.jp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0836" y="56232"/>
            <a:ext cx="2392680" cy="966216"/>
          </a:xfrm>
          <a:prstGeom prst="rect">
            <a:avLst/>
          </a:prstGeom>
        </p:spPr>
      </p:pic>
      <p:pic>
        <p:nvPicPr>
          <p:cNvPr id="10" name="Immagine 9"/>
          <p:cNvPicPr>
            <a:picLocks noChangeAspect="1"/>
          </p:cNvPicPr>
          <p:nvPr/>
        </p:nvPicPr>
        <p:blipFill>
          <a:blip r:embed="rId3"/>
          <a:stretch>
            <a:fillRect/>
          </a:stretch>
        </p:blipFill>
        <p:spPr>
          <a:xfrm>
            <a:off x="11114657" y="221224"/>
            <a:ext cx="731711" cy="801224"/>
          </a:xfrm>
          <a:prstGeom prst="rect">
            <a:avLst/>
          </a:prstGeom>
        </p:spPr>
      </p:pic>
      <p:sp>
        <p:nvSpPr>
          <p:cNvPr id="11" name="Rettangolo 10"/>
          <p:cNvSpPr/>
          <p:nvPr/>
        </p:nvSpPr>
        <p:spPr>
          <a:xfrm>
            <a:off x="1802428" y="1095248"/>
            <a:ext cx="7900372" cy="2590453"/>
          </a:xfrm>
          <a:prstGeom prst="rect">
            <a:avLst/>
          </a:prstGeom>
        </p:spPr>
        <p:txBody>
          <a:bodyPr wrap="square">
            <a:spAutoFit/>
          </a:bodyPr>
          <a:lstStyle/>
          <a:p>
            <a:pPr algn="ctr"/>
            <a:endParaRPr lang="it-IT" sz="1000" dirty="0">
              <a:solidFill>
                <a:srgbClr val="7CBC6F"/>
              </a:solidFill>
            </a:endParaRPr>
          </a:p>
          <a:p>
            <a:pPr algn="ctr"/>
            <a:endParaRPr lang="it-IT" sz="900" dirty="0">
              <a:solidFill>
                <a:srgbClr val="7CBC6F"/>
              </a:solidFill>
            </a:endParaRPr>
          </a:p>
          <a:p>
            <a:pPr algn="ctr"/>
            <a:endParaRPr lang="is-IS" sz="4400" baseline="30000" dirty="0"/>
          </a:p>
          <a:p>
            <a:pPr algn="ctr"/>
            <a:endParaRPr lang="it-IT" sz="4400" dirty="0">
              <a:solidFill>
                <a:srgbClr val="7CBC6F"/>
              </a:solidFill>
            </a:endParaRPr>
          </a:p>
          <a:p>
            <a:pPr algn="ctr"/>
            <a:endParaRPr lang="pt-BR" sz="2400" baseline="30000" dirty="0"/>
          </a:p>
          <a:p>
            <a:pPr algn="ctr">
              <a:lnSpc>
                <a:spcPct val="150000"/>
              </a:lnSpc>
            </a:pPr>
            <a:endParaRPr lang="it-IT" sz="3600" dirty="0"/>
          </a:p>
        </p:txBody>
      </p:sp>
      <p:sp>
        <p:nvSpPr>
          <p:cNvPr id="2" name="Titel 1">
            <a:extLst>
              <a:ext uri="{FF2B5EF4-FFF2-40B4-BE49-F238E27FC236}">
                <a16:creationId xmlns:a16="http://schemas.microsoft.com/office/drawing/2014/main" id="{66F0561C-7352-4F08-900B-890512CFDBE5}"/>
              </a:ext>
            </a:extLst>
          </p:cNvPr>
          <p:cNvSpPr>
            <a:spLocks noGrp="1"/>
          </p:cNvSpPr>
          <p:nvPr>
            <p:ph type="title"/>
          </p:nvPr>
        </p:nvSpPr>
        <p:spPr>
          <a:xfrm>
            <a:off x="1266942" y="1120131"/>
            <a:ext cx="8971343" cy="801224"/>
          </a:xfrm>
        </p:spPr>
        <p:txBody>
          <a:bodyPr>
            <a:noAutofit/>
          </a:bodyPr>
          <a:lstStyle/>
          <a:p>
            <a:r>
              <a:rPr lang="en-US" sz="2400" b="1" dirty="0">
                <a:solidFill>
                  <a:srgbClr val="7CBC6F"/>
                </a:solidFill>
                <a:latin typeface="+mn-lt"/>
              </a:rPr>
              <a:t>Outcome 4: TAP Secretariat and its governance improve its capacities to achieve its mandate</a:t>
            </a:r>
            <a:endParaRPr lang="de-DE" sz="3200" dirty="0">
              <a:latin typeface="+mn-lt"/>
            </a:endParaRPr>
          </a:p>
        </p:txBody>
      </p:sp>
      <p:sp>
        <p:nvSpPr>
          <p:cNvPr id="3" name="Inhaltsplatzhalter 2">
            <a:extLst>
              <a:ext uri="{FF2B5EF4-FFF2-40B4-BE49-F238E27FC236}">
                <a16:creationId xmlns:a16="http://schemas.microsoft.com/office/drawing/2014/main" id="{6299360F-721C-4BED-9CE1-5D1138561D5F}"/>
              </a:ext>
            </a:extLst>
          </p:cNvPr>
          <p:cNvSpPr>
            <a:spLocks noGrp="1"/>
          </p:cNvSpPr>
          <p:nvPr>
            <p:ph idx="1"/>
          </p:nvPr>
        </p:nvSpPr>
        <p:spPr>
          <a:xfrm>
            <a:off x="857849" y="2200924"/>
            <a:ext cx="10256808" cy="3415594"/>
          </a:xfrm>
        </p:spPr>
        <p:txBody>
          <a:bodyPr>
            <a:noAutofit/>
          </a:bodyPr>
          <a:lstStyle/>
          <a:p>
            <a:r>
              <a:rPr lang="en-US" sz="2000" dirty="0">
                <a:solidFill>
                  <a:srgbClr val="000000"/>
                </a:solidFill>
                <a:latin typeface="+mj-lt"/>
              </a:rPr>
              <a:t>The new </a:t>
            </a:r>
            <a:r>
              <a:rPr lang="en-US" sz="2000" b="1" dirty="0">
                <a:solidFill>
                  <a:srgbClr val="000000"/>
                </a:solidFill>
                <a:latin typeface="+mj-lt"/>
              </a:rPr>
              <a:t>TAP Steering Committee 2022-2024 </a:t>
            </a:r>
            <a:r>
              <a:rPr lang="en-US" sz="2000" dirty="0">
                <a:solidFill>
                  <a:srgbClr val="000000"/>
                </a:solidFill>
                <a:latin typeface="+mj-lt"/>
              </a:rPr>
              <a:t>was elected at the beginning in 2022. </a:t>
            </a:r>
          </a:p>
          <a:p>
            <a:r>
              <a:rPr lang="en-US" sz="2000" dirty="0">
                <a:solidFill>
                  <a:srgbClr val="000000"/>
                </a:solidFill>
                <a:latin typeface="+mj-lt"/>
              </a:rPr>
              <a:t>Three Steering Committee met three times per year in 2021 and 2022.</a:t>
            </a:r>
          </a:p>
          <a:p>
            <a:r>
              <a:rPr lang="en-US" sz="2000" dirty="0">
                <a:solidFill>
                  <a:srgbClr val="000000"/>
                </a:solidFill>
                <a:latin typeface="+mj-lt"/>
              </a:rPr>
              <a:t>A </a:t>
            </a:r>
            <a:r>
              <a:rPr lang="en-US" sz="2000" b="1" dirty="0">
                <a:solidFill>
                  <a:srgbClr val="000000"/>
                </a:solidFill>
                <a:latin typeface="+mj-lt"/>
              </a:rPr>
              <a:t>learning review </a:t>
            </a:r>
            <a:r>
              <a:rPr lang="en-US" sz="2000" dirty="0">
                <a:solidFill>
                  <a:srgbClr val="000000"/>
                </a:solidFill>
                <a:latin typeface="+mj-lt"/>
              </a:rPr>
              <a:t>of was completed and approved by the TAP SC in July 2022.</a:t>
            </a:r>
          </a:p>
          <a:p>
            <a:r>
              <a:rPr lang="en-US" sz="2000" dirty="0">
                <a:solidFill>
                  <a:srgbClr val="000000"/>
                </a:solidFill>
                <a:latin typeface="+mj-lt"/>
              </a:rPr>
              <a:t>The revision of the </a:t>
            </a:r>
            <a:r>
              <a:rPr lang="en-US" sz="2000" b="1" dirty="0">
                <a:solidFill>
                  <a:srgbClr val="000000"/>
                </a:solidFill>
                <a:latin typeface="+mj-lt"/>
              </a:rPr>
              <a:t>TAP Common Framework</a:t>
            </a:r>
            <a:r>
              <a:rPr lang="en-US" sz="2000" dirty="0">
                <a:solidFill>
                  <a:srgbClr val="000000"/>
                </a:solidFill>
                <a:latin typeface="+mj-lt"/>
              </a:rPr>
              <a:t> was completed and approved by the TAP SC in July 2022.</a:t>
            </a:r>
          </a:p>
          <a:p>
            <a:r>
              <a:rPr lang="en-US" sz="2000" dirty="0">
                <a:solidFill>
                  <a:srgbClr val="000000"/>
                </a:solidFill>
                <a:latin typeface="+mj-lt"/>
              </a:rPr>
              <a:t>A Working Group for the development of the </a:t>
            </a:r>
            <a:r>
              <a:rPr lang="en-US" sz="2000" b="1" dirty="0">
                <a:solidFill>
                  <a:srgbClr val="000000"/>
                </a:solidFill>
                <a:latin typeface="+mj-lt"/>
              </a:rPr>
              <a:t>TAP Engagement and Expansion Strategy</a:t>
            </a:r>
            <a:r>
              <a:rPr lang="en-US" sz="2000" dirty="0">
                <a:solidFill>
                  <a:srgbClr val="000000"/>
                </a:solidFill>
                <a:latin typeface="+mj-lt"/>
              </a:rPr>
              <a:t> was established and the first draft of the strategy has been produced.</a:t>
            </a:r>
          </a:p>
          <a:p>
            <a:r>
              <a:rPr lang="en-GB" sz="2000" dirty="0">
                <a:solidFill>
                  <a:srgbClr val="000000"/>
                </a:solidFill>
                <a:latin typeface="+mj-lt"/>
                <a:ea typeface="Calibri" panose="020F0502020204030204" pitchFamily="34" charset="0"/>
                <a:cs typeface="Times New Roman" panose="02020603050405020304" pitchFamily="18" charset="0"/>
              </a:rPr>
              <a:t>The </a:t>
            </a:r>
            <a:r>
              <a:rPr lang="en-GB" sz="2000" b="1" dirty="0">
                <a:solidFill>
                  <a:srgbClr val="000000"/>
                </a:solidFill>
                <a:latin typeface="+mj-lt"/>
                <a:ea typeface="Calibri" panose="020F0502020204030204" pitchFamily="34" charset="0"/>
                <a:cs typeface="Times New Roman" panose="02020603050405020304" pitchFamily="18" charset="0"/>
              </a:rPr>
              <a:t>e-learning course </a:t>
            </a:r>
            <a:r>
              <a:rPr lang="en-GB" sz="2000" dirty="0">
                <a:solidFill>
                  <a:srgbClr val="000000"/>
                </a:solidFill>
                <a:latin typeface="+mj-lt"/>
                <a:ea typeface="Calibri" panose="020F0502020204030204" pitchFamily="34" charset="0"/>
                <a:cs typeface="Times New Roman" panose="02020603050405020304" pitchFamily="18" charset="0"/>
              </a:rPr>
              <a:t>on concepts, principles and approaches of the TAP Common Framework has been drafted and planned to launched in 2023.</a:t>
            </a:r>
            <a:endParaRPr lang="de-DE" sz="2000" dirty="0">
              <a:latin typeface="+mj-lt"/>
              <a:ea typeface="Calibri" panose="020F0502020204030204" pitchFamily="34" charset="0"/>
              <a:cs typeface="Times New Roman" panose="02020603050405020304" pitchFamily="18" charset="0"/>
            </a:endParaRPr>
          </a:p>
          <a:p>
            <a:endParaRPr lang="en-US" sz="2000" dirty="0">
              <a:latin typeface="+mj-lt"/>
            </a:endParaRPr>
          </a:p>
          <a:p>
            <a:pPr algn="just"/>
            <a:endParaRPr lang="de-DE" sz="2000" dirty="0">
              <a:latin typeface="+mj-lt"/>
            </a:endParaRPr>
          </a:p>
        </p:txBody>
      </p:sp>
    </p:spTree>
    <p:extLst>
      <p:ext uri="{BB962C8B-B14F-4D97-AF65-F5344CB8AC3E}">
        <p14:creationId xmlns:p14="http://schemas.microsoft.com/office/powerpoint/2010/main" val="25884727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magine 5" descr="FAO_logo_Blue_3lines_en.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364" y="70951"/>
            <a:ext cx="2392680" cy="966216"/>
          </a:xfrm>
          <a:prstGeom prst="rect">
            <a:avLst/>
          </a:prstGeom>
        </p:spPr>
      </p:pic>
      <p:pic>
        <p:nvPicPr>
          <p:cNvPr id="10" name="Immagine 9"/>
          <p:cNvPicPr>
            <a:picLocks noChangeAspect="1"/>
          </p:cNvPicPr>
          <p:nvPr/>
        </p:nvPicPr>
        <p:blipFill>
          <a:blip r:embed="rId4"/>
          <a:stretch>
            <a:fillRect/>
          </a:stretch>
        </p:blipFill>
        <p:spPr>
          <a:xfrm>
            <a:off x="11252680" y="115630"/>
            <a:ext cx="731711" cy="801224"/>
          </a:xfrm>
          <a:prstGeom prst="rect">
            <a:avLst/>
          </a:prstGeom>
        </p:spPr>
      </p:pic>
      <p:sp>
        <p:nvSpPr>
          <p:cNvPr id="11" name="Rettangolo 10"/>
          <p:cNvSpPr/>
          <p:nvPr/>
        </p:nvSpPr>
        <p:spPr>
          <a:xfrm>
            <a:off x="1615568" y="596265"/>
            <a:ext cx="7900372" cy="2590453"/>
          </a:xfrm>
          <a:prstGeom prst="rect">
            <a:avLst/>
          </a:prstGeom>
        </p:spPr>
        <p:txBody>
          <a:bodyPr wrap="square">
            <a:spAutoFit/>
          </a:bodyPr>
          <a:lstStyle/>
          <a:p>
            <a:pPr algn="ctr"/>
            <a:endParaRPr lang="it-IT" sz="1000" dirty="0">
              <a:solidFill>
                <a:srgbClr val="7CBC6F"/>
              </a:solidFill>
            </a:endParaRPr>
          </a:p>
          <a:p>
            <a:pPr algn="ctr"/>
            <a:endParaRPr lang="it-IT" sz="900" dirty="0">
              <a:solidFill>
                <a:srgbClr val="7CBC6F"/>
              </a:solidFill>
            </a:endParaRPr>
          </a:p>
          <a:p>
            <a:pPr algn="ctr"/>
            <a:endParaRPr lang="is-IS" sz="4400" baseline="30000" dirty="0"/>
          </a:p>
          <a:p>
            <a:pPr algn="ctr"/>
            <a:endParaRPr lang="it-IT" sz="4400" dirty="0">
              <a:solidFill>
                <a:srgbClr val="7CBC6F"/>
              </a:solidFill>
            </a:endParaRPr>
          </a:p>
          <a:p>
            <a:pPr algn="ctr"/>
            <a:endParaRPr lang="pt-BR" sz="2400" baseline="30000" dirty="0"/>
          </a:p>
          <a:p>
            <a:pPr algn="ctr">
              <a:lnSpc>
                <a:spcPct val="150000"/>
              </a:lnSpc>
            </a:pPr>
            <a:endParaRPr lang="it-IT" sz="3600" dirty="0"/>
          </a:p>
        </p:txBody>
      </p:sp>
      <p:sp>
        <p:nvSpPr>
          <p:cNvPr id="2" name="Titel 1">
            <a:extLst>
              <a:ext uri="{FF2B5EF4-FFF2-40B4-BE49-F238E27FC236}">
                <a16:creationId xmlns:a16="http://schemas.microsoft.com/office/drawing/2014/main" id="{66F0561C-7352-4F08-900B-890512CFDBE5}"/>
              </a:ext>
            </a:extLst>
          </p:cNvPr>
          <p:cNvSpPr>
            <a:spLocks noGrp="1"/>
          </p:cNvSpPr>
          <p:nvPr>
            <p:ph type="title"/>
          </p:nvPr>
        </p:nvSpPr>
        <p:spPr>
          <a:xfrm>
            <a:off x="3346087" y="262976"/>
            <a:ext cx="5499825" cy="360874"/>
          </a:xfrm>
        </p:spPr>
        <p:txBody>
          <a:bodyPr>
            <a:noAutofit/>
          </a:bodyPr>
          <a:lstStyle/>
          <a:p>
            <a:r>
              <a:rPr lang="en-US" sz="2400" b="1" dirty="0">
                <a:solidFill>
                  <a:srgbClr val="7CBC6F"/>
                </a:solidFill>
                <a:latin typeface="+mn-lt"/>
              </a:rPr>
              <a:t>Outreach activities &amp; </a:t>
            </a:r>
            <a:r>
              <a:rPr lang="en-US" sz="2400" b="1" dirty="0" err="1">
                <a:solidFill>
                  <a:srgbClr val="7CBC6F"/>
                </a:solidFill>
                <a:latin typeface="+mn-lt"/>
              </a:rPr>
              <a:t>TAPipedia</a:t>
            </a:r>
            <a:endParaRPr lang="de-DE" sz="3200" dirty="0">
              <a:latin typeface="+mn-lt"/>
            </a:endParaRPr>
          </a:p>
        </p:txBody>
      </p:sp>
      <p:sp>
        <p:nvSpPr>
          <p:cNvPr id="3" name="Inhaltsplatzhalter 2">
            <a:extLst>
              <a:ext uri="{FF2B5EF4-FFF2-40B4-BE49-F238E27FC236}">
                <a16:creationId xmlns:a16="http://schemas.microsoft.com/office/drawing/2014/main" id="{6299360F-721C-4BED-9CE1-5D1138561D5F}"/>
              </a:ext>
            </a:extLst>
          </p:cNvPr>
          <p:cNvSpPr>
            <a:spLocks noGrp="1"/>
          </p:cNvSpPr>
          <p:nvPr>
            <p:ph idx="1"/>
          </p:nvPr>
        </p:nvSpPr>
        <p:spPr>
          <a:xfrm>
            <a:off x="352265" y="1040485"/>
            <a:ext cx="7099306" cy="2508086"/>
          </a:xfrm>
        </p:spPr>
        <p:txBody>
          <a:bodyPr>
            <a:normAutofit/>
          </a:bodyPr>
          <a:lstStyle/>
          <a:p>
            <a:pPr marL="0" indent="0">
              <a:buNone/>
            </a:pPr>
            <a:r>
              <a:rPr lang="de-DE" sz="2000" dirty="0"/>
              <a:t>TAP </a:t>
            </a:r>
            <a:r>
              <a:rPr lang="de-DE" sz="2000" dirty="0" err="1"/>
              <a:t>Secretariat</a:t>
            </a:r>
            <a:r>
              <a:rPr lang="de-DE" sz="2000" dirty="0"/>
              <a:t> </a:t>
            </a:r>
            <a:r>
              <a:rPr lang="de-DE" sz="2000" dirty="0" err="1"/>
              <a:t>continues</a:t>
            </a:r>
            <a:r>
              <a:rPr lang="de-DE" sz="2000" dirty="0"/>
              <a:t> </a:t>
            </a:r>
            <a:r>
              <a:rPr lang="de-DE" sz="2000" dirty="0" err="1"/>
              <a:t>promoting</a:t>
            </a:r>
            <a:r>
              <a:rPr lang="de-DE" sz="2000" dirty="0"/>
              <a:t> </a:t>
            </a:r>
            <a:r>
              <a:rPr lang="de-DE" sz="2000" dirty="0" err="1"/>
              <a:t>the</a:t>
            </a:r>
            <a:r>
              <a:rPr lang="de-DE" sz="2000" dirty="0"/>
              <a:t> </a:t>
            </a:r>
            <a:r>
              <a:rPr lang="de-DE" sz="2000" dirty="0" err="1"/>
              <a:t>work</a:t>
            </a:r>
            <a:r>
              <a:rPr lang="de-DE" sz="2000" dirty="0"/>
              <a:t> </a:t>
            </a:r>
            <a:r>
              <a:rPr lang="de-DE" sz="2000" dirty="0" err="1"/>
              <a:t>of</a:t>
            </a:r>
            <a:r>
              <a:rPr lang="de-DE" sz="2000" dirty="0"/>
              <a:t> TAP and </a:t>
            </a:r>
            <a:r>
              <a:rPr lang="de-DE" sz="2000" dirty="0" err="1"/>
              <a:t>its</a:t>
            </a:r>
            <a:r>
              <a:rPr lang="de-DE" sz="2000" dirty="0"/>
              <a:t> </a:t>
            </a:r>
            <a:r>
              <a:rPr lang="de-DE" sz="2000" dirty="0" err="1"/>
              <a:t>partners</a:t>
            </a:r>
            <a:r>
              <a:rPr lang="de-DE" sz="2000" dirty="0"/>
              <a:t>, </a:t>
            </a:r>
            <a:r>
              <a:rPr lang="de-DE" sz="2000" dirty="0" err="1"/>
              <a:t>through</a:t>
            </a:r>
            <a:r>
              <a:rPr lang="de-DE" sz="2000" dirty="0"/>
              <a:t>:</a:t>
            </a:r>
          </a:p>
          <a:p>
            <a:pPr lvl="1" algn="just"/>
            <a:r>
              <a:rPr lang="de-DE" sz="2000" dirty="0"/>
              <a:t>TAPipedia – outreach arm of TAP</a:t>
            </a:r>
          </a:p>
          <a:p>
            <a:pPr lvl="1" algn="just"/>
            <a:r>
              <a:rPr lang="de-DE" sz="2000" dirty="0"/>
              <a:t>Quarterly TAP Newsleter (4 per year)</a:t>
            </a:r>
          </a:p>
          <a:p>
            <a:pPr lvl="1" algn="just"/>
            <a:r>
              <a:rPr lang="de-DE" sz="2000" dirty="0" err="1"/>
              <a:t>Using</a:t>
            </a:r>
            <a:r>
              <a:rPr lang="de-DE" sz="2000" dirty="0"/>
              <a:t> a </a:t>
            </a:r>
            <a:r>
              <a:rPr lang="de-DE" sz="2000" dirty="0" err="1"/>
              <a:t>new</a:t>
            </a:r>
            <a:r>
              <a:rPr lang="de-DE" sz="2000" dirty="0"/>
              <a:t> Twitter </a:t>
            </a:r>
            <a:r>
              <a:rPr lang="de-DE" sz="2000" dirty="0" err="1"/>
              <a:t>account</a:t>
            </a:r>
            <a:r>
              <a:rPr lang="de-DE" sz="2000" dirty="0"/>
              <a:t> </a:t>
            </a:r>
            <a:r>
              <a:rPr lang="de-DE" sz="2000" dirty="0">
                <a:solidFill>
                  <a:srgbClr val="0070C0"/>
                </a:solidFill>
              </a:rPr>
              <a:t>@TAP_G20 </a:t>
            </a:r>
          </a:p>
          <a:p>
            <a:pPr lvl="1" algn="just"/>
            <a:r>
              <a:rPr lang="de-DE" sz="2000" dirty="0"/>
              <a:t>New</a:t>
            </a:r>
            <a:r>
              <a:rPr lang="en-US" sz="2000" dirty="0"/>
              <a:t> series of interviews to partners of the EU-funded TAP-AIS project are being collected</a:t>
            </a:r>
          </a:p>
          <a:p>
            <a:pPr algn="just"/>
            <a:endParaRPr lang="de-DE" sz="2400" dirty="0"/>
          </a:p>
        </p:txBody>
      </p:sp>
      <p:pic>
        <p:nvPicPr>
          <p:cNvPr id="18" name="Grafik 17">
            <a:extLst>
              <a:ext uri="{FF2B5EF4-FFF2-40B4-BE49-F238E27FC236}">
                <a16:creationId xmlns:a16="http://schemas.microsoft.com/office/drawing/2014/main" id="{30DB9B0C-7D2D-541C-73BF-9EE084482161}"/>
              </a:ext>
            </a:extLst>
          </p:cNvPr>
          <p:cNvPicPr>
            <a:picLocks noChangeAspect="1"/>
          </p:cNvPicPr>
          <p:nvPr/>
        </p:nvPicPr>
        <p:blipFill>
          <a:blip r:embed="rId5"/>
          <a:stretch>
            <a:fillRect/>
          </a:stretch>
        </p:blipFill>
        <p:spPr>
          <a:xfrm>
            <a:off x="7451571" y="4377576"/>
            <a:ext cx="3138949" cy="2092633"/>
          </a:xfrm>
          <a:prstGeom prst="rect">
            <a:avLst/>
          </a:prstGeom>
        </p:spPr>
      </p:pic>
      <p:pic>
        <p:nvPicPr>
          <p:cNvPr id="21" name="Grafik 20">
            <a:extLst>
              <a:ext uri="{FF2B5EF4-FFF2-40B4-BE49-F238E27FC236}">
                <a16:creationId xmlns:a16="http://schemas.microsoft.com/office/drawing/2014/main" id="{D56AEAD3-9178-BF26-C42D-19FE4EC50671}"/>
              </a:ext>
            </a:extLst>
          </p:cNvPr>
          <p:cNvPicPr>
            <a:picLocks noChangeAspect="1"/>
          </p:cNvPicPr>
          <p:nvPr/>
        </p:nvPicPr>
        <p:blipFill rotWithShape="1">
          <a:blip r:embed="rId6"/>
          <a:srcRect l="5296" t="8815" r="38081" b="24114"/>
          <a:stretch/>
        </p:blipFill>
        <p:spPr>
          <a:xfrm>
            <a:off x="7307914" y="1377673"/>
            <a:ext cx="3340583" cy="2638050"/>
          </a:xfrm>
          <a:prstGeom prst="rect">
            <a:avLst/>
          </a:prstGeom>
        </p:spPr>
      </p:pic>
      <p:pic>
        <p:nvPicPr>
          <p:cNvPr id="23" name="Grafik 22">
            <a:extLst>
              <a:ext uri="{FF2B5EF4-FFF2-40B4-BE49-F238E27FC236}">
                <a16:creationId xmlns:a16="http://schemas.microsoft.com/office/drawing/2014/main" id="{60784589-44AF-AD1B-2CBD-FD53B450CE05}"/>
              </a:ext>
            </a:extLst>
          </p:cNvPr>
          <p:cNvPicPr>
            <a:picLocks noChangeAspect="1"/>
          </p:cNvPicPr>
          <p:nvPr/>
        </p:nvPicPr>
        <p:blipFill rotWithShape="1">
          <a:blip r:embed="rId7"/>
          <a:srcRect l="31075" t="15132" r="36861" b="15132"/>
          <a:stretch/>
        </p:blipFill>
        <p:spPr>
          <a:xfrm>
            <a:off x="8284723" y="2901986"/>
            <a:ext cx="1819433" cy="2638049"/>
          </a:xfrm>
          <a:prstGeom prst="rect">
            <a:avLst/>
          </a:prstGeom>
        </p:spPr>
      </p:pic>
      <p:pic>
        <p:nvPicPr>
          <p:cNvPr id="24" name="Grafik 23">
            <a:extLst>
              <a:ext uri="{FF2B5EF4-FFF2-40B4-BE49-F238E27FC236}">
                <a16:creationId xmlns:a16="http://schemas.microsoft.com/office/drawing/2014/main" id="{D923D171-8208-0D28-B752-4B96F093B3ED}"/>
              </a:ext>
            </a:extLst>
          </p:cNvPr>
          <p:cNvPicPr>
            <a:picLocks noChangeAspect="1"/>
          </p:cNvPicPr>
          <p:nvPr/>
        </p:nvPicPr>
        <p:blipFill rotWithShape="1">
          <a:blip r:embed="rId8"/>
          <a:srcRect l="30753" t="15132" r="36048" b="15132"/>
          <a:stretch/>
        </p:blipFill>
        <p:spPr>
          <a:xfrm>
            <a:off x="10216945" y="3707643"/>
            <a:ext cx="1868448" cy="2616401"/>
          </a:xfrm>
          <a:prstGeom prst="rect">
            <a:avLst/>
          </a:prstGeom>
        </p:spPr>
      </p:pic>
      <p:pic>
        <p:nvPicPr>
          <p:cNvPr id="25" name="Grafik 24">
            <a:extLst>
              <a:ext uri="{FF2B5EF4-FFF2-40B4-BE49-F238E27FC236}">
                <a16:creationId xmlns:a16="http://schemas.microsoft.com/office/drawing/2014/main" id="{E7FD62FD-6114-E72E-4184-640712FE7E99}"/>
              </a:ext>
            </a:extLst>
          </p:cNvPr>
          <p:cNvPicPr>
            <a:picLocks noChangeAspect="1"/>
          </p:cNvPicPr>
          <p:nvPr/>
        </p:nvPicPr>
        <p:blipFill rotWithShape="1">
          <a:blip r:embed="rId9"/>
          <a:srcRect l="30537" t="14916" r="36047" b="17218"/>
          <a:stretch/>
        </p:blipFill>
        <p:spPr>
          <a:xfrm>
            <a:off x="10216945" y="1357206"/>
            <a:ext cx="1767446" cy="2393142"/>
          </a:xfrm>
          <a:prstGeom prst="rect">
            <a:avLst/>
          </a:prstGeom>
        </p:spPr>
      </p:pic>
      <p:pic>
        <p:nvPicPr>
          <p:cNvPr id="7" name="Picture 6">
            <a:extLst>
              <a:ext uri="{FF2B5EF4-FFF2-40B4-BE49-F238E27FC236}">
                <a16:creationId xmlns:a16="http://schemas.microsoft.com/office/drawing/2014/main" id="{87D360F8-ECAD-6788-CED4-21091F617B2A}"/>
              </a:ext>
            </a:extLst>
          </p:cNvPr>
          <p:cNvPicPr>
            <a:picLocks noChangeAspect="1"/>
          </p:cNvPicPr>
          <p:nvPr/>
        </p:nvPicPr>
        <p:blipFill rotWithShape="1">
          <a:blip r:embed="rId10"/>
          <a:srcRect l="863" t="13369" r="1703" b="7470"/>
          <a:stretch/>
        </p:blipFill>
        <p:spPr>
          <a:xfrm>
            <a:off x="7252" y="3518430"/>
            <a:ext cx="7207231" cy="3293707"/>
          </a:xfrm>
          <a:prstGeom prst="rect">
            <a:avLst/>
          </a:prstGeom>
        </p:spPr>
      </p:pic>
    </p:spTree>
    <p:extLst>
      <p:ext uri="{BB962C8B-B14F-4D97-AF65-F5344CB8AC3E}">
        <p14:creationId xmlns:p14="http://schemas.microsoft.com/office/powerpoint/2010/main" val="233745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magine 5" descr="FAO_logo_Blue_3lines_en.jp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15568" y="65551"/>
            <a:ext cx="2392680" cy="966216"/>
          </a:xfrm>
          <a:prstGeom prst="rect">
            <a:avLst/>
          </a:prstGeom>
        </p:spPr>
      </p:pic>
      <p:pic>
        <p:nvPicPr>
          <p:cNvPr id="10" name="Immagine 9"/>
          <p:cNvPicPr>
            <a:picLocks noChangeAspect="1"/>
          </p:cNvPicPr>
          <p:nvPr/>
        </p:nvPicPr>
        <p:blipFill>
          <a:blip r:embed="rId3"/>
          <a:stretch>
            <a:fillRect/>
          </a:stretch>
        </p:blipFill>
        <p:spPr>
          <a:xfrm>
            <a:off x="9855201" y="138728"/>
            <a:ext cx="731711" cy="801224"/>
          </a:xfrm>
          <a:prstGeom prst="rect">
            <a:avLst/>
          </a:prstGeom>
        </p:spPr>
      </p:pic>
      <p:sp>
        <p:nvSpPr>
          <p:cNvPr id="2" name="Titel 1">
            <a:extLst>
              <a:ext uri="{FF2B5EF4-FFF2-40B4-BE49-F238E27FC236}">
                <a16:creationId xmlns:a16="http://schemas.microsoft.com/office/drawing/2014/main" id="{66F0561C-7352-4F08-900B-890512CFDBE5}"/>
              </a:ext>
            </a:extLst>
          </p:cNvPr>
          <p:cNvSpPr>
            <a:spLocks noGrp="1"/>
          </p:cNvSpPr>
          <p:nvPr>
            <p:ph type="title"/>
          </p:nvPr>
        </p:nvSpPr>
        <p:spPr>
          <a:xfrm>
            <a:off x="329770" y="939952"/>
            <a:ext cx="8971343" cy="801224"/>
          </a:xfrm>
        </p:spPr>
        <p:txBody>
          <a:bodyPr>
            <a:noAutofit/>
          </a:bodyPr>
          <a:lstStyle/>
          <a:p>
            <a:r>
              <a:rPr lang="en-US" sz="2400" b="1" dirty="0">
                <a:solidFill>
                  <a:srgbClr val="7CBC6F"/>
                </a:solidFill>
                <a:latin typeface="+mn-lt"/>
              </a:rPr>
              <a:t>Knowledge Products and Tools</a:t>
            </a:r>
            <a:endParaRPr lang="de-DE" sz="3200" dirty="0">
              <a:latin typeface="+mn-lt"/>
            </a:endParaRPr>
          </a:p>
        </p:txBody>
      </p:sp>
      <p:sp>
        <p:nvSpPr>
          <p:cNvPr id="3" name="Inhaltsplatzhalter 2">
            <a:extLst>
              <a:ext uri="{FF2B5EF4-FFF2-40B4-BE49-F238E27FC236}">
                <a16:creationId xmlns:a16="http://schemas.microsoft.com/office/drawing/2014/main" id="{6299360F-721C-4BED-9CE1-5D1138561D5F}"/>
              </a:ext>
            </a:extLst>
          </p:cNvPr>
          <p:cNvSpPr>
            <a:spLocks noGrp="1"/>
          </p:cNvSpPr>
          <p:nvPr>
            <p:ph idx="1"/>
          </p:nvPr>
        </p:nvSpPr>
        <p:spPr>
          <a:xfrm>
            <a:off x="519008" y="1791329"/>
            <a:ext cx="6932838" cy="4441306"/>
          </a:xfrm>
        </p:spPr>
        <p:txBody>
          <a:bodyPr>
            <a:normAutofit/>
          </a:bodyPr>
          <a:lstStyle/>
          <a:p>
            <a:r>
              <a:rPr lang="en-US" sz="2200" dirty="0"/>
              <a:t>Assessing agricultural innovation systems: a </a:t>
            </a:r>
            <a:r>
              <a:rPr lang="en-US" sz="2200" b="1" dirty="0"/>
              <a:t>training manual </a:t>
            </a:r>
          </a:p>
          <a:p>
            <a:r>
              <a:rPr lang="en-US" sz="2200" dirty="0"/>
              <a:t>Assessing agricultural innovation systems for action at country level. </a:t>
            </a:r>
            <a:r>
              <a:rPr lang="en-US" sz="2200" b="1" dirty="0"/>
              <a:t>A preliminary framework  </a:t>
            </a:r>
          </a:p>
          <a:p>
            <a:r>
              <a:rPr lang="en-US" sz="2200" dirty="0"/>
              <a:t>A preview of </a:t>
            </a:r>
            <a:r>
              <a:rPr lang="en-US" sz="2200" b="1" dirty="0"/>
              <a:t>action-orientated assessment</a:t>
            </a:r>
            <a:r>
              <a:rPr lang="en-US" sz="2200" dirty="0"/>
              <a:t> of agricultural innovation systems </a:t>
            </a:r>
          </a:p>
          <a:p>
            <a:r>
              <a:rPr lang="en-US" sz="2000" dirty="0"/>
              <a:t>Methodology on </a:t>
            </a:r>
            <a:r>
              <a:rPr lang="en-US" sz="2000" b="1" dirty="0"/>
              <a:t>Global Capacity Needs Assessment</a:t>
            </a:r>
            <a:r>
              <a:rPr lang="en-US" sz="2000" dirty="0"/>
              <a:t> (GCNA), Assessment  of Agricultural Innovation Systems (AIS) – A Contribution to Develop STI Roadmaps for SDGs.</a:t>
            </a:r>
          </a:p>
          <a:p>
            <a:r>
              <a:rPr lang="en-US" sz="2000" dirty="0"/>
              <a:t>An assessment of capacity within </a:t>
            </a:r>
            <a:r>
              <a:rPr lang="en-US" sz="2000" b="1" dirty="0"/>
              <a:t>agricultural extension and advisory services</a:t>
            </a:r>
            <a:r>
              <a:rPr lang="en-US" sz="2000" dirty="0"/>
              <a:t> - FAO and GFRAS </a:t>
            </a:r>
          </a:p>
          <a:p>
            <a:r>
              <a:rPr lang="en-GB" sz="2000" dirty="0"/>
              <a:t>NELK module on </a:t>
            </a:r>
            <a:r>
              <a:rPr lang="en-GB" sz="2000" b="1" dirty="0"/>
              <a:t>integrated pest management </a:t>
            </a:r>
            <a:r>
              <a:rPr lang="en-GB" sz="2000" dirty="0"/>
              <a:t>- GFRAS</a:t>
            </a:r>
            <a:endParaRPr lang="en-US" sz="2200" dirty="0"/>
          </a:p>
        </p:txBody>
      </p:sp>
      <p:pic>
        <p:nvPicPr>
          <p:cNvPr id="4" name="Grafik 3" descr="Ein Bild, das Text, Person enthält.&#10;&#10;Automatisch generierte Beschreibung">
            <a:extLst>
              <a:ext uri="{FF2B5EF4-FFF2-40B4-BE49-F238E27FC236}">
                <a16:creationId xmlns:a16="http://schemas.microsoft.com/office/drawing/2014/main" id="{53E0FCA5-3128-D32A-3C83-A6EC98BDA78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rot="780223">
            <a:off x="8263955" y="1288223"/>
            <a:ext cx="1905000" cy="2698750"/>
          </a:xfrm>
          <a:prstGeom prst="rect">
            <a:avLst/>
          </a:prstGeom>
          <a:noFill/>
          <a:ln>
            <a:noFill/>
          </a:ln>
        </p:spPr>
      </p:pic>
      <p:pic>
        <p:nvPicPr>
          <p:cNvPr id="5" name="Grafik 4">
            <a:extLst>
              <a:ext uri="{FF2B5EF4-FFF2-40B4-BE49-F238E27FC236}">
                <a16:creationId xmlns:a16="http://schemas.microsoft.com/office/drawing/2014/main" id="{54E34539-D949-AFB3-1C92-F7588B577186}"/>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rot="756218">
            <a:off x="9572601" y="2752160"/>
            <a:ext cx="1905000" cy="2698750"/>
          </a:xfrm>
          <a:prstGeom prst="rect">
            <a:avLst/>
          </a:prstGeom>
          <a:noFill/>
          <a:ln>
            <a:noFill/>
          </a:ln>
        </p:spPr>
      </p:pic>
      <p:pic>
        <p:nvPicPr>
          <p:cNvPr id="12" name="Grafik 11">
            <a:extLst>
              <a:ext uri="{FF2B5EF4-FFF2-40B4-BE49-F238E27FC236}">
                <a16:creationId xmlns:a16="http://schemas.microsoft.com/office/drawing/2014/main" id="{8F7890EC-9894-32BD-706C-4B6F322ED2DC}"/>
              </a:ext>
            </a:extLst>
          </p:cNvPr>
          <p:cNvPicPr>
            <a:picLocks noChangeAspect="1"/>
          </p:cNvPicPr>
          <p:nvPr/>
        </p:nvPicPr>
        <p:blipFill rotWithShape="1">
          <a:blip r:embed="rId6"/>
          <a:srcRect l="32903" t="16976" r="34574" b="13830"/>
          <a:stretch/>
        </p:blipFill>
        <p:spPr>
          <a:xfrm rot="902955">
            <a:off x="7736764" y="3861876"/>
            <a:ext cx="1706212" cy="2420009"/>
          </a:xfrm>
          <a:prstGeom prst="rect">
            <a:avLst/>
          </a:prstGeom>
        </p:spPr>
      </p:pic>
      <p:pic>
        <p:nvPicPr>
          <p:cNvPr id="7" name="Picture 2">
            <a:extLst>
              <a:ext uri="{FF2B5EF4-FFF2-40B4-BE49-F238E27FC236}">
                <a16:creationId xmlns:a16="http://schemas.microsoft.com/office/drawing/2014/main" id="{093D6FEA-4CDD-FB74-E82D-D1106E88327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56626" y="1031767"/>
            <a:ext cx="1367045" cy="1934368"/>
          </a:xfrm>
          <a:prstGeom prst="rect">
            <a:avLst/>
          </a:prstGeom>
          <a:noFill/>
          <a:extLst>
            <a:ext uri="{909E8E84-426E-40DD-AFC4-6F175D3DCCD1}">
              <a14:hiddenFill xmlns:a14="http://schemas.microsoft.com/office/drawing/2010/main">
                <a:solidFill>
                  <a:srgbClr val="FFFFFF"/>
                </a:solidFill>
              </a14:hiddenFill>
            </a:ext>
          </a:extLst>
        </p:spPr>
      </p:pic>
      <p:pic>
        <p:nvPicPr>
          <p:cNvPr id="8" name="Grafik 13">
            <a:extLst>
              <a:ext uri="{FF2B5EF4-FFF2-40B4-BE49-F238E27FC236}">
                <a16:creationId xmlns:a16="http://schemas.microsoft.com/office/drawing/2014/main" id="{23A6FB6C-154A-0032-FC9A-3BC3D2FF0F71}"/>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3048" t="18111" r="35330" b="32667"/>
          <a:stretch/>
        </p:blipFill>
        <p:spPr bwMode="auto">
          <a:xfrm>
            <a:off x="9301113" y="5367255"/>
            <a:ext cx="2294091" cy="122156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2941671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ttangolo 10"/>
          <p:cNvSpPr/>
          <p:nvPr/>
        </p:nvSpPr>
        <p:spPr>
          <a:xfrm>
            <a:off x="4356241" y="2265828"/>
            <a:ext cx="3027971" cy="769441"/>
          </a:xfrm>
          <a:prstGeom prst="rect">
            <a:avLst/>
          </a:prstGeom>
        </p:spPr>
        <p:txBody>
          <a:bodyPr wrap="square">
            <a:spAutoFit/>
          </a:bodyPr>
          <a:lstStyle/>
          <a:p>
            <a:r>
              <a:rPr lang="it-IT" sz="4400" dirty="0">
                <a:solidFill>
                  <a:srgbClr val="7CBC6F"/>
                </a:solidFill>
              </a:rPr>
              <a:t>THANK YOU</a:t>
            </a:r>
            <a:endParaRPr lang="pt-BR" sz="2400" baseline="30000" dirty="0"/>
          </a:p>
        </p:txBody>
      </p:sp>
      <p:sp>
        <p:nvSpPr>
          <p:cNvPr id="6" name="Textfeld 5">
            <a:extLst>
              <a:ext uri="{FF2B5EF4-FFF2-40B4-BE49-F238E27FC236}">
                <a16:creationId xmlns:a16="http://schemas.microsoft.com/office/drawing/2014/main" id="{D4838A85-BE86-4F75-B722-F9E4AB1D06CC}"/>
              </a:ext>
            </a:extLst>
          </p:cNvPr>
          <p:cNvSpPr txBox="1"/>
          <p:nvPr/>
        </p:nvSpPr>
        <p:spPr>
          <a:xfrm>
            <a:off x="854015" y="5405001"/>
            <a:ext cx="10739887" cy="954107"/>
          </a:xfrm>
          <a:prstGeom prst="rect">
            <a:avLst/>
          </a:prstGeom>
          <a:noFill/>
        </p:spPr>
        <p:txBody>
          <a:bodyPr wrap="square">
            <a:spAutoFit/>
          </a:bodyPr>
          <a:lstStyle/>
          <a:p>
            <a:r>
              <a:rPr lang="en-US" sz="2000" u="sng" dirty="0">
                <a:cs typeface="Arial" pitchFamily="34" charset="0"/>
              </a:rPr>
              <a:t>More information on TAP:</a:t>
            </a:r>
            <a:br>
              <a:rPr lang="en-US" sz="2000" dirty="0">
                <a:cs typeface="Arial" pitchFamily="34" charset="0"/>
              </a:rPr>
            </a:br>
            <a:r>
              <a:rPr lang="en-US" dirty="0">
                <a:cs typeface="Arial" pitchFamily="34" charset="0"/>
              </a:rPr>
              <a:t>http://www.fao.org/in-action/tropical-agriculture-platform/en/</a:t>
            </a:r>
            <a:br>
              <a:rPr lang="en-US" dirty="0">
                <a:cs typeface="Arial" pitchFamily="34" charset="0"/>
              </a:rPr>
            </a:br>
            <a:r>
              <a:rPr lang="en-US" dirty="0">
                <a:cs typeface="Arial" pitchFamily="34" charset="0"/>
              </a:rPr>
              <a:t>http://tapipedia.org/</a:t>
            </a:r>
            <a:endParaRPr lang="de-DE" dirty="0"/>
          </a:p>
        </p:txBody>
      </p:sp>
      <p:pic>
        <p:nvPicPr>
          <p:cNvPr id="4" name="Immagine 9"/>
          <p:cNvPicPr>
            <a:picLocks noChangeAspect="1"/>
          </p:cNvPicPr>
          <p:nvPr/>
        </p:nvPicPr>
        <p:blipFill>
          <a:blip r:embed="rId2"/>
          <a:stretch>
            <a:fillRect/>
          </a:stretch>
        </p:blipFill>
        <p:spPr>
          <a:xfrm>
            <a:off x="11157790" y="48459"/>
            <a:ext cx="731711" cy="801224"/>
          </a:xfrm>
          <a:prstGeom prst="rect">
            <a:avLst/>
          </a:prstGeom>
        </p:spPr>
      </p:pic>
      <p:pic>
        <p:nvPicPr>
          <p:cNvPr id="5" name="Immagine 5" descr="FAO_logo_Blue_3lines_en.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48459"/>
            <a:ext cx="2392680" cy="966216"/>
          </a:xfrm>
          <a:prstGeom prst="rect">
            <a:avLst/>
          </a:prstGeom>
        </p:spPr>
      </p:pic>
    </p:spTree>
    <p:extLst>
      <p:ext uri="{BB962C8B-B14F-4D97-AF65-F5344CB8AC3E}">
        <p14:creationId xmlns:p14="http://schemas.microsoft.com/office/powerpoint/2010/main" val="3508119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CustomMKOP.xml><?xml version="1.0" encoding="utf-8"?>
<Properties xmlns="http://schemas.openxmlformats.org/officeDocument/2006/custom-properties" xmlns:vt="http://schemas.openxmlformats.org/officeDocument/2006/docPropsVTypes">
  <property fmtid="{D5CDD505-2E9C-101B-9397-08002B2CF9AE}" pid="2" name="MKProdID">
    <vt:lpwstr>ZMOutlook</vt:lpwstr>
  </property>
  <property fmtid="{D5CDD505-2E9C-101B-9397-08002B2CF9AE}" pid="3" name="SizeBefore">
    <vt:lpwstr>13212528</vt:lpwstr>
  </property>
  <property fmtid="{D5CDD505-2E9C-101B-9397-08002B2CF9AE}" pid="4" name="OptimizationTime">
    <vt:lpwstr>20230214_1859</vt:lpwstr>
  </property>
</Properties>
</file>

<file path=docProps/app.xml><?xml version="1.0" encoding="utf-8"?>
<Properties xmlns="http://schemas.openxmlformats.org/officeDocument/2006/extended-properties" xmlns:vt="http://schemas.openxmlformats.org/officeDocument/2006/docPropsVTypes">
  <TotalTime>181</TotalTime>
  <Words>1547</Words>
  <Application>Microsoft Office PowerPoint</Application>
  <PresentationFormat>Widescreen</PresentationFormat>
  <Paragraphs>157</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Times New Roman</vt:lpstr>
      <vt:lpstr>Wingdings</vt:lpstr>
      <vt:lpstr>Office Theme</vt:lpstr>
      <vt:lpstr>PowerPoint Presentation</vt:lpstr>
      <vt:lpstr>Tropical Agriculture Platform (TAP)</vt:lpstr>
      <vt:lpstr>TAP Partners</vt:lpstr>
      <vt:lpstr>TAP Major Milestones</vt:lpstr>
      <vt:lpstr>Goal and main outcomes of the TAP Action Plan 2022-2025</vt:lpstr>
      <vt:lpstr>Outcome 1: Innovation capacities are improved at country level by establishing effective AIS </vt:lpstr>
      <vt:lpstr>PowerPoint Presentation</vt:lpstr>
      <vt:lpstr>Outcome 3: TAP partners and stakeholders acknowledge the importance of CD for AIS, and advocate for more investments in AIS of countries to contribute to the G20 initiatives and attainment of the SDGs of the United Nations</vt:lpstr>
      <vt:lpstr>PowerPoint Presentation</vt:lpstr>
      <vt:lpstr>PowerPoint Presentation</vt:lpstr>
      <vt:lpstr>Outcome 4: TAP Secretariat and its governance improve its capacities to achieve its mandate</vt:lpstr>
      <vt:lpstr>Outreach activities &amp; TAPipedia</vt:lpstr>
      <vt:lpstr>Knowledge Products and Tools</vt:lpstr>
      <vt:lpstr>PowerPoint Presentation</vt:lpstr>
    </vt:vector>
  </TitlesOfParts>
  <Company>FAO of the UN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Ramasamy, Selvaraju (OIN)</dc:creator>
  <cp:lastModifiedBy>Ramasamy, Selvaraju (OIN)</cp:lastModifiedBy>
  <cp:revision>40</cp:revision>
  <dcterms:created xsi:type="dcterms:W3CDTF">2023-02-10T09:30:53Z</dcterms:created>
  <dcterms:modified xsi:type="dcterms:W3CDTF">2023-02-13T06:10:03Z</dcterms:modified>
</cp:coreProperties>
</file>