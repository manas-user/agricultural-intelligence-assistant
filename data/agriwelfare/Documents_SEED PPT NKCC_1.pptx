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73" r:id="rId2"/>
    <p:sldId id="258" r:id="rId3"/>
    <p:sldId id="260" r:id="rId4"/>
    <p:sldId id="256" r:id="rId5"/>
    <p:sldId id="261" r:id="rId6"/>
    <p:sldId id="257" r:id="rId7"/>
    <p:sldId id="262" r:id="rId8"/>
    <p:sldId id="272" r:id="rId9"/>
    <p:sldId id="271" r:id="rId10"/>
    <p:sldId id="263" r:id="rId11"/>
    <p:sldId id="264" r:id="rId12"/>
    <p:sldId id="265" r:id="rId13"/>
    <p:sldId id="266" r:id="rId14"/>
    <p:sldId id="267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-105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F2FE7-D59E-4FBD-9DE7-736D4BBBADBD}" type="datetimeFigureOut">
              <a:rPr lang="en-US" smtClean="0"/>
              <a:pPr/>
              <a:t>4/25/2022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B4B37F-A5B1-44AC-AB3E-1A1AFD6FE12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5EFC4-92EC-4579-B29E-78084D3C02FB}" type="datetimeFigureOut">
              <a:rPr lang="en-US" smtClean="0"/>
              <a:pPr/>
              <a:t>4/25/2022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C4EAF-E08E-4D03-8FCB-397345BA1E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32797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76CC84D4-E262-41E5-A0A3-21041A44E115}" type="datetime1">
              <a:rPr lang="en-US" smtClean="0"/>
              <a:pPr/>
              <a:t>4/25/2022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D1A58CCC-2B4A-4E9C-9EFF-AFEA87D37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61665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CBEB-BC93-4F8F-9AE9-DD5D0D567460}" type="datetime1">
              <a:rPr lang="en-US" smtClean="0"/>
              <a:pPr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58CCC-2B4A-4E9C-9EFF-AFEA87D37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29100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2AA8A-8733-4E8F-8BF0-BF451B1DEDAA}" type="datetime1">
              <a:rPr lang="en-US" smtClean="0"/>
              <a:pPr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58CCC-2B4A-4E9C-9EFF-AFEA87D37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52435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ACC31-5476-45B1-8A02-8330BAEC82F0}" type="datetime1">
              <a:rPr lang="en-US" smtClean="0"/>
              <a:pPr/>
              <a:t>4/25/2022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58CCC-2B4A-4E9C-9EFF-AFEA87D37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168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A31D-13C3-4C22-BB72-0FF7CE8DD454}" type="datetime1">
              <a:rPr lang="en-US" smtClean="0"/>
              <a:pPr/>
              <a:t>4/25/2022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58CCC-2B4A-4E9C-9EFF-AFEA87D37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5801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29730-D60E-4E00-BE7B-043AEB47545C}" type="datetime1">
              <a:rPr lang="en-US" smtClean="0"/>
              <a:pPr/>
              <a:t>4/25/2022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58CCC-2B4A-4E9C-9EFF-AFEA87D37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03729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2CFCC-EE44-49C1-A02E-44C6B47C25C5}" type="datetime1">
              <a:rPr lang="en-US" smtClean="0"/>
              <a:pPr/>
              <a:t>4/25/2022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58CCC-2B4A-4E9C-9EFF-AFEA87D37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02510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AD75-56B9-4BC4-9BFF-A7263FC6E90D}" type="datetime1">
              <a:rPr lang="en-US" smtClean="0"/>
              <a:pPr/>
              <a:t>4/25/2022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D1A58CCC-2B4A-4E9C-9EFF-AFEA87D37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3605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1F8BC14-2016-438F-BF39-3F353495279C}" type="datetime1">
              <a:rPr lang="en-US" smtClean="0"/>
              <a:pPr/>
              <a:t>4/25/2022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D1A58CCC-2B4A-4E9C-9EFF-AFEA87D37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20394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ECCB3-F740-43C4-A699-20236A933257}" type="datetime1">
              <a:rPr lang="en-US" smtClean="0"/>
              <a:pPr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58CCC-2B4A-4E9C-9EFF-AFEA87D37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76237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506A-CD4D-4D16-9CAE-57D56014E6D7}" type="datetime1">
              <a:rPr lang="en-US" smtClean="0"/>
              <a:pPr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58CCC-2B4A-4E9C-9EFF-AFEA87D37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18956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6425BF65-71D0-4C6D-8815-76C32D22D0A9}" type="datetime1">
              <a:rPr lang="en-US" smtClean="0"/>
              <a:pPr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D1A58CCC-2B4A-4E9C-9EFF-AFEA87D37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38809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656" y="1366520"/>
            <a:ext cx="10772775" cy="2085159"/>
          </a:xfrm>
        </p:spPr>
        <p:txBody>
          <a:bodyPr>
            <a:noAutofit/>
          </a:bodyPr>
          <a:lstStyle/>
          <a:p>
            <a:pPr algn="ctr"/>
            <a:r>
              <a:rPr lang="en-US" sz="80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SEED AVAILABILITY FOR KHARIF-2022</a:t>
            </a:r>
            <a:endParaRPr lang="en-US" sz="8000" b="1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656" y="4064000"/>
            <a:ext cx="10753725" cy="2221865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6000" b="1" dirty="0" smtClean="0"/>
              <a:t>Shri </a:t>
            </a:r>
            <a:r>
              <a:rPr lang="en-US" sz="6000" b="1" dirty="0" err="1" smtClean="0"/>
              <a:t>Ashwani</a:t>
            </a:r>
            <a:r>
              <a:rPr lang="en-US" sz="6000" b="1" dirty="0" smtClean="0"/>
              <a:t> Kumar</a:t>
            </a:r>
          </a:p>
          <a:p>
            <a:pPr algn="ctr">
              <a:lnSpc>
                <a:spcPct val="100000"/>
              </a:lnSpc>
            </a:pPr>
            <a:r>
              <a:rPr lang="en-US" b="1" dirty="0" smtClean="0"/>
              <a:t>Joint Secretary (Seeds)</a:t>
            </a:r>
          </a:p>
          <a:p>
            <a:pPr algn="ctr">
              <a:lnSpc>
                <a:spcPct val="100000"/>
              </a:lnSpc>
            </a:pPr>
            <a:r>
              <a:rPr lang="en-US" b="1" dirty="0" smtClean="0"/>
              <a:t>DA&amp;FW, </a:t>
            </a:r>
            <a:r>
              <a:rPr lang="en-US" b="1" dirty="0" err="1" smtClean="0"/>
              <a:t>MoA&amp;FW</a:t>
            </a:r>
            <a:r>
              <a:rPr lang="en-US" b="1" dirty="0" smtClean="0"/>
              <a:t>, New Delhi</a:t>
            </a:r>
            <a:endParaRPr lang="en-US" b="1" dirty="0"/>
          </a:p>
        </p:txBody>
      </p:sp>
    </p:spTree>
    <p:extLst>
      <p:ext uri="{BB962C8B-B14F-4D97-AF65-F5344CB8AC3E}">
        <p14:creationId xmlns="" xmlns:p14="http://schemas.microsoft.com/office/powerpoint/2010/main" val="1749346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040" y="533401"/>
            <a:ext cx="10393680" cy="792163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3200" b="1" u="sng" dirty="0">
                <a:ln w="1905"/>
                <a:solidFill>
                  <a:schemeClr val="tx1">
                    <a:lumMod val="75000"/>
                    <a:lumOff val="2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ALL INDIA SEED REQUIREMENT &amp; AVAILABILITY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692588564"/>
              </p:ext>
            </p:extLst>
          </p:nvPr>
        </p:nvGraphicFramePr>
        <p:xfrm>
          <a:off x="670559" y="1331105"/>
          <a:ext cx="10805162" cy="474965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6005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4180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72186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43776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7436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427926">
                <a:tc gridSpan="5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 smtClean="0"/>
                        <a:t>(Figures in Lakh Quintals)</a:t>
                      </a:r>
                      <a:endParaRPr lang="en-US" sz="20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7790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smtClean="0"/>
                        <a:t>S.</a:t>
                      </a:r>
                      <a:r>
                        <a:rPr lang="en-US" sz="2200" baseline="0" dirty="0" smtClean="0"/>
                        <a:t> 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smtClean="0"/>
                        <a:t>No</a:t>
                      </a:r>
                      <a:r>
                        <a:rPr lang="en-US" sz="2200" dirty="0"/>
                        <a:t>.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YEAR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REQUIREMENT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AVAILABILITY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SURPLUS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42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1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2014-15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343.56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351.77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smtClean="0"/>
                        <a:t>+8.21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42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2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2015-16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337.09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343.52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smtClean="0"/>
                        <a:t>+6.43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42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2016-17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353.49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380.29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smtClean="0"/>
                        <a:t>+26.80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42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4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2017-18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371.38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419.41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smtClean="0"/>
                        <a:t>+48.03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42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5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dirty="0" smtClean="0"/>
                        <a:t>2018-19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dirty="0" smtClean="0"/>
                        <a:t>353.55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dirty="0" smtClean="0"/>
                        <a:t>398.87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dirty="0" smtClean="0"/>
                        <a:t>+45.32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2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6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dirty="0" smtClean="0"/>
                        <a:t>2019-20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dirty="0" smtClean="0"/>
                        <a:t>387.31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dirty="0" smtClean="0"/>
                        <a:t>431.01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dirty="0" smtClean="0"/>
                        <a:t>+43.70</a:t>
                      </a:r>
                      <a:endParaRPr lang="en-US" sz="2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42832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US" sz="2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2020-21</a:t>
                      </a:r>
                      <a:endParaRPr lang="en-US" sz="2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443.16</a:t>
                      </a:r>
                      <a:endParaRPr lang="en-US" sz="2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483.66</a:t>
                      </a:r>
                      <a:endParaRPr lang="en-US" sz="2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+40.50</a:t>
                      </a:r>
                      <a:endParaRPr lang="en-US" sz="2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29509590"/>
                  </a:ext>
                </a:extLst>
              </a:tr>
              <a:tr h="442832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US" sz="2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2021-22</a:t>
                      </a:r>
                      <a:endParaRPr lang="en-US" sz="2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465.36</a:t>
                      </a:r>
                      <a:endParaRPr lang="en-US" sz="2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498.83</a:t>
                      </a:r>
                      <a:endParaRPr lang="en-US" sz="2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+33.47</a:t>
                      </a:r>
                      <a:endParaRPr lang="en-US" sz="2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567967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1100814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3322837730"/>
              </p:ext>
            </p:extLst>
          </p:nvPr>
        </p:nvGraphicFramePr>
        <p:xfrm>
          <a:off x="472440" y="403194"/>
          <a:ext cx="11353799" cy="6043320"/>
        </p:xfrm>
        <a:graphic>
          <a:graphicData uri="http://schemas.openxmlformats.org/drawingml/2006/table">
            <a:tbl>
              <a:tblPr/>
              <a:tblGrid>
                <a:gridCol w="657007">
                  <a:extLst>
                    <a:ext uri="{9D8B030D-6E8A-4147-A177-3AD203B41FA5}">
                      <a16:colId xmlns="" xmlns:a16="http://schemas.microsoft.com/office/drawing/2014/main" val="3878879049"/>
                    </a:ext>
                  </a:extLst>
                </a:gridCol>
                <a:gridCol w="2615155">
                  <a:extLst>
                    <a:ext uri="{9D8B030D-6E8A-4147-A177-3AD203B41FA5}">
                      <a16:colId xmlns="" xmlns:a16="http://schemas.microsoft.com/office/drawing/2014/main" val="2510818410"/>
                    </a:ext>
                  </a:extLst>
                </a:gridCol>
                <a:gridCol w="1636082">
                  <a:extLst>
                    <a:ext uri="{9D8B030D-6E8A-4147-A177-3AD203B41FA5}">
                      <a16:colId xmlns="" xmlns:a16="http://schemas.microsoft.com/office/drawing/2014/main" val="3947166511"/>
                    </a:ext>
                  </a:extLst>
                </a:gridCol>
                <a:gridCol w="1958143">
                  <a:extLst>
                    <a:ext uri="{9D8B030D-6E8A-4147-A177-3AD203B41FA5}">
                      <a16:colId xmlns="" xmlns:a16="http://schemas.microsoft.com/office/drawing/2014/main" val="3293888323"/>
                    </a:ext>
                  </a:extLst>
                </a:gridCol>
                <a:gridCol w="1945262">
                  <a:extLst>
                    <a:ext uri="{9D8B030D-6E8A-4147-A177-3AD203B41FA5}">
                      <a16:colId xmlns="" xmlns:a16="http://schemas.microsoft.com/office/drawing/2014/main" val="3182342836"/>
                    </a:ext>
                  </a:extLst>
                </a:gridCol>
                <a:gridCol w="2542150">
                  <a:extLst>
                    <a:ext uri="{9D8B030D-6E8A-4147-A177-3AD203B41FA5}">
                      <a16:colId xmlns="" xmlns:a16="http://schemas.microsoft.com/office/drawing/2014/main" val="4272374363"/>
                    </a:ext>
                  </a:extLst>
                </a:gridCol>
              </a:tblGrid>
              <a:tr h="318301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effectLst/>
                          <a:latin typeface="Arial Narrow" panose="020B0606020202030204" pitchFamily="34" charset="0"/>
                        </a:rPr>
                        <a:t>ALL INDIA POSITION OF  REQUIREMENT AND AVAILABILITY OF CERTIFIED/QUALITY SEEDS FOR KHARIF 2022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010626230"/>
                  </a:ext>
                </a:extLst>
              </a:tr>
              <a:tr h="318301">
                <a:tc gridSpan="6"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 dirty="0">
                          <a:effectLst/>
                          <a:latin typeface="Arial Narrow" panose="020B0606020202030204" pitchFamily="34" charset="0"/>
                        </a:rPr>
                        <a:t>QUANTITY IN QUINTALS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796633264"/>
                  </a:ext>
                </a:extLst>
              </a:tr>
              <a:tr h="3183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 smtClean="0">
                          <a:effectLst/>
                          <a:latin typeface="Arial Narrow" panose="020B0606020202030204" pitchFamily="34" charset="0"/>
                        </a:rPr>
                        <a:t>S. No.</a:t>
                      </a:r>
                      <a:endParaRPr lang="en-US" sz="1800" b="1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effectLst/>
                          <a:latin typeface="Arial Narrow" panose="020B0606020202030204" pitchFamily="34" charset="0"/>
                        </a:rPr>
                        <a:t>State/UT Name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effectLst/>
                          <a:latin typeface="Arial Narrow" panose="020B0606020202030204" pitchFamily="34" charset="0"/>
                        </a:rPr>
                        <a:t>Requirement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effectLst/>
                          <a:latin typeface="Arial Narrow" panose="020B0606020202030204" pitchFamily="34" charset="0"/>
                        </a:rPr>
                        <a:t>Availability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effectLst/>
                          <a:latin typeface="Arial Narrow" panose="020B0606020202030204" pitchFamily="34" charset="0"/>
                        </a:rPr>
                        <a:t>Deficit/Surplus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effectLst/>
                          <a:latin typeface="Arial Narrow" panose="020B0606020202030204" pitchFamily="34" charset="0"/>
                        </a:rPr>
                        <a:t>Remarks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23958331"/>
                  </a:ext>
                </a:extLst>
              </a:tr>
              <a:tr h="3183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ANDHRA PRADESH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1353589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1829004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475415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974205534"/>
                  </a:ext>
                </a:extLst>
              </a:tr>
              <a:tr h="3183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ARUANCHAL PRADESH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14526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14526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26340503"/>
                  </a:ext>
                </a:extLst>
              </a:tr>
              <a:tr h="3183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ASSAM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319430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692459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373029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782855200"/>
                  </a:ext>
                </a:extLst>
              </a:tr>
              <a:tr h="4229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BIHAR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579675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356825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effectLst/>
                          <a:latin typeface="Arial Narrow" panose="020B0606020202030204" pitchFamily="34" charset="0"/>
                        </a:rPr>
                        <a:t>-222850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Arial Narrow" panose="020B0606020202030204" pitchFamily="34" charset="0"/>
                        </a:rPr>
                        <a:t>To be met from Farm Saved Seeds, NSC and Private Companies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021228186"/>
                  </a:ext>
                </a:extLst>
              </a:tr>
              <a:tr h="3183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CHHATTISGARH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1000000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1019175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19175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047630709"/>
                  </a:ext>
                </a:extLst>
              </a:tr>
              <a:tr h="3183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6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GOA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4550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4550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028839606"/>
                  </a:ext>
                </a:extLst>
              </a:tr>
              <a:tr h="3183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7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GUJARAT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1364294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1384159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19865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373479839"/>
                  </a:ext>
                </a:extLst>
              </a:tr>
              <a:tr h="3183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8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HARYANA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123049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283556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160507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993159443"/>
                  </a:ext>
                </a:extLst>
              </a:tr>
              <a:tr h="4229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9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HIMACHAL PRADESH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26021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25321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effectLst/>
                          <a:latin typeface="Arial Narrow" panose="020B0606020202030204" pitchFamily="34" charset="0"/>
                        </a:rPr>
                        <a:t>-700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Arial Narrow" panose="020B0606020202030204" pitchFamily="34" charset="0"/>
                        </a:rPr>
                        <a:t>To be met from Farm Saved Seeds, NSC and Private Companies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53126053"/>
                  </a:ext>
                </a:extLst>
              </a:tr>
              <a:tr h="3183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10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JAMMU&amp;KASHMIR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35695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35695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197694797"/>
                  </a:ext>
                </a:extLst>
              </a:tr>
              <a:tr h="3183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11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JHARKAND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216540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216540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951766531"/>
                  </a:ext>
                </a:extLst>
              </a:tr>
              <a:tr h="3183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12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KARNATAKA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1373978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1519748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145770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5436585"/>
                  </a:ext>
                </a:extLst>
              </a:tr>
              <a:tr h="3183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13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KERALA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37043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37043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808595253"/>
                  </a:ext>
                </a:extLst>
              </a:tr>
              <a:tr h="3183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14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MADHYA PRADESH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2112328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2311353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199025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863605764"/>
                  </a:ext>
                </a:extLst>
              </a:tr>
              <a:tr h="4229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15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MAHARASHTRA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1861370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1813613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effectLst/>
                          <a:latin typeface="Arial Narrow" panose="020B0606020202030204" pitchFamily="34" charset="0"/>
                        </a:rPr>
                        <a:t>-47757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Arial Narrow" panose="020B0606020202030204" pitchFamily="34" charset="0"/>
                        </a:rPr>
                        <a:t>To be met from Farm Saved Seeds, NSC and Private Companies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786091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60339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4059340987"/>
              </p:ext>
            </p:extLst>
          </p:nvPr>
        </p:nvGraphicFramePr>
        <p:xfrm>
          <a:off x="548641" y="563871"/>
          <a:ext cx="11262358" cy="5437573"/>
        </p:xfrm>
        <a:graphic>
          <a:graphicData uri="http://schemas.openxmlformats.org/drawingml/2006/table">
            <a:tbl>
              <a:tblPr/>
              <a:tblGrid>
                <a:gridCol w="651716">
                  <a:extLst>
                    <a:ext uri="{9D8B030D-6E8A-4147-A177-3AD203B41FA5}">
                      <a16:colId xmlns="" xmlns:a16="http://schemas.microsoft.com/office/drawing/2014/main" val="3878879049"/>
                    </a:ext>
                  </a:extLst>
                </a:gridCol>
                <a:gridCol w="2594093">
                  <a:extLst>
                    <a:ext uri="{9D8B030D-6E8A-4147-A177-3AD203B41FA5}">
                      <a16:colId xmlns="" xmlns:a16="http://schemas.microsoft.com/office/drawing/2014/main" val="2510818410"/>
                    </a:ext>
                  </a:extLst>
                </a:gridCol>
                <a:gridCol w="1622905">
                  <a:extLst>
                    <a:ext uri="{9D8B030D-6E8A-4147-A177-3AD203B41FA5}">
                      <a16:colId xmlns="" xmlns:a16="http://schemas.microsoft.com/office/drawing/2014/main" val="3947166511"/>
                    </a:ext>
                  </a:extLst>
                </a:gridCol>
                <a:gridCol w="1942373">
                  <a:extLst>
                    <a:ext uri="{9D8B030D-6E8A-4147-A177-3AD203B41FA5}">
                      <a16:colId xmlns="" xmlns:a16="http://schemas.microsoft.com/office/drawing/2014/main" val="3293888323"/>
                    </a:ext>
                  </a:extLst>
                </a:gridCol>
                <a:gridCol w="1929595">
                  <a:extLst>
                    <a:ext uri="{9D8B030D-6E8A-4147-A177-3AD203B41FA5}">
                      <a16:colId xmlns="" xmlns:a16="http://schemas.microsoft.com/office/drawing/2014/main" val="3182342836"/>
                    </a:ext>
                  </a:extLst>
                </a:gridCol>
                <a:gridCol w="2521676">
                  <a:extLst>
                    <a:ext uri="{9D8B030D-6E8A-4147-A177-3AD203B41FA5}">
                      <a16:colId xmlns="" xmlns:a16="http://schemas.microsoft.com/office/drawing/2014/main" val="4272374363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effectLst/>
                          <a:latin typeface="Arial Narrow" panose="020B0606020202030204" pitchFamily="34" charset="0"/>
                        </a:rPr>
                        <a:t>ALL INDIA POSITION OF  REQUIREMENT AND AVAILABILITY OF CERTIFIED/QUALITY SEEDS FOR KHARIF 2022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010626230"/>
                  </a:ext>
                </a:extLst>
              </a:tr>
              <a:tr h="0">
                <a:tc gridSpan="6"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 dirty="0">
                          <a:effectLst/>
                          <a:latin typeface="Arial Narrow" panose="020B0606020202030204" pitchFamily="34" charset="0"/>
                        </a:rPr>
                        <a:t>QUANTITY IN QUINTALS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796633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 smtClean="0">
                          <a:effectLst/>
                          <a:latin typeface="Arial Narrow" panose="020B0606020202030204" pitchFamily="34" charset="0"/>
                        </a:rPr>
                        <a:t>S. No.</a:t>
                      </a:r>
                      <a:endParaRPr lang="en-US" sz="1800" b="1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effectLst/>
                          <a:latin typeface="Arial Narrow" panose="020B0606020202030204" pitchFamily="34" charset="0"/>
                        </a:rPr>
                        <a:t>State/UT Name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effectLst/>
                          <a:latin typeface="Arial Narrow" panose="020B0606020202030204" pitchFamily="34" charset="0"/>
                        </a:rPr>
                        <a:t>Requirement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effectLst/>
                          <a:latin typeface="Arial Narrow" panose="020B0606020202030204" pitchFamily="34" charset="0"/>
                        </a:rPr>
                        <a:t>Availability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effectLst/>
                          <a:latin typeface="Arial Narrow" panose="020B0606020202030204" pitchFamily="34" charset="0"/>
                        </a:rPr>
                        <a:t>Deficit/Surplus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effectLst/>
                          <a:latin typeface="Arial Narrow" panose="020B0606020202030204" pitchFamily="34" charset="0"/>
                        </a:rPr>
                        <a:t>Remarks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23958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16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MANIPUR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10316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10316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623868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17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MEGHALAYA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163694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163694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21030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MIZORAM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4060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4060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981408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19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NAGALAND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9903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effectLst/>
                          <a:latin typeface="Arial Narrow" panose="020B0606020202030204" pitchFamily="34" charset="0"/>
                        </a:rPr>
                        <a:t>-9903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07889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20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ODISHA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470311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524253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53942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206565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21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PUDUCHERRY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1390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1425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35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99815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22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PUNJAB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73017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96191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23173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32388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23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RAJASTHAN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900000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965248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65248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967792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24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SIKKIM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1205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509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 dirty="0">
                          <a:effectLst/>
                          <a:latin typeface="Arial Narrow" panose="020B0606020202030204" pitchFamily="34" charset="0"/>
                        </a:rPr>
                        <a:t>-696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effectLst/>
                          <a:latin typeface="Arial Narrow" panose="020B0606020202030204" pitchFamily="34" charset="0"/>
                        </a:rPr>
                        <a:t>To be met from Farm Saved Seeds, NSC and Private Companies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323004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25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TAMILNADU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157278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157374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97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760444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26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TELANAGANA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1814555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2077670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263115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94505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27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TRIPURA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29852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31852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2000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981659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28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UTTAR PRADESH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1142313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1160601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18288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716761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29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UTTARAKHAND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30516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31716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1200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393243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30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WEST BENGAL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814615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1028656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214041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3175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effectLst/>
                          <a:latin typeface="Arial Narrow" panose="020B0606020202030204" pitchFamily="34" charset="0"/>
                        </a:rPr>
                        <a:t>GRAND TOTAL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effectLst/>
                          <a:latin typeface="Arial Narrow" panose="020B0606020202030204" pitchFamily="34" charset="0"/>
                        </a:rPr>
                        <a:t>16045113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effectLst/>
                          <a:latin typeface="Arial Narrow" panose="020B0606020202030204" pitchFamily="34" charset="0"/>
                        </a:rPr>
                        <a:t>17797132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effectLst/>
                          <a:latin typeface="Arial Narrow" panose="020B0606020202030204" pitchFamily="34" charset="0"/>
                        </a:rPr>
                        <a:t>1752019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847" marR="3847" marT="38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330537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899285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857725250"/>
              </p:ext>
            </p:extLst>
          </p:nvPr>
        </p:nvGraphicFramePr>
        <p:xfrm>
          <a:off x="442686" y="657317"/>
          <a:ext cx="11525250" cy="5589270"/>
        </p:xfrm>
        <a:graphic>
          <a:graphicData uri="http://schemas.openxmlformats.org/drawingml/2006/table">
            <a:tbl>
              <a:tblPr/>
              <a:tblGrid>
                <a:gridCol w="912360">
                  <a:extLst>
                    <a:ext uri="{9D8B030D-6E8A-4147-A177-3AD203B41FA5}">
                      <a16:colId xmlns="" xmlns:a16="http://schemas.microsoft.com/office/drawing/2014/main" val="1903509302"/>
                    </a:ext>
                  </a:extLst>
                </a:gridCol>
                <a:gridCol w="2804164">
                  <a:extLst>
                    <a:ext uri="{9D8B030D-6E8A-4147-A177-3AD203B41FA5}">
                      <a16:colId xmlns="" xmlns:a16="http://schemas.microsoft.com/office/drawing/2014/main" val="3343123226"/>
                    </a:ext>
                  </a:extLst>
                </a:gridCol>
                <a:gridCol w="1703965">
                  <a:extLst>
                    <a:ext uri="{9D8B030D-6E8A-4147-A177-3AD203B41FA5}">
                      <a16:colId xmlns="" xmlns:a16="http://schemas.microsoft.com/office/drawing/2014/main" val="2252594389"/>
                    </a:ext>
                  </a:extLst>
                </a:gridCol>
                <a:gridCol w="1905222">
                  <a:extLst>
                    <a:ext uri="{9D8B030D-6E8A-4147-A177-3AD203B41FA5}">
                      <a16:colId xmlns="" xmlns:a16="http://schemas.microsoft.com/office/drawing/2014/main" val="1294416895"/>
                    </a:ext>
                  </a:extLst>
                </a:gridCol>
                <a:gridCol w="1878389">
                  <a:extLst>
                    <a:ext uri="{9D8B030D-6E8A-4147-A177-3AD203B41FA5}">
                      <a16:colId xmlns="" xmlns:a16="http://schemas.microsoft.com/office/drawing/2014/main" val="822576170"/>
                    </a:ext>
                  </a:extLst>
                </a:gridCol>
                <a:gridCol w="2321150">
                  <a:extLst>
                    <a:ext uri="{9D8B030D-6E8A-4147-A177-3AD203B41FA5}">
                      <a16:colId xmlns="" xmlns:a16="http://schemas.microsoft.com/office/drawing/2014/main" val="1391431735"/>
                    </a:ext>
                  </a:extLst>
                </a:gridCol>
              </a:tblGrid>
              <a:tr h="372618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ALL INDIA POSITION OF  REQUIREMENT AND AVAILABILITY OF CERTIFIED/QUALITY SEEDS FOR KHARIF 2022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77538477"/>
                  </a:ext>
                </a:extLst>
              </a:tr>
              <a:tr h="372618">
                <a:tc gridSpan="6"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QUANTITY IN QUINTALS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86933975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S. No.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CROP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Requirement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Availability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Surplus/Deficit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Remarks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99312813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PADDY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7593848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8964858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1371010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121533467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BAJRA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251191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281692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30501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597695332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JOWAR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113437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131060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17623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90573254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MAIZE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1241377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1320215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78838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34872037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RAGI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47848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64070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16222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544476427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6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ITALIAN MILLET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2842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2973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130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90024592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7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LITTLE MILLET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634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660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26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445366365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8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KODO MILLET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3797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4175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378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72298890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9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COMMON MILLET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46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45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-1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580480290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10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BANYARD MILLET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384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1355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971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548232913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11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GRAIN AMARANTHUS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58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211037155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CEREALS TOTAL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9255445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10771161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1515716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844833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268354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161564983"/>
              </p:ext>
            </p:extLst>
          </p:nvPr>
        </p:nvGraphicFramePr>
        <p:xfrm>
          <a:off x="417285" y="629197"/>
          <a:ext cx="11469916" cy="5582925"/>
        </p:xfrm>
        <a:graphic>
          <a:graphicData uri="http://schemas.openxmlformats.org/drawingml/2006/table">
            <a:tbl>
              <a:tblPr/>
              <a:tblGrid>
                <a:gridCol w="907980">
                  <a:extLst>
                    <a:ext uri="{9D8B030D-6E8A-4147-A177-3AD203B41FA5}">
                      <a16:colId xmlns="" xmlns:a16="http://schemas.microsoft.com/office/drawing/2014/main" val="1903509302"/>
                    </a:ext>
                  </a:extLst>
                </a:gridCol>
                <a:gridCol w="2790701">
                  <a:extLst>
                    <a:ext uri="{9D8B030D-6E8A-4147-A177-3AD203B41FA5}">
                      <a16:colId xmlns="" xmlns:a16="http://schemas.microsoft.com/office/drawing/2014/main" val="3343123226"/>
                    </a:ext>
                  </a:extLst>
                </a:gridCol>
                <a:gridCol w="1695784">
                  <a:extLst>
                    <a:ext uri="{9D8B030D-6E8A-4147-A177-3AD203B41FA5}">
                      <a16:colId xmlns="" xmlns:a16="http://schemas.microsoft.com/office/drawing/2014/main" val="2252594389"/>
                    </a:ext>
                  </a:extLst>
                </a:gridCol>
                <a:gridCol w="1896075">
                  <a:extLst>
                    <a:ext uri="{9D8B030D-6E8A-4147-A177-3AD203B41FA5}">
                      <a16:colId xmlns="" xmlns:a16="http://schemas.microsoft.com/office/drawing/2014/main" val="1294416895"/>
                    </a:ext>
                  </a:extLst>
                </a:gridCol>
                <a:gridCol w="1869370">
                  <a:extLst>
                    <a:ext uri="{9D8B030D-6E8A-4147-A177-3AD203B41FA5}">
                      <a16:colId xmlns="" xmlns:a16="http://schemas.microsoft.com/office/drawing/2014/main" val="822576170"/>
                    </a:ext>
                  </a:extLst>
                </a:gridCol>
                <a:gridCol w="2310006">
                  <a:extLst>
                    <a:ext uri="{9D8B030D-6E8A-4147-A177-3AD203B41FA5}">
                      <a16:colId xmlns="" xmlns:a16="http://schemas.microsoft.com/office/drawing/2014/main" val="1391431735"/>
                    </a:ext>
                  </a:extLst>
                </a:gridCol>
              </a:tblGrid>
              <a:tr h="372195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ALL INDIA POSITION OF  REQUIREMENT AND AVAILABILITY OF CERTIFIED/QUALITY SEEDS FOR KHARIF 2022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77538477"/>
                  </a:ext>
                </a:extLst>
              </a:tr>
              <a:tr h="372195">
                <a:tc gridSpan="6"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QUANTITY IN QUINTALS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86933975"/>
                  </a:ext>
                </a:extLst>
              </a:tr>
              <a:tr h="3721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S. No.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CROP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Requirement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Availability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Surplus/Deficit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Remarks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99312813"/>
                  </a:ext>
                </a:extLst>
              </a:tr>
              <a:tr h="3721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12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ARHAR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281180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307224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26043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20166292"/>
                  </a:ext>
                </a:extLst>
              </a:tr>
              <a:tr h="3721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13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BLACK GRAM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207953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230363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22411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009149328"/>
                  </a:ext>
                </a:extLst>
              </a:tr>
              <a:tr h="3721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14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GREEN GRAM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194269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216310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22041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2776230"/>
                  </a:ext>
                </a:extLst>
              </a:tr>
              <a:tr h="3721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15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MOTH BEAN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25000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28668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3668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867114690"/>
                  </a:ext>
                </a:extLst>
              </a:tr>
              <a:tr h="3721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16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HORSE GRAM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3706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4151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445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710024697"/>
                  </a:ext>
                </a:extLst>
              </a:tr>
              <a:tr h="3721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17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COWPEA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27111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29044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1933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010520986"/>
                  </a:ext>
                </a:extLst>
              </a:tr>
              <a:tr h="3721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RAJMASH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4815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4815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119120314"/>
                  </a:ext>
                </a:extLst>
              </a:tr>
              <a:tr h="3721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19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GUAR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78000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87365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9365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312603264"/>
                  </a:ext>
                </a:extLst>
              </a:tr>
              <a:tr h="3721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20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PEAS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759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759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93292477"/>
                  </a:ext>
                </a:extLst>
              </a:tr>
              <a:tr h="3721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21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RICE BEAN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311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311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375765876"/>
                  </a:ext>
                </a:extLst>
              </a:tr>
              <a:tr h="3721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22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INDIAN BEAN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6553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6811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258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845678536"/>
                  </a:ext>
                </a:extLst>
              </a:tr>
              <a:tr h="3721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PULSES TOTAL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829657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915821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86165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192215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336129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156413995"/>
              </p:ext>
            </p:extLst>
          </p:nvPr>
        </p:nvGraphicFramePr>
        <p:xfrm>
          <a:off x="533400" y="411482"/>
          <a:ext cx="11490960" cy="5269878"/>
        </p:xfrm>
        <a:graphic>
          <a:graphicData uri="http://schemas.openxmlformats.org/drawingml/2006/table">
            <a:tbl>
              <a:tblPr/>
              <a:tblGrid>
                <a:gridCol w="909646">
                  <a:extLst>
                    <a:ext uri="{9D8B030D-6E8A-4147-A177-3AD203B41FA5}">
                      <a16:colId xmlns="" xmlns:a16="http://schemas.microsoft.com/office/drawing/2014/main" val="1903509302"/>
                    </a:ext>
                  </a:extLst>
                </a:gridCol>
                <a:gridCol w="2795821">
                  <a:extLst>
                    <a:ext uri="{9D8B030D-6E8A-4147-A177-3AD203B41FA5}">
                      <a16:colId xmlns="" xmlns:a16="http://schemas.microsoft.com/office/drawing/2014/main" val="3343123226"/>
                    </a:ext>
                  </a:extLst>
                </a:gridCol>
                <a:gridCol w="1698895">
                  <a:extLst>
                    <a:ext uri="{9D8B030D-6E8A-4147-A177-3AD203B41FA5}">
                      <a16:colId xmlns="" xmlns:a16="http://schemas.microsoft.com/office/drawing/2014/main" val="2252594389"/>
                    </a:ext>
                  </a:extLst>
                </a:gridCol>
                <a:gridCol w="1899554">
                  <a:extLst>
                    <a:ext uri="{9D8B030D-6E8A-4147-A177-3AD203B41FA5}">
                      <a16:colId xmlns="" xmlns:a16="http://schemas.microsoft.com/office/drawing/2014/main" val="1294416895"/>
                    </a:ext>
                  </a:extLst>
                </a:gridCol>
                <a:gridCol w="1872800">
                  <a:extLst>
                    <a:ext uri="{9D8B030D-6E8A-4147-A177-3AD203B41FA5}">
                      <a16:colId xmlns="" xmlns:a16="http://schemas.microsoft.com/office/drawing/2014/main" val="822576170"/>
                    </a:ext>
                  </a:extLst>
                </a:gridCol>
                <a:gridCol w="2314244">
                  <a:extLst>
                    <a:ext uri="{9D8B030D-6E8A-4147-A177-3AD203B41FA5}">
                      <a16:colId xmlns="" xmlns:a16="http://schemas.microsoft.com/office/drawing/2014/main" val="1391431735"/>
                    </a:ext>
                  </a:extLst>
                </a:gridCol>
              </a:tblGrid>
              <a:tr h="143185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ALL INDIA POSITION OF  REQUIREMENT AND AVAILABILITY OF CERTIFIED/QUALITY SEEDS FOR KHARIF 2022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77538477"/>
                  </a:ext>
                </a:extLst>
              </a:tr>
              <a:tr h="143185">
                <a:tc gridSpan="6"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QUANTITY IN QUINTALS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86933975"/>
                  </a:ext>
                </a:extLst>
              </a:tr>
              <a:tr h="1431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S. No.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CROP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Requirement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Availability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Surplus/Deficit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Remarks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99312813"/>
                  </a:ext>
                </a:extLst>
              </a:tr>
              <a:tr h="1431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23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GROUNDNUT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2197981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2261598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63617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703047079"/>
                  </a:ext>
                </a:extLst>
              </a:tr>
              <a:tr h="1431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24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SOYBEAN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3237964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3291947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53983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746714951"/>
                  </a:ext>
                </a:extLst>
              </a:tr>
              <a:tr h="1431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25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SESAME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20122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22550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2428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97351681"/>
                  </a:ext>
                </a:extLst>
              </a:tr>
              <a:tr h="1431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26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LINSEED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1230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1300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273497487"/>
                  </a:ext>
                </a:extLst>
              </a:tr>
              <a:tr h="1431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27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NIGER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3248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3282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34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99455213"/>
                  </a:ext>
                </a:extLst>
              </a:tr>
              <a:tr h="1431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28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CASTOR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50690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55087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4397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781155372"/>
                  </a:ext>
                </a:extLst>
              </a:tr>
              <a:tr h="1431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29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RAYA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85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15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18849774"/>
                  </a:ext>
                </a:extLst>
              </a:tr>
              <a:tr h="1431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OILSEEDS TOTAL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5511320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5635864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124544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988623125"/>
                  </a:ext>
                </a:extLst>
              </a:tr>
              <a:tr h="1431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30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SORGHUM (FODDER)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30000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30000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236168230"/>
                  </a:ext>
                </a:extLst>
              </a:tr>
              <a:tr h="1431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31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GUINEA GRASS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114542008"/>
                  </a:ext>
                </a:extLst>
              </a:tr>
              <a:tr h="1431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32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COTTON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217495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237776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20281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370010955"/>
                  </a:ext>
                </a:extLst>
              </a:tr>
              <a:tr h="1431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33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SUNNHEMP  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28579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34062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5483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628796969"/>
                  </a:ext>
                </a:extLst>
              </a:tr>
              <a:tr h="1431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34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JUTE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</a:rPr>
                        <a:t>29573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</a:rPr>
                        <a:t>29404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</a:rPr>
                        <a:t>-169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23165015"/>
                  </a:ext>
                </a:extLst>
              </a:tr>
              <a:tr h="1431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35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POTATO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143043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143043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854339826"/>
                  </a:ext>
                </a:extLst>
              </a:tr>
              <a:tr h="1431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OTHER TOTAL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448691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474286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25594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014868283"/>
                  </a:ext>
                </a:extLst>
              </a:tr>
              <a:tr h="1431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GRAND TOTAL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16045113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17797132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1752019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3042" marR="3042" marT="30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089294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31055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685" y="130628"/>
            <a:ext cx="10515600" cy="1325563"/>
          </a:xfrm>
        </p:spPr>
        <p:txBody>
          <a:bodyPr/>
          <a:lstStyle/>
          <a:p>
            <a:pPr algn="ctr"/>
            <a:r>
              <a:rPr lang="en-US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Issues on Seed Availability</a:t>
            </a:r>
            <a:endParaRPr lang="en-US" b="1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263" y="1622424"/>
            <a:ext cx="11308443" cy="3776890"/>
          </a:xfrm>
        </p:spPr>
        <p:txBody>
          <a:bodyPr>
            <a:normAutofit lnSpcReduction="10000"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 smtClean="0"/>
              <a:t>Most of the NE sates do not have their own seed production agency. They may come forward for doing long term </a:t>
            </a:r>
            <a:r>
              <a:rPr lang="en-US" sz="2800" dirty="0" err="1" smtClean="0"/>
              <a:t>MoU</a:t>
            </a:r>
            <a:r>
              <a:rPr lang="en-US" sz="2800" dirty="0" smtClean="0"/>
              <a:t> with NSC or other National Level Seed Producing agencies for supplying seed production for their State at least one year in advance.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 smtClean="0"/>
              <a:t>Indent of newly released varieties should come to DA&amp;FW as soon released and notified from States for which they are suitable.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 smtClean="0"/>
              <a:t>States like MP, Rajasthan, Telangana, Andhra Pradesh, , Himachal Pradesh, Uttarakhand, Assam shall ensure that indented seed should be 100% lifted.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882511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086" y="151718"/>
            <a:ext cx="10515600" cy="1325563"/>
          </a:xfrm>
        </p:spPr>
        <p:txBody>
          <a:bodyPr/>
          <a:lstStyle/>
          <a:p>
            <a:pPr algn="ctr"/>
            <a:r>
              <a:rPr lang="en-US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Issues on Seed Availability</a:t>
            </a:r>
            <a:endParaRPr lang="en-US" b="1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472" y="1694996"/>
            <a:ext cx="11586028" cy="409620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 smtClean="0"/>
              <a:t>All states shall give district-wise seed requirement and availability on seednet.gov.in portal.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 smtClean="0"/>
              <a:t>The information w.r.t. Zonal Seed Review Meetings, Breeder Seed Indent and Lifting, Seed Rolling Plan should be filled up on MIS available on seednet.gov.in portal on timely basis.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 smtClean="0"/>
              <a:t>Focus on increase in share of seed availability from Government Organization shall be given.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 smtClean="0"/>
              <a:t>States should do robust seed Planning with the mechanism of Seed Rolling Plan in advance to ensure availability of Seed to farmers on timely basis.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22576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133600" y="310923"/>
            <a:ext cx="7848600" cy="868362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3200" b="1" u="sng" spc="50" dirty="0">
                <a:ln w="1143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DNA Finger Printing Facility</a:t>
            </a:r>
            <a:endParaRPr lang="en-IN" sz="3200" b="1" u="sng" spc="50" dirty="0">
              <a:ln w="11430"/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49944" y="1370693"/>
            <a:ext cx="10903856" cy="488768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+mj-lt"/>
              <a:buAutoNum type="arabicPeriod"/>
            </a:pPr>
            <a:r>
              <a:rPr lang="en-IN" sz="2000" dirty="0" smtClean="0">
                <a:cs typeface="Arial" pitchFamily="34" charset="0"/>
              </a:rPr>
              <a:t>Grow </a:t>
            </a:r>
            <a:r>
              <a:rPr lang="en-IN" sz="2000" dirty="0">
                <a:cs typeface="Arial" pitchFamily="34" charset="0"/>
              </a:rPr>
              <a:t>Out Test (GOT) conventional and time taking method for testing of genetic purity of Seeds.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 smtClean="0">
                <a:cs typeface="Arial" pitchFamily="34" charset="0"/>
              </a:rPr>
              <a:t>DNA </a:t>
            </a:r>
            <a:r>
              <a:rPr lang="en-IN" sz="2000" dirty="0">
                <a:cs typeface="Arial" pitchFamily="34" charset="0"/>
              </a:rPr>
              <a:t>finger printing is advance, accurate and rapid method for testing of genetic purity of Seeds &amp; Planting Material.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 smtClean="0">
                <a:cs typeface="Arial" pitchFamily="34" charset="0"/>
              </a:rPr>
              <a:t>DNA </a:t>
            </a:r>
            <a:r>
              <a:rPr lang="en-IN" sz="2000" dirty="0">
                <a:cs typeface="Arial" pitchFamily="34" charset="0"/>
              </a:rPr>
              <a:t>finger printing for all the released varieties/ parental line of hybrids is necessary to minimize the cases of </a:t>
            </a:r>
            <a:r>
              <a:rPr lang="en-IN" sz="2000" dirty="0" err="1">
                <a:cs typeface="Arial" pitchFamily="34" charset="0"/>
              </a:rPr>
              <a:t>mis</a:t>
            </a:r>
            <a:r>
              <a:rPr lang="en-IN" sz="2000" dirty="0">
                <a:cs typeface="Arial" pitchFamily="34" charset="0"/>
              </a:rPr>
              <a:t>-branding of Seeds, germplasm etc. to strengthen quality control regime in the Country.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 smtClean="0">
                <a:cs typeface="Arial" pitchFamily="34" charset="0"/>
              </a:rPr>
              <a:t>At </a:t>
            </a:r>
            <a:r>
              <a:rPr lang="en-US" sz="2000" dirty="0">
                <a:cs typeface="Arial" pitchFamily="34" charset="0"/>
              </a:rPr>
              <a:t>present assistance </a:t>
            </a:r>
            <a:r>
              <a:rPr lang="en-IN" sz="2000" dirty="0">
                <a:cs typeface="Arial" pitchFamily="34" charset="0"/>
              </a:rPr>
              <a:t>@ Rs.70 lakh each available purchase of </a:t>
            </a:r>
            <a:r>
              <a:rPr lang="en-IN" sz="2000" dirty="0" smtClean="0">
                <a:cs typeface="Arial" pitchFamily="34" charset="0"/>
              </a:rPr>
              <a:t>equipment </a:t>
            </a:r>
            <a:r>
              <a:rPr lang="en-IN" sz="2000" dirty="0">
                <a:cs typeface="Arial" pitchFamily="34" charset="0"/>
              </a:rPr>
              <a:t>for DNA Lab under SMSP.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cs typeface="Arial" pitchFamily="34" charset="0"/>
              </a:rPr>
              <a:t> </a:t>
            </a:r>
            <a:r>
              <a:rPr lang="en-IN" sz="2000" dirty="0" smtClean="0">
                <a:cs typeface="Arial" pitchFamily="34" charset="0"/>
              </a:rPr>
              <a:t>It </a:t>
            </a:r>
            <a:r>
              <a:rPr lang="en-IN" sz="2000" dirty="0">
                <a:cs typeface="Arial" pitchFamily="34" charset="0"/>
              </a:rPr>
              <a:t>is proposed to establish DNA Finger Printing Labs. at State level to ensure quality seeds across the country.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 smtClean="0">
                <a:cs typeface="Arial" pitchFamily="34" charset="0"/>
              </a:rPr>
              <a:t>Assistance </a:t>
            </a:r>
            <a:r>
              <a:rPr lang="en-IN" sz="2000" dirty="0">
                <a:cs typeface="Arial" pitchFamily="34" charset="0"/>
              </a:rPr>
              <a:t>@Rs.120 lakh for </a:t>
            </a:r>
            <a:r>
              <a:rPr lang="en-IN" sz="2000" dirty="0" smtClean="0">
                <a:cs typeface="Arial" pitchFamily="34" charset="0"/>
              </a:rPr>
              <a:t>equipment, </a:t>
            </a:r>
            <a:r>
              <a:rPr lang="en-IN" sz="2000" dirty="0">
                <a:cs typeface="Arial" pitchFamily="34" charset="0"/>
              </a:rPr>
              <a:t>Rs. 75 lakh for building and Rs.25 lakh for contractual staff is proposed in EFC of SMSP for each DNA labs.</a:t>
            </a:r>
          </a:p>
          <a:p>
            <a:pPr>
              <a:buFont typeface="Arial" pitchFamily="34" charset="0"/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658790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905000" y="152400"/>
            <a:ext cx="8382000" cy="1143001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u="sng" spc="50" dirty="0" smtClean="0">
                <a:ln w="1143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Traceability </a:t>
            </a:r>
            <a:r>
              <a:rPr lang="en-US" sz="3200" b="1" u="sng" spc="50" dirty="0">
                <a:ln w="1143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of Seeds</a:t>
            </a:r>
            <a:endParaRPr lang="en-IN" sz="3200" b="1" u="sng" spc="50" dirty="0">
              <a:ln w="11430"/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0571" y="1571173"/>
            <a:ext cx="1094377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 algn="just">
              <a:buSzPct val="110000"/>
              <a:buFont typeface="Arial" pitchFamily="34" charset="0"/>
              <a:buChar char="•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Ministry of Agriculture &amp; Farmers’ Welfare proposed compulsory Bar-Code using Global Standards on the Seed packets/labels. </a:t>
            </a:r>
          </a:p>
          <a:p>
            <a:pPr marL="355600" indent="-355600" algn="just">
              <a:buClr>
                <a:srgbClr val="C00000"/>
              </a:buClr>
              <a:buSzPct val="110000"/>
              <a:buFont typeface="Arial" pitchFamily="34" charset="0"/>
              <a:buChar char="•"/>
              <a:defRPr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55600" indent="-355600" algn="just">
              <a:buSzPct val="110000"/>
              <a:buFont typeface="Arial" pitchFamily="34" charset="0"/>
              <a:buChar char="•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The Bar-Code will have nine points information in respect of various seed certification standards/quality parameters and linked to the central repository to provide following information in digitized form.</a:t>
            </a:r>
            <a:endParaRPr lang="en-US" sz="2400" b="1" dirty="0">
              <a:latin typeface="Cambria" pitchFamily="18" charset="0"/>
            </a:endParaRPr>
          </a:p>
          <a:p>
            <a:pPr algn="just">
              <a:buClr>
                <a:srgbClr val="C00000"/>
              </a:buClr>
              <a:buSzPct val="110000"/>
              <a:defRPr/>
            </a:pPr>
            <a:endParaRPr lang="en-IN" sz="2400" dirty="0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870783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64476" y="273050"/>
            <a:ext cx="8705405" cy="1066800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3200" b="1" u="sng" spc="50" dirty="0">
                <a:ln w="1143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Digitized Information in BAR Code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838200" y="1180193"/>
            <a:ext cx="10700657" cy="4679950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marL="628650" indent="-628650" algn="just">
              <a:lnSpc>
                <a:spcPct val="114000"/>
              </a:lnSpc>
              <a:buFont typeface="+mj-lt"/>
              <a:buAutoNum type="romanLcPeriod"/>
              <a:tabLst>
                <a:tab pos="8342313" algn="l"/>
              </a:tabLst>
              <a:defRPr/>
            </a:pPr>
            <a:r>
              <a:rPr lang="en-US" sz="2400" b="1" dirty="0">
                <a:cs typeface="Arial" pitchFamily="34" charset="0"/>
              </a:rPr>
              <a:t>Source details Nucleus –Breeder- Foundation seed </a:t>
            </a:r>
          </a:p>
          <a:p>
            <a:pPr marL="628650" indent="-628650" algn="just">
              <a:lnSpc>
                <a:spcPct val="114000"/>
              </a:lnSpc>
              <a:buFont typeface="+mj-lt"/>
              <a:buAutoNum type="romanLcPeriod"/>
              <a:tabLst>
                <a:tab pos="8342313" algn="l"/>
              </a:tabLst>
              <a:defRPr/>
            </a:pPr>
            <a:r>
              <a:rPr lang="en-US" sz="2400" b="1" dirty="0">
                <a:cs typeface="Arial" pitchFamily="34" charset="0"/>
              </a:rPr>
              <a:t>Grower’s detail</a:t>
            </a:r>
            <a:endParaRPr lang="en-IN" sz="2400" dirty="0">
              <a:cs typeface="Arial" pitchFamily="34" charset="0"/>
            </a:endParaRPr>
          </a:p>
          <a:p>
            <a:pPr marL="628650" indent="-628650" algn="just">
              <a:lnSpc>
                <a:spcPct val="114000"/>
              </a:lnSpc>
              <a:buFont typeface="+mj-lt"/>
              <a:buAutoNum type="romanLcPeriod"/>
              <a:tabLst>
                <a:tab pos="8342313" algn="l"/>
              </a:tabLst>
              <a:defRPr/>
            </a:pPr>
            <a:r>
              <a:rPr lang="en-US" sz="2400" b="1" dirty="0">
                <a:cs typeface="Arial" pitchFamily="34" charset="0"/>
              </a:rPr>
              <a:t>Month-year-code </a:t>
            </a:r>
            <a:endParaRPr lang="en-IN" sz="2400" dirty="0">
              <a:cs typeface="Arial" pitchFamily="34" charset="0"/>
            </a:endParaRPr>
          </a:p>
          <a:p>
            <a:pPr marL="628650" indent="-628650" algn="just">
              <a:lnSpc>
                <a:spcPct val="114000"/>
              </a:lnSpc>
              <a:buFont typeface="+mj-lt"/>
              <a:buAutoNum type="romanLcPeriod"/>
              <a:tabLst>
                <a:tab pos="8342313" algn="l"/>
              </a:tabLst>
              <a:defRPr/>
            </a:pPr>
            <a:r>
              <a:rPr lang="en-US" sz="2400" b="1" dirty="0">
                <a:cs typeface="Arial" pitchFamily="34" charset="0"/>
              </a:rPr>
              <a:t>Production location code</a:t>
            </a:r>
            <a:endParaRPr lang="en-IN" sz="2400" dirty="0">
              <a:cs typeface="Arial" pitchFamily="34" charset="0"/>
            </a:endParaRPr>
          </a:p>
          <a:p>
            <a:pPr marL="628650" indent="-628650" algn="just">
              <a:lnSpc>
                <a:spcPct val="114000"/>
              </a:lnSpc>
              <a:buFont typeface="+mj-lt"/>
              <a:buAutoNum type="romanLcPeriod"/>
              <a:tabLst>
                <a:tab pos="8342313" algn="l"/>
              </a:tabLst>
              <a:defRPr/>
            </a:pPr>
            <a:r>
              <a:rPr lang="en-US" sz="2400" b="1" dirty="0">
                <a:cs typeface="Arial" pitchFamily="34" charset="0"/>
              </a:rPr>
              <a:t>Seed Testing Laboratory Detail</a:t>
            </a:r>
            <a:endParaRPr lang="en-IN" sz="2400" dirty="0">
              <a:cs typeface="Arial" pitchFamily="34" charset="0"/>
            </a:endParaRPr>
          </a:p>
          <a:p>
            <a:pPr marL="628650" indent="-628650" algn="just">
              <a:lnSpc>
                <a:spcPct val="114000"/>
              </a:lnSpc>
              <a:buFont typeface="+mj-lt"/>
              <a:buAutoNum type="romanLcPeriod"/>
              <a:tabLst>
                <a:tab pos="8342313" algn="l"/>
              </a:tabLst>
              <a:defRPr/>
            </a:pPr>
            <a:r>
              <a:rPr lang="en-US" sz="2400" b="1" dirty="0">
                <a:cs typeface="Arial" pitchFamily="34" charset="0"/>
              </a:rPr>
              <a:t>Processing Plant Code </a:t>
            </a:r>
            <a:endParaRPr lang="en-IN" sz="2400" dirty="0">
              <a:cs typeface="Arial" pitchFamily="34" charset="0"/>
            </a:endParaRPr>
          </a:p>
          <a:p>
            <a:pPr marL="628650" indent="-628650" algn="just">
              <a:lnSpc>
                <a:spcPct val="114000"/>
              </a:lnSpc>
              <a:buFont typeface="+mj-lt"/>
              <a:buAutoNum type="romanLcPeriod"/>
              <a:tabLst>
                <a:tab pos="8342313" algn="l"/>
              </a:tabLst>
              <a:defRPr/>
            </a:pPr>
            <a:r>
              <a:rPr lang="en-US" sz="2400" b="1" dirty="0">
                <a:cs typeface="Arial" pitchFamily="34" charset="0"/>
              </a:rPr>
              <a:t>Seed Produce Code</a:t>
            </a:r>
            <a:endParaRPr lang="en-IN" sz="2400" dirty="0">
              <a:cs typeface="Arial" pitchFamily="34" charset="0"/>
            </a:endParaRPr>
          </a:p>
          <a:p>
            <a:pPr marL="628650" indent="-628650" algn="just">
              <a:lnSpc>
                <a:spcPct val="114000"/>
              </a:lnSpc>
              <a:buFont typeface="+mj-lt"/>
              <a:buAutoNum type="romanLcPeriod"/>
              <a:defRPr/>
            </a:pPr>
            <a:r>
              <a:rPr lang="en-US" sz="2400" b="1" dirty="0">
                <a:cs typeface="Arial" pitchFamily="34" charset="0"/>
              </a:rPr>
              <a:t>Any other mandatory information as per, Environmental Protection Act, in case of GM/Bt. Cotton etc.</a:t>
            </a:r>
            <a:endParaRPr lang="en-IN" sz="2400" dirty="0">
              <a:cs typeface="Arial" pitchFamily="34" charset="0"/>
            </a:endParaRPr>
          </a:p>
          <a:p>
            <a:pPr marL="628650" indent="-628650" algn="just">
              <a:lnSpc>
                <a:spcPct val="114000"/>
              </a:lnSpc>
              <a:buFont typeface="+mj-lt"/>
              <a:buAutoNum type="romanLcPeriod"/>
              <a:defRPr/>
            </a:pPr>
            <a:r>
              <a:rPr lang="en-US" sz="2400" b="1" dirty="0">
                <a:cs typeface="Arial" pitchFamily="34" charset="0"/>
              </a:rPr>
              <a:t>Information related to seed treatments or other such information as per the Acts).</a:t>
            </a:r>
            <a:endParaRPr lang="en-IN" sz="24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571893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6"/>
          <p:cNvSpPr>
            <a:spLocks noChangeArrowheads="1"/>
          </p:cNvSpPr>
          <p:nvPr/>
        </p:nvSpPr>
        <p:spPr bwMode="auto">
          <a:xfrm>
            <a:off x="453968" y="1556657"/>
            <a:ext cx="11360264" cy="3508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A powerful new approach for enhancing productivity, resilience and quality of crops. 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600" dirty="0" smtClean="0">
                <a:latin typeface="Times New Roman" pitchFamily="18" charset="0"/>
                <a:cs typeface="Times New Roman" pitchFamily="18" charset="0"/>
              </a:rPr>
              <a:t>Only a </a:t>
            </a:r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native plant gene is altered for better phenotype. 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No introduction of foreign gene or foreign protein.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After discussion with stakeholders, RCGM submitted the draft guidelines of Genome Edited Products to GEAC for </a:t>
            </a:r>
            <a:r>
              <a:rPr lang="en-US" altLang="en-US" sz="2600" dirty="0" smtClean="0">
                <a:latin typeface="Times New Roman" pitchFamily="18" charset="0"/>
                <a:cs typeface="Times New Roman" pitchFamily="18" charset="0"/>
              </a:rPr>
              <a:t>approval.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6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technology is well accepted World wide without bio-safety study. 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3" name="TextBox 7"/>
          <p:cNvSpPr txBox="1">
            <a:spLocks noChangeArrowheads="1"/>
          </p:cNvSpPr>
          <p:nvPr/>
        </p:nvSpPr>
        <p:spPr bwMode="auto">
          <a:xfrm>
            <a:off x="1828800" y="666750"/>
            <a:ext cx="861060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GENOME EDITING</a:t>
            </a:r>
            <a:endParaRPr lang="en-IN" sz="32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45048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2" name="TextBox 8"/>
          <p:cNvSpPr txBox="1">
            <a:spLocks noChangeArrowheads="1"/>
          </p:cNvSpPr>
          <p:nvPr/>
        </p:nvSpPr>
        <p:spPr bwMode="auto">
          <a:xfrm>
            <a:off x="1738085" y="425587"/>
            <a:ext cx="86868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Genome Editing Projects in India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711199" y="1378856"/>
            <a:ext cx="11045371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Developing new varieties through genome edited technology for diseases resistance, quality improvement stress tolerant and herbicide tolerant . 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 Diseases resistance: Papaya, Tomato, Rice, </a:t>
            </a:r>
            <a:r>
              <a:rPr lang="en-US" alt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Chilli</a:t>
            </a:r>
            <a:r>
              <a:rPr lang="en-US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 Herbicide tolerance: Soybean, Gram, Rice. 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Stress tolerant: Rice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Quality improvement: Mustard, Cotton, Maze, Tobacco, Tomato, Rice and Foxtail </a:t>
            </a:r>
            <a:r>
              <a:rPr lang="en-US" altLang="en-US" sz="280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millet.</a:t>
            </a:r>
            <a:endParaRPr lang="en-US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defRPr/>
            </a:pP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altLang="en-US" sz="23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65192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953000"/>
            <a:ext cx="8229600" cy="1143000"/>
          </a:xfr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72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THANKS</a:t>
            </a:r>
          </a:p>
        </p:txBody>
      </p:sp>
      <p:pic>
        <p:nvPicPr>
          <p:cNvPr id="6" name="Content Placeholder 5" descr="namaste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733801" y="457201"/>
            <a:ext cx="4525963" cy="429736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="" xmlns:p14="http://schemas.microsoft.com/office/powerpoint/2010/main" val="18225252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52</TotalTime>
  <Words>1187</Words>
  <Application>Microsoft Office PowerPoint</Application>
  <PresentationFormat>Custom</PresentationFormat>
  <Paragraphs>564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Metropolitan</vt:lpstr>
      <vt:lpstr>SEED AVAILABILITY FOR KHARIF-2022</vt:lpstr>
      <vt:lpstr>ALL INDIA SEED REQUIREMENT &amp; AVAILABILITY</vt:lpstr>
      <vt:lpstr>Slide 3</vt:lpstr>
      <vt:lpstr>Slide 4</vt:lpstr>
      <vt:lpstr>Slide 5</vt:lpstr>
      <vt:lpstr>Slide 6</vt:lpstr>
      <vt:lpstr>Slide 7</vt:lpstr>
      <vt:lpstr>Issues on Seed Availability</vt:lpstr>
      <vt:lpstr>Issues on Seed Availability</vt:lpstr>
      <vt:lpstr>DNA Finger Printing Facility</vt:lpstr>
      <vt:lpstr>Slide 11</vt:lpstr>
      <vt:lpstr>Digitized Information in BAR Code</vt:lpstr>
      <vt:lpstr>Slide 13</vt:lpstr>
      <vt:lpstr>Slide 14</vt:lpstr>
      <vt:lpstr>THANKS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INDIA SEED REQUIREMENT &amp; AVAILABILITY</dc:title>
  <dc:creator>AC(SEEDS)</dc:creator>
  <cp:lastModifiedBy>HP</cp:lastModifiedBy>
  <cp:revision>33</cp:revision>
  <dcterms:created xsi:type="dcterms:W3CDTF">2022-04-19T04:13:01Z</dcterms:created>
  <dcterms:modified xsi:type="dcterms:W3CDTF">2022-04-25T10:09:39Z</dcterms:modified>
</cp:coreProperties>
</file>