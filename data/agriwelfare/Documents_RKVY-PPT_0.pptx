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0"/>
  </p:notesMasterIdLst>
  <p:handoutMasterIdLst>
    <p:handoutMasterId r:id="rId11"/>
  </p:handoutMasterIdLst>
  <p:sldIdLst>
    <p:sldId id="2468" r:id="rId2"/>
    <p:sldId id="2584" r:id="rId3"/>
    <p:sldId id="2594" r:id="rId4"/>
    <p:sldId id="2586" r:id="rId5"/>
    <p:sldId id="2588" r:id="rId6"/>
    <p:sldId id="2587" r:id="rId7"/>
    <p:sldId id="2596" r:id="rId8"/>
    <p:sldId id="258" r:id="rId9"/>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83"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ohit Varshney" initials="MV"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884475"/>
    <a:srgbClr val="C8AFC9"/>
    <a:srgbClr val="E7DCE8"/>
    <a:srgbClr val="B28FB3"/>
    <a:srgbClr val="9BF686"/>
    <a:srgbClr val="D181AB"/>
    <a:srgbClr val="92DAD7"/>
    <a:srgbClr val="A9A9F1"/>
    <a:srgbClr val="B0B0B0"/>
    <a:srgbClr val="F79389"/>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665" autoAdjust="0"/>
    <p:restoredTop sz="94318" autoAdjust="0"/>
  </p:normalViewPr>
  <p:slideViewPr>
    <p:cSldViewPr snapToGrid="0" showGuides="1">
      <p:cViewPr>
        <p:scale>
          <a:sx n="50" d="100"/>
          <a:sy n="50" d="100"/>
        </p:scale>
        <p:origin x="-630" y="-72"/>
      </p:cViewPr>
      <p:guideLst>
        <p:guide orient="horz" pos="2183"/>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6618"/>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6332"/>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sz="quarter" idx="1"/>
          </p:nvPr>
        </p:nvSpPr>
        <p:spPr>
          <a:xfrm>
            <a:off x="3850444" y="0"/>
            <a:ext cx="2945659" cy="496332"/>
          </a:xfrm>
          <a:prstGeom prst="rect">
            <a:avLst/>
          </a:prstGeom>
        </p:spPr>
        <p:txBody>
          <a:bodyPr vert="horz" lIns="92930" tIns="46465" rIns="92930" bIns="46465" rtlCol="0"/>
          <a:lstStyle>
            <a:lvl1pPr algn="r">
              <a:defRPr sz="1200"/>
            </a:lvl1pPr>
          </a:lstStyle>
          <a:p>
            <a:fld id="{FA7376C9-3F54-419A-8E8C-905667460002}" type="datetimeFigureOut">
              <a:rPr lang="en-US" smtClean="0"/>
              <a:pPr/>
              <a:t>4/25/2022</a:t>
            </a:fld>
            <a:endParaRPr lang="en-US"/>
          </a:p>
        </p:txBody>
      </p:sp>
      <p:sp>
        <p:nvSpPr>
          <p:cNvPr id="4" name="Footer Placeholder 3"/>
          <p:cNvSpPr>
            <a:spLocks noGrp="1"/>
          </p:cNvSpPr>
          <p:nvPr>
            <p:ph type="ftr" sz="quarter" idx="2"/>
          </p:nvPr>
        </p:nvSpPr>
        <p:spPr>
          <a:xfrm>
            <a:off x="1" y="9428583"/>
            <a:ext cx="2945659" cy="496332"/>
          </a:xfrm>
          <a:prstGeom prst="rect">
            <a:avLst/>
          </a:prstGeom>
        </p:spPr>
        <p:txBody>
          <a:bodyPr vert="horz" lIns="92930" tIns="46465" rIns="92930" bIns="46465" rtlCol="0" anchor="b"/>
          <a:lstStyle>
            <a:lvl1pPr algn="l">
              <a:defRPr sz="1200"/>
            </a:lvl1pPr>
          </a:lstStyle>
          <a:p>
            <a:endParaRPr lang="en-US"/>
          </a:p>
        </p:txBody>
      </p:sp>
      <p:sp>
        <p:nvSpPr>
          <p:cNvPr id="5" name="Slide Number Placeholder 4"/>
          <p:cNvSpPr>
            <a:spLocks noGrp="1"/>
          </p:cNvSpPr>
          <p:nvPr>
            <p:ph type="sldNum" sz="quarter" idx="3"/>
          </p:nvPr>
        </p:nvSpPr>
        <p:spPr>
          <a:xfrm>
            <a:off x="3850444" y="9428583"/>
            <a:ext cx="2945659" cy="496332"/>
          </a:xfrm>
          <a:prstGeom prst="rect">
            <a:avLst/>
          </a:prstGeom>
        </p:spPr>
        <p:txBody>
          <a:bodyPr vert="horz" lIns="92930" tIns="46465" rIns="92930" bIns="46465" rtlCol="0" anchor="b"/>
          <a:lstStyle>
            <a:lvl1pPr algn="r">
              <a:defRPr sz="1200"/>
            </a:lvl1pPr>
          </a:lstStyle>
          <a:p>
            <a:fld id="{06F37A2F-E292-4958-BF4A-82AC5728FCD9}" type="slidenum">
              <a:rPr lang="en-US" smtClean="0"/>
              <a:pPr/>
              <a:t>‹#›</a:t>
            </a:fld>
            <a:endParaRPr lang="en-US"/>
          </a:p>
        </p:txBody>
      </p:sp>
    </p:spTree>
    <p:extLst>
      <p:ext uri="{BB962C8B-B14F-4D97-AF65-F5344CB8AC3E}">
        <p14:creationId xmlns="" xmlns:p14="http://schemas.microsoft.com/office/powerpoint/2010/main" val="41808646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8056"/>
          </a:xfrm>
          <a:prstGeom prst="rect">
            <a:avLst/>
          </a:prstGeom>
        </p:spPr>
        <p:txBody>
          <a:bodyPr vert="horz" lIns="92930" tIns="46465" rIns="92930" bIns="46465" rtlCol="0"/>
          <a:lstStyle>
            <a:lvl1pPr algn="l">
              <a:defRPr sz="1200"/>
            </a:lvl1pPr>
          </a:lstStyle>
          <a:p>
            <a:endParaRPr lang="en-IN"/>
          </a:p>
        </p:txBody>
      </p:sp>
      <p:sp>
        <p:nvSpPr>
          <p:cNvPr id="3" name="Date Placeholder 2"/>
          <p:cNvSpPr>
            <a:spLocks noGrp="1"/>
          </p:cNvSpPr>
          <p:nvPr>
            <p:ph type="dt" idx="1"/>
          </p:nvPr>
        </p:nvSpPr>
        <p:spPr>
          <a:xfrm>
            <a:off x="3850444" y="0"/>
            <a:ext cx="2945659" cy="498056"/>
          </a:xfrm>
          <a:prstGeom prst="rect">
            <a:avLst/>
          </a:prstGeom>
        </p:spPr>
        <p:txBody>
          <a:bodyPr vert="horz" lIns="92930" tIns="46465" rIns="92930" bIns="46465" rtlCol="0"/>
          <a:lstStyle>
            <a:lvl1pPr algn="r">
              <a:defRPr sz="1200"/>
            </a:lvl1pPr>
          </a:lstStyle>
          <a:p>
            <a:fld id="{2601B5F5-93FD-4AF9-A995-E5E8E3C58329}" type="datetimeFigureOut">
              <a:rPr lang="en-IN" smtClean="0"/>
              <a:pPr/>
              <a:t>25-04-2022</a:t>
            </a:fld>
            <a:endParaRPr lang="en-IN"/>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2930" tIns="46465" rIns="92930" bIns="46465" rtlCol="0" anchor="ctr"/>
          <a:lstStyle/>
          <a:p>
            <a:endParaRPr lang="en-IN"/>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2930" tIns="46465" rIns="92930" bIns="4646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1" y="9428585"/>
            <a:ext cx="2945659" cy="498055"/>
          </a:xfrm>
          <a:prstGeom prst="rect">
            <a:avLst/>
          </a:prstGeom>
        </p:spPr>
        <p:txBody>
          <a:bodyPr vert="horz" lIns="92930" tIns="46465" rIns="92930" bIns="46465" rtlCol="0" anchor="b"/>
          <a:lstStyle>
            <a:lvl1pPr algn="l">
              <a:defRPr sz="1200"/>
            </a:lvl1pPr>
          </a:lstStyle>
          <a:p>
            <a:endParaRPr lang="en-IN"/>
          </a:p>
        </p:txBody>
      </p:sp>
      <p:sp>
        <p:nvSpPr>
          <p:cNvPr id="7" name="Slide Number Placeholder 6"/>
          <p:cNvSpPr>
            <a:spLocks noGrp="1"/>
          </p:cNvSpPr>
          <p:nvPr>
            <p:ph type="sldNum" sz="quarter" idx="5"/>
          </p:nvPr>
        </p:nvSpPr>
        <p:spPr>
          <a:xfrm>
            <a:off x="3850444" y="9428585"/>
            <a:ext cx="2945659" cy="498055"/>
          </a:xfrm>
          <a:prstGeom prst="rect">
            <a:avLst/>
          </a:prstGeom>
        </p:spPr>
        <p:txBody>
          <a:bodyPr vert="horz" lIns="92930" tIns="46465" rIns="92930" bIns="46465" rtlCol="0" anchor="b"/>
          <a:lstStyle>
            <a:lvl1pPr algn="r">
              <a:defRPr sz="1200"/>
            </a:lvl1pPr>
          </a:lstStyle>
          <a:p>
            <a:fld id="{654DA1D6-9B79-4405-88DD-3F8657D16462}" type="slidenum">
              <a:rPr lang="en-IN" smtClean="0"/>
              <a:pPr/>
              <a:t>‹#›</a:t>
            </a:fld>
            <a:endParaRPr lang="en-IN"/>
          </a:p>
        </p:txBody>
      </p:sp>
    </p:spTree>
    <p:extLst>
      <p:ext uri="{BB962C8B-B14F-4D97-AF65-F5344CB8AC3E}">
        <p14:creationId xmlns="" xmlns:p14="http://schemas.microsoft.com/office/powerpoint/2010/main" val="324101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54DA1D6-9B79-4405-88DD-3F8657D16462}" type="slidenum">
              <a:rPr lang="en-IN" smtClean="0"/>
              <a:pPr/>
              <a:t>1</a:t>
            </a:fld>
            <a:endParaRPr lang="en-IN"/>
          </a:p>
        </p:txBody>
      </p:sp>
    </p:spTree>
    <p:extLst>
      <p:ext uri="{BB962C8B-B14F-4D97-AF65-F5344CB8AC3E}">
        <p14:creationId xmlns="" xmlns:p14="http://schemas.microsoft.com/office/powerpoint/2010/main" val="947014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A8322C2B-A3CD-44ED-9B9E-B468DE58E41C}" type="datetimeFigureOut">
              <a:rPr lang="en-IN" smtClean="0"/>
              <a:pPr/>
              <a:t>25-04-2022</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94C1CB1D-A2B0-46EC-B97F-6AC369B41471}" type="slidenum">
              <a:rPr lang="en-IN" smtClean="0"/>
              <a:pPr/>
              <a:t>‹#›</a:t>
            </a:fld>
            <a:endParaRPr lang="en-IN"/>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A8322C2B-A3CD-44ED-9B9E-B468DE58E41C}" type="datetimeFigureOut">
              <a:rPr lang="en-IN" smtClean="0"/>
              <a:pPr/>
              <a:t>25-04-2022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1CB1D-A2B0-46EC-B97F-6AC369B41471}" type="slidenum">
              <a:rPr lang="en-IN" smtClean="0"/>
              <a:pPr/>
              <a:t>‹#›</a:t>
            </a:fld>
            <a:endParaRPr lang="en-IN"/>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8322C2B-A3CD-44ED-9B9E-B468DE58E41C}" type="datetimeFigureOut">
              <a:rPr lang="en-IN" smtClean="0"/>
              <a:pPr/>
              <a:t>25-04-2022</a:t>
            </a:fld>
            <a:endParaRPr lang="en-IN"/>
          </a:p>
        </p:txBody>
      </p:sp>
      <p:sp>
        <p:nvSpPr>
          <p:cNvPr id="5" name="Footer Placeholder 4"/>
          <p:cNvSpPr>
            <a:spLocks noGrp="1"/>
          </p:cNvSpPr>
          <p:nvPr>
            <p:ph type="ftr" sz="quarter" idx="11"/>
          </p:nvPr>
        </p:nvSpPr>
        <p:spPr>
          <a:xfrm>
            <a:off x="1066800" y="6172200"/>
            <a:ext cx="5334000" cy="457200"/>
          </a:xfrm>
        </p:spPr>
        <p:txBody>
          <a:bodyPr/>
          <a:lstStyle/>
          <a:p>
            <a:endParaRPr lang="en-IN"/>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95072" y="6208776"/>
            <a:ext cx="609600" cy="457200"/>
          </a:xfrm>
        </p:spPr>
        <p:txBody>
          <a:bodyPr/>
          <a:lstStyle/>
          <a:p>
            <a:fld id="{94C1CB1D-A2B0-46EC-B97F-6AC369B41471}"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A8322C2B-A3CD-44ED-9B9E-B468DE58E41C}" type="datetimeFigureOut">
              <a:rPr lang="en-IN" smtClean="0"/>
              <a:pPr/>
              <a:t>25-04-2022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C1CB1D-A2B0-46EC-B97F-6AC369B41471}" type="slidenum">
              <a:rPr lang="en-IN" smtClean="0"/>
              <a:pPr/>
              <a:t>‹#›</a:t>
            </a:fld>
            <a:endParaRPr lang="en-IN"/>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A8322C2B-A3CD-44ED-9B9E-B468DE58E41C}" type="datetimeFigureOut">
              <a:rPr lang="en-IN" smtClean="0"/>
              <a:pPr/>
              <a:t>25-04-2022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4C1CB1D-A2B0-46EC-B97F-6AC369B41471}" type="slidenum">
              <a:rPr lang="en-IN" smtClean="0"/>
              <a:pPr/>
              <a:t>‹#›</a:t>
            </a:fld>
            <a:endParaRPr lang="en-IN"/>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8322C2B-A3CD-44ED-9B9E-B468DE58E41C}" type="datetimeFigureOut">
              <a:rPr lang="en-IN" smtClean="0"/>
              <a:pPr/>
              <a:t>25-04-2022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4C1CB1D-A2B0-46EC-B97F-6AC369B41471}"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322C2B-A3CD-44ED-9B9E-B468DE58E41C}" type="datetimeFigureOut">
              <a:rPr lang="en-IN" smtClean="0"/>
              <a:pPr/>
              <a:t>25-04-2022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4C1CB1D-A2B0-46EC-B97F-6AC369B41471}"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8322C2B-A3CD-44ED-9B9E-B468DE58E41C}" type="datetimeFigureOut">
              <a:rPr lang="en-IN" smtClean="0"/>
              <a:pPr/>
              <a:t>25-04-2022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C1CB1D-A2B0-46EC-B97F-6AC369B41471}" type="slidenum">
              <a:rPr lang="en-IN" smtClean="0"/>
              <a:pPr/>
              <a:t>‹#›</a:t>
            </a:fld>
            <a:endParaRPr lang="en-IN"/>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8322C2B-A3CD-44ED-9B9E-B468DE58E41C}" type="datetimeFigureOut">
              <a:rPr lang="en-IN" smtClean="0"/>
              <a:pPr/>
              <a:t>25-04-2022</a:t>
            </a:fld>
            <a:endParaRPr lang="en-IN"/>
          </a:p>
        </p:txBody>
      </p:sp>
      <p:sp>
        <p:nvSpPr>
          <p:cNvPr id="6" name="Footer Placeholder 5"/>
          <p:cNvSpPr>
            <a:spLocks noGrp="1"/>
          </p:cNvSpPr>
          <p:nvPr>
            <p:ph type="ftr" sz="quarter" idx="11"/>
          </p:nvPr>
        </p:nvSpPr>
        <p:spPr>
          <a:xfrm>
            <a:off x="1219200" y="6172200"/>
            <a:ext cx="5181600" cy="457200"/>
          </a:xfrm>
        </p:spPr>
        <p:txBody>
          <a:bodyPr/>
          <a:lstStyle/>
          <a:p>
            <a:endParaRPr lang="en-IN"/>
          </a:p>
        </p:txBody>
      </p:sp>
      <p:sp>
        <p:nvSpPr>
          <p:cNvPr id="7" name="Slide Number Placeholder 6"/>
          <p:cNvSpPr>
            <a:spLocks noGrp="1"/>
          </p:cNvSpPr>
          <p:nvPr>
            <p:ph type="sldNum" sz="quarter" idx="12"/>
          </p:nvPr>
        </p:nvSpPr>
        <p:spPr>
          <a:xfrm>
            <a:off x="195072" y="6208776"/>
            <a:ext cx="609600" cy="457200"/>
          </a:xfrm>
        </p:spPr>
        <p:txBody>
          <a:bodyPr/>
          <a:lstStyle/>
          <a:p>
            <a:fld id="{94C1CB1D-A2B0-46EC-B97F-6AC369B41471}" type="slidenum">
              <a:rPr lang="en-IN" smtClean="0"/>
              <a:pPr/>
              <a:t>‹#›</a:t>
            </a:fld>
            <a:endParaRPr lang="en-IN"/>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8322C2B-A3CD-44ED-9B9E-B468DE58E41C}" type="datetimeFigureOut">
              <a:rPr lang="en-IN" smtClean="0"/>
              <a:pPr/>
              <a:t>25-04-2022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1CB1D-A2B0-46EC-B97F-6AC369B41471}"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8322C2B-A3CD-44ED-9B9E-B468DE58E41C}" type="datetimeFigureOut">
              <a:rPr lang="en-IN" smtClean="0"/>
              <a:pPr/>
              <a:t>25-04-2022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C1CB1D-A2B0-46EC-B97F-6AC369B41471}"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A8322C2B-A3CD-44ED-9B9E-B468DE58E41C}" type="datetimeFigureOut">
              <a:rPr lang="en-IN" smtClean="0"/>
              <a:pPr/>
              <a:t>25-04-2022</a:t>
            </a:fld>
            <a:endParaRPr lang="en-IN"/>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94C1CB1D-A2B0-46EC-B97F-6AC369B41471}"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rgbClr val="F0C8FF">
                <a:lumMod val="73000"/>
                <a:lumOff val="27000"/>
              </a:srgbClr>
            </a:gs>
          </a:gsLst>
          <a:lin ang="15000000" scaled="0"/>
          <a:tileRect/>
        </a:gradFill>
        <a:effectLst/>
      </p:bgPr>
    </p:bg>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xmlns="" id="{18A3AF86-E389-C64E-9A93-4885BEFDC364}"/>
              </a:ext>
            </a:extLst>
          </p:cNvPr>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294420" y="413657"/>
            <a:ext cx="1467182" cy="1777093"/>
          </a:xfrm>
          <a:prstGeom prst="rect">
            <a:avLst/>
          </a:prstGeom>
        </p:spPr>
      </p:pic>
      <p:sp>
        <p:nvSpPr>
          <p:cNvPr id="35" name="Title 1">
            <a:extLst>
              <a:ext uri="{FF2B5EF4-FFF2-40B4-BE49-F238E27FC236}">
                <a16:creationId xmlns:a16="http://schemas.microsoft.com/office/drawing/2014/main" xmlns="" id="{52B43C8C-59B3-D445-A5CE-55B0C8AB8E83}"/>
              </a:ext>
            </a:extLst>
          </p:cNvPr>
          <p:cNvSpPr txBox="1">
            <a:spLocks/>
          </p:cNvSpPr>
          <p:nvPr/>
        </p:nvSpPr>
        <p:spPr>
          <a:xfrm>
            <a:off x="922093" y="2631203"/>
            <a:ext cx="10367276" cy="959173"/>
          </a:xfrm>
          <a:prstGeom prst="rect">
            <a:avLst/>
          </a:prstGeom>
        </p:spPr>
        <p:txBody>
          <a:bodyPr vert="horz" lIns="91440" tIns="45720" rIns="91440" bIns="45720" rtlCol="0" anchor="ctr">
            <a:noAutofit/>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4000" b="1" dirty="0">
              <a:solidFill>
                <a:srgbClr val="C00000"/>
              </a:solidFill>
              <a:latin typeface="Cambria" panose="02040503050406030204" pitchFamily="18" charset="0"/>
              <a:ea typeface="Cambria" panose="02040503050406030204" pitchFamily="18" charset="0"/>
            </a:endParaRPr>
          </a:p>
        </p:txBody>
      </p:sp>
      <p:sp>
        <p:nvSpPr>
          <p:cNvPr id="36" name="Rectangle 35">
            <a:extLst>
              <a:ext uri="{FF2B5EF4-FFF2-40B4-BE49-F238E27FC236}">
                <a16:creationId xmlns:a16="http://schemas.microsoft.com/office/drawing/2014/main" xmlns="" id="{F7CF9D2C-B403-784F-A8A3-09D1E97CC296}"/>
              </a:ext>
            </a:extLst>
          </p:cNvPr>
          <p:cNvSpPr/>
          <p:nvPr/>
        </p:nvSpPr>
        <p:spPr>
          <a:xfrm>
            <a:off x="1885950" y="209551"/>
            <a:ext cx="8401050" cy="6532558"/>
          </a:xfrm>
          <a:prstGeom prst="rect">
            <a:avLst/>
          </a:prstGeom>
          <a:solidFill>
            <a:schemeClr val="bg1"/>
          </a:solidFill>
          <a:ln>
            <a:noFill/>
          </a:ln>
        </p:spPr>
        <p:txBody>
          <a:bodyPr wrap="square" lIns="68580" tIns="34290" rIns="68580" bIns="34290">
            <a:spAutoFit/>
            <a:scene3d>
              <a:camera prst="orthographicFront"/>
              <a:lightRig rig="soft" dir="t">
                <a:rot lat="0" lon="0" rev="15600000"/>
              </a:lightRig>
            </a:scene3d>
            <a:sp3d extrusionH="57150" prstMaterial="softEdge">
              <a:bevelT w="25400" h="38100"/>
            </a:sp3d>
          </a:bodyPr>
          <a:lstStyle/>
          <a:p>
            <a:pPr algn="ctr"/>
            <a:endParaRPr lang="en-US" sz="2800" b="1" dirty="0" smtClean="0">
              <a:latin typeface="Cambria" panose="02040503050406030204" pitchFamily="18" charset="0"/>
              <a:ea typeface="Cambria" panose="02040503050406030204" pitchFamily="18" charset="0"/>
            </a:endParaRPr>
          </a:p>
          <a:p>
            <a:pPr algn="ctr"/>
            <a:endParaRPr lang="en-US" sz="2800" b="1" dirty="0" smtClean="0">
              <a:latin typeface="Cambria" panose="02040503050406030204" pitchFamily="18" charset="0"/>
              <a:ea typeface="Cambria" panose="02040503050406030204" pitchFamily="18" charset="0"/>
            </a:endParaRPr>
          </a:p>
          <a:p>
            <a:pPr algn="ctr"/>
            <a:r>
              <a:rPr lang="en-US" sz="2800" b="1" dirty="0" smtClean="0">
                <a:latin typeface="Cambria" panose="02040503050406030204" pitchFamily="18" charset="0"/>
                <a:ea typeface="Cambria" panose="02040503050406030204" pitchFamily="18" charset="0"/>
              </a:rPr>
              <a:t>National Conference  on Agriculture </a:t>
            </a:r>
          </a:p>
          <a:p>
            <a:pPr algn="ctr"/>
            <a:r>
              <a:rPr lang="en-US" sz="2800" b="1" dirty="0" smtClean="0">
                <a:latin typeface="Cambria" panose="02040503050406030204" pitchFamily="18" charset="0"/>
                <a:ea typeface="Cambria" panose="02040503050406030204" pitchFamily="18" charset="0"/>
              </a:rPr>
              <a:t>for </a:t>
            </a:r>
            <a:r>
              <a:rPr lang="en-US" sz="2800" b="1" dirty="0" err="1" smtClean="0">
                <a:latin typeface="Cambria" panose="02040503050406030204" pitchFamily="18" charset="0"/>
                <a:ea typeface="Cambria" panose="02040503050406030204" pitchFamily="18" charset="0"/>
              </a:rPr>
              <a:t>Kharif</a:t>
            </a:r>
            <a:r>
              <a:rPr lang="en-US" sz="2800" b="1" dirty="0" smtClean="0">
                <a:latin typeface="Cambria" panose="02040503050406030204" pitchFamily="18" charset="0"/>
                <a:ea typeface="Cambria" panose="02040503050406030204" pitchFamily="18" charset="0"/>
              </a:rPr>
              <a:t> Campaign-2022</a:t>
            </a:r>
          </a:p>
          <a:p>
            <a:pPr algn="ctr"/>
            <a:endParaRPr lang="en-US" sz="2800" b="1" dirty="0" smtClean="0">
              <a:latin typeface="Cambria" panose="02040503050406030204" pitchFamily="18" charset="0"/>
              <a:ea typeface="Cambria" panose="02040503050406030204" pitchFamily="18" charset="0"/>
            </a:endParaRPr>
          </a:p>
          <a:p>
            <a:pPr algn="ctr"/>
            <a:r>
              <a:rPr lang="en-US" sz="2800" b="1" dirty="0" smtClean="0">
                <a:latin typeface="Cambria" panose="02040503050406030204" pitchFamily="18" charset="0"/>
                <a:ea typeface="Cambria" panose="02040503050406030204" pitchFamily="18" charset="0"/>
              </a:rPr>
              <a:t>19</a:t>
            </a:r>
            <a:r>
              <a:rPr lang="en-US" sz="2800" b="1" baseline="30000" dirty="0" smtClean="0">
                <a:latin typeface="Cambria" panose="02040503050406030204" pitchFamily="18" charset="0"/>
                <a:ea typeface="Cambria" panose="02040503050406030204" pitchFamily="18" charset="0"/>
              </a:rPr>
              <a:t>th</a:t>
            </a:r>
            <a:r>
              <a:rPr lang="en-US" sz="2800" b="1" dirty="0" smtClean="0">
                <a:latin typeface="Cambria" panose="02040503050406030204" pitchFamily="18" charset="0"/>
                <a:ea typeface="Cambria" panose="02040503050406030204" pitchFamily="18" charset="0"/>
              </a:rPr>
              <a:t> April, 2022</a:t>
            </a:r>
          </a:p>
          <a:p>
            <a:pPr algn="ctr"/>
            <a:endParaRPr lang="en-US" sz="2800" b="1" dirty="0" smtClean="0">
              <a:latin typeface="Cambria" panose="02040503050406030204" pitchFamily="18" charset="0"/>
              <a:ea typeface="Cambria" panose="02040503050406030204" pitchFamily="18" charset="0"/>
            </a:endParaRPr>
          </a:p>
          <a:p>
            <a:pPr algn="ctr"/>
            <a:r>
              <a:rPr lang="en-US" sz="2800" b="1" dirty="0" smtClean="0">
                <a:latin typeface="Cambria" panose="02040503050406030204" pitchFamily="18" charset="0"/>
                <a:ea typeface="Cambria" panose="02040503050406030204" pitchFamily="18" charset="0"/>
              </a:rPr>
              <a:t>(NASC, Complex, </a:t>
            </a:r>
            <a:r>
              <a:rPr lang="en-US" sz="2800" b="1" dirty="0" err="1" smtClean="0">
                <a:latin typeface="Cambria" panose="02040503050406030204" pitchFamily="18" charset="0"/>
                <a:ea typeface="Cambria" panose="02040503050406030204" pitchFamily="18" charset="0"/>
              </a:rPr>
              <a:t>Pusa</a:t>
            </a:r>
            <a:r>
              <a:rPr lang="en-US" sz="2800" b="1" dirty="0" smtClean="0">
                <a:latin typeface="Cambria" panose="02040503050406030204" pitchFamily="18" charset="0"/>
                <a:ea typeface="Cambria" panose="02040503050406030204" pitchFamily="18" charset="0"/>
              </a:rPr>
              <a:t>, New Delhi)</a:t>
            </a:r>
          </a:p>
          <a:p>
            <a:pPr algn="ctr"/>
            <a:endParaRPr lang="en-US" sz="2800" b="1" dirty="0" smtClean="0">
              <a:latin typeface="Cambria" panose="02040503050406030204" pitchFamily="18" charset="0"/>
              <a:ea typeface="Cambria" panose="02040503050406030204" pitchFamily="18" charset="0"/>
            </a:endParaRPr>
          </a:p>
          <a:p>
            <a:pPr algn="ctr"/>
            <a:r>
              <a:rPr lang="en-US" sz="2800" b="1" dirty="0" err="1" smtClean="0">
                <a:latin typeface="Cambria" panose="02040503050406030204" pitchFamily="18" charset="0"/>
                <a:ea typeface="Cambria" panose="02040503050406030204" pitchFamily="18" charset="0"/>
              </a:rPr>
              <a:t>Rashtriya</a:t>
            </a:r>
            <a:r>
              <a:rPr lang="en-US" sz="2800" b="1" dirty="0" smtClean="0">
                <a:latin typeface="Cambria" panose="02040503050406030204" pitchFamily="18" charset="0"/>
                <a:ea typeface="Cambria" panose="02040503050406030204" pitchFamily="18" charset="0"/>
              </a:rPr>
              <a:t> </a:t>
            </a:r>
            <a:r>
              <a:rPr lang="en-US" sz="2800" b="1" dirty="0" err="1" smtClean="0">
                <a:latin typeface="Cambria" panose="02040503050406030204" pitchFamily="18" charset="0"/>
                <a:ea typeface="Cambria" panose="02040503050406030204" pitchFamily="18" charset="0"/>
              </a:rPr>
              <a:t>Krishi</a:t>
            </a:r>
            <a:r>
              <a:rPr lang="en-US" sz="2800" b="1" dirty="0" smtClean="0">
                <a:latin typeface="Cambria" panose="02040503050406030204" pitchFamily="18" charset="0"/>
                <a:ea typeface="Cambria" panose="02040503050406030204" pitchFamily="18" charset="0"/>
              </a:rPr>
              <a:t> </a:t>
            </a:r>
            <a:r>
              <a:rPr lang="en-US" sz="2800" b="1" dirty="0" err="1" smtClean="0">
                <a:latin typeface="Cambria" panose="02040503050406030204" pitchFamily="18" charset="0"/>
                <a:ea typeface="Cambria" panose="02040503050406030204" pitchFamily="18" charset="0"/>
              </a:rPr>
              <a:t>Vikas</a:t>
            </a:r>
            <a:r>
              <a:rPr lang="en-US" sz="2800" b="1" dirty="0" smtClean="0">
                <a:latin typeface="Cambria" panose="02040503050406030204" pitchFamily="18" charset="0"/>
                <a:ea typeface="Cambria" panose="02040503050406030204" pitchFamily="18" charset="0"/>
              </a:rPr>
              <a:t> </a:t>
            </a:r>
            <a:r>
              <a:rPr lang="en-US" sz="2800" b="1" dirty="0" err="1" smtClean="0">
                <a:latin typeface="Cambria" panose="02040503050406030204" pitchFamily="18" charset="0"/>
                <a:ea typeface="Cambria" panose="02040503050406030204" pitchFamily="18" charset="0"/>
              </a:rPr>
              <a:t>Yojana</a:t>
            </a:r>
            <a:endParaRPr lang="en-US" sz="2800" b="1" dirty="0" smtClean="0">
              <a:latin typeface="Cambria" panose="02040503050406030204" pitchFamily="18" charset="0"/>
              <a:ea typeface="Cambria" panose="02040503050406030204" pitchFamily="18" charset="0"/>
            </a:endParaRPr>
          </a:p>
          <a:p>
            <a:pPr algn="ctr"/>
            <a:r>
              <a:rPr lang="en-US" sz="2800" b="1" dirty="0" smtClean="0">
                <a:ln/>
                <a:latin typeface="Cambria" panose="02040503050406030204" pitchFamily="18" charset="0"/>
                <a:cs typeface="Times New Roman" panose="02020603050405020304" pitchFamily="18" charset="0"/>
              </a:rPr>
              <a:t>Department of Agriculture &amp; Farmer’s Welfare</a:t>
            </a:r>
          </a:p>
          <a:p>
            <a:pPr algn="ctr"/>
            <a:r>
              <a:rPr lang="en-US" sz="2800" b="1" dirty="0" smtClean="0">
                <a:latin typeface="Times New Roman" panose="02020603050405020304" pitchFamily="18" charset="0"/>
                <a:cs typeface="Times New Roman" panose="02020603050405020304" pitchFamily="18" charset="0"/>
              </a:rPr>
              <a:t>Government of India</a:t>
            </a:r>
          </a:p>
          <a:p>
            <a:pPr algn="ctr"/>
            <a:endParaRPr lang="en-IN" sz="2800" b="1" dirty="0" smtClean="0">
              <a:solidFill>
                <a:schemeClr val="tx2">
                  <a:lumMod val="95000"/>
                  <a:lumOff val="5000"/>
                </a:schemeClr>
              </a:solidFill>
              <a:latin typeface="Times New Roman" panose="02020603050405020304" pitchFamily="18" charset="0"/>
              <a:cs typeface="Times New Roman" panose="02020603050405020304" pitchFamily="18" charset="0"/>
            </a:endParaRPr>
          </a:p>
          <a:p>
            <a:pPr algn="ctr"/>
            <a:endParaRPr lang="en-US" sz="2800" b="1" dirty="0" smtClean="0">
              <a:ln/>
              <a:latin typeface="Cambria" panose="02040503050406030204" pitchFamily="18" charset="0"/>
              <a:cs typeface="Times New Roman" panose="02020603050405020304" pitchFamily="18" charset="0"/>
            </a:endParaRPr>
          </a:p>
          <a:p>
            <a:pPr algn="ctr"/>
            <a:endParaRPr lang="en-IN" sz="2800" b="1" dirty="0">
              <a:ln/>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04D6AB57-BF29-485C-9FBF-181229DACF90}"/>
              </a:ext>
            </a:extLst>
          </p:cNvPr>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10345996" y="347436"/>
            <a:ext cx="1592367" cy="1767114"/>
          </a:xfrm>
          <a:prstGeom prst="rect">
            <a:avLst/>
          </a:prstGeom>
        </p:spPr>
      </p:pic>
    </p:spTree>
    <p:extLst>
      <p:ext uri="{BB962C8B-B14F-4D97-AF65-F5344CB8AC3E}">
        <p14:creationId xmlns="" xmlns:p14="http://schemas.microsoft.com/office/powerpoint/2010/main" val="31165057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xmlns="" id="{0B3AE0CE-A677-1344-BF1B-47377879818E}"/>
              </a:ext>
            </a:extLst>
          </p:cNvPr>
          <p:cNvSpPr/>
          <p:nvPr/>
        </p:nvSpPr>
        <p:spPr>
          <a:xfrm>
            <a:off x="534537" y="147175"/>
            <a:ext cx="11178492" cy="1030375"/>
          </a:xfrm>
          <a:prstGeom prst="roundRect">
            <a:avLst>
              <a:gd name="adj" fmla="val 6636"/>
            </a:avLst>
          </a:prstGeom>
          <a:solidFill>
            <a:schemeClr val="accent2"/>
          </a:solidFill>
          <a:ln w="28575">
            <a:solidFill>
              <a:srgbClr val="7939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0"/>
              </a:spcBef>
              <a:spcAft>
                <a:spcPct val="0"/>
              </a:spcAft>
            </a:pPr>
            <a:r>
              <a:rPr lang="en-US" sz="2400" b="1" dirty="0" smtClean="0">
                <a:solidFill>
                  <a:schemeClr val="bg1"/>
                </a:solidFill>
                <a:latin typeface="Times New Roman" pitchFamily="18" charset="0"/>
                <a:ea typeface="Arial" pitchFamily="34" charset="0"/>
                <a:cs typeface="Times New Roman" pitchFamily="18" charset="0"/>
              </a:rPr>
              <a:t>RKVY</a:t>
            </a:r>
            <a:endParaRPr lang="en-US" sz="2400" b="1" dirty="0" smtClean="0">
              <a:solidFill>
                <a:schemeClr val="bg1"/>
              </a:solidFill>
              <a:latin typeface="Arial" pitchFamily="34" charset="0"/>
              <a:ea typeface="Arial" pitchFamily="34" charset="0"/>
              <a:cs typeface="Arial" pitchFamily="34" charset="0"/>
            </a:endParaRPr>
          </a:p>
        </p:txBody>
      </p:sp>
      <p:sp>
        <p:nvSpPr>
          <p:cNvPr id="1026" name="Rectangle 2"/>
          <p:cNvSpPr>
            <a:spLocks noChangeArrowheads="1"/>
          </p:cNvSpPr>
          <p:nvPr/>
        </p:nvSpPr>
        <p:spPr bwMode="auto">
          <a:xfrm>
            <a:off x="406401" y="972158"/>
            <a:ext cx="11271249" cy="90486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tabLst/>
            </a:pPr>
            <a:endParaRPr lang="en-US" dirty="0" smtClean="0">
              <a:latin typeface="Times New Roman" pitchFamily="18" charset="0"/>
              <a:ea typeface="Calibri" pitchFamily="34"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 typeface="Wingdings" pitchFamily="2" charset="2"/>
              <a:buChar char="Ø"/>
              <a:tabLst/>
            </a:pPr>
            <a:r>
              <a:rPr kumimoji="0" lang="en-US" sz="240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IN" sz="240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RKVY was launched in 2007 for ensuring holistic development of agriculture and allied sector.</a:t>
            </a:r>
          </a:p>
          <a:p>
            <a:pPr marL="0" marR="0" lvl="0" indent="0" algn="just" defTabSz="914400" rtl="0" eaLnBrk="1" fontAlgn="base" latinLnBrk="0" hangingPunct="1">
              <a:lnSpc>
                <a:spcPct val="100000"/>
              </a:lnSpc>
              <a:spcBef>
                <a:spcPct val="0"/>
              </a:spcBef>
              <a:spcAft>
                <a:spcPct val="0"/>
              </a:spcAft>
              <a:buClrTx/>
              <a:buSzTx/>
              <a:buFont typeface="Wingdings" pitchFamily="2" charset="2"/>
              <a:buChar char="Ø"/>
              <a:tabLst/>
            </a:pPr>
            <a:r>
              <a:rPr lang="en-IN" sz="2400" dirty="0" smtClean="0">
                <a:latin typeface="Times New Roman" pitchFamily="18" charset="0"/>
                <a:cs typeface="Times New Roman" pitchFamily="18" charset="0"/>
              </a:rPr>
              <a:t>The scheme incentivizes States to increase public investment in Agriculture and Allied Sectors.</a:t>
            </a:r>
          </a:p>
          <a:p>
            <a:pPr marL="0" marR="0" lvl="0" indent="0" algn="just" defTabSz="914400" rtl="0" eaLnBrk="1" fontAlgn="base" latinLnBrk="0" hangingPunct="1">
              <a:lnSpc>
                <a:spcPct val="100000"/>
              </a:lnSpc>
              <a:spcBef>
                <a:spcPct val="0"/>
              </a:spcBef>
              <a:spcAft>
                <a:spcPct val="0"/>
              </a:spcAft>
              <a:buClrTx/>
              <a:buSzTx/>
              <a:buFont typeface="Wingdings" pitchFamily="2" charset="2"/>
              <a:buChar char="Ø"/>
              <a:tabLst/>
            </a:pPr>
            <a:endParaRPr lang="en-IN" sz="2400" dirty="0" smtClean="0">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 typeface="Wingdings" pitchFamily="2" charset="2"/>
              <a:buChar char="Ø"/>
              <a:tabLst/>
            </a:pPr>
            <a:r>
              <a:rPr lang="en-IN" sz="2400" dirty="0" smtClean="0">
                <a:latin typeface="Times New Roman" pitchFamily="18" charset="0"/>
                <a:cs typeface="Times New Roman" pitchFamily="18" charset="0"/>
              </a:rPr>
              <a:t>States have been provided flexibility and autonomy in selection, planning, approval and execution of the project under the scheme as per their need, priorities and agro-climatic requirements. </a:t>
            </a:r>
          </a:p>
          <a:p>
            <a:pPr marL="0" marR="0" lvl="0" indent="0" algn="just" defTabSz="914400" rtl="0" eaLnBrk="1" fontAlgn="base" latinLnBrk="0" hangingPunct="1">
              <a:lnSpc>
                <a:spcPct val="100000"/>
              </a:lnSpc>
              <a:spcBef>
                <a:spcPct val="0"/>
              </a:spcBef>
              <a:spcAft>
                <a:spcPct val="0"/>
              </a:spcAft>
              <a:buClrTx/>
              <a:buSzTx/>
              <a:buFont typeface="Wingdings" pitchFamily="2" charset="2"/>
              <a:buChar char="Ø"/>
              <a:tabLst/>
            </a:pPr>
            <a:endParaRPr lang="en-IN" sz="2400" dirty="0" smtClean="0">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 typeface="Wingdings" pitchFamily="2" charset="2"/>
              <a:buChar char="Ø"/>
              <a:tabLst/>
            </a:pPr>
            <a:r>
              <a:rPr lang="en-IN" sz="2400" dirty="0" smtClean="0">
                <a:latin typeface="Times New Roman" pitchFamily="18" charset="0"/>
                <a:cs typeface="Times New Roman" pitchFamily="18" charset="0"/>
              </a:rPr>
              <a:t>The funds are released to States on the basis of projects approved by the State Level Sanctioning Committee (SLSC ).</a:t>
            </a:r>
          </a:p>
          <a:p>
            <a:pPr marL="0" marR="0" lvl="0" indent="0" algn="just" defTabSz="914400" rtl="0" eaLnBrk="1" fontAlgn="base" latinLnBrk="0" hangingPunct="1">
              <a:lnSpc>
                <a:spcPct val="100000"/>
              </a:lnSpc>
              <a:spcBef>
                <a:spcPct val="0"/>
              </a:spcBef>
              <a:spcAft>
                <a:spcPct val="0"/>
              </a:spcAft>
              <a:buClrTx/>
              <a:buSzTx/>
              <a:tabLst/>
            </a:pPr>
            <a:endParaRPr lang="en-IN" sz="2400" dirty="0" smtClean="0">
              <a:latin typeface="Times New Roman" pitchFamily="18" charset="0"/>
              <a:cs typeface="Times New Roman" pitchFamily="18" charset="0"/>
            </a:endParaRPr>
          </a:p>
          <a:p>
            <a:pPr lvl="0" algn="just" fontAlgn="base">
              <a:spcBef>
                <a:spcPct val="0"/>
              </a:spcBef>
              <a:spcAft>
                <a:spcPct val="0"/>
              </a:spcAft>
              <a:buFont typeface="Wingdings" pitchFamily="2" charset="2"/>
              <a:buChar char="Ø"/>
            </a:pPr>
            <a:r>
              <a:rPr lang="en-IN" sz="2400" dirty="0" smtClean="0">
                <a:latin typeface="Times New Roman" pitchFamily="18" charset="0"/>
                <a:cs typeface="Times New Roman" pitchFamily="18" charset="0"/>
              </a:rPr>
              <a:t>The scheme has been extended for 6 months (</a:t>
            </a:r>
            <a:r>
              <a:rPr lang="en-IN" sz="2400" dirty="0" err="1" smtClean="0">
                <a:latin typeface="Times New Roman" pitchFamily="18" charset="0"/>
                <a:cs typeface="Times New Roman" pitchFamily="18" charset="0"/>
              </a:rPr>
              <a:t>upto</a:t>
            </a:r>
            <a:r>
              <a:rPr lang="en-IN" sz="2400" dirty="0" smtClean="0">
                <a:latin typeface="Times New Roman" pitchFamily="18" charset="0"/>
                <a:cs typeface="Times New Roman" pitchFamily="18" charset="0"/>
              </a:rPr>
              <a:t> </a:t>
            </a:r>
            <a:r>
              <a:rPr lang="en-US" sz="2400" dirty="0" smtClean="0">
                <a:latin typeface="Times New Roman" pitchFamily="18" charset="0"/>
                <a:ea typeface="Times New Roman" pitchFamily="18" charset="0"/>
                <a:cs typeface="Times New Roman" pitchFamily="18" charset="0"/>
              </a:rPr>
              <a:t>30.09.2022).</a:t>
            </a:r>
            <a:endParaRPr lang="en-IN" sz="2400" dirty="0" smtClean="0">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 typeface="Wingdings" pitchFamily="2" charset="2"/>
              <a:buChar char="Ø"/>
              <a:tabLst/>
            </a:pPr>
            <a:endParaRPr kumimoji="0" lang="en-US"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 typeface="Wingdings" pitchFamily="2" charset="2"/>
              <a:buChar char="Ø"/>
              <a:tabLst/>
            </a:pPr>
            <a:endParaRPr kumimoji="0" lang="en-US"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b="1" dirty="0" smtClean="0">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1200" b="1" dirty="0" smtClean="0">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1200" b="1" dirty="0" smtClean="0">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1200" b="1" dirty="0" smtClean="0">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1200" b="1" dirty="0" smtClean="0">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1200" b="1" dirty="0" smtClean="0">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1200" b="1" dirty="0" smtClean="0">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1200" b="1" dirty="0" smtClean="0">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400050" y="1288296"/>
            <a:ext cx="11449050" cy="513986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361950" marR="0" lvl="0" indent="-361950" algn="just" defTabSz="914400" rtl="0" eaLnBrk="1" fontAlgn="base" latinLnBrk="0" hangingPunct="1">
              <a:lnSpc>
                <a:spcPct val="100000"/>
              </a:lnSpc>
              <a:spcBef>
                <a:spcPct val="0"/>
              </a:spcBef>
              <a:spcAft>
                <a:spcPct val="0"/>
              </a:spcAft>
              <a:buClrTx/>
              <a:buSzTx/>
              <a:buFont typeface="Arial" pitchFamily="34" charset="0"/>
              <a:buChar char="•"/>
              <a:tabLst/>
            </a:pPr>
            <a:endParaRPr kumimoji="0" lang="en-US" sz="16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361950" indent="-361950" algn="just" fontAlgn="base">
              <a:spcBef>
                <a:spcPct val="0"/>
              </a:spcBef>
              <a:spcAft>
                <a:spcPct val="0"/>
              </a:spcAft>
              <a:buFont typeface="Arial" pitchFamily="34" charset="0"/>
              <a:buChar char="•"/>
            </a:pPr>
            <a:r>
              <a:rPr lang="en-US" b="1" dirty="0" smtClean="0">
                <a:latin typeface="Times New Roman" pitchFamily="18" charset="0"/>
                <a:cs typeface="Times New Roman" pitchFamily="18" charset="0"/>
              </a:rPr>
              <a:t>EFC has made recommendations to rationalize and merge schemes into three categories, viz. </a:t>
            </a:r>
            <a:r>
              <a:rPr lang="en-US" b="1" dirty="0" err="1" smtClean="0">
                <a:latin typeface="Times New Roman" pitchFamily="18" charset="0"/>
                <a:cs typeface="Times New Roman" pitchFamily="18" charset="0"/>
              </a:rPr>
              <a:t>Rashtriya</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Krishi</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Vikas</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Yojana</a:t>
            </a:r>
            <a:r>
              <a:rPr lang="en-US" b="1" dirty="0" smtClean="0">
                <a:latin typeface="Times New Roman" pitchFamily="18" charset="0"/>
                <a:cs typeface="Times New Roman" pitchFamily="18" charset="0"/>
              </a:rPr>
              <a:t>- the cafeteria scheme, </a:t>
            </a:r>
            <a:r>
              <a:rPr lang="en-US" b="1" dirty="0" err="1" smtClean="0">
                <a:latin typeface="Times New Roman" pitchFamily="18" charset="0"/>
                <a:cs typeface="Times New Roman" pitchFamily="18" charset="0"/>
              </a:rPr>
              <a:t>Krishonnati</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Yojana</a:t>
            </a:r>
            <a:r>
              <a:rPr lang="en-US" b="1" dirty="0" smtClean="0">
                <a:latin typeface="Times New Roman" pitchFamily="18" charset="0"/>
                <a:cs typeface="Times New Roman" pitchFamily="18" charset="0"/>
              </a:rPr>
              <a:t>-  Umbrella scheme and Standalone schemes during 2022-23 to 2025-26. This department has accepted the scheme-specific recommendations of the EFC.</a:t>
            </a:r>
          </a:p>
          <a:p>
            <a:pPr marL="361950" lvl="0" indent="-361950" algn="just" fontAlgn="base">
              <a:spcBef>
                <a:spcPct val="0"/>
              </a:spcBef>
              <a:spcAft>
                <a:spcPct val="0"/>
              </a:spcAft>
            </a:pPr>
            <a:endParaRPr lang="en-US" b="1" dirty="0" smtClean="0">
              <a:latin typeface="Times New Roman" pitchFamily="18" charset="0"/>
              <a:cs typeface="Times New Roman" pitchFamily="18" charset="0"/>
            </a:endParaRPr>
          </a:p>
          <a:p>
            <a:pPr marL="361950" lvl="0" indent="-361950" algn="just" fontAlgn="base">
              <a:spcBef>
                <a:spcPct val="0"/>
              </a:spcBef>
              <a:spcAft>
                <a:spcPct val="0"/>
              </a:spcAft>
              <a:buFont typeface="Arial" pitchFamily="34" charset="0"/>
              <a:buChar char="•"/>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Department of Expenditure vide their OM dated 01.02.22 has approved continuation of the RKVY scheme till 30.09.22 only. Fresh appraisal will be carried out by EFC of the scheme by then. </a:t>
            </a:r>
          </a:p>
          <a:p>
            <a:pPr marL="361950" marR="0" lvl="0" indent="-361950" algn="just" defTabSz="914400" rtl="0" eaLnBrk="1" fontAlgn="base" latinLnBrk="0" hangingPunct="1">
              <a:lnSpc>
                <a:spcPct val="100000"/>
              </a:lnSpc>
              <a:spcBef>
                <a:spcPct val="0"/>
              </a:spcBef>
              <a:spcAft>
                <a:spcPct val="0"/>
              </a:spcAft>
              <a:buClrTx/>
              <a:buSzTx/>
              <a:tabLst/>
            </a:pPr>
            <a:endPar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endParaRPr>
          </a:p>
          <a:p>
            <a:pPr marL="361950" indent="-361950" algn="just" fontAlgn="base">
              <a:spcBef>
                <a:spcPct val="0"/>
              </a:spcBef>
              <a:spcAft>
                <a:spcPct val="0"/>
              </a:spcAft>
              <a:buFont typeface="Arial" pitchFamily="34" charset="0"/>
              <a:buChar char="•"/>
            </a:pPr>
            <a:r>
              <a:rPr lang="en-US" b="1" dirty="0" smtClean="0">
                <a:latin typeface="Times New Roman" pitchFamily="18" charset="0"/>
                <a:cs typeface="Times New Roman" pitchFamily="18" charset="0"/>
              </a:rPr>
              <a:t>In </a:t>
            </a:r>
            <a:r>
              <a:rPr lang="en-US" b="1" dirty="0">
                <a:latin typeface="Times New Roman" pitchFamily="18" charset="0"/>
                <a:cs typeface="Times New Roman" pitchFamily="18" charset="0"/>
              </a:rPr>
              <a:t>the meantime, for continuation of implementation of the erstwhile schemes (now components) </a:t>
            </a:r>
            <a:r>
              <a:rPr lang="en-US" b="1" dirty="0" smtClean="0">
                <a:latin typeface="Times New Roman" pitchFamily="18" charset="0"/>
                <a:cs typeface="Times New Roman" pitchFamily="18" charset="0"/>
              </a:rPr>
              <a:t>have been merged </a:t>
            </a:r>
            <a:r>
              <a:rPr lang="en-US" b="1" dirty="0">
                <a:latin typeface="Times New Roman" pitchFamily="18" charset="0"/>
                <a:cs typeface="Times New Roman" pitchFamily="18" charset="0"/>
              </a:rPr>
              <a:t>with </a:t>
            </a:r>
            <a:r>
              <a:rPr lang="en-US" b="1" dirty="0" smtClean="0">
                <a:latin typeface="Times New Roman" pitchFamily="18" charset="0"/>
                <a:cs typeface="Times New Roman" pitchFamily="18" charset="0"/>
              </a:rPr>
              <a:t>RKVY.</a:t>
            </a:r>
          </a:p>
          <a:p>
            <a:pPr marL="361950" indent="-361950" algn="just" fontAlgn="base">
              <a:spcBef>
                <a:spcPct val="0"/>
              </a:spcBef>
              <a:spcAft>
                <a:spcPct val="0"/>
              </a:spcAft>
              <a:buFont typeface="Arial" pitchFamily="34" charset="0"/>
              <a:buChar char="•"/>
            </a:pPr>
            <a:endParaRPr lang="en-US" b="1" dirty="0">
              <a:latin typeface="Times New Roman" pitchFamily="18" charset="0"/>
              <a:cs typeface="Times New Roman" pitchFamily="18" charset="0"/>
            </a:endParaRPr>
          </a:p>
          <a:p>
            <a:pPr marL="361950" indent="-361950" algn="just" fontAlgn="base">
              <a:spcBef>
                <a:spcPct val="0"/>
              </a:spcBef>
              <a:spcAft>
                <a:spcPct val="0"/>
              </a:spcAft>
              <a:buFont typeface="Arial" pitchFamily="34" charset="0"/>
              <a:buChar char="•"/>
            </a:pPr>
            <a:r>
              <a:rPr lang="en-US" b="1" dirty="0" smtClean="0">
                <a:latin typeface="Times New Roman" pitchFamily="18" charset="0"/>
                <a:ea typeface="Times New Roman" pitchFamily="18" charset="0"/>
                <a:cs typeface="Times New Roman" pitchFamily="18" charset="0"/>
              </a:rPr>
              <a:t>Department of Expenditure vide their OM dated 08.04.2022 has further decided that fresh appraisal shall be carried out with a view to identify whether these schemes need to be merged or closed or allowed to continue with some modifications.</a:t>
            </a:r>
          </a:p>
          <a:p>
            <a:pPr marL="361950" indent="-361950" algn="just" fontAlgn="base">
              <a:spcBef>
                <a:spcPct val="0"/>
              </a:spcBef>
              <a:spcAft>
                <a:spcPct val="0"/>
              </a:spcAft>
            </a:pPr>
            <a:endParaRPr lang="en-US" b="1" dirty="0" smtClean="0">
              <a:latin typeface="Times New Roman" pitchFamily="18" charset="0"/>
              <a:ea typeface="Times New Roman" pitchFamily="18" charset="0"/>
              <a:cs typeface="Times New Roman" pitchFamily="18" charset="0"/>
            </a:endParaRPr>
          </a:p>
          <a:p>
            <a:pPr marL="361950" indent="-361950" algn="just" fontAlgn="base">
              <a:spcBef>
                <a:spcPct val="0"/>
              </a:spcBef>
              <a:spcAft>
                <a:spcPct val="0"/>
              </a:spcAft>
              <a:buFont typeface="Arial" pitchFamily="34" charset="0"/>
              <a:buChar char="•"/>
            </a:pPr>
            <a:r>
              <a:rPr lang="en-US" b="1" dirty="0" smtClean="0">
                <a:latin typeface="Times New Roman" pitchFamily="18" charset="0"/>
                <a:ea typeface="Times New Roman" pitchFamily="18" charset="0"/>
                <a:cs typeface="Times New Roman" pitchFamily="18" charset="0"/>
              </a:rPr>
              <a:t>Based on EFC appraisal, CCEA note will be prepared &amp; continuation of the scheme in the future will be worked out. Thereafter fresh guidelines will be formulated.</a:t>
            </a:r>
          </a:p>
          <a:p>
            <a:pPr algn="just" fontAlgn="base">
              <a:spcBef>
                <a:spcPct val="0"/>
              </a:spcBef>
              <a:spcAft>
                <a:spcPct val="0"/>
              </a:spcAft>
              <a:buFont typeface="Arial" pitchFamily="34" charset="0"/>
              <a:buChar char="•"/>
            </a:pPr>
            <a:endParaRPr lang="en-US" sz="1200" b="1" dirty="0" smtClean="0">
              <a:latin typeface="Arial" pitchFamily="34" charset="0"/>
              <a:ea typeface="Times New Roman" pitchFamily="18"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tabLst/>
            </a:pPr>
            <a:endParaRPr kumimoji="0" lang="en-US" sz="1200" b="1" i="0" u="none" strike="noStrike" cap="none" normalizeH="0" baseline="0" dirty="0" smtClean="0">
              <a:ln>
                <a:noFill/>
              </a:ln>
              <a:solidFill>
                <a:schemeClr val="tx1"/>
              </a:solidFill>
              <a:effectLst/>
              <a:latin typeface="Arial" pitchFamily="34" charset="0"/>
              <a:cs typeface="Arial" pitchFamily="34" charset="0"/>
            </a:endParaRPr>
          </a:p>
        </p:txBody>
      </p:sp>
      <p:sp>
        <p:nvSpPr>
          <p:cNvPr id="5" name="Rounded Rectangle 4">
            <a:extLst>
              <a:ext uri="{FF2B5EF4-FFF2-40B4-BE49-F238E27FC236}">
                <a16:creationId xmlns:a16="http://schemas.microsoft.com/office/drawing/2014/main" xmlns="" id="{0B3AE0CE-A677-1344-BF1B-47377879818E}"/>
              </a:ext>
            </a:extLst>
          </p:cNvPr>
          <p:cNvSpPr/>
          <p:nvPr/>
        </p:nvSpPr>
        <p:spPr>
          <a:xfrm>
            <a:off x="686937" y="223375"/>
            <a:ext cx="11178492" cy="671975"/>
          </a:xfrm>
          <a:prstGeom prst="roundRect">
            <a:avLst>
              <a:gd name="adj" fmla="val 6636"/>
            </a:avLst>
          </a:prstGeom>
          <a:solidFill>
            <a:schemeClr val="accent2"/>
          </a:solidFill>
          <a:ln w="28575">
            <a:solidFill>
              <a:srgbClr val="7939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IN" sz="2400" b="1" dirty="0" smtClean="0">
                <a:latin typeface="Arial" pitchFamily="34" charset="0"/>
                <a:cs typeface="Arial" pitchFamily="34" charset="0"/>
              </a:rPr>
              <a:t>Key Points </a:t>
            </a:r>
          </a:p>
          <a:p>
            <a:pPr lvl="0" algn="ctr" fontAlgn="base">
              <a:spcBef>
                <a:spcPct val="0"/>
              </a:spcBef>
              <a:spcAft>
                <a:spcPct val="0"/>
              </a:spcAft>
            </a:pPr>
            <a:r>
              <a:rPr lang="en-US" sz="2400" b="1" dirty="0" smtClean="0">
                <a:solidFill>
                  <a:schemeClr val="bg1"/>
                </a:solidFill>
                <a:latin typeface="Times New Roman" pitchFamily="18" charset="0"/>
                <a:cs typeface="Times New Roman" pitchFamily="18" charset="0"/>
              </a:rPr>
              <a:t> </a:t>
            </a:r>
            <a:endParaRPr lang="en-US" sz="2400" b="1" dirty="0" smtClean="0">
              <a:solidFill>
                <a:schemeClr val="bg1"/>
              </a:solidFill>
              <a:latin typeface="Times New Roman" pitchFamily="18" charset="0"/>
              <a:ea typeface="Arial"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696685" y="1193177"/>
            <a:ext cx="10955497"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pPr>
            <a:endParaRPr lang="en-US" sz="2000" b="1" dirty="0" smtClean="0">
              <a:latin typeface="Times New Roman" pitchFamily="18" charset="0"/>
              <a:cs typeface="Times New Roman" pitchFamily="18" charset="0"/>
            </a:endParaRPr>
          </a:p>
          <a:p>
            <a:pPr lvl="0" algn="just" fontAlgn="base">
              <a:spcBef>
                <a:spcPct val="0"/>
              </a:spcBef>
              <a:spcAft>
                <a:spcPct val="0"/>
              </a:spcAft>
            </a:pPr>
            <a:r>
              <a:rPr lang="en-US" sz="2000" b="1" dirty="0" smtClean="0">
                <a:latin typeface="Times New Roman" pitchFamily="18" charset="0"/>
                <a:cs typeface="Times New Roman" pitchFamily="18" charset="0"/>
              </a:rPr>
              <a:t>Total budget allocation of RKVY Cafeteria scheme is Rs. 10433 </a:t>
            </a:r>
            <a:r>
              <a:rPr lang="en-US" sz="2000" b="1" dirty="0" err="1" smtClean="0">
                <a:latin typeface="Times New Roman" pitchFamily="18" charset="0"/>
                <a:cs typeface="Times New Roman" pitchFamily="18" charset="0"/>
              </a:rPr>
              <a:t>crore</a:t>
            </a:r>
            <a:r>
              <a:rPr lang="en-US" sz="2000" b="1" dirty="0" smtClean="0">
                <a:latin typeface="Times New Roman" pitchFamily="18" charset="0"/>
                <a:cs typeface="Times New Roman" pitchFamily="18" charset="0"/>
              </a:rPr>
              <a:t> for 2022-23. RKVY Cafeteria approach has t</a:t>
            </a: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hree streams </a:t>
            </a:r>
            <a:r>
              <a:rPr kumimoji="0" lang="en-US" sz="2000" b="1" i="0" u="none" strike="noStrike" cap="none" normalizeH="0" baseline="0" dirty="0" err="1" smtClean="0">
                <a:ln>
                  <a:noFill/>
                </a:ln>
                <a:solidFill>
                  <a:schemeClr val="tx1"/>
                </a:solidFill>
                <a:effectLst/>
                <a:latin typeface="Times New Roman" pitchFamily="18" charset="0"/>
                <a:cs typeface="Times New Roman" pitchFamily="18" charset="0"/>
              </a:rPr>
              <a:t>viz</a:t>
            </a: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a:t>
            </a:r>
          </a:p>
          <a:p>
            <a:pPr lvl="0" algn="just" fontAlgn="base">
              <a:spcBef>
                <a:spcPct val="0"/>
              </a:spcBef>
              <a:spcAft>
                <a:spcPct val="0"/>
              </a:spcAft>
            </a:pP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 </a:t>
            </a:r>
          </a:p>
          <a:p>
            <a:pPr lvl="0" algn="just" eaLnBrk="0" fontAlgn="base" hangingPunct="0">
              <a:spcBef>
                <a:spcPct val="0"/>
              </a:spcBef>
              <a:spcAft>
                <a:spcPct val="0"/>
              </a:spcAft>
            </a:pPr>
            <a:r>
              <a:rPr kumimoji="0" lang="en-US" sz="2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(I) Annual Action Plan component  (Cafeteria)- </a:t>
            </a:r>
            <a:r>
              <a:rPr kumimoji="0" lang="en-US" sz="2000" b="1" i="0" u="none" strike="noStrike" cap="none" normalizeH="0" dirty="0" smtClean="0">
                <a:ln>
                  <a:noFill/>
                </a:ln>
                <a:solidFill>
                  <a:schemeClr val="tx1"/>
                </a:solidFill>
                <a:effectLst/>
                <a:latin typeface="Times New Roman" pitchFamily="18" charset="0"/>
                <a:ea typeface="Calibri" pitchFamily="34" charset="0"/>
                <a:cs typeface="Times New Roman" pitchFamily="18" charset="0"/>
              </a:rPr>
              <a:t> </a:t>
            </a:r>
            <a:r>
              <a:rPr lang="en-US" sz="2000" dirty="0" smtClean="0"/>
              <a:t>Rs 5929.17 </a:t>
            </a:r>
            <a:r>
              <a:rPr lang="en-US" sz="2000" dirty="0" err="1" smtClean="0"/>
              <a:t>crores</a:t>
            </a:r>
            <a:r>
              <a:rPr lang="en-US" sz="2000" dirty="0" smtClean="0"/>
              <a:t> for 2022-23. The budget allocation is Rs. </a:t>
            </a:r>
            <a:r>
              <a:rPr lang="en-IN" sz="2000" dirty="0" smtClean="0"/>
              <a:t>2964.59 (50%) </a:t>
            </a:r>
            <a:r>
              <a:rPr lang="en-US" sz="2000" dirty="0" smtClean="0"/>
              <a:t>for six months ( i.e. up to 30</a:t>
            </a:r>
            <a:r>
              <a:rPr lang="en-US" sz="2000" baseline="30000" dirty="0" smtClean="0"/>
              <a:t>th</a:t>
            </a:r>
            <a:r>
              <a:rPr lang="en-US" sz="2000" dirty="0" smtClean="0"/>
              <a:t> September, 2022) . State-wise allocation has been done by the respective </a:t>
            </a:r>
            <a:r>
              <a:rPr lang="en-US" sz="2000" dirty="0" err="1" smtClean="0"/>
              <a:t>programme</a:t>
            </a:r>
            <a:r>
              <a:rPr lang="en-US" sz="2000" dirty="0" smtClean="0"/>
              <a:t> division</a:t>
            </a:r>
            <a:r>
              <a:rPr lang="en-US" sz="2000" b="1" dirty="0" smtClean="0"/>
              <a:t>. States/UTs will get flexibility to choose the components they want to implement as per their requirements or otherwise in a cafeteria mode. </a:t>
            </a:r>
            <a:r>
              <a:rPr lang="en-US" sz="2000" dirty="0" smtClean="0"/>
              <a:t>However for the first 6 months of this year, the scheme will operate as in the past.</a:t>
            </a:r>
            <a:endParaRPr kumimoji="0" lang="en-US" sz="2000" i="0" u="none" strike="noStrike" cap="none" normalizeH="0" baseline="0" dirty="0" smtClean="0">
              <a:ln>
                <a:noFill/>
              </a:ln>
              <a:solidFill>
                <a:schemeClr val="tx1"/>
              </a:solidFill>
              <a:effectLst/>
              <a:latin typeface="Times New Roman" pitchFamily="18" charset="0"/>
              <a:cs typeface="Times New Roman" pitchFamily="18" charset="0"/>
            </a:endParaRPr>
          </a:p>
          <a:p>
            <a:pPr lvl="0" algn="just" eaLnBrk="0" fontAlgn="base" hangingPunct="0">
              <a:spcBef>
                <a:spcPct val="0"/>
              </a:spcBef>
              <a:spcAft>
                <a:spcPct val="0"/>
              </a:spcAft>
            </a:pP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lvl="0" algn="just" eaLnBrk="0" fontAlgn="base" hangingPunct="0">
              <a:spcBef>
                <a:spcPct val="0"/>
              </a:spcBef>
              <a:spcAft>
                <a:spcPct val="0"/>
              </a:spcAft>
            </a:pPr>
            <a:r>
              <a:rPr lang="en-US" sz="2000" b="1" dirty="0" smtClean="0">
                <a:latin typeface="Times New Roman" pitchFamily="18" charset="0"/>
                <a:ea typeface="Calibri" pitchFamily="34" charset="0"/>
                <a:cs typeface="Times New Roman" pitchFamily="18" charset="0"/>
              </a:rPr>
              <a:t>(II) </a:t>
            </a:r>
            <a:r>
              <a:rPr kumimoji="0" lang="en-US" sz="2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Detailed Project Report (DPR) based schemes-</a:t>
            </a:r>
            <a:r>
              <a:rPr kumimoji="0" lang="en-US" sz="2000" b="1" i="0" u="none" strike="noStrike" cap="none" normalizeH="0" dirty="0" smtClean="0">
                <a:ln>
                  <a:noFill/>
                </a:ln>
                <a:solidFill>
                  <a:schemeClr val="tx1"/>
                </a:solidFill>
                <a:effectLst/>
                <a:latin typeface="Times New Roman" pitchFamily="18" charset="0"/>
                <a:ea typeface="Calibri" pitchFamily="34" charset="0"/>
                <a:cs typeface="Times New Roman" pitchFamily="18" charset="0"/>
              </a:rPr>
              <a:t> </a:t>
            </a:r>
            <a:r>
              <a:rPr lang="en-US" sz="2000" dirty="0" smtClean="0"/>
              <a:t>Rs. 3222.15 </a:t>
            </a:r>
            <a:r>
              <a:rPr lang="en-US" sz="2000" dirty="0" err="1" smtClean="0"/>
              <a:t>crores</a:t>
            </a:r>
            <a:r>
              <a:rPr lang="en-US" sz="2000" dirty="0" smtClean="0"/>
              <a:t>. The budget allocation is Rs. </a:t>
            </a:r>
            <a:r>
              <a:rPr lang="en-IN" sz="2000" dirty="0" smtClean="0"/>
              <a:t>1611.07  (50%) </a:t>
            </a:r>
            <a:r>
              <a:rPr lang="en-US" sz="2000" dirty="0" smtClean="0"/>
              <a:t>for six months ( i.e. up to 30</a:t>
            </a:r>
            <a:r>
              <a:rPr lang="en-US" sz="2000" baseline="30000" dirty="0" smtClean="0"/>
              <a:t>th</a:t>
            </a:r>
            <a:r>
              <a:rPr lang="en-US" sz="2000" dirty="0" smtClean="0"/>
              <a:t> September, 2022)</a:t>
            </a:r>
            <a:r>
              <a:rPr lang="en-IN" sz="2000" dirty="0" smtClean="0"/>
              <a:t>.  </a:t>
            </a:r>
            <a:r>
              <a:rPr lang="en-US" sz="2000" dirty="0" smtClean="0"/>
              <a:t>Data on 6 parameters of last year </a:t>
            </a:r>
            <a:r>
              <a:rPr lang="en-US" sz="2000" dirty="0" err="1" smtClean="0"/>
              <a:t>i.e</a:t>
            </a:r>
            <a:r>
              <a:rPr lang="en-US" sz="2000" dirty="0" smtClean="0"/>
              <a:t> 2021-22 adopted since allocation is for only 6 months.</a:t>
            </a:r>
            <a:endParaRPr kumimoji="0" lang="en-US" sz="200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en-US"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endParaRPr>
          </a:p>
          <a:p>
            <a:pPr algn="just" eaLnBrk="0" fontAlgn="base" hangingPunct="0">
              <a:spcBef>
                <a:spcPct val="0"/>
              </a:spcBef>
              <a:spcAft>
                <a:spcPct val="0"/>
              </a:spcAft>
            </a:pPr>
            <a:r>
              <a:rPr kumimoji="0" lang="en-US"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(III) Administration, Monitoring and Evaluation (including startup component)-</a:t>
            </a:r>
            <a:r>
              <a:rPr kumimoji="0" lang="en-US" sz="2000" b="1" i="0" u="none" strike="noStrike" cap="none" normalizeH="0" dirty="0" smtClean="0">
                <a:ln>
                  <a:noFill/>
                </a:ln>
                <a:solidFill>
                  <a:schemeClr val="tx1"/>
                </a:solidFill>
                <a:effectLst/>
                <a:latin typeface="Times New Roman" pitchFamily="18" charset="0"/>
                <a:ea typeface="Times New Roman" pitchFamily="18" charset="0"/>
                <a:cs typeface="Times New Roman" pitchFamily="18" charset="0"/>
              </a:rPr>
              <a:t> </a:t>
            </a:r>
            <a:r>
              <a:rPr kumimoji="0" lang="en-US" sz="2000" i="0" u="none" strike="noStrike" cap="none" normalizeH="0" dirty="0" smtClean="0">
                <a:ln>
                  <a:noFill/>
                </a:ln>
                <a:solidFill>
                  <a:schemeClr val="tx1"/>
                </a:solidFill>
                <a:effectLst/>
                <a:latin typeface="Times New Roman" pitchFamily="18" charset="0"/>
                <a:ea typeface="Times New Roman" pitchFamily="18" charset="0"/>
                <a:cs typeface="Times New Roman" pitchFamily="18" charset="0"/>
              </a:rPr>
              <a:t>Rs. </a:t>
            </a:r>
            <a:r>
              <a:rPr lang="en-IN" sz="2000" dirty="0" smtClean="0">
                <a:solidFill>
                  <a:srgbClr val="000000"/>
                </a:solidFill>
                <a:latin typeface="Times New Roman"/>
                <a:ea typeface="Times New Roman"/>
                <a:cs typeface="Mangal"/>
              </a:rPr>
              <a:t> 444.68 </a:t>
            </a:r>
            <a:r>
              <a:rPr lang="en-IN" sz="2000" dirty="0" err="1" smtClean="0">
                <a:solidFill>
                  <a:srgbClr val="000000"/>
                </a:solidFill>
                <a:latin typeface="Times New Roman"/>
                <a:ea typeface="Times New Roman"/>
                <a:cs typeface="Mangal"/>
              </a:rPr>
              <a:t>crore</a:t>
            </a:r>
            <a:r>
              <a:rPr lang="en-IN" sz="2000" dirty="0" smtClean="0">
                <a:solidFill>
                  <a:srgbClr val="000000"/>
                </a:solidFill>
                <a:latin typeface="Times New Roman"/>
                <a:ea typeface="Times New Roman"/>
                <a:cs typeface="Mangal"/>
              </a:rPr>
              <a:t>  and other components i.e. Rs. 700 cr. for CRM, Rs. 100 cr. for NABARD subsidy and Rs. 37 cr. for SAP.</a:t>
            </a:r>
            <a:endParaRPr lang="en-IN" sz="2000" dirty="0" smtClean="0">
              <a:latin typeface="Calibri"/>
              <a:ea typeface="Times New Roman"/>
              <a:cs typeface="Mangal"/>
            </a:endParaRPr>
          </a:p>
          <a:p>
            <a:pPr marL="0" marR="0" lvl="0" indent="0" algn="just" defTabSz="914400" rtl="0" eaLnBrk="0" fontAlgn="base" latinLnBrk="0" hangingPunct="0">
              <a:lnSpc>
                <a:spcPct val="100000"/>
              </a:lnSpc>
              <a:spcBef>
                <a:spcPct val="0"/>
              </a:spcBef>
              <a:spcAft>
                <a:spcPct val="0"/>
              </a:spcAft>
              <a:buClrTx/>
              <a:buSzTx/>
              <a:tabLst/>
            </a:pPr>
            <a:endParaRPr kumimoji="0" lang="en-US" sz="2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 name="Rounded Rectangle 2">
            <a:extLst>
              <a:ext uri="{FF2B5EF4-FFF2-40B4-BE49-F238E27FC236}">
                <a16:creationId xmlns:a16="http://schemas.microsoft.com/office/drawing/2014/main" xmlns="" id="{0B3AE0CE-A677-1344-BF1B-47377879818E}"/>
              </a:ext>
            </a:extLst>
          </p:cNvPr>
          <p:cNvSpPr/>
          <p:nvPr/>
        </p:nvSpPr>
        <p:spPr>
          <a:xfrm>
            <a:off x="534537" y="147175"/>
            <a:ext cx="11178492" cy="1030375"/>
          </a:xfrm>
          <a:prstGeom prst="roundRect">
            <a:avLst>
              <a:gd name="adj" fmla="val 6636"/>
            </a:avLst>
          </a:prstGeom>
          <a:solidFill>
            <a:schemeClr val="accent2"/>
          </a:solidFill>
          <a:ln w="28575">
            <a:solidFill>
              <a:srgbClr val="7939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0"/>
              </a:spcBef>
              <a:spcAft>
                <a:spcPct val="0"/>
              </a:spcAft>
            </a:pPr>
            <a:r>
              <a:rPr lang="en-US" sz="2400" b="1" dirty="0" smtClean="0">
                <a:solidFill>
                  <a:schemeClr val="bg1"/>
                </a:solidFill>
                <a:latin typeface="Times New Roman" pitchFamily="18" charset="0"/>
                <a:ea typeface="Arial" pitchFamily="34" charset="0"/>
                <a:cs typeface="Times New Roman" pitchFamily="18" charset="0"/>
              </a:rPr>
              <a:t>RKVY-RAFTAAR – Cafeteria approach</a:t>
            </a:r>
            <a:endParaRPr lang="en-US" sz="2400" b="1" dirty="0" smtClean="0">
              <a:solidFill>
                <a:schemeClr val="bg1"/>
              </a:solidFill>
              <a:latin typeface="Arial" pitchFamily="34" charset="0"/>
              <a:ea typeface="Arial" pitchFamily="34" charset="0"/>
              <a:cs typeface="Arial"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1608800"/>
          <a:ext cx="10572749" cy="5088177"/>
        </p:xfrm>
        <a:graphic>
          <a:graphicData uri="http://schemas.openxmlformats.org/drawingml/2006/table">
            <a:tbl>
              <a:tblPr/>
              <a:tblGrid>
                <a:gridCol w="1074497"/>
                <a:gridCol w="4202353"/>
                <a:gridCol w="2590800"/>
                <a:gridCol w="2705099"/>
              </a:tblGrid>
              <a:tr h="525166">
                <a:tc>
                  <a:txBody>
                    <a:bodyPr/>
                    <a:lstStyle/>
                    <a:p>
                      <a:pPr algn="ct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Sl. No. </a:t>
                      </a:r>
                      <a:endParaRPr lang="en-IN" sz="1600" b="1"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Name of the </a:t>
                      </a:r>
                      <a:r>
                        <a:rPr lang="en-IN" sz="1600" b="1" dirty="0" smtClean="0">
                          <a:solidFill>
                            <a:srgbClr val="000000"/>
                          </a:solidFill>
                          <a:latin typeface="Times New Roman" pitchFamily="18" charset="0"/>
                          <a:ea typeface="Times New Roman"/>
                          <a:cs typeface="Times New Roman" pitchFamily="18" charset="0"/>
                        </a:rPr>
                        <a:t>Components</a:t>
                      </a:r>
                      <a:endParaRPr lang="en-IN" sz="1600" b="1"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Total</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50% of </a:t>
                      </a:r>
                      <a:r>
                        <a:rPr lang="en-IN" sz="1600" b="1" dirty="0" smtClean="0">
                          <a:solidFill>
                            <a:srgbClr val="000000"/>
                          </a:solidFill>
                          <a:latin typeface="Times New Roman" pitchFamily="18" charset="0"/>
                          <a:ea typeface="Times New Roman"/>
                          <a:cs typeface="Times New Roman" pitchFamily="18" charset="0"/>
                        </a:rPr>
                        <a:t> total Allocation</a:t>
                      </a:r>
                    </a:p>
                    <a:p>
                      <a:pPr algn="ctr">
                        <a:lnSpc>
                          <a:spcPct val="115000"/>
                        </a:lnSpc>
                        <a:spcAft>
                          <a:spcPts val="0"/>
                        </a:spcAft>
                      </a:pPr>
                      <a:r>
                        <a:rPr lang="en-IN" sz="1600" b="1" dirty="0" smtClean="0">
                          <a:solidFill>
                            <a:srgbClr val="000000"/>
                          </a:solidFill>
                          <a:latin typeface="Times New Roman" pitchFamily="18" charset="0"/>
                          <a:ea typeface="Times New Roman"/>
                          <a:cs typeface="Times New Roman" pitchFamily="18" charset="0"/>
                        </a:rPr>
                        <a:t>(</a:t>
                      </a:r>
                      <a:r>
                        <a:rPr lang="en-IN" sz="1600" b="1" dirty="0" err="1" smtClean="0">
                          <a:solidFill>
                            <a:srgbClr val="000000"/>
                          </a:solidFill>
                          <a:latin typeface="Times New Roman" pitchFamily="18" charset="0"/>
                          <a:ea typeface="Times New Roman"/>
                          <a:cs typeface="Times New Roman" pitchFamily="18" charset="0"/>
                        </a:rPr>
                        <a:t>upto</a:t>
                      </a:r>
                      <a:r>
                        <a:rPr lang="en-IN" sz="1600" b="1" dirty="0" smtClean="0">
                          <a:solidFill>
                            <a:srgbClr val="000000"/>
                          </a:solidFill>
                          <a:latin typeface="Times New Roman" pitchFamily="18" charset="0"/>
                          <a:ea typeface="Times New Roman"/>
                          <a:cs typeface="Times New Roman" pitchFamily="18" charset="0"/>
                        </a:rPr>
                        <a:t> 30.09.2022)</a:t>
                      </a:r>
                      <a:endParaRPr lang="en-IN" sz="1600" b="1"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62583">
                <a:tc>
                  <a:txBody>
                    <a:bodyPr/>
                    <a:lstStyle/>
                    <a:p>
                      <a:pP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 I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AAP based RKVY</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pPr>
                      <a:endParaRPr lang="en-IN" sz="1600">
                        <a:latin typeface="Times New Roman" pitchFamily="18" charset="0"/>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pPr>
                      <a:endParaRPr lang="en-IN" sz="1600" dirty="0">
                        <a:latin typeface="Times New Roman" pitchFamily="18" charset="0"/>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6723">
                <a:tc>
                  <a:txBody>
                    <a:bodyPr/>
                    <a:lstStyle/>
                    <a:p>
                      <a:pPr algn="ct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1</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PDMC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a:solidFill>
                            <a:srgbClr val="000000"/>
                          </a:solidFill>
                          <a:latin typeface="Times New Roman" pitchFamily="18" charset="0"/>
                          <a:ea typeface="Times New Roman"/>
                          <a:cs typeface="Times New Roman" pitchFamily="18" charset="0"/>
                        </a:rPr>
                        <a:t>3979.55</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a:solidFill>
                            <a:srgbClr val="000000"/>
                          </a:solidFill>
                          <a:latin typeface="Times New Roman" pitchFamily="18" charset="0"/>
                          <a:ea typeface="Times New Roman"/>
                          <a:cs typeface="Times New Roman" pitchFamily="18" charset="0"/>
                        </a:rPr>
                        <a:t>1989.78</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1232">
                <a:tc>
                  <a:txBody>
                    <a:bodyPr/>
                    <a:lstStyle/>
                    <a:p>
                      <a:pPr algn="ctr">
                        <a:lnSpc>
                          <a:spcPct val="115000"/>
                        </a:lnSpc>
                        <a:spcAft>
                          <a:spcPts val="0"/>
                        </a:spcAft>
                      </a:pPr>
                      <a:r>
                        <a:rPr lang="en-IN" sz="1600">
                          <a:solidFill>
                            <a:srgbClr val="000000"/>
                          </a:solidFill>
                          <a:latin typeface="Times New Roman" pitchFamily="18" charset="0"/>
                          <a:ea typeface="Times New Roman"/>
                          <a:cs typeface="Times New Roman" pitchFamily="18" charset="0"/>
                        </a:rPr>
                        <a:t>2</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SMAM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a:solidFill>
                            <a:srgbClr val="000000"/>
                          </a:solidFill>
                          <a:latin typeface="Times New Roman" pitchFamily="18" charset="0"/>
                          <a:ea typeface="Times New Roman"/>
                          <a:cs typeface="Times New Roman" pitchFamily="18" charset="0"/>
                        </a:rPr>
                        <a:t>950.89</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a:solidFill>
                            <a:srgbClr val="000000"/>
                          </a:solidFill>
                          <a:latin typeface="Times New Roman" pitchFamily="18" charset="0"/>
                          <a:ea typeface="Times New Roman"/>
                          <a:cs typeface="Times New Roman" pitchFamily="18" charset="0"/>
                        </a:rPr>
                        <a:t>475.45</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62583">
                <a:tc>
                  <a:txBody>
                    <a:bodyPr/>
                    <a:lstStyle/>
                    <a:p>
                      <a:pPr algn="ctr">
                        <a:lnSpc>
                          <a:spcPct val="115000"/>
                        </a:lnSpc>
                        <a:spcAft>
                          <a:spcPts val="0"/>
                        </a:spcAft>
                      </a:pPr>
                      <a:r>
                        <a:rPr lang="en-IN" sz="1600">
                          <a:solidFill>
                            <a:srgbClr val="000000"/>
                          </a:solidFill>
                          <a:latin typeface="Times New Roman" pitchFamily="18" charset="0"/>
                          <a:ea typeface="Times New Roman"/>
                          <a:cs typeface="Times New Roman" pitchFamily="18" charset="0"/>
                        </a:rPr>
                        <a:t>3</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Org. </a:t>
                      </a:r>
                      <a:r>
                        <a:rPr lang="en-IN" sz="1600" dirty="0" err="1">
                          <a:solidFill>
                            <a:srgbClr val="000000"/>
                          </a:solidFill>
                          <a:latin typeface="Times New Roman" pitchFamily="18" charset="0"/>
                          <a:ea typeface="Times New Roman"/>
                          <a:cs typeface="Times New Roman" pitchFamily="18" charset="0"/>
                        </a:rPr>
                        <a:t>Fmg</a:t>
                      </a:r>
                      <a:r>
                        <a:rPr lang="en-IN" sz="1600" dirty="0">
                          <a:solidFill>
                            <a:srgbClr val="000000"/>
                          </a:solidFill>
                          <a:latin typeface="Times New Roman" pitchFamily="18" charset="0"/>
                          <a:ea typeface="Times New Roman"/>
                          <a:cs typeface="Times New Roman" pitchFamily="18" charset="0"/>
                        </a:rPr>
                        <a:t>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a:solidFill>
                            <a:srgbClr val="000000"/>
                          </a:solidFill>
                          <a:latin typeface="Times New Roman" pitchFamily="18" charset="0"/>
                          <a:ea typeface="Times New Roman"/>
                          <a:cs typeface="Times New Roman" pitchFamily="18" charset="0"/>
                        </a:rPr>
                        <a:t>487.80</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a:solidFill>
                            <a:srgbClr val="000000"/>
                          </a:solidFill>
                          <a:latin typeface="Times New Roman" pitchFamily="18" charset="0"/>
                          <a:ea typeface="Times New Roman"/>
                          <a:cs typeface="Times New Roman" pitchFamily="18" charset="0"/>
                        </a:rPr>
                        <a:t>243.90</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67005">
                <a:tc>
                  <a:txBody>
                    <a:bodyPr/>
                    <a:lstStyle/>
                    <a:p>
                      <a:pPr algn="ctr">
                        <a:lnSpc>
                          <a:spcPct val="115000"/>
                        </a:lnSpc>
                        <a:spcAft>
                          <a:spcPts val="0"/>
                        </a:spcAft>
                      </a:pPr>
                      <a:r>
                        <a:rPr lang="en-IN" sz="1600">
                          <a:solidFill>
                            <a:srgbClr val="000000"/>
                          </a:solidFill>
                          <a:latin typeface="Times New Roman" pitchFamily="18" charset="0"/>
                          <a:ea typeface="Times New Roman"/>
                          <a:cs typeface="Times New Roman" pitchFamily="18" charset="0"/>
                        </a:rPr>
                        <a:t>4</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Soil Health</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a:solidFill>
                            <a:srgbClr val="000000"/>
                          </a:solidFill>
                          <a:latin typeface="Times New Roman" pitchFamily="18" charset="0"/>
                          <a:ea typeface="Times New Roman"/>
                          <a:cs typeface="Times New Roman" pitchFamily="18" charset="0"/>
                        </a:rPr>
                        <a:t>310.78</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a:solidFill>
                            <a:srgbClr val="000000"/>
                          </a:solidFill>
                          <a:latin typeface="Times New Roman" pitchFamily="18" charset="0"/>
                          <a:ea typeface="Times New Roman"/>
                          <a:cs typeface="Times New Roman" pitchFamily="18" charset="0"/>
                        </a:rPr>
                        <a:t>155.39</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62583">
                <a:tc>
                  <a:txBody>
                    <a:bodyPr/>
                    <a:lstStyle/>
                    <a:p>
                      <a:pPr algn="ctr">
                        <a:lnSpc>
                          <a:spcPct val="115000"/>
                        </a:lnSpc>
                        <a:spcAft>
                          <a:spcPts val="0"/>
                        </a:spcAft>
                      </a:pPr>
                      <a:r>
                        <a:rPr lang="en-IN" sz="1600">
                          <a:solidFill>
                            <a:srgbClr val="000000"/>
                          </a:solidFill>
                          <a:latin typeface="Times New Roman" pitchFamily="18" charset="0"/>
                          <a:ea typeface="Times New Roman"/>
                          <a:cs typeface="Times New Roman" pitchFamily="18" charset="0"/>
                        </a:rPr>
                        <a:t>5</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RAD</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a:solidFill>
                            <a:srgbClr val="000000"/>
                          </a:solidFill>
                          <a:latin typeface="Times New Roman" pitchFamily="18" charset="0"/>
                          <a:ea typeface="Times New Roman"/>
                          <a:cs typeface="Times New Roman" pitchFamily="18" charset="0"/>
                        </a:rPr>
                        <a:t>200.15</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100.08</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62583">
                <a:tc>
                  <a:txBody>
                    <a:bodyPr/>
                    <a:lstStyle/>
                    <a:p>
                      <a:pPr algn="ctr">
                        <a:lnSpc>
                          <a:spcPct val="115000"/>
                        </a:lnSpc>
                        <a:spcAft>
                          <a:spcPts val="0"/>
                        </a:spcAft>
                      </a:pPr>
                      <a:r>
                        <a:rPr lang="en-IN" sz="1600">
                          <a:solidFill>
                            <a:srgbClr val="000000"/>
                          </a:solidFill>
                          <a:latin typeface="Times New Roman" pitchFamily="18" charset="0"/>
                          <a:ea typeface="Times New Roman"/>
                          <a:cs typeface="Times New Roman" pitchFamily="18" charset="0"/>
                        </a:rPr>
                        <a:t>6</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Village </a:t>
                      </a:r>
                      <a:r>
                        <a:rPr lang="en-IN" sz="1600" dirty="0" err="1">
                          <a:solidFill>
                            <a:srgbClr val="000000"/>
                          </a:solidFill>
                          <a:latin typeface="Times New Roman" pitchFamily="18" charset="0"/>
                          <a:ea typeface="Times New Roman"/>
                          <a:cs typeface="Times New Roman" pitchFamily="18" charset="0"/>
                        </a:rPr>
                        <a:t>Haat</a:t>
                      </a:r>
                      <a:r>
                        <a:rPr lang="en-IN" sz="1600" dirty="0">
                          <a:solidFill>
                            <a:srgbClr val="000000"/>
                          </a:solidFill>
                          <a:latin typeface="Times New Roman" pitchFamily="18" charset="0"/>
                          <a:ea typeface="Times New Roman"/>
                          <a:cs typeface="Times New Roman" pitchFamily="18" charset="0"/>
                        </a:rPr>
                        <a:t>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0.00</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0.00</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0381">
                <a:tc>
                  <a:txBody>
                    <a:bodyPr/>
                    <a:lstStyle/>
                    <a:p>
                      <a:pPr algn="ct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Total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a:solidFill>
                            <a:srgbClr val="000000"/>
                          </a:solidFill>
                          <a:latin typeface="Times New Roman" pitchFamily="18" charset="0"/>
                          <a:ea typeface="Times New Roman"/>
                          <a:cs typeface="Times New Roman" pitchFamily="18" charset="0"/>
                        </a:rPr>
                        <a:t>5929.17</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a:solidFill>
                            <a:srgbClr val="000000"/>
                          </a:solidFill>
                          <a:latin typeface="Times New Roman" pitchFamily="18" charset="0"/>
                          <a:ea typeface="Times New Roman"/>
                          <a:cs typeface="Times New Roman" pitchFamily="18" charset="0"/>
                        </a:rPr>
                        <a:t>2964.59</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62583">
                <a:tc>
                  <a:txBody>
                    <a:bodyPr/>
                    <a:lstStyle/>
                    <a:p>
                      <a:pPr algn="ctr">
                        <a:lnSpc>
                          <a:spcPct val="115000"/>
                        </a:lnSpc>
                        <a:spcAft>
                          <a:spcPts val="0"/>
                        </a:spcAft>
                      </a:pPr>
                      <a:r>
                        <a:rPr lang="en-IN" sz="1600" b="1">
                          <a:solidFill>
                            <a:srgbClr val="000000"/>
                          </a:solidFill>
                          <a:latin typeface="Times New Roman" pitchFamily="18" charset="0"/>
                          <a:ea typeface="Times New Roman"/>
                          <a:cs typeface="Times New Roman" pitchFamily="18" charset="0"/>
                        </a:rPr>
                        <a:t> </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a:solidFill>
                            <a:srgbClr val="000000"/>
                          </a:solidFill>
                          <a:latin typeface="Times New Roman" pitchFamily="18" charset="0"/>
                          <a:ea typeface="Times New Roman"/>
                          <a:cs typeface="Times New Roman" pitchFamily="18" charset="0"/>
                        </a:rPr>
                        <a:t> </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75039">
                <a:tc>
                  <a:txBody>
                    <a:bodyPr/>
                    <a:lstStyle/>
                    <a:p>
                      <a:pPr algn="ctr">
                        <a:lnSpc>
                          <a:spcPct val="115000"/>
                        </a:lnSpc>
                        <a:spcAft>
                          <a:spcPts val="0"/>
                        </a:spcAft>
                      </a:pPr>
                      <a:r>
                        <a:rPr lang="en-IN" sz="1600" b="1">
                          <a:solidFill>
                            <a:srgbClr val="000000"/>
                          </a:solidFill>
                          <a:latin typeface="Times New Roman" pitchFamily="18" charset="0"/>
                          <a:ea typeface="Times New Roman"/>
                          <a:cs typeface="Times New Roman" pitchFamily="18" charset="0"/>
                        </a:rPr>
                        <a:t>II</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RKVY DPR based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3222.15</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a:latin typeface="Times New Roman" pitchFamily="18" charset="0"/>
                          <a:ea typeface="Times New Roman"/>
                          <a:cs typeface="Times New Roman" pitchFamily="18" charset="0"/>
                        </a:rPr>
                        <a:t>1611.07 </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15001">
                <a:tc>
                  <a:txBody>
                    <a:bodyPr/>
                    <a:lstStyle/>
                    <a:p>
                      <a:pPr algn="ctr">
                        <a:lnSpc>
                          <a:spcPct val="115000"/>
                        </a:lnSpc>
                        <a:spcAft>
                          <a:spcPts val="0"/>
                        </a:spcAft>
                      </a:pPr>
                      <a:r>
                        <a:rPr lang="en-IN" sz="1600" b="1">
                          <a:solidFill>
                            <a:srgbClr val="000000"/>
                          </a:solidFill>
                          <a:latin typeface="Times New Roman" pitchFamily="18" charset="0"/>
                          <a:ea typeface="Times New Roman"/>
                          <a:cs typeface="Times New Roman" pitchFamily="18" charset="0"/>
                        </a:rPr>
                        <a:t>III </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Admin, Monitoring Evaluation and </a:t>
                      </a:r>
                      <a:r>
                        <a:rPr lang="en-IN" sz="1600" b="1" dirty="0" err="1">
                          <a:solidFill>
                            <a:srgbClr val="000000"/>
                          </a:solidFill>
                          <a:latin typeface="Times New Roman" pitchFamily="18" charset="0"/>
                          <a:ea typeface="Times New Roman"/>
                          <a:cs typeface="Times New Roman" pitchFamily="18" charset="0"/>
                        </a:rPr>
                        <a:t>Startups</a:t>
                      </a:r>
                      <a:r>
                        <a:rPr lang="en-IN" sz="1600" b="1" dirty="0">
                          <a:solidFill>
                            <a:srgbClr val="000000"/>
                          </a:solidFill>
                          <a:latin typeface="Times New Roman" pitchFamily="18" charset="0"/>
                          <a:ea typeface="Times New Roman"/>
                          <a:cs typeface="Times New Roman" pitchFamily="18" charset="0"/>
                        </a:rPr>
                        <a:t>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444.68</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62583">
                <a:tc>
                  <a:txBody>
                    <a:bodyPr/>
                    <a:lstStyle/>
                    <a:p>
                      <a:pPr algn="ctr">
                        <a:lnSpc>
                          <a:spcPct val="115000"/>
                        </a:lnSpc>
                        <a:spcAft>
                          <a:spcPts val="0"/>
                        </a:spcAft>
                      </a:pPr>
                      <a:r>
                        <a:rPr lang="en-IN" sz="1600">
                          <a:solidFill>
                            <a:srgbClr val="000000"/>
                          </a:solidFill>
                          <a:latin typeface="Times New Roman" pitchFamily="18" charset="0"/>
                          <a:ea typeface="Times New Roman"/>
                          <a:cs typeface="Times New Roman" pitchFamily="18" charset="0"/>
                        </a:rPr>
                        <a:t> </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PDMC NABARD </a:t>
                      </a:r>
                      <a:r>
                        <a:rPr lang="en-IN" sz="1600" dirty="0" smtClean="0">
                          <a:solidFill>
                            <a:srgbClr val="000000"/>
                          </a:solidFill>
                          <a:latin typeface="Times New Roman" pitchFamily="18" charset="0"/>
                          <a:ea typeface="Times New Roman"/>
                          <a:cs typeface="Times New Roman" pitchFamily="18" charset="0"/>
                        </a:rPr>
                        <a:t>Subsidy</a:t>
                      </a:r>
                      <a:r>
                        <a:rPr lang="en-IN" sz="1600" dirty="0">
                          <a:solidFill>
                            <a:srgbClr val="000000"/>
                          </a:solidFill>
                          <a:latin typeface="Times New Roman" pitchFamily="18" charset="0"/>
                          <a:ea typeface="Times New Roman"/>
                          <a:cs typeface="Times New Roman" pitchFamily="18" charset="0"/>
                        </a:rPr>
                        <a:t>)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100.00</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a:solidFill>
                            <a:srgbClr val="000000"/>
                          </a:solidFill>
                          <a:latin typeface="Times New Roman" pitchFamily="18" charset="0"/>
                          <a:ea typeface="Times New Roman"/>
                          <a:cs typeface="Times New Roman" pitchFamily="18" charset="0"/>
                        </a:rPr>
                        <a:t> </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62583">
                <a:tc>
                  <a:txBody>
                    <a:bodyPr/>
                    <a:lstStyle/>
                    <a:p>
                      <a:pPr algn="ctr">
                        <a:lnSpc>
                          <a:spcPct val="115000"/>
                        </a:lnSpc>
                        <a:spcAft>
                          <a:spcPts val="0"/>
                        </a:spcAft>
                      </a:pPr>
                      <a:r>
                        <a:rPr lang="en-IN" sz="1600">
                          <a:solidFill>
                            <a:srgbClr val="000000"/>
                          </a:solidFill>
                          <a:latin typeface="Times New Roman" pitchFamily="18" charset="0"/>
                          <a:ea typeface="Times New Roman"/>
                          <a:cs typeface="Times New Roman" pitchFamily="18" charset="0"/>
                        </a:rPr>
                        <a:t> </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a:solidFill>
                            <a:srgbClr val="000000"/>
                          </a:solidFill>
                          <a:latin typeface="Times New Roman" pitchFamily="18" charset="0"/>
                          <a:ea typeface="Times New Roman"/>
                          <a:cs typeface="Times New Roman" pitchFamily="18" charset="0"/>
                        </a:rPr>
                        <a:t>SAP</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37.00</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62583">
                <a:tc>
                  <a:txBody>
                    <a:bodyPr/>
                    <a:lstStyle/>
                    <a:p>
                      <a:pPr algn="ctr">
                        <a:lnSpc>
                          <a:spcPct val="115000"/>
                        </a:lnSpc>
                        <a:spcAft>
                          <a:spcPts val="0"/>
                        </a:spcAft>
                      </a:pPr>
                      <a:r>
                        <a:rPr lang="en-IN" sz="1600">
                          <a:solidFill>
                            <a:srgbClr val="000000"/>
                          </a:solidFill>
                          <a:latin typeface="Times New Roman" pitchFamily="18" charset="0"/>
                          <a:ea typeface="Times New Roman"/>
                          <a:cs typeface="Times New Roman" pitchFamily="18" charset="0"/>
                        </a:rPr>
                        <a:t> </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a:solidFill>
                            <a:srgbClr val="000000"/>
                          </a:solidFill>
                          <a:latin typeface="Times New Roman" pitchFamily="18" charset="0"/>
                          <a:ea typeface="Times New Roman"/>
                          <a:cs typeface="Times New Roman" pitchFamily="18" charset="0"/>
                        </a:rPr>
                        <a:t>CRM (2435)</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700.00</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dirty="0">
                          <a:solidFill>
                            <a:srgbClr val="000000"/>
                          </a:solidFill>
                          <a:latin typeface="Times New Roman" pitchFamily="18" charset="0"/>
                          <a:ea typeface="Times New Roman"/>
                          <a:cs typeface="Times New Roman" pitchFamily="18" charset="0"/>
                        </a:rPr>
                        <a:t>350.00</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6041">
                <a:tc>
                  <a:txBody>
                    <a:bodyPr/>
                    <a:lstStyle/>
                    <a:p>
                      <a:pPr algn="ctr">
                        <a:lnSpc>
                          <a:spcPct val="115000"/>
                        </a:lnSpc>
                        <a:spcAft>
                          <a:spcPts val="0"/>
                        </a:spcAft>
                      </a:pPr>
                      <a:r>
                        <a:rPr lang="en-IN" sz="1600" b="1">
                          <a:solidFill>
                            <a:srgbClr val="000000"/>
                          </a:solidFill>
                          <a:latin typeface="Times New Roman" pitchFamily="18" charset="0"/>
                          <a:ea typeface="Times New Roman"/>
                          <a:cs typeface="Times New Roman" pitchFamily="18" charset="0"/>
                        </a:rPr>
                        <a:t> </a:t>
                      </a:r>
                      <a:endParaRPr lang="en-IN" sz="160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Grand Total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10433.00</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600" b="1" dirty="0">
                          <a:solidFill>
                            <a:srgbClr val="000000"/>
                          </a:solidFill>
                          <a:latin typeface="Times New Roman" pitchFamily="18" charset="0"/>
                          <a:ea typeface="Times New Roman"/>
                          <a:cs typeface="Times New Roman" pitchFamily="18" charset="0"/>
                        </a:rPr>
                        <a:t> </a:t>
                      </a:r>
                      <a:endParaRPr lang="en-IN" sz="1600" dirty="0">
                        <a:latin typeface="Times New Roman" pitchFamily="18" charset="0"/>
                        <a:ea typeface="Times New Roman"/>
                        <a:cs typeface="Times New Roman" pitchFamily="18" charset="0"/>
                      </a:endParaRPr>
                    </a:p>
                  </a:txBody>
                  <a:tcPr marL="68580" marR="685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6" name="Rounded Rectangle 5">
            <a:extLst>
              <a:ext uri="{FF2B5EF4-FFF2-40B4-BE49-F238E27FC236}">
                <a16:creationId xmlns:a16="http://schemas.microsoft.com/office/drawing/2014/main" xmlns="" id="{0B3AE0CE-A677-1344-BF1B-47377879818E}"/>
              </a:ext>
            </a:extLst>
          </p:cNvPr>
          <p:cNvSpPr/>
          <p:nvPr/>
        </p:nvSpPr>
        <p:spPr>
          <a:xfrm>
            <a:off x="534537" y="147175"/>
            <a:ext cx="11178492" cy="1030375"/>
          </a:xfrm>
          <a:prstGeom prst="roundRect">
            <a:avLst>
              <a:gd name="adj" fmla="val 6636"/>
            </a:avLst>
          </a:prstGeom>
          <a:solidFill>
            <a:schemeClr val="accent2"/>
          </a:solidFill>
          <a:ln w="28575">
            <a:solidFill>
              <a:srgbClr val="7939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IN" sz="2400" b="1" dirty="0" smtClean="0">
                <a:solidFill>
                  <a:schemeClr val="bg1"/>
                </a:solidFill>
                <a:latin typeface="Times New Roman"/>
              </a:rPr>
              <a:t>Budget allocation - </a:t>
            </a:r>
            <a:r>
              <a:rPr lang="en-IN" sz="2400" b="1" dirty="0" err="1" smtClean="0">
                <a:solidFill>
                  <a:schemeClr val="bg1"/>
                </a:solidFill>
                <a:latin typeface="Times New Roman"/>
              </a:rPr>
              <a:t>Rashtriya</a:t>
            </a:r>
            <a:r>
              <a:rPr lang="en-IN" sz="2400" b="1" dirty="0" smtClean="0">
                <a:solidFill>
                  <a:schemeClr val="bg1"/>
                </a:solidFill>
                <a:latin typeface="Times New Roman"/>
              </a:rPr>
              <a:t> </a:t>
            </a:r>
            <a:r>
              <a:rPr lang="en-IN" sz="2400" b="1" dirty="0" err="1" smtClean="0">
                <a:solidFill>
                  <a:schemeClr val="bg1"/>
                </a:solidFill>
                <a:latin typeface="Times New Roman"/>
              </a:rPr>
              <a:t>Krishi</a:t>
            </a:r>
            <a:r>
              <a:rPr lang="en-IN" sz="2400" b="1" dirty="0" smtClean="0">
                <a:solidFill>
                  <a:schemeClr val="bg1"/>
                </a:solidFill>
                <a:latin typeface="Times New Roman"/>
              </a:rPr>
              <a:t> </a:t>
            </a:r>
            <a:r>
              <a:rPr lang="en-IN" sz="2400" b="1" dirty="0" err="1" smtClean="0">
                <a:solidFill>
                  <a:schemeClr val="bg1"/>
                </a:solidFill>
                <a:latin typeface="Times New Roman"/>
              </a:rPr>
              <a:t>Vikas</a:t>
            </a:r>
            <a:r>
              <a:rPr lang="en-IN" sz="2400" b="1" dirty="0" smtClean="0">
                <a:solidFill>
                  <a:schemeClr val="bg1"/>
                </a:solidFill>
                <a:latin typeface="Times New Roman"/>
              </a:rPr>
              <a:t> </a:t>
            </a:r>
            <a:r>
              <a:rPr lang="en-IN" sz="2400" b="1" dirty="0" err="1" smtClean="0">
                <a:solidFill>
                  <a:schemeClr val="bg1"/>
                </a:solidFill>
                <a:latin typeface="Times New Roman"/>
              </a:rPr>
              <a:t>Yojana</a:t>
            </a:r>
            <a:r>
              <a:rPr lang="en-IN" sz="2400" b="1" dirty="0" smtClean="0">
                <a:solidFill>
                  <a:schemeClr val="bg1"/>
                </a:solidFill>
                <a:latin typeface="Times New Roman"/>
              </a:rPr>
              <a:t> – Cafeteria approach 2022-23</a:t>
            </a:r>
          </a:p>
        </p:txBody>
      </p:sp>
      <p:sp>
        <p:nvSpPr>
          <p:cNvPr id="7" name="Rectangle 6"/>
          <p:cNvSpPr/>
          <p:nvPr/>
        </p:nvSpPr>
        <p:spPr>
          <a:xfrm>
            <a:off x="10274160" y="1119286"/>
            <a:ext cx="1495602" cy="430887"/>
          </a:xfrm>
          <a:prstGeom prst="rect">
            <a:avLst/>
          </a:prstGeom>
        </p:spPr>
        <p:txBody>
          <a:bodyPr wrap="none">
            <a:spAutoFit/>
          </a:bodyPr>
          <a:lstStyle/>
          <a:p>
            <a:r>
              <a:rPr lang="en-IN" b="1" dirty="0" smtClean="0">
                <a:solidFill>
                  <a:srgbClr val="000000"/>
                </a:solidFill>
                <a:latin typeface="Times New Roman"/>
              </a:rPr>
              <a:t>(Rs. in </a:t>
            </a:r>
            <a:r>
              <a:rPr lang="en-IN" b="1" dirty="0" err="1" smtClean="0">
                <a:solidFill>
                  <a:srgbClr val="000000"/>
                </a:solidFill>
                <a:latin typeface="Times New Roman"/>
              </a:rPr>
              <a:t>crore</a:t>
            </a:r>
            <a:r>
              <a:rPr lang="en-IN" sz="2200" b="1" dirty="0" smtClean="0">
                <a:solidFill>
                  <a:srgbClr val="000000"/>
                </a:solidFill>
                <a:latin typeface="Times New Roman"/>
              </a:rPr>
              <a:t>)</a:t>
            </a:r>
            <a:endParaRPr lang="en-IN"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xmlns="" id="{0B3AE0CE-A677-1344-BF1B-47377879818E}"/>
              </a:ext>
            </a:extLst>
          </p:cNvPr>
          <p:cNvSpPr/>
          <p:nvPr/>
        </p:nvSpPr>
        <p:spPr>
          <a:xfrm>
            <a:off x="534537" y="147175"/>
            <a:ext cx="11178492" cy="767225"/>
          </a:xfrm>
          <a:prstGeom prst="roundRect">
            <a:avLst>
              <a:gd name="adj" fmla="val 6636"/>
            </a:avLst>
          </a:prstGeom>
          <a:solidFill>
            <a:schemeClr val="accent2"/>
          </a:solidFill>
          <a:ln w="28575">
            <a:solidFill>
              <a:srgbClr val="7939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0"/>
              </a:spcBef>
              <a:spcAft>
                <a:spcPct val="0"/>
              </a:spcAft>
            </a:pPr>
            <a:r>
              <a:rPr lang="en-US" sz="2400" b="1" dirty="0" smtClean="0">
                <a:solidFill>
                  <a:schemeClr val="bg1"/>
                </a:solidFill>
                <a:latin typeface="Times New Roman" pitchFamily="18" charset="0"/>
                <a:ea typeface="Arial" pitchFamily="34" charset="0"/>
                <a:cs typeface="Times New Roman" pitchFamily="18" charset="0"/>
              </a:rPr>
              <a:t>RKVY-Cafeteria </a:t>
            </a:r>
            <a:r>
              <a:rPr lang="en-US" sz="2400" b="1" dirty="0" smtClean="0">
                <a:solidFill>
                  <a:schemeClr val="bg1"/>
                </a:solidFill>
                <a:latin typeface="Times New Roman" pitchFamily="18" charset="0"/>
                <a:cs typeface="Times New Roman" pitchFamily="18" charset="0"/>
              </a:rPr>
              <a:t> approach </a:t>
            </a:r>
            <a:endParaRPr lang="en-US" sz="2400" b="1" dirty="0" smtClean="0">
              <a:solidFill>
                <a:schemeClr val="bg1"/>
              </a:solidFill>
              <a:latin typeface="Times New Roman" pitchFamily="18" charset="0"/>
              <a:ea typeface="Arial" pitchFamily="34" charset="0"/>
              <a:cs typeface="Times New Roman" pitchFamily="18" charset="0"/>
            </a:endParaRPr>
          </a:p>
        </p:txBody>
      </p:sp>
      <p:sp>
        <p:nvSpPr>
          <p:cNvPr id="27649" name="Rectangle 1"/>
          <p:cNvSpPr>
            <a:spLocks noChangeArrowheads="1"/>
          </p:cNvSpPr>
          <p:nvPr/>
        </p:nvSpPr>
        <p:spPr bwMode="auto">
          <a:xfrm>
            <a:off x="471948" y="588756"/>
            <a:ext cx="11243802" cy="65248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dirty="0" smtClean="0">
              <a:ln>
                <a:noFill/>
              </a:ln>
              <a:effectLst/>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effectLst/>
                <a:latin typeface="Times New Roman" pitchFamily="18" charset="0"/>
                <a:ea typeface="Times New Roman" pitchFamily="18" charset="0"/>
                <a:cs typeface="Times New Roman" pitchFamily="18" charset="0"/>
              </a:rPr>
              <a:t>The budget allocation of merged components of RKVY i.e. </a:t>
            </a:r>
          </a:p>
          <a:p>
            <a:pPr lvl="0" algn="just" fontAlgn="base">
              <a:spcBef>
                <a:spcPct val="0"/>
              </a:spcBef>
              <a:spcAft>
                <a:spcPct val="0"/>
              </a:spcAft>
            </a:pPr>
            <a:r>
              <a:rPr kumimoji="0" lang="en-US" sz="2000" b="1" i="0" u="none" strike="noStrike" cap="none" normalizeH="0" baseline="0" dirty="0" smtClean="0">
                <a:ln>
                  <a:noFill/>
                </a:ln>
                <a:effectLst/>
                <a:latin typeface="Times New Roman" pitchFamily="18" charset="0"/>
                <a:ea typeface="Times New Roman" pitchFamily="18" charset="0"/>
                <a:cs typeface="Times New Roman" pitchFamily="18" charset="0"/>
              </a:rPr>
              <a:t>I. Annual Action Plan (AAP) </a:t>
            </a:r>
            <a:r>
              <a:rPr kumimoji="0" lang="en-US" sz="2000" b="0" i="0" u="none" strike="noStrike" cap="none" normalizeH="0" baseline="0" dirty="0" smtClean="0">
                <a:ln>
                  <a:noFill/>
                </a:ln>
                <a:effectLst/>
                <a:latin typeface="Times New Roman" pitchFamily="18" charset="0"/>
                <a:ea typeface="Times New Roman" pitchFamily="18" charset="0"/>
                <a:cs typeface="Times New Roman" pitchFamily="18" charset="0"/>
              </a:rPr>
              <a:t>is Rs.  </a:t>
            </a:r>
            <a:r>
              <a:rPr kumimoji="0" lang="en-US" sz="2000" b="1" i="0" u="none" strike="noStrike" cap="none" normalizeH="0" baseline="0" dirty="0" smtClean="0">
                <a:ln>
                  <a:noFill/>
                </a:ln>
                <a:effectLst/>
                <a:latin typeface="Times New Roman" pitchFamily="18" charset="0"/>
                <a:ea typeface="Times New Roman" pitchFamily="18" charset="0"/>
                <a:cs typeface="Times New Roman" pitchFamily="18" charset="0"/>
              </a:rPr>
              <a:t>5929.17</a:t>
            </a:r>
            <a:r>
              <a:rPr kumimoji="0" lang="en-US" sz="2000" b="0" i="0" u="none" strike="noStrike" cap="none" normalizeH="0" baseline="0" dirty="0" smtClean="0">
                <a:ln>
                  <a:noFill/>
                </a:ln>
                <a:effectLst/>
                <a:latin typeface="Times New Roman" pitchFamily="18" charset="0"/>
                <a:ea typeface="Times New Roman" pitchFamily="18" charset="0"/>
                <a:cs typeface="Times New Roman" pitchFamily="18" charset="0"/>
              </a:rPr>
              <a:t> (Excluding CRM)</a:t>
            </a:r>
          </a:p>
          <a:p>
            <a:pPr marL="266700" indent="-266700" algn="just" fontAlgn="base">
              <a:spcBef>
                <a:spcPct val="0"/>
              </a:spcBef>
              <a:spcAft>
                <a:spcPct val="0"/>
              </a:spcAft>
              <a:buFont typeface="Arial" pitchFamily="34" charset="0"/>
              <a:buChar char="•"/>
            </a:pPr>
            <a:r>
              <a:rPr lang="en-US" sz="2000" dirty="0" smtClean="0">
                <a:latin typeface="Times New Roman" pitchFamily="18" charset="0"/>
                <a:cs typeface="Times New Roman" pitchFamily="18" charset="0"/>
              </a:rPr>
              <a:t>Annual Action Plan component: For the following erstwhile schemes of DA&amp;FW namely:</a:t>
            </a:r>
          </a:p>
          <a:p>
            <a:pPr marL="266700" indent="-266700" algn="just" fontAlgn="base">
              <a:spcBef>
                <a:spcPct val="0"/>
              </a:spcBef>
              <a:spcAft>
                <a:spcPct val="0"/>
              </a:spcAft>
              <a:buFont typeface="Arial" pitchFamily="34" charset="0"/>
              <a:buChar char="•"/>
            </a:pPr>
            <a:r>
              <a:rPr lang="en-US" sz="2000" dirty="0" err="1" smtClean="0">
                <a:latin typeface="Times New Roman" pitchFamily="18" charset="0"/>
                <a:cs typeface="Times New Roman" pitchFamily="18" charset="0"/>
              </a:rPr>
              <a:t>Paramparagat</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Krishi</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Vikas</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Yojana</a:t>
            </a:r>
            <a:r>
              <a:rPr lang="en-US" sz="2000" dirty="0" smtClean="0">
                <a:latin typeface="Times New Roman" pitchFamily="18" charset="0"/>
                <a:cs typeface="Times New Roman" pitchFamily="18" charset="0"/>
              </a:rPr>
              <a:t> (PKVY), </a:t>
            </a:r>
          </a:p>
          <a:p>
            <a:pPr marL="266700" indent="-266700" algn="just" fontAlgn="base">
              <a:spcBef>
                <a:spcPct val="0"/>
              </a:spcBef>
              <a:spcAft>
                <a:spcPct val="0"/>
              </a:spcAft>
              <a:buFont typeface="Arial" pitchFamily="34" charset="0"/>
              <a:buChar char="•"/>
            </a:pPr>
            <a:r>
              <a:rPr lang="en-US" sz="2000" dirty="0" smtClean="0">
                <a:latin typeface="Times New Roman" pitchFamily="18" charset="0"/>
                <a:cs typeface="Times New Roman" pitchFamily="18" charset="0"/>
              </a:rPr>
              <a:t>Soil Health Card (SHC) and Soil Health Management, </a:t>
            </a:r>
          </a:p>
          <a:p>
            <a:pPr marL="266700" indent="-266700" algn="just" fontAlgn="base">
              <a:spcBef>
                <a:spcPct val="0"/>
              </a:spcBef>
              <a:spcAft>
                <a:spcPct val="0"/>
              </a:spcAft>
              <a:buFont typeface="Arial" pitchFamily="34" charset="0"/>
              <a:buChar char="•"/>
            </a:pPr>
            <a:r>
              <a:rPr lang="en-US" sz="2000" dirty="0" err="1" smtClean="0">
                <a:latin typeface="Times New Roman" pitchFamily="18" charset="0"/>
                <a:cs typeface="Times New Roman" pitchFamily="18" charset="0"/>
              </a:rPr>
              <a:t>Rainfed</a:t>
            </a:r>
            <a:r>
              <a:rPr lang="en-US" sz="2000" dirty="0" smtClean="0">
                <a:latin typeface="Times New Roman" pitchFamily="18" charset="0"/>
                <a:cs typeface="Times New Roman" pitchFamily="18" charset="0"/>
              </a:rPr>
              <a:t> Area Development (RAD), </a:t>
            </a:r>
          </a:p>
          <a:p>
            <a:pPr marL="266700" indent="-266700" algn="just" fontAlgn="base">
              <a:spcBef>
                <a:spcPct val="0"/>
              </a:spcBef>
              <a:spcAft>
                <a:spcPct val="0"/>
              </a:spcAft>
              <a:buFont typeface="Arial" pitchFamily="34" charset="0"/>
              <a:buChar char="•"/>
            </a:pPr>
            <a:r>
              <a:rPr lang="en-US" sz="2000" dirty="0" smtClean="0">
                <a:latin typeface="Times New Roman" pitchFamily="18" charset="0"/>
                <a:cs typeface="Times New Roman" pitchFamily="18" charset="0"/>
              </a:rPr>
              <a:t>Sub Mission on Agricultural </a:t>
            </a:r>
            <a:r>
              <a:rPr lang="en-US" sz="2000" dirty="0" err="1" smtClean="0">
                <a:latin typeface="Times New Roman" pitchFamily="18" charset="0"/>
                <a:cs typeface="Times New Roman" pitchFamily="18" charset="0"/>
              </a:rPr>
              <a:t>Mechanisation</a:t>
            </a:r>
            <a:r>
              <a:rPr lang="en-US" sz="2000" dirty="0" smtClean="0">
                <a:latin typeface="Times New Roman" pitchFamily="18" charset="0"/>
                <a:cs typeface="Times New Roman" pitchFamily="18" charset="0"/>
              </a:rPr>
              <a:t> (SMAM),   </a:t>
            </a:r>
          </a:p>
          <a:p>
            <a:pPr marL="266700" indent="-266700" algn="just" fontAlgn="base">
              <a:spcBef>
                <a:spcPct val="0"/>
              </a:spcBef>
              <a:spcAft>
                <a:spcPct val="0"/>
              </a:spcAft>
              <a:buFont typeface="Arial" pitchFamily="34" charset="0"/>
              <a:buChar char="•"/>
            </a:pPr>
            <a:r>
              <a:rPr lang="en-US" sz="2000" dirty="0" smtClean="0">
                <a:latin typeface="Times New Roman" pitchFamily="18" charset="0"/>
                <a:cs typeface="Times New Roman" pitchFamily="18" charset="0"/>
              </a:rPr>
              <a:t>Per Drop More Crop (PDMC), </a:t>
            </a:r>
          </a:p>
          <a:p>
            <a:pPr marL="266700" indent="-266700" algn="just" fontAlgn="base">
              <a:spcBef>
                <a:spcPct val="0"/>
              </a:spcBef>
              <a:spcAft>
                <a:spcPct val="0"/>
              </a:spcAft>
              <a:buFont typeface="Arial" pitchFamily="34" charset="0"/>
              <a:buChar char="•"/>
            </a:pPr>
            <a:r>
              <a:rPr lang="en-US" sz="2000" dirty="0" smtClean="0">
                <a:latin typeface="Times New Roman" pitchFamily="18" charset="0"/>
                <a:cs typeface="Times New Roman" pitchFamily="18" charset="0"/>
              </a:rPr>
              <a:t>Sub Schemes of RKVY such as Crop Diversification </a:t>
            </a:r>
            <a:r>
              <a:rPr lang="en-US" sz="2000" dirty="0" err="1" smtClean="0">
                <a:latin typeface="Times New Roman" pitchFamily="18" charset="0"/>
                <a:cs typeface="Times New Roman" pitchFamily="18" charset="0"/>
              </a:rPr>
              <a:t>Programme</a:t>
            </a:r>
            <a:r>
              <a:rPr lang="en-US" sz="2000" dirty="0" smtClean="0">
                <a:latin typeface="Times New Roman" pitchFamily="18" charset="0"/>
                <a:cs typeface="Times New Roman" pitchFamily="18" charset="0"/>
              </a:rPr>
              <a:t> (CDP), Reclamation of Problem Soils (RPS) and other sub schemes of national importance</a:t>
            </a:r>
          </a:p>
          <a:p>
            <a:pPr marL="266700" indent="-266700" algn="just" fontAlgn="base">
              <a:spcBef>
                <a:spcPct val="0"/>
              </a:spcBef>
              <a:spcAft>
                <a:spcPct val="0"/>
              </a:spcAft>
              <a:buFont typeface="Arial" pitchFamily="34" charset="0"/>
              <a:buChar char="•"/>
            </a:pPr>
            <a:r>
              <a:rPr lang="en-US" sz="2000" dirty="0" smtClean="0">
                <a:latin typeface="Times New Roman" pitchFamily="18" charset="0"/>
                <a:cs typeface="Times New Roman" pitchFamily="18" charset="0"/>
              </a:rPr>
              <a:t>Village </a:t>
            </a:r>
            <a:r>
              <a:rPr lang="en-US" sz="2000" dirty="0" err="1" smtClean="0">
                <a:latin typeface="Times New Roman" pitchFamily="18" charset="0"/>
                <a:cs typeface="Times New Roman" pitchFamily="18" charset="0"/>
              </a:rPr>
              <a:t>Haats</a:t>
            </a:r>
            <a:r>
              <a:rPr lang="en-US" sz="2000" dirty="0" smtClean="0">
                <a:latin typeface="Times New Roman" pitchFamily="18" charset="0"/>
                <a:cs typeface="Times New Roman" pitchFamily="18" charset="0"/>
              </a:rPr>
              <a:t> and </a:t>
            </a:r>
            <a:r>
              <a:rPr lang="en-US" sz="2000" dirty="0" err="1" smtClean="0">
                <a:latin typeface="Times New Roman" pitchFamily="18" charset="0"/>
                <a:cs typeface="Times New Roman" pitchFamily="18" charset="0"/>
              </a:rPr>
              <a:t>GrAMs</a:t>
            </a:r>
            <a:r>
              <a:rPr lang="en-US" sz="2000" dirty="0" smtClean="0">
                <a:latin typeface="Times New Roman" pitchFamily="18" charset="0"/>
                <a:cs typeface="Times New Roman" pitchFamily="18" charset="0"/>
              </a:rPr>
              <a:t>  </a:t>
            </a:r>
            <a:endParaRPr lang="en-IN" sz="2000" dirty="0" smtClean="0">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dirty="0" smtClean="0">
              <a:ln>
                <a:noFill/>
              </a:ln>
              <a:effectLst/>
              <a:latin typeface="Times New Roman" pitchFamily="18" charset="0"/>
              <a:cs typeface="Times New Roman" pitchFamily="18" charset="0"/>
            </a:endParaRPr>
          </a:p>
          <a:p>
            <a:pPr marL="266700" indent="-266700"/>
            <a:r>
              <a:rPr lang="en-US" sz="2000" b="1" dirty="0" smtClean="0">
                <a:latin typeface="Times New Roman" pitchFamily="18" charset="0"/>
                <a:ea typeface="Calibri" pitchFamily="34" charset="0"/>
                <a:cs typeface="Times New Roman" pitchFamily="18" charset="0"/>
              </a:rPr>
              <a:t>II. Detailed Project Report (DPR) based schemes- </a:t>
            </a:r>
            <a:r>
              <a:rPr lang="en-US" sz="2000" dirty="0" smtClean="0">
                <a:latin typeface="Times New Roman" pitchFamily="18" charset="0"/>
                <a:cs typeface="Times New Roman" pitchFamily="18" charset="0"/>
              </a:rPr>
              <a:t>Rs. 3222.15 </a:t>
            </a:r>
            <a:r>
              <a:rPr lang="en-US" sz="2000" dirty="0" err="1" smtClean="0">
                <a:latin typeface="Times New Roman" pitchFamily="18" charset="0"/>
                <a:cs typeface="Times New Roman" pitchFamily="18" charset="0"/>
              </a:rPr>
              <a:t>crores</a:t>
            </a:r>
            <a:r>
              <a:rPr lang="en-US" sz="2000" dirty="0" smtClean="0">
                <a:latin typeface="Times New Roman" pitchFamily="18" charset="0"/>
                <a:cs typeface="Times New Roman" pitchFamily="18" charset="0"/>
              </a:rPr>
              <a:t>. </a:t>
            </a:r>
            <a:r>
              <a:rPr lang="en-IN" sz="2000" dirty="0" smtClean="0">
                <a:latin typeface="Times New Roman" pitchFamily="18" charset="0"/>
                <a:cs typeface="Times New Roman" pitchFamily="18" charset="0"/>
              </a:rPr>
              <a:t>The inter se allocation of 2022-23 has been done based on previous year’s (2021-22 ) 6 parameters data.  For DPR based RKVY. Approval accorded for only six months(30.09.2022).</a:t>
            </a:r>
            <a:endParaRPr lang="en-US" sz="2000" dirty="0" smtClean="0">
              <a:latin typeface="Times New Roman" pitchFamily="18" charset="0"/>
              <a:cs typeface="Times New Roman" pitchFamily="18" charset="0"/>
            </a:endParaRPr>
          </a:p>
          <a:p>
            <a:pPr lvl="0" algn="just" eaLnBrk="0" fontAlgn="base" hangingPunct="0">
              <a:spcBef>
                <a:spcPct val="0"/>
              </a:spcBef>
              <a:spcAft>
                <a:spcPct val="0"/>
              </a:spcAft>
            </a:pPr>
            <a:endParaRPr lang="en-US" sz="2000" dirty="0" smtClean="0">
              <a:latin typeface="Times New Roman" pitchFamily="18" charset="0"/>
              <a:ea typeface="Times New Roman" pitchFamily="18" charset="0"/>
              <a:cs typeface="Times New Roman" pitchFamily="18" charset="0"/>
            </a:endParaRPr>
          </a:p>
          <a:p>
            <a:pPr algn="just" eaLnBrk="0" fontAlgn="base" hangingPunct="0">
              <a:spcBef>
                <a:spcPct val="0"/>
              </a:spcBef>
              <a:spcAft>
                <a:spcPct val="0"/>
              </a:spcAft>
            </a:pPr>
            <a:r>
              <a:rPr lang="en-US" sz="2000" b="1" dirty="0" smtClean="0">
                <a:latin typeface="Times New Roman" pitchFamily="18" charset="0"/>
                <a:ea typeface="Times New Roman" pitchFamily="18" charset="0"/>
                <a:cs typeface="Times New Roman" pitchFamily="18" charset="0"/>
              </a:rPr>
              <a:t>III. Administration, Monitoring and Evaluation (including startup component)- </a:t>
            </a:r>
            <a:r>
              <a:rPr lang="en-US" sz="2000" dirty="0" smtClean="0">
                <a:latin typeface="Times New Roman" pitchFamily="18" charset="0"/>
                <a:ea typeface="Times New Roman" pitchFamily="18" charset="0"/>
                <a:cs typeface="Times New Roman" pitchFamily="18" charset="0"/>
              </a:rPr>
              <a:t>Rs. </a:t>
            </a:r>
            <a:r>
              <a:rPr lang="en-IN" sz="2000" dirty="0" smtClean="0">
                <a:solidFill>
                  <a:srgbClr val="000000"/>
                </a:solidFill>
                <a:latin typeface="Times New Roman" pitchFamily="18" charset="0"/>
                <a:ea typeface="Times New Roman"/>
                <a:cs typeface="Times New Roman" pitchFamily="18" charset="0"/>
              </a:rPr>
              <a:t> 444.68 </a:t>
            </a:r>
            <a:r>
              <a:rPr lang="en-IN" sz="2000" dirty="0" err="1" smtClean="0">
                <a:solidFill>
                  <a:srgbClr val="000000"/>
                </a:solidFill>
                <a:latin typeface="Times New Roman" pitchFamily="18" charset="0"/>
                <a:ea typeface="Times New Roman"/>
                <a:cs typeface="Times New Roman" pitchFamily="18" charset="0"/>
              </a:rPr>
              <a:t>crore</a:t>
            </a:r>
            <a:r>
              <a:rPr lang="en-IN" sz="2000" dirty="0" smtClean="0">
                <a:solidFill>
                  <a:srgbClr val="000000"/>
                </a:solidFill>
                <a:latin typeface="Times New Roman" pitchFamily="18" charset="0"/>
                <a:ea typeface="Times New Roman"/>
                <a:cs typeface="Times New Roman" pitchFamily="18" charset="0"/>
              </a:rPr>
              <a:t>  and other components i.e. Rs. 700 cr. for CRM, as central sector scheme, Rs. 100 cr. for NABARD subsidy and Rs. 37 cr. for SAP.</a:t>
            </a:r>
            <a:endParaRPr lang="en-IN" sz="2000" dirty="0" smtClean="0">
              <a:latin typeface="Times New Roman" pitchFamily="18" charset="0"/>
              <a:ea typeface="Times New Roman"/>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effectLst/>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40D2359A-C21F-4C6F-B84A-1B22E077135F}"/>
              </a:ext>
            </a:extLst>
          </p:cNvPr>
          <p:cNvSpPr/>
          <p:nvPr/>
        </p:nvSpPr>
        <p:spPr>
          <a:xfrm>
            <a:off x="638629" y="1390650"/>
            <a:ext cx="4352465" cy="225243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buFont typeface="Arial" pitchFamily="34" charset="0"/>
              <a:buChar char="•"/>
            </a:pPr>
            <a:r>
              <a:rPr lang="en-US" sz="2400" b="1" dirty="0" smtClean="0">
                <a:solidFill>
                  <a:schemeClr val="tx1"/>
                </a:solidFill>
                <a:latin typeface="Times New Roman" pitchFamily="18" charset="0"/>
                <a:ea typeface="Calibri" pitchFamily="34" charset="0"/>
                <a:cs typeface="Times New Roman" pitchFamily="18" charset="0"/>
              </a:rPr>
              <a:t>Innovation and </a:t>
            </a:r>
            <a:r>
              <a:rPr lang="en-US" sz="2400" b="1" dirty="0" err="1" smtClean="0">
                <a:solidFill>
                  <a:schemeClr val="tx1"/>
                </a:solidFill>
                <a:latin typeface="Times New Roman" pitchFamily="18" charset="0"/>
                <a:ea typeface="Calibri" pitchFamily="34" charset="0"/>
                <a:cs typeface="Times New Roman" pitchFamily="18" charset="0"/>
              </a:rPr>
              <a:t>Agri</a:t>
            </a:r>
            <a:r>
              <a:rPr lang="en-US" sz="2400" b="1" dirty="0" smtClean="0">
                <a:solidFill>
                  <a:schemeClr val="tx1"/>
                </a:solidFill>
                <a:latin typeface="Times New Roman" pitchFamily="18" charset="0"/>
                <a:ea typeface="Calibri" pitchFamily="34" charset="0"/>
                <a:cs typeface="Times New Roman" pitchFamily="18" charset="0"/>
              </a:rPr>
              <a:t>-entrepreneurship </a:t>
            </a:r>
            <a:r>
              <a:rPr lang="en-US" sz="2400" b="1" dirty="0" err="1" smtClean="0">
                <a:solidFill>
                  <a:schemeClr val="tx1"/>
                </a:solidFill>
                <a:latin typeface="Times New Roman" pitchFamily="18" charset="0"/>
                <a:ea typeface="Calibri" pitchFamily="34" charset="0"/>
                <a:cs typeface="Times New Roman" pitchFamily="18" charset="0"/>
              </a:rPr>
              <a:t>programme</a:t>
            </a:r>
            <a:r>
              <a:rPr lang="en-US" sz="2400" b="1" dirty="0" smtClean="0">
                <a:solidFill>
                  <a:schemeClr val="tx1"/>
                </a:solidFill>
                <a:latin typeface="Times New Roman" pitchFamily="18" charset="0"/>
                <a:ea typeface="Calibri" pitchFamily="34" charset="0"/>
                <a:cs typeface="Times New Roman" pitchFamily="18" charset="0"/>
              </a:rPr>
              <a:t> of RKVY  launched in 2018-19.</a:t>
            </a:r>
          </a:p>
        </p:txBody>
      </p:sp>
      <p:sp>
        <p:nvSpPr>
          <p:cNvPr id="12" name="TextBox 11">
            <a:extLst>
              <a:ext uri="{FF2B5EF4-FFF2-40B4-BE49-F238E27FC236}">
                <a16:creationId xmlns:a16="http://schemas.microsoft.com/office/drawing/2014/main" xmlns="" id="{4136C945-301E-4166-859F-5189B3F74995}"/>
              </a:ext>
            </a:extLst>
          </p:cNvPr>
          <p:cNvSpPr txBox="1"/>
          <p:nvPr/>
        </p:nvSpPr>
        <p:spPr>
          <a:xfrm>
            <a:off x="6240246" y="1905413"/>
            <a:ext cx="5932704" cy="369332"/>
          </a:xfrm>
          <a:prstGeom prst="rect">
            <a:avLst/>
          </a:prstGeom>
          <a:noFill/>
        </p:spPr>
        <p:txBody>
          <a:bodyPr wrap="square" anchor="ctr">
            <a:spAutoFit/>
          </a:bodyPr>
          <a:lstStyle/>
          <a:p>
            <a:pPr marL="177800"/>
            <a:r>
              <a:rPr lang="en-US" b="1" dirty="0">
                <a:latin typeface="Calibri" panose="020F0502020204030204" pitchFamily="34" charset="0"/>
                <a:cs typeface="Calibri" panose="020F0502020204030204" pitchFamily="34" charset="0"/>
              </a:rPr>
              <a:t>Knowledge Partners (KPs) selected as Centre of Excellence</a:t>
            </a:r>
            <a:endParaRPr lang="en-IN" b="1"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xmlns="" id="{89FBEC9C-7D56-4746-9627-BD92F53F7619}"/>
              </a:ext>
            </a:extLst>
          </p:cNvPr>
          <p:cNvSpPr txBox="1"/>
          <p:nvPr/>
        </p:nvSpPr>
        <p:spPr>
          <a:xfrm>
            <a:off x="6222475" y="2685857"/>
            <a:ext cx="5613918" cy="646331"/>
          </a:xfrm>
          <a:prstGeom prst="rect">
            <a:avLst/>
          </a:prstGeom>
          <a:noFill/>
        </p:spPr>
        <p:txBody>
          <a:bodyPr wrap="square" anchor="ctr">
            <a:spAutoFit/>
          </a:bodyPr>
          <a:lstStyle/>
          <a:p>
            <a:pPr marL="177800"/>
            <a:r>
              <a:rPr lang="en-US" b="1" dirty="0">
                <a:latin typeface="Calibri" panose="020F0502020204030204" pitchFamily="34" charset="0"/>
                <a:cs typeface="Calibri" panose="020F0502020204030204" pitchFamily="34" charset="0"/>
              </a:rPr>
              <a:t>RKVY-RAFTAAR Agribusiness Incubators (R-ABIs) from across the country</a:t>
            </a:r>
            <a:endParaRPr lang="en-IN" b="1" dirty="0">
              <a:latin typeface="Calibri" panose="020F0502020204030204" pitchFamily="34" charset="0"/>
              <a:cs typeface="Calibri" panose="020F0502020204030204" pitchFamily="34" charset="0"/>
            </a:endParaRPr>
          </a:p>
        </p:txBody>
      </p:sp>
      <p:grpSp>
        <p:nvGrpSpPr>
          <p:cNvPr id="5" name="Group 18">
            <a:extLst>
              <a:ext uri="{FF2B5EF4-FFF2-40B4-BE49-F238E27FC236}">
                <a16:creationId xmlns:a16="http://schemas.microsoft.com/office/drawing/2014/main" xmlns="" id="{49509441-1E08-4746-A224-022CE106E4E9}"/>
              </a:ext>
            </a:extLst>
          </p:cNvPr>
          <p:cNvGrpSpPr/>
          <p:nvPr/>
        </p:nvGrpSpPr>
        <p:grpSpPr>
          <a:xfrm>
            <a:off x="5270410" y="1676435"/>
            <a:ext cx="857186" cy="1810138"/>
            <a:chOff x="5184377" y="1259633"/>
            <a:chExt cx="1064791" cy="2299319"/>
          </a:xfrm>
        </p:grpSpPr>
        <p:sp>
          <p:nvSpPr>
            <p:cNvPr id="14" name="Oval 13">
              <a:extLst>
                <a:ext uri="{FF2B5EF4-FFF2-40B4-BE49-F238E27FC236}">
                  <a16:creationId xmlns:a16="http://schemas.microsoft.com/office/drawing/2014/main" xmlns="" id="{29B4415A-A5F6-4A8E-A4D7-251BB7DD8B77}"/>
                </a:ext>
              </a:extLst>
            </p:cNvPr>
            <p:cNvSpPr/>
            <p:nvPr/>
          </p:nvSpPr>
          <p:spPr>
            <a:xfrm>
              <a:off x="5184377" y="1259633"/>
              <a:ext cx="1064791" cy="1070673"/>
            </a:xfrm>
            <a:prstGeom prst="ellipse">
              <a:avLst/>
            </a:prstGeom>
            <a:solidFill>
              <a:schemeClr val="accent4">
                <a:lumMod val="40000"/>
                <a:lumOff val="60000"/>
              </a:schemeClr>
            </a:solidFill>
            <a:ln>
              <a:noFill/>
            </a:ln>
            <a:effectLst/>
          </p:spPr>
          <p:txBody>
            <a:bodyPr anchor="ctr"/>
            <a:lstStyle/>
            <a:p>
              <a:pPr algn="ctr"/>
              <a:r>
                <a:rPr lang="en-IN" sz="2800" b="1" dirty="0">
                  <a:latin typeface="Arial" panose="020B0604020202020204" pitchFamily="34" charset="0"/>
                  <a:cs typeface="Arial" panose="020B0604020202020204" pitchFamily="34" charset="0"/>
                </a:rPr>
                <a:t>5</a:t>
              </a:r>
              <a:endParaRPr lang="en-IN" sz="1400" b="1" dirty="0">
                <a:latin typeface="Arial" panose="020B0604020202020204" pitchFamily="34" charset="0"/>
                <a:cs typeface="Arial" panose="020B0604020202020204" pitchFamily="34" charset="0"/>
              </a:endParaRPr>
            </a:p>
          </p:txBody>
        </p:sp>
        <p:sp>
          <p:nvSpPr>
            <p:cNvPr id="16" name="Oval 15">
              <a:extLst>
                <a:ext uri="{FF2B5EF4-FFF2-40B4-BE49-F238E27FC236}">
                  <a16:creationId xmlns:a16="http://schemas.microsoft.com/office/drawing/2014/main" xmlns="" id="{9CB2A56A-ED93-467E-9C34-4A57EB371D8B}"/>
                </a:ext>
              </a:extLst>
            </p:cNvPr>
            <p:cNvSpPr/>
            <p:nvPr/>
          </p:nvSpPr>
          <p:spPr>
            <a:xfrm>
              <a:off x="5184377" y="2488279"/>
              <a:ext cx="1064791" cy="1070673"/>
            </a:xfrm>
            <a:prstGeom prst="ellipse">
              <a:avLst/>
            </a:prstGeom>
            <a:solidFill>
              <a:schemeClr val="accent4">
                <a:lumMod val="40000"/>
                <a:lumOff val="60000"/>
              </a:schemeClr>
            </a:solidFill>
            <a:ln>
              <a:noFill/>
            </a:ln>
            <a:effectLst/>
          </p:spPr>
          <p:txBody>
            <a:bodyPr anchor="ctr"/>
            <a:lstStyle/>
            <a:p>
              <a:pPr algn="ctr"/>
              <a:r>
                <a:rPr lang="en-IN" sz="2800" b="1" dirty="0">
                  <a:latin typeface="Arial" panose="020B0604020202020204" pitchFamily="34" charset="0"/>
                  <a:cs typeface="Arial" panose="020B0604020202020204" pitchFamily="34" charset="0"/>
                </a:rPr>
                <a:t>24</a:t>
              </a:r>
              <a:endParaRPr lang="en-IN" sz="1400" b="1" dirty="0">
                <a:latin typeface="Arial" panose="020B0604020202020204" pitchFamily="34" charset="0"/>
                <a:cs typeface="Arial" panose="020B0604020202020204" pitchFamily="34" charset="0"/>
              </a:endParaRPr>
            </a:p>
          </p:txBody>
        </p:sp>
      </p:grpSp>
      <p:sp>
        <p:nvSpPr>
          <p:cNvPr id="18" name="TextBox 17">
            <a:extLst>
              <a:ext uri="{FF2B5EF4-FFF2-40B4-BE49-F238E27FC236}">
                <a16:creationId xmlns:a16="http://schemas.microsoft.com/office/drawing/2014/main" xmlns="" id="{751F7E1E-A773-4B7F-A70D-12A89DAEDAA3}"/>
              </a:ext>
            </a:extLst>
          </p:cNvPr>
          <p:cNvSpPr txBox="1"/>
          <p:nvPr/>
        </p:nvSpPr>
        <p:spPr>
          <a:xfrm>
            <a:off x="443595" y="3848101"/>
            <a:ext cx="11138805" cy="1200329"/>
          </a:xfrm>
          <a:prstGeom prst="rect">
            <a:avLst/>
          </a:prstGeom>
          <a:noFill/>
        </p:spPr>
        <p:txBody>
          <a:bodyPr wrap="square">
            <a:spAutoFit/>
          </a:bodyPr>
          <a:lstStyle/>
          <a:p>
            <a:pPr marL="93663"/>
            <a:r>
              <a:rPr lang="en-US" sz="2400" b="1" dirty="0" smtClean="0">
                <a:latin typeface="Times New Roman" pitchFamily="18" charset="0"/>
                <a:ea typeface="Calibri" pitchFamily="34" charset="0"/>
                <a:cs typeface="Times New Roman" pitchFamily="18" charset="0"/>
              </a:rPr>
              <a:t>Objective: </a:t>
            </a:r>
            <a:r>
              <a:rPr lang="en-US" sz="2400" dirty="0" smtClean="0">
                <a:latin typeface="Times New Roman" pitchFamily="18" charset="0"/>
                <a:ea typeface="Calibri" pitchFamily="34" charset="0"/>
                <a:cs typeface="Times New Roman" pitchFamily="18" charset="0"/>
              </a:rPr>
              <a:t>To promote innovation and </a:t>
            </a:r>
            <a:r>
              <a:rPr lang="en-US" sz="2400" dirty="0" err="1" smtClean="0">
                <a:latin typeface="Times New Roman" pitchFamily="18" charset="0"/>
                <a:ea typeface="Calibri" pitchFamily="34" charset="0"/>
                <a:cs typeface="Times New Roman" pitchFamily="18" charset="0"/>
              </a:rPr>
              <a:t>agri</a:t>
            </a:r>
            <a:r>
              <a:rPr lang="en-US" sz="2400" dirty="0" smtClean="0">
                <a:latin typeface="Times New Roman" pitchFamily="18" charset="0"/>
                <a:ea typeface="Calibri" pitchFamily="34" charset="0"/>
                <a:cs typeface="Times New Roman" pitchFamily="18" charset="0"/>
              </a:rPr>
              <a:t>-entrepreneurship by providing  technical and financial support and nurturing  the incubation ecosystem.</a:t>
            </a:r>
            <a:endParaRPr lang="en-IN" sz="2400" b="1" dirty="0" smtClean="0">
              <a:latin typeface="Calibri" panose="020F0502020204030204" pitchFamily="34" charset="0"/>
              <a:cs typeface="Calibri" panose="020F0502020204030204" pitchFamily="34" charset="0"/>
            </a:endParaRPr>
          </a:p>
          <a:p>
            <a:pPr marL="93663"/>
            <a:endParaRPr lang="en-IN" sz="2400" b="1" dirty="0">
              <a:solidFill>
                <a:srgbClr val="002060"/>
              </a:solidFill>
              <a:latin typeface="Calibri" panose="020F0502020204030204" pitchFamily="34" charset="0"/>
              <a:cs typeface="Calibri" panose="020F0502020204030204" pitchFamily="34" charset="0"/>
            </a:endParaRPr>
          </a:p>
        </p:txBody>
      </p:sp>
      <p:grpSp>
        <p:nvGrpSpPr>
          <p:cNvPr id="7" name="Group 23">
            <a:extLst>
              <a:ext uri="{FF2B5EF4-FFF2-40B4-BE49-F238E27FC236}">
                <a16:creationId xmlns:a16="http://schemas.microsoft.com/office/drawing/2014/main" xmlns="" id="{DFC39032-AF88-483C-948F-BA8103364DA5}"/>
              </a:ext>
            </a:extLst>
          </p:cNvPr>
          <p:cNvGrpSpPr/>
          <p:nvPr/>
        </p:nvGrpSpPr>
        <p:grpSpPr>
          <a:xfrm>
            <a:off x="638019" y="4702806"/>
            <a:ext cx="10849130" cy="1213577"/>
            <a:chOff x="7359100" y="3848086"/>
            <a:chExt cx="4126295" cy="214149"/>
          </a:xfrm>
        </p:grpSpPr>
        <p:sp>
          <p:nvSpPr>
            <p:cNvPr id="22" name="TextBox 21">
              <a:extLst>
                <a:ext uri="{FF2B5EF4-FFF2-40B4-BE49-F238E27FC236}">
                  <a16:creationId xmlns:a16="http://schemas.microsoft.com/office/drawing/2014/main" xmlns="" id="{DF1B062E-76A4-406B-A012-9813B62369B9}"/>
                </a:ext>
              </a:extLst>
            </p:cNvPr>
            <p:cNvSpPr txBox="1"/>
            <p:nvPr/>
          </p:nvSpPr>
          <p:spPr>
            <a:xfrm>
              <a:off x="7359100" y="3850424"/>
              <a:ext cx="2054121" cy="211811"/>
            </a:xfrm>
            <a:prstGeom prst="rect">
              <a:avLst/>
            </a:prstGeom>
            <a:noFill/>
            <a:ln>
              <a:solidFill>
                <a:schemeClr val="tx1"/>
              </a:solidFill>
              <a:prstDash val="dash"/>
            </a:ln>
          </p:spPr>
          <p:txBody>
            <a:bodyPr wrap="square" anchor="ctr">
              <a:spAutoFit/>
            </a:bodyPr>
            <a:lstStyle/>
            <a:p>
              <a:pPr algn="just"/>
              <a:r>
                <a:rPr lang="en-US" dirty="0" smtClean="0">
                  <a:latin typeface="Times New Roman" pitchFamily="18" charset="0"/>
                  <a:ea typeface="Calibri" pitchFamily="34" charset="0"/>
                  <a:cs typeface="Times New Roman" pitchFamily="18" charset="0"/>
                </a:rPr>
                <a:t>923 Startups have been selected and supported with technical and financial assistance during FY 2019-20 to 2021-22 by various KPs and R-ABIs of DA &amp; FW</a:t>
              </a:r>
            </a:p>
            <a:p>
              <a:pPr algn="ctr"/>
              <a:endParaRPr lang="en-IN" b="1" dirty="0">
                <a:latin typeface="Calibri Light" panose="020F0302020204030204" pitchFamily="34" charset="0"/>
                <a:cs typeface="Calibri Light" panose="020F0302020204030204" pitchFamily="34" charset="0"/>
              </a:endParaRPr>
            </a:p>
          </p:txBody>
        </p:sp>
        <p:sp>
          <p:nvSpPr>
            <p:cNvPr id="23" name="TextBox 22">
              <a:extLst>
                <a:ext uri="{FF2B5EF4-FFF2-40B4-BE49-F238E27FC236}">
                  <a16:creationId xmlns:a16="http://schemas.microsoft.com/office/drawing/2014/main" xmlns="" id="{D707A4E5-82E6-4C94-A570-5B16EB663DC5}"/>
                </a:ext>
              </a:extLst>
            </p:cNvPr>
            <p:cNvSpPr txBox="1"/>
            <p:nvPr/>
          </p:nvSpPr>
          <p:spPr>
            <a:xfrm>
              <a:off x="9533822" y="3848086"/>
              <a:ext cx="1951573" cy="211811"/>
            </a:xfrm>
            <a:prstGeom prst="rect">
              <a:avLst/>
            </a:prstGeom>
            <a:noFill/>
            <a:ln>
              <a:solidFill>
                <a:schemeClr val="tx1"/>
              </a:solidFill>
              <a:prstDash val="dash"/>
            </a:ln>
          </p:spPr>
          <p:txBody>
            <a:bodyPr wrap="square" anchor="ctr">
              <a:spAutoFit/>
            </a:bodyPr>
            <a:lstStyle/>
            <a:p>
              <a:pPr algn="just"/>
              <a:r>
                <a:rPr lang="en-US" dirty="0" smtClean="0">
                  <a:latin typeface="Times New Roman" pitchFamily="18" charset="0"/>
                  <a:ea typeface="Arial" panose="020B0604020202020204" pitchFamily="34" charset="0"/>
                  <a:cs typeface="Times New Roman" pitchFamily="18" charset="0"/>
                </a:rPr>
                <a:t>Rs. 51 cr. funds released in installments for funding  these 923 Start-ups out of total cost of Rs.101 cr. </a:t>
              </a:r>
              <a:r>
                <a:rPr lang="en-US" dirty="0" smtClean="0">
                  <a:latin typeface="Times New Roman" pitchFamily="18" charset="0"/>
                  <a:ea typeface="Calibri" pitchFamily="34" charset="0"/>
                  <a:cs typeface="Times New Roman" pitchFamily="18" charset="0"/>
                </a:rPr>
                <a:t>to the respective KPs &amp; R-ABIs by DA &amp; FW</a:t>
              </a:r>
            </a:p>
            <a:p>
              <a:pPr algn="just"/>
              <a:endParaRPr lang="en-IN" b="1" dirty="0">
                <a:latin typeface="Calibri Light" panose="020F0302020204030204" pitchFamily="34" charset="0"/>
                <a:cs typeface="Calibri Light" panose="020F0302020204030204" pitchFamily="34" charset="0"/>
              </a:endParaRPr>
            </a:p>
          </p:txBody>
        </p:sp>
      </p:grpSp>
      <p:sp>
        <p:nvSpPr>
          <p:cNvPr id="20" name="Rounded Rectangle 19">
            <a:extLst>
              <a:ext uri="{FF2B5EF4-FFF2-40B4-BE49-F238E27FC236}">
                <a16:creationId xmlns:a16="http://schemas.microsoft.com/office/drawing/2014/main" xmlns="" id="{0B3AE0CE-A677-1344-BF1B-47377879818E}"/>
              </a:ext>
            </a:extLst>
          </p:cNvPr>
          <p:cNvSpPr/>
          <p:nvPr/>
        </p:nvSpPr>
        <p:spPr>
          <a:xfrm>
            <a:off x="534537" y="147175"/>
            <a:ext cx="11178492" cy="1030375"/>
          </a:xfrm>
          <a:prstGeom prst="roundRect">
            <a:avLst>
              <a:gd name="adj" fmla="val 6636"/>
            </a:avLst>
          </a:prstGeom>
          <a:solidFill>
            <a:schemeClr val="accent2"/>
          </a:solidFill>
          <a:ln w="28575">
            <a:solidFill>
              <a:srgbClr val="7939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0"/>
              </a:spcBef>
              <a:spcAft>
                <a:spcPct val="0"/>
              </a:spcAft>
            </a:pPr>
            <a:r>
              <a:rPr lang="en-US" sz="2400" b="1" dirty="0" smtClean="0">
                <a:solidFill>
                  <a:schemeClr val="bg1"/>
                </a:solidFill>
                <a:latin typeface="Times New Roman" pitchFamily="18" charset="0"/>
                <a:ea typeface="Arial" pitchFamily="34" charset="0"/>
                <a:cs typeface="Times New Roman" pitchFamily="18" charset="0"/>
              </a:rPr>
              <a:t>Innovation and </a:t>
            </a:r>
            <a:r>
              <a:rPr lang="en-US" sz="2400" b="1" dirty="0" err="1" smtClean="0">
                <a:solidFill>
                  <a:schemeClr val="bg1"/>
                </a:solidFill>
                <a:latin typeface="Times New Roman" pitchFamily="18" charset="0"/>
                <a:ea typeface="Arial" pitchFamily="34" charset="0"/>
                <a:cs typeface="Times New Roman" pitchFamily="18" charset="0"/>
              </a:rPr>
              <a:t>Agri</a:t>
            </a:r>
            <a:r>
              <a:rPr lang="en-US" sz="2400" b="1" dirty="0" smtClean="0">
                <a:solidFill>
                  <a:schemeClr val="bg1"/>
                </a:solidFill>
                <a:latin typeface="Times New Roman" pitchFamily="18" charset="0"/>
                <a:ea typeface="Arial" pitchFamily="34" charset="0"/>
                <a:cs typeface="Times New Roman" pitchFamily="18" charset="0"/>
              </a:rPr>
              <a:t>-Entrepreneurship </a:t>
            </a:r>
            <a:r>
              <a:rPr lang="en-US" sz="2400" b="1" dirty="0" err="1" smtClean="0">
                <a:solidFill>
                  <a:schemeClr val="bg1"/>
                </a:solidFill>
                <a:latin typeface="Times New Roman" pitchFamily="18" charset="0"/>
                <a:ea typeface="Arial" pitchFamily="34" charset="0"/>
                <a:cs typeface="Times New Roman" pitchFamily="18" charset="0"/>
              </a:rPr>
              <a:t>programme</a:t>
            </a:r>
            <a:r>
              <a:rPr lang="en-US" sz="2400" b="1" dirty="0" smtClean="0">
                <a:solidFill>
                  <a:schemeClr val="bg1"/>
                </a:solidFill>
                <a:latin typeface="Times New Roman" pitchFamily="18" charset="0"/>
                <a:ea typeface="Arial" pitchFamily="34" charset="0"/>
                <a:cs typeface="Times New Roman" pitchFamily="18" charset="0"/>
              </a:rPr>
              <a:t> of RKVY</a:t>
            </a:r>
            <a:endParaRPr lang="en-US" sz="2400" b="1" dirty="0" smtClean="0">
              <a:solidFill>
                <a:schemeClr val="bg1"/>
              </a:solidFill>
              <a:latin typeface="Arial" pitchFamily="34" charset="0"/>
              <a:ea typeface="Arial" pitchFamily="34" charset="0"/>
              <a:cs typeface="Arial" pitchFamily="34" charset="0"/>
            </a:endParaRPr>
          </a:p>
        </p:txBody>
      </p:sp>
      <p:sp>
        <p:nvSpPr>
          <p:cNvPr id="17" name="Rectangle 16">
            <a:extLst>
              <a:ext uri="{FF2B5EF4-FFF2-40B4-BE49-F238E27FC236}">
                <a16:creationId xmlns:a16="http://schemas.microsoft.com/office/drawing/2014/main" xmlns="" id="{40D2359A-C21F-4C6F-B84A-1B22E077135F}"/>
              </a:ext>
            </a:extLst>
          </p:cNvPr>
          <p:cNvSpPr/>
          <p:nvPr/>
        </p:nvSpPr>
        <p:spPr>
          <a:xfrm>
            <a:off x="285750" y="6019800"/>
            <a:ext cx="11353799" cy="6096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2400" dirty="0" err="1" smtClean="0">
                <a:solidFill>
                  <a:schemeClr val="tx1"/>
                </a:solidFill>
              </a:rPr>
              <a:t>Agri</a:t>
            </a:r>
            <a:r>
              <a:rPr lang="en-IN" sz="2400" dirty="0" smtClean="0">
                <a:solidFill>
                  <a:schemeClr val="tx1"/>
                </a:solidFill>
              </a:rPr>
              <a:t> Start-up Conference is scheduled to be held on 17.05.2022 by DA &amp; FW in association with IARI, New Delhi in Bharat </a:t>
            </a:r>
            <a:r>
              <a:rPr lang="en-IN" sz="2400" dirty="0" err="1" smtClean="0">
                <a:solidFill>
                  <a:schemeClr val="tx1"/>
                </a:solidFill>
              </a:rPr>
              <a:t>Ratha</a:t>
            </a:r>
            <a:r>
              <a:rPr lang="en-IN" sz="2400" dirty="0" smtClean="0">
                <a:solidFill>
                  <a:schemeClr val="tx1"/>
                </a:solidFill>
              </a:rPr>
              <a:t> C. </a:t>
            </a:r>
            <a:r>
              <a:rPr lang="en-IN" sz="2400" dirty="0" err="1" smtClean="0">
                <a:solidFill>
                  <a:schemeClr val="tx1"/>
                </a:solidFill>
              </a:rPr>
              <a:t>Subramaniam</a:t>
            </a:r>
            <a:r>
              <a:rPr lang="en-IN" sz="2400" dirty="0" smtClean="0">
                <a:solidFill>
                  <a:schemeClr val="tx1"/>
                </a:solidFill>
              </a:rPr>
              <a:t> Auditorium, NASC Complex, </a:t>
            </a:r>
            <a:r>
              <a:rPr lang="en-IN" sz="2400" dirty="0" err="1" smtClean="0">
                <a:solidFill>
                  <a:schemeClr val="tx1"/>
                </a:solidFill>
              </a:rPr>
              <a:t>Pusa</a:t>
            </a:r>
            <a:r>
              <a:rPr lang="en-IN" sz="2400" dirty="0" smtClean="0">
                <a:solidFill>
                  <a:schemeClr val="tx1"/>
                </a:solidFill>
              </a:rPr>
              <a:t>, New Delhi.</a:t>
            </a:r>
            <a:endParaRPr lang="en-US" sz="2400" b="1" dirty="0" smtClean="0">
              <a:solidFill>
                <a:schemeClr val="tx1"/>
              </a:solidFill>
              <a:latin typeface="Times New Roman" pitchFamily="18" charset="0"/>
              <a:ea typeface="Calibri" pitchFamily="34" charset="0"/>
              <a:cs typeface="Times New Roman" pitchFamily="18" charset="0"/>
            </a:endParaRPr>
          </a:p>
        </p:txBody>
      </p:sp>
    </p:spTree>
    <p:extLst>
      <p:ext uri="{BB962C8B-B14F-4D97-AF65-F5344CB8AC3E}">
        <p14:creationId xmlns:p14="http://schemas.microsoft.com/office/powerpoint/2010/main" xmlns="" val="1522117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xmlns="" id="{0B3AE0CE-A677-1344-BF1B-47377879818E}"/>
              </a:ext>
            </a:extLst>
          </p:cNvPr>
          <p:cNvSpPr/>
          <p:nvPr/>
        </p:nvSpPr>
        <p:spPr>
          <a:xfrm>
            <a:off x="3619500" y="2038350"/>
            <a:ext cx="4629150" cy="2895600"/>
          </a:xfrm>
          <a:prstGeom prst="roundRect">
            <a:avLst>
              <a:gd name="adj" fmla="val 6636"/>
            </a:avLst>
          </a:prstGeom>
          <a:solidFill>
            <a:schemeClr val="accent2"/>
          </a:solidFill>
          <a:ln w="28575">
            <a:solidFill>
              <a:srgbClr val="7939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spc="-1" dirty="0" smtClean="0">
                <a:solidFill>
                  <a:schemeClr val="bg1"/>
                </a:solidFill>
                <a:latin typeface="Times New Roman" pitchFamily="18" charset="0"/>
                <a:ea typeface="Gadugi" panose="020B0502040204020203" pitchFamily="34" charset="0"/>
                <a:cs typeface="Times New Roman" pitchFamily="18" charset="0"/>
              </a:rPr>
              <a:t>Thank You </a:t>
            </a:r>
            <a:endParaRPr lang="en-US" sz="4000" b="1" spc="-1" dirty="0">
              <a:solidFill>
                <a:schemeClr val="bg1"/>
              </a:solidFill>
              <a:latin typeface="Times New Roman" pitchFamily="18" charset="0"/>
              <a:ea typeface="Gadugi" panose="020B0502040204020203" pitchFamily="34" charset="0"/>
              <a:cs typeface="Times New Roman" pitchFamily="18" charset="0"/>
            </a:endParaRPr>
          </a:p>
        </p:txBody>
      </p:sp>
    </p:spTree>
    <p:extLst>
      <p:ext uri="{BB962C8B-B14F-4D97-AF65-F5344CB8AC3E}">
        <p14:creationId xmlns="" xmlns:p14="http://schemas.microsoft.com/office/powerpoint/2010/main" val="62992395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20838</TotalTime>
  <Words>994</Words>
  <Application>Microsoft Office PowerPoint</Application>
  <PresentationFormat>Custom</PresentationFormat>
  <Paragraphs>154</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Equity</vt:lpstr>
      <vt:lpstr>Slide 1</vt:lpstr>
      <vt:lpstr>Slide 2</vt:lpstr>
      <vt:lpstr>Slide 3</vt:lpstr>
      <vt:lpstr>Slide 4</vt:lpstr>
      <vt:lpstr>Slide 5</vt:lpstr>
      <vt:lpstr>Slide 6</vt:lpstr>
      <vt:lpstr>Slide 7</vt:lpstr>
      <vt:lpstr>Slide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Shivam</dc:creator>
  <cp:lastModifiedBy>HP</cp:lastModifiedBy>
  <cp:revision>474</cp:revision>
  <cp:lastPrinted>2022-04-08T05:51:36Z</cp:lastPrinted>
  <dcterms:created xsi:type="dcterms:W3CDTF">2020-07-08T12:50:25Z</dcterms:created>
  <dcterms:modified xsi:type="dcterms:W3CDTF">2022-04-25T10:16:42Z</dcterms:modified>
</cp:coreProperties>
</file>