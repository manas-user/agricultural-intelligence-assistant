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172" r:id="rId5"/>
    <p:sldId id="259" r:id="rId6"/>
    <p:sldId id="260" r:id="rId7"/>
    <p:sldId id="261" r:id="rId8"/>
    <p:sldId id="258" r:id="rId9"/>
    <p:sldId id="508" r:id="rId10"/>
    <p:sldId id="2175" r:id="rId11"/>
    <p:sldId id="21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E2A984-362F-D9ED-6EFD-EBE3EBC11444}" name="Stapleton, James (CIP)" initials="SJ(" userId="S::J.Stapleton@cgiar.org::898771fb-7924-4cb3-9dcf-ee4021cd20e3" providerId="AD"/>
  <p188:author id="{980AB4B1-58AA-CEBC-5861-2C8C8B72E8C8}" name="Johnson, Toby (CGIAR System Organization)" initials="JT(SO" userId="S::t.johnson@cgiar.org::60ca22a3-a1be-4e54-9ebf-a2fdf70a49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4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VOS\Dropbox%20(IFPRI)\T20%20Italy%202021\IAI-FICS%20conference%20and%20paper\Table%20and%20graphs_Vos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VOS\Dropbox%20(IFPRI)\T20%20Italy%202021\IAI-FICS%20conference%20and%20paper\Vos_Figures%20&amp;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VOS\Dropbox%20(IFPRI)\T20%20Italy%202021\IAI-FICS%20conference%20and%20paper\Vos_Figures%20&amp;%20data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VOS\Dropbox%20(IFPRI)\T20%20Italy%202021\IAI-FICS%20conference%20and%20paper\Table%20and%20graphs_Vos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054071866228518"/>
          <c:y val="8.6052898290986821E-2"/>
          <c:w val="0.82578372766619101"/>
          <c:h val="0.76699839603382913"/>
        </c:manualLayout>
      </c:layout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'Fig. 1'!$L$14:$L$72</c:f>
              <c:numCache>
                <c:formatCode>General</c:formatCode>
                <c:ptCount val="59"/>
                <c:pt idx="0">
                  <c:v>1961</c:v>
                </c:pt>
                <c:pt idx="1">
                  <c:v>1962</c:v>
                </c:pt>
                <c:pt idx="2">
                  <c:v>1963</c:v>
                </c:pt>
                <c:pt idx="3">
                  <c:v>1964</c:v>
                </c:pt>
                <c:pt idx="4">
                  <c:v>1965</c:v>
                </c:pt>
                <c:pt idx="5">
                  <c:v>1966</c:v>
                </c:pt>
                <c:pt idx="6">
                  <c:v>1967</c:v>
                </c:pt>
                <c:pt idx="7">
                  <c:v>1968</c:v>
                </c:pt>
                <c:pt idx="8">
                  <c:v>1969</c:v>
                </c:pt>
                <c:pt idx="9">
                  <c:v>1970</c:v>
                </c:pt>
                <c:pt idx="10">
                  <c:v>1971</c:v>
                </c:pt>
                <c:pt idx="11">
                  <c:v>1972</c:v>
                </c:pt>
                <c:pt idx="12">
                  <c:v>1973</c:v>
                </c:pt>
                <c:pt idx="13">
                  <c:v>1974</c:v>
                </c:pt>
                <c:pt idx="14">
                  <c:v>1975</c:v>
                </c:pt>
                <c:pt idx="15">
                  <c:v>1976</c:v>
                </c:pt>
                <c:pt idx="16">
                  <c:v>1977</c:v>
                </c:pt>
                <c:pt idx="17">
                  <c:v>1978</c:v>
                </c:pt>
                <c:pt idx="18">
                  <c:v>1979</c:v>
                </c:pt>
                <c:pt idx="19">
                  <c:v>1980</c:v>
                </c:pt>
                <c:pt idx="20">
                  <c:v>1981</c:v>
                </c:pt>
                <c:pt idx="21">
                  <c:v>1982</c:v>
                </c:pt>
                <c:pt idx="22">
                  <c:v>1983</c:v>
                </c:pt>
                <c:pt idx="23">
                  <c:v>1984</c:v>
                </c:pt>
                <c:pt idx="24">
                  <c:v>1985</c:v>
                </c:pt>
                <c:pt idx="25">
                  <c:v>1986</c:v>
                </c:pt>
                <c:pt idx="26">
                  <c:v>1987</c:v>
                </c:pt>
                <c:pt idx="27">
                  <c:v>1988</c:v>
                </c:pt>
                <c:pt idx="28">
                  <c:v>1989</c:v>
                </c:pt>
                <c:pt idx="29">
                  <c:v>1990</c:v>
                </c:pt>
                <c:pt idx="30">
                  <c:v>1991</c:v>
                </c:pt>
                <c:pt idx="31">
                  <c:v>1992</c:v>
                </c:pt>
                <c:pt idx="32">
                  <c:v>1993</c:v>
                </c:pt>
                <c:pt idx="33">
                  <c:v>1994</c:v>
                </c:pt>
                <c:pt idx="34">
                  <c:v>1995</c:v>
                </c:pt>
                <c:pt idx="35">
                  <c:v>1996</c:v>
                </c:pt>
                <c:pt idx="36">
                  <c:v>1997</c:v>
                </c:pt>
                <c:pt idx="37">
                  <c:v>1998</c:v>
                </c:pt>
                <c:pt idx="38">
                  <c:v>1999</c:v>
                </c:pt>
                <c:pt idx="39">
                  <c:v>2000</c:v>
                </c:pt>
                <c:pt idx="40">
                  <c:v>2001</c:v>
                </c:pt>
                <c:pt idx="41">
                  <c:v>2002</c:v>
                </c:pt>
                <c:pt idx="42">
                  <c:v>2003</c:v>
                </c:pt>
                <c:pt idx="43">
                  <c:v>2004</c:v>
                </c:pt>
                <c:pt idx="44">
                  <c:v>2005</c:v>
                </c:pt>
                <c:pt idx="45">
                  <c:v>2006</c:v>
                </c:pt>
                <c:pt idx="46">
                  <c:v>2007</c:v>
                </c:pt>
                <c:pt idx="47">
                  <c:v>2008</c:v>
                </c:pt>
                <c:pt idx="48">
                  <c:v>2009</c:v>
                </c:pt>
                <c:pt idx="49">
                  <c:v>2010</c:v>
                </c:pt>
                <c:pt idx="50">
                  <c:v>2011</c:v>
                </c:pt>
                <c:pt idx="51">
                  <c:v>2012</c:v>
                </c:pt>
                <c:pt idx="52">
                  <c:v>2013</c:v>
                </c:pt>
                <c:pt idx="53">
                  <c:v>2014</c:v>
                </c:pt>
                <c:pt idx="54">
                  <c:v>2015</c:v>
                </c:pt>
                <c:pt idx="55">
                  <c:v>2016</c:v>
                </c:pt>
                <c:pt idx="56">
                  <c:v>2017</c:v>
                </c:pt>
                <c:pt idx="57">
                  <c:v>2018</c:v>
                </c:pt>
                <c:pt idx="58">
                  <c:v>2019</c:v>
                </c:pt>
              </c:numCache>
            </c:numRef>
          </c:cat>
          <c:val>
            <c:numRef>
              <c:f>'Fig. 1'!$R$14:$R$72</c:f>
              <c:numCache>
                <c:formatCode>_(* #,##0_);_(* \(#,##0\);_(* "-"??_);_(@_)</c:formatCode>
                <c:ptCount val="59"/>
                <c:pt idx="0">
                  <c:v>100.00000000000001</c:v>
                </c:pt>
                <c:pt idx="1">
                  <c:v>101.89457480197105</c:v>
                </c:pt>
                <c:pt idx="2">
                  <c:v>103.85393056699749</c:v>
                </c:pt>
                <c:pt idx="3">
                  <c:v>105.89081661434813</c:v>
                </c:pt>
                <c:pt idx="4">
                  <c:v>108.01269823130151</c:v>
                </c:pt>
                <c:pt idx="5">
                  <c:v>110.22299874765298</c:v>
                </c:pt>
                <c:pt idx="6">
                  <c:v>112.51442558861694</c:v>
                </c:pt>
                <c:pt idx="7">
                  <c:v>114.86995117828904</c:v>
                </c:pt>
                <c:pt idx="8">
                  <c:v>117.26598124359725</c:v>
                </c:pt>
                <c:pt idx="9">
                  <c:v>119.68384032445792</c:v>
                </c:pt>
                <c:pt idx="10">
                  <c:v>122.12001055200882</c:v>
                </c:pt>
                <c:pt idx="11">
                  <c:v>124.57455353997642</c:v>
                </c:pt>
                <c:pt idx="12">
                  <c:v>127.0368383492703</c:v>
                </c:pt>
                <c:pt idx="13">
                  <c:v>129.49536944335389</c:v>
                </c:pt>
                <c:pt idx="14">
                  <c:v>131.94330815139799</c:v>
                </c:pt>
                <c:pt idx="15">
                  <c:v>134.37506958530548</c:v>
                </c:pt>
                <c:pt idx="16">
                  <c:v>136.79560593620948</c:v>
                </c:pt>
                <c:pt idx="17">
                  <c:v>139.22223072592269</c:v>
                </c:pt>
                <c:pt idx="18">
                  <c:v>141.67942491534384</c:v>
                </c:pt>
                <c:pt idx="19">
                  <c:v>144.18593644558609</c:v>
                </c:pt>
                <c:pt idx="20">
                  <c:v>146.7408279794285</c:v>
                </c:pt>
                <c:pt idx="21">
                  <c:v>149.34088777605135</c:v>
                </c:pt>
                <c:pt idx="22">
                  <c:v>151.99893828261597</c:v>
                </c:pt>
                <c:pt idx="23">
                  <c:v>154.73006994593663</c:v>
                </c:pt>
                <c:pt idx="24">
                  <c:v>157.54101813277833</c:v>
                </c:pt>
                <c:pt idx="25">
                  <c:v>160.44045892908767</c:v>
                </c:pt>
                <c:pt idx="26">
                  <c:v>163.41454978432708</c:v>
                </c:pt>
                <c:pt idx="27">
                  <c:v>166.4193545485289</c:v>
                </c:pt>
                <c:pt idx="28">
                  <c:v>169.39542852483703</c:v>
                </c:pt>
                <c:pt idx="29">
                  <c:v>172.29950509911106</c:v>
                </c:pt>
                <c:pt idx="30">
                  <c:v>175.1152486127429</c:v>
                </c:pt>
                <c:pt idx="31">
                  <c:v>177.85246234326959</c:v>
                </c:pt>
                <c:pt idx="32">
                  <c:v>180.52652190717748</c:v>
                </c:pt>
                <c:pt idx="33">
                  <c:v>183.16420006958651</c:v>
                </c:pt>
                <c:pt idx="34">
                  <c:v>185.78601944098975</c:v>
                </c:pt>
                <c:pt idx="35">
                  <c:v>188.39543262174556</c:v>
                </c:pt>
                <c:pt idx="36">
                  <c:v>190.98786127534751</c:v>
                </c:pt>
                <c:pt idx="37">
                  <c:v>193.5671688573596</c:v>
                </c:pt>
                <c:pt idx="38">
                  <c:v>196.13667513476773</c:v>
                </c:pt>
                <c:pt idx="39">
                  <c:v>198.7000250527233</c:v>
                </c:pt>
                <c:pt idx="40">
                  <c:v>201.25942958988188</c:v>
                </c:pt>
                <c:pt idx="41">
                  <c:v>203.81928043035327</c:v>
                </c:pt>
                <c:pt idx="42">
                  <c:v>206.38771333519497</c:v>
                </c:pt>
                <c:pt idx="43">
                  <c:v>208.97433438567629</c:v>
                </c:pt>
                <c:pt idx="44">
                  <c:v>211.58596844209549</c:v>
                </c:pt>
                <c:pt idx="45">
                  <c:v>214.22552008224906</c:v>
                </c:pt>
                <c:pt idx="46">
                  <c:v>216.89152749217718</c:v>
                </c:pt>
                <c:pt idx="47">
                  <c:v>219.58060524827204</c:v>
                </c:pt>
                <c:pt idx="48">
                  <c:v>222.28702964557903</c:v>
                </c:pt>
                <c:pt idx="49">
                  <c:v>225.00568309002708</c:v>
                </c:pt>
                <c:pt idx="50">
                  <c:v>227.73449836832248</c:v>
                </c:pt>
                <c:pt idx="51">
                  <c:v>230.47182183920282</c:v>
                </c:pt>
                <c:pt idx="52">
                  <c:v>233.21303163226364</c:v>
                </c:pt>
                <c:pt idx="53">
                  <c:v>235.952781843043</c:v>
                </c:pt>
                <c:pt idx="54">
                  <c:v>238.68598531238666</c:v>
                </c:pt>
                <c:pt idx="55">
                  <c:v>241.41008534556465</c:v>
                </c:pt>
                <c:pt idx="56">
                  <c:v>244.12163513164509</c:v>
                </c:pt>
                <c:pt idx="57">
                  <c:v>246.81362503383647</c:v>
                </c:pt>
                <c:pt idx="58">
                  <c:v>249.53530017727894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5A-454E-AAC3-23E0AC0596E0}"/>
            </c:ext>
          </c:extLst>
        </c:ser>
        <c:ser>
          <c:idx val="1"/>
          <c:order val="1"/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'Fig. 1'!$L$14:$L$72</c:f>
              <c:numCache>
                <c:formatCode>General</c:formatCode>
                <c:ptCount val="59"/>
                <c:pt idx="0">
                  <c:v>1961</c:v>
                </c:pt>
                <c:pt idx="1">
                  <c:v>1962</c:v>
                </c:pt>
                <c:pt idx="2">
                  <c:v>1963</c:v>
                </c:pt>
                <c:pt idx="3">
                  <c:v>1964</c:v>
                </c:pt>
                <c:pt idx="4">
                  <c:v>1965</c:v>
                </c:pt>
                <c:pt idx="5">
                  <c:v>1966</c:v>
                </c:pt>
                <c:pt idx="6">
                  <c:v>1967</c:v>
                </c:pt>
                <c:pt idx="7">
                  <c:v>1968</c:v>
                </c:pt>
                <c:pt idx="8">
                  <c:v>1969</c:v>
                </c:pt>
                <c:pt idx="9">
                  <c:v>1970</c:v>
                </c:pt>
                <c:pt idx="10">
                  <c:v>1971</c:v>
                </c:pt>
                <c:pt idx="11">
                  <c:v>1972</c:v>
                </c:pt>
                <c:pt idx="12">
                  <c:v>1973</c:v>
                </c:pt>
                <c:pt idx="13">
                  <c:v>1974</c:v>
                </c:pt>
                <c:pt idx="14">
                  <c:v>1975</c:v>
                </c:pt>
                <c:pt idx="15">
                  <c:v>1976</c:v>
                </c:pt>
                <c:pt idx="16">
                  <c:v>1977</c:v>
                </c:pt>
                <c:pt idx="17">
                  <c:v>1978</c:v>
                </c:pt>
                <c:pt idx="18">
                  <c:v>1979</c:v>
                </c:pt>
                <c:pt idx="19">
                  <c:v>1980</c:v>
                </c:pt>
                <c:pt idx="20">
                  <c:v>1981</c:v>
                </c:pt>
                <c:pt idx="21">
                  <c:v>1982</c:v>
                </c:pt>
                <c:pt idx="22">
                  <c:v>1983</c:v>
                </c:pt>
                <c:pt idx="23">
                  <c:v>1984</c:v>
                </c:pt>
                <c:pt idx="24">
                  <c:v>1985</c:v>
                </c:pt>
                <c:pt idx="25">
                  <c:v>1986</c:v>
                </c:pt>
                <c:pt idx="26">
                  <c:v>1987</c:v>
                </c:pt>
                <c:pt idx="27">
                  <c:v>1988</c:v>
                </c:pt>
                <c:pt idx="28">
                  <c:v>1989</c:v>
                </c:pt>
                <c:pt idx="29">
                  <c:v>1990</c:v>
                </c:pt>
                <c:pt idx="30">
                  <c:v>1991</c:v>
                </c:pt>
                <c:pt idx="31">
                  <c:v>1992</c:v>
                </c:pt>
                <c:pt idx="32">
                  <c:v>1993</c:v>
                </c:pt>
                <c:pt idx="33">
                  <c:v>1994</c:v>
                </c:pt>
                <c:pt idx="34">
                  <c:v>1995</c:v>
                </c:pt>
                <c:pt idx="35">
                  <c:v>1996</c:v>
                </c:pt>
                <c:pt idx="36">
                  <c:v>1997</c:v>
                </c:pt>
                <c:pt idx="37">
                  <c:v>1998</c:v>
                </c:pt>
                <c:pt idx="38">
                  <c:v>1999</c:v>
                </c:pt>
                <c:pt idx="39">
                  <c:v>2000</c:v>
                </c:pt>
                <c:pt idx="40">
                  <c:v>2001</c:v>
                </c:pt>
                <c:pt idx="41">
                  <c:v>2002</c:v>
                </c:pt>
                <c:pt idx="42">
                  <c:v>2003</c:v>
                </c:pt>
                <c:pt idx="43">
                  <c:v>2004</c:v>
                </c:pt>
                <c:pt idx="44">
                  <c:v>2005</c:v>
                </c:pt>
                <c:pt idx="45">
                  <c:v>2006</c:v>
                </c:pt>
                <c:pt idx="46">
                  <c:v>2007</c:v>
                </c:pt>
                <c:pt idx="47">
                  <c:v>2008</c:v>
                </c:pt>
                <c:pt idx="48">
                  <c:v>2009</c:v>
                </c:pt>
                <c:pt idx="49">
                  <c:v>2010</c:v>
                </c:pt>
                <c:pt idx="50">
                  <c:v>2011</c:v>
                </c:pt>
                <c:pt idx="51">
                  <c:v>2012</c:v>
                </c:pt>
                <c:pt idx="52">
                  <c:v>2013</c:v>
                </c:pt>
                <c:pt idx="53">
                  <c:v>2014</c:v>
                </c:pt>
                <c:pt idx="54">
                  <c:v>2015</c:v>
                </c:pt>
                <c:pt idx="55">
                  <c:v>2016</c:v>
                </c:pt>
                <c:pt idx="56">
                  <c:v>2017</c:v>
                </c:pt>
                <c:pt idx="57">
                  <c:v>2018</c:v>
                </c:pt>
                <c:pt idx="58">
                  <c:v>2019</c:v>
                </c:pt>
              </c:numCache>
            </c:numRef>
          </c:cat>
          <c:val>
            <c:numRef>
              <c:f>'Fig. 1'!$S$14:$S$72</c:f>
              <c:numCache>
                <c:formatCode>0</c:formatCode>
                <c:ptCount val="59"/>
                <c:pt idx="0">
                  <c:v>100</c:v>
                </c:pt>
                <c:pt idx="1">
                  <c:v>103.23019381162869</c:v>
                </c:pt>
                <c:pt idx="2">
                  <c:v>105.81434886093166</c:v>
                </c:pt>
                <c:pt idx="3">
                  <c:v>109.31655899353962</c:v>
                </c:pt>
                <c:pt idx="4">
                  <c:v>111.69670180210812</c:v>
                </c:pt>
                <c:pt idx="5">
                  <c:v>115.7429445766746</c:v>
                </c:pt>
                <c:pt idx="6">
                  <c:v>119.89119347160829</c:v>
                </c:pt>
                <c:pt idx="7">
                  <c:v>123.42740564433865</c:v>
                </c:pt>
                <c:pt idx="8">
                  <c:v>124.07344440666439</c:v>
                </c:pt>
                <c:pt idx="9">
                  <c:v>127.98367902074125</c:v>
                </c:pt>
                <c:pt idx="10">
                  <c:v>131.11186671200272</c:v>
                </c:pt>
                <c:pt idx="11">
                  <c:v>130.49982998979939</c:v>
                </c:pt>
                <c:pt idx="12">
                  <c:v>137.81026861611696</c:v>
                </c:pt>
                <c:pt idx="13">
                  <c:v>138.8643318599116</c:v>
                </c:pt>
                <c:pt idx="14">
                  <c:v>141.48248894933695</c:v>
                </c:pt>
                <c:pt idx="15">
                  <c:v>144.84869092145527</c:v>
                </c:pt>
                <c:pt idx="16">
                  <c:v>148.35090105406323</c:v>
                </c:pt>
                <c:pt idx="17">
                  <c:v>155.08330499829989</c:v>
                </c:pt>
                <c:pt idx="18">
                  <c:v>156.85141108466507</c:v>
                </c:pt>
                <c:pt idx="19">
                  <c:v>157.05542332539952</c:v>
                </c:pt>
                <c:pt idx="20">
                  <c:v>162.18973138388304</c:v>
                </c:pt>
                <c:pt idx="21">
                  <c:v>167.49404964297858</c:v>
                </c:pt>
                <c:pt idx="22">
                  <c:v>168.20809248554914</c:v>
                </c:pt>
                <c:pt idx="23">
                  <c:v>176.70860251615096</c:v>
                </c:pt>
                <c:pt idx="24">
                  <c:v>179.70078204692282</c:v>
                </c:pt>
                <c:pt idx="25">
                  <c:v>182.76096565793947</c:v>
                </c:pt>
                <c:pt idx="26">
                  <c:v>184.93709622577356</c:v>
                </c:pt>
                <c:pt idx="27">
                  <c:v>186.77320639238354</c:v>
                </c:pt>
                <c:pt idx="28">
                  <c:v>193.26759605576333</c:v>
                </c:pt>
                <c:pt idx="29">
                  <c:v>198.26589595375722</c:v>
                </c:pt>
                <c:pt idx="30">
                  <c:v>197.95987759265554</c:v>
                </c:pt>
                <c:pt idx="31">
                  <c:v>202.38014280856851</c:v>
                </c:pt>
                <c:pt idx="32">
                  <c:v>203.67222033322</c:v>
                </c:pt>
                <c:pt idx="33">
                  <c:v>208.63651819109145</c:v>
                </c:pt>
                <c:pt idx="34">
                  <c:v>213.22679360761646</c:v>
                </c:pt>
                <c:pt idx="35">
                  <c:v>221.42128527711662</c:v>
                </c:pt>
                <c:pt idx="36">
                  <c:v>225.90955457327439</c:v>
                </c:pt>
                <c:pt idx="37">
                  <c:v>229.51377082624958</c:v>
                </c:pt>
                <c:pt idx="38">
                  <c:v>236.65419925195508</c:v>
                </c:pt>
                <c:pt idx="39">
                  <c:v>240.83645018701122</c:v>
                </c:pt>
                <c:pt idx="40">
                  <c:v>244.0666439986399</c:v>
                </c:pt>
                <c:pt idx="41">
                  <c:v>247.39884393063588</c:v>
                </c:pt>
                <c:pt idx="42">
                  <c:v>253.34920095205715</c:v>
                </c:pt>
                <c:pt idx="43">
                  <c:v>265.07990479428764</c:v>
                </c:pt>
                <c:pt idx="44">
                  <c:v>269.73818429105745</c:v>
                </c:pt>
                <c:pt idx="45">
                  <c:v>275.17851071064268</c:v>
                </c:pt>
                <c:pt idx="46">
                  <c:v>282.55695341720502</c:v>
                </c:pt>
                <c:pt idx="47">
                  <c:v>293.43760625637537</c:v>
                </c:pt>
                <c:pt idx="48">
                  <c:v>295.23971438286299</c:v>
                </c:pt>
                <c:pt idx="49">
                  <c:v>302.2781366882013</c:v>
                </c:pt>
                <c:pt idx="50">
                  <c:v>313.22679360761646</c:v>
                </c:pt>
                <c:pt idx="51">
                  <c:v>317.06902414144849</c:v>
                </c:pt>
                <c:pt idx="52">
                  <c:v>328.90173410404623</c:v>
                </c:pt>
                <c:pt idx="53">
                  <c:v>335.32811968718124</c:v>
                </c:pt>
                <c:pt idx="54">
                  <c:v>339.51037062223736</c:v>
                </c:pt>
                <c:pt idx="55">
                  <c:v>345.22271336280176</c:v>
                </c:pt>
                <c:pt idx="56">
                  <c:v>355.38932335940154</c:v>
                </c:pt>
                <c:pt idx="57">
                  <c:v>359.36756205372325</c:v>
                </c:pt>
                <c:pt idx="58">
                  <c:v>362.35974158449505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5A-454E-AAC3-23E0AC0596E0}"/>
            </c:ext>
          </c:extLst>
        </c:ser>
        <c:ser>
          <c:idx val="2"/>
          <c:order val="2"/>
          <c:spPr>
            <a:ln w="381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'Fig. 1'!$L$14:$L$72</c:f>
              <c:numCache>
                <c:formatCode>General</c:formatCode>
                <c:ptCount val="59"/>
                <c:pt idx="0">
                  <c:v>1961</c:v>
                </c:pt>
                <c:pt idx="1">
                  <c:v>1962</c:v>
                </c:pt>
                <c:pt idx="2">
                  <c:v>1963</c:v>
                </c:pt>
                <c:pt idx="3">
                  <c:v>1964</c:v>
                </c:pt>
                <c:pt idx="4">
                  <c:v>1965</c:v>
                </c:pt>
                <c:pt idx="5">
                  <c:v>1966</c:v>
                </c:pt>
                <c:pt idx="6">
                  <c:v>1967</c:v>
                </c:pt>
                <c:pt idx="7">
                  <c:v>1968</c:v>
                </c:pt>
                <c:pt idx="8">
                  <c:v>1969</c:v>
                </c:pt>
                <c:pt idx="9">
                  <c:v>1970</c:v>
                </c:pt>
                <c:pt idx="10">
                  <c:v>1971</c:v>
                </c:pt>
                <c:pt idx="11">
                  <c:v>1972</c:v>
                </c:pt>
                <c:pt idx="12">
                  <c:v>1973</c:v>
                </c:pt>
                <c:pt idx="13">
                  <c:v>1974</c:v>
                </c:pt>
                <c:pt idx="14">
                  <c:v>1975</c:v>
                </c:pt>
                <c:pt idx="15">
                  <c:v>1976</c:v>
                </c:pt>
                <c:pt idx="16">
                  <c:v>1977</c:v>
                </c:pt>
                <c:pt idx="17">
                  <c:v>1978</c:v>
                </c:pt>
                <c:pt idx="18">
                  <c:v>1979</c:v>
                </c:pt>
                <c:pt idx="19">
                  <c:v>1980</c:v>
                </c:pt>
                <c:pt idx="20">
                  <c:v>1981</c:v>
                </c:pt>
                <c:pt idx="21">
                  <c:v>1982</c:v>
                </c:pt>
                <c:pt idx="22">
                  <c:v>1983</c:v>
                </c:pt>
                <c:pt idx="23">
                  <c:v>1984</c:v>
                </c:pt>
                <c:pt idx="24">
                  <c:v>1985</c:v>
                </c:pt>
                <c:pt idx="25">
                  <c:v>1986</c:v>
                </c:pt>
                <c:pt idx="26">
                  <c:v>1987</c:v>
                </c:pt>
                <c:pt idx="27">
                  <c:v>1988</c:v>
                </c:pt>
                <c:pt idx="28">
                  <c:v>1989</c:v>
                </c:pt>
                <c:pt idx="29">
                  <c:v>1990</c:v>
                </c:pt>
                <c:pt idx="30">
                  <c:v>1991</c:v>
                </c:pt>
                <c:pt idx="31">
                  <c:v>1992</c:v>
                </c:pt>
                <c:pt idx="32">
                  <c:v>1993</c:v>
                </c:pt>
                <c:pt idx="33">
                  <c:v>1994</c:v>
                </c:pt>
                <c:pt idx="34">
                  <c:v>1995</c:v>
                </c:pt>
                <c:pt idx="35">
                  <c:v>1996</c:v>
                </c:pt>
                <c:pt idx="36">
                  <c:v>1997</c:v>
                </c:pt>
                <c:pt idx="37">
                  <c:v>1998</c:v>
                </c:pt>
                <c:pt idx="38">
                  <c:v>1999</c:v>
                </c:pt>
                <c:pt idx="39">
                  <c:v>2000</c:v>
                </c:pt>
                <c:pt idx="40">
                  <c:v>2001</c:v>
                </c:pt>
                <c:pt idx="41">
                  <c:v>2002</c:v>
                </c:pt>
                <c:pt idx="42">
                  <c:v>2003</c:v>
                </c:pt>
                <c:pt idx="43">
                  <c:v>2004</c:v>
                </c:pt>
                <c:pt idx="44">
                  <c:v>2005</c:v>
                </c:pt>
                <c:pt idx="45">
                  <c:v>2006</c:v>
                </c:pt>
                <c:pt idx="46">
                  <c:v>2007</c:v>
                </c:pt>
                <c:pt idx="47">
                  <c:v>2008</c:v>
                </c:pt>
                <c:pt idx="48">
                  <c:v>2009</c:v>
                </c:pt>
                <c:pt idx="49">
                  <c:v>2010</c:v>
                </c:pt>
                <c:pt idx="50">
                  <c:v>2011</c:v>
                </c:pt>
                <c:pt idx="51">
                  <c:v>2012</c:v>
                </c:pt>
                <c:pt idx="52">
                  <c:v>2013</c:v>
                </c:pt>
                <c:pt idx="53">
                  <c:v>2014</c:v>
                </c:pt>
                <c:pt idx="54">
                  <c:v>2015</c:v>
                </c:pt>
                <c:pt idx="55">
                  <c:v>2016</c:v>
                </c:pt>
                <c:pt idx="56">
                  <c:v>2017</c:v>
                </c:pt>
                <c:pt idx="57">
                  <c:v>2018</c:v>
                </c:pt>
                <c:pt idx="58">
                  <c:v>2019</c:v>
                </c:pt>
              </c:numCache>
            </c:numRef>
          </c:cat>
          <c:val>
            <c:numRef>
              <c:f>'Fig. 1'!$T$14:$T$72</c:f>
              <c:numCache>
                <c:formatCode>0</c:formatCode>
                <c:ptCount val="59"/>
                <c:pt idx="0">
                  <c:v>100</c:v>
                </c:pt>
                <c:pt idx="1">
                  <c:v>100.21931964291088</c:v>
                </c:pt>
                <c:pt idx="2">
                  <c:v>100.44244045470595</c:v>
                </c:pt>
                <c:pt idx="3">
                  <c:v>100.63940711772103</c:v>
                </c:pt>
                <c:pt idx="4">
                  <c:v>100.983454149943</c:v>
                </c:pt>
                <c:pt idx="5">
                  <c:v>101.0956566175589</c:v>
                </c:pt>
                <c:pt idx="6">
                  <c:v>101.40152200102339</c:v>
                </c:pt>
                <c:pt idx="7">
                  <c:v>102.16388933169839</c:v>
                </c:pt>
                <c:pt idx="8">
                  <c:v>102.47563043005445</c:v>
                </c:pt>
                <c:pt idx="9">
                  <c:v>102.17430161732014</c:v>
                </c:pt>
                <c:pt idx="10">
                  <c:v>102.50517613631192</c:v>
                </c:pt>
                <c:pt idx="11">
                  <c:v>102.74014072571603</c:v>
                </c:pt>
                <c:pt idx="12">
                  <c:v>103.12164012422978</c:v>
                </c:pt>
                <c:pt idx="13">
                  <c:v>103.3460743832636</c:v>
                </c:pt>
                <c:pt idx="14">
                  <c:v>103.48164875123149</c:v>
                </c:pt>
                <c:pt idx="15">
                  <c:v>103.53062176723869</c:v>
                </c:pt>
                <c:pt idx="16">
                  <c:v>103.57008256114351</c:v>
                </c:pt>
                <c:pt idx="17">
                  <c:v>103.90146218296188</c:v>
                </c:pt>
                <c:pt idx="18">
                  <c:v>104.0512717734252</c:v>
                </c:pt>
                <c:pt idx="19">
                  <c:v>104.39802557649695</c:v>
                </c:pt>
                <c:pt idx="20">
                  <c:v>104.44611119733266</c:v>
                </c:pt>
                <c:pt idx="21">
                  <c:v>104.84330798106613</c:v>
                </c:pt>
                <c:pt idx="22">
                  <c:v>105.04012492846297</c:v>
                </c:pt>
                <c:pt idx="23">
                  <c:v>105.71523913164185</c:v>
                </c:pt>
                <c:pt idx="24">
                  <c:v>106.420907210667</c:v>
                </c:pt>
                <c:pt idx="25">
                  <c:v>106.52397760058935</c:v>
                </c:pt>
                <c:pt idx="26">
                  <c:v>106.87447753839602</c:v>
                </c:pt>
                <c:pt idx="27">
                  <c:v>107.25930131544955</c:v>
                </c:pt>
                <c:pt idx="28">
                  <c:v>107.52786357837955</c:v>
                </c:pt>
                <c:pt idx="29">
                  <c:v>107.35303456019533</c:v>
                </c:pt>
                <c:pt idx="30">
                  <c:v>107.17144619754851</c:v>
                </c:pt>
                <c:pt idx="31">
                  <c:v>108.0446070101946</c:v>
                </c:pt>
                <c:pt idx="32">
                  <c:v>107.68752244014946</c:v>
                </c:pt>
                <c:pt idx="33">
                  <c:v>108.15198304982123</c:v>
                </c:pt>
                <c:pt idx="34">
                  <c:v>108.15446418446273</c:v>
                </c:pt>
                <c:pt idx="35">
                  <c:v>108.32533187156797</c:v>
                </c:pt>
                <c:pt idx="36">
                  <c:v>108.77786825895036</c:v>
                </c:pt>
                <c:pt idx="37">
                  <c:v>109.07910940009448</c:v>
                </c:pt>
                <c:pt idx="38">
                  <c:v>109.14671271180192</c:v>
                </c:pt>
                <c:pt idx="39">
                  <c:v>109.17628390690066</c:v>
                </c:pt>
                <c:pt idx="40">
                  <c:v>109.23027329109296</c:v>
                </c:pt>
                <c:pt idx="41">
                  <c:v>109.028441488016</c:v>
                </c:pt>
                <c:pt idx="42">
                  <c:v>108.68665287855272</c:v>
                </c:pt>
                <c:pt idx="43">
                  <c:v>107.78514225884958</c:v>
                </c:pt>
                <c:pt idx="44">
                  <c:v>107.92683973024475</c:v>
                </c:pt>
                <c:pt idx="45">
                  <c:v>107.85996097778109</c:v>
                </c:pt>
                <c:pt idx="46">
                  <c:v>107.68352115074748</c:v>
                </c:pt>
                <c:pt idx="47">
                  <c:v>107.42015412985285</c:v>
                </c:pt>
                <c:pt idx="48">
                  <c:v>107.31679617604071</c:v>
                </c:pt>
                <c:pt idx="49">
                  <c:v>107.30391495426433</c:v>
                </c:pt>
                <c:pt idx="50">
                  <c:v>107.73177233941705</c:v>
                </c:pt>
                <c:pt idx="51">
                  <c:v>106.78299180892112</c:v>
                </c:pt>
                <c:pt idx="52">
                  <c:v>106.57185783175159</c:v>
                </c:pt>
                <c:pt idx="53">
                  <c:v>106.5420013392831</c:v>
                </c:pt>
                <c:pt idx="54">
                  <c:v>105.97596477515258</c:v>
                </c:pt>
                <c:pt idx="55">
                  <c:v>105.892445937419</c:v>
                </c:pt>
                <c:pt idx="56">
                  <c:v>106.66365200931958</c:v>
                </c:pt>
                <c:pt idx="57">
                  <c:v>106.28836194044132</c:v>
                </c:pt>
                <c:pt idx="58">
                  <c:v>106.32531205439665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5A-454E-AAC3-23E0AC0596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8686816"/>
        <c:axId val="918687472"/>
      </c:lineChart>
      <c:catAx>
        <c:axId val="918686816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8687472"/>
        <c:crosses val="autoZero"/>
        <c:auto val="1"/>
        <c:lblAlgn val="ctr"/>
        <c:lblOffset val="100"/>
        <c:tickLblSkip val="9"/>
        <c:tickMarkSkip val="5"/>
        <c:noMultiLvlLbl val="0"/>
      </c:catAx>
      <c:valAx>
        <c:axId val="918687472"/>
        <c:scaling>
          <c:orientation val="minMax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Index 1961=100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8686816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1400" b="1"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84991086019908"/>
          <c:y val="4.2484276954048016E-2"/>
          <c:w val="0.77961409894517897"/>
          <c:h val="0.8657645219551545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'Fig 3'!$A$15</c:f>
              <c:strCache>
                <c:ptCount val="1"/>
                <c:pt idx="0">
                  <c:v>Farm gate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'Fig 3'!$C$2</c:f>
              <c:numCache>
                <c:formatCode>General</c:formatCode>
                <c:ptCount val="1"/>
                <c:pt idx="0">
                  <c:v>2018</c:v>
                </c:pt>
              </c:numCache>
              <c:extLst/>
            </c:numRef>
          </c:cat>
          <c:val>
            <c:numRef>
              <c:f>'Fig 3'!$F$15</c:f>
              <c:numCache>
                <c:formatCode>0.0%</c:formatCode>
                <c:ptCount val="1"/>
                <c:pt idx="0">
                  <c:v>0.14885416666666668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F5D9-4D4D-B9AD-2E2E903C6D5C}"/>
            </c:ext>
          </c:extLst>
        </c:ser>
        <c:ser>
          <c:idx val="1"/>
          <c:order val="1"/>
          <c:tx>
            <c:strRef>
              <c:f>'Fig 3'!$A$16</c:f>
              <c:strCache>
                <c:ptCount val="1"/>
                <c:pt idx="0">
                  <c:v>Pre- and post production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'Fig 3'!$C$2</c:f>
              <c:numCache>
                <c:formatCode>General</c:formatCode>
                <c:ptCount val="1"/>
                <c:pt idx="0">
                  <c:v>2018</c:v>
                </c:pt>
              </c:numCache>
              <c:extLst/>
            </c:numRef>
          </c:cat>
          <c:val>
            <c:numRef>
              <c:f>'Fig 3'!$F$16</c:f>
              <c:numCache>
                <c:formatCode>0.0%</c:formatCode>
                <c:ptCount val="1"/>
                <c:pt idx="0">
                  <c:v>0.12095833333333333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F5D9-4D4D-B9AD-2E2E903C6D5C}"/>
            </c:ext>
          </c:extLst>
        </c:ser>
        <c:ser>
          <c:idx val="2"/>
          <c:order val="2"/>
          <c:tx>
            <c:strRef>
              <c:f>'Fig 3'!$A$17</c:f>
              <c:strCache>
                <c:ptCount val="1"/>
                <c:pt idx="0">
                  <c:v>Land use change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'Fig 3'!$C$2</c:f>
              <c:numCache>
                <c:formatCode>General</c:formatCode>
                <c:ptCount val="1"/>
                <c:pt idx="0">
                  <c:v>2018</c:v>
                </c:pt>
              </c:numCache>
              <c:extLst/>
            </c:numRef>
          </c:cat>
          <c:val>
            <c:numRef>
              <c:f>'Fig 3'!$F$17</c:f>
              <c:numCache>
                <c:formatCode>0.0%</c:formatCode>
                <c:ptCount val="1"/>
                <c:pt idx="0">
                  <c:v>6.7458333333333328E-2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F5D9-4D4D-B9AD-2E2E903C6D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31445032"/>
        <c:axId val="631443064"/>
      </c:barChart>
      <c:catAx>
        <c:axId val="631445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1443064"/>
        <c:crosses val="autoZero"/>
        <c:auto val="1"/>
        <c:lblAlgn val="ctr"/>
        <c:lblOffset val="100"/>
        <c:noMultiLvlLbl val="0"/>
      </c:catAx>
      <c:valAx>
        <c:axId val="631443064"/>
        <c:scaling>
          <c:orientation val="minMax"/>
          <c:max val="0.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1445032"/>
        <c:crosses val="autoZero"/>
        <c:crossBetween val="between"/>
        <c:majorUnit val="0.1"/>
        <c:minorUnit val="5.000000000000001E-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038181739236839"/>
          <c:y val="3.3954701036384066E-2"/>
          <c:w val="0.87961815239742291"/>
          <c:h val="0.204485975971045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04594460028579"/>
          <c:y val="0.12968392396520503"/>
          <c:w val="0.78639844360587774"/>
          <c:h val="0.7320508803238056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'Fig 4'!$C$9</c:f>
              <c:strCache>
                <c:ptCount val="1"/>
                <c:pt idx="0">
                  <c:v>Land expansion</c:v>
                </c:pt>
              </c:strCache>
            </c:strRef>
          </c:tx>
          <c:spPr>
            <a:scene3d>
              <a:camera prst="orthographicFront"/>
              <a:lightRig rig="threePt" dir="t">
                <a:rot lat="0" lon="0" rev="1200000"/>
              </a:lightRig>
            </a:scene3d>
            <a:sp3d/>
          </c:spPr>
          <c:invertIfNegative val="0"/>
          <c:cat>
            <c:strRef>
              <c:f>'Fig 4'!$B$10:$B$15</c:f>
              <c:strCache>
                <c:ptCount val="6"/>
                <c:pt idx="0">
                  <c:v>World</c:v>
                </c:pt>
                <c:pt idx="1">
                  <c:v>S.S.Africa</c:v>
                </c:pt>
                <c:pt idx="2">
                  <c:v>Near East &amp; N.Africa</c:v>
                </c:pt>
                <c:pt idx="3">
                  <c:v>L.Am.&amp; Car.</c:v>
                </c:pt>
                <c:pt idx="4">
                  <c:v>South Asia</c:v>
                </c:pt>
                <c:pt idx="5">
                  <c:v>East Asia</c:v>
                </c:pt>
              </c:strCache>
              <c:extLst/>
            </c:strRef>
          </c:cat>
          <c:val>
            <c:numRef>
              <c:f>'Fig 4'!$C$10:$C$15</c:f>
              <c:numCache>
                <c:formatCode>General</c:formatCode>
                <c:ptCount val="6"/>
                <c:pt idx="0">
                  <c:v>9</c:v>
                </c:pt>
                <c:pt idx="1">
                  <c:v>20</c:v>
                </c:pt>
                <c:pt idx="2">
                  <c:v>0</c:v>
                </c:pt>
                <c:pt idx="3">
                  <c:v>38</c:v>
                </c:pt>
                <c:pt idx="4">
                  <c:v>6</c:v>
                </c:pt>
                <c:pt idx="5">
                  <c:v>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C93C-45C5-9FF7-EB4919E13C7D}"/>
            </c:ext>
          </c:extLst>
        </c:ser>
        <c:ser>
          <c:idx val="1"/>
          <c:order val="1"/>
          <c:tx>
            <c:strRef>
              <c:f>'Fig 4'!$D$9</c:f>
              <c:strCache>
                <c:ptCount val="1"/>
                <c:pt idx="0">
                  <c:v>Inter-cropping</c:v>
                </c:pt>
              </c:strCache>
            </c:strRef>
          </c:tx>
          <c:spPr>
            <a:scene3d>
              <a:camera prst="orthographicFront"/>
              <a:lightRig rig="threePt" dir="t">
                <a:rot lat="0" lon="0" rev="1200000"/>
              </a:lightRig>
            </a:scene3d>
            <a:sp3d/>
          </c:spPr>
          <c:invertIfNegative val="0"/>
          <c:cat>
            <c:strRef>
              <c:f>'Fig 4'!$B$10:$B$15</c:f>
              <c:strCache>
                <c:ptCount val="6"/>
                <c:pt idx="0">
                  <c:v>World</c:v>
                </c:pt>
                <c:pt idx="1">
                  <c:v>S.S.Africa</c:v>
                </c:pt>
                <c:pt idx="2">
                  <c:v>Near East &amp; N.Africa</c:v>
                </c:pt>
                <c:pt idx="3">
                  <c:v>L.Am.&amp; Car.</c:v>
                </c:pt>
                <c:pt idx="4">
                  <c:v>South Asia</c:v>
                </c:pt>
                <c:pt idx="5">
                  <c:v>East Asia</c:v>
                </c:pt>
              </c:strCache>
              <c:extLst/>
            </c:strRef>
          </c:cat>
          <c:val>
            <c:numRef>
              <c:f>'Fig 4'!$D$10:$D$15</c:f>
              <c:numCache>
                <c:formatCode>General</c:formatCode>
                <c:ptCount val="6"/>
                <c:pt idx="0">
                  <c:v>13</c:v>
                </c:pt>
                <c:pt idx="1">
                  <c:v>5</c:v>
                </c:pt>
                <c:pt idx="2">
                  <c:v>21</c:v>
                </c:pt>
                <c:pt idx="3">
                  <c:v>8</c:v>
                </c:pt>
                <c:pt idx="4">
                  <c:v>2</c:v>
                </c:pt>
                <c:pt idx="5">
                  <c:v>15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C93C-45C5-9FF7-EB4919E13C7D}"/>
            </c:ext>
          </c:extLst>
        </c:ser>
        <c:ser>
          <c:idx val="2"/>
          <c:order val="2"/>
          <c:tx>
            <c:strRef>
              <c:f>'Fig 4'!$E$9</c:f>
              <c:strCache>
                <c:ptCount val="1"/>
                <c:pt idx="0">
                  <c:v>Yields shifts</c:v>
                </c:pt>
              </c:strCache>
            </c:strRef>
          </c:tx>
          <c:spPr>
            <a:scene3d>
              <a:camera prst="orthographicFront"/>
              <a:lightRig rig="threePt" dir="t">
                <a:rot lat="0" lon="0" rev="1200000"/>
              </a:lightRig>
            </a:scene3d>
            <a:sp3d/>
          </c:spPr>
          <c:invertIfNegative val="0"/>
          <c:cat>
            <c:strRef>
              <c:f>'Fig 4'!$B$10:$B$15</c:f>
              <c:strCache>
                <c:ptCount val="6"/>
                <c:pt idx="0">
                  <c:v>World</c:v>
                </c:pt>
                <c:pt idx="1">
                  <c:v>S.S.Africa</c:v>
                </c:pt>
                <c:pt idx="2">
                  <c:v>Near East &amp; N.Africa</c:v>
                </c:pt>
                <c:pt idx="3">
                  <c:v>L.Am.&amp; Car.</c:v>
                </c:pt>
                <c:pt idx="4">
                  <c:v>South Asia</c:v>
                </c:pt>
                <c:pt idx="5">
                  <c:v>East Asia</c:v>
                </c:pt>
              </c:strCache>
              <c:extLst/>
            </c:strRef>
          </c:cat>
          <c:val>
            <c:numRef>
              <c:f>'Fig 4'!$E$10:$E$15</c:f>
              <c:numCache>
                <c:formatCode>General</c:formatCode>
                <c:ptCount val="6"/>
                <c:pt idx="0">
                  <c:v>78</c:v>
                </c:pt>
                <c:pt idx="1">
                  <c:v>75</c:v>
                </c:pt>
                <c:pt idx="2">
                  <c:v>79</c:v>
                </c:pt>
                <c:pt idx="3">
                  <c:v>54</c:v>
                </c:pt>
                <c:pt idx="4">
                  <c:v>92</c:v>
                </c:pt>
                <c:pt idx="5">
                  <c:v>85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C93C-45C5-9FF7-EB4919E13C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7890600"/>
        <c:axId val="187891384"/>
      </c:barChart>
      <c:catAx>
        <c:axId val="1878906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7891384"/>
        <c:crosses val="autoZero"/>
        <c:auto val="1"/>
        <c:lblAlgn val="ctr"/>
        <c:lblOffset val="100"/>
        <c:noMultiLvlLbl val="0"/>
      </c:catAx>
      <c:valAx>
        <c:axId val="18789138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% of production increase 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7890600"/>
        <c:crosses val="autoZero"/>
        <c:crossBetween val="between"/>
        <c:majorUnit val="0.2"/>
      </c:valAx>
    </c:plotArea>
    <c:legend>
      <c:legendPos val="t"/>
      <c:overlay val="0"/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886482939632541E-2"/>
          <c:y val="5.0925925925925923E-2"/>
          <c:w val="0.89655796150481193"/>
          <c:h val="0.772516768737241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'Fig 5'!$B$2</c:f>
              <c:strCache>
                <c:ptCount val="1"/>
                <c:pt idx="0">
                  <c:v>1960-70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'Fig 5'!$A$3:$A$7</c:f>
              <c:strCache>
                <c:ptCount val="5"/>
                <c:pt idx="0">
                  <c:v>Global</c:v>
                </c:pt>
                <c:pt idx="1">
                  <c:v>Low-income</c:v>
                </c:pt>
                <c:pt idx="2">
                  <c:v>Lower-middle-income</c:v>
                </c:pt>
                <c:pt idx="3">
                  <c:v>Upper-middle income</c:v>
                </c:pt>
                <c:pt idx="4">
                  <c:v>High-income</c:v>
                </c:pt>
              </c:strCache>
            </c:strRef>
          </c:cat>
          <c:val>
            <c:numRef>
              <c:f>'Fig 5'!$B$3:$B$7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0.3</c:v>
                </c:pt>
                <c:pt idx="2">
                  <c:v>0.25</c:v>
                </c:pt>
                <c:pt idx="3">
                  <c:v>0.42</c:v>
                </c:pt>
                <c:pt idx="4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E4-423D-88B1-095973C04E34}"/>
            </c:ext>
          </c:extLst>
        </c:ser>
        <c:ser>
          <c:idx val="1"/>
          <c:order val="1"/>
          <c:tx>
            <c:strRef>
              <c:f>'Fig 5'!$C$2</c:f>
              <c:strCache>
                <c:ptCount val="1"/>
                <c:pt idx="0">
                  <c:v>1970-80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'Fig 5'!$A$3:$A$7</c:f>
              <c:strCache>
                <c:ptCount val="5"/>
                <c:pt idx="0">
                  <c:v>Global</c:v>
                </c:pt>
                <c:pt idx="1">
                  <c:v>Low-income</c:v>
                </c:pt>
                <c:pt idx="2">
                  <c:v>Lower-middle-income</c:v>
                </c:pt>
                <c:pt idx="3">
                  <c:v>Upper-middle income</c:v>
                </c:pt>
                <c:pt idx="4">
                  <c:v>High-income</c:v>
                </c:pt>
              </c:strCache>
            </c:strRef>
          </c:cat>
          <c:val>
            <c:numRef>
              <c:f>'Fig 5'!$C$3:$C$7</c:f>
              <c:numCache>
                <c:formatCode>General</c:formatCode>
                <c:ptCount val="5"/>
                <c:pt idx="0">
                  <c:v>0.65</c:v>
                </c:pt>
                <c:pt idx="1">
                  <c:v>0.4</c:v>
                </c:pt>
                <c:pt idx="2">
                  <c:v>0.3</c:v>
                </c:pt>
                <c:pt idx="3">
                  <c:v>0.52</c:v>
                </c:pt>
                <c:pt idx="4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E4-423D-88B1-095973C04E34}"/>
            </c:ext>
          </c:extLst>
        </c:ser>
        <c:ser>
          <c:idx val="2"/>
          <c:order val="2"/>
          <c:tx>
            <c:strRef>
              <c:f>'Fig 5'!$D$2</c:f>
              <c:strCache>
                <c:ptCount val="1"/>
                <c:pt idx="0">
                  <c:v>1980-90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'Fig 5'!$A$3:$A$7</c:f>
              <c:strCache>
                <c:ptCount val="5"/>
                <c:pt idx="0">
                  <c:v>Global</c:v>
                </c:pt>
                <c:pt idx="1">
                  <c:v>Low-income</c:v>
                </c:pt>
                <c:pt idx="2">
                  <c:v>Lower-middle-income</c:v>
                </c:pt>
                <c:pt idx="3">
                  <c:v>Upper-middle income</c:v>
                </c:pt>
                <c:pt idx="4">
                  <c:v>High-income</c:v>
                </c:pt>
              </c:strCache>
            </c:strRef>
          </c:cat>
          <c:val>
            <c:numRef>
              <c:f>'Fig 5'!$D$3:$D$7</c:f>
              <c:numCache>
                <c:formatCode>General</c:formatCode>
                <c:ptCount val="5"/>
                <c:pt idx="0">
                  <c:v>0.78</c:v>
                </c:pt>
                <c:pt idx="1">
                  <c:v>0.45</c:v>
                </c:pt>
                <c:pt idx="2">
                  <c:v>0.38</c:v>
                </c:pt>
                <c:pt idx="3">
                  <c:v>0.6</c:v>
                </c:pt>
                <c:pt idx="4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E4-423D-88B1-095973C04E34}"/>
            </c:ext>
          </c:extLst>
        </c:ser>
        <c:ser>
          <c:idx val="3"/>
          <c:order val="3"/>
          <c:tx>
            <c:strRef>
              <c:f>'Fig 5'!$E$2</c:f>
              <c:strCache>
                <c:ptCount val="1"/>
                <c:pt idx="0">
                  <c:v>1990-2000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'Fig 5'!$A$3:$A$7</c:f>
              <c:strCache>
                <c:ptCount val="5"/>
                <c:pt idx="0">
                  <c:v>Global</c:v>
                </c:pt>
                <c:pt idx="1">
                  <c:v>Low-income</c:v>
                </c:pt>
                <c:pt idx="2">
                  <c:v>Lower-middle-income</c:v>
                </c:pt>
                <c:pt idx="3">
                  <c:v>Upper-middle income</c:v>
                </c:pt>
                <c:pt idx="4">
                  <c:v>High-income</c:v>
                </c:pt>
              </c:strCache>
            </c:strRef>
          </c:cat>
          <c:val>
            <c:numRef>
              <c:f>'Fig 5'!$E$3:$E$7</c:f>
              <c:numCache>
                <c:formatCode>General</c:formatCode>
                <c:ptCount val="5"/>
                <c:pt idx="0">
                  <c:v>0.82</c:v>
                </c:pt>
                <c:pt idx="1">
                  <c:v>0.46</c:v>
                </c:pt>
                <c:pt idx="2">
                  <c:v>0.32</c:v>
                </c:pt>
                <c:pt idx="3">
                  <c:v>0.6</c:v>
                </c:pt>
                <c:pt idx="4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BE4-423D-88B1-095973C04E34}"/>
            </c:ext>
          </c:extLst>
        </c:ser>
        <c:ser>
          <c:idx val="4"/>
          <c:order val="4"/>
          <c:tx>
            <c:strRef>
              <c:f>'Fig 5'!$F$2</c:f>
              <c:strCache>
                <c:ptCount val="1"/>
                <c:pt idx="0">
                  <c:v>2000-2010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'Fig 5'!$A$3:$A$7</c:f>
              <c:strCache>
                <c:ptCount val="5"/>
                <c:pt idx="0">
                  <c:v>Global</c:v>
                </c:pt>
                <c:pt idx="1">
                  <c:v>Low-income</c:v>
                </c:pt>
                <c:pt idx="2">
                  <c:v>Lower-middle-income</c:v>
                </c:pt>
                <c:pt idx="3">
                  <c:v>Upper-middle income</c:v>
                </c:pt>
                <c:pt idx="4">
                  <c:v>High-income</c:v>
                </c:pt>
              </c:strCache>
            </c:strRef>
          </c:cat>
          <c:val>
            <c:numRef>
              <c:f>'Fig 5'!$F$3:$F$7</c:f>
              <c:numCache>
                <c:formatCode>General</c:formatCode>
                <c:ptCount val="5"/>
                <c:pt idx="0">
                  <c:v>0.95</c:v>
                </c:pt>
                <c:pt idx="1">
                  <c:v>0.42</c:v>
                </c:pt>
                <c:pt idx="2">
                  <c:v>0.4</c:v>
                </c:pt>
                <c:pt idx="3">
                  <c:v>0.63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E4-423D-88B1-095973C04E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41968304"/>
        <c:axId val="841967320"/>
      </c:barChart>
      <c:catAx>
        <c:axId val="84196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1967320"/>
        <c:crosses val="autoZero"/>
        <c:auto val="1"/>
        <c:lblAlgn val="ctr"/>
        <c:lblOffset val="100"/>
        <c:noMultiLvlLbl val="0"/>
      </c:catAx>
      <c:valAx>
        <c:axId val="841967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1968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0.66586</cdr:x>
      <cdr:y>0.1227</cdr:y>
    </cdr:from>
    <cdr:to>
      <cdr:x>1</cdr:x>
      <cdr:y>0.22817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06E4AE04-62FE-4F98-A3D1-5DC50A1598D2}"/>
            </a:ext>
          </a:extLst>
        </cdr:cNvPr>
        <cdr:cNvSpPr txBox="1"/>
      </cdr:nvSpPr>
      <cdr:spPr>
        <a:xfrm xmlns:a="http://schemas.openxmlformats.org/drawingml/2006/main">
          <a:off x="3718047" y="464544"/>
          <a:ext cx="1865744" cy="39929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600" b="1" i="1" dirty="0">
              <a:solidFill>
                <a:srgbClr val="C00000"/>
              </a:solidFill>
            </a:rPr>
            <a:t>Production x 3.6</a:t>
          </a:r>
        </a:p>
      </cdr:txBody>
    </cdr:sp>
  </cdr:relSizeAnchor>
  <cdr:relSizeAnchor xmlns:cdr="http://schemas.openxmlformats.org/drawingml/2006/chartDrawing">
    <cdr:from>
      <cdr:x>0.67309</cdr:x>
      <cdr:y>0.40629</cdr:y>
    </cdr:from>
    <cdr:to>
      <cdr:x>1</cdr:x>
      <cdr:y>0.5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1BA54C63-0811-4FCA-8F1D-71930F94E3B9}"/>
            </a:ext>
          </a:extLst>
        </cdr:cNvPr>
        <cdr:cNvSpPr txBox="1"/>
      </cdr:nvSpPr>
      <cdr:spPr>
        <a:xfrm xmlns:a="http://schemas.openxmlformats.org/drawingml/2006/main">
          <a:off x="3758387" y="1538148"/>
          <a:ext cx="1825404" cy="35478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600" b="1" i="1" dirty="0">
              <a:solidFill>
                <a:schemeClr val="tx2">
                  <a:lumMod val="75000"/>
                </a:schemeClr>
              </a:solidFill>
            </a:rPr>
            <a:t>Population x 2.5</a:t>
          </a:r>
        </a:p>
      </cdr:txBody>
    </cdr:sp>
  </cdr:relSizeAnchor>
  <cdr:relSizeAnchor xmlns:cdr="http://schemas.openxmlformats.org/drawingml/2006/chartDrawing">
    <cdr:from>
      <cdr:x>0.68031</cdr:x>
      <cdr:y>0.75503</cdr:y>
    </cdr:from>
    <cdr:to>
      <cdr:x>0.98665</cdr:x>
      <cdr:y>0.8248</cdr:y>
    </cdr:to>
    <cdr:sp macro="" textlink="">
      <cdr:nvSpPr>
        <cdr:cNvPr id="4" name="TextBox 1">
          <a:extLst xmlns:a="http://schemas.openxmlformats.org/drawingml/2006/main">
            <a:ext uri="{FF2B5EF4-FFF2-40B4-BE49-F238E27FC236}">
              <a16:creationId xmlns:a16="http://schemas.microsoft.com/office/drawing/2014/main" id="{58E81073-4159-4F44-85FD-C912AF9821DC}"/>
            </a:ext>
          </a:extLst>
        </cdr:cNvPr>
        <cdr:cNvSpPr txBox="1"/>
      </cdr:nvSpPr>
      <cdr:spPr>
        <a:xfrm xmlns:a="http://schemas.openxmlformats.org/drawingml/2006/main">
          <a:off x="3798727" y="2858439"/>
          <a:ext cx="1710520" cy="26415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600" b="1" i="1" dirty="0" err="1">
              <a:solidFill>
                <a:schemeClr val="accent6">
                  <a:lumMod val="75000"/>
                </a:schemeClr>
              </a:solidFill>
            </a:rPr>
            <a:t>Agr</a:t>
          </a:r>
          <a:r>
            <a:rPr lang="en-US" sz="1600" b="1" i="1" dirty="0">
              <a:solidFill>
                <a:schemeClr val="accent6">
                  <a:lumMod val="75000"/>
                </a:schemeClr>
              </a:solidFill>
            </a:rPr>
            <a:t>.</a:t>
          </a:r>
          <a:r>
            <a:rPr lang="en-US" sz="1600" b="1" i="1" baseline="0" dirty="0">
              <a:solidFill>
                <a:schemeClr val="accent6">
                  <a:lumMod val="75000"/>
                </a:schemeClr>
              </a:solidFill>
            </a:rPr>
            <a:t> land x 1.06</a:t>
          </a:r>
          <a:endParaRPr lang="en-US" sz="1600" b="1" i="1" dirty="0">
            <a:solidFill>
              <a:schemeClr val="accent6">
                <a:lumMod val="75000"/>
              </a:schemeClr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0.0691</cdr:x>
      <cdr:y>0.59838</cdr:y>
    </cdr:from>
    <cdr:to>
      <cdr:x>0.96734</cdr:x>
      <cdr:y>0.60764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679315C8-1DCA-468F-A493-F47ECB7E1211}"/>
            </a:ext>
          </a:extLst>
        </cdr:cNvPr>
        <cdr:cNvCxnSpPr/>
      </cdr:nvCxnSpPr>
      <cdr:spPr>
        <a:xfrm xmlns:a="http://schemas.openxmlformats.org/drawingml/2006/main">
          <a:off x="349250" y="1641475"/>
          <a:ext cx="4540250" cy="2540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25721-50B3-46F5-A213-5138DCF47FDD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35487-6A88-41BE-B15F-36287E03F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6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84553-FF89-4597-B40E-2F6E5AAF1D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77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E201-4532-489F-615F-86E714E5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CAAB3-7BC2-9844-5160-72C53AFB2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A5AEC-9881-E486-79E5-B0A2F858D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4C728-FDC2-3B9E-7C6F-E0F892820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56BE7-8D48-8BB5-7239-3EB5A6B037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63431-849B-2D9A-4EA2-6D55F5759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2F28-3D67-411B-A5C2-0A06A4A7663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8CC0C4-CF12-DE0B-9D99-0560EE37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56E23-D924-5237-0918-DE23EA84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6647-2D3E-470B-85A0-C419940B8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866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F989A8-2879-4BFF-C2BD-9644DE91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2F28-3D67-411B-A5C2-0A06A4A7663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810EA-0EDF-D72D-7DC3-0F1E37A7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DA897-A9BF-D5C8-A146-37D1CF91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6647-2D3E-470B-85A0-C419940B8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0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C08D7-E05D-5BAA-E18D-C296F23BF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7348A-9931-9F0B-FC42-7B953841D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BCD0C-FF42-ACCF-7D25-F9A70145C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65F4D-6594-A0F5-359C-E0C5A9C5D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2F28-3D67-411B-A5C2-0A06A4A7663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A4772-B142-8631-F28B-C8E34AE0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2B2ED-4C0F-FDFF-5C3D-320BE8D1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6647-2D3E-470B-85A0-C419940B8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4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A727-0031-BBF6-B523-03254B6EE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2E3C6C-0365-15E6-C907-DADF2CD2A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05A91-0933-A6FD-10B3-1575CD65F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7F150-7283-7440-27D7-4A206F49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2F28-3D67-411B-A5C2-0A06A4A7663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5B6C3-7AB8-C9D3-379C-3F868740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A4C37-B5FA-AD90-906C-0520AC9D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6647-2D3E-470B-85A0-C419940B8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39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87F1C-59FC-C315-897E-08F5E2E4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2A5FB-C68C-0B49-5494-AFD33CC97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129D5-FCA6-1DAA-39A1-3B38BCEC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2F28-3D67-411B-A5C2-0A06A4A7663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FD378-E260-D048-9041-2238B50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8D516-20E2-049E-987A-7A36DF0F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6647-2D3E-470B-85A0-C419940B8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4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AEBD61-0A98-C63F-1534-74D730F5C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6C9A0-5873-E0FC-CF71-A005C0F67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529E-0A6B-46DE-0F6E-D887C55A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2F28-3D67-411B-A5C2-0A06A4A7663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25FA2-146F-38E7-C74E-DA84FD704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25DCD-DA47-3794-25BC-D42355811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6647-2D3E-470B-85A0-C419940B8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8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A7BDB4-DA5E-4037-B0C9-1721DEAD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3360" y="346709"/>
            <a:ext cx="3571875" cy="341632"/>
          </a:xfrm>
          <a:solidFill>
            <a:schemeClr val="tx2"/>
          </a:solidFill>
        </p:spPr>
        <p:txBody>
          <a:bodyPr wrap="none" lIns="90000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6B0B50C-1CB1-4521-9B60-38658008BE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0" y="895350"/>
            <a:ext cx="10515600" cy="5067300"/>
          </a:xfrm>
        </p:spPr>
        <p:txBody>
          <a:bodyPr lIns="0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3158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7">
            <a:extLst>
              <a:ext uri="{FF2B5EF4-FFF2-40B4-BE49-F238E27FC236}">
                <a16:creationId xmlns:a16="http://schemas.microsoft.com/office/drawing/2014/main" id="{BCD1F3BD-7F2F-444E-BE41-8A3E836CF2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3" y="0"/>
            <a:ext cx="121737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3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EB47D9-4003-4EEB-81CE-CBC9091E66D5}"/>
              </a:ext>
            </a:extLst>
          </p:cNvPr>
          <p:cNvSpPr/>
          <p:nvPr userDrawn="1"/>
        </p:nvSpPr>
        <p:spPr>
          <a:xfrm>
            <a:off x="0" y="-182880"/>
            <a:ext cx="12192000" cy="5048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0A7BDB4-DA5E-4037-B0C9-1721DEAD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0" y="952498"/>
            <a:ext cx="3571875" cy="341632"/>
          </a:xfrm>
          <a:solidFill>
            <a:schemeClr val="tx2"/>
          </a:solidFill>
        </p:spPr>
        <p:txBody>
          <a:bodyPr wrap="none" lIns="90000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6B0B50C-1CB1-4521-9B60-38658008BE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0" y="1677670"/>
            <a:ext cx="10515600" cy="5067300"/>
          </a:xfrm>
        </p:spPr>
        <p:txBody>
          <a:bodyPr lIns="0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81199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C63242-E1F9-3E31-A36E-F0F0E092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1E661-81FF-CF19-577F-EEB70FF16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3A92E-09DB-E9F6-29DC-859F62C31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92F28-3D67-411B-A5C2-0A06A4A7663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D3A2A-C5D3-985A-C872-E61DB7E93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2442C-BEC9-A224-4E23-8B7B90521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36647-2D3E-470B-85A0-C419940B88A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n 17">
            <a:extLst>
              <a:ext uri="{FF2B5EF4-FFF2-40B4-BE49-F238E27FC236}">
                <a16:creationId xmlns:a16="http://schemas.microsoft.com/office/drawing/2014/main" id="{0EF0979A-C85A-F544-0643-116E4B28E97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3" y="0"/>
            <a:ext cx="12173784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B8068B1-F990-F8AE-5B0F-FD1ED3E64EF8}"/>
              </a:ext>
            </a:extLst>
          </p:cNvPr>
          <p:cNvSpPr txBox="1">
            <a:spLocks/>
          </p:cNvSpPr>
          <p:nvPr userDrawn="1"/>
        </p:nvSpPr>
        <p:spPr>
          <a:xfrm>
            <a:off x="4967108" y="2024160"/>
            <a:ext cx="5337098" cy="22757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Montserrat" pitchFamily="2" charset="77"/>
                <a:ea typeface="Montserrat" pitchFamily="2" charset="77"/>
                <a:cs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3CD022-8486-A92C-9F8C-3A568E688E9F}"/>
              </a:ext>
            </a:extLst>
          </p:cNvPr>
          <p:cNvSpPr txBox="1">
            <a:spLocks/>
          </p:cNvSpPr>
          <p:nvPr userDrawn="1"/>
        </p:nvSpPr>
        <p:spPr>
          <a:xfrm>
            <a:off x="4967106" y="4825291"/>
            <a:ext cx="5337097" cy="8319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72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8AD8D7-B65E-6140-891E-1B53C5FEB17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860800" y="1052133"/>
            <a:ext cx="7904480" cy="227576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Climate change and food system sustainability</a:t>
            </a:r>
            <a:br>
              <a:rPr lang="en-US" sz="6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300" b="1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 and solutions</a:t>
            </a:r>
            <a:endParaRPr lang="en-US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FCEDE08-4D52-1E4C-99CA-901E563DE25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708400" y="4243007"/>
            <a:ext cx="7904480" cy="227576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Rob Vos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CGIAR/IFPRI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800" b="1" i="0" u="none" strike="noStrike" baseline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</a:rPr>
              <a:t>G20 Agricultural Working Group</a:t>
            </a:r>
          </a:p>
          <a:p>
            <a:pPr marL="0" indent="0" algn="ctr">
              <a:buNone/>
            </a:pPr>
            <a:r>
              <a:rPr lang="en-US" sz="1800" b="1" i="0" u="none" strike="noStrike" baseline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</a:rPr>
              <a:t>Global Forum on Climate Smart Agriculture for Food Security </a:t>
            </a:r>
          </a:p>
          <a:p>
            <a:pPr marL="0" indent="0" algn="ctr"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anose="020B0604020202020204" pitchFamily="34" charset="0"/>
              </a:rPr>
              <a:t>Indore, India, 13 February 2023</a:t>
            </a:r>
            <a:endParaRPr lang="en-US" sz="1800" b="1" i="1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3780D0-3304-5A85-8E02-FBA7ADB80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6" y="1896497"/>
            <a:ext cx="2487803" cy="1532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33BAA5-D5F7-FB0E-6B6B-C234923B1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36" y="3614867"/>
            <a:ext cx="2491773" cy="14987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959D3D-963C-84AD-5D75-B28E5A18A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35" y="5299436"/>
            <a:ext cx="2487803" cy="152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0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78F6DA6E-6CC6-47A6-9293-9320E628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617" y="304800"/>
            <a:ext cx="8438030" cy="535531"/>
          </a:xfrm>
        </p:spPr>
        <p:txBody>
          <a:bodyPr/>
          <a:lstStyle/>
          <a:p>
            <a:r>
              <a:rPr lang="en-US" sz="3200" dirty="0"/>
              <a:t>Food availability and sustainability challenges</a:t>
            </a:r>
            <a:endParaRPr lang="fr-FR" sz="3200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8612369-BAB3-4008-A3AD-C202F48C3F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2210" y="1557245"/>
            <a:ext cx="6071470" cy="1406147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Food production </a:t>
            </a:r>
            <a:r>
              <a:rPr lang="en-US" sz="2800" dirty="0"/>
              <a:t>continues to outpace population growth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8CC5964-D966-4F0B-BF47-CC7C72F7CB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120990"/>
              </p:ext>
            </p:extLst>
          </p:nvPr>
        </p:nvGraphicFramePr>
        <p:xfrm>
          <a:off x="512210" y="2930148"/>
          <a:ext cx="5973996" cy="3927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40F7321-A55C-4D81-834D-95D098CC14F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276" y="2915542"/>
            <a:ext cx="5511657" cy="3637658"/>
          </a:xfrm>
          <a:prstGeom prst="rect">
            <a:avLst/>
          </a:prstGeom>
        </p:spPr>
      </p:pic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017507DD-037D-4378-9F31-89A32E8C832B}"/>
              </a:ext>
            </a:extLst>
          </p:cNvPr>
          <p:cNvSpPr txBox="1">
            <a:spLocks/>
          </p:cNvSpPr>
          <p:nvPr/>
        </p:nvSpPr>
        <p:spPr>
          <a:xfrm>
            <a:off x="6583680" y="1570170"/>
            <a:ext cx="5522147" cy="1585536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en-US" sz="2800" b="0" dirty="0"/>
              <a:t>Agricultural </a:t>
            </a:r>
            <a:r>
              <a:rPr lang="en-US" sz="2800" b="0" dirty="0">
                <a:solidFill>
                  <a:srgbClr val="C00000"/>
                </a:solidFill>
              </a:rPr>
              <a:t>productivity growth has slowed </a:t>
            </a:r>
            <a:r>
              <a:rPr lang="en-US" sz="2800" b="0" dirty="0"/>
              <a:t>by &gt; 20% because of climate change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2">
                    <a:lumMod val="10000"/>
                  </a:schemeClr>
                </a:solidFill>
              </a:rPr>
              <a:t>Impact is intensifying and hurting tropical agriculture the most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3774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78F6DA6E-6CC6-47A6-9293-9320E628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120" y="451250"/>
            <a:ext cx="8438030" cy="535531"/>
          </a:xfrm>
        </p:spPr>
        <p:txBody>
          <a:bodyPr/>
          <a:lstStyle/>
          <a:p>
            <a:r>
              <a:rPr lang="en-US" sz="3200" dirty="0"/>
              <a:t>Food availability and sustainability challenges</a:t>
            </a:r>
            <a:endParaRPr lang="fr-FR" sz="3200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DF614AE-8CFC-44CE-8291-2581FC998CD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648700" y="6340475"/>
            <a:ext cx="2705100" cy="365125"/>
          </a:xfrm>
        </p:spPr>
        <p:txBody>
          <a:bodyPr>
            <a:normAutofit fontScale="85000" lnSpcReduction="20000"/>
          </a:bodyPr>
          <a:lstStyle/>
          <a:p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8612369-BAB3-4008-A3AD-C202F48C3F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4414" y="1587832"/>
            <a:ext cx="5069545" cy="1405596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3200" dirty="0"/>
              <a:t>Food systems generate </a:t>
            </a:r>
            <a:r>
              <a:rPr lang="en-US" sz="3200" dirty="0">
                <a:solidFill>
                  <a:srgbClr val="C00000"/>
                </a:solidFill>
              </a:rPr>
              <a:t>one third </a:t>
            </a:r>
            <a:r>
              <a:rPr lang="en-US" sz="3200" dirty="0"/>
              <a:t>of global GHG emissions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461A681-ED89-40F6-A6C9-C164960451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9893905"/>
              </p:ext>
            </p:extLst>
          </p:nvPr>
        </p:nvGraphicFramePr>
        <p:xfrm>
          <a:off x="1344414" y="2993428"/>
          <a:ext cx="5066820" cy="3688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A8E1DA2F-FAC2-4FEE-AFC8-B10283E137F4}"/>
              </a:ext>
            </a:extLst>
          </p:cNvPr>
          <p:cNvSpPr txBox="1">
            <a:spLocks/>
          </p:cNvSpPr>
          <p:nvPr/>
        </p:nvSpPr>
        <p:spPr>
          <a:xfrm>
            <a:off x="6627043" y="1577448"/>
            <a:ext cx="5232970" cy="1320964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en-US" sz="3200" b="0" dirty="0"/>
              <a:t>Future productivity growth (to 2050) must come from </a:t>
            </a:r>
            <a:r>
              <a:rPr lang="en-US" sz="3200" b="0" dirty="0">
                <a:solidFill>
                  <a:srgbClr val="C00000"/>
                </a:solidFill>
              </a:rPr>
              <a:t>land intensification</a:t>
            </a:r>
            <a:endParaRPr lang="en-US" sz="3200" b="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A42E5ED0-2192-44BF-889D-5D099DD80D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5380415"/>
              </p:ext>
            </p:extLst>
          </p:nvPr>
        </p:nvGraphicFramePr>
        <p:xfrm>
          <a:off x="6411234" y="2900734"/>
          <a:ext cx="5664589" cy="3802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8926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78F6DA6E-6CC6-47A6-9293-9320E628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906" y="591689"/>
            <a:ext cx="7187880" cy="535531"/>
          </a:xfrm>
        </p:spPr>
        <p:txBody>
          <a:bodyPr/>
          <a:lstStyle/>
          <a:p>
            <a:r>
              <a:rPr lang="en-US" sz="3200" dirty="0"/>
              <a:t>Underinvestment in food system R&amp;D</a:t>
            </a:r>
            <a:endParaRPr lang="fr-FR" sz="3200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8612369-BAB3-4008-A3AD-C202F48C3F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8558" y="1749499"/>
            <a:ext cx="4175589" cy="5053387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Investment in R&amp;D too low for comfort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/>
              <a:t>Investment gap = $15bn per year for STI in CSA in LMICs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Growing portfolio of promising new sustainable technologies…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.. but many hurdles to widespread adoption and adaptation </a:t>
            </a:r>
          </a:p>
          <a:p>
            <a:pPr marL="0" indent="0">
              <a:buNone/>
            </a:pPr>
            <a:endParaRPr lang="en-US" sz="320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577C255-07A6-4649-9A41-B7984397B6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2299142"/>
              </p:ext>
            </p:extLst>
          </p:nvPr>
        </p:nvGraphicFramePr>
        <p:xfrm>
          <a:off x="4846320" y="2232866"/>
          <a:ext cx="7323533" cy="4086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E4C17D8-A36C-42B6-854A-D34FC1BD4A1C}"/>
              </a:ext>
            </a:extLst>
          </p:cNvPr>
          <p:cNvSpPr txBox="1"/>
          <p:nvPr/>
        </p:nvSpPr>
        <p:spPr>
          <a:xfrm>
            <a:off x="4846320" y="1586535"/>
            <a:ext cx="707136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Agricultural research intensity under par for world and developing countries, 1960-2010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14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99">
            <a:extLst>
              <a:ext uri="{FF2B5EF4-FFF2-40B4-BE49-F238E27FC236}">
                <a16:creationId xmlns:a16="http://schemas.microsoft.com/office/drawing/2014/main" id="{52B00AF4-C2B1-4B4F-ABF3-69817898602E}"/>
              </a:ext>
            </a:extLst>
          </p:cNvPr>
          <p:cNvSpPr txBox="1"/>
          <p:nvPr/>
        </p:nvSpPr>
        <p:spPr>
          <a:xfrm>
            <a:off x="479461" y="515264"/>
            <a:ext cx="11445020" cy="5174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14358">
              <a:defRPr/>
            </a:pPr>
            <a:r>
              <a:rPr lang="en-US" sz="3275" b="1" dirty="0">
                <a:solidFill>
                  <a:prstClr val="black"/>
                </a:solidFill>
                <a:latin typeface="+mj-lt"/>
                <a:cs typeface="Calibri" panose="020F0502020204030204" pitchFamily="34" charset="0"/>
              </a:rPr>
              <a:t> </a:t>
            </a:r>
            <a:endParaRPr lang="en-US" sz="3275" dirty="0">
              <a:solidFill>
                <a:prstClr val="black"/>
              </a:solidFill>
              <a:latin typeface="+mj-lt"/>
              <a:ea typeface="Arial" charset="0"/>
              <a:cs typeface="Calibri" panose="020F0502020204030204" pitchFamily="34" charset="0"/>
            </a:endParaRPr>
          </a:p>
        </p:txBody>
      </p:sp>
      <p:sp>
        <p:nvSpPr>
          <p:cNvPr id="101" name="Text Placeholder 3">
            <a:extLst>
              <a:ext uri="{FF2B5EF4-FFF2-40B4-BE49-F238E27FC236}">
                <a16:creationId xmlns:a16="http://schemas.microsoft.com/office/drawing/2014/main" id="{5BC6B6BE-4963-4764-97A5-FCAD03CB8865}"/>
              </a:ext>
            </a:extLst>
          </p:cNvPr>
          <p:cNvSpPr txBox="1">
            <a:spLocks/>
          </p:cNvSpPr>
          <p:nvPr/>
        </p:nvSpPr>
        <p:spPr>
          <a:xfrm>
            <a:off x="6096000" y="1132316"/>
            <a:ext cx="5828481" cy="5529805"/>
          </a:xfrm>
          <a:prstGeom prst="rect">
            <a:avLst/>
          </a:prstGeom>
          <a:solidFill>
            <a:schemeClr val="bg1"/>
          </a:solidFill>
        </p:spPr>
        <p:txBody>
          <a:bodyPr vert="horz" lIns="0" tIns="45717" rIns="91434" bIns="45717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Investment, policies and incentives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climate-resilient and sustainable production practices along food value chains to: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792" lvl="1" indent="-179992" defTabSz="91435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Facilitate adoption and adaptation of technologies</a:t>
            </a:r>
          </a:p>
          <a:p>
            <a:pPr marL="685792" lvl="1" indent="-179992" defTabSz="91435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a shift to healthy diets </a:t>
            </a:r>
          </a:p>
          <a:p>
            <a:pPr marL="685792" lvl="1" indent="-179992" defTabSz="91435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food loss and waste</a:t>
            </a:r>
          </a:p>
          <a:p>
            <a:pPr marL="685792" lvl="1" indent="-179992" defTabSz="91435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management of water, land, soils, and forests</a:t>
            </a:r>
          </a:p>
          <a:p>
            <a:pPr marL="685792" lvl="1" indent="-179992" defTabSz="91435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 market incentives to change producer and consumer </a:t>
            </a:r>
            <a:r>
              <a:rPr 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6204A-8BED-49B1-8AAA-B16E5D8DE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33" y="270358"/>
            <a:ext cx="8812812" cy="590931"/>
          </a:xfrm>
        </p:spPr>
        <p:txBody>
          <a:bodyPr/>
          <a:lstStyle/>
          <a:p>
            <a:r>
              <a:rPr lang="en-US" sz="3600" b="1" dirty="0">
                <a:latin typeface="+mj-lt"/>
                <a:cs typeface="Calibri" panose="020F0502020204030204" pitchFamily="34" charset="0"/>
              </a:rPr>
              <a:t>Solutions for food systems </a:t>
            </a:r>
            <a:r>
              <a:rPr lang="en-US" sz="3600" b="1" dirty="0">
                <a:cs typeface="Calibri" panose="020F0502020204030204" pitchFamily="34" charset="0"/>
              </a:rPr>
              <a:t>transformation</a:t>
            </a:r>
            <a:endParaRPr lang="en-US" sz="3600" dirty="0"/>
          </a:p>
        </p:txBody>
      </p:sp>
      <p:pic>
        <p:nvPicPr>
          <p:cNvPr id="1026" name="Picture 2" descr="Visual Sensemaking – Graphic Recording by Claudia Steinau">
            <a:extLst>
              <a:ext uri="{FF2B5EF4-FFF2-40B4-BE49-F238E27FC236}">
                <a16:creationId xmlns:a16="http://schemas.microsoft.com/office/drawing/2014/main" id="{C7DF6A93-3361-4826-92EC-C6112D315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4734"/>
            <a:ext cx="6034355" cy="452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4C808591-9C7F-4BDE-98ED-385C02684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531" y="6552982"/>
            <a:ext cx="35811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358"/>
            <a:r>
              <a:rPr lang="en-US" sz="1000" dirty="0">
                <a:solidFill>
                  <a:prstClr val="white"/>
                </a:solidFill>
                <a:latin typeface="Arial"/>
              </a:rPr>
              <a:t>Picture sources: IRRI, New Agriculturist, and Zen Gardner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F77F1CFD-0C67-480C-AF28-CCEADEF4B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614" y="6547395"/>
            <a:ext cx="51050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358"/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Photos: </a:t>
            </a:r>
            <a:r>
              <a:rPr lang="en-US" sz="9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Ageitec</a:t>
            </a: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HarvestPlus, WEF, ICRAF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89A565-7E4C-4331-AAE6-7304B0B2FFEC}"/>
              </a:ext>
            </a:extLst>
          </p:cNvPr>
          <p:cNvSpPr txBox="1"/>
          <p:nvPr/>
        </p:nvSpPr>
        <p:spPr>
          <a:xfrm>
            <a:off x="569642" y="1696361"/>
            <a:ext cx="9215120" cy="20005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1800"/>
              </a:spcAft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358">
              <a:spcAft>
                <a:spcPts val="600"/>
              </a:spcAft>
            </a:pPr>
            <a:r>
              <a:rPr lang="en-US" sz="2400" dirty="0">
                <a:solidFill>
                  <a:srgbClr val="BF63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Further develop and scale up new multiple-win technologies</a:t>
            </a:r>
          </a:p>
          <a:p>
            <a:pPr marL="228589" indent="-228589" defTabSz="914358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Alternative proteins to reduce GHGs, environmental impact, health risks</a:t>
            </a:r>
          </a:p>
          <a:p>
            <a:pPr marL="228589" lvl="1" indent="-228589" defTabSz="914358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Emission-reducing animal feed</a:t>
            </a:r>
          </a:p>
          <a:p>
            <a:pPr marL="228589" lvl="1" indent="-228589" defTabSz="914358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Gene editing for climate-resilience &amp; yield-enhancing seed improvements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589" lvl="1" indent="-228589" defTabSz="914358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Precision agriculture and other digital technologies for agriculture 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3E04C-01E8-4338-83BF-408333E3A719}"/>
              </a:ext>
            </a:extLst>
          </p:cNvPr>
          <p:cNvSpPr txBox="1"/>
          <p:nvPr/>
        </p:nvSpPr>
        <p:spPr>
          <a:xfrm>
            <a:off x="569642" y="3683253"/>
            <a:ext cx="9318085" cy="28982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1800"/>
              </a:spcAft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358">
              <a:spcAft>
                <a:spcPts val="600"/>
              </a:spcAft>
            </a:pPr>
            <a:r>
              <a:rPr lang="en-US" sz="2400" dirty="0">
                <a:solidFill>
                  <a:srgbClr val="BF63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 farmer-led and SME-led innovations</a:t>
            </a:r>
          </a:p>
          <a:p>
            <a:pPr marL="228589" indent="-228589" defTabSz="914358">
              <a:lnSpc>
                <a:spcPts val="24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Improved soil management for productivity increases and carbon sequestration</a:t>
            </a:r>
          </a:p>
          <a:p>
            <a:pPr marL="228589" indent="-228589" defTabSz="914358">
              <a:lnSpc>
                <a:spcPts val="24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Planting basins to conserve water and improve food safety</a:t>
            </a:r>
          </a:p>
          <a:p>
            <a:pPr marL="228589" indent="-228589" defTabSz="914358">
              <a:lnSpc>
                <a:spcPts val="24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Bundled digital advisory provision (extension, credit, climate information, logics, early warning systems, insurance, etc.)</a:t>
            </a:r>
          </a:p>
          <a:p>
            <a:pPr marL="228589" indent="-228589" defTabSz="914358">
              <a:lnSpc>
                <a:spcPts val="24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Solar-powered small-scale irrigation, storage and cold chain development</a:t>
            </a:r>
          </a:p>
          <a:p>
            <a:pPr marL="228589" indent="-228589" defTabSz="914358">
              <a:lnSpc>
                <a:spcPts val="24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Inclusive certification schemes for food quality and sustainability standards</a:t>
            </a:r>
          </a:p>
        </p:txBody>
      </p:sp>
      <p:pic>
        <p:nvPicPr>
          <p:cNvPr id="7" name="Picture 6" descr=" ">
            <a:extLst>
              <a:ext uri="{FF2B5EF4-FFF2-40B4-BE49-F238E27FC236}">
                <a16:creationId xmlns:a16="http://schemas.microsoft.com/office/drawing/2014/main" id="{ABE82AF6-19A5-4D93-8E33-9A2A0426EF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90" b="10158"/>
          <a:stretch/>
        </p:blipFill>
        <p:spPr bwMode="auto">
          <a:xfrm>
            <a:off x="9931787" y="1199191"/>
            <a:ext cx="1983365" cy="1155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foreststreesagroforestry.org/wp-content/uploads/2018/01/DSC_5277-300x200-300x200.jpg">
            <a:extLst>
              <a:ext uri="{FF2B5EF4-FFF2-40B4-BE49-F238E27FC236}">
                <a16:creationId xmlns:a16="http://schemas.microsoft.com/office/drawing/2014/main" id="{642E0589-AA75-4B28-A333-45676649A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265" y="5130007"/>
            <a:ext cx="1982420" cy="1321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1432DF-D1C3-453E-AB4E-8A270F1F98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732" y="3826576"/>
            <a:ext cx="1982420" cy="1077135"/>
          </a:xfrm>
          <a:prstGeom prst="rect">
            <a:avLst/>
          </a:prstGeom>
        </p:spPr>
      </p:pic>
      <p:pic>
        <p:nvPicPr>
          <p:cNvPr id="10" name="Picture 2" descr="https://www.afdb.org/fileadmin/uploads/afdb/Images/Photos/RIZ-NERICA.jpg">
            <a:extLst>
              <a:ext uri="{FF2B5EF4-FFF2-40B4-BE49-F238E27FC236}">
                <a16:creationId xmlns:a16="http://schemas.microsoft.com/office/drawing/2014/main" id="{CB05308C-1441-475E-8C75-0FFD10538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9210" y="2484493"/>
            <a:ext cx="1982420" cy="111578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D7E1E85-A147-4A53-B68B-94E6E8FDEA6A}"/>
              </a:ext>
            </a:extLst>
          </p:cNvPr>
          <p:cNvSpPr txBox="1">
            <a:spLocks/>
          </p:cNvSpPr>
          <p:nvPr/>
        </p:nvSpPr>
        <p:spPr>
          <a:xfrm>
            <a:off x="152817" y="323489"/>
            <a:ext cx="11506071" cy="61657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defTabSz="554492"/>
            <a:endParaRPr lang="en-US" sz="3275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17777BB-D414-4F93-901C-C493D7F63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792" y="553566"/>
            <a:ext cx="9304677" cy="480131"/>
          </a:xfrm>
        </p:spPr>
        <p:txBody>
          <a:bodyPr/>
          <a:lstStyle/>
          <a:p>
            <a:r>
              <a:rPr lang="en-US" sz="2800" b="1" kern="0" dirty="0"/>
              <a:t>Reshaping food systems with innovations for multiple wins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05537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4C808591-9C7F-4BDE-98ED-385C02684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531" y="6552982"/>
            <a:ext cx="35811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358"/>
            <a:r>
              <a:rPr lang="en-US" sz="1000" dirty="0">
                <a:solidFill>
                  <a:prstClr val="white"/>
                </a:solidFill>
                <a:latin typeface="Arial"/>
              </a:rPr>
              <a:t>Picture sources: IRRI, New Agriculturist, and Zen Gardner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F77F1CFD-0C67-480C-AF28-CCEADEF4B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614" y="6547395"/>
            <a:ext cx="51050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358"/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Photos: </a:t>
            </a:r>
            <a:r>
              <a:rPr lang="en-US" sz="9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Ageitec</a:t>
            </a: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HarvestPlus, WEF, ICRAF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D7E1E85-A147-4A53-B68B-94E6E8FDEA6A}"/>
              </a:ext>
            </a:extLst>
          </p:cNvPr>
          <p:cNvSpPr txBox="1">
            <a:spLocks/>
          </p:cNvSpPr>
          <p:nvPr/>
        </p:nvSpPr>
        <p:spPr>
          <a:xfrm>
            <a:off x="152817" y="323489"/>
            <a:ext cx="11506071" cy="61657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defTabSz="554492"/>
            <a:endParaRPr lang="en-US" sz="3275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78E0B9-C4E5-4EDC-9F67-7E4F5C985C8B}"/>
              </a:ext>
            </a:extLst>
          </p:cNvPr>
          <p:cNvSpPr txBox="1"/>
          <p:nvPr/>
        </p:nvSpPr>
        <p:spPr>
          <a:xfrm>
            <a:off x="424216" y="1812113"/>
            <a:ext cx="8648401" cy="50107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1800"/>
              </a:spcAft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358">
              <a:spcAft>
                <a:spcPts val="600"/>
              </a:spcAft>
            </a:pPr>
            <a:r>
              <a:rPr lang="en-US" sz="2800" dirty="0">
                <a:solidFill>
                  <a:srgbClr val="BF63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Change market incentives through reform agricultural support and innovative finance for STI in CSA </a:t>
            </a:r>
          </a:p>
          <a:p>
            <a:pPr marL="228589" indent="-228589" defTabSz="914358">
              <a:lnSpc>
                <a:spcPts val="3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Repurpose agricultural support to more R&amp;D in productivity enhancing and low emission-intensity production</a:t>
            </a:r>
          </a:p>
          <a:p>
            <a:pPr marL="228589" indent="-228589" defTabSz="914358">
              <a:lnSpc>
                <a:spcPts val="3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Payments for eco-services and for adoption of improved climate-smart technologies</a:t>
            </a:r>
          </a:p>
          <a:p>
            <a:pPr marL="228589" indent="-228589" defTabSz="914358">
              <a:lnSpc>
                <a:spcPts val="3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Repurposing of agricultural support needs international coordination </a:t>
            </a:r>
            <a:r>
              <a:rPr lang="en-US" sz="2400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en-US" sz="2400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role for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G20</a:t>
            </a:r>
          </a:p>
          <a:p>
            <a:pPr marL="228589" indent="-228589" defTabSz="914358">
              <a:lnSpc>
                <a:spcPts val="3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financing mechanisms to de-risk investment in sustainable agriculture </a:t>
            </a:r>
            <a:r>
              <a:rPr lang="en-US" sz="2400" b="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role for national and multilateral development banks</a:t>
            </a:r>
            <a:endParaRPr lang="en-US" sz="2400" b="0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589" indent="-228589" defTabSz="914358">
              <a:lnSpc>
                <a:spcPts val="24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17777BB-D414-4F93-901C-C493D7F63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645" y="834942"/>
            <a:ext cx="5834176" cy="480131"/>
          </a:xfrm>
        </p:spPr>
        <p:txBody>
          <a:bodyPr/>
          <a:lstStyle/>
          <a:p>
            <a:r>
              <a:rPr lang="en-US" sz="2800" b="1" kern="0" dirty="0"/>
              <a:t>Reshaping finance and incentives</a:t>
            </a:r>
            <a:endParaRPr lang="en-US" sz="2800" dirty="0"/>
          </a:p>
        </p:txBody>
      </p:sp>
      <p:pic>
        <p:nvPicPr>
          <p:cNvPr id="1026" name="Picture 2" descr="Reducing Emissions in Farming Through Financial Incentives - Giving Compass">
            <a:extLst>
              <a:ext uri="{FF2B5EF4-FFF2-40B4-BE49-F238E27FC236}">
                <a16:creationId xmlns:a16="http://schemas.microsoft.com/office/drawing/2014/main" id="{BC14E2EB-F5AC-0EC1-0F0C-4633EAE38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617" y="1888645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48,847 Agriculture Finance Images, Stock Photos &amp; Vectors | Shutterstock">
            <a:extLst>
              <a:ext uri="{FF2B5EF4-FFF2-40B4-BE49-F238E27FC236}">
                <a16:creationId xmlns:a16="http://schemas.microsoft.com/office/drawing/2014/main" id="{7F8CF462-159B-02F7-03D1-C1E0544C9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617" y="3692048"/>
            <a:ext cx="2930788" cy="196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55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99D7-A2BF-1CE5-54D5-CE989688F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956" y="522259"/>
            <a:ext cx="5802758" cy="701731"/>
          </a:xfrm>
        </p:spPr>
        <p:txBody>
          <a:bodyPr/>
          <a:lstStyle/>
          <a:p>
            <a:r>
              <a:rPr lang="en-US" dirty="0"/>
              <a:t>Issues for 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ABE0D-5521-3D5E-4B2C-4B0ED2DD8590}"/>
              </a:ext>
            </a:extLst>
          </p:cNvPr>
          <p:cNvSpPr txBox="1"/>
          <p:nvPr/>
        </p:nvSpPr>
        <p:spPr>
          <a:xfrm>
            <a:off x="1772956" y="1744613"/>
            <a:ext cx="9028394" cy="45267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1800"/>
              </a:spcAft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457200" indent="-457200">
              <a:buFont typeface="+mj-lt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Collaborations in STI for Climate Resilient Agriculture and Food Systems.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Innovative Financing to Facilitate Climate Smart Agriculture Approaches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Agri-business Strategies for Climate-Smart Agriculture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Inclusive Policies for Tech-driven Climate-Smart Agriculture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Climate-Smart Agriculture for Livelihoods Protection and Opportunities </a:t>
            </a:r>
          </a:p>
          <a:p>
            <a:pPr marL="228589" indent="-228589" defTabSz="914358">
              <a:lnSpc>
                <a:spcPts val="24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2800" b="0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29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985CAC3199E34AB2F253CBCEDFB66B" ma:contentTypeVersion="12" ma:contentTypeDescription="Create a new document." ma:contentTypeScope="" ma:versionID="fb1fdaea4f7297795dd4e7b45157f35b">
  <xsd:schema xmlns:xsd="http://www.w3.org/2001/XMLSchema" xmlns:xs="http://www.w3.org/2001/XMLSchema" xmlns:p="http://schemas.microsoft.com/office/2006/metadata/properties" xmlns:ns2="2bd2ec63-c87a-4a3c-83ac-4841b324c575" xmlns:ns3="363a6cfc-733a-4a7a-b91d-0d8da2a441c5" targetNamespace="http://schemas.microsoft.com/office/2006/metadata/properties" ma:root="true" ma:fieldsID="b0270b06c91ba6339a14116429907ecc" ns2:_="" ns3:_="">
    <xsd:import namespace="2bd2ec63-c87a-4a3c-83ac-4841b324c575"/>
    <xsd:import namespace="363a6cfc-733a-4a7a-b91d-0d8da2a441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2ec63-c87a-4a3c-83ac-4841b324c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1616629-9183-4d38-9e3a-f9db27d53a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a6cfc-733a-4a7a-b91d-0d8da2a441c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3c6e539-bf30-4180-98ce-9c2fc6664e16}" ma:internalName="TaxCatchAll" ma:showField="CatchAllData" ma:web="363a6cfc-733a-4a7a-b91d-0d8da2a441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bd2ec63-c87a-4a3c-83ac-4841b324c575">
      <Terms xmlns="http://schemas.microsoft.com/office/infopath/2007/PartnerControls"/>
    </lcf76f155ced4ddcb4097134ff3c332f>
    <TaxCatchAll xmlns="363a6cfc-733a-4a7a-b91d-0d8da2a441c5" xsi:nil="true"/>
  </documentManagement>
</p:properties>
</file>

<file path=customXml/itemProps1.xml><?xml version="1.0" encoding="utf-8"?>
<ds:datastoreItem xmlns:ds="http://schemas.openxmlformats.org/officeDocument/2006/customXml" ds:itemID="{F66F761C-C7F6-41BB-8462-381546EB34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2ec63-c87a-4a3c-83ac-4841b324c575"/>
    <ds:schemaRef ds:uri="363a6cfc-733a-4a7a-b91d-0d8da2a441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3A91DC-6A1E-42D4-AA40-003F5ED248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35FB59-8072-41A3-B5E7-029EF21EE0DB}">
  <ds:schemaRefs>
    <ds:schemaRef ds:uri="http://schemas.microsoft.com/office/2006/metadata/properties"/>
    <ds:schemaRef ds:uri="http://schemas.microsoft.com/office/infopath/2007/PartnerControls"/>
    <ds:schemaRef ds:uri="2bd2ec63-c87a-4a3c-83ac-4841b324c575"/>
    <ds:schemaRef ds:uri="363a6cfc-733a-4a7a-b91d-0d8da2a441c5"/>
  </ds:schemaRefs>
</ds:datastoreItem>
</file>

<file path=docProps/CustomMKOP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KProdID">
    <vt:lpwstr>ZMOutlook</vt:lpwstr>
  </property>
  <property fmtid="{D5CDD505-2E9C-101B-9397-08002B2CF9AE}" pid="3" name="SizeBefore">
    <vt:lpwstr>1476142</vt:lpwstr>
  </property>
  <property fmtid="{D5CDD505-2E9C-101B-9397-08002B2CF9AE}" pid="4" name="OptimizationTime">
    <vt:lpwstr>20230214_1900</vt:lpwstr>
  </property>
</Properties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491</Words>
  <Application>Microsoft Office PowerPoint</Application>
  <PresentationFormat>Widescreen</PresentationFormat>
  <Paragraphs>62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Montserrat</vt:lpstr>
      <vt:lpstr>Wingdings</vt:lpstr>
      <vt:lpstr>Office Theme</vt:lpstr>
      <vt:lpstr>Climate change and food system sustainability Challenges and solutions</vt:lpstr>
      <vt:lpstr>Food availability and sustainability challenges</vt:lpstr>
      <vt:lpstr>Food availability and sustainability challenges</vt:lpstr>
      <vt:lpstr>Underinvestment in food system R&amp;D</vt:lpstr>
      <vt:lpstr>Solutions for food systems transformation</vt:lpstr>
      <vt:lpstr>Reshaping food systems with innovations for multiple wins</vt:lpstr>
      <vt:lpstr>Reshaping finance and incentives</vt:lpstr>
      <vt:lpstr>Issues for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change and food system sustainability</dc:title>
  <dc:creator>Vos, Rob (IFPRI)</dc:creator>
  <cp:lastModifiedBy>Vos, Rob (IFPRI)</cp:lastModifiedBy>
  <cp:revision>7</cp:revision>
  <dcterms:created xsi:type="dcterms:W3CDTF">2023-02-04T18:50:57Z</dcterms:created>
  <dcterms:modified xsi:type="dcterms:W3CDTF">2023-02-05T21:44:29Z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0x010100DB985CAC3199E34AB2F253CBCEDFB66B</vt:lpwstr>
  </property>
  <property fmtid="{D5CDD505-2E9C-101B-9397-08002B2CF9AE}" pid="3" name="MediaServiceImageTags">
    <vt:lpwstr/>
  </property>
</Properties>
</file>