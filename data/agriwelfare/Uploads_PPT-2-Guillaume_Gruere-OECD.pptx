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57" r:id="rId3"/>
    <p:sldId id="265" r:id="rId4"/>
    <p:sldId id="259" r:id="rId5"/>
    <p:sldId id="260" r:id="rId6"/>
    <p:sldId id="261" r:id="rId7"/>
    <p:sldId id="275" r:id="rId8"/>
    <p:sldId id="262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249" autoAdjust="0"/>
  </p:normalViewPr>
  <p:slideViewPr>
    <p:cSldViewPr snapToGrid="0">
      <p:cViewPr varScale="1">
        <p:scale>
          <a:sx n="60" d="100"/>
          <a:sy n="60" d="100"/>
        </p:scale>
        <p:origin x="72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115EB7-42BC-4308-B042-7E780472F48C}" type="doc">
      <dgm:prSet loTypeId="urn:microsoft.com/office/officeart/2005/8/layout/venn1" loCatId="relationship" qsTypeId="urn:microsoft.com/office/officeart/2005/8/quickstyle/simple1" qsCatId="simple" csTypeId="urn:microsoft.com/office/officeart/2005/8/colors/colorful4" csCatId="colorful" phldr="1"/>
      <dgm:spPr/>
    </dgm:pt>
    <dgm:pt modelId="{5FF44091-012B-47EA-B6BE-0DD4FDD3FF1C}">
      <dgm:prSet phldrT="[Text]" custT="1"/>
      <dgm:spPr/>
      <dgm:t>
        <a:bodyPr anchor="t"/>
        <a:lstStyle/>
        <a:p>
          <a:r>
            <a:rPr lang="en-GB" sz="2000" b="1">
              <a:solidFill>
                <a:schemeClr val="bg2">
                  <a:lumMod val="10000"/>
                </a:schemeClr>
              </a:solidFill>
              <a:latin typeface="+mj-lt"/>
            </a:rPr>
            <a:t>Productivity</a:t>
          </a:r>
          <a:endParaRPr lang="en-US" sz="2000" b="1" dirty="0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DA47A211-4411-4F5D-9AC8-7F5008ED4685}" type="parTrans" cxnId="{97BCC6E1-E75B-48BC-A5FC-CBD2B97A1E9A}">
      <dgm:prSet/>
      <dgm:spPr/>
      <dgm:t>
        <a:bodyPr/>
        <a:lstStyle/>
        <a:p>
          <a:endParaRPr lang="en-US" sz="1600" b="1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94CF0F32-EE35-4825-A5B2-7BB5597F161D}" type="sibTrans" cxnId="{97BCC6E1-E75B-48BC-A5FC-CBD2B97A1E9A}">
      <dgm:prSet/>
      <dgm:spPr/>
      <dgm:t>
        <a:bodyPr/>
        <a:lstStyle/>
        <a:p>
          <a:endParaRPr lang="en-US" sz="1600" b="1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8881B134-32F7-498A-8241-FEC31C1FD7C6}">
      <dgm:prSet phldrT="[Text]" custT="1"/>
      <dgm:spPr/>
      <dgm:t>
        <a:bodyPr anchor="b"/>
        <a:lstStyle/>
        <a:p>
          <a:r>
            <a:rPr lang="en-GB" sz="2000" b="1" dirty="0">
              <a:solidFill>
                <a:schemeClr val="bg2">
                  <a:lumMod val="10000"/>
                </a:schemeClr>
              </a:solidFill>
              <a:latin typeface="+mj-lt"/>
            </a:rPr>
            <a:t>Mitigation</a:t>
          </a:r>
          <a:endParaRPr lang="en-US" sz="2000" b="1" dirty="0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40456422-CEA7-43B7-8B1B-208E0A587E1F}" type="parTrans" cxnId="{F09B95B8-8D1B-429C-93FD-B98F60FFFD47}">
      <dgm:prSet/>
      <dgm:spPr/>
      <dgm:t>
        <a:bodyPr/>
        <a:lstStyle/>
        <a:p>
          <a:endParaRPr lang="en-US" sz="1600" b="1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4575F29E-8D98-42C3-A505-63450D4B4D03}" type="sibTrans" cxnId="{F09B95B8-8D1B-429C-93FD-B98F60FFFD47}">
      <dgm:prSet/>
      <dgm:spPr/>
      <dgm:t>
        <a:bodyPr/>
        <a:lstStyle/>
        <a:p>
          <a:endParaRPr lang="en-US" sz="1600" b="1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89528932-FBA8-4B45-87F8-D5D5A851A44E}">
      <dgm:prSet phldrT="[Text]" custT="1"/>
      <dgm:spPr/>
      <dgm:t>
        <a:bodyPr anchor="b"/>
        <a:lstStyle/>
        <a:p>
          <a:r>
            <a:rPr lang="en-GB" sz="2000" b="1">
              <a:solidFill>
                <a:schemeClr val="bg2">
                  <a:lumMod val="10000"/>
                </a:schemeClr>
              </a:solidFill>
              <a:latin typeface="+mj-lt"/>
            </a:rPr>
            <a:t>Adaptation</a:t>
          </a:r>
          <a:endParaRPr lang="en-US" sz="2000" b="1" dirty="0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D794A64B-F6DB-4D9F-A2C0-DD8239D15973}" type="parTrans" cxnId="{1C150D6E-7B21-43BE-A064-36FB9840B11A}">
      <dgm:prSet/>
      <dgm:spPr/>
      <dgm:t>
        <a:bodyPr/>
        <a:lstStyle/>
        <a:p>
          <a:endParaRPr lang="en-US" sz="1600" b="1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8DBB45F1-2A47-4C82-9F43-8DB7F4AA5F64}" type="sibTrans" cxnId="{1C150D6E-7B21-43BE-A064-36FB9840B11A}">
      <dgm:prSet/>
      <dgm:spPr/>
      <dgm:t>
        <a:bodyPr/>
        <a:lstStyle/>
        <a:p>
          <a:endParaRPr lang="en-US" sz="1600" b="1">
            <a:solidFill>
              <a:schemeClr val="bg2">
                <a:lumMod val="10000"/>
              </a:schemeClr>
            </a:solidFill>
            <a:latin typeface="+mj-lt"/>
          </a:endParaRPr>
        </a:p>
      </dgm:t>
    </dgm:pt>
    <dgm:pt modelId="{F7540123-CA94-4FF8-AA7E-E16057E3B771}" type="pres">
      <dgm:prSet presAssocID="{D4115EB7-42BC-4308-B042-7E780472F48C}" presName="compositeShape" presStyleCnt="0">
        <dgm:presLayoutVars>
          <dgm:chMax val="7"/>
          <dgm:dir/>
          <dgm:resizeHandles val="exact"/>
        </dgm:presLayoutVars>
      </dgm:prSet>
      <dgm:spPr/>
    </dgm:pt>
    <dgm:pt modelId="{9A054748-21C4-4E4D-B33C-763D3AE0C593}" type="pres">
      <dgm:prSet presAssocID="{5FF44091-012B-47EA-B6BE-0DD4FDD3FF1C}" presName="circ1" presStyleLbl="vennNode1" presStyleIdx="0" presStyleCnt="3" custLinFactNeighborX="10802" custLinFactNeighborY="-2979"/>
      <dgm:spPr/>
    </dgm:pt>
    <dgm:pt modelId="{918E554C-2E6E-4F9D-B68D-A696FEC54834}" type="pres">
      <dgm:prSet presAssocID="{5FF44091-012B-47EA-B6BE-0DD4FDD3FF1C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ACEC7C27-7CA9-4EDA-80DB-CF808830AF05}" type="pres">
      <dgm:prSet presAssocID="{8881B134-32F7-498A-8241-FEC31C1FD7C6}" presName="circ2" presStyleLbl="vennNode1" presStyleIdx="1" presStyleCnt="3" custLinFactNeighborX="9296" custLinFactNeighborY="-19337"/>
      <dgm:spPr/>
    </dgm:pt>
    <dgm:pt modelId="{92CB9B34-5C6B-4E57-B088-9041655D58A4}" type="pres">
      <dgm:prSet presAssocID="{8881B134-32F7-498A-8241-FEC31C1FD7C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B08AE99-0370-4CA5-8C4A-E6302F71AC33}" type="pres">
      <dgm:prSet presAssocID="{89528932-FBA8-4B45-87F8-D5D5A851A44E}" presName="circ3" presStyleLbl="vennNode1" presStyleIdx="2" presStyleCnt="3" custLinFactNeighborX="10888" custLinFactNeighborY="-17424"/>
      <dgm:spPr/>
    </dgm:pt>
    <dgm:pt modelId="{79C78B1E-78CF-4D7E-9EBA-E5C4FA98F8BE}" type="pres">
      <dgm:prSet presAssocID="{89528932-FBA8-4B45-87F8-D5D5A851A44E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17FCF906-1D4B-47DA-9C1E-767CB83E0ADD}" type="presOf" srcId="{D4115EB7-42BC-4308-B042-7E780472F48C}" destId="{F7540123-CA94-4FF8-AA7E-E16057E3B771}" srcOrd="0" destOrd="0" presId="urn:microsoft.com/office/officeart/2005/8/layout/venn1"/>
    <dgm:cxn modelId="{BD6AFA08-A7F8-4094-9782-F61D4EBE8757}" type="presOf" srcId="{8881B134-32F7-498A-8241-FEC31C1FD7C6}" destId="{92CB9B34-5C6B-4E57-B088-9041655D58A4}" srcOrd="1" destOrd="0" presId="urn:microsoft.com/office/officeart/2005/8/layout/venn1"/>
    <dgm:cxn modelId="{6324F435-EB7C-44C9-BCAF-C7021CBAD496}" type="presOf" srcId="{5FF44091-012B-47EA-B6BE-0DD4FDD3FF1C}" destId="{9A054748-21C4-4E4D-B33C-763D3AE0C593}" srcOrd="0" destOrd="0" presId="urn:microsoft.com/office/officeart/2005/8/layout/venn1"/>
    <dgm:cxn modelId="{21B29F69-AE9D-49B4-9FCB-C3FF89CB9FE4}" type="presOf" srcId="{5FF44091-012B-47EA-B6BE-0DD4FDD3FF1C}" destId="{918E554C-2E6E-4F9D-B68D-A696FEC54834}" srcOrd="1" destOrd="0" presId="urn:microsoft.com/office/officeart/2005/8/layout/venn1"/>
    <dgm:cxn modelId="{1C150D6E-7B21-43BE-A064-36FB9840B11A}" srcId="{D4115EB7-42BC-4308-B042-7E780472F48C}" destId="{89528932-FBA8-4B45-87F8-D5D5A851A44E}" srcOrd="2" destOrd="0" parTransId="{D794A64B-F6DB-4D9F-A2C0-DD8239D15973}" sibTransId="{8DBB45F1-2A47-4C82-9F43-8DB7F4AA5F64}"/>
    <dgm:cxn modelId="{A7102153-3769-406C-B7CA-983C83C0A45A}" type="presOf" srcId="{8881B134-32F7-498A-8241-FEC31C1FD7C6}" destId="{ACEC7C27-7CA9-4EDA-80DB-CF808830AF05}" srcOrd="0" destOrd="0" presId="urn:microsoft.com/office/officeart/2005/8/layout/venn1"/>
    <dgm:cxn modelId="{F09B95B8-8D1B-429C-93FD-B98F60FFFD47}" srcId="{D4115EB7-42BC-4308-B042-7E780472F48C}" destId="{8881B134-32F7-498A-8241-FEC31C1FD7C6}" srcOrd="1" destOrd="0" parTransId="{40456422-CEA7-43B7-8B1B-208E0A587E1F}" sibTransId="{4575F29E-8D98-42C3-A505-63450D4B4D03}"/>
    <dgm:cxn modelId="{6EFE46BE-D9FB-4ACD-9309-78CD149F86CA}" type="presOf" srcId="{89528932-FBA8-4B45-87F8-D5D5A851A44E}" destId="{6B08AE99-0370-4CA5-8C4A-E6302F71AC33}" srcOrd="0" destOrd="0" presId="urn:microsoft.com/office/officeart/2005/8/layout/venn1"/>
    <dgm:cxn modelId="{B1BEE7DA-C15C-4F7E-91AA-8862F0C7997F}" type="presOf" srcId="{89528932-FBA8-4B45-87F8-D5D5A851A44E}" destId="{79C78B1E-78CF-4D7E-9EBA-E5C4FA98F8BE}" srcOrd="1" destOrd="0" presId="urn:microsoft.com/office/officeart/2005/8/layout/venn1"/>
    <dgm:cxn modelId="{97BCC6E1-E75B-48BC-A5FC-CBD2B97A1E9A}" srcId="{D4115EB7-42BC-4308-B042-7E780472F48C}" destId="{5FF44091-012B-47EA-B6BE-0DD4FDD3FF1C}" srcOrd="0" destOrd="0" parTransId="{DA47A211-4411-4F5D-9AC8-7F5008ED4685}" sibTransId="{94CF0F32-EE35-4825-A5B2-7BB5597F161D}"/>
    <dgm:cxn modelId="{65A5F4D4-637F-4D07-9334-7F5D99292515}" type="presParOf" srcId="{F7540123-CA94-4FF8-AA7E-E16057E3B771}" destId="{9A054748-21C4-4E4D-B33C-763D3AE0C593}" srcOrd="0" destOrd="0" presId="urn:microsoft.com/office/officeart/2005/8/layout/venn1"/>
    <dgm:cxn modelId="{156588A9-C5AD-40BC-9C4A-0B543504E7CF}" type="presParOf" srcId="{F7540123-CA94-4FF8-AA7E-E16057E3B771}" destId="{918E554C-2E6E-4F9D-B68D-A696FEC54834}" srcOrd="1" destOrd="0" presId="urn:microsoft.com/office/officeart/2005/8/layout/venn1"/>
    <dgm:cxn modelId="{D6EF7DCC-9A8B-4C8D-B7AB-93A0513AFCEB}" type="presParOf" srcId="{F7540123-CA94-4FF8-AA7E-E16057E3B771}" destId="{ACEC7C27-7CA9-4EDA-80DB-CF808830AF05}" srcOrd="2" destOrd="0" presId="urn:microsoft.com/office/officeart/2005/8/layout/venn1"/>
    <dgm:cxn modelId="{FD6BEECB-335C-42BB-AE62-4D0643C451B8}" type="presParOf" srcId="{F7540123-CA94-4FF8-AA7E-E16057E3B771}" destId="{92CB9B34-5C6B-4E57-B088-9041655D58A4}" srcOrd="3" destOrd="0" presId="urn:microsoft.com/office/officeart/2005/8/layout/venn1"/>
    <dgm:cxn modelId="{6A60FD5B-18DE-4CC6-B838-BDA89FFBFB1B}" type="presParOf" srcId="{F7540123-CA94-4FF8-AA7E-E16057E3B771}" destId="{6B08AE99-0370-4CA5-8C4A-E6302F71AC33}" srcOrd="4" destOrd="0" presId="urn:microsoft.com/office/officeart/2005/8/layout/venn1"/>
    <dgm:cxn modelId="{08014E73-DC1F-4B7C-8BA9-C6E011268C5C}" type="presParOf" srcId="{F7540123-CA94-4FF8-AA7E-E16057E3B771}" destId="{79C78B1E-78CF-4D7E-9EBA-E5C4FA98F8BE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316C05-FE27-426C-8B85-6E84D035EC61}" type="doc">
      <dgm:prSet loTypeId="urn:microsoft.com/office/officeart/2005/8/layout/process1" loCatId="process" qsTypeId="urn:microsoft.com/office/officeart/2005/8/quickstyle/simple1" qsCatId="simple" csTypeId="urn:microsoft.com/office/officeart/2005/8/colors/colorful4" csCatId="colorful" phldr="1"/>
      <dgm:spPr/>
    </dgm:pt>
    <dgm:pt modelId="{EC41DD45-A74D-4FCD-8932-2C5E68D706E5}">
      <dgm:prSet phldrT="[Text]" custT="1"/>
      <dgm:spPr/>
      <dgm:t>
        <a:bodyPr/>
        <a:lstStyle/>
        <a:p>
          <a:pPr algn="ctr"/>
          <a:r>
            <a:rPr lang="en-US" sz="2000" b="1" dirty="0">
              <a:latin typeface="Arial Narrow" panose="020B0606020202030204" pitchFamily="34" charset="0"/>
            </a:rPr>
            <a:t>POLICIES &amp; REGULATIONS </a:t>
          </a:r>
        </a:p>
        <a:p>
          <a:pPr algn="ctr"/>
          <a:endParaRPr lang="en-US" sz="1600" dirty="0"/>
        </a:p>
        <a:p>
          <a:pPr algn="l"/>
          <a:r>
            <a:rPr lang="en-US" sz="1800" dirty="0">
              <a:latin typeface="Arial Narrow" panose="020B0606020202030204" pitchFamily="34" charset="0"/>
            </a:rPr>
            <a:t>–Macroeconomic environment &amp; governance </a:t>
          </a:r>
        </a:p>
        <a:p>
          <a:pPr algn="l"/>
          <a:r>
            <a:rPr lang="en-US" sz="1800" dirty="0">
              <a:latin typeface="Arial Narrow" panose="020B0606020202030204" pitchFamily="34" charset="0"/>
            </a:rPr>
            <a:t> -Economy-wide policies with impact on the Food and Agriculture System </a:t>
          </a:r>
        </a:p>
        <a:p>
          <a:pPr algn="l"/>
          <a:r>
            <a:rPr lang="en-US" sz="1800" dirty="0">
              <a:latin typeface="Arial Narrow" panose="020B0606020202030204" pitchFamily="34" charset="0"/>
            </a:rPr>
            <a:t>-Agricultural policies</a:t>
          </a:r>
        </a:p>
        <a:p>
          <a:pPr algn="l"/>
          <a:r>
            <a:rPr lang="en-US" sz="1800" dirty="0">
              <a:latin typeface="Arial Narrow" panose="020B0606020202030204" pitchFamily="34" charset="0"/>
            </a:rPr>
            <a:t>-Agricultural Innovation system</a:t>
          </a:r>
        </a:p>
        <a:p>
          <a:pPr algn="l"/>
          <a:endParaRPr lang="en-US" sz="1400" dirty="0"/>
        </a:p>
      </dgm:t>
    </dgm:pt>
    <dgm:pt modelId="{DF5460A5-89E7-492B-A139-93196D07E3B4}" type="parTrans" cxnId="{EC89D92C-E312-43AA-BF4F-0E907C209896}">
      <dgm:prSet/>
      <dgm:spPr/>
      <dgm:t>
        <a:bodyPr/>
        <a:lstStyle/>
        <a:p>
          <a:endParaRPr lang="en-US"/>
        </a:p>
      </dgm:t>
    </dgm:pt>
    <dgm:pt modelId="{FB9E057A-9999-4C3C-9FF3-ABE5624B0246}" type="sibTrans" cxnId="{EC89D92C-E312-43AA-BF4F-0E907C209896}">
      <dgm:prSet/>
      <dgm:spPr/>
      <dgm:t>
        <a:bodyPr/>
        <a:lstStyle/>
        <a:p>
          <a:endParaRPr lang="en-US"/>
        </a:p>
      </dgm:t>
    </dgm:pt>
    <dgm:pt modelId="{D3D49AA1-FDE9-4BF8-A093-1C72137DC067}">
      <dgm:prSet custT="1"/>
      <dgm:spPr/>
      <dgm:t>
        <a:bodyPr/>
        <a:lstStyle/>
        <a:p>
          <a:pPr algn="ctr"/>
          <a:r>
            <a:rPr lang="en-US" sz="2000" b="1" dirty="0">
              <a:latin typeface="Arial Narrow" panose="020B0606020202030204" pitchFamily="34" charset="0"/>
            </a:rPr>
            <a:t>DRIVERS </a:t>
          </a:r>
        </a:p>
        <a:p>
          <a:pPr algn="ctr"/>
          <a:endParaRPr lang="en-US" sz="1600" dirty="0"/>
        </a:p>
        <a:p>
          <a:pPr algn="ctr"/>
          <a:endParaRPr lang="en-US" sz="1600" dirty="0"/>
        </a:p>
        <a:p>
          <a:pPr algn="l"/>
          <a:r>
            <a:rPr lang="en-US" sz="1800" dirty="0">
              <a:latin typeface="Arial Narrow" panose="020B0606020202030204" pitchFamily="34" charset="0"/>
            </a:rPr>
            <a:t>- Research and development </a:t>
          </a:r>
        </a:p>
        <a:p>
          <a:pPr algn="l"/>
          <a:r>
            <a:rPr lang="en-US" sz="1800" dirty="0">
              <a:latin typeface="Arial Narrow" panose="020B0606020202030204" pitchFamily="34" charset="0"/>
            </a:rPr>
            <a:t>- Information, skills and knowledge enhancement </a:t>
          </a:r>
        </a:p>
        <a:p>
          <a:pPr algn="l"/>
          <a:r>
            <a:rPr lang="en-US" sz="1800" dirty="0">
              <a:latin typeface="Arial Narrow" panose="020B0606020202030204" pitchFamily="34" charset="0"/>
            </a:rPr>
            <a:t>- Incentives to adopt</a:t>
          </a:r>
        </a:p>
        <a:p>
          <a:pPr algn="ctr"/>
          <a:endParaRPr lang="en-US" sz="1600" dirty="0"/>
        </a:p>
        <a:p>
          <a:pPr algn="ctr"/>
          <a:endParaRPr lang="en-US" sz="1600" dirty="0"/>
        </a:p>
        <a:p>
          <a:pPr algn="ctr"/>
          <a:r>
            <a:rPr lang="en-US" sz="1600" dirty="0"/>
            <a:t> </a:t>
          </a:r>
        </a:p>
      </dgm:t>
    </dgm:pt>
    <dgm:pt modelId="{E10315A9-65B6-4A23-A76F-C27EC89F7025}" type="parTrans" cxnId="{862865A3-E855-466A-B559-26F8C6B07EF1}">
      <dgm:prSet/>
      <dgm:spPr/>
      <dgm:t>
        <a:bodyPr/>
        <a:lstStyle/>
        <a:p>
          <a:endParaRPr lang="en-US"/>
        </a:p>
      </dgm:t>
    </dgm:pt>
    <dgm:pt modelId="{02AE73E0-7A11-47FA-9804-F32E6B0FAE99}" type="sibTrans" cxnId="{862865A3-E855-466A-B559-26F8C6B07EF1}">
      <dgm:prSet/>
      <dgm:spPr/>
      <dgm:t>
        <a:bodyPr/>
        <a:lstStyle/>
        <a:p>
          <a:endParaRPr lang="en-US"/>
        </a:p>
      </dgm:t>
    </dgm:pt>
    <dgm:pt modelId="{62876571-E430-4AE4-B950-F886085C5461}">
      <dgm:prSet custT="1"/>
      <dgm:spPr/>
      <dgm:t>
        <a:bodyPr/>
        <a:lstStyle/>
        <a:p>
          <a:pPr algn="ctr"/>
          <a:r>
            <a:rPr lang="en-US" sz="2000" b="1" dirty="0">
              <a:latin typeface="Arial Narrow" panose="020B0606020202030204" pitchFamily="34" charset="0"/>
            </a:rPr>
            <a:t>IMPACT</a:t>
          </a:r>
        </a:p>
        <a:p>
          <a:pPr algn="ctr"/>
          <a:endParaRPr lang="en-US" sz="1600" dirty="0"/>
        </a:p>
        <a:p>
          <a:pPr algn="ctr"/>
          <a:endParaRPr lang="en-US" sz="1600" dirty="0"/>
        </a:p>
        <a:p>
          <a:pPr algn="ctr"/>
          <a:endParaRPr lang="en-US" sz="1600" dirty="0"/>
        </a:p>
        <a:p>
          <a:pPr algn="l"/>
          <a:r>
            <a:rPr lang="en-US" sz="1800" dirty="0">
              <a:latin typeface="Arial Narrow" panose="020B0606020202030204" pitchFamily="34" charset="0"/>
            </a:rPr>
            <a:t>Development and use of Climate smart agriculture tech solutions</a:t>
          </a:r>
        </a:p>
        <a:p>
          <a:pPr algn="ctr"/>
          <a:endParaRPr lang="en-US" sz="1600" dirty="0"/>
        </a:p>
        <a:p>
          <a:pPr algn="ctr"/>
          <a:endParaRPr lang="en-US" sz="2000" dirty="0"/>
        </a:p>
        <a:p>
          <a:pPr algn="ctr"/>
          <a:endParaRPr lang="en-US" sz="1600" dirty="0"/>
        </a:p>
        <a:p>
          <a:pPr algn="ctr"/>
          <a:endParaRPr lang="en-US" sz="1600" dirty="0"/>
        </a:p>
      </dgm:t>
    </dgm:pt>
    <dgm:pt modelId="{33744C55-69E1-40B7-9BDD-BA03FC9E39E2}" type="parTrans" cxnId="{B8911F90-4590-4E6E-BF52-67E92BBFD747}">
      <dgm:prSet/>
      <dgm:spPr/>
      <dgm:t>
        <a:bodyPr/>
        <a:lstStyle/>
        <a:p>
          <a:endParaRPr lang="en-US"/>
        </a:p>
      </dgm:t>
    </dgm:pt>
    <dgm:pt modelId="{DDEBFC04-19B8-48F7-89E2-AB7684A02EE4}" type="sibTrans" cxnId="{B8911F90-4590-4E6E-BF52-67E92BBFD747}">
      <dgm:prSet/>
      <dgm:spPr/>
      <dgm:t>
        <a:bodyPr/>
        <a:lstStyle/>
        <a:p>
          <a:endParaRPr lang="en-US"/>
        </a:p>
      </dgm:t>
    </dgm:pt>
    <dgm:pt modelId="{E4D85A55-E8F4-48A4-81BD-9D444A2CB6F8}">
      <dgm:prSet phldrT="[Text]" custT="1"/>
      <dgm:spPr/>
      <dgm:t>
        <a:bodyPr/>
        <a:lstStyle/>
        <a:p>
          <a:r>
            <a:rPr lang="en-GB" sz="2000" b="1" dirty="0">
              <a:latin typeface="Arial Narrow" panose="020B0606020202030204" pitchFamily="34" charset="0"/>
            </a:rPr>
            <a:t>OUTCOME</a:t>
          </a:r>
        </a:p>
        <a:p>
          <a:endParaRPr lang="en-GB" sz="1600" dirty="0">
            <a:latin typeface="+mn-lt"/>
          </a:endParaRPr>
        </a:p>
        <a:p>
          <a:endParaRPr lang="en-GB" sz="1600" dirty="0">
            <a:latin typeface="+mn-lt"/>
          </a:endParaRPr>
        </a:p>
        <a:p>
          <a:endParaRPr lang="en-GB" sz="1600" dirty="0">
            <a:latin typeface="+mn-lt"/>
          </a:endParaRPr>
        </a:p>
        <a:p>
          <a:r>
            <a:rPr lang="en-GB" sz="1800" dirty="0">
              <a:latin typeface="Arial Narrow" panose="020B0606020202030204" pitchFamily="34" charset="0"/>
            </a:rPr>
            <a:t>Climate Smart Agriculture</a:t>
          </a:r>
        </a:p>
        <a:p>
          <a:endParaRPr lang="en-GB" sz="1800" dirty="0">
            <a:latin typeface="Arial Narrow" panose="020B0606020202030204" pitchFamily="34" charset="0"/>
          </a:endParaRPr>
        </a:p>
        <a:p>
          <a:endParaRPr lang="en-GB" sz="1800" dirty="0">
            <a:latin typeface="Arial Narrow" panose="020B0606020202030204" pitchFamily="34" charset="0"/>
          </a:endParaRPr>
        </a:p>
        <a:p>
          <a:endParaRPr lang="en-GB" sz="1600" dirty="0">
            <a:latin typeface="+mn-lt"/>
          </a:endParaRPr>
        </a:p>
        <a:p>
          <a:endParaRPr lang="en-GB" sz="1600" dirty="0">
            <a:latin typeface="+mn-lt"/>
          </a:endParaRPr>
        </a:p>
        <a:p>
          <a:endParaRPr lang="en-US" sz="1600" dirty="0">
            <a:latin typeface="+mn-lt"/>
          </a:endParaRPr>
        </a:p>
      </dgm:t>
    </dgm:pt>
    <dgm:pt modelId="{DF58AC64-F7B0-4427-8F1D-A04B54D489E1}" type="sibTrans" cxnId="{25AAC701-1EEC-4BDD-96AA-5915EEC70ED6}">
      <dgm:prSet/>
      <dgm:spPr/>
      <dgm:t>
        <a:bodyPr/>
        <a:lstStyle/>
        <a:p>
          <a:endParaRPr lang="en-US"/>
        </a:p>
      </dgm:t>
    </dgm:pt>
    <dgm:pt modelId="{42A7B074-F290-4841-BCA0-4438199D9524}" type="parTrans" cxnId="{25AAC701-1EEC-4BDD-96AA-5915EEC70ED6}">
      <dgm:prSet/>
      <dgm:spPr/>
      <dgm:t>
        <a:bodyPr/>
        <a:lstStyle/>
        <a:p>
          <a:endParaRPr lang="en-US"/>
        </a:p>
      </dgm:t>
    </dgm:pt>
    <dgm:pt modelId="{CA01A4AD-07F3-4CD5-BF69-270F964B5111}" type="pres">
      <dgm:prSet presAssocID="{CA316C05-FE27-426C-8B85-6E84D035EC61}" presName="Name0" presStyleCnt="0">
        <dgm:presLayoutVars>
          <dgm:dir/>
          <dgm:resizeHandles val="exact"/>
        </dgm:presLayoutVars>
      </dgm:prSet>
      <dgm:spPr/>
    </dgm:pt>
    <dgm:pt modelId="{20959312-527E-45B3-A12B-05E042CA77C1}" type="pres">
      <dgm:prSet presAssocID="{EC41DD45-A74D-4FCD-8932-2C5E68D706E5}" presName="node" presStyleLbl="node1" presStyleIdx="0" presStyleCnt="4">
        <dgm:presLayoutVars>
          <dgm:bulletEnabled val="1"/>
        </dgm:presLayoutVars>
      </dgm:prSet>
      <dgm:spPr/>
    </dgm:pt>
    <dgm:pt modelId="{7B88A5F7-16FF-440B-9608-53696E97767C}" type="pres">
      <dgm:prSet presAssocID="{FB9E057A-9999-4C3C-9FF3-ABE5624B0246}" presName="sibTrans" presStyleLbl="sibTrans2D1" presStyleIdx="0" presStyleCnt="3"/>
      <dgm:spPr/>
    </dgm:pt>
    <dgm:pt modelId="{820AF6F5-A390-400D-BD30-6CF99069B1F7}" type="pres">
      <dgm:prSet presAssocID="{FB9E057A-9999-4C3C-9FF3-ABE5624B0246}" presName="connectorText" presStyleLbl="sibTrans2D1" presStyleIdx="0" presStyleCnt="3"/>
      <dgm:spPr/>
    </dgm:pt>
    <dgm:pt modelId="{56E5A241-BE68-4630-968E-D6B2975BE5BC}" type="pres">
      <dgm:prSet presAssocID="{D3D49AA1-FDE9-4BF8-A093-1C72137DC067}" presName="node" presStyleLbl="node1" presStyleIdx="1" presStyleCnt="4">
        <dgm:presLayoutVars>
          <dgm:bulletEnabled val="1"/>
        </dgm:presLayoutVars>
      </dgm:prSet>
      <dgm:spPr/>
    </dgm:pt>
    <dgm:pt modelId="{669CBEDC-797E-4376-876C-65AD018834C6}" type="pres">
      <dgm:prSet presAssocID="{02AE73E0-7A11-47FA-9804-F32E6B0FAE99}" presName="sibTrans" presStyleLbl="sibTrans2D1" presStyleIdx="1" presStyleCnt="3"/>
      <dgm:spPr/>
    </dgm:pt>
    <dgm:pt modelId="{6F22EC39-8370-4ED8-9CB5-F39B1A32293B}" type="pres">
      <dgm:prSet presAssocID="{02AE73E0-7A11-47FA-9804-F32E6B0FAE99}" presName="connectorText" presStyleLbl="sibTrans2D1" presStyleIdx="1" presStyleCnt="3"/>
      <dgm:spPr/>
    </dgm:pt>
    <dgm:pt modelId="{F0DA9F69-880E-4EE9-8EB2-8F3C43925F48}" type="pres">
      <dgm:prSet presAssocID="{62876571-E430-4AE4-B950-F886085C5461}" presName="node" presStyleLbl="node1" presStyleIdx="2" presStyleCnt="4">
        <dgm:presLayoutVars>
          <dgm:bulletEnabled val="1"/>
        </dgm:presLayoutVars>
      </dgm:prSet>
      <dgm:spPr/>
    </dgm:pt>
    <dgm:pt modelId="{0ECE055E-A9E0-4191-83F0-E327AF1C034A}" type="pres">
      <dgm:prSet presAssocID="{DDEBFC04-19B8-48F7-89E2-AB7684A02EE4}" presName="sibTrans" presStyleLbl="sibTrans2D1" presStyleIdx="2" presStyleCnt="3"/>
      <dgm:spPr/>
    </dgm:pt>
    <dgm:pt modelId="{5EBEDEF3-80DA-4D52-9D04-053F90EEDE40}" type="pres">
      <dgm:prSet presAssocID="{DDEBFC04-19B8-48F7-89E2-AB7684A02EE4}" presName="connectorText" presStyleLbl="sibTrans2D1" presStyleIdx="2" presStyleCnt="3"/>
      <dgm:spPr/>
    </dgm:pt>
    <dgm:pt modelId="{0620CCCC-CAB6-4B0B-AF15-81ECFF44EC4E}" type="pres">
      <dgm:prSet presAssocID="{E4D85A55-E8F4-48A4-81BD-9D444A2CB6F8}" presName="node" presStyleLbl="node1" presStyleIdx="3" presStyleCnt="4">
        <dgm:presLayoutVars>
          <dgm:bulletEnabled val="1"/>
        </dgm:presLayoutVars>
      </dgm:prSet>
      <dgm:spPr/>
    </dgm:pt>
  </dgm:ptLst>
  <dgm:cxnLst>
    <dgm:cxn modelId="{25AAC701-1EEC-4BDD-96AA-5915EEC70ED6}" srcId="{CA316C05-FE27-426C-8B85-6E84D035EC61}" destId="{E4D85A55-E8F4-48A4-81BD-9D444A2CB6F8}" srcOrd="3" destOrd="0" parTransId="{42A7B074-F290-4841-BCA0-4438199D9524}" sibTransId="{DF58AC64-F7B0-4427-8F1D-A04B54D489E1}"/>
    <dgm:cxn modelId="{C3D4D026-C88E-4950-BCB2-CCE354F93387}" type="presOf" srcId="{DDEBFC04-19B8-48F7-89E2-AB7684A02EE4}" destId="{0ECE055E-A9E0-4191-83F0-E327AF1C034A}" srcOrd="0" destOrd="0" presId="urn:microsoft.com/office/officeart/2005/8/layout/process1"/>
    <dgm:cxn modelId="{EC89D92C-E312-43AA-BF4F-0E907C209896}" srcId="{CA316C05-FE27-426C-8B85-6E84D035EC61}" destId="{EC41DD45-A74D-4FCD-8932-2C5E68D706E5}" srcOrd="0" destOrd="0" parTransId="{DF5460A5-89E7-492B-A139-93196D07E3B4}" sibTransId="{FB9E057A-9999-4C3C-9FF3-ABE5624B0246}"/>
    <dgm:cxn modelId="{A54DAD61-B320-4E04-B562-17C81207D7A6}" type="presOf" srcId="{E4D85A55-E8F4-48A4-81BD-9D444A2CB6F8}" destId="{0620CCCC-CAB6-4B0B-AF15-81ECFF44EC4E}" srcOrd="0" destOrd="0" presId="urn:microsoft.com/office/officeart/2005/8/layout/process1"/>
    <dgm:cxn modelId="{3B31ED6A-94E3-497A-915D-EE51EDAA491D}" type="presOf" srcId="{D3D49AA1-FDE9-4BF8-A093-1C72137DC067}" destId="{56E5A241-BE68-4630-968E-D6B2975BE5BC}" srcOrd="0" destOrd="0" presId="urn:microsoft.com/office/officeart/2005/8/layout/process1"/>
    <dgm:cxn modelId="{0778A84B-FDA3-4FF3-8802-3E21F96A84EF}" type="presOf" srcId="{CA316C05-FE27-426C-8B85-6E84D035EC61}" destId="{CA01A4AD-07F3-4CD5-BF69-270F964B5111}" srcOrd="0" destOrd="0" presId="urn:microsoft.com/office/officeart/2005/8/layout/process1"/>
    <dgm:cxn modelId="{4CFABC6C-0BEF-4389-8D01-09466B681322}" type="presOf" srcId="{FB9E057A-9999-4C3C-9FF3-ABE5624B0246}" destId="{820AF6F5-A390-400D-BD30-6CF99069B1F7}" srcOrd="1" destOrd="0" presId="urn:microsoft.com/office/officeart/2005/8/layout/process1"/>
    <dgm:cxn modelId="{5D61117C-42BE-4B67-B871-528C5D7338F9}" type="presOf" srcId="{DDEBFC04-19B8-48F7-89E2-AB7684A02EE4}" destId="{5EBEDEF3-80DA-4D52-9D04-053F90EEDE40}" srcOrd="1" destOrd="0" presId="urn:microsoft.com/office/officeart/2005/8/layout/process1"/>
    <dgm:cxn modelId="{B8911F90-4590-4E6E-BF52-67E92BBFD747}" srcId="{CA316C05-FE27-426C-8B85-6E84D035EC61}" destId="{62876571-E430-4AE4-B950-F886085C5461}" srcOrd="2" destOrd="0" parTransId="{33744C55-69E1-40B7-9BDD-BA03FC9E39E2}" sibTransId="{DDEBFC04-19B8-48F7-89E2-AB7684A02EE4}"/>
    <dgm:cxn modelId="{862865A3-E855-466A-B559-26F8C6B07EF1}" srcId="{CA316C05-FE27-426C-8B85-6E84D035EC61}" destId="{D3D49AA1-FDE9-4BF8-A093-1C72137DC067}" srcOrd="1" destOrd="0" parTransId="{E10315A9-65B6-4A23-A76F-C27EC89F7025}" sibTransId="{02AE73E0-7A11-47FA-9804-F32E6B0FAE99}"/>
    <dgm:cxn modelId="{3E3C00AB-FFA8-4F25-9C0B-21A8A439CC91}" type="presOf" srcId="{02AE73E0-7A11-47FA-9804-F32E6B0FAE99}" destId="{6F22EC39-8370-4ED8-9CB5-F39B1A32293B}" srcOrd="1" destOrd="0" presId="urn:microsoft.com/office/officeart/2005/8/layout/process1"/>
    <dgm:cxn modelId="{22C5DFAE-7AD5-49C0-BBE0-FAE6B0008193}" type="presOf" srcId="{62876571-E430-4AE4-B950-F886085C5461}" destId="{F0DA9F69-880E-4EE9-8EB2-8F3C43925F48}" srcOrd="0" destOrd="0" presId="urn:microsoft.com/office/officeart/2005/8/layout/process1"/>
    <dgm:cxn modelId="{6F7FA3B5-4959-4DE9-8E6F-713C7551693E}" type="presOf" srcId="{FB9E057A-9999-4C3C-9FF3-ABE5624B0246}" destId="{7B88A5F7-16FF-440B-9608-53696E97767C}" srcOrd="0" destOrd="0" presId="urn:microsoft.com/office/officeart/2005/8/layout/process1"/>
    <dgm:cxn modelId="{1F5857BA-AEEA-445E-B6A5-8D82481D7FB3}" type="presOf" srcId="{02AE73E0-7A11-47FA-9804-F32E6B0FAE99}" destId="{669CBEDC-797E-4376-876C-65AD018834C6}" srcOrd="0" destOrd="0" presId="urn:microsoft.com/office/officeart/2005/8/layout/process1"/>
    <dgm:cxn modelId="{1FE071C1-C0AC-4AA5-B588-1C08AD5F938B}" type="presOf" srcId="{EC41DD45-A74D-4FCD-8932-2C5E68D706E5}" destId="{20959312-527E-45B3-A12B-05E042CA77C1}" srcOrd="0" destOrd="0" presId="urn:microsoft.com/office/officeart/2005/8/layout/process1"/>
    <dgm:cxn modelId="{C8665C7C-3356-4E1B-AED0-916D5EDCE7E6}" type="presParOf" srcId="{CA01A4AD-07F3-4CD5-BF69-270F964B5111}" destId="{20959312-527E-45B3-A12B-05E042CA77C1}" srcOrd="0" destOrd="0" presId="urn:microsoft.com/office/officeart/2005/8/layout/process1"/>
    <dgm:cxn modelId="{EFDAD410-D673-4A04-95D2-B71FA653DA07}" type="presParOf" srcId="{CA01A4AD-07F3-4CD5-BF69-270F964B5111}" destId="{7B88A5F7-16FF-440B-9608-53696E97767C}" srcOrd="1" destOrd="0" presId="urn:microsoft.com/office/officeart/2005/8/layout/process1"/>
    <dgm:cxn modelId="{EB2E5912-70D0-4790-9C89-13216C4B625E}" type="presParOf" srcId="{7B88A5F7-16FF-440B-9608-53696E97767C}" destId="{820AF6F5-A390-400D-BD30-6CF99069B1F7}" srcOrd="0" destOrd="0" presId="urn:microsoft.com/office/officeart/2005/8/layout/process1"/>
    <dgm:cxn modelId="{4F4E429E-8850-42B0-B0A8-C2CB1228E66A}" type="presParOf" srcId="{CA01A4AD-07F3-4CD5-BF69-270F964B5111}" destId="{56E5A241-BE68-4630-968E-D6B2975BE5BC}" srcOrd="2" destOrd="0" presId="urn:microsoft.com/office/officeart/2005/8/layout/process1"/>
    <dgm:cxn modelId="{49BFB681-EFC6-4C64-BDBD-4EFBADCEB91B}" type="presParOf" srcId="{CA01A4AD-07F3-4CD5-BF69-270F964B5111}" destId="{669CBEDC-797E-4376-876C-65AD018834C6}" srcOrd="3" destOrd="0" presId="urn:microsoft.com/office/officeart/2005/8/layout/process1"/>
    <dgm:cxn modelId="{02C566B6-07E6-49C5-B1B7-360A107EFAD7}" type="presParOf" srcId="{669CBEDC-797E-4376-876C-65AD018834C6}" destId="{6F22EC39-8370-4ED8-9CB5-F39B1A32293B}" srcOrd="0" destOrd="0" presId="urn:microsoft.com/office/officeart/2005/8/layout/process1"/>
    <dgm:cxn modelId="{DC4312C1-5580-452D-BD67-BAA7FB7BEBC7}" type="presParOf" srcId="{CA01A4AD-07F3-4CD5-BF69-270F964B5111}" destId="{F0DA9F69-880E-4EE9-8EB2-8F3C43925F48}" srcOrd="4" destOrd="0" presId="urn:microsoft.com/office/officeart/2005/8/layout/process1"/>
    <dgm:cxn modelId="{AB4D4CF1-A059-47EE-B691-D5D493AF67C0}" type="presParOf" srcId="{CA01A4AD-07F3-4CD5-BF69-270F964B5111}" destId="{0ECE055E-A9E0-4191-83F0-E327AF1C034A}" srcOrd="5" destOrd="0" presId="urn:microsoft.com/office/officeart/2005/8/layout/process1"/>
    <dgm:cxn modelId="{EB309927-891F-4344-9CD2-28864C456D77}" type="presParOf" srcId="{0ECE055E-A9E0-4191-83F0-E327AF1C034A}" destId="{5EBEDEF3-80DA-4D52-9D04-053F90EEDE40}" srcOrd="0" destOrd="0" presId="urn:microsoft.com/office/officeart/2005/8/layout/process1"/>
    <dgm:cxn modelId="{9F131254-6617-4DD0-B3B0-C1F1C4DA9F58}" type="presParOf" srcId="{CA01A4AD-07F3-4CD5-BF69-270F964B5111}" destId="{0620CCCC-CAB6-4B0B-AF15-81ECFF44EC4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054748-21C4-4E4D-B33C-763D3AE0C593}">
      <dsp:nvSpPr>
        <dsp:cNvPr id="0" name=""/>
        <dsp:cNvSpPr/>
      </dsp:nvSpPr>
      <dsp:spPr>
        <a:xfrm>
          <a:off x="2262548" y="0"/>
          <a:ext cx="2489337" cy="248933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>
              <a:solidFill>
                <a:schemeClr val="bg2">
                  <a:lumMod val="10000"/>
                </a:schemeClr>
              </a:solidFill>
              <a:latin typeface="+mj-lt"/>
            </a:rPr>
            <a:t>Productivity</a:t>
          </a:r>
          <a:endParaRPr lang="en-US" sz="2000" b="1" kern="1200" dirty="0">
            <a:solidFill>
              <a:schemeClr val="bg2">
                <a:lumMod val="10000"/>
              </a:schemeClr>
            </a:solidFill>
            <a:latin typeface="+mj-lt"/>
          </a:endParaRPr>
        </a:p>
      </dsp:txBody>
      <dsp:txXfrm>
        <a:off x="2594460" y="435634"/>
        <a:ext cx="1825514" cy="1120201"/>
      </dsp:txXfrm>
    </dsp:sp>
    <dsp:sp modelId="{ACEC7C27-7CA9-4EDA-80DB-CF808830AF05}">
      <dsp:nvSpPr>
        <dsp:cNvPr id="0" name=""/>
        <dsp:cNvSpPr/>
      </dsp:nvSpPr>
      <dsp:spPr>
        <a:xfrm>
          <a:off x="3123295" y="1126333"/>
          <a:ext cx="2489337" cy="2489337"/>
        </a:xfrm>
        <a:prstGeom prst="ellipse">
          <a:avLst/>
        </a:prstGeom>
        <a:solidFill>
          <a:schemeClr val="accent4">
            <a:alpha val="50000"/>
            <a:hueOff val="-2232385"/>
            <a:satOff val="13449"/>
            <a:lumOff val="107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chemeClr val="bg2">
                  <a:lumMod val="10000"/>
                </a:schemeClr>
              </a:solidFill>
              <a:latin typeface="+mj-lt"/>
            </a:rPr>
            <a:t>Mitigation</a:t>
          </a:r>
          <a:endParaRPr lang="en-US" sz="2000" b="1" kern="1200" dirty="0">
            <a:solidFill>
              <a:schemeClr val="bg2">
                <a:lumMod val="10000"/>
              </a:schemeClr>
            </a:solidFill>
            <a:latin typeface="+mj-lt"/>
          </a:endParaRPr>
        </a:p>
      </dsp:txBody>
      <dsp:txXfrm>
        <a:off x="3884617" y="1769412"/>
        <a:ext cx="1493602" cy="1369135"/>
      </dsp:txXfrm>
    </dsp:sp>
    <dsp:sp modelId="{6B08AE99-0370-4CA5-8C4A-E6302F71AC33}">
      <dsp:nvSpPr>
        <dsp:cNvPr id="0" name=""/>
        <dsp:cNvSpPr/>
      </dsp:nvSpPr>
      <dsp:spPr>
        <a:xfrm>
          <a:off x="1366453" y="1173955"/>
          <a:ext cx="2489337" cy="2489337"/>
        </a:xfrm>
        <a:prstGeom prst="ellipse">
          <a:avLst/>
        </a:prstGeom>
        <a:solidFill>
          <a:schemeClr val="accent4">
            <a:alpha val="50000"/>
            <a:hueOff val="-4464770"/>
            <a:satOff val="26899"/>
            <a:lumOff val="21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>
              <a:solidFill>
                <a:schemeClr val="bg2">
                  <a:lumMod val="10000"/>
                </a:schemeClr>
              </a:solidFill>
              <a:latin typeface="+mj-lt"/>
            </a:rPr>
            <a:t>Adaptation</a:t>
          </a:r>
          <a:endParaRPr lang="en-US" sz="2000" b="1" kern="1200" dirty="0">
            <a:solidFill>
              <a:schemeClr val="bg2">
                <a:lumMod val="10000"/>
              </a:schemeClr>
            </a:solidFill>
            <a:latin typeface="+mj-lt"/>
          </a:endParaRPr>
        </a:p>
      </dsp:txBody>
      <dsp:txXfrm>
        <a:off x="1600865" y="1817033"/>
        <a:ext cx="1493602" cy="13691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59312-527E-45B3-A12B-05E042CA77C1}">
      <dsp:nvSpPr>
        <dsp:cNvPr id="0" name=""/>
        <dsp:cNvSpPr/>
      </dsp:nvSpPr>
      <dsp:spPr>
        <a:xfrm>
          <a:off x="4815" y="192323"/>
          <a:ext cx="2105553" cy="414131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 Narrow" panose="020B0606020202030204" pitchFamily="34" charset="0"/>
            </a:rPr>
            <a:t>POLICIES &amp; REGULATIONS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–Macroeconomic environment &amp; governance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 -Economy-wide policies with impact on the Food and Agriculture System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-Agricultural policies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-Agricultural Innovation system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66485" y="253993"/>
        <a:ext cx="1982213" cy="4017975"/>
      </dsp:txXfrm>
    </dsp:sp>
    <dsp:sp modelId="{7B88A5F7-16FF-440B-9608-53696E97767C}">
      <dsp:nvSpPr>
        <dsp:cNvPr id="0" name=""/>
        <dsp:cNvSpPr/>
      </dsp:nvSpPr>
      <dsp:spPr>
        <a:xfrm>
          <a:off x="2320925" y="2001892"/>
          <a:ext cx="446377" cy="5221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320925" y="2106327"/>
        <a:ext cx="312464" cy="313307"/>
      </dsp:txXfrm>
    </dsp:sp>
    <dsp:sp modelId="{56E5A241-BE68-4630-968E-D6B2975BE5BC}">
      <dsp:nvSpPr>
        <dsp:cNvPr id="0" name=""/>
        <dsp:cNvSpPr/>
      </dsp:nvSpPr>
      <dsp:spPr>
        <a:xfrm>
          <a:off x="2952591" y="192323"/>
          <a:ext cx="2105553" cy="4141315"/>
        </a:xfrm>
        <a:prstGeom prst="roundRect">
          <a:avLst>
            <a:gd name="adj" fmla="val 10000"/>
          </a:avLst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 Narrow" panose="020B0606020202030204" pitchFamily="34" charset="0"/>
            </a:rPr>
            <a:t>DRIVERS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- Research and development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- Information, skills and knowledge enhancement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- Incentives to adopt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 </a:t>
          </a:r>
        </a:p>
      </dsp:txBody>
      <dsp:txXfrm>
        <a:off x="3014261" y="253993"/>
        <a:ext cx="1982213" cy="4017975"/>
      </dsp:txXfrm>
    </dsp:sp>
    <dsp:sp modelId="{669CBEDC-797E-4376-876C-65AD018834C6}">
      <dsp:nvSpPr>
        <dsp:cNvPr id="0" name=""/>
        <dsp:cNvSpPr/>
      </dsp:nvSpPr>
      <dsp:spPr>
        <a:xfrm>
          <a:off x="5268700" y="2001892"/>
          <a:ext cx="446377" cy="5221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268700" y="2106327"/>
        <a:ext cx="312464" cy="313307"/>
      </dsp:txXfrm>
    </dsp:sp>
    <dsp:sp modelId="{F0DA9F69-880E-4EE9-8EB2-8F3C43925F48}">
      <dsp:nvSpPr>
        <dsp:cNvPr id="0" name=""/>
        <dsp:cNvSpPr/>
      </dsp:nvSpPr>
      <dsp:spPr>
        <a:xfrm>
          <a:off x="5900366" y="192323"/>
          <a:ext cx="2105553" cy="4141315"/>
        </a:xfrm>
        <a:prstGeom prst="roundRect">
          <a:avLst>
            <a:gd name="adj" fmla="val 10000"/>
          </a:avLst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Arial Narrow" panose="020B0606020202030204" pitchFamily="34" charset="0"/>
            </a:rPr>
            <a:t>IMPACT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Arial Narrow" panose="020B0606020202030204" pitchFamily="34" charset="0"/>
            </a:rPr>
            <a:t>Development and use of Climate smart agriculture tech solutions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/>
        </a:p>
      </dsp:txBody>
      <dsp:txXfrm>
        <a:off x="5962036" y="253993"/>
        <a:ext cx="1982213" cy="4017975"/>
      </dsp:txXfrm>
    </dsp:sp>
    <dsp:sp modelId="{0ECE055E-A9E0-4191-83F0-E327AF1C034A}">
      <dsp:nvSpPr>
        <dsp:cNvPr id="0" name=""/>
        <dsp:cNvSpPr/>
      </dsp:nvSpPr>
      <dsp:spPr>
        <a:xfrm>
          <a:off x="8216476" y="2001892"/>
          <a:ext cx="446377" cy="522177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216476" y="2106327"/>
        <a:ext cx="312464" cy="313307"/>
      </dsp:txXfrm>
    </dsp:sp>
    <dsp:sp modelId="{0620CCCC-CAB6-4B0B-AF15-81ECFF44EC4E}">
      <dsp:nvSpPr>
        <dsp:cNvPr id="0" name=""/>
        <dsp:cNvSpPr/>
      </dsp:nvSpPr>
      <dsp:spPr>
        <a:xfrm>
          <a:off x="8848142" y="192323"/>
          <a:ext cx="2105553" cy="4141315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latin typeface="Arial Narrow" panose="020B0606020202030204" pitchFamily="34" charset="0"/>
            </a:rPr>
            <a:t>OUTCOME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>
            <a:latin typeface="+mn-lt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>
            <a:latin typeface="+mn-lt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>
            <a:latin typeface="+mn-lt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>
              <a:latin typeface="Arial Narrow" panose="020B0606020202030204" pitchFamily="34" charset="0"/>
            </a:rPr>
            <a:t>Climate Smart Agriculture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>
            <a:latin typeface="Arial Narrow" panose="020B060602020203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>
            <a:latin typeface="Arial Narrow" panose="020B0606020202030204" pitchFamily="34" charset="0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>
            <a:latin typeface="+mn-lt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>
            <a:latin typeface="+mn-lt"/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kern="1200" dirty="0">
            <a:latin typeface="+mn-lt"/>
          </a:endParaRPr>
        </a:p>
      </dsp:txBody>
      <dsp:txXfrm>
        <a:off x="8909812" y="253993"/>
        <a:ext cx="1982213" cy="40179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97E81-7D5A-4AC3-9375-B45EB991D219}" type="datetimeFigureOut">
              <a:rPr lang="en-US" smtClean="0"/>
              <a:t>11-Feb-2023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7E6DD1-7C72-479F-AFC6-DD7FAD4AD5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95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Contact us template 2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C6A3E7-7B0A-43E6-AF50-B970C3A8BCF7}" type="slidenum">
              <a:rPr lang="id-ID" smtClean="0"/>
              <a:pPr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315695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000" y="2628509"/>
            <a:ext cx="3504000" cy="4229631"/>
          </a:xfrm>
          <a:prstGeom prst="rect">
            <a:avLst/>
          </a:prstGeom>
        </p:spPr>
      </p:pic>
      <p:pic>
        <p:nvPicPr>
          <p:cNvPr id="36" name="Image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509"/>
            <a:ext cx="3504000" cy="4229631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1824000" y="2480400"/>
            <a:ext cx="8400000" cy="1267200"/>
          </a:xfrm>
          <a:prstGeom prst="rect">
            <a:avLst/>
          </a:prstGeom>
        </p:spPr>
        <p:txBody>
          <a:bodyPr lIns="90000" rIns="90000" anchor="b">
            <a:spAutoFit/>
          </a:bodyPr>
          <a:lstStyle>
            <a:lvl1pPr>
              <a:lnSpc>
                <a:spcPts val="4500"/>
              </a:lnSpc>
              <a:defRPr sz="4500" cap="all" baseline="0">
                <a:solidFill>
                  <a:schemeClr val="bg1"/>
                </a:solidFill>
              </a:defRPr>
            </a:lvl1pPr>
          </a:lstStyle>
          <a:p>
            <a:r>
              <a:rPr kumimoji="0" lang="en-US" dirty="0"/>
              <a:t>Click to edit Presentation title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1824000" y="3805200"/>
            <a:ext cx="8400000" cy="352800"/>
          </a:xfrm>
        </p:spPr>
        <p:txBody>
          <a:bodyPr lIns="90000" rIns="90000">
            <a:spAutoFit/>
          </a:bodyPr>
          <a:lstStyle>
            <a:lvl1pPr marL="0" indent="0" algn="l">
              <a:lnSpc>
                <a:spcPts val="20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dirty="0"/>
              <a:t>Click to </a:t>
            </a:r>
            <a:r>
              <a:rPr kumimoji="0" lang="fr-FR" dirty="0" err="1"/>
              <a:t>edit</a:t>
            </a:r>
            <a:r>
              <a:rPr kumimoji="0" lang="fr-FR" dirty="0"/>
              <a:t> </a:t>
            </a:r>
            <a:r>
              <a:rPr kumimoji="0" lang="fr-FR" dirty="0" err="1"/>
              <a:t>Subtitle</a:t>
            </a:r>
            <a:endParaRPr kumimoji="0" lang="en-US" dirty="0"/>
          </a:p>
        </p:txBody>
      </p:sp>
      <p:pic>
        <p:nvPicPr>
          <p:cNvPr id="37" name="Image 1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1601" y="432000"/>
            <a:ext cx="923076" cy="1440000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537600" y="6411600"/>
            <a:ext cx="12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955CCA31-75C3-4D76-87A5-C6F69B9D9C46}" type="datetimeFigureOut">
              <a:rPr lang="en-US" smtClean="0"/>
              <a:t>11-Feb-2023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4000" y="6411600"/>
            <a:ext cx="624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chemeClr val="bg1"/>
                </a:solidFill>
                <a:latin typeface="Arial"/>
              </a:defRPr>
            </a:lvl1pPr>
          </a:lstStyle>
          <a:p>
            <a:endParaRPr lang="en-US"/>
          </a:p>
        </p:txBody>
      </p:sp>
      <p:pic>
        <p:nvPicPr>
          <p:cNvPr id="10" name="Imag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2000" y="6055201"/>
            <a:ext cx="2323200" cy="57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33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eaLnBrk="1" latinLnBrk="0" hangingPunct="1">
              <a:defRPr/>
            </a:lvl1pPr>
            <a:lvl2pPr eaLnBrk="1" latinLnBrk="0" hangingPunct="1">
              <a:defRPr/>
            </a:lvl2pPr>
            <a:lvl3pPr eaLnBrk="1" latinLnBrk="0" hangingPunct="1">
              <a:defRPr/>
            </a:lvl3pPr>
            <a:lvl4pPr eaLnBrk="1" latinLnBrk="0" hangingPunct="1">
              <a:defRPr/>
            </a:lvl4pPr>
            <a:lvl5pPr eaLnBrk="1" latinLnBrk="0" hangingPunct="1">
              <a:defRPr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537600" y="6411600"/>
            <a:ext cx="12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rgbClr val="727272"/>
                </a:solidFill>
                <a:latin typeface="Arial"/>
              </a:defRPr>
            </a:lvl1pPr>
          </a:lstStyle>
          <a:p>
            <a:fld id="{955CCA31-75C3-4D76-87A5-C6F69B9D9C46}" type="datetimeFigureOut">
              <a:rPr lang="en-US" smtClean="0"/>
              <a:t>11-Feb-2023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4000" y="6411600"/>
            <a:ext cx="624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0000" y="6411600"/>
            <a:ext cx="456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33159F3E-2BBC-4465-9347-715F0603DAD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440000" y="237600"/>
            <a:ext cx="9888000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Slide title</a:t>
            </a:r>
            <a:br>
              <a:rPr lang="en-US" dirty="0"/>
            </a:br>
            <a:r>
              <a:rPr lang="en-US" dirty="0"/>
              <a:t>Slide title can be extended to two lines</a:t>
            </a:r>
          </a:p>
        </p:txBody>
      </p:sp>
    </p:spTree>
    <p:extLst>
      <p:ext uri="{BB962C8B-B14F-4D97-AF65-F5344CB8AC3E}">
        <p14:creationId xmlns:p14="http://schemas.microsoft.com/office/powerpoint/2010/main" val="2274674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24801" y="5328000"/>
            <a:ext cx="1267209" cy="1530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2800" y="468000"/>
            <a:ext cx="923077" cy="14400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1680000" y="2928144"/>
            <a:ext cx="8832000" cy="1041311"/>
          </a:xfrm>
        </p:spPr>
        <p:txBody>
          <a:bodyPr anchor="ctr" anchorCtr="0">
            <a:spAutoFit/>
          </a:bodyPr>
          <a:lstStyle>
            <a:lvl1pPr algn="ctr">
              <a:lnSpc>
                <a:spcPts val="3700"/>
              </a:lnSpc>
              <a:defRPr sz="3700" b="0" i="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Section Header title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537600" y="6411600"/>
            <a:ext cx="12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955CCA31-75C3-4D76-87A5-C6F69B9D9C46}" type="datetimeFigureOut">
              <a:rPr lang="en-US" smtClean="0"/>
              <a:t>11-Feb-2023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4000" y="6411600"/>
            <a:ext cx="624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chemeClr val="bg1"/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0000" y="6411600"/>
            <a:ext cx="456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tx2"/>
                </a:solidFill>
                <a:latin typeface="Arial"/>
              </a:defRPr>
            </a:lvl1pPr>
          </a:lstStyle>
          <a:p>
            <a:fld id="{33159F3E-2BBC-4465-9347-715F0603D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55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for template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11333668" y="6364295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4B5E3D8-B559-49FC-84E7-900B409E63B2}" type="slidenum">
              <a:rPr lang="id-ID" sz="1200" b="0" smtClean="0">
                <a:solidFill>
                  <a:schemeClr val="bg1"/>
                </a:solidFill>
                <a:latin typeface="Bernino Sans" pitchFamily="50" charset="0"/>
              </a:rPr>
              <a:pPr/>
              <a:t>‹#›</a:t>
            </a:fld>
            <a:endParaRPr lang="en-GB" sz="1200" b="0" dirty="0">
              <a:latin typeface="Bernino Sans" pitchFamily="50" charset="0"/>
            </a:endParaRPr>
          </a:p>
        </p:txBody>
      </p:sp>
      <p:sp>
        <p:nvSpPr>
          <p:cNvPr id="23" name="Rectangle 22"/>
          <p:cNvSpPr/>
          <p:nvPr userDrawn="1"/>
        </p:nvSpPr>
        <p:spPr>
          <a:xfrm>
            <a:off x="11333668" y="6364295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4B5E3D8-B559-49FC-84E7-900B409E63B2}" type="slidenum">
              <a:rPr lang="id-ID" sz="1200" b="0" smtClean="0">
                <a:solidFill>
                  <a:schemeClr val="bg1"/>
                </a:solidFill>
                <a:latin typeface="Bernino Sans" pitchFamily="50" charset="0"/>
              </a:rPr>
              <a:pPr/>
              <a:t>‹#›</a:t>
            </a:fld>
            <a:endParaRPr lang="en-GB" sz="1200" b="0" dirty="0">
              <a:latin typeface="Bernino Sans" pitchFamily="50" charset="0"/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1486068" y="6364295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4B5E3D8-B559-49FC-84E7-900B409E63B2}" type="slidenum">
              <a:rPr lang="id-ID" sz="1200" b="0" smtClean="0">
                <a:solidFill>
                  <a:schemeClr val="bg1"/>
                </a:solidFill>
                <a:latin typeface="Bernino Sans" pitchFamily="50" charset="0"/>
              </a:rPr>
              <a:pPr/>
              <a:t>‹#›</a:t>
            </a:fld>
            <a:endParaRPr lang="en-GB" sz="1200" b="0" dirty="0">
              <a:latin typeface="Bernino Sans" pitchFamily="50" charset="0"/>
            </a:endParaRPr>
          </a:p>
        </p:txBody>
      </p:sp>
      <p:pic>
        <p:nvPicPr>
          <p:cNvPr id="9" name="Picture 4" descr="\\FS-CH-1.main.oecd.org\Users3\ordelheide_s\Desktop\Untitled-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276" y="4745356"/>
            <a:ext cx="1733424" cy="2122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/>
          <p:cNvSpPr/>
          <p:nvPr userDrawn="1"/>
        </p:nvSpPr>
        <p:spPr>
          <a:xfrm>
            <a:off x="11611412" y="646398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44B5E3D8-B559-49FC-84E7-900B409E63B2}" type="slidenum">
              <a:rPr lang="id-ID" sz="1200" b="0" smtClean="0">
                <a:solidFill>
                  <a:schemeClr val="bg1"/>
                </a:solidFill>
                <a:latin typeface="Bernino Sans" pitchFamily="50" charset="0"/>
              </a:rPr>
              <a:pPr/>
              <a:t>‹#›</a:t>
            </a:fld>
            <a:endParaRPr lang="en-GB" sz="1200" b="0" dirty="0">
              <a:latin typeface="Bernino Sans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387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4801" y="5328185"/>
            <a:ext cx="1267209" cy="1529631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 bwMode="auto">
          <a:xfrm>
            <a:off x="672000" y="1306800"/>
            <a:ext cx="10872000" cy="0"/>
          </a:xfrm>
          <a:prstGeom prst="rect">
            <a:avLst/>
          </a:prstGeom>
          <a:noFill/>
          <a:ln w="6350" cap="flat" cmpd="sng" algn="ctr">
            <a:solidFill>
              <a:srgbClr val="727272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 65 Medium" pitchFamily="34" charset="0"/>
            </a:endParaRPr>
          </a:p>
        </p:txBody>
      </p:sp>
      <p:pic>
        <p:nvPicPr>
          <p:cNvPr id="24" name="Image 7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67201" y="288000"/>
            <a:ext cx="611537" cy="954000"/>
          </a:xfrm>
          <a:prstGeom prst="rect">
            <a:avLst/>
          </a:prstGeom>
        </p:spPr>
      </p:pic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24000" y="1602000"/>
            <a:ext cx="10958400" cy="45252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25" name="Title Placeholder 1"/>
          <p:cNvSpPr>
            <a:spLocks noGrp="1"/>
          </p:cNvSpPr>
          <p:nvPr>
            <p:ph type="title"/>
          </p:nvPr>
        </p:nvSpPr>
        <p:spPr>
          <a:xfrm>
            <a:off x="1440000" y="237600"/>
            <a:ext cx="9888000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Slide title</a:t>
            </a:r>
            <a:br>
              <a:rPr lang="en-US" dirty="0"/>
            </a:br>
            <a:r>
              <a:rPr lang="en-US" dirty="0"/>
              <a:t>Slide title can be extended to two lines</a:t>
            </a:r>
          </a:p>
        </p:txBody>
      </p:sp>
      <p:sp>
        <p:nvSpPr>
          <p:cNvPr id="26" name="Date Placeholder 3"/>
          <p:cNvSpPr>
            <a:spLocks noGrp="1"/>
          </p:cNvSpPr>
          <p:nvPr>
            <p:ph type="dt" sz="half" idx="2"/>
          </p:nvPr>
        </p:nvSpPr>
        <p:spPr>
          <a:xfrm>
            <a:off x="537600" y="6411600"/>
            <a:ext cx="120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baseline="0">
                <a:solidFill>
                  <a:srgbClr val="727272"/>
                </a:solidFill>
                <a:latin typeface="Arial"/>
              </a:defRPr>
            </a:lvl1pPr>
          </a:lstStyle>
          <a:p>
            <a:fld id="{955CCA31-75C3-4D76-87A5-C6F69B9D9C46}" type="datetimeFigureOut">
              <a:rPr lang="en-US" smtClean="0"/>
              <a:t>11-Feb-2023</a:t>
            </a:fld>
            <a:endParaRPr lang="en-US"/>
          </a:p>
        </p:txBody>
      </p:sp>
      <p:sp>
        <p:nvSpPr>
          <p:cNvPr id="2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24000" y="6411600"/>
            <a:ext cx="6240000" cy="244800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lvl1pPr algn="l">
              <a:defRPr sz="1000" kern="1200" baseline="0">
                <a:solidFill>
                  <a:srgbClr val="727272"/>
                </a:solidFill>
                <a:latin typeface="Arial"/>
              </a:defRPr>
            </a:lvl1pPr>
          </a:lstStyle>
          <a:p>
            <a:endParaRPr lang="en-US"/>
          </a:p>
        </p:txBody>
      </p:sp>
      <p:sp>
        <p:nvSpPr>
          <p:cNvPr id="4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0000" y="6411600"/>
            <a:ext cx="456000" cy="244800"/>
          </a:xfrm>
          <a:prstGeom prst="rect">
            <a:avLst/>
          </a:prstGeom>
        </p:spPr>
        <p:txBody>
          <a:bodyPr vert="horz" wrap="none" lIns="91440" tIns="45720" rIns="91440" bIns="45720" rtlCol="0" anchor="t" anchorCtr="0"/>
          <a:lstStyle>
            <a:lvl1pPr algn="r">
              <a:defRPr sz="1000" baseline="0">
                <a:solidFill>
                  <a:schemeClr val="bg1"/>
                </a:solidFill>
                <a:latin typeface="Arial"/>
              </a:defRPr>
            </a:lvl1pPr>
          </a:lstStyle>
          <a:p>
            <a:fld id="{33159F3E-2BBC-4465-9347-715F0603D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23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000" indent="-342000" algn="l" rtl="0" eaLnBrk="1" latinLnBrk="0" hangingPunct="1">
        <a:spcBef>
          <a:spcPts val="768"/>
        </a:spcBef>
        <a:buClr>
          <a:schemeClr val="tx1"/>
        </a:buClr>
        <a:buFont typeface="Arial" pitchFamily="34" charset="0"/>
        <a:buChar char="•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600" indent="-284400" algn="l" rtl="0" eaLnBrk="1" latinLnBrk="0" hangingPunct="1">
        <a:spcBef>
          <a:spcPts val="672"/>
        </a:spcBef>
        <a:buClr>
          <a:schemeClr val="tx1"/>
        </a:buClr>
        <a:buFont typeface="Arial" pitchFamily="34" charset="0"/>
        <a:buChar char="–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800" indent="-230400" algn="l" rtl="0" eaLnBrk="1" latinLnBrk="0" hangingPunct="1">
        <a:spcBef>
          <a:spcPts val="576"/>
        </a:spcBef>
        <a:buClr>
          <a:schemeClr val="tx1"/>
        </a:buClr>
        <a:buFont typeface="Arial" pitchFamily="34" charset="0"/>
        <a:buChar char="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000" indent="-230400" algn="l" rtl="0" eaLnBrk="1" latinLnBrk="0" hangingPunct="1">
        <a:spcBef>
          <a:spcPts val="480"/>
        </a:spcBef>
        <a:buClr>
          <a:schemeClr val="tx1"/>
        </a:buClr>
        <a:buFont typeface="Arial" pitchFamily="34" charset="0"/>
        <a:buChar char="–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9200" indent="-230400" algn="l" rtl="0" eaLnBrk="1" latinLnBrk="0" hangingPunct="1">
        <a:spcBef>
          <a:spcPts val="480"/>
        </a:spcBef>
        <a:buClr>
          <a:schemeClr val="tx1"/>
        </a:buClr>
        <a:buFont typeface="Arial" pitchFamily="34" charset="0"/>
        <a:buChar char="»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787/ee62a5ae-en" TargetMode="External"/><Relationship Id="rId7" Type="http://schemas.openxmlformats.org/officeDocument/2006/relationships/hyperlink" Target="http://dx.doi.org/10.1787/97767de8-en" TargetMode="External"/><Relationship Id="rId2" Type="http://schemas.openxmlformats.org/officeDocument/2006/relationships/hyperlink" Target="https://doi.org/10.1787/520dd70d-e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e.oecd.org/document/TAD/CA/APM/WP(2019)25/FINAL/en/pdf" TargetMode="External"/><Relationship Id="rId5" Type="http://schemas.openxmlformats.org/officeDocument/2006/relationships/hyperlink" Target="https://doi.org/10.1787/c9c4ec1d-en" TargetMode="External"/><Relationship Id="rId4" Type="http://schemas.openxmlformats.org/officeDocument/2006/relationships/hyperlink" Target="https://doi.org/10.1787/07dcb05c-e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B344-713C-4D27-9D56-93E25F261B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4001" y="2398865"/>
            <a:ext cx="9231178" cy="1183978"/>
          </a:xfrm>
        </p:spPr>
        <p:txBody>
          <a:bodyPr/>
          <a:lstStyle/>
          <a:p>
            <a:r>
              <a:rPr lang="en-US" sz="2800" dirty="0"/>
              <a:t>Leveraging tech solutions for climate smart agriculture:  the role of policies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8C75B7-50F3-4622-A78B-13EEA8911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4000" y="5222108"/>
            <a:ext cx="8400000" cy="1118255"/>
          </a:xfrm>
        </p:spPr>
        <p:txBody>
          <a:bodyPr/>
          <a:lstStyle/>
          <a:p>
            <a:r>
              <a:rPr lang="en-GB" dirty="0"/>
              <a:t>Guillaume Gruere, Ph.D.</a:t>
            </a:r>
          </a:p>
          <a:p>
            <a:r>
              <a:rPr lang="en-US" dirty="0"/>
              <a:t>Acting Head of Division</a:t>
            </a:r>
          </a:p>
          <a:p>
            <a:r>
              <a:rPr lang="en-US" dirty="0"/>
              <a:t>Agriculture and Resources Policies Division</a:t>
            </a:r>
          </a:p>
          <a:p>
            <a:r>
              <a:rPr lang="en-US" dirty="0"/>
              <a:t>OECD Trade and Agriculture Directorate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F388A0-4507-4905-918E-6566C5BE41C1}"/>
              </a:ext>
            </a:extLst>
          </p:cNvPr>
          <p:cNvSpPr txBox="1"/>
          <p:nvPr/>
        </p:nvSpPr>
        <p:spPr>
          <a:xfrm>
            <a:off x="7982465" y="167846"/>
            <a:ext cx="4006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400" dirty="0">
                <a:solidFill>
                  <a:schemeClr val="bg1"/>
                </a:solidFill>
                <a:latin typeface="+mj-lt"/>
              </a:rPr>
              <a:t>G20 Agriculture working group</a:t>
            </a:r>
          </a:p>
          <a:p>
            <a:pPr algn="r"/>
            <a:r>
              <a:rPr lang="en-GB" sz="1400" dirty="0">
                <a:solidFill>
                  <a:schemeClr val="bg1"/>
                </a:solidFill>
                <a:latin typeface="+mj-lt"/>
              </a:rPr>
              <a:t>Indore, India, February 13, 2023</a:t>
            </a:r>
            <a:endParaRPr lang="en-US" sz="1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238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570F17-9C57-4E43-A5E5-99E8091C3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Climate smart agriculture: from objectives to solutions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FA6DFB0-5F05-4825-812E-A93EB45E40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4581317"/>
              </p:ext>
            </p:extLst>
          </p:nvPr>
        </p:nvGraphicFramePr>
        <p:xfrm>
          <a:off x="-548310" y="1622031"/>
          <a:ext cx="6476638" cy="4148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C62CD2D-9B50-4A68-B00B-F863BB766871}"/>
              </a:ext>
            </a:extLst>
          </p:cNvPr>
          <p:cNvSpPr txBox="1"/>
          <p:nvPr/>
        </p:nvSpPr>
        <p:spPr>
          <a:xfrm>
            <a:off x="2624106" y="351181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CSA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BA95DC-7248-437B-A3FA-B7D27E3AE1E9}"/>
              </a:ext>
            </a:extLst>
          </p:cNvPr>
          <p:cNvSpPr txBox="1"/>
          <p:nvPr/>
        </p:nvSpPr>
        <p:spPr>
          <a:xfrm>
            <a:off x="5615258" y="1326704"/>
            <a:ext cx="6476638" cy="221599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Three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joint objectives support food security and the environment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are necessary to progress on SDGs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Consistent with OECD ag ministers’ productivity sustainability &amp; resilience objectives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always in concert due </a:t>
            </a:r>
            <a:r>
              <a:rPr lang="en-US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key differences </a:t>
            </a:r>
            <a:r>
              <a:rPr lang="en-US" b="1" u="sng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farmers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en-GB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Adaptation and productivity are linked and related to </a:t>
            </a:r>
            <a:r>
              <a:rPr lang="en-GB" sz="1600" b="1" i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private benefits </a:t>
            </a:r>
            <a:r>
              <a:rPr lang="en-GB" sz="1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 producers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Mitigation is a public good offering </a:t>
            </a:r>
            <a:r>
              <a:rPr lang="en-GB" sz="1600" b="1" i="1" dirty="0">
                <a:solidFill>
                  <a:srgbClr val="92D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public benefits</a:t>
            </a:r>
            <a:endParaRPr lang="en-US" dirty="0">
              <a:solidFill>
                <a:srgbClr val="92D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A6CBF1-9771-48D4-9C18-475C50150AE8}"/>
              </a:ext>
            </a:extLst>
          </p:cNvPr>
          <p:cNvSpPr txBox="1"/>
          <p:nvPr/>
        </p:nvSpPr>
        <p:spPr>
          <a:xfrm>
            <a:off x="5618205" y="3774502"/>
            <a:ext cx="6612539" cy="212365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 such, </a:t>
            </a:r>
            <a:r>
              <a:rPr lang="en-GB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policies may support CSA with more or less emphasis and for different reasons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Enhancing productivity for food security, livelihoods and resource efficiency (shared public/private)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Fostering agriculture adaptation to sustain production and livelihoods under a changing climate (shared public/private)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Encouraging a shift of production towards low GHG emission options for global welfare not directly impacting farms (public)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6158D0-CA06-4AA3-8CBC-C56AA0009D34}"/>
              </a:ext>
            </a:extLst>
          </p:cNvPr>
          <p:cNvSpPr txBox="1"/>
          <p:nvPr/>
        </p:nvSpPr>
        <p:spPr>
          <a:xfrm>
            <a:off x="488091" y="6100221"/>
            <a:ext cx="107050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Clear calls for </a:t>
            </a:r>
            <a:r>
              <a:rPr lang="en-GB" sz="18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coherence with food system approach to policies, and common support for innovation and therefore technical and technological </a:t>
            </a:r>
            <a:r>
              <a:rPr lang="en-GB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 (G20, OECD, GFFA, UNFSS)</a:t>
            </a:r>
            <a:endParaRPr lang="en-GB" sz="1800" b="1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97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P spid="7" grpId="0" animBg="1"/>
      <p:bldP spid="9" grpId="0" animBg="1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2C2FB-E829-443E-B060-52F174F0E8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3345475"/>
              </p:ext>
            </p:extLst>
          </p:nvPr>
        </p:nvGraphicFramePr>
        <p:xfrm>
          <a:off x="623888" y="1601788"/>
          <a:ext cx="10958512" cy="4525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2">
            <a:extLst>
              <a:ext uri="{FF2B5EF4-FFF2-40B4-BE49-F238E27FC236}">
                <a16:creationId xmlns:a16="http://schemas.microsoft.com/office/drawing/2014/main" id="{FF859F2F-E38C-44D2-9A48-4FF8C3768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863" y="238125"/>
            <a:ext cx="9888537" cy="1022350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How to leverage the use of these solutions? </a:t>
            </a:r>
            <a:br>
              <a:rPr lang="en-GB" dirty="0">
                <a:solidFill>
                  <a:schemeClr val="tx2"/>
                </a:solidFill>
              </a:rPr>
            </a:br>
            <a:r>
              <a:rPr lang="en-GB" sz="2800" dirty="0">
                <a:solidFill>
                  <a:schemeClr val="bg2">
                    <a:lumMod val="75000"/>
                  </a:schemeClr>
                </a:solidFill>
              </a:rPr>
              <a:t>From policies to outcome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263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459C2D53-F0AB-404C-B291-50720BFDC7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378"/>
          <a:stretch/>
        </p:blipFill>
        <p:spPr>
          <a:xfrm>
            <a:off x="2215129" y="1198609"/>
            <a:ext cx="8136097" cy="554535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9EFCC8A-4A84-4B81-959B-9370C27EA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0563" y="176209"/>
            <a:ext cx="10371437" cy="1022400"/>
          </a:xfrm>
        </p:spPr>
        <p:txBody>
          <a:bodyPr/>
          <a:lstStyle/>
          <a:p>
            <a:r>
              <a:rPr lang="en-GB" sz="2800" dirty="0">
                <a:solidFill>
                  <a:schemeClr val="tx2"/>
                </a:solidFill>
              </a:rPr>
              <a:t>What are the barriers to the adoption of CSA tech solutions? </a:t>
            </a:r>
            <a:br>
              <a:rPr lang="en-GB" sz="2800" dirty="0"/>
            </a:br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1/2- at the farm level</a:t>
            </a:r>
            <a:endParaRPr 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587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D7FEDB37-CE02-43C8-90C6-EA7163986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40" r="1053"/>
          <a:stretch/>
        </p:blipFill>
        <p:spPr>
          <a:xfrm>
            <a:off x="1608450" y="2314832"/>
            <a:ext cx="8783817" cy="3786165"/>
          </a:xfrm>
          <a:prstGeom prst="rect">
            <a:avLst/>
          </a:prstGeom>
        </p:spPr>
      </p:pic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A3E1D451-1E17-49B8-A4A0-2B262B65C6F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201"/>
          <a:stretch/>
        </p:blipFill>
        <p:spPr>
          <a:xfrm>
            <a:off x="1608450" y="1583592"/>
            <a:ext cx="8783817" cy="820293"/>
          </a:xfrm>
          <a:prstGeom prst="rect">
            <a:avLst/>
          </a:prstGeom>
        </p:spPr>
      </p:pic>
      <p:sp>
        <p:nvSpPr>
          <p:cNvPr id="7" name="Title 2">
            <a:extLst>
              <a:ext uri="{FF2B5EF4-FFF2-40B4-BE49-F238E27FC236}">
                <a16:creationId xmlns:a16="http://schemas.microsoft.com/office/drawing/2014/main" id="{1968A8F1-2F95-4C5D-9BB9-69B18A07BEA5}"/>
              </a:ext>
            </a:extLst>
          </p:cNvPr>
          <p:cNvSpPr txBox="1">
            <a:spLocks/>
          </p:cNvSpPr>
          <p:nvPr/>
        </p:nvSpPr>
        <p:spPr>
          <a:xfrm>
            <a:off x="1762897" y="114033"/>
            <a:ext cx="10371437" cy="10224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tx2"/>
                </a:solidFill>
              </a:rPr>
              <a:t>What are the barriers to the adoption of CSA tech solutions? </a:t>
            </a:r>
            <a:br>
              <a:rPr lang="en-GB" sz="2800" dirty="0"/>
            </a:br>
            <a:r>
              <a:rPr lang="en-GB" sz="2400" dirty="0">
                <a:solidFill>
                  <a:schemeClr val="bg2">
                    <a:lumMod val="75000"/>
                  </a:schemeClr>
                </a:solidFill>
              </a:rPr>
              <a:t>2/2- at the sector and policy level</a:t>
            </a:r>
            <a:endParaRPr 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4655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1887DD-E169-470D-B39F-85A9BE8C2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4716" y="1735635"/>
            <a:ext cx="6669550" cy="3821939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Climate smart agriculture link important but </a:t>
            </a:r>
            <a:r>
              <a:rPr lang="en-GB" sz="24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different policy objectives </a:t>
            </a: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(shared public/private vs public)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Multiple </a:t>
            </a:r>
            <a:r>
              <a:rPr lang="en-GB" sz="24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agriculture and non agriculture policy leverages </a:t>
            </a: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to advance the development and use of tech solutions for climate smart agriculture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Need to identify and </a:t>
            </a:r>
            <a:r>
              <a:rPr lang="en-GB" sz="2400" b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overcome the main farm, sector and policy barriers</a:t>
            </a:r>
            <a:r>
              <a:rPr lang="en-GB" sz="2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to ensure the adoption of these solutions</a:t>
            </a:r>
            <a:endParaRPr lang="en-US" sz="24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95B56E-5D5C-425A-B865-8D94981ED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Three conclusions</a:t>
            </a:r>
            <a:endParaRPr lang="en-US" dirty="0">
              <a:solidFill>
                <a:schemeClr val="tx2"/>
              </a:solidFill>
            </a:endParaRPr>
          </a:p>
        </p:txBody>
      </p:sp>
      <p:pic>
        <p:nvPicPr>
          <p:cNvPr id="6" name="Picture 4" descr="http://www.google.fr/url?source=imglanding&amp;ct=img&amp;q=http://fm.cnbc.com/applications/cnbc.com/resources/img/editorial/2014/01/17/101345240-AP081014044788.530x298.jpg?v=1389971587&amp;sa=X&amp;ei=y_hxVfegCNOP7AaMvoPQAw&amp;ved=0CAkQ8wc&amp;usg=AFQjCNHG6PR1O32vZ__IvfLaB7z28ZWMdQ">
            <a:extLst>
              <a:ext uri="{FF2B5EF4-FFF2-40B4-BE49-F238E27FC236}">
                <a16:creationId xmlns:a16="http://schemas.microsoft.com/office/drawing/2014/main" id="{C306502A-51C5-48AD-B275-12017EAD3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21" y="1735634"/>
            <a:ext cx="4586765" cy="382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280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7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279794"/>
            <a:ext cx="12192000" cy="222362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21950" y="4768135"/>
            <a:ext cx="2573978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all of the OECD’s research and analysis on agriculture at</a:t>
            </a:r>
            <a:br>
              <a:rPr 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44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4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40" b="1" dirty="0">
                <a:solidFill>
                  <a:srgbClr val="0462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www.oecd.org/agriculture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85495" y="4760516"/>
            <a:ext cx="2324862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reach us via </a:t>
            </a:r>
          </a:p>
          <a:p>
            <a:r>
              <a:rPr 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e-mail by sending your message to the following address</a:t>
            </a:r>
          </a:p>
          <a:p>
            <a:endParaRPr lang="en-US" sz="144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40" b="1" dirty="0">
                <a:solidFill>
                  <a:srgbClr val="0462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tad.contact@oecd.org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56686" y="4760515"/>
            <a:ext cx="2476880" cy="1421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invite you to connect with us on Twitter by following</a:t>
            </a:r>
          </a:p>
          <a:p>
            <a:endParaRPr lang="en-US" sz="144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40" b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40" b="1" dirty="0">
                <a:solidFill>
                  <a:srgbClr val="0462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1440" b="1" dirty="0" err="1">
                <a:solidFill>
                  <a:srgbClr val="04629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OECDagriculture</a:t>
            </a:r>
            <a:endParaRPr lang="en-US" sz="1440" b="1" dirty="0">
              <a:solidFill>
                <a:srgbClr val="04629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898894" y="2789175"/>
            <a:ext cx="1217296" cy="1217296"/>
          </a:xfrm>
          <a:prstGeom prst="ellipse">
            <a:avLst/>
          </a:prstGeom>
          <a:solidFill>
            <a:schemeClr val="tx1">
              <a:alpha val="30000"/>
            </a:schemeClr>
          </a:solidFill>
          <a:ln w="120650">
            <a:solidFill>
              <a:schemeClr val="bg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20"/>
          </a:p>
        </p:txBody>
      </p:sp>
      <p:sp>
        <p:nvSpPr>
          <p:cNvPr id="32" name="Oval 31"/>
          <p:cNvSpPr/>
          <p:nvPr/>
        </p:nvSpPr>
        <p:spPr>
          <a:xfrm>
            <a:off x="4651738" y="2795568"/>
            <a:ext cx="1217296" cy="1217296"/>
          </a:xfrm>
          <a:prstGeom prst="ellipse">
            <a:avLst/>
          </a:prstGeom>
          <a:solidFill>
            <a:schemeClr val="tx1">
              <a:alpha val="30000"/>
            </a:schemeClr>
          </a:solidFill>
          <a:ln w="120650">
            <a:solidFill>
              <a:schemeClr val="bg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20"/>
          </a:p>
        </p:txBody>
      </p:sp>
      <p:sp>
        <p:nvSpPr>
          <p:cNvPr id="35" name="Oval 34"/>
          <p:cNvSpPr/>
          <p:nvPr/>
        </p:nvSpPr>
        <p:spPr>
          <a:xfrm>
            <a:off x="7242623" y="2768805"/>
            <a:ext cx="1217296" cy="1217296"/>
          </a:xfrm>
          <a:prstGeom prst="ellipse">
            <a:avLst/>
          </a:prstGeom>
          <a:solidFill>
            <a:schemeClr val="tx1">
              <a:alpha val="30000"/>
            </a:schemeClr>
          </a:solidFill>
          <a:ln w="120650">
            <a:solidFill>
              <a:schemeClr val="bg1">
                <a:alpha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620"/>
          </a:p>
        </p:txBody>
      </p:sp>
      <p:grpSp>
        <p:nvGrpSpPr>
          <p:cNvPr id="40" name="Group 39"/>
          <p:cNvGrpSpPr/>
          <p:nvPr/>
        </p:nvGrpSpPr>
        <p:grpSpPr>
          <a:xfrm>
            <a:off x="2294232" y="3182556"/>
            <a:ext cx="454346" cy="452882"/>
            <a:chOff x="0" y="6351"/>
            <a:chExt cx="492125" cy="490538"/>
          </a:xfrm>
          <a:solidFill>
            <a:schemeClr val="bg1"/>
          </a:solidFill>
        </p:grpSpPr>
        <p:sp>
          <p:nvSpPr>
            <p:cNvPr id="41" name="Freeform 9"/>
            <p:cNvSpPr>
              <a:spLocks noEditPoints="1"/>
            </p:cNvSpPr>
            <p:nvPr/>
          </p:nvSpPr>
          <p:spPr bwMode="auto">
            <a:xfrm>
              <a:off x="0" y="6351"/>
              <a:ext cx="492125" cy="490538"/>
            </a:xfrm>
            <a:custGeom>
              <a:avLst/>
              <a:gdLst>
                <a:gd name="T0" fmla="*/ 116 w 128"/>
                <a:gd name="T1" fmla="*/ 0 h 128"/>
                <a:gd name="T2" fmla="*/ 28 w 128"/>
                <a:gd name="T3" fmla="*/ 0 h 128"/>
                <a:gd name="T4" fmla="*/ 16 w 128"/>
                <a:gd name="T5" fmla="*/ 12 h 128"/>
                <a:gd name="T6" fmla="*/ 16 w 128"/>
                <a:gd name="T7" fmla="*/ 20 h 128"/>
                <a:gd name="T8" fmla="*/ 12 w 128"/>
                <a:gd name="T9" fmla="*/ 20 h 128"/>
                <a:gd name="T10" fmla="*/ 0 w 128"/>
                <a:gd name="T11" fmla="*/ 32 h 128"/>
                <a:gd name="T12" fmla="*/ 0 w 128"/>
                <a:gd name="T13" fmla="*/ 112 h 128"/>
                <a:gd name="T14" fmla="*/ 16 w 128"/>
                <a:gd name="T15" fmla="*/ 128 h 128"/>
                <a:gd name="T16" fmla="*/ 112 w 128"/>
                <a:gd name="T17" fmla="*/ 128 h 128"/>
                <a:gd name="T18" fmla="*/ 128 w 128"/>
                <a:gd name="T19" fmla="*/ 112 h 128"/>
                <a:gd name="T20" fmla="*/ 128 w 128"/>
                <a:gd name="T21" fmla="*/ 12 h 128"/>
                <a:gd name="T22" fmla="*/ 116 w 128"/>
                <a:gd name="T23" fmla="*/ 0 h 128"/>
                <a:gd name="T24" fmla="*/ 120 w 128"/>
                <a:gd name="T25" fmla="*/ 112 h 128"/>
                <a:gd name="T26" fmla="*/ 112 w 128"/>
                <a:gd name="T27" fmla="*/ 120 h 128"/>
                <a:gd name="T28" fmla="*/ 16 w 128"/>
                <a:gd name="T29" fmla="*/ 120 h 128"/>
                <a:gd name="T30" fmla="*/ 8 w 128"/>
                <a:gd name="T31" fmla="*/ 112 h 128"/>
                <a:gd name="T32" fmla="*/ 8 w 128"/>
                <a:gd name="T33" fmla="*/ 32 h 128"/>
                <a:gd name="T34" fmla="*/ 12 w 128"/>
                <a:gd name="T35" fmla="*/ 28 h 128"/>
                <a:gd name="T36" fmla="*/ 16 w 128"/>
                <a:gd name="T37" fmla="*/ 28 h 128"/>
                <a:gd name="T38" fmla="*/ 16 w 128"/>
                <a:gd name="T39" fmla="*/ 108 h 128"/>
                <a:gd name="T40" fmla="*/ 20 w 128"/>
                <a:gd name="T41" fmla="*/ 112 h 128"/>
                <a:gd name="T42" fmla="*/ 24 w 128"/>
                <a:gd name="T43" fmla="*/ 108 h 128"/>
                <a:gd name="T44" fmla="*/ 24 w 128"/>
                <a:gd name="T45" fmla="*/ 12 h 128"/>
                <a:gd name="T46" fmla="*/ 28 w 128"/>
                <a:gd name="T47" fmla="*/ 8 h 128"/>
                <a:gd name="T48" fmla="*/ 116 w 128"/>
                <a:gd name="T49" fmla="*/ 8 h 128"/>
                <a:gd name="T50" fmla="*/ 120 w 128"/>
                <a:gd name="T51" fmla="*/ 12 h 128"/>
                <a:gd name="T52" fmla="*/ 120 w 128"/>
                <a:gd name="T53" fmla="*/ 112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" h="128">
                  <a:moveTo>
                    <a:pt x="116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16" y="5"/>
                    <a:pt x="16" y="12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2" y="20"/>
                    <a:pt x="12" y="20"/>
                    <a:pt x="12" y="20"/>
                  </a:cubicBezTo>
                  <a:cubicBezTo>
                    <a:pt x="5" y="20"/>
                    <a:pt x="0" y="25"/>
                    <a:pt x="0" y="32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0" y="121"/>
                    <a:pt x="7" y="128"/>
                    <a:pt x="16" y="128"/>
                  </a:cubicBezTo>
                  <a:cubicBezTo>
                    <a:pt x="112" y="128"/>
                    <a:pt x="112" y="128"/>
                    <a:pt x="112" y="128"/>
                  </a:cubicBezTo>
                  <a:cubicBezTo>
                    <a:pt x="121" y="128"/>
                    <a:pt x="128" y="121"/>
                    <a:pt x="128" y="11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5"/>
                    <a:pt x="123" y="0"/>
                    <a:pt x="116" y="0"/>
                  </a:cubicBezTo>
                  <a:close/>
                  <a:moveTo>
                    <a:pt x="120" y="112"/>
                  </a:moveTo>
                  <a:cubicBezTo>
                    <a:pt x="120" y="116"/>
                    <a:pt x="116" y="120"/>
                    <a:pt x="112" y="120"/>
                  </a:cubicBezTo>
                  <a:cubicBezTo>
                    <a:pt x="16" y="120"/>
                    <a:pt x="16" y="120"/>
                    <a:pt x="16" y="120"/>
                  </a:cubicBezTo>
                  <a:cubicBezTo>
                    <a:pt x="12" y="120"/>
                    <a:pt x="8" y="116"/>
                    <a:pt x="8" y="11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0"/>
                    <a:pt x="10" y="28"/>
                    <a:pt x="12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108"/>
                    <a:pt x="16" y="108"/>
                    <a:pt x="16" y="108"/>
                  </a:cubicBezTo>
                  <a:cubicBezTo>
                    <a:pt x="16" y="110"/>
                    <a:pt x="18" y="112"/>
                    <a:pt x="20" y="112"/>
                  </a:cubicBezTo>
                  <a:cubicBezTo>
                    <a:pt x="22" y="112"/>
                    <a:pt x="24" y="110"/>
                    <a:pt x="24" y="108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4" y="10"/>
                    <a:pt x="26" y="8"/>
                    <a:pt x="28" y="8"/>
                  </a:cubicBezTo>
                  <a:cubicBezTo>
                    <a:pt x="116" y="8"/>
                    <a:pt x="116" y="8"/>
                    <a:pt x="116" y="8"/>
                  </a:cubicBezTo>
                  <a:cubicBezTo>
                    <a:pt x="118" y="8"/>
                    <a:pt x="120" y="10"/>
                    <a:pt x="120" y="12"/>
                  </a:cubicBezTo>
                  <a:lnTo>
                    <a:pt x="120" y="1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42" name="Freeform 10"/>
            <p:cNvSpPr>
              <a:spLocks/>
            </p:cNvSpPr>
            <p:nvPr/>
          </p:nvSpPr>
          <p:spPr bwMode="auto">
            <a:xfrm>
              <a:off x="292100" y="190501"/>
              <a:ext cx="138113" cy="14288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43" name="Freeform 11"/>
            <p:cNvSpPr>
              <a:spLocks/>
            </p:cNvSpPr>
            <p:nvPr/>
          </p:nvSpPr>
          <p:spPr bwMode="auto">
            <a:xfrm>
              <a:off x="292100" y="144463"/>
              <a:ext cx="138113" cy="14288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44" name="Freeform 12"/>
            <p:cNvSpPr>
              <a:spLocks/>
            </p:cNvSpPr>
            <p:nvPr/>
          </p:nvSpPr>
          <p:spPr bwMode="auto">
            <a:xfrm>
              <a:off x="292100" y="98426"/>
              <a:ext cx="138113" cy="14288"/>
            </a:xfrm>
            <a:custGeom>
              <a:avLst/>
              <a:gdLst>
                <a:gd name="T0" fmla="*/ 2 w 36"/>
                <a:gd name="T1" fmla="*/ 4 h 4"/>
                <a:gd name="T2" fmla="*/ 34 w 36"/>
                <a:gd name="T3" fmla="*/ 4 h 4"/>
                <a:gd name="T4" fmla="*/ 36 w 36"/>
                <a:gd name="T5" fmla="*/ 2 h 4"/>
                <a:gd name="T6" fmla="*/ 34 w 36"/>
                <a:gd name="T7" fmla="*/ 0 h 4"/>
                <a:gd name="T8" fmla="*/ 2 w 36"/>
                <a:gd name="T9" fmla="*/ 0 h 4"/>
                <a:gd name="T10" fmla="*/ 0 w 36"/>
                <a:gd name="T11" fmla="*/ 2 h 4"/>
                <a:gd name="T12" fmla="*/ 2 w 36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2" y="4"/>
                  </a:move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55" name="Freeform 13"/>
            <p:cNvSpPr>
              <a:spLocks/>
            </p:cNvSpPr>
            <p:nvPr/>
          </p:nvSpPr>
          <p:spPr bwMode="auto">
            <a:xfrm>
              <a:off x="122238" y="420688"/>
              <a:ext cx="138113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56" name="Freeform 14"/>
            <p:cNvSpPr>
              <a:spLocks/>
            </p:cNvSpPr>
            <p:nvPr/>
          </p:nvSpPr>
          <p:spPr bwMode="auto">
            <a:xfrm>
              <a:off x="122238" y="374651"/>
              <a:ext cx="138113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57" name="Freeform 15"/>
            <p:cNvSpPr>
              <a:spLocks/>
            </p:cNvSpPr>
            <p:nvPr/>
          </p:nvSpPr>
          <p:spPr bwMode="auto">
            <a:xfrm>
              <a:off x="122238" y="328613"/>
              <a:ext cx="138113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58" name="Freeform 16"/>
            <p:cNvSpPr>
              <a:spLocks/>
            </p:cNvSpPr>
            <p:nvPr/>
          </p:nvSpPr>
          <p:spPr bwMode="auto">
            <a:xfrm>
              <a:off x="292100" y="420688"/>
              <a:ext cx="138113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59" name="Freeform 17"/>
            <p:cNvSpPr>
              <a:spLocks/>
            </p:cNvSpPr>
            <p:nvPr/>
          </p:nvSpPr>
          <p:spPr bwMode="auto">
            <a:xfrm>
              <a:off x="292100" y="374651"/>
              <a:ext cx="138113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60" name="Freeform 18"/>
            <p:cNvSpPr>
              <a:spLocks/>
            </p:cNvSpPr>
            <p:nvPr/>
          </p:nvSpPr>
          <p:spPr bwMode="auto">
            <a:xfrm>
              <a:off x="292100" y="328613"/>
              <a:ext cx="138113" cy="14288"/>
            </a:xfrm>
            <a:custGeom>
              <a:avLst/>
              <a:gdLst>
                <a:gd name="T0" fmla="*/ 34 w 36"/>
                <a:gd name="T1" fmla="*/ 0 h 4"/>
                <a:gd name="T2" fmla="*/ 2 w 36"/>
                <a:gd name="T3" fmla="*/ 0 h 4"/>
                <a:gd name="T4" fmla="*/ 0 w 36"/>
                <a:gd name="T5" fmla="*/ 2 h 4"/>
                <a:gd name="T6" fmla="*/ 2 w 36"/>
                <a:gd name="T7" fmla="*/ 4 h 4"/>
                <a:gd name="T8" fmla="*/ 34 w 36"/>
                <a:gd name="T9" fmla="*/ 4 h 4"/>
                <a:gd name="T10" fmla="*/ 36 w 36"/>
                <a:gd name="T11" fmla="*/ 2 h 4"/>
                <a:gd name="T12" fmla="*/ 34 w 3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4">
                  <a:moveTo>
                    <a:pt x="34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35" y="4"/>
                    <a:pt x="36" y="3"/>
                    <a:pt x="36" y="2"/>
                  </a:cubicBezTo>
                  <a:cubicBezTo>
                    <a:pt x="36" y="1"/>
                    <a:pt x="35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61" name="Freeform 19"/>
            <p:cNvSpPr>
              <a:spLocks/>
            </p:cNvSpPr>
            <p:nvPr/>
          </p:nvSpPr>
          <p:spPr bwMode="auto">
            <a:xfrm>
              <a:off x="122238" y="236538"/>
              <a:ext cx="307975" cy="14288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62" name="Freeform 20"/>
            <p:cNvSpPr>
              <a:spLocks/>
            </p:cNvSpPr>
            <p:nvPr/>
          </p:nvSpPr>
          <p:spPr bwMode="auto">
            <a:xfrm>
              <a:off x="122238" y="282576"/>
              <a:ext cx="307975" cy="14288"/>
            </a:xfrm>
            <a:custGeom>
              <a:avLst/>
              <a:gdLst>
                <a:gd name="T0" fmla="*/ 78 w 80"/>
                <a:gd name="T1" fmla="*/ 0 h 4"/>
                <a:gd name="T2" fmla="*/ 2 w 80"/>
                <a:gd name="T3" fmla="*/ 0 h 4"/>
                <a:gd name="T4" fmla="*/ 0 w 80"/>
                <a:gd name="T5" fmla="*/ 2 h 4"/>
                <a:gd name="T6" fmla="*/ 2 w 80"/>
                <a:gd name="T7" fmla="*/ 4 h 4"/>
                <a:gd name="T8" fmla="*/ 78 w 80"/>
                <a:gd name="T9" fmla="*/ 4 h 4"/>
                <a:gd name="T10" fmla="*/ 80 w 80"/>
                <a:gd name="T11" fmla="*/ 2 h 4"/>
                <a:gd name="T12" fmla="*/ 78 w 80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0" h="4">
                  <a:moveTo>
                    <a:pt x="78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4"/>
                    <a:pt x="2" y="4"/>
                  </a:cubicBezTo>
                  <a:cubicBezTo>
                    <a:pt x="78" y="4"/>
                    <a:pt x="78" y="4"/>
                    <a:pt x="78" y="4"/>
                  </a:cubicBezTo>
                  <a:cubicBezTo>
                    <a:pt x="79" y="4"/>
                    <a:pt x="80" y="3"/>
                    <a:pt x="80" y="2"/>
                  </a:cubicBezTo>
                  <a:cubicBezTo>
                    <a:pt x="80" y="1"/>
                    <a:pt x="79" y="0"/>
                    <a:pt x="7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  <p:sp>
          <p:nvSpPr>
            <p:cNvPr id="63" name="Freeform 21"/>
            <p:cNvSpPr>
              <a:spLocks noEditPoints="1"/>
            </p:cNvSpPr>
            <p:nvPr/>
          </p:nvSpPr>
          <p:spPr bwMode="auto">
            <a:xfrm>
              <a:off x="122238" y="66676"/>
              <a:ext cx="138113" cy="138113"/>
            </a:xfrm>
            <a:custGeom>
              <a:avLst/>
              <a:gdLst>
                <a:gd name="T0" fmla="*/ 4 w 36"/>
                <a:gd name="T1" fmla="*/ 36 h 36"/>
                <a:gd name="T2" fmla="*/ 32 w 36"/>
                <a:gd name="T3" fmla="*/ 36 h 36"/>
                <a:gd name="T4" fmla="*/ 36 w 36"/>
                <a:gd name="T5" fmla="*/ 32 h 36"/>
                <a:gd name="T6" fmla="*/ 36 w 36"/>
                <a:gd name="T7" fmla="*/ 4 h 36"/>
                <a:gd name="T8" fmla="*/ 32 w 36"/>
                <a:gd name="T9" fmla="*/ 0 h 36"/>
                <a:gd name="T10" fmla="*/ 4 w 36"/>
                <a:gd name="T11" fmla="*/ 0 h 36"/>
                <a:gd name="T12" fmla="*/ 0 w 36"/>
                <a:gd name="T13" fmla="*/ 4 h 36"/>
                <a:gd name="T14" fmla="*/ 0 w 36"/>
                <a:gd name="T15" fmla="*/ 32 h 36"/>
                <a:gd name="T16" fmla="*/ 4 w 36"/>
                <a:gd name="T17" fmla="*/ 36 h 36"/>
                <a:gd name="T18" fmla="*/ 8 w 36"/>
                <a:gd name="T19" fmla="*/ 8 h 36"/>
                <a:gd name="T20" fmla="*/ 28 w 36"/>
                <a:gd name="T21" fmla="*/ 8 h 36"/>
                <a:gd name="T22" fmla="*/ 28 w 36"/>
                <a:gd name="T23" fmla="*/ 28 h 36"/>
                <a:gd name="T24" fmla="*/ 8 w 36"/>
                <a:gd name="T25" fmla="*/ 28 h 36"/>
                <a:gd name="T26" fmla="*/ 8 w 36"/>
                <a:gd name="T27" fmla="*/ 8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6" h="36">
                  <a:moveTo>
                    <a:pt x="4" y="36"/>
                  </a:moveTo>
                  <a:cubicBezTo>
                    <a:pt x="32" y="36"/>
                    <a:pt x="32" y="36"/>
                    <a:pt x="32" y="36"/>
                  </a:cubicBezTo>
                  <a:cubicBezTo>
                    <a:pt x="34" y="36"/>
                    <a:pt x="36" y="34"/>
                    <a:pt x="36" y="32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2"/>
                    <a:pt x="34" y="0"/>
                    <a:pt x="3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0" y="34"/>
                    <a:pt x="2" y="36"/>
                    <a:pt x="4" y="36"/>
                  </a:cubicBezTo>
                  <a:close/>
                  <a:moveTo>
                    <a:pt x="8" y="8"/>
                  </a:moveTo>
                  <a:cubicBezTo>
                    <a:pt x="28" y="8"/>
                    <a:pt x="28" y="8"/>
                    <a:pt x="28" y="8"/>
                  </a:cubicBezTo>
                  <a:cubicBezTo>
                    <a:pt x="28" y="28"/>
                    <a:pt x="28" y="28"/>
                    <a:pt x="28" y="28"/>
                  </a:cubicBezTo>
                  <a:cubicBezTo>
                    <a:pt x="8" y="28"/>
                    <a:pt x="8" y="28"/>
                    <a:pt x="8" y="2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82296" tIns="41148" rIns="82296" bIns="41148" numCol="1" anchor="t" anchorCtr="0" compatLnSpc="1">
              <a:prstTxWarp prst="textNoShape">
                <a:avLst/>
              </a:prstTxWarp>
            </a:bodyPr>
            <a:lstStyle/>
            <a:p>
              <a:endParaRPr lang="id-ID" sz="1620">
                <a:solidFill>
                  <a:schemeClr val="bg1"/>
                </a:solidFill>
              </a:endParaRPr>
            </a:p>
          </p:txBody>
        </p:sp>
      </p:grpSp>
      <p:sp>
        <p:nvSpPr>
          <p:cNvPr id="64" name="Freeform 162"/>
          <p:cNvSpPr>
            <a:spLocks noEditPoints="1"/>
          </p:cNvSpPr>
          <p:nvPr/>
        </p:nvSpPr>
        <p:spPr bwMode="auto">
          <a:xfrm>
            <a:off x="5003831" y="3175291"/>
            <a:ext cx="513108" cy="454039"/>
          </a:xfrm>
          <a:custGeom>
            <a:avLst/>
            <a:gdLst>
              <a:gd name="T0" fmla="*/ 112 w 128"/>
              <a:gd name="T1" fmla="*/ 0 h 84"/>
              <a:gd name="T2" fmla="*/ 16 w 128"/>
              <a:gd name="T3" fmla="*/ 0 h 84"/>
              <a:gd name="T4" fmla="*/ 0 w 128"/>
              <a:gd name="T5" fmla="*/ 16 h 84"/>
              <a:gd name="T6" fmla="*/ 0 w 128"/>
              <a:gd name="T7" fmla="*/ 68 h 84"/>
              <a:gd name="T8" fmla="*/ 16 w 128"/>
              <a:gd name="T9" fmla="*/ 84 h 84"/>
              <a:gd name="T10" fmla="*/ 112 w 128"/>
              <a:gd name="T11" fmla="*/ 84 h 84"/>
              <a:gd name="T12" fmla="*/ 128 w 128"/>
              <a:gd name="T13" fmla="*/ 68 h 84"/>
              <a:gd name="T14" fmla="*/ 128 w 128"/>
              <a:gd name="T15" fmla="*/ 16 h 84"/>
              <a:gd name="T16" fmla="*/ 112 w 128"/>
              <a:gd name="T17" fmla="*/ 0 h 84"/>
              <a:gd name="T18" fmla="*/ 8 w 128"/>
              <a:gd name="T19" fmla="*/ 21 h 84"/>
              <a:gd name="T20" fmla="*/ 36 w 128"/>
              <a:gd name="T21" fmla="*/ 42 h 84"/>
              <a:gd name="T22" fmla="*/ 8 w 128"/>
              <a:gd name="T23" fmla="*/ 63 h 84"/>
              <a:gd name="T24" fmla="*/ 8 w 128"/>
              <a:gd name="T25" fmla="*/ 21 h 84"/>
              <a:gd name="T26" fmla="*/ 120 w 128"/>
              <a:gd name="T27" fmla="*/ 68 h 84"/>
              <a:gd name="T28" fmla="*/ 112 w 128"/>
              <a:gd name="T29" fmla="*/ 76 h 84"/>
              <a:gd name="T30" fmla="*/ 16 w 128"/>
              <a:gd name="T31" fmla="*/ 76 h 84"/>
              <a:gd name="T32" fmla="*/ 8 w 128"/>
              <a:gd name="T33" fmla="*/ 68 h 84"/>
              <a:gd name="T34" fmla="*/ 39 w 128"/>
              <a:gd name="T35" fmla="*/ 45 h 84"/>
              <a:gd name="T36" fmla="*/ 57 w 128"/>
              <a:gd name="T37" fmla="*/ 58 h 84"/>
              <a:gd name="T38" fmla="*/ 64 w 128"/>
              <a:gd name="T39" fmla="*/ 60 h 84"/>
              <a:gd name="T40" fmla="*/ 71 w 128"/>
              <a:gd name="T41" fmla="*/ 58 h 84"/>
              <a:gd name="T42" fmla="*/ 89 w 128"/>
              <a:gd name="T43" fmla="*/ 45 h 84"/>
              <a:gd name="T44" fmla="*/ 120 w 128"/>
              <a:gd name="T45" fmla="*/ 68 h 84"/>
              <a:gd name="T46" fmla="*/ 120 w 128"/>
              <a:gd name="T47" fmla="*/ 63 h 84"/>
              <a:gd name="T48" fmla="*/ 92 w 128"/>
              <a:gd name="T49" fmla="*/ 42 h 84"/>
              <a:gd name="T50" fmla="*/ 120 w 128"/>
              <a:gd name="T51" fmla="*/ 21 h 84"/>
              <a:gd name="T52" fmla="*/ 120 w 128"/>
              <a:gd name="T53" fmla="*/ 63 h 84"/>
              <a:gd name="T54" fmla="*/ 69 w 128"/>
              <a:gd name="T55" fmla="*/ 54 h 84"/>
              <a:gd name="T56" fmla="*/ 64 w 128"/>
              <a:gd name="T57" fmla="*/ 56 h 84"/>
              <a:gd name="T58" fmla="*/ 59 w 128"/>
              <a:gd name="T59" fmla="*/ 54 h 84"/>
              <a:gd name="T60" fmla="*/ 43 w 128"/>
              <a:gd name="T61" fmla="*/ 42 h 84"/>
              <a:gd name="T62" fmla="*/ 39 w 128"/>
              <a:gd name="T63" fmla="*/ 40 h 84"/>
              <a:gd name="T64" fmla="*/ 8 w 128"/>
              <a:gd name="T65" fmla="*/ 16 h 84"/>
              <a:gd name="T66" fmla="*/ 8 w 128"/>
              <a:gd name="T67" fmla="*/ 16 h 84"/>
              <a:gd name="T68" fmla="*/ 16 w 128"/>
              <a:gd name="T69" fmla="*/ 8 h 84"/>
              <a:gd name="T70" fmla="*/ 112 w 128"/>
              <a:gd name="T71" fmla="*/ 8 h 84"/>
              <a:gd name="T72" fmla="*/ 120 w 128"/>
              <a:gd name="T73" fmla="*/ 16 h 84"/>
              <a:gd name="T74" fmla="*/ 69 w 128"/>
              <a:gd name="T75" fmla="*/ 5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</a:cxnLst>
            <a:rect l="0" t="0" r="r" b="b"/>
            <a:pathLst>
              <a:path w="128" h="84">
                <a:moveTo>
                  <a:pt x="112" y="0"/>
                </a:move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77"/>
                  <a:pt x="7" y="84"/>
                  <a:pt x="16" y="84"/>
                </a:cubicBezTo>
                <a:cubicBezTo>
                  <a:pt x="112" y="84"/>
                  <a:pt x="112" y="84"/>
                  <a:pt x="112" y="84"/>
                </a:cubicBezTo>
                <a:cubicBezTo>
                  <a:pt x="121" y="84"/>
                  <a:pt x="128" y="77"/>
                  <a:pt x="128" y="68"/>
                </a:cubicBezTo>
                <a:cubicBezTo>
                  <a:pt x="128" y="16"/>
                  <a:pt x="128" y="16"/>
                  <a:pt x="128" y="16"/>
                </a:cubicBezTo>
                <a:cubicBezTo>
                  <a:pt x="128" y="7"/>
                  <a:pt x="121" y="0"/>
                  <a:pt x="112" y="0"/>
                </a:cubicBezTo>
                <a:close/>
                <a:moveTo>
                  <a:pt x="8" y="21"/>
                </a:moveTo>
                <a:cubicBezTo>
                  <a:pt x="36" y="42"/>
                  <a:pt x="36" y="42"/>
                  <a:pt x="36" y="42"/>
                </a:cubicBezTo>
                <a:cubicBezTo>
                  <a:pt x="8" y="63"/>
                  <a:pt x="8" y="63"/>
                  <a:pt x="8" y="63"/>
                </a:cubicBezTo>
                <a:lnTo>
                  <a:pt x="8" y="21"/>
                </a:lnTo>
                <a:close/>
                <a:moveTo>
                  <a:pt x="120" y="68"/>
                </a:moveTo>
                <a:cubicBezTo>
                  <a:pt x="120" y="72"/>
                  <a:pt x="116" y="76"/>
                  <a:pt x="112" y="76"/>
                </a:cubicBezTo>
                <a:cubicBezTo>
                  <a:pt x="16" y="76"/>
                  <a:pt x="16" y="76"/>
                  <a:pt x="16" y="76"/>
                </a:cubicBezTo>
                <a:cubicBezTo>
                  <a:pt x="12" y="76"/>
                  <a:pt x="8" y="72"/>
                  <a:pt x="8" y="68"/>
                </a:cubicBezTo>
                <a:cubicBezTo>
                  <a:pt x="39" y="45"/>
                  <a:pt x="39" y="45"/>
                  <a:pt x="39" y="45"/>
                </a:cubicBezTo>
                <a:cubicBezTo>
                  <a:pt x="57" y="58"/>
                  <a:pt x="57" y="58"/>
                  <a:pt x="57" y="58"/>
                </a:cubicBezTo>
                <a:cubicBezTo>
                  <a:pt x="59" y="59"/>
                  <a:pt x="61" y="60"/>
                  <a:pt x="64" y="60"/>
                </a:cubicBezTo>
                <a:cubicBezTo>
                  <a:pt x="67" y="60"/>
                  <a:pt x="69" y="59"/>
                  <a:pt x="71" y="58"/>
                </a:cubicBezTo>
                <a:cubicBezTo>
                  <a:pt x="89" y="45"/>
                  <a:pt x="89" y="45"/>
                  <a:pt x="89" y="45"/>
                </a:cubicBezTo>
                <a:cubicBezTo>
                  <a:pt x="120" y="68"/>
                  <a:pt x="120" y="68"/>
                  <a:pt x="120" y="68"/>
                </a:cubicBezTo>
                <a:close/>
                <a:moveTo>
                  <a:pt x="120" y="63"/>
                </a:moveTo>
                <a:cubicBezTo>
                  <a:pt x="92" y="42"/>
                  <a:pt x="92" y="42"/>
                  <a:pt x="92" y="42"/>
                </a:cubicBezTo>
                <a:cubicBezTo>
                  <a:pt x="120" y="21"/>
                  <a:pt x="120" y="21"/>
                  <a:pt x="120" y="21"/>
                </a:cubicBezTo>
                <a:lnTo>
                  <a:pt x="120" y="63"/>
                </a:lnTo>
                <a:close/>
                <a:moveTo>
                  <a:pt x="69" y="54"/>
                </a:moveTo>
                <a:cubicBezTo>
                  <a:pt x="67" y="55"/>
                  <a:pt x="66" y="56"/>
                  <a:pt x="64" y="56"/>
                </a:cubicBezTo>
                <a:cubicBezTo>
                  <a:pt x="62" y="56"/>
                  <a:pt x="61" y="55"/>
                  <a:pt x="59" y="54"/>
                </a:cubicBezTo>
                <a:cubicBezTo>
                  <a:pt x="43" y="42"/>
                  <a:pt x="43" y="42"/>
                  <a:pt x="43" y="42"/>
                </a:cubicBezTo>
                <a:cubicBezTo>
                  <a:pt x="39" y="40"/>
                  <a:pt x="39" y="40"/>
                  <a:pt x="39" y="40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6"/>
                  <a:pt x="8" y="16"/>
                  <a:pt x="8" y="16"/>
                </a:cubicBezTo>
                <a:cubicBezTo>
                  <a:pt x="8" y="12"/>
                  <a:pt x="12" y="8"/>
                  <a:pt x="16" y="8"/>
                </a:cubicBezTo>
                <a:cubicBezTo>
                  <a:pt x="112" y="8"/>
                  <a:pt x="112" y="8"/>
                  <a:pt x="112" y="8"/>
                </a:cubicBezTo>
                <a:cubicBezTo>
                  <a:pt x="116" y="8"/>
                  <a:pt x="120" y="12"/>
                  <a:pt x="120" y="16"/>
                </a:cubicBezTo>
                <a:lnTo>
                  <a:pt x="69" y="5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2296" tIns="41148" rIns="82296" bIns="41148" numCol="1" anchor="t" anchorCtr="0" compatLnSpc="1">
            <a:prstTxWarp prst="textNoShape">
              <a:avLst/>
            </a:prstTxWarp>
          </a:bodyPr>
          <a:lstStyle/>
          <a:p>
            <a:endParaRPr lang="id-ID" sz="1620"/>
          </a:p>
        </p:txBody>
      </p:sp>
      <p:sp>
        <p:nvSpPr>
          <p:cNvPr id="65" name="Freeform 140"/>
          <p:cNvSpPr>
            <a:spLocks/>
          </p:cNvSpPr>
          <p:nvPr/>
        </p:nvSpPr>
        <p:spPr bwMode="auto">
          <a:xfrm>
            <a:off x="7576936" y="3162186"/>
            <a:ext cx="541818" cy="440381"/>
          </a:xfrm>
          <a:custGeom>
            <a:avLst/>
            <a:gdLst>
              <a:gd name="T0" fmla="*/ 134 w 134"/>
              <a:gd name="T1" fmla="*/ 13 h 109"/>
              <a:gd name="T2" fmla="*/ 118 w 134"/>
              <a:gd name="T3" fmla="*/ 17 h 109"/>
              <a:gd name="T4" fmla="*/ 130 w 134"/>
              <a:gd name="T5" fmla="*/ 2 h 109"/>
              <a:gd name="T6" fmla="*/ 113 w 134"/>
              <a:gd name="T7" fmla="*/ 9 h 109"/>
              <a:gd name="T8" fmla="*/ 93 w 134"/>
              <a:gd name="T9" fmla="*/ 0 h 109"/>
              <a:gd name="T10" fmla="*/ 65 w 134"/>
              <a:gd name="T11" fmla="*/ 28 h 109"/>
              <a:gd name="T12" fmla="*/ 66 w 134"/>
              <a:gd name="T13" fmla="*/ 34 h 109"/>
              <a:gd name="T14" fmla="*/ 10 w 134"/>
              <a:gd name="T15" fmla="*/ 5 h 109"/>
              <a:gd name="T16" fmla="*/ 6 w 134"/>
              <a:gd name="T17" fmla="*/ 19 h 109"/>
              <a:gd name="T18" fmla="*/ 18 w 134"/>
              <a:gd name="T19" fmla="*/ 42 h 109"/>
              <a:gd name="T20" fmla="*/ 6 w 134"/>
              <a:gd name="T21" fmla="*/ 38 h 109"/>
              <a:gd name="T22" fmla="*/ 6 w 134"/>
              <a:gd name="T23" fmla="*/ 39 h 109"/>
              <a:gd name="T24" fmla="*/ 28 w 134"/>
              <a:gd name="T25" fmla="*/ 66 h 109"/>
              <a:gd name="T26" fmla="*/ 20 w 134"/>
              <a:gd name="T27" fmla="*/ 67 h 109"/>
              <a:gd name="T28" fmla="*/ 15 w 134"/>
              <a:gd name="T29" fmla="*/ 66 h 109"/>
              <a:gd name="T30" fmla="*/ 41 w 134"/>
              <a:gd name="T31" fmla="*/ 85 h 109"/>
              <a:gd name="T32" fmla="*/ 7 w 134"/>
              <a:gd name="T33" fmla="*/ 97 h 109"/>
              <a:gd name="T34" fmla="*/ 0 w 134"/>
              <a:gd name="T35" fmla="*/ 96 h 109"/>
              <a:gd name="T36" fmla="*/ 42 w 134"/>
              <a:gd name="T37" fmla="*/ 109 h 109"/>
              <a:gd name="T38" fmla="*/ 120 w 134"/>
              <a:gd name="T39" fmla="*/ 31 h 109"/>
              <a:gd name="T40" fmla="*/ 120 w 134"/>
              <a:gd name="T41" fmla="*/ 27 h 109"/>
              <a:gd name="T42" fmla="*/ 134 w 134"/>
              <a:gd name="T43" fmla="*/ 13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4" h="109">
                <a:moveTo>
                  <a:pt x="134" y="13"/>
                </a:moveTo>
                <a:cubicBezTo>
                  <a:pt x="129" y="15"/>
                  <a:pt x="124" y="17"/>
                  <a:pt x="118" y="17"/>
                </a:cubicBezTo>
                <a:cubicBezTo>
                  <a:pt x="124" y="14"/>
                  <a:pt x="128" y="9"/>
                  <a:pt x="130" y="2"/>
                </a:cubicBezTo>
                <a:cubicBezTo>
                  <a:pt x="125" y="5"/>
                  <a:pt x="119" y="8"/>
                  <a:pt x="113" y="9"/>
                </a:cubicBezTo>
                <a:cubicBezTo>
                  <a:pt x="108" y="3"/>
                  <a:pt x="101" y="0"/>
                  <a:pt x="93" y="0"/>
                </a:cubicBezTo>
                <a:cubicBezTo>
                  <a:pt x="78" y="0"/>
                  <a:pt x="65" y="12"/>
                  <a:pt x="65" y="28"/>
                </a:cubicBezTo>
                <a:cubicBezTo>
                  <a:pt x="65" y="30"/>
                  <a:pt x="66" y="32"/>
                  <a:pt x="66" y="34"/>
                </a:cubicBezTo>
                <a:cubicBezTo>
                  <a:pt x="43" y="33"/>
                  <a:pt x="23" y="22"/>
                  <a:pt x="10" y="5"/>
                </a:cubicBezTo>
                <a:cubicBezTo>
                  <a:pt x="7" y="9"/>
                  <a:pt x="6" y="14"/>
                  <a:pt x="6" y="19"/>
                </a:cubicBezTo>
                <a:cubicBezTo>
                  <a:pt x="6" y="28"/>
                  <a:pt x="11" y="37"/>
                  <a:pt x="18" y="42"/>
                </a:cubicBezTo>
                <a:cubicBezTo>
                  <a:pt x="14" y="42"/>
                  <a:pt x="9" y="40"/>
                  <a:pt x="6" y="38"/>
                </a:cubicBezTo>
                <a:cubicBezTo>
                  <a:pt x="6" y="38"/>
                  <a:pt x="6" y="39"/>
                  <a:pt x="6" y="39"/>
                </a:cubicBezTo>
                <a:cubicBezTo>
                  <a:pt x="6" y="52"/>
                  <a:pt x="15" y="63"/>
                  <a:pt x="28" y="66"/>
                </a:cubicBezTo>
                <a:cubicBezTo>
                  <a:pt x="25" y="66"/>
                  <a:pt x="23" y="67"/>
                  <a:pt x="20" y="67"/>
                </a:cubicBezTo>
                <a:cubicBezTo>
                  <a:pt x="19" y="67"/>
                  <a:pt x="17" y="66"/>
                  <a:pt x="15" y="66"/>
                </a:cubicBezTo>
                <a:cubicBezTo>
                  <a:pt x="19" y="77"/>
                  <a:pt x="29" y="85"/>
                  <a:pt x="41" y="85"/>
                </a:cubicBezTo>
                <a:cubicBezTo>
                  <a:pt x="31" y="92"/>
                  <a:pt x="20" y="97"/>
                  <a:pt x="7" y="97"/>
                </a:cubicBezTo>
                <a:cubicBezTo>
                  <a:pt x="5" y="97"/>
                  <a:pt x="2" y="97"/>
                  <a:pt x="0" y="96"/>
                </a:cubicBezTo>
                <a:cubicBezTo>
                  <a:pt x="12" y="104"/>
                  <a:pt x="27" y="109"/>
                  <a:pt x="42" y="109"/>
                </a:cubicBezTo>
                <a:cubicBezTo>
                  <a:pt x="93" y="109"/>
                  <a:pt x="120" y="67"/>
                  <a:pt x="120" y="31"/>
                </a:cubicBezTo>
                <a:cubicBezTo>
                  <a:pt x="120" y="30"/>
                  <a:pt x="120" y="28"/>
                  <a:pt x="120" y="27"/>
                </a:cubicBezTo>
                <a:cubicBezTo>
                  <a:pt x="126" y="23"/>
                  <a:pt x="130" y="18"/>
                  <a:pt x="134" y="1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82296" tIns="41148" rIns="82296" bIns="41148" numCol="1" anchor="t" anchorCtr="0" compatLnSpc="1">
            <a:prstTxWarp prst="textNoShape">
              <a:avLst/>
            </a:prstTxWarp>
          </a:bodyPr>
          <a:lstStyle/>
          <a:p>
            <a:endParaRPr lang="id-ID" sz="1620"/>
          </a:p>
        </p:txBody>
      </p:sp>
      <p:sp>
        <p:nvSpPr>
          <p:cNvPr id="28" name="Title 1"/>
          <p:cNvSpPr txBox="1">
            <a:spLocks/>
          </p:cNvSpPr>
          <p:nvPr/>
        </p:nvSpPr>
        <p:spPr>
          <a:xfrm>
            <a:off x="1440000" y="188259"/>
            <a:ext cx="10393412" cy="1116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000" b="1" dirty="0">
                <a:solidFill>
                  <a:srgbClr val="00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5466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A7B195-7CE3-4C41-B652-78106BA65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rial Narrow" panose="020B0606020202030204" pitchFamily="34" charset="0"/>
              </a:rPr>
              <a:t>Guerrero, S., et al. (2022), "The impacts of agricultural trade and support policy reform on climate change adaptation and environmental performance: A model-based analysis", OECD Food, Agriculture and Fisheries Papers, No. 180, OECD Publishing, Paris, </a:t>
            </a:r>
            <a:r>
              <a:rPr lang="en-US" sz="1600" dirty="0">
                <a:latin typeface="Arial Narrow" panose="020B0606020202030204" pitchFamily="34" charset="0"/>
                <a:hlinkClick r:id="rId2"/>
              </a:rPr>
              <a:t>https://doi.org/10.1787/520dd70d-en</a:t>
            </a:r>
            <a:r>
              <a:rPr lang="en-US" sz="1600" dirty="0">
                <a:latin typeface="Arial Narrow" panose="020B0606020202030204" pitchFamily="34" charset="0"/>
              </a:rPr>
              <a:t> . </a:t>
            </a:r>
            <a:r>
              <a:rPr lang="en-US" sz="1400" dirty="0">
                <a:latin typeface="Arial Narrow" panose="020B0606020202030204" pitchFamily="34" charset="0"/>
              </a:rPr>
              <a:t>. </a:t>
            </a:r>
          </a:p>
          <a:p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+mj-lt"/>
              </a:rPr>
              <a:t>Lankoski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, J., et al. (2018), "Modelling Policy Coherence Between Adaptation, Mitigation and Agricultural Productivity", </a:t>
            </a: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OECD Food, Agriculture and Fisheries Papers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, No. 111, OECD Publishing, Paris,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  <a:hlinkClick r:id="rId3"/>
              </a:rPr>
              <a:t>https://doi.org/10.1787/ee62a5ae-en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. </a:t>
            </a:r>
          </a:p>
          <a:p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+mj-lt"/>
              </a:rPr>
              <a:t>Lankoski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, J., A.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+mj-lt"/>
              </a:rPr>
              <a:t>Ignaciuk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and F.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+mj-lt"/>
              </a:rPr>
              <a:t>Jésus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(2018), "Synergies and trade-offs between adaptation, mitigation and agricultural productivity: A synthesis report", </a:t>
            </a: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OECD Food, Agriculture and Fisheries Papers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, No. 110, OECD Publishing, Paris,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  <a:hlinkClick r:id="rId4"/>
              </a:rPr>
              <a:t>https://doi.org/10.1787/07dcb05c-en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.</a:t>
            </a: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OECD (2019), </a:t>
            </a: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Innovation, Productivity and Sustainability in Food and Agriculture: Main Findings from Country Reviews and Policy Lessons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, OECD Food and Agricultural Reviews, OECD Publishing, Paris,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  <a:hlinkClick r:id="rId5"/>
              </a:rPr>
              <a:t>https://doi.org/10.1787/c9c4ec1d-en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. </a:t>
            </a: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OECD (2020), “OECD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+mj-lt"/>
              </a:rPr>
              <a:t>Agro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-Food Productivity-Sustainability-Resilience Policy Framework”, OECD, Paris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  <a:hlinkClick r:id="rId6"/>
              </a:rPr>
              <a:t>https://one.oecd.org/document/TAD/CA/APM/WP(2019)25/FINAL/en/pdf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</a:t>
            </a: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OECD (2022). OECD Agricultural Policy Monitoring and Evaluation:  Reforming agricultural policies for climate change mitigation. OECD, Paris. </a:t>
            </a: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Wreford, A., A.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+mj-lt"/>
              </a:rPr>
              <a:t>Ignaciuk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and G. </a:t>
            </a:r>
            <a:r>
              <a:rPr lang="en-US" sz="1400" dirty="0" err="1">
                <a:solidFill>
                  <a:schemeClr val="bg2">
                    <a:lumMod val="10000"/>
                  </a:schemeClr>
                </a:solidFill>
                <a:latin typeface="+mj-lt"/>
              </a:rPr>
              <a:t>Gruère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(2017),“Overcoming barriers to the adoption of climate-friendly practices in agriculture”, </a:t>
            </a:r>
            <a:r>
              <a:rPr lang="en-US" sz="1400" i="1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OECD Food, Agriculture and Fisheries Papers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, No. 101, OECD Publishing, Paris.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  <a:hlinkClick r:id="rId7"/>
              </a:rPr>
              <a:t>http://dx.doi.org/10.1787/97767de8-en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  </a:t>
            </a:r>
          </a:p>
          <a:p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+mj-lt"/>
              </a:rPr>
              <a:t>OECD reviews of innovation, agricultural productivity and sustainability in G20 countries: Argentina, Australia, Brazil, Canada, China, Turkey, Japan, Korea, the United States, 4 EU member states (and forthcoming 2023 the European Union).</a:t>
            </a:r>
          </a:p>
          <a:p>
            <a:endParaRPr lang="en-US" sz="1400" dirty="0">
              <a:solidFill>
                <a:schemeClr val="bg2">
                  <a:lumMod val="10000"/>
                </a:schemeClr>
              </a:solidFill>
              <a:latin typeface="+mj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0BBD49-00E6-4792-87F9-FC0BCA1E1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References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2056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ECD_English_white">
  <a:themeElements>
    <a:clrScheme name="OECD white">
      <a:dk1>
        <a:srgbClr val="727272"/>
      </a:dk1>
      <a:lt1>
        <a:sysClr val="window" lastClr="FFFFFF"/>
      </a:lt1>
      <a:dk2>
        <a:srgbClr val="006299"/>
      </a:dk2>
      <a:lt2>
        <a:srgbClr val="E6E6E6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ECD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CustomMKOP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KProdID">
    <vt:lpwstr>ZMOutlook</vt:lpwstr>
  </property>
  <property fmtid="{D5CDD505-2E9C-101B-9397-08002B2CF9AE}" pid="3" name="SizeBefore">
    <vt:lpwstr>852308</vt:lpwstr>
  </property>
  <property fmtid="{D5CDD505-2E9C-101B-9397-08002B2CF9AE}" pid="4" name="OptimizationTime">
    <vt:lpwstr>20230214_1932</vt:lpwstr>
  </property>
</Properties>
</file>

<file path=docProps/app.xml><?xml version="1.0" encoding="utf-8"?>
<Properties xmlns="http://schemas.openxmlformats.org/officeDocument/2006/extended-properties" xmlns:vt="http://schemas.openxmlformats.org/officeDocument/2006/docPropsVTypes">
  <Template>OECD_English_white</Template>
  <TotalTime>296</TotalTime>
  <Words>811</Words>
  <Application>Microsoft Office PowerPoint</Application>
  <PresentationFormat>Widescreen</PresentationFormat>
  <Paragraphs>82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Narrow</vt:lpstr>
      <vt:lpstr>Bernino Sans</vt:lpstr>
      <vt:lpstr>Calibri</vt:lpstr>
      <vt:lpstr>Georgia</vt:lpstr>
      <vt:lpstr>Helvetica 65 Medium</vt:lpstr>
      <vt:lpstr>Wingdings</vt:lpstr>
      <vt:lpstr>OECD_English_white</vt:lpstr>
      <vt:lpstr>Leveraging tech solutions for climate smart agriculture:  the role of policies</vt:lpstr>
      <vt:lpstr>Climate smart agriculture: from objectives to solutions</vt:lpstr>
      <vt:lpstr>How to leverage the use of these solutions?  From policies to outcome</vt:lpstr>
      <vt:lpstr>What are the barriers to the adoption of CSA tech solutions?  1/2- at the farm level</vt:lpstr>
      <vt:lpstr>PowerPoint Presentation</vt:lpstr>
      <vt:lpstr>Three conclusions</vt:lpstr>
      <vt:lpstr>PowerPoint Presentation</vt:lpstr>
      <vt:lpstr>References</vt:lpstr>
    </vt:vector>
  </TitlesOfParts>
  <Company>OECD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Leveraging tech solutions for climate smart agriculture:  the role of policies</dc:title>
  <dc:creator>Guillaume Gruere</dc:creator>
  <cp:lastModifiedBy>Guillaume Gruere</cp:lastModifiedBy>
  <cp:revision>20</cp:revision>
  <dcterms:created xsi:type="dcterms:W3CDTF">2023-02-10T14:56:31Z</dcterms:created>
  <dcterms:modified xsi:type="dcterms:W3CDTF">2023-02-11T14:31:04Z</dcterms:modified>
</cp:coreProperties>
</file>