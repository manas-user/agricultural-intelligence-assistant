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5" r:id="rId1"/>
  </p:sldMasterIdLst>
  <p:notesMasterIdLst>
    <p:notesMasterId r:id="rId21"/>
  </p:notesMasterIdLst>
  <p:handoutMasterIdLst>
    <p:handoutMasterId r:id="rId22"/>
  </p:handoutMasterIdLst>
  <p:sldIdLst>
    <p:sldId id="326" r:id="rId2"/>
    <p:sldId id="324" r:id="rId3"/>
    <p:sldId id="361" r:id="rId4"/>
    <p:sldId id="378" r:id="rId5"/>
    <p:sldId id="380" r:id="rId6"/>
    <p:sldId id="363" r:id="rId7"/>
    <p:sldId id="362" r:id="rId8"/>
    <p:sldId id="325" r:id="rId9"/>
    <p:sldId id="354" r:id="rId10"/>
    <p:sldId id="364" r:id="rId11"/>
    <p:sldId id="365" r:id="rId12"/>
    <p:sldId id="366" r:id="rId13"/>
    <p:sldId id="367" r:id="rId14"/>
    <p:sldId id="371" r:id="rId15"/>
    <p:sldId id="369" r:id="rId16"/>
    <p:sldId id="375" r:id="rId17"/>
    <p:sldId id="376" r:id="rId18"/>
    <p:sldId id="383" r:id="rId19"/>
    <p:sldId id="374" r:id="rId20"/>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0"/>
    <p:restoredTop sz="94715"/>
  </p:normalViewPr>
  <p:slideViewPr>
    <p:cSldViewPr>
      <p:cViewPr>
        <p:scale>
          <a:sx n="99" d="100"/>
          <a:sy n="99" d="100"/>
        </p:scale>
        <p:origin x="-1134"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570" cy="464968"/>
          </a:xfrm>
          <a:prstGeom prst="rect">
            <a:avLst/>
          </a:prstGeom>
        </p:spPr>
        <p:txBody>
          <a:bodyPr vert="horz" lIns="96359" tIns="48180" rIns="96359" bIns="48180" rtlCol="0"/>
          <a:lstStyle>
            <a:lvl1pPr algn="l" fontAlgn="auto">
              <a:spcBef>
                <a:spcPts val="0"/>
              </a:spcBef>
              <a:spcAft>
                <a:spcPts val="0"/>
              </a:spcAft>
              <a:defRPr sz="1300">
                <a:latin typeface="+mn-lt"/>
                <a:cs typeface="+mn-cs"/>
              </a:defRPr>
            </a:lvl1pPr>
          </a:lstStyle>
          <a:p>
            <a:pPr>
              <a:defRPr/>
            </a:pPr>
            <a:endParaRPr lang="en-IN"/>
          </a:p>
        </p:txBody>
      </p:sp>
      <p:sp>
        <p:nvSpPr>
          <p:cNvPr id="3" name="Date Placeholder 2"/>
          <p:cNvSpPr>
            <a:spLocks noGrp="1"/>
          </p:cNvSpPr>
          <p:nvPr>
            <p:ph type="dt" sz="quarter" idx="1"/>
          </p:nvPr>
        </p:nvSpPr>
        <p:spPr>
          <a:xfrm>
            <a:off x="3971209" y="1"/>
            <a:ext cx="3037570" cy="464968"/>
          </a:xfrm>
          <a:prstGeom prst="rect">
            <a:avLst/>
          </a:prstGeom>
        </p:spPr>
        <p:txBody>
          <a:bodyPr vert="horz" lIns="96359" tIns="48180" rIns="96359" bIns="48180" rtlCol="0"/>
          <a:lstStyle>
            <a:lvl1pPr algn="r" fontAlgn="auto">
              <a:spcBef>
                <a:spcPts val="0"/>
              </a:spcBef>
              <a:spcAft>
                <a:spcPts val="0"/>
              </a:spcAft>
              <a:defRPr sz="1300">
                <a:latin typeface="+mn-lt"/>
                <a:cs typeface="+mn-cs"/>
              </a:defRPr>
            </a:lvl1pPr>
          </a:lstStyle>
          <a:p>
            <a:pPr>
              <a:defRPr/>
            </a:pPr>
            <a:fld id="{FF5D9B84-4F54-410F-9381-9AA511028412}" type="datetimeFigureOut">
              <a:rPr lang="en-US"/>
              <a:pPr>
                <a:defRPr/>
              </a:pPr>
              <a:t>5/2/2023</a:t>
            </a:fld>
            <a:endParaRPr lang="en-IN"/>
          </a:p>
        </p:txBody>
      </p:sp>
      <p:sp>
        <p:nvSpPr>
          <p:cNvPr id="4" name="Footer Placeholder 3"/>
          <p:cNvSpPr>
            <a:spLocks noGrp="1"/>
          </p:cNvSpPr>
          <p:nvPr>
            <p:ph type="ftr" sz="quarter" idx="2"/>
          </p:nvPr>
        </p:nvSpPr>
        <p:spPr>
          <a:xfrm>
            <a:off x="0" y="8829957"/>
            <a:ext cx="3037570" cy="464968"/>
          </a:xfrm>
          <a:prstGeom prst="rect">
            <a:avLst/>
          </a:prstGeom>
        </p:spPr>
        <p:txBody>
          <a:bodyPr vert="horz" lIns="96359" tIns="48180" rIns="96359" bIns="48180" rtlCol="0" anchor="b"/>
          <a:lstStyle>
            <a:lvl1pPr algn="l" fontAlgn="auto">
              <a:spcBef>
                <a:spcPts val="0"/>
              </a:spcBef>
              <a:spcAft>
                <a:spcPts val="0"/>
              </a:spcAft>
              <a:defRPr sz="1300">
                <a:latin typeface="+mn-lt"/>
                <a:cs typeface="+mn-cs"/>
              </a:defRPr>
            </a:lvl1pPr>
          </a:lstStyle>
          <a:p>
            <a:pPr>
              <a:defRPr/>
            </a:pPr>
            <a:endParaRPr lang="en-IN"/>
          </a:p>
        </p:txBody>
      </p:sp>
      <p:sp>
        <p:nvSpPr>
          <p:cNvPr id="5" name="Slide Number Placeholder 4"/>
          <p:cNvSpPr>
            <a:spLocks noGrp="1"/>
          </p:cNvSpPr>
          <p:nvPr>
            <p:ph type="sldNum" sz="quarter" idx="3"/>
          </p:nvPr>
        </p:nvSpPr>
        <p:spPr>
          <a:xfrm>
            <a:off x="3971209" y="8829957"/>
            <a:ext cx="3037570" cy="464968"/>
          </a:xfrm>
          <a:prstGeom prst="rect">
            <a:avLst/>
          </a:prstGeom>
        </p:spPr>
        <p:txBody>
          <a:bodyPr vert="horz" lIns="96359" tIns="48180" rIns="96359" bIns="48180" rtlCol="0" anchor="b"/>
          <a:lstStyle>
            <a:lvl1pPr algn="r" fontAlgn="auto">
              <a:spcBef>
                <a:spcPts val="0"/>
              </a:spcBef>
              <a:spcAft>
                <a:spcPts val="0"/>
              </a:spcAft>
              <a:defRPr sz="1300">
                <a:latin typeface="+mn-lt"/>
                <a:cs typeface="+mn-cs"/>
              </a:defRPr>
            </a:lvl1pPr>
          </a:lstStyle>
          <a:p>
            <a:pPr>
              <a:defRPr/>
            </a:pPr>
            <a:fld id="{F1710896-F887-4CA3-8FBF-EF649B501147}" type="slidenum">
              <a:rPr lang="en-IN"/>
              <a:pPr>
                <a:defRPr/>
              </a:pPr>
              <a:t>‹#›</a:t>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570" cy="464968"/>
          </a:xfrm>
          <a:prstGeom prst="rect">
            <a:avLst/>
          </a:prstGeom>
        </p:spPr>
        <p:txBody>
          <a:bodyPr vert="horz" lIns="96359" tIns="48180" rIns="96359" bIns="48180"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3971209" y="1"/>
            <a:ext cx="3037570" cy="464968"/>
          </a:xfrm>
          <a:prstGeom prst="rect">
            <a:avLst/>
          </a:prstGeom>
        </p:spPr>
        <p:txBody>
          <a:bodyPr vert="horz" lIns="96359" tIns="48180" rIns="96359" bIns="48180" rtlCol="0"/>
          <a:lstStyle>
            <a:lvl1pPr algn="r" fontAlgn="auto">
              <a:spcBef>
                <a:spcPts val="0"/>
              </a:spcBef>
              <a:spcAft>
                <a:spcPts val="0"/>
              </a:spcAft>
              <a:defRPr sz="1300">
                <a:latin typeface="+mn-lt"/>
                <a:cs typeface="+mn-cs"/>
              </a:defRPr>
            </a:lvl1pPr>
          </a:lstStyle>
          <a:p>
            <a:pPr>
              <a:defRPr/>
            </a:pPr>
            <a:fld id="{ACE0DEFD-1059-4AA2-BF4C-BF7C99D51BF1}" type="datetimeFigureOut">
              <a:rPr lang="en-US"/>
              <a:pPr>
                <a:defRPr/>
              </a:pPr>
              <a:t>5/2/2023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6359" tIns="48180" rIns="96359" bIns="48180" rtlCol="0" anchor="ctr"/>
          <a:lstStyle/>
          <a:p>
            <a:pPr lvl="0"/>
            <a:endParaRPr lang="en-US" noProof="0" dirty="0"/>
          </a:p>
        </p:txBody>
      </p:sp>
      <p:sp>
        <p:nvSpPr>
          <p:cNvPr id="5" name="Notes Placeholder 4"/>
          <p:cNvSpPr>
            <a:spLocks noGrp="1"/>
          </p:cNvSpPr>
          <p:nvPr>
            <p:ph type="body" sz="quarter" idx="3"/>
          </p:nvPr>
        </p:nvSpPr>
        <p:spPr>
          <a:xfrm>
            <a:off x="701851" y="4416455"/>
            <a:ext cx="5608320" cy="4183232"/>
          </a:xfrm>
          <a:prstGeom prst="rect">
            <a:avLst/>
          </a:prstGeom>
        </p:spPr>
        <p:txBody>
          <a:bodyPr vert="horz" lIns="96359" tIns="48180" rIns="96359" bIns="4818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57"/>
            <a:ext cx="3037570" cy="464968"/>
          </a:xfrm>
          <a:prstGeom prst="rect">
            <a:avLst/>
          </a:prstGeom>
        </p:spPr>
        <p:txBody>
          <a:bodyPr vert="horz" lIns="96359" tIns="48180" rIns="96359" bIns="48180" rtlCol="0" anchor="b"/>
          <a:lstStyle>
            <a:lvl1pPr algn="l" fontAlgn="auto">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1209" y="8829957"/>
            <a:ext cx="3037570" cy="464968"/>
          </a:xfrm>
          <a:prstGeom prst="rect">
            <a:avLst/>
          </a:prstGeom>
        </p:spPr>
        <p:txBody>
          <a:bodyPr vert="horz" lIns="96359" tIns="48180" rIns="96359" bIns="48180" rtlCol="0" anchor="b"/>
          <a:lstStyle>
            <a:lvl1pPr algn="r" fontAlgn="auto">
              <a:spcBef>
                <a:spcPts val="0"/>
              </a:spcBef>
              <a:spcAft>
                <a:spcPts val="0"/>
              </a:spcAft>
              <a:defRPr sz="1300">
                <a:latin typeface="+mn-lt"/>
                <a:cs typeface="+mn-cs"/>
              </a:defRPr>
            </a:lvl1pPr>
          </a:lstStyle>
          <a:p>
            <a:pPr>
              <a:defRPr/>
            </a:pPr>
            <a:fld id="{3BD41D87-B508-470A-BBB5-BF707E17FC37}"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pPr>
              <a:defRPr/>
            </a:pPr>
            <a:fld id="{E4B86F8D-0E40-47A7-B290-40E6D2908B2D}" type="datetime1">
              <a:rPr lang="en-US" smtClean="0"/>
              <a:pPr>
                <a:defRPr/>
              </a:pPr>
              <a:t>5/2/2023</a:t>
            </a:fld>
            <a:endParaRPr lang="en-US" dirty="0"/>
          </a:p>
        </p:txBody>
      </p:sp>
      <p:sp>
        <p:nvSpPr>
          <p:cNvPr id="19" name="Footer Placeholder 18"/>
          <p:cNvSpPr>
            <a:spLocks noGrp="1"/>
          </p:cNvSpPr>
          <p:nvPr>
            <p:ph type="ftr" sz="quarter" idx="11"/>
          </p:nvPr>
        </p:nvSpPr>
        <p:spPr/>
        <p:txBody>
          <a:bodyPr/>
          <a:lstStyle/>
          <a:p>
            <a:pPr>
              <a:defRPr/>
            </a:pPr>
            <a:endParaRPr lang="en-US"/>
          </a:p>
        </p:txBody>
      </p:sp>
      <p:sp>
        <p:nvSpPr>
          <p:cNvPr id="27" name="Slide Number Placeholder 26"/>
          <p:cNvSpPr>
            <a:spLocks noGrp="1"/>
          </p:cNvSpPr>
          <p:nvPr>
            <p:ph type="sldNum" sz="quarter" idx="12"/>
          </p:nvPr>
        </p:nvSpPr>
        <p:spPr/>
        <p:txBody>
          <a:bodyPr/>
          <a:lstStyle/>
          <a:p>
            <a:pPr>
              <a:defRPr/>
            </a:pPr>
            <a:fld id="{A27739F1-F77A-4FB7-B7B1-2A83E4BE5A73}"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F3BEE23C-D622-4D83-AA84-0298E34105EA}" type="datetime1">
              <a:rPr lang="en-US" smtClean="0"/>
              <a:pPr>
                <a:defRPr/>
              </a:pPr>
              <a:t>5/2/2023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681BF87-9C6F-47B2-A663-886E15E788D6}"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fld id="{A17A3F59-B4E6-45E1-9FFC-F3A78548DA99}" type="datetime1">
              <a:rPr lang="en-US" smtClean="0"/>
              <a:pPr>
                <a:defRPr/>
              </a:pPr>
              <a:t>5/2/2023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EBD045E-BC95-4B36-BB81-736539034BDF}"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5547C85E-D540-4A7A-A311-943E302A9B82}" type="datetime1">
              <a:rPr lang="en-US" smtClean="0"/>
              <a:pPr>
                <a:defRPr/>
              </a:pPr>
              <a:t>5/2/2023</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80F9BD7-5F50-4376-95CE-D2EAD857C3BB}"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fld id="{675E29EC-D384-4D68-ABC4-60B37DC6BD80}" type="datetime1">
              <a:rPr lang="en-US" smtClean="0"/>
              <a:pPr>
                <a:defRPr/>
              </a:pPr>
              <a:t>5/2/2023</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07ABC70-DF86-4E29-A046-80A1FD7B45DB}"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E80A5E28-4BC1-497B-A735-5821B38268AE}" type="datetime1">
              <a:rPr lang="en-US" smtClean="0"/>
              <a:pPr>
                <a:defRPr/>
              </a:pPr>
              <a:t>5/2/2023</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DE599F4-18DA-4286-B205-6E4460453811}"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7B7AE33-6FE2-41CC-B405-AE4381BC3F6B}" type="datetime1">
              <a:rPr lang="en-US" smtClean="0"/>
              <a:pPr>
                <a:defRPr/>
              </a:pPr>
              <a:t>5/2/2023</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204B5E0-EDDE-4AA7-B028-972E359113C8}"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07F49BFC-029A-4A3F-80B6-BCB4D497DCDB}" type="datetime1">
              <a:rPr lang="en-US" smtClean="0"/>
              <a:pPr>
                <a:defRPr/>
              </a:pPr>
              <a:t>5/2/2023</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9F8013E-D243-46D2-AC03-BAC7430220F3}"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fld id="{6E247C4A-19AE-487A-9E1D-B447782D1A54}" type="datetime1">
              <a:rPr lang="en-US" smtClean="0"/>
              <a:pPr>
                <a:defRPr/>
              </a:pPr>
              <a:t>5/2/2023</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8077200" y="6356350"/>
            <a:ext cx="609600" cy="365125"/>
          </a:xfrm>
        </p:spPr>
        <p:txBody>
          <a:bodyPr/>
          <a:lstStyle/>
          <a:p>
            <a:pPr>
              <a:defRPr/>
            </a:pPr>
            <a:fld id="{F19E1BEC-1632-4463-9F2C-8E7125AF936A}" type="slidenum">
              <a:rPr lang="en-US" smtClean="0"/>
              <a:pPr>
                <a:defRPr/>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01B6D162-8080-412F-9A7F-D707A77DF6A9}" type="datetime1">
              <a:rPr lang="en-US" smtClean="0"/>
              <a:pPr>
                <a:defRPr/>
              </a:pPr>
              <a:t>5/2/2023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45D9561-CC16-4AF6-8896-19DFBB0504CE}"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F9236955-169F-4EB3-8C9E-1AE09622A789}" type="datetime1">
              <a:rPr lang="en-US" smtClean="0"/>
              <a:pPr>
                <a:defRPr/>
              </a:pPr>
              <a:t>5/2/2023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431C885-C534-48E0-9D30-908A7A100A96}"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fld id="{24B91D24-B4CE-4F35-82F5-B72F463C0692}" type="datetime1">
              <a:rPr lang="en-US" smtClean="0"/>
              <a:pPr>
                <a:defRPr/>
              </a:pPr>
              <a:t>5/2/2023</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E817A09F-72A1-4AF8-A3B9-00B83AB24470}" type="slidenum">
              <a:rPr lang="en-US" smtClean="0"/>
              <a:pPr>
                <a:defRPr/>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1"/>
            <a:ext cx="7772400" cy="1905000"/>
          </a:xfrm>
        </p:spPr>
        <p:txBody>
          <a:bodyPr>
            <a:noAutofit/>
          </a:bodyPr>
          <a:lstStyle/>
          <a:p>
            <a:pPr algn="ctr"/>
            <a:r>
              <a:rPr lang="en-US" sz="4000" dirty="0" smtClean="0"/>
              <a:t>KHARIF CAMPAIGN 2023 -DROUGHT MANAGEMENT</a:t>
            </a:r>
            <a:endParaRPr lang="en-US" sz="4000" dirty="0"/>
          </a:p>
        </p:txBody>
      </p:sp>
      <p:sp>
        <p:nvSpPr>
          <p:cNvPr id="3" name="Subtitle 2"/>
          <p:cNvSpPr>
            <a:spLocks noGrp="1"/>
          </p:cNvSpPr>
          <p:nvPr>
            <p:ph type="subTitle" idx="1"/>
          </p:nvPr>
        </p:nvSpPr>
        <p:spPr>
          <a:xfrm>
            <a:off x="762000" y="3276600"/>
            <a:ext cx="7772400" cy="1915711"/>
          </a:xfrm>
        </p:spPr>
        <p:txBody>
          <a:bodyPr>
            <a:normAutofit/>
          </a:bodyPr>
          <a:lstStyle/>
          <a:p>
            <a:pPr algn="ctr"/>
            <a:r>
              <a:rPr lang="en-US" sz="2400" b="1" dirty="0" smtClean="0">
                <a:solidFill>
                  <a:schemeClr val="tx1"/>
                </a:solidFill>
              </a:rPr>
              <a:t>PRESENTATION  BY</a:t>
            </a:r>
          </a:p>
          <a:p>
            <a:pPr algn="ctr"/>
            <a:r>
              <a:rPr lang="en-US" sz="2400" b="1" dirty="0" smtClean="0">
                <a:solidFill>
                  <a:schemeClr val="tx1"/>
                </a:solidFill>
              </a:rPr>
              <a:t>JOINT SECRETARY (DROUGHT MANAGEMENT) </a:t>
            </a:r>
          </a:p>
          <a:p>
            <a:pPr algn="ctr"/>
            <a:r>
              <a:rPr lang="en-US" sz="2400" b="1" dirty="0" smtClean="0">
                <a:solidFill>
                  <a:schemeClr val="tx1"/>
                </a:solidFill>
              </a:rPr>
              <a:t>D/O AGRICULTURE AND FARMERS WELFARE</a:t>
            </a:r>
          </a:p>
          <a:p>
            <a:pPr algn="ctr"/>
            <a:r>
              <a:rPr lang="en-US" sz="2400" b="1" dirty="0" smtClean="0">
                <a:solidFill>
                  <a:schemeClr val="tx1"/>
                </a:solidFill>
              </a:rPr>
              <a:t>(03.05.2023)</a:t>
            </a:r>
            <a:endParaRPr lang="en-US" sz="2400" b="1" dirty="0">
              <a:solidFill>
                <a:schemeClr val="tx1"/>
              </a:solidFill>
            </a:endParaRPr>
          </a:p>
          <a:p>
            <a:endParaRPr lang="en-US" dirty="0"/>
          </a:p>
        </p:txBody>
      </p:sp>
      <p:sp>
        <p:nvSpPr>
          <p:cNvPr id="4" name="Slide Number Placeholder 3"/>
          <p:cNvSpPr>
            <a:spLocks noGrp="1"/>
          </p:cNvSpPr>
          <p:nvPr>
            <p:ph type="sldNum" sz="quarter" idx="12"/>
          </p:nvPr>
        </p:nvSpPr>
        <p:spPr/>
        <p:txBody>
          <a:bodyPr/>
          <a:lstStyle/>
          <a:p>
            <a:pPr>
              <a:defRPr/>
            </a:pPr>
            <a:fld id="{A27739F1-F77A-4FB7-B7B1-2A83E4BE5A73}" type="slidenum">
              <a:rPr lang="en-US" smtClean="0"/>
              <a:pPr>
                <a:defRPr/>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t>INTRODUCTION</a:t>
            </a:r>
            <a:endParaRPr lang="en-US" sz="4000" b="1" dirty="0"/>
          </a:p>
        </p:txBody>
      </p:sp>
      <p:sp>
        <p:nvSpPr>
          <p:cNvPr id="3" name="Content Placeholder 2"/>
          <p:cNvSpPr>
            <a:spLocks noGrp="1"/>
          </p:cNvSpPr>
          <p:nvPr>
            <p:ph idx="1"/>
          </p:nvPr>
        </p:nvSpPr>
        <p:spPr/>
        <p:txBody>
          <a:bodyPr>
            <a:normAutofit fontScale="77500" lnSpcReduction="20000"/>
          </a:bodyPr>
          <a:lstStyle/>
          <a:p>
            <a:pPr algn="just"/>
            <a:r>
              <a:rPr lang="en-US" sz="3100" dirty="0"/>
              <a:t>Monsoon is crucial for Agriculture production in India.</a:t>
            </a:r>
          </a:p>
          <a:p>
            <a:pPr algn="just"/>
            <a:endParaRPr lang="en-US" sz="3100" dirty="0"/>
          </a:p>
          <a:p>
            <a:pPr algn="just"/>
            <a:r>
              <a:rPr lang="en-US" sz="3100" dirty="0"/>
              <a:t>More than 73% of total rainfall of the country is received during the South West monsoon (June to September).</a:t>
            </a:r>
          </a:p>
          <a:p>
            <a:pPr algn="just"/>
            <a:endParaRPr lang="en-US" sz="3100" dirty="0"/>
          </a:p>
          <a:p>
            <a:pPr algn="just"/>
            <a:r>
              <a:rPr lang="en-US" sz="3100" dirty="0" smtClean="0"/>
              <a:t>India </a:t>
            </a:r>
            <a:r>
              <a:rPr lang="en-US" sz="3100" dirty="0"/>
              <a:t>being a rainfed country is vulnerable to drought and  had faced many droughts since independence.</a:t>
            </a:r>
          </a:p>
          <a:p>
            <a:pPr algn="just"/>
            <a:endParaRPr lang="en-US" sz="3100" dirty="0"/>
          </a:p>
          <a:p>
            <a:pPr algn="just"/>
            <a:r>
              <a:rPr lang="en-US" sz="3100" dirty="0"/>
              <a:t>Careful monitoring of the symptoms of drought and early warning are key to effective management of the drought.</a:t>
            </a:r>
          </a:p>
          <a:p>
            <a:pPr algn="just"/>
            <a:endParaRPr lang="en-US" sz="2400" dirty="0"/>
          </a:p>
          <a:p>
            <a:pPr algn="just">
              <a:buNone/>
            </a:pPr>
            <a:endParaRPr lang="en-US" sz="2400" dirty="0"/>
          </a:p>
          <a:p>
            <a:pPr algn="just">
              <a:buNone/>
            </a:pPr>
            <a:endParaRPr lang="en-US" sz="2400" dirty="0"/>
          </a:p>
          <a:p>
            <a:pPr algn="just"/>
            <a:endParaRPr lang="en-US" sz="2400"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8239AB46-7FF1-1F43-8363-7589339628EA}"/>
              </a:ext>
            </a:extLst>
          </p:cNvPr>
          <p:cNvSpPr>
            <a:spLocks noGrp="1"/>
          </p:cNvSpPr>
          <p:nvPr>
            <p:ph type="title"/>
          </p:nvPr>
        </p:nvSpPr>
        <p:spPr>
          <a:xfrm>
            <a:off x="457200" y="274638"/>
            <a:ext cx="8229600" cy="1020762"/>
          </a:xfrm>
        </p:spPr>
        <p:txBody>
          <a:bodyPr>
            <a:normAutofit/>
          </a:bodyPr>
          <a:lstStyle/>
          <a:p>
            <a:pPr algn="ctr"/>
            <a:r>
              <a:rPr lang="en-US" sz="4000" dirty="0" smtClean="0"/>
              <a:t>DROUGHT MANAGEMENT</a:t>
            </a:r>
            <a:endParaRPr lang="en-US" sz="4000" dirty="0"/>
          </a:p>
        </p:txBody>
      </p:sp>
      <p:sp>
        <p:nvSpPr>
          <p:cNvPr id="2" name="Content Placeholder 1">
            <a:extLst>
              <a:ext uri="{FF2B5EF4-FFF2-40B4-BE49-F238E27FC236}">
                <a16:creationId xmlns="" xmlns:a16="http://schemas.microsoft.com/office/drawing/2014/main" id="{4E37D878-F90F-A240-9A25-8236A9A556B1}"/>
              </a:ext>
            </a:extLst>
          </p:cNvPr>
          <p:cNvSpPr>
            <a:spLocks noGrp="1"/>
          </p:cNvSpPr>
          <p:nvPr>
            <p:ph idx="1"/>
          </p:nvPr>
        </p:nvSpPr>
        <p:spPr>
          <a:xfrm>
            <a:off x="533400" y="1295400"/>
            <a:ext cx="8305800" cy="4373562"/>
          </a:xfrm>
        </p:spPr>
        <p:txBody>
          <a:bodyPr>
            <a:normAutofit lnSpcReduction="10000"/>
          </a:bodyPr>
          <a:lstStyle/>
          <a:p>
            <a:pPr algn="just"/>
            <a:r>
              <a:rPr lang="en-US" sz="2400" dirty="0" smtClean="0"/>
              <a:t>DA&amp;FW responsible for managing drought and coordinating relief measures</a:t>
            </a:r>
          </a:p>
          <a:p>
            <a:pPr>
              <a:buNone/>
            </a:pPr>
            <a:endParaRPr lang="en-US" sz="2400" dirty="0"/>
          </a:p>
          <a:p>
            <a:pPr algn="just"/>
            <a:r>
              <a:rPr lang="en-US" sz="2400" dirty="0" smtClean="0"/>
              <a:t>State Governments primarily responsible for managing and undertaking necessary mitigation/ relief measures. State Governments have ready availability of funds under State Disaster Response Fund (SDRF) for taking immediate measures.</a:t>
            </a:r>
          </a:p>
          <a:p>
            <a:pPr algn="just">
              <a:buNone/>
            </a:pPr>
            <a:endParaRPr lang="en-US" sz="2400" dirty="0" smtClean="0"/>
          </a:p>
          <a:p>
            <a:pPr algn="just"/>
            <a:r>
              <a:rPr lang="en-IN" sz="2400" dirty="0" err="1" smtClean="0"/>
              <a:t>GoI</a:t>
            </a:r>
            <a:r>
              <a:rPr lang="en-IN" sz="2400" dirty="0" smtClean="0"/>
              <a:t> provides additional assistance from </a:t>
            </a:r>
            <a:r>
              <a:rPr lang="en-US" sz="2400" dirty="0" smtClean="0"/>
              <a:t>National Disaster Response Fund (NDRF) for natural calamities of severe nature.</a:t>
            </a:r>
          </a:p>
          <a:p>
            <a:pPr algn="just"/>
            <a:endParaRPr lang="en-US" dirty="0"/>
          </a:p>
          <a:p>
            <a:endParaRPr lang="en-US" dirty="0"/>
          </a:p>
          <a:p>
            <a:endParaRPr lang="en-US" dirty="0"/>
          </a:p>
          <a:p>
            <a:pPr>
              <a:buNone/>
            </a:pPr>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3</a:t>
            </a:fld>
            <a:endParaRPr lang="en-US" dirty="0"/>
          </a:p>
        </p:txBody>
      </p:sp>
    </p:spTree>
    <p:extLst>
      <p:ext uri="{BB962C8B-B14F-4D97-AF65-F5344CB8AC3E}">
        <p14:creationId xmlns="" xmlns:p14="http://schemas.microsoft.com/office/powerpoint/2010/main" val="25987238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pPr algn="ctr"/>
            <a:r>
              <a:rPr lang="en-IN" sz="4000" b="1" dirty="0" smtClean="0"/>
              <a:t>DROUGHT MANUAL  </a:t>
            </a:r>
            <a:endParaRPr lang="en-IN" sz="4000" b="1" dirty="0"/>
          </a:p>
        </p:txBody>
      </p:sp>
      <p:sp>
        <p:nvSpPr>
          <p:cNvPr id="3" name="Content Placeholder 2"/>
          <p:cNvSpPr>
            <a:spLocks noGrp="1"/>
          </p:cNvSpPr>
          <p:nvPr>
            <p:ph idx="1"/>
          </p:nvPr>
        </p:nvSpPr>
        <p:spPr>
          <a:xfrm>
            <a:off x="228600" y="990600"/>
            <a:ext cx="8534400" cy="5486400"/>
          </a:xfrm>
        </p:spPr>
        <p:txBody>
          <a:bodyPr>
            <a:noAutofit/>
          </a:bodyPr>
          <a:lstStyle/>
          <a:p>
            <a:pPr algn="just"/>
            <a:r>
              <a:rPr lang="en-US" sz="2200" dirty="0" smtClean="0"/>
              <a:t>Manual </a:t>
            </a:r>
            <a:r>
              <a:rPr lang="en-US" sz="2200" dirty="0"/>
              <a:t>for Drought Management </a:t>
            </a:r>
            <a:r>
              <a:rPr lang="en-US" sz="2200" dirty="0" smtClean="0"/>
              <a:t>outlines the Roles &amp; Responsibilities of different Agencies, Institutional structure, Key variables of Monitoring Drought, procedure for drought Declaration, Drought Response and Relief etc</a:t>
            </a:r>
          </a:p>
          <a:p>
            <a:pPr algn="just"/>
            <a:endParaRPr lang="en-US" sz="2200" dirty="0"/>
          </a:p>
          <a:p>
            <a:pPr algn="just"/>
            <a:r>
              <a:rPr lang="en-IN" sz="2200" dirty="0" smtClean="0"/>
              <a:t>Manual </a:t>
            </a:r>
            <a:r>
              <a:rPr lang="en-IN" sz="2200" dirty="0"/>
              <a:t>contains: new scientific indices and parameters for a more accurate assessment of drought; methodology for computation of various indices and determination of the severity of drought; timelines for declaration of drought, assessment and release of financial assistance</a:t>
            </a:r>
            <a:r>
              <a:rPr lang="en-IN" sz="2200" dirty="0" smtClean="0"/>
              <a:t>.</a:t>
            </a:r>
          </a:p>
          <a:p>
            <a:pPr algn="just"/>
            <a:endParaRPr lang="en-IN" sz="2200" dirty="0" smtClean="0"/>
          </a:p>
          <a:p>
            <a:pPr algn="just"/>
            <a:r>
              <a:rPr lang="en-US" sz="2200" dirty="0" smtClean="0"/>
              <a:t>State Governments are required to implement mandatorily the guidelines of Drought Manual, while determining/declaring drought in their State.</a:t>
            </a:r>
          </a:p>
          <a:p>
            <a:pPr algn="just"/>
            <a:endParaRPr lang="en-IN" sz="2000" dirty="0" smtClean="0"/>
          </a:p>
          <a:p>
            <a:pPr algn="just"/>
            <a:endParaRPr lang="en-US" sz="2000" dirty="0"/>
          </a:p>
          <a:p>
            <a:pPr algn="just">
              <a:buNone/>
            </a:pPr>
            <a:endParaRPr lang="en-IN" sz="2000" dirty="0"/>
          </a:p>
          <a:p>
            <a:pPr algn="just">
              <a:buFont typeface="Wingdings" pitchFamily="2" charset="2"/>
              <a:buChar char="Ø"/>
            </a:pPr>
            <a:endParaRPr lang="en-IN" sz="2000" dirty="0"/>
          </a:p>
          <a:p>
            <a:pPr algn="just">
              <a:buNone/>
            </a:pPr>
            <a:r>
              <a:rPr lang="en-IN" sz="2000" dirty="0"/>
              <a:t>	</a:t>
            </a:r>
          </a:p>
          <a:p>
            <a:pPr algn="just"/>
            <a:endParaRPr lang="en-IN" sz="2000"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Autofit/>
          </a:bodyPr>
          <a:lstStyle/>
          <a:p>
            <a:pPr algn="ctr"/>
            <a:r>
              <a:rPr lang="en-US" sz="4000" dirty="0" smtClean="0"/>
              <a:t>CRISIS MANAGEMENT PLAN (CMP) FOR DROUGHT</a:t>
            </a:r>
            <a:endParaRPr lang="en-US" sz="4000" dirty="0"/>
          </a:p>
        </p:txBody>
      </p:sp>
      <p:sp>
        <p:nvSpPr>
          <p:cNvPr id="3" name="Content Placeholder 2"/>
          <p:cNvSpPr>
            <a:spLocks noGrp="1"/>
          </p:cNvSpPr>
          <p:nvPr>
            <p:ph idx="1"/>
          </p:nvPr>
        </p:nvSpPr>
        <p:spPr>
          <a:xfrm>
            <a:off x="533400" y="1676400"/>
            <a:ext cx="8229600" cy="4525962"/>
          </a:xfrm>
        </p:spPr>
        <p:txBody>
          <a:bodyPr>
            <a:normAutofit fontScale="25000" lnSpcReduction="20000"/>
          </a:bodyPr>
          <a:lstStyle/>
          <a:p>
            <a:pPr algn="just"/>
            <a:endParaRPr lang="en-US" sz="5100" dirty="0" smtClean="0"/>
          </a:p>
          <a:p>
            <a:pPr algn="just"/>
            <a:r>
              <a:rPr lang="en-US" sz="9600" dirty="0" smtClean="0"/>
              <a:t>The Drought Manual provides for Crisis Management Plan (CMP) to be </a:t>
            </a:r>
            <a:r>
              <a:rPr lang="en-US" sz="9600" dirty="0" err="1" smtClean="0"/>
              <a:t>operationalized</a:t>
            </a:r>
            <a:r>
              <a:rPr lang="en-US" sz="9600" dirty="0" smtClean="0"/>
              <a:t> in the event of Drought like situation</a:t>
            </a:r>
          </a:p>
          <a:p>
            <a:pPr algn="just">
              <a:buNone/>
            </a:pPr>
            <a:endParaRPr lang="en-US" sz="400" dirty="0" smtClean="0"/>
          </a:p>
          <a:p>
            <a:pPr algn="just"/>
            <a:r>
              <a:rPr lang="en-US" sz="9600" dirty="0" smtClean="0"/>
              <a:t>It </a:t>
            </a:r>
            <a:r>
              <a:rPr lang="en-US" sz="9600" dirty="0"/>
              <a:t>focuses on drought management interventions required during the time of crisis. It delineates the roles and responsibilities of various stakeholders, including Central and State Governments and their agencies in managing the calamity. It further provides a crisis management framework to identify phases of the crisis and the strategic response corresponding to each such phase.</a:t>
            </a:r>
          </a:p>
          <a:p>
            <a:pPr algn="just">
              <a:buNone/>
            </a:pPr>
            <a:endParaRPr lang="en-US" sz="4400" dirty="0"/>
          </a:p>
          <a:p>
            <a:pPr algn="just"/>
            <a:r>
              <a:rPr lang="en-US" sz="9600" dirty="0" smtClean="0"/>
              <a:t>CMP for Drought has been circulated to all Stakeholders. States are advised to be prepared as per the CMP.</a:t>
            </a:r>
            <a:endParaRPr lang="en-US" sz="9600" dirty="0"/>
          </a:p>
          <a:p>
            <a:pPr algn="just"/>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5</a:t>
            </a:fld>
            <a:endParaRPr lang="en-US" dirty="0"/>
          </a:p>
        </p:txBody>
      </p:sp>
    </p:spTree>
    <p:extLst>
      <p:ext uri="{BB962C8B-B14F-4D97-AF65-F5344CB8AC3E}">
        <p14:creationId xmlns="" xmlns:p14="http://schemas.microsoft.com/office/powerpoint/2010/main" val="22974171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B38DDE53-83B8-8E4D-BAE4-8A760E1256CE}"/>
              </a:ext>
            </a:extLst>
          </p:cNvPr>
          <p:cNvSpPr>
            <a:spLocks noGrp="1"/>
          </p:cNvSpPr>
          <p:nvPr>
            <p:ph type="title"/>
          </p:nvPr>
        </p:nvSpPr>
        <p:spPr>
          <a:xfrm>
            <a:off x="457200" y="152400"/>
            <a:ext cx="8229600" cy="1143000"/>
          </a:xfrm>
        </p:spPr>
        <p:txBody>
          <a:bodyPr>
            <a:noAutofit/>
          </a:bodyPr>
          <a:lstStyle/>
          <a:p>
            <a:pPr algn="ctr"/>
            <a:r>
              <a:rPr lang="en-US" sz="4000" dirty="0" smtClean="0"/>
              <a:t>ROLE OF GOVERNMENT OF INDIA</a:t>
            </a:r>
            <a:endParaRPr lang="en-US" sz="4000" dirty="0"/>
          </a:p>
        </p:txBody>
      </p:sp>
      <p:sp>
        <p:nvSpPr>
          <p:cNvPr id="2" name="Content Placeholder 1">
            <a:extLst>
              <a:ext uri="{FF2B5EF4-FFF2-40B4-BE49-F238E27FC236}">
                <a16:creationId xmlns="" xmlns:a16="http://schemas.microsoft.com/office/drawing/2014/main" id="{EC78F58C-141F-F442-8C44-7A7BB96E2C3C}"/>
              </a:ext>
            </a:extLst>
          </p:cNvPr>
          <p:cNvSpPr>
            <a:spLocks noGrp="1"/>
          </p:cNvSpPr>
          <p:nvPr>
            <p:ph idx="1"/>
          </p:nvPr>
        </p:nvSpPr>
        <p:spPr>
          <a:xfrm>
            <a:off x="533400" y="1295400"/>
            <a:ext cx="8229600" cy="4525962"/>
          </a:xfrm>
        </p:spPr>
        <p:txBody>
          <a:bodyPr>
            <a:normAutofit/>
          </a:bodyPr>
          <a:lstStyle/>
          <a:p>
            <a:pPr algn="just"/>
            <a:r>
              <a:rPr lang="en-IN" sz="2400" dirty="0" smtClean="0"/>
              <a:t>Central Government monitors, reviews (the situation) and provide financial assistance in case of additional requirement of funds by State Government (NDRF).</a:t>
            </a:r>
          </a:p>
          <a:p>
            <a:pPr algn="just"/>
            <a:endParaRPr lang="en-IN" sz="100" dirty="0" smtClean="0"/>
          </a:p>
          <a:p>
            <a:pPr algn="just"/>
            <a:r>
              <a:rPr lang="en-US" sz="2400" dirty="0" smtClean="0"/>
              <a:t>There is a Crisis Management Group on Drought, headed by the Central Drought Relief Commissioner, reviews the drought situation with the representatives of the line Ministries/Departments and other stakeholders, as and when required.</a:t>
            </a:r>
          </a:p>
          <a:p>
            <a:pPr algn="just"/>
            <a:endParaRPr lang="en-US" sz="200" dirty="0" smtClean="0"/>
          </a:p>
          <a:p>
            <a:pPr algn="just"/>
            <a:r>
              <a:rPr lang="en-US" sz="2400" dirty="0" smtClean="0">
                <a:cs typeface="Arabic Typesetting" pitchFamily="66" charset="-78"/>
              </a:rPr>
              <a:t>Central Drought Relief Commissioner also heads CWWGDM to monitor drought situation in the country.</a:t>
            </a:r>
          </a:p>
          <a:p>
            <a:pPr algn="just"/>
            <a:endParaRPr lang="en-US" sz="2800" dirty="0" smtClean="0"/>
          </a:p>
          <a:p>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6</a:t>
            </a:fld>
            <a:endParaRPr lang="en-US" dirty="0"/>
          </a:p>
        </p:txBody>
      </p:sp>
    </p:spTree>
    <p:extLst>
      <p:ext uri="{BB962C8B-B14F-4D97-AF65-F5344CB8AC3E}">
        <p14:creationId xmlns="" xmlns:p14="http://schemas.microsoft.com/office/powerpoint/2010/main" val="1245522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F81EF46F-323C-E742-9C25-CFE17C1381DD}"/>
              </a:ext>
            </a:extLst>
          </p:cNvPr>
          <p:cNvSpPr>
            <a:spLocks noGrp="1"/>
          </p:cNvSpPr>
          <p:nvPr>
            <p:ph type="title"/>
          </p:nvPr>
        </p:nvSpPr>
        <p:spPr/>
        <p:txBody>
          <a:bodyPr>
            <a:noAutofit/>
          </a:bodyPr>
          <a:lstStyle/>
          <a:p>
            <a:pPr algn="ctr"/>
            <a:r>
              <a:rPr lang="en-US" sz="4000" dirty="0" smtClean="0"/>
              <a:t>ROLE OF STATE GOVERNMENTS</a:t>
            </a:r>
            <a:endParaRPr lang="en-US" sz="4000" dirty="0"/>
          </a:p>
        </p:txBody>
      </p:sp>
      <p:sp>
        <p:nvSpPr>
          <p:cNvPr id="2" name="Content Placeholder 1">
            <a:extLst>
              <a:ext uri="{FF2B5EF4-FFF2-40B4-BE49-F238E27FC236}">
                <a16:creationId xmlns="" xmlns:a16="http://schemas.microsoft.com/office/drawing/2014/main" id="{500B9882-DA19-AE49-A32F-603AA14D0712}"/>
              </a:ext>
            </a:extLst>
          </p:cNvPr>
          <p:cNvSpPr>
            <a:spLocks noGrp="1"/>
          </p:cNvSpPr>
          <p:nvPr>
            <p:ph idx="1"/>
          </p:nvPr>
        </p:nvSpPr>
        <p:spPr/>
        <p:txBody>
          <a:bodyPr>
            <a:normAutofit/>
          </a:bodyPr>
          <a:lstStyle/>
          <a:p>
            <a:pPr algn="just"/>
            <a:r>
              <a:rPr lang="en-US" sz="2400" dirty="0" smtClean="0"/>
              <a:t>Close Monitoring of the </a:t>
            </a:r>
            <a:r>
              <a:rPr lang="en-US" sz="2400" dirty="0" err="1" smtClean="0"/>
              <a:t>behaviour</a:t>
            </a:r>
            <a:r>
              <a:rPr lang="en-US" sz="2400" dirty="0" smtClean="0"/>
              <a:t> of the Monsoon</a:t>
            </a:r>
          </a:p>
          <a:p>
            <a:pPr algn="just"/>
            <a:r>
              <a:rPr lang="en-US" sz="2400" dirty="0" smtClean="0"/>
              <a:t>Setting up State Drought Monitoring Centre (SDMC).</a:t>
            </a:r>
            <a:endParaRPr lang="en-US" sz="2400" dirty="0"/>
          </a:p>
          <a:p>
            <a:pPr algn="just"/>
            <a:r>
              <a:rPr lang="en-IN" sz="2400" dirty="0" smtClean="0"/>
              <a:t>Hold Crop Weather Watch Meeting once a week.</a:t>
            </a:r>
            <a:endParaRPr lang="en-US" sz="2400" dirty="0"/>
          </a:p>
          <a:p>
            <a:pPr algn="just"/>
            <a:r>
              <a:rPr lang="en-IN" sz="2400" dirty="0" smtClean="0"/>
              <a:t>To collect, collate and analyze information on drought parameters from National &amp; State level agencies.</a:t>
            </a:r>
            <a:endParaRPr lang="en-US" sz="2400" dirty="0"/>
          </a:p>
          <a:p>
            <a:pPr algn="just"/>
            <a:r>
              <a:rPr lang="en-IN" sz="2400" dirty="0" smtClean="0"/>
              <a:t>Launching relief operations for the people affected by drought. States are provided with the State Disaster Response Fund  (SDRF) &amp; State Disaster Mitigation Fund (SDMF).</a:t>
            </a:r>
          </a:p>
          <a:p>
            <a:pPr algn="just"/>
            <a:endParaRPr lang="en-US" dirty="0"/>
          </a:p>
          <a:p>
            <a:pPr>
              <a:buNone/>
            </a:pPr>
            <a:endParaRPr lang="en-US" dirty="0"/>
          </a:p>
          <a:p>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7</a:t>
            </a:fld>
            <a:endParaRPr lang="en-US" dirty="0"/>
          </a:p>
        </p:txBody>
      </p:sp>
    </p:spTree>
    <p:extLst>
      <p:ext uri="{BB962C8B-B14F-4D97-AF65-F5344CB8AC3E}">
        <p14:creationId xmlns="" xmlns:p14="http://schemas.microsoft.com/office/powerpoint/2010/main" val="24224173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4000" b="1" dirty="0" smtClean="0"/>
              <a:t>ROLE OF STATE GOVERNMENTS..CONTD.</a:t>
            </a:r>
            <a:endParaRPr lang="en-US" sz="4000" b="1" dirty="0"/>
          </a:p>
        </p:txBody>
      </p:sp>
      <p:sp>
        <p:nvSpPr>
          <p:cNvPr id="3" name="Content Placeholder 2"/>
          <p:cNvSpPr>
            <a:spLocks noGrp="1"/>
          </p:cNvSpPr>
          <p:nvPr>
            <p:ph idx="1"/>
          </p:nvPr>
        </p:nvSpPr>
        <p:spPr>
          <a:xfrm>
            <a:off x="228600" y="1600200"/>
            <a:ext cx="8686800" cy="5257800"/>
          </a:xfrm>
        </p:spPr>
        <p:txBody>
          <a:bodyPr>
            <a:noAutofit/>
          </a:bodyPr>
          <a:lstStyle/>
          <a:p>
            <a:pPr algn="just"/>
            <a:endParaRPr lang="en-IN" sz="2400" dirty="0"/>
          </a:p>
          <a:p>
            <a:pPr algn="just"/>
            <a:r>
              <a:rPr lang="en-IN" sz="2400" dirty="0" smtClean="0"/>
              <a:t>Assessment of losses and relief requirements.</a:t>
            </a:r>
          </a:p>
          <a:p>
            <a:pPr algn="just">
              <a:buNone/>
            </a:pPr>
            <a:endParaRPr lang="en-IN" sz="2400" dirty="0" smtClean="0"/>
          </a:p>
          <a:p>
            <a:pPr algn="just"/>
            <a:r>
              <a:rPr lang="en-IN" sz="2400" dirty="0" smtClean="0"/>
              <a:t>Declaration </a:t>
            </a:r>
            <a:r>
              <a:rPr lang="en-IN" sz="2400" dirty="0"/>
              <a:t>of </a:t>
            </a:r>
            <a:r>
              <a:rPr lang="en-IN" sz="2400" dirty="0" smtClean="0"/>
              <a:t>drought, after following the parameters, prescribed in the Drought Manual.</a:t>
            </a:r>
          </a:p>
          <a:p>
            <a:pPr algn="just">
              <a:buNone/>
            </a:pPr>
            <a:endParaRPr lang="en-IN" sz="2400" dirty="0" smtClean="0"/>
          </a:p>
          <a:p>
            <a:pPr algn="just"/>
            <a:r>
              <a:rPr lang="en-IN" sz="2400" dirty="0" smtClean="0"/>
              <a:t>Timely submission of Memorandum to </a:t>
            </a:r>
            <a:r>
              <a:rPr lang="en-IN" sz="2400" dirty="0" err="1" smtClean="0"/>
              <a:t>GoI</a:t>
            </a:r>
            <a:r>
              <a:rPr lang="en-IN" sz="2400" dirty="0" smtClean="0"/>
              <a:t> for assistance from NDRF.</a:t>
            </a:r>
            <a:endParaRPr lang="en-US" sz="2400" dirty="0" smtClean="0"/>
          </a:p>
          <a:p>
            <a:pPr algn="just"/>
            <a:endParaRPr lang="en-IN" sz="2400" dirty="0"/>
          </a:p>
          <a:p>
            <a:pPr algn="just">
              <a:buNone/>
            </a:pPr>
            <a:endParaRPr lang="en-IN" sz="2400" dirty="0"/>
          </a:p>
          <a:p>
            <a:pPr algn="just"/>
            <a:endParaRPr lang="en-IN" sz="2400" dirty="0"/>
          </a:p>
          <a:p>
            <a:pPr algn="just"/>
            <a:endParaRPr lang="en-IN" sz="2400" dirty="0"/>
          </a:p>
          <a:p>
            <a:pPr algn="just"/>
            <a:endParaRPr lang="en-US" sz="2400"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Autofit/>
          </a:bodyPr>
          <a:lstStyle/>
          <a:p>
            <a:pPr algn="ctr"/>
            <a:r>
              <a:rPr lang="en-US" sz="4000" b="1" dirty="0"/>
              <a:t>IMD FORECAST AND SW MONSOON FOR KHARIF 2023</a:t>
            </a:r>
          </a:p>
        </p:txBody>
      </p:sp>
      <p:sp>
        <p:nvSpPr>
          <p:cNvPr id="3" name="Content Placeholder 2"/>
          <p:cNvSpPr>
            <a:spLocks noGrp="1"/>
          </p:cNvSpPr>
          <p:nvPr>
            <p:ph idx="1"/>
          </p:nvPr>
        </p:nvSpPr>
        <p:spPr>
          <a:xfrm>
            <a:off x="457200" y="1676400"/>
            <a:ext cx="8229600" cy="4648200"/>
          </a:xfrm>
        </p:spPr>
        <p:txBody>
          <a:bodyPr>
            <a:normAutofit/>
          </a:bodyPr>
          <a:lstStyle/>
          <a:p>
            <a:pPr algn="just">
              <a:buNone/>
            </a:pPr>
            <a:endParaRPr lang="en-IN" dirty="0"/>
          </a:p>
          <a:p>
            <a:pPr algn="just"/>
            <a:r>
              <a:rPr lang="en-US" sz="2600" dirty="0"/>
              <a:t>IMD forecast for 2023 released on </a:t>
            </a:r>
            <a:r>
              <a:rPr lang="en-US" sz="2600" dirty="0" smtClean="0"/>
              <a:t>11.04.2023.</a:t>
            </a:r>
          </a:p>
          <a:p>
            <a:pPr algn="just">
              <a:buNone/>
            </a:pPr>
            <a:endParaRPr lang="en-IN" sz="2600" dirty="0"/>
          </a:p>
          <a:p>
            <a:pPr algn="just"/>
            <a:r>
              <a:rPr lang="en-IN" sz="2600" dirty="0"/>
              <a:t>South-West Monsoon seasonal rainfall over the country as a whole is likely to be 96% of the Long Period Average (LPA)   with a model error of </a:t>
            </a:r>
            <a:r>
              <a:rPr lang="en-IN" sz="2600" u="sng" dirty="0"/>
              <a:t>+</a:t>
            </a:r>
            <a:r>
              <a:rPr lang="en-IN" sz="2600" dirty="0"/>
              <a:t> 5% .</a:t>
            </a:r>
          </a:p>
          <a:p>
            <a:pPr algn="just">
              <a:buNone/>
            </a:pPr>
            <a:endParaRPr lang="en-IN" sz="2600" dirty="0"/>
          </a:p>
          <a:p>
            <a:pPr algn="just"/>
            <a:r>
              <a:rPr lang="en-US" sz="2600" dirty="0"/>
              <a:t>IMD will issue the updated forecast for South-West Monsoon season in the last week of May 2023.</a:t>
            </a:r>
          </a:p>
          <a:p>
            <a:pPr algn="just"/>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9</a:t>
            </a:fld>
            <a:endParaRPr lang="en-US" dirty="0"/>
          </a:p>
        </p:txBody>
      </p:sp>
    </p:spTree>
    <p:extLst>
      <p:ext uri="{BB962C8B-B14F-4D97-AF65-F5344CB8AC3E}">
        <p14:creationId xmlns="" xmlns:p14="http://schemas.microsoft.com/office/powerpoint/2010/main" val="30703485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t>DROUGHT PREPAREDNESS</a:t>
            </a:r>
          </a:p>
        </p:txBody>
      </p:sp>
      <p:sp>
        <p:nvSpPr>
          <p:cNvPr id="3" name="Content Placeholder 2"/>
          <p:cNvSpPr>
            <a:spLocks noGrp="1"/>
          </p:cNvSpPr>
          <p:nvPr>
            <p:ph idx="1"/>
          </p:nvPr>
        </p:nvSpPr>
        <p:spPr>
          <a:xfrm>
            <a:off x="533400" y="1828800"/>
            <a:ext cx="8153400" cy="3916362"/>
          </a:xfrm>
        </p:spPr>
        <p:txBody>
          <a:bodyPr/>
          <a:lstStyle/>
          <a:p>
            <a:pPr marL="109537" indent="0" algn="just">
              <a:buNone/>
            </a:pPr>
            <a:endParaRPr lang="en-IN" sz="800" dirty="0"/>
          </a:p>
          <a:p>
            <a:pPr algn="just"/>
            <a:r>
              <a:rPr lang="en-IN" sz="2400" dirty="0"/>
              <a:t>States </a:t>
            </a:r>
            <a:r>
              <a:rPr lang="en-IN" sz="2400" dirty="0" smtClean="0"/>
              <a:t>have been advised to take steps to meet </a:t>
            </a:r>
            <a:r>
              <a:rPr lang="en-IN" sz="2400" dirty="0"/>
              <a:t>any </a:t>
            </a:r>
            <a:r>
              <a:rPr lang="en-IN" sz="2400" dirty="0" smtClean="0"/>
              <a:t>eventualities arising </a:t>
            </a:r>
            <a:r>
              <a:rPr lang="en-IN" sz="2400" dirty="0"/>
              <a:t>out of aberrant monsoon to minimize impact on agriculture sector on 24.4.2023</a:t>
            </a:r>
            <a:r>
              <a:rPr lang="en-IN" sz="2400" dirty="0" smtClean="0"/>
              <a:t>.</a:t>
            </a:r>
            <a:endParaRPr lang="en-IN" sz="4000" dirty="0" smtClean="0"/>
          </a:p>
          <a:p>
            <a:pPr algn="just"/>
            <a:endParaRPr lang="en-IN" sz="1200" dirty="0"/>
          </a:p>
          <a:p>
            <a:pPr algn="just"/>
            <a:r>
              <a:rPr lang="en-IN" sz="2400" dirty="0"/>
              <a:t>Advisory, inter-alia, includes review of following activities</a:t>
            </a:r>
            <a:r>
              <a:rPr lang="en-IN" sz="2400" dirty="0" smtClean="0"/>
              <a:t>:</a:t>
            </a:r>
          </a:p>
          <a:p>
            <a:pPr algn="just"/>
            <a:endParaRPr lang="en-IN" sz="1100" dirty="0"/>
          </a:p>
          <a:p>
            <a:pPr algn="just">
              <a:buFont typeface="Wingdings" pitchFamily="2" charset="2"/>
              <a:buChar char="Ø"/>
            </a:pPr>
            <a:r>
              <a:rPr lang="en-US" sz="2400" dirty="0" err="1" smtClean="0"/>
              <a:t>Updation</a:t>
            </a:r>
            <a:r>
              <a:rPr lang="en-US" sz="2400" dirty="0" smtClean="0"/>
              <a:t>/fine tuning </a:t>
            </a:r>
            <a:r>
              <a:rPr lang="en-US" sz="2400" dirty="0"/>
              <a:t>of  </a:t>
            </a:r>
            <a:r>
              <a:rPr lang="en-US" sz="2400" dirty="0" smtClean="0"/>
              <a:t>District Agricultural </a:t>
            </a:r>
            <a:r>
              <a:rPr lang="en-US" sz="2400" dirty="0"/>
              <a:t>Contingency Plan (DACP</a:t>
            </a:r>
            <a:r>
              <a:rPr lang="en-US" sz="2400" dirty="0" smtClean="0"/>
              <a:t>).</a:t>
            </a:r>
            <a:endParaRPr lang="en-US" sz="2400" dirty="0"/>
          </a:p>
          <a:p>
            <a:pPr algn="just">
              <a:buFont typeface="Wingdings" pitchFamily="2" charset="2"/>
              <a:buChar char="Ø"/>
            </a:pPr>
            <a:r>
              <a:rPr lang="en-US" sz="2400" dirty="0"/>
              <a:t>Tying up availability of seeds and other inputs.</a:t>
            </a:r>
          </a:p>
          <a:p>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10</a:t>
            </a:fld>
            <a:endParaRPr lang="en-US" dirty="0"/>
          </a:p>
        </p:txBody>
      </p:sp>
    </p:spTree>
    <p:extLst>
      <p:ext uri="{BB962C8B-B14F-4D97-AF65-F5344CB8AC3E}">
        <p14:creationId xmlns="" xmlns:p14="http://schemas.microsoft.com/office/powerpoint/2010/main" val="13195953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Autofit/>
          </a:bodyPr>
          <a:lstStyle/>
          <a:p>
            <a:pPr algn="ctr"/>
            <a:r>
              <a:rPr lang="en-US" sz="4000" b="1" dirty="0"/>
              <a:t>DROUGHT PREPAREDNESS ---contd.</a:t>
            </a:r>
            <a:endParaRPr lang="en-US" sz="4000"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2400" dirty="0"/>
              <a:t>Constructing water harvesting structures under MGNREGA &amp; other such schemes.</a:t>
            </a:r>
          </a:p>
          <a:p>
            <a:pPr algn="just">
              <a:buFont typeface="Wingdings" pitchFamily="2" charset="2"/>
              <a:buChar char="Ø"/>
            </a:pPr>
            <a:r>
              <a:rPr lang="en-US" sz="2400" dirty="0"/>
              <a:t>Promoting agronomic practices for moisture conservations.</a:t>
            </a:r>
          </a:p>
          <a:p>
            <a:pPr algn="just">
              <a:buFont typeface="Wingdings" pitchFamily="2" charset="2"/>
              <a:buChar char="Ø"/>
            </a:pPr>
            <a:r>
              <a:rPr lang="en-US" sz="2400" dirty="0"/>
              <a:t>Promoting cultivation of less water consuming crops by crop diversification.</a:t>
            </a:r>
          </a:p>
          <a:p>
            <a:pPr algn="just">
              <a:buFont typeface="Wingdings" pitchFamily="2" charset="2"/>
              <a:buChar char="Ø"/>
            </a:pPr>
            <a:r>
              <a:rPr lang="en-US" sz="2400" dirty="0"/>
              <a:t>Restoring irrigation infrastructure by de-silting canals, energizing tube-wells, replacing/ repairing faulty pumps</a:t>
            </a:r>
            <a:r>
              <a:rPr lang="en-US" sz="2400" dirty="0" smtClean="0"/>
              <a:t>.</a:t>
            </a:r>
          </a:p>
          <a:p>
            <a:pPr algn="just">
              <a:buFont typeface="Wingdings" pitchFamily="2" charset="2"/>
              <a:buChar char="Ø"/>
            </a:pPr>
            <a:r>
              <a:rPr lang="en-US" sz="2400" dirty="0" smtClean="0"/>
              <a:t>Progress of preparation &amp; implementation of District Irrigation Plans.</a:t>
            </a:r>
          </a:p>
          <a:p>
            <a:pPr algn="just">
              <a:buFont typeface="Wingdings" pitchFamily="2" charset="2"/>
              <a:buChar char="Ø"/>
            </a:pPr>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11</a:t>
            </a:fld>
            <a:endParaRPr lang="en-US" dirty="0"/>
          </a:p>
        </p:txBody>
      </p:sp>
    </p:spTree>
    <p:extLst>
      <p:ext uri="{BB962C8B-B14F-4D97-AF65-F5344CB8AC3E}">
        <p14:creationId xmlns="" xmlns:p14="http://schemas.microsoft.com/office/powerpoint/2010/main" val="7711239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Autofit/>
          </a:bodyPr>
          <a:lstStyle/>
          <a:p>
            <a:r>
              <a:rPr lang="en-US" sz="4000" b="1" dirty="0"/>
              <a:t>DROUGHT PREPAREDNESS ---contd.</a:t>
            </a:r>
            <a:endParaRPr lang="en-US" sz="4000" dirty="0"/>
          </a:p>
        </p:txBody>
      </p:sp>
      <p:sp>
        <p:nvSpPr>
          <p:cNvPr id="3" name="Content Placeholder 2"/>
          <p:cNvSpPr>
            <a:spLocks noGrp="1"/>
          </p:cNvSpPr>
          <p:nvPr>
            <p:ph idx="1"/>
          </p:nvPr>
        </p:nvSpPr>
        <p:spPr/>
        <p:txBody>
          <a:bodyPr>
            <a:normAutofit fontScale="92500" lnSpcReduction="20000"/>
          </a:bodyPr>
          <a:lstStyle/>
          <a:p>
            <a:pPr algn="just">
              <a:buNone/>
            </a:pPr>
            <a:endParaRPr lang="en-US" sz="1600" dirty="0"/>
          </a:p>
          <a:p>
            <a:pPr algn="just">
              <a:buFont typeface="Arial" pitchFamily="34" charset="0"/>
              <a:buChar char="•"/>
            </a:pPr>
            <a:r>
              <a:rPr lang="en-US" sz="2800" dirty="0"/>
              <a:t>Establishment and activation of Drought Management </a:t>
            </a:r>
            <a:r>
              <a:rPr lang="en-US" sz="2800" dirty="0" err="1"/>
              <a:t>Centres</a:t>
            </a:r>
            <a:r>
              <a:rPr lang="en-US" sz="2800" dirty="0"/>
              <a:t> at the State Headquarters.</a:t>
            </a:r>
          </a:p>
          <a:p>
            <a:pPr algn="just">
              <a:buFont typeface="Arial" pitchFamily="34" charset="0"/>
              <a:buChar char="•"/>
            </a:pPr>
            <a:endParaRPr lang="en-US" sz="2800" dirty="0"/>
          </a:p>
          <a:p>
            <a:pPr algn="just">
              <a:buFont typeface="Arial" pitchFamily="34" charset="0"/>
              <a:buChar char="•"/>
            </a:pPr>
            <a:r>
              <a:rPr lang="en-US" sz="2800" dirty="0"/>
              <a:t>Progress in repair of hand-pumps/drinking water projects</a:t>
            </a:r>
            <a:r>
              <a:rPr lang="en-US" sz="2800" dirty="0" smtClean="0"/>
              <a:t>.</a:t>
            </a:r>
          </a:p>
          <a:p>
            <a:pPr algn="just">
              <a:buFont typeface="Arial" pitchFamily="34" charset="0"/>
              <a:buChar char="•"/>
            </a:pPr>
            <a:endParaRPr lang="en-US" sz="2800" dirty="0" smtClean="0"/>
          </a:p>
          <a:p>
            <a:pPr algn="just">
              <a:buFont typeface="Arial" pitchFamily="34" charset="0"/>
              <a:buChar char="•"/>
            </a:pPr>
            <a:r>
              <a:rPr lang="en-US" sz="2800" dirty="0" smtClean="0"/>
              <a:t>Progress of preparation &amp; implementation of District Irrigation Plans.</a:t>
            </a:r>
          </a:p>
          <a:p>
            <a:pPr algn="just">
              <a:buFont typeface="Arial" pitchFamily="34" charset="0"/>
              <a:buChar char="•"/>
            </a:pPr>
            <a:endParaRPr lang="en-US" sz="2800" dirty="0" smtClean="0"/>
          </a:p>
          <a:p>
            <a:pPr algn="just">
              <a:buFont typeface="Arial" pitchFamily="34" charset="0"/>
              <a:buChar char="•"/>
            </a:pPr>
            <a:r>
              <a:rPr lang="en-US" sz="2800" dirty="0" smtClean="0"/>
              <a:t>Establishment and activation of Drought Management </a:t>
            </a:r>
            <a:r>
              <a:rPr lang="en-US" sz="2800" dirty="0" err="1" smtClean="0"/>
              <a:t>Centres</a:t>
            </a:r>
            <a:r>
              <a:rPr lang="en-US" sz="2800" dirty="0" smtClean="0"/>
              <a:t> at the State Headquarters.</a:t>
            </a:r>
          </a:p>
          <a:p>
            <a:pPr algn="just">
              <a:buFont typeface="Wingdings" pitchFamily="2" charset="2"/>
              <a:buChar char="Ø"/>
            </a:pPr>
            <a:endParaRPr lang="en-US" sz="2800" dirty="0" smtClean="0"/>
          </a:p>
          <a:p>
            <a:pPr algn="just">
              <a:buFont typeface="Wingdings" pitchFamily="2" charset="2"/>
              <a:buChar char="Ø"/>
            </a:pPr>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12</a:t>
            </a:fld>
            <a:endParaRPr lang="en-US" dirty="0"/>
          </a:p>
        </p:txBody>
      </p:sp>
    </p:spTree>
    <p:extLst>
      <p:ext uri="{BB962C8B-B14F-4D97-AF65-F5344CB8AC3E}">
        <p14:creationId xmlns="" xmlns:p14="http://schemas.microsoft.com/office/powerpoint/2010/main" val="1486824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000" b="1" dirty="0"/>
              <a:t>DROUGHT PREPAREDNESS ---contd.</a:t>
            </a:r>
            <a:endParaRPr lang="en-US" sz="4000" dirty="0"/>
          </a:p>
        </p:txBody>
      </p:sp>
      <p:sp>
        <p:nvSpPr>
          <p:cNvPr id="3" name="Content Placeholder 2"/>
          <p:cNvSpPr>
            <a:spLocks noGrp="1"/>
          </p:cNvSpPr>
          <p:nvPr>
            <p:ph idx="1"/>
          </p:nvPr>
        </p:nvSpPr>
        <p:spPr/>
        <p:txBody>
          <a:bodyPr>
            <a:noAutofit/>
          </a:bodyPr>
          <a:lstStyle/>
          <a:p>
            <a:pPr algn="just">
              <a:buNone/>
            </a:pPr>
            <a:endParaRPr lang="en-US" sz="900" dirty="0"/>
          </a:p>
          <a:p>
            <a:pPr algn="just">
              <a:buNone/>
            </a:pPr>
            <a:endParaRPr lang="en-US" sz="600" dirty="0"/>
          </a:p>
          <a:p>
            <a:pPr algn="just">
              <a:buFont typeface="Arial" pitchFamily="34" charset="0"/>
              <a:buChar char="•"/>
            </a:pPr>
            <a:r>
              <a:rPr lang="en-US" sz="2400" dirty="0"/>
              <a:t>Progress in repair of hand-pumps/drinking water projects</a:t>
            </a:r>
            <a:r>
              <a:rPr lang="en-US" sz="2400" dirty="0" smtClean="0"/>
              <a:t>.</a:t>
            </a:r>
          </a:p>
          <a:p>
            <a:pPr algn="just">
              <a:buFont typeface="Arial" pitchFamily="34" charset="0"/>
              <a:buChar char="•"/>
            </a:pPr>
            <a:endParaRPr lang="en-US" sz="2400" dirty="0" smtClean="0"/>
          </a:p>
          <a:p>
            <a:pPr algn="just">
              <a:buFont typeface="Arial" pitchFamily="34" charset="0"/>
              <a:buChar char="•"/>
            </a:pPr>
            <a:r>
              <a:rPr lang="en-US" sz="2400" dirty="0" smtClean="0"/>
              <a:t>The State machinery at various levels should be sensitized to the Crisis Management Plan to respond adequately to any contingencies which may arise during the </a:t>
            </a:r>
            <a:r>
              <a:rPr lang="en-US" sz="2400" dirty="0" err="1" smtClean="0"/>
              <a:t>Kharif</a:t>
            </a:r>
            <a:r>
              <a:rPr lang="en-US" sz="2400" dirty="0" smtClean="0"/>
              <a:t> season. </a:t>
            </a:r>
          </a:p>
          <a:p>
            <a:pPr algn="just">
              <a:buFont typeface="Wingdings" pitchFamily="2" charset="2"/>
              <a:buChar char="Ø"/>
            </a:pPr>
            <a:endParaRPr lang="en-US" sz="3200"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13</a:t>
            </a:fld>
            <a:endParaRPr lang="en-US" dirty="0"/>
          </a:p>
        </p:txBody>
      </p:sp>
    </p:spTree>
    <p:extLst>
      <p:ext uri="{BB962C8B-B14F-4D97-AF65-F5344CB8AC3E}">
        <p14:creationId xmlns="" xmlns:p14="http://schemas.microsoft.com/office/powerpoint/2010/main" val="5935748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A48F805C-8813-264E-A5A6-F253BCC203B7}"/>
              </a:ext>
            </a:extLst>
          </p:cNvPr>
          <p:cNvSpPr>
            <a:spLocks noGrp="1"/>
          </p:cNvSpPr>
          <p:nvPr>
            <p:ph type="title"/>
          </p:nvPr>
        </p:nvSpPr>
        <p:spPr/>
        <p:txBody>
          <a:bodyPr>
            <a:normAutofit/>
          </a:bodyPr>
          <a:lstStyle/>
          <a:p>
            <a:pPr algn="ctr"/>
            <a:r>
              <a:rPr lang="en-US" sz="4000" dirty="0"/>
              <a:t> ADVICE TO ICAR</a:t>
            </a:r>
          </a:p>
        </p:txBody>
      </p:sp>
      <p:sp>
        <p:nvSpPr>
          <p:cNvPr id="2" name="Content Placeholder 1">
            <a:extLst>
              <a:ext uri="{FF2B5EF4-FFF2-40B4-BE49-F238E27FC236}">
                <a16:creationId xmlns="" xmlns:a16="http://schemas.microsoft.com/office/drawing/2014/main" id="{303648BC-FA44-0340-99F9-986B18F7171A}"/>
              </a:ext>
            </a:extLst>
          </p:cNvPr>
          <p:cNvSpPr>
            <a:spLocks noGrp="1"/>
          </p:cNvSpPr>
          <p:nvPr>
            <p:ph idx="1"/>
          </p:nvPr>
        </p:nvSpPr>
        <p:spPr>
          <a:xfrm>
            <a:off x="457200" y="1828800"/>
            <a:ext cx="8229600" cy="4389120"/>
          </a:xfrm>
        </p:spPr>
        <p:txBody>
          <a:bodyPr/>
          <a:lstStyle/>
          <a:p>
            <a:pPr algn="just"/>
            <a:endParaRPr lang="en-US" dirty="0" smtClean="0"/>
          </a:p>
          <a:p>
            <a:pPr algn="just"/>
            <a:r>
              <a:rPr lang="en-US" sz="2400" dirty="0" smtClean="0"/>
              <a:t>ICAR was advised to update District Agriculture Contingency Plans (DACPs) to include  drought tolerant crop varieties, crop specific resilient technologies developed by it. ICAR CRIDA to spearhead the matter.</a:t>
            </a:r>
          </a:p>
          <a:p>
            <a:pPr algn="just"/>
            <a:endParaRPr lang="en-US" sz="2400" dirty="0" smtClean="0"/>
          </a:p>
          <a:p>
            <a:pPr algn="just"/>
            <a:r>
              <a:rPr lang="en-US" sz="2400" dirty="0" smtClean="0"/>
              <a:t>To </a:t>
            </a:r>
            <a:r>
              <a:rPr lang="en-US" sz="2400" dirty="0" err="1" smtClean="0"/>
              <a:t>organise</a:t>
            </a:r>
            <a:r>
              <a:rPr lang="en-US" sz="2400" dirty="0" smtClean="0"/>
              <a:t> interface meetings with State </a:t>
            </a:r>
            <a:r>
              <a:rPr lang="en-US" sz="2400" dirty="0" err="1" smtClean="0"/>
              <a:t>Govts</a:t>
            </a:r>
            <a:r>
              <a:rPr lang="en-US" sz="2400" dirty="0" smtClean="0"/>
              <a:t> for </a:t>
            </a:r>
            <a:r>
              <a:rPr lang="en-US" sz="2400" dirty="0" err="1" smtClean="0"/>
              <a:t>operationalising</a:t>
            </a:r>
            <a:r>
              <a:rPr lang="en-US" sz="2400" dirty="0" smtClean="0"/>
              <a:t> DACPs.</a:t>
            </a:r>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14</a:t>
            </a:fld>
            <a:endParaRPr lang="en-US" dirty="0"/>
          </a:p>
        </p:txBody>
      </p:sp>
    </p:spTree>
    <p:extLst>
      <p:ext uri="{BB962C8B-B14F-4D97-AF65-F5344CB8AC3E}">
        <p14:creationId xmlns="" xmlns:p14="http://schemas.microsoft.com/office/powerpoint/2010/main" val="40198693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3200" dirty="0" smtClean="0"/>
              <a:t>GEOSPATIAL DROUGHT MONITORING PORTAL</a:t>
            </a:r>
          </a:p>
        </p:txBody>
      </p:sp>
      <p:sp>
        <p:nvSpPr>
          <p:cNvPr id="2" name="Content Placeholder 1"/>
          <p:cNvSpPr>
            <a:spLocks noGrp="1"/>
          </p:cNvSpPr>
          <p:nvPr>
            <p:ph idx="1"/>
          </p:nvPr>
        </p:nvSpPr>
        <p:spPr>
          <a:xfrm>
            <a:off x="533400" y="2209800"/>
            <a:ext cx="8229600" cy="4525962"/>
          </a:xfrm>
        </p:spPr>
        <p:txBody>
          <a:bodyPr/>
          <a:lstStyle/>
          <a:p>
            <a:pPr lvl="0" algn="just"/>
            <a:r>
              <a:rPr lang="en-US" sz="2400" dirty="0"/>
              <a:t>A unified geo-portal for monitoring and management of drought would be launched shortly. This portal would host all </a:t>
            </a:r>
            <a:r>
              <a:rPr lang="en-US" sz="2400" dirty="0" smtClean="0"/>
              <a:t>data on drought indicators </a:t>
            </a:r>
            <a:r>
              <a:rPr lang="en-US" sz="2400" dirty="0"/>
              <a:t>- weather, soil moisture, remote sensing based crop conditions, water storages, on a single digital platform for use by States. </a:t>
            </a:r>
          </a:p>
          <a:p>
            <a:pPr>
              <a:buNone/>
            </a:pPr>
            <a:endParaRPr lang="en-US" dirty="0"/>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15</a:t>
            </a:fld>
            <a:endParaRPr lang="en-US" dirty="0"/>
          </a:p>
        </p:txBody>
      </p:sp>
    </p:spTree>
    <p:extLst>
      <p:ext uri="{BB962C8B-B14F-4D97-AF65-F5344CB8AC3E}">
        <p14:creationId xmlns="" xmlns:p14="http://schemas.microsoft.com/office/powerpoint/2010/main" val="1381850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1295400"/>
            <a:ext cx="8305800" cy="4755148"/>
          </a:xfrm>
          <a:prstGeom prst="rect">
            <a:avLst/>
          </a:prstGeom>
          <a:noFill/>
        </p:spPr>
        <p:txBody>
          <a:bodyPr wrap="square" rtlCol="0">
            <a:spAutoFit/>
          </a:bodyPr>
          <a:lstStyle/>
          <a:p>
            <a:pPr algn="ctr"/>
            <a:r>
              <a:rPr lang="en-US" sz="2500" b="1" dirty="0" smtClean="0">
                <a:solidFill>
                  <a:srgbClr val="00B050"/>
                </a:solidFill>
                <a:latin typeface="+mn-lt"/>
              </a:rPr>
              <a:t>Unique features</a:t>
            </a:r>
          </a:p>
          <a:p>
            <a:pPr marL="342900" indent="-342900" algn="just">
              <a:buClr>
                <a:srgbClr val="00B0F0"/>
              </a:buClr>
              <a:buFont typeface="Arial" pitchFamily="34" charset="0"/>
              <a:buChar char="•"/>
            </a:pPr>
            <a:r>
              <a:rPr lang="en-US" sz="2000" dirty="0" smtClean="0">
                <a:latin typeface="+mn-lt"/>
              </a:rPr>
              <a:t>Centralized platform for drought related data, analysis tools and products offering drought management knowledge data and infrastructure</a:t>
            </a:r>
          </a:p>
          <a:p>
            <a:pPr marL="342900" indent="-342900" algn="just">
              <a:buClr>
                <a:srgbClr val="00B0F0"/>
              </a:buClr>
              <a:buFont typeface="Arial" pitchFamily="34" charset="0"/>
              <a:buChar char="•"/>
            </a:pPr>
            <a:endParaRPr lang="en-US" dirty="0" smtClean="0">
              <a:latin typeface="+mn-lt"/>
            </a:endParaRPr>
          </a:p>
          <a:p>
            <a:pPr marL="342900" indent="-342900" algn="just">
              <a:buClr>
                <a:srgbClr val="00B0F0"/>
              </a:buClr>
              <a:buFont typeface="Arial" pitchFamily="34" charset="0"/>
              <a:buChar char="•"/>
            </a:pPr>
            <a:r>
              <a:rPr lang="en-US" sz="2000" dirty="0" smtClean="0">
                <a:latin typeface="+mn-lt"/>
              </a:rPr>
              <a:t>Whole of Government approach with participation from multiple Ministries</a:t>
            </a:r>
          </a:p>
          <a:p>
            <a:pPr marL="342900" indent="-342900" algn="just">
              <a:buClr>
                <a:srgbClr val="00B0F0"/>
              </a:buClr>
            </a:pPr>
            <a:endParaRPr lang="en-US" sz="2000" dirty="0">
              <a:latin typeface="+mn-lt"/>
            </a:endParaRPr>
          </a:p>
          <a:p>
            <a:pPr marL="342900" indent="-342900" algn="just">
              <a:buClr>
                <a:srgbClr val="00B0F0"/>
              </a:buClr>
              <a:buFont typeface="Arial" pitchFamily="34" charset="0"/>
              <a:buChar char="•"/>
            </a:pPr>
            <a:r>
              <a:rPr lang="en-US" sz="2000" dirty="0" smtClean="0">
                <a:latin typeface="+mn-lt"/>
              </a:rPr>
              <a:t>Standardization of data and maps of drought indicators</a:t>
            </a:r>
          </a:p>
          <a:p>
            <a:pPr marL="342900" indent="-342900" algn="just">
              <a:buClr>
                <a:srgbClr val="00B0F0"/>
              </a:buClr>
              <a:buFont typeface="Arial" pitchFamily="34" charset="0"/>
              <a:buChar char="•"/>
            </a:pPr>
            <a:endParaRPr lang="en-US" sz="2000" dirty="0">
              <a:latin typeface="+mn-lt"/>
            </a:endParaRPr>
          </a:p>
          <a:p>
            <a:pPr marL="342900" indent="-342900" algn="just">
              <a:buClr>
                <a:srgbClr val="00B0F0"/>
              </a:buClr>
              <a:buFont typeface="Arial" pitchFamily="34" charset="0"/>
              <a:buChar char="•"/>
            </a:pPr>
            <a:r>
              <a:rPr lang="en-US" sz="2000" dirty="0" smtClean="0">
                <a:latin typeface="+mn-lt"/>
              </a:rPr>
              <a:t>Ease of accessing data, information on  drought  by states and other  stake holders and </a:t>
            </a:r>
          </a:p>
          <a:p>
            <a:pPr marL="342900" indent="-342900" algn="just">
              <a:buClr>
                <a:srgbClr val="00B0F0"/>
              </a:buClr>
              <a:buFont typeface="Arial" pitchFamily="34" charset="0"/>
              <a:buChar char="•"/>
            </a:pPr>
            <a:endParaRPr lang="en-US" sz="2000" dirty="0" smtClean="0">
              <a:latin typeface="+mn-lt"/>
            </a:endParaRPr>
          </a:p>
          <a:p>
            <a:pPr marL="342900" indent="-342900" algn="just">
              <a:buClr>
                <a:srgbClr val="00B0F0"/>
              </a:buClr>
              <a:buFont typeface="Arial" pitchFamily="34" charset="0"/>
              <a:buChar char="•"/>
            </a:pPr>
            <a:r>
              <a:rPr lang="en-US" sz="2000" dirty="0">
                <a:latin typeface="+mn-lt"/>
              </a:rPr>
              <a:t>P</a:t>
            </a:r>
            <a:r>
              <a:rPr lang="en-US" sz="2000" dirty="0" smtClean="0">
                <a:latin typeface="+mn-lt"/>
              </a:rPr>
              <a:t>lug &amp; play facility  for developing geospatial solutions  in drought management solutions</a:t>
            </a:r>
            <a:endParaRPr lang="en-US" sz="2000" dirty="0">
              <a:latin typeface="+mn-lt"/>
            </a:endParaRPr>
          </a:p>
        </p:txBody>
      </p:sp>
      <p:sp>
        <p:nvSpPr>
          <p:cNvPr id="9" name="TextBox 8"/>
          <p:cNvSpPr txBox="1"/>
          <p:nvPr/>
        </p:nvSpPr>
        <p:spPr>
          <a:xfrm>
            <a:off x="1143000" y="152400"/>
            <a:ext cx="7391400" cy="1877437"/>
          </a:xfrm>
          <a:prstGeom prst="rect">
            <a:avLst/>
          </a:prstGeom>
          <a:noFill/>
        </p:spPr>
        <p:txBody>
          <a:bodyPr wrap="square" rtlCol="0">
            <a:spAutoFit/>
          </a:bodyPr>
          <a:lstStyle/>
          <a:p>
            <a:pPr algn="ctr"/>
            <a:r>
              <a:rPr lang="en-US" sz="2800" dirty="0" smtClean="0">
                <a:latin typeface="+mj-lt"/>
              </a:rPr>
              <a:t>GEOSPATIAL PLATFORM FOR DROUGHT MONITORING, ASSESSMENT AND DECLARATION</a:t>
            </a:r>
          </a:p>
          <a:p>
            <a:endParaRPr lang="en-US" sz="3200" dirty="0"/>
          </a:p>
        </p:txBody>
      </p:sp>
      <p:sp>
        <p:nvSpPr>
          <p:cNvPr id="6" name="Slide Number Placeholder 5"/>
          <p:cNvSpPr>
            <a:spLocks noGrp="1"/>
          </p:cNvSpPr>
          <p:nvPr>
            <p:ph type="sldNum" sz="quarter" idx="12"/>
          </p:nvPr>
        </p:nvSpPr>
        <p:spPr/>
        <p:txBody>
          <a:bodyPr/>
          <a:lstStyle/>
          <a:p>
            <a:pPr>
              <a:defRPr/>
            </a:pPr>
            <a:fld id="{1204B5E0-EDDE-4AA7-B028-972E359113C8}" type="slidenum">
              <a:rPr lang="en-US" smtClean="0"/>
              <a:pPr>
                <a:defRPr/>
              </a:pPr>
              <a:t>16</a:t>
            </a:fld>
            <a:endParaRPr lang="en-US" dirty="0"/>
          </a:p>
        </p:txBody>
      </p:sp>
    </p:spTree>
    <p:extLst>
      <p:ext uri="{BB962C8B-B14F-4D97-AF65-F5344CB8AC3E}">
        <p14:creationId xmlns:p14="http://schemas.microsoft.com/office/powerpoint/2010/main" xmlns="" val="35043070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555407" y="4305852"/>
            <a:ext cx="1347300" cy="584775"/>
          </a:xfrm>
          <a:prstGeom prst="rect">
            <a:avLst/>
          </a:prstGeom>
          <a:solidFill>
            <a:schemeClr val="accent1">
              <a:lumMod val="60000"/>
              <a:lumOff val="4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1600" b="1" dirty="0" smtClean="0"/>
              <a:t>Ministry of Jal Shakti</a:t>
            </a:r>
          </a:p>
        </p:txBody>
      </p:sp>
      <p:sp>
        <p:nvSpPr>
          <p:cNvPr id="4" name="Rectangle 3"/>
          <p:cNvSpPr/>
          <p:nvPr/>
        </p:nvSpPr>
        <p:spPr>
          <a:xfrm>
            <a:off x="555407" y="5448640"/>
            <a:ext cx="1347300" cy="338554"/>
          </a:xfrm>
          <a:prstGeom prst="rect">
            <a:avLst/>
          </a:prstGeom>
          <a:solidFill>
            <a:srgbClr val="00B050"/>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US" sz="1600" b="1" dirty="0" smtClean="0"/>
              <a:t> States  </a:t>
            </a:r>
            <a:endParaRPr lang="en-US" sz="1600" b="1" dirty="0"/>
          </a:p>
        </p:txBody>
      </p:sp>
      <p:sp>
        <p:nvSpPr>
          <p:cNvPr id="45" name="TextBox 44"/>
          <p:cNvSpPr txBox="1"/>
          <p:nvPr/>
        </p:nvSpPr>
        <p:spPr>
          <a:xfrm>
            <a:off x="555407" y="1821959"/>
            <a:ext cx="1348431" cy="830997"/>
          </a:xfrm>
          <a:prstGeom prst="rect">
            <a:avLst/>
          </a:prstGeom>
          <a:solidFill>
            <a:srgbClr val="92D050"/>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1600" b="1" dirty="0" err="1" smtClean="0"/>
              <a:t>Dept</a:t>
            </a:r>
            <a:r>
              <a:rPr lang="en-US" sz="1600" b="1" dirty="0" smtClean="0"/>
              <a:t> .of Space (</a:t>
            </a:r>
            <a:r>
              <a:rPr lang="en-US" sz="1600" b="1" dirty="0"/>
              <a:t>ISRO</a:t>
            </a:r>
            <a:r>
              <a:rPr lang="en-US" sz="1600" b="1" dirty="0" smtClean="0"/>
              <a:t>)-</a:t>
            </a:r>
            <a:endParaRPr lang="en-US" sz="1600" b="1" dirty="0"/>
          </a:p>
        </p:txBody>
      </p:sp>
      <p:sp>
        <p:nvSpPr>
          <p:cNvPr id="47" name="TextBox 46"/>
          <p:cNvSpPr txBox="1"/>
          <p:nvPr/>
        </p:nvSpPr>
        <p:spPr>
          <a:xfrm>
            <a:off x="555407" y="3008140"/>
            <a:ext cx="1347300" cy="830997"/>
          </a:xfrm>
          <a:prstGeom prst="rect">
            <a:avLst/>
          </a:prstGeom>
          <a:solidFill>
            <a:srgbClr val="FFC000"/>
          </a:solidFill>
          <a:ln>
            <a:no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1600" b="1" dirty="0" smtClean="0"/>
              <a:t>Min. of Earth Sciences</a:t>
            </a:r>
          </a:p>
        </p:txBody>
      </p:sp>
      <p:sp>
        <p:nvSpPr>
          <p:cNvPr id="36" name="TextBox 35"/>
          <p:cNvSpPr txBox="1"/>
          <p:nvPr/>
        </p:nvSpPr>
        <p:spPr>
          <a:xfrm>
            <a:off x="1219200" y="1143000"/>
            <a:ext cx="4698048" cy="430887"/>
          </a:xfrm>
          <a:prstGeom prst="rect">
            <a:avLst/>
          </a:prstGeom>
          <a:solidFill>
            <a:schemeClr val="accent1">
              <a:lumMod val="50000"/>
            </a:schemeClr>
          </a:solidFill>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IN" sz="2200" b="1" dirty="0" smtClean="0"/>
              <a:t>Whole of Government Approach</a:t>
            </a:r>
            <a:endParaRPr lang="en-IN" sz="2200" b="1" dirty="0"/>
          </a:p>
        </p:txBody>
      </p:sp>
      <p:sp>
        <p:nvSpPr>
          <p:cNvPr id="2" name="TextBox 1"/>
          <p:cNvSpPr txBox="1"/>
          <p:nvPr/>
        </p:nvSpPr>
        <p:spPr>
          <a:xfrm>
            <a:off x="1931836" y="1791180"/>
            <a:ext cx="1971797" cy="923330"/>
          </a:xfrm>
          <a:prstGeom prst="rect">
            <a:avLst/>
          </a:prstGeom>
          <a:noFill/>
        </p:spPr>
        <p:txBody>
          <a:bodyPr wrap="square" rtlCol="0">
            <a:spAutoFit/>
          </a:bodyPr>
          <a:lstStyle/>
          <a:p>
            <a:r>
              <a:rPr lang="en-IN" b="1" i="1" dirty="0"/>
              <a:t>Satellite based </a:t>
            </a:r>
            <a:r>
              <a:rPr lang="en-IN" b="1" i="1" dirty="0" smtClean="0"/>
              <a:t>crop conditions (NDVI, LSWI)</a:t>
            </a:r>
            <a:endParaRPr lang="en-IN" b="1" i="1" dirty="0"/>
          </a:p>
        </p:txBody>
      </p:sp>
      <p:sp>
        <p:nvSpPr>
          <p:cNvPr id="32" name="TextBox 31"/>
          <p:cNvSpPr txBox="1"/>
          <p:nvPr/>
        </p:nvSpPr>
        <p:spPr>
          <a:xfrm>
            <a:off x="1931836" y="2971399"/>
            <a:ext cx="1878164" cy="923330"/>
          </a:xfrm>
          <a:prstGeom prst="rect">
            <a:avLst/>
          </a:prstGeom>
          <a:noFill/>
        </p:spPr>
        <p:txBody>
          <a:bodyPr wrap="square" rtlCol="0">
            <a:spAutoFit/>
          </a:bodyPr>
          <a:lstStyle/>
          <a:p>
            <a:r>
              <a:rPr lang="en-IN" b="1" i="1" dirty="0" smtClean="0"/>
              <a:t>Rainfall Deviations, Dry Spell &amp; SPI</a:t>
            </a:r>
            <a:endParaRPr lang="en-IN" b="1" i="1" dirty="0"/>
          </a:p>
        </p:txBody>
      </p:sp>
      <p:sp>
        <p:nvSpPr>
          <p:cNvPr id="35" name="TextBox 34"/>
          <p:cNvSpPr txBox="1"/>
          <p:nvPr/>
        </p:nvSpPr>
        <p:spPr>
          <a:xfrm>
            <a:off x="1981200" y="4114800"/>
            <a:ext cx="2411563" cy="1200329"/>
          </a:xfrm>
          <a:prstGeom prst="rect">
            <a:avLst/>
          </a:prstGeom>
          <a:noFill/>
        </p:spPr>
        <p:txBody>
          <a:bodyPr wrap="square" rtlCol="0">
            <a:spAutoFit/>
          </a:bodyPr>
          <a:lstStyle/>
          <a:p>
            <a:r>
              <a:rPr lang="en-US" b="1" i="1" dirty="0" smtClean="0"/>
              <a:t>Reservoir Storage,</a:t>
            </a:r>
            <a:endParaRPr lang="en-US" b="1" i="1" dirty="0"/>
          </a:p>
          <a:p>
            <a:r>
              <a:rPr lang="en-US" b="1" i="1" dirty="0" smtClean="0"/>
              <a:t>Ground </a:t>
            </a:r>
            <a:r>
              <a:rPr lang="en-US" b="1" i="1" dirty="0"/>
              <a:t>Water </a:t>
            </a:r>
            <a:r>
              <a:rPr lang="en-US" b="1" i="1" dirty="0" smtClean="0"/>
              <a:t>Levels,</a:t>
            </a:r>
          </a:p>
          <a:p>
            <a:r>
              <a:rPr lang="en-US" b="1" i="1" dirty="0" smtClean="0"/>
              <a:t>Stream Flow,</a:t>
            </a:r>
            <a:endParaRPr lang="en-US" b="1" i="1" dirty="0"/>
          </a:p>
        </p:txBody>
      </p:sp>
      <p:sp>
        <p:nvSpPr>
          <p:cNvPr id="37" name="TextBox 36"/>
          <p:cNvSpPr txBox="1"/>
          <p:nvPr/>
        </p:nvSpPr>
        <p:spPr>
          <a:xfrm>
            <a:off x="2057400" y="5334000"/>
            <a:ext cx="2563963" cy="923330"/>
          </a:xfrm>
          <a:prstGeom prst="rect">
            <a:avLst/>
          </a:prstGeom>
          <a:noFill/>
        </p:spPr>
        <p:txBody>
          <a:bodyPr wrap="square" rtlCol="0">
            <a:spAutoFit/>
          </a:bodyPr>
          <a:lstStyle/>
          <a:p>
            <a:r>
              <a:rPr lang="en-US" b="1" i="1" dirty="0" smtClean="0"/>
              <a:t>Crop Sowing status,</a:t>
            </a:r>
          </a:p>
          <a:p>
            <a:r>
              <a:rPr lang="en-US" b="1" i="1" dirty="0" smtClean="0"/>
              <a:t>Ground Truth data </a:t>
            </a:r>
          </a:p>
          <a:p>
            <a:endParaRPr lang="en-US" b="1" i="1" dirty="0"/>
          </a:p>
        </p:txBody>
      </p:sp>
      <p:grpSp>
        <p:nvGrpSpPr>
          <p:cNvPr id="5" name="Group 4"/>
          <p:cNvGrpSpPr/>
          <p:nvPr/>
        </p:nvGrpSpPr>
        <p:grpSpPr>
          <a:xfrm>
            <a:off x="5791200" y="1600200"/>
            <a:ext cx="2634223" cy="4719824"/>
            <a:chOff x="4537663" y="1512186"/>
            <a:chExt cx="3512297" cy="4719824"/>
          </a:xfrm>
        </p:grpSpPr>
        <p:grpSp>
          <p:nvGrpSpPr>
            <p:cNvPr id="7" name="Group 28"/>
            <p:cNvGrpSpPr/>
            <p:nvPr/>
          </p:nvGrpSpPr>
          <p:grpSpPr>
            <a:xfrm>
              <a:off x="4537663" y="1512186"/>
              <a:ext cx="3512297" cy="4719824"/>
              <a:chOff x="4958214" y="2545418"/>
              <a:chExt cx="3512297" cy="3796494"/>
            </a:xfrm>
          </p:grpSpPr>
          <p:pic>
            <p:nvPicPr>
              <p:cNvPr id="14" name="Picture 13">
                <a:extLst>
                  <a:ext uri="{FF2B5EF4-FFF2-40B4-BE49-F238E27FC236}">
                    <a16:creationId xmlns:a16="http://schemas.microsoft.com/office/drawing/2014/main" xmlns="" id="{D546EC4E-0967-CCB2-7788-B664B902FCDF}"/>
                  </a:ext>
                </a:extLst>
              </p:cNvPr>
              <p:cNvPicPr>
                <a:picLocks noChangeAspect="1" noChangeArrowheads="1"/>
              </p:cNvPicPr>
              <p:nvPr/>
            </p:nvPicPr>
            <p:blipFill>
              <a:blip r:embed="rId2" cstate="email">
                <a:extLst>
                  <a:ext uri="{28A0092B-C50C-407E-A947-70E740481C1C}">
                    <a14:useLocalDpi xmlns:a14="http://schemas.microsoft.com/office/drawing/2010/main" xmlns=""/>
                  </a:ext>
                </a:extLst>
              </a:blip>
              <a:srcRect/>
              <a:stretch>
                <a:fillRect/>
              </a:stretch>
            </p:blipFill>
            <p:spPr bwMode="auto">
              <a:xfrm>
                <a:off x="6182901" y="3688533"/>
                <a:ext cx="932549" cy="57868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5" name="Picture 5">
                <a:extLst>
                  <a:ext uri="{FF2B5EF4-FFF2-40B4-BE49-F238E27FC236}">
                    <a16:creationId xmlns:a16="http://schemas.microsoft.com/office/drawing/2014/main" xmlns="" id="{B10FFB2D-3628-4593-CBD4-FC0868D3B284}"/>
                  </a:ext>
                </a:extLst>
              </p:cNvPr>
              <p:cNvPicPr>
                <a:picLocks noChangeAspect="1" noChangeArrowheads="1"/>
              </p:cNvPicPr>
              <p:nvPr/>
            </p:nvPicPr>
            <p:blipFill>
              <a:blip r:embed="rId3" cstate="email">
                <a:extLst>
                  <a:ext uri="{28A0092B-C50C-407E-A947-70E740481C1C}">
                    <a14:useLocalDpi xmlns:a14="http://schemas.microsoft.com/office/drawing/2010/main" xmlns=""/>
                  </a:ext>
                </a:extLst>
              </a:blip>
              <a:srcRect/>
              <a:stretch>
                <a:fillRect/>
              </a:stretch>
            </p:blipFill>
            <p:spPr bwMode="auto">
              <a:xfrm>
                <a:off x="5182627" y="3589050"/>
                <a:ext cx="777651" cy="77765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6" name="Picture 9">
                <a:extLst>
                  <a:ext uri="{FF2B5EF4-FFF2-40B4-BE49-F238E27FC236}">
                    <a16:creationId xmlns:a16="http://schemas.microsoft.com/office/drawing/2014/main" xmlns="" id="{A21DF053-312E-7D49-AA44-EBE71437C826}"/>
                  </a:ext>
                </a:extLst>
              </p:cNvPr>
              <p:cNvPicPr>
                <a:picLocks noChangeAspect="1" noChangeArrowheads="1"/>
              </p:cNvPicPr>
              <p:nvPr/>
            </p:nvPicPr>
            <p:blipFill>
              <a:blip r:embed="rId4" cstate="email">
                <a:extLst>
                  <a:ext uri="{28A0092B-C50C-407E-A947-70E740481C1C}">
                    <a14:useLocalDpi xmlns:a14="http://schemas.microsoft.com/office/drawing/2010/main" xmlns=""/>
                  </a:ext>
                </a:extLst>
              </a:blip>
              <a:srcRect/>
              <a:stretch>
                <a:fillRect/>
              </a:stretch>
            </p:blipFill>
            <p:spPr bwMode="auto">
              <a:xfrm>
                <a:off x="7373988" y="3611457"/>
                <a:ext cx="837984" cy="6557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 name="Picture 2" descr="Image result for data png">
                <a:extLst>
                  <a:ext uri="{FF2B5EF4-FFF2-40B4-BE49-F238E27FC236}">
                    <a16:creationId xmlns:a16="http://schemas.microsoft.com/office/drawing/2014/main" xmlns="" id="{293F61BD-BD1E-4E7D-B0C8-7F1985063367}"/>
                  </a:ext>
                </a:extLst>
              </p:cNvPr>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463101" y="4290108"/>
                <a:ext cx="2704446" cy="1933679"/>
              </a:xfrm>
              <a:prstGeom prst="rect">
                <a:avLst/>
              </a:prstGeom>
              <a:noFill/>
              <a:extLst>
                <a:ext uri="{909E8E84-426E-40DD-AFC4-6F175D3DCCD1}">
                  <a14:hiddenFill xmlns:a14="http://schemas.microsoft.com/office/drawing/2010/main" xmlns="">
                    <a:solidFill>
                      <a:srgbClr val="FFFFFF"/>
                    </a:solidFill>
                  </a14:hiddenFill>
                </a:ext>
              </a:extLst>
            </p:spPr>
          </p:pic>
          <p:sp>
            <p:nvSpPr>
              <p:cNvPr id="21" name="TextBox 20"/>
              <p:cNvSpPr txBox="1"/>
              <p:nvPr/>
            </p:nvSpPr>
            <p:spPr>
              <a:xfrm>
                <a:off x="5466214" y="2546857"/>
                <a:ext cx="2765697" cy="618917"/>
              </a:xfrm>
              <a:prstGeom prst="rect">
                <a:avLst/>
              </a:prstGeom>
              <a:noFill/>
            </p:spPr>
            <p:txBody>
              <a:bodyPr wrap="square" rtlCol="0">
                <a:spAutoFit/>
              </a:bodyPr>
              <a:lstStyle/>
              <a:p>
                <a:r>
                  <a:rPr lang="en-US" sz="2200" b="1" dirty="0" smtClean="0">
                    <a:solidFill>
                      <a:srgbClr val="C00000"/>
                    </a:solidFill>
                  </a:rPr>
                  <a:t>Data Analysis Platform </a:t>
                </a:r>
                <a:endParaRPr lang="en-US" sz="2200" b="1" dirty="0">
                  <a:solidFill>
                    <a:srgbClr val="C00000"/>
                  </a:solidFill>
                </a:endParaRPr>
              </a:p>
            </p:txBody>
          </p:sp>
          <p:sp>
            <p:nvSpPr>
              <p:cNvPr id="25" name="Rounded Rectangle 24"/>
              <p:cNvSpPr/>
              <p:nvPr/>
            </p:nvSpPr>
            <p:spPr>
              <a:xfrm>
                <a:off x="4958214" y="2545418"/>
                <a:ext cx="3512297" cy="3796494"/>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p:cNvPicPr>
              <a:picLocks noChangeAspect="1"/>
            </p:cNvPicPr>
            <p:nvPr/>
          </p:nvPicPr>
          <p:blipFill>
            <a:blip r:embed="rId6" cstate="print"/>
            <a:stretch>
              <a:fillRect/>
            </a:stretch>
          </p:blipFill>
          <p:spPr>
            <a:xfrm>
              <a:off x="5960063" y="2197986"/>
              <a:ext cx="795147" cy="798618"/>
            </a:xfrm>
            <a:prstGeom prst="rect">
              <a:avLst/>
            </a:prstGeom>
          </p:spPr>
        </p:pic>
      </p:grpSp>
      <p:sp>
        <p:nvSpPr>
          <p:cNvPr id="22" name="Right Arrow 21"/>
          <p:cNvSpPr/>
          <p:nvPr/>
        </p:nvSpPr>
        <p:spPr>
          <a:xfrm>
            <a:off x="4114775" y="3374441"/>
            <a:ext cx="1063772" cy="815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228600" y="0"/>
            <a:ext cx="8458200" cy="830997"/>
          </a:xfrm>
          <a:prstGeom prst="rect">
            <a:avLst/>
          </a:prstGeom>
          <a:noFill/>
        </p:spPr>
        <p:txBody>
          <a:bodyPr wrap="square" rtlCol="0">
            <a:spAutoFit/>
          </a:bodyPr>
          <a:lstStyle/>
          <a:p>
            <a:pPr algn="ctr"/>
            <a:r>
              <a:rPr lang="en-US" sz="2400" dirty="0" smtClean="0"/>
              <a:t>GEOSPATIAL PLATFORM FOR DROUGHT MONITORING, ASSESSMENT AND DECLARATION</a:t>
            </a:r>
            <a:endParaRPr lang="en-US" sz="1600" dirty="0"/>
          </a:p>
        </p:txBody>
      </p:sp>
      <p:sp>
        <p:nvSpPr>
          <p:cNvPr id="24" name="Slide Number Placeholder 23"/>
          <p:cNvSpPr>
            <a:spLocks noGrp="1"/>
          </p:cNvSpPr>
          <p:nvPr>
            <p:ph type="sldNum" sz="quarter" idx="12"/>
          </p:nvPr>
        </p:nvSpPr>
        <p:spPr/>
        <p:txBody>
          <a:bodyPr/>
          <a:lstStyle/>
          <a:p>
            <a:pPr>
              <a:defRPr/>
            </a:pPr>
            <a:fld id="{1204B5E0-EDDE-4AA7-B028-972E359113C8}" type="slidenum">
              <a:rPr lang="en-US" smtClean="0"/>
              <a:pPr>
                <a:defRPr/>
              </a:pPr>
              <a:t>17</a:t>
            </a:fld>
            <a:endParaRPr lang="en-US" dirty="0"/>
          </a:p>
        </p:txBody>
      </p:sp>
    </p:spTree>
    <p:extLst>
      <p:ext uri="{BB962C8B-B14F-4D97-AF65-F5344CB8AC3E}">
        <p14:creationId xmlns:p14="http://schemas.microsoft.com/office/powerpoint/2010/main" xmlns="" val="31177920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algn="ctr" eaLnBrk="1" fontAlgn="auto" hangingPunct="1">
              <a:spcAft>
                <a:spcPts val="0"/>
              </a:spcAft>
              <a:defRPr/>
            </a:pPr>
            <a:r>
              <a:rPr lang="en-IN" sz="4000" dirty="0" smtClean="0"/>
              <a:t>WHAT WE EXPECT FROM THE STATES?</a:t>
            </a:r>
            <a:endParaRPr lang="en-IN" sz="4000" dirty="0"/>
          </a:p>
        </p:txBody>
      </p:sp>
      <p:sp>
        <p:nvSpPr>
          <p:cNvPr id="23554" name="Content Placeholder 4"/>
          <p:cNvSpPr>
            <a:spLocks noGrp="1"/>
          </p:cNvSpPr>
          <p:nvPr>
            <p:ph idx="1"/>
          </p:nvPr>
        </p:nvSpPr>
        <p:spPr>
          <a:xfrm>
            <a:off x="533400" y="1981200"/>
            <a:ext cx="8229600" cy="3733800"/>
          </a:xfrm>
        </p:spPr>
        <p:txBody>
          <a:bodyPr>
            <a:normAutofit fontScale="92500"/>
          </a:bodyPr>
          <a:lstStyle/>
          <a:p>
            <a:pPr algn="just" eaLnBrk="1" hangingPunct="1"/>
            <a:r>
              <a:rPr lang="en-IN" sz="2400" dirty="0" smtClean="0"/>
              <a:t>States are advised to closely monitor the weather patterns and look out for early indicators of drought like situation.</a:t>
            </a:r>
          </a:p>
          <a:p>
            <a:pPr algn="just" eaLnBrk="1" hangingPunct="1"/>
            <a:r>
              <a:rPr lang="en-IN" sz="2400" dirty="0" smtClean="0"/>
              <a:t>Release crop related advisories to the farmers regularly.</a:t>
            </a:r>
          </a:p>
          <a:p>
            <a:pPr algn="just" eaLnBrk="1" hangingPunct="1"/>
            <a:r>
              <a:rPr lang="en-IN" sz="2400" dirty="0" smtClean="0"/>
              <a:t>Full preparedness as per CMP for a mock drill on Drought preparedness</a:t>
            </a:r>
          </a:p>
          <a:p>
            <a:pPr algn="just" eaLnBrk="1" hangingPunct="1"/>
            <a:r>
              <a:rPr lang="en-IN" sz="2400" dirty="0" smtClean="0"/>
              <a:t>Follow updated DACP in case of need.</a:t>
            </a:r>
          </a:p>
          <a:p>
            <a:pPr algn="just"/>
            <a:r>
              <a:rPr lang="en-US" sz="2400" dirty="0" smtClean="0"/>
              <a:t>Work in close coordination with GOI/line Ministries/ICAR etc.</a:t>
            </a:r>
          </a:p>
          <a:p>
            <a:pPr algn="just"/>
            <a:r>
              <a:rPr lang="en-US" sz="2400" dirty="0" smtClean="0"/>
              <a:t>States/Line Departments/Ministries feed data timely on the unified geo-portal for drought.</a:t>
            </a:r>
            <a:endParaRPr lang="en-US" sz="2400" dirty="0"/>
          </a:p>
          <a:p>
            <a:pPr algn="just"/>
            <a:endParaRPr lang="en-IN" sz="2000" dirty="0"/>
          </a:p>
          <a:p>
            <a:pPr eaLnBrk="1" hangingPunct="1"/>
            <a:endParaRPr lang="en-IN" sz="2000" dirty="0"/>
          </a:p>
        </p:txBody>
      </p:sp>
      <p:sp>
        <p:nvSpPr>
          <p:cNvPr id="5" name="Slide Number Placeholder 4"/>
          <p:cNvSpPr>
            <a:spLocks noGrp="1"/>
          </p:cNvSpPr>
          <p:nvPr>
            <p:ph type="sldNum" sz="quarter" idx="12"/>
          </p:nvPr>
        </p:nvSpPr>
        <p:spPr/>
        <p:txBody>
          <a:bodyPr/>
          <a:lstStyle/>
          <a:p>
            <a:pPr>
              <a:defRPr/>
            </a:pPr>
            <a:fld id="{9681BF87-9C6F-47B2-A663-886E15E788D6}" type="slidenum">
              <a:rPr lang="en-US" smtClean="0"/>
              <a:pPr>
                <a:defRPr/>
              </a:pPr>
              <a:t>18</a:t>
            </a:fld>
            <a:endParaRPr lang="en-US" dirty="0"/>
          </a:p>
        </p:txBody>
      </p:sp>
    </p:spTree>
    <p:extLst>
      <p:ext uri="{BB962C8B-B14F-4D97-AF65-F5344CB8AC3E}">
        <p14:creationId xmlns="" xmlns:p14="http://schemas.microsoft.com/office/powerpoint/2010/main" val="37954105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2E284E53-627E-E648-A1FE-4E76B280E945}"/>
              </a:ext>
            </a:extLst>
          </p:cNvPr>
          <p:cNvSpPr>
            <a:spLocks noGrp="1"/>
          </p:cNvSpPr>
          <p:nvPr>
            <p:ph type="title"/>
          </p:nvPr>
        </p:nvSpPr>
        <p:spPr/>
        <p:txBody>
          <a:bodyPr/>
          <a:lstStyle/>
          <a:p>
            <a:endParaRPr lang="en-US" dirty="0"/>
          </a:p>
        </p:txBody>
      </p:sp>
      <p:sp>
        <p:nvSpPr>
          <p:cNvPr id="2" name="Content Placeholder 1">
            <a:extLst>
              <a:ext uri="{FF2B5EF4-FFF2-40B4-BE49-F238E27FC236}">
                <a16:creationId xmlns="" xmlns:a16="http://schemas.microsoft.com/office/drawing/2014/main" id="{683DFAEF-A46A-6140-A22D-B0F4BABC9C13}"/>
              </a:ext>
            </a:extLst>
          </p:cNvPr>
          <p:cNvSpPr>
            <a:spLocks noGrp="1"/>
          </p:cNvSpPr>
          <p:nvPr>
            <p:ph idx="1"/>
          </p:nvPr>
        </p:nvSpPr>
        <p:spPr/>
        <p:txBody>
          <a:bodyPr/>
          <a:lstStyle/>
          <a:p>
            <a:pPr algn="ctr">
              <a:buNone/>
            </a:pPr>
            <a:endParaRPr lang="en-US" sz="8000" dirty="0" smtClean="0"/>
          </a:p>
          <a:p>
            <a:pPr algn="ctr">
              <a:buNone/>
            </a:pPr>
            <a:r>
              <a:rPr lang="en-US" sz="8000" dirty="0" smtClean="0"/>
              <a:t>THANK </a:t>
            </a:r>
            <a:r>
              <a:rPr lang="en-US" sz="8000" dirty="0"/>
              <a:t>YOU</a:t>
            </a:r>
          </a:p>
        </p:txBody>
      </p:sp>
      <p:sp>
        <p:nvSpPr>
          <p:cNvPr id="4" name="Slide Number Placeholder 3"/>
          <p:cNvSpPr>
            <a:spLocks noGrp="1"/>
          </p:cNvSpPr>
          <p:nvPr>
            <p:ph type="sldNum" sz="quarter" idx="12"/>
          </p:nvPr>
        </p:nvSpPr>
        <p:spPr/>
        <p:txBody>
          <a:bodyPr/>
          <a:lstStyle/>
          <a:p>
            <a:pPr>
              <a:defRPr/>
            </a:pPr>
            <a:fld id="{9681BF87-9C6F-47B2-A663-886E15E788D6}" type="slidenum">
              <a:rPr lang="en-US" smtClean="0"/>
              <a:pPr>
                <a:defRPr/>
              </a:pPr>
              <a:t>19</a:t>
            </a:fld>
            <a:endParaRPr lang="en-US" dirty="0"/>
          </a:p>
        </p:txBody>
      </p:sp>
    </p:spTree>
    <p:extLst>
      <p:ext uri="{BB962C8B-B14F-4D97-AF65-F5344CB8AC3E}">
        <p14:creationId xmlns="" xmlns:p14="http://schemas.microsoft.com/office/powerpoint/2010/main" val="34582352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2934</TotalTime>
  <Words>1126</Words>
  <Application>Microsoft Office PowerPoint</Application>
  <PresentationFormat>On-screen Show (4:3)</PresentationFormat>
  <Paragraphs>160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KHARIF CAMPAIGN 2023 -DROUGHT MANAGEMENT</vt:lpstr>
      <vt:lpstr>INTRODUCTION</vt:lpstr>
      <vt:lpstr>DROUGHT MANAGEMENT</vt:lpstr>
      <vt:lpstr>DROUGHT MANUAL  </vt:lpstr>
      <vt:lpstr>CRISIS MANAGEMENT PLAN (CMP) FOR DROUGHT</vt:lpstr>
      <vt:lpstr>ROLE OF GOVERNMENT OF INDIA</vt:lpstr>
      <vt:lpstr>ROLE OF STATE GOVERNMENTS</vt:lpstr>
      <vt:lpstr>ROLE OF STATE GOVERNMENTS..CONTD.</vt:lpstr>
      <vt:lpstr>IMD FORECAST AND SW MONSOON FOR KHARIF 2023</vt:lpstr>
      <vt:lpstr>DROUGHT PREPAREDNESS</vt:lpstr>
      <vt:lpstr>DROUGHT PREPAREDNESS ---contd.</vt:lpstr>
      <vt:lpstr>DROUGHT PREPAREDNESS ---contd.</vt:lpstr>
      <vt:lpstr>DROUGHT PREPAREDNESS ---contd.</vt:lpstr>
      <vt:lpstr> ADVICE TO ICAR</vt:lpstr>
      <vt:lpstr>GEOSPATIAL DROUGHT MONITORING PORTAL</vt:lpstr>
      <vt:lpstr>Slide 16</vt:lpstr>
      <vt:lpstr>Slide 17</vt:lpstr>
      <vt:lpstr>WHAT WE EXPECT FROM THE STATES?</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for revision of National Disaster Management Plan</dc:title>
  <dc:creator>User</dc:creator>
  <cp:lastModifiedBy>Administrator</cp:lastModifiedBy>
  <cp:revision>473</cp:revision>
  <dcterms:created xsi:type="dcterms:W3CDTF">2006-08-16T00:00:00Z</dcterms:created>
  <dcterms:modified xsi:type="dcterms:W3CDTF">2023-05-01T18:47:27Z</dcterms:modified>
</cp:coreProperties>
</file>