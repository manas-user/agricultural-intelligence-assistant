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5"/>
    <p:sldMasterId id="2147483661" r:id="rId6"/>
    <p:sldMasterId id="2147483648" r:id="rId7"/>
    <p:sldMasterId id="2147483668" r:id="rId8"/>
    <p:sldMasterId id="2147483670" r:id="rId9"/>
    <p:sldMasterId id="2147483672" r:id="rId10"/>
    <p:sldMasterId id="2147483698" r:id="rId11"/>
  </p:sldMasterIdLst>
  <p:notesMasterIdLst>
    <p:notesMasterId r:id="rId19"/>
  </p:notesMasterIdLst>
  <p:sldIdLst>
    <p:sldId id="256" r:id="rId12"/>
    <p:sldId id="395" r:id="rId13"/>
    <p:sldId id="397" r:id="rId14"/>
    <p:sldId id="396" r:id="rId15"/>
    <p:sldId id="403" r:id="rId16"/>
    <p:sldId id="404" r:id="rId17"/>
    <p:sldId id="309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ugnes, Francesca" initials="NF" lastIdx="2" clrIdx="0">
    <p:extLst>
      <p:ext uri="{19B8F6BF-5375-455C-9EA6-DF929625EA0E}">
        <p15:presenceInfo xmlns:p15="http://schemas.microsoft.com/office/powerpoint/2012/main" userId="S-1-5-21-1957994488-926492609-725345543-45029" providerId="AD"/>
      </p:ext>
    </p:extLst>
  </p:cmAuthor>
  <p:cmAuthor id="2" name="Mayala Ntumba, Dorcas" initials="MND" lastIdx="1" clrIdx="1">
    <p:extLst>
      <p:ext uri="{19B8F6BF-5375-455C-9EA6-DF929625EA0E}">
        <p15:presenceInfo xmlns:p15="http://schemas.microsoft.com/office/powerpoint/2012/main" userId="S-1-5-21-1957994488-926492609-725345543-456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492F"/>
    <a:srgbClr val="09CDCD"/>
    <a:srgbClr val="88C82A"/>
    <a:srgbClr val="2260A1"/>
    <a:srgbClr val="B7C849"/>
    <a:srgbClr val="99CC00"/>
    <a:srgbClr val="D0E5C1"/>
    <a:srgbClr val="7FBA27"/>
    <a:srgbClr val="70AD47"/>
    <a:srgbClr val="628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2" autoAdjust="0"/>
    <p:restoredTop sz="93883" autoAdjust="0"/>
  </p:normalViewPr>
  <p:slideViewPr>
    <p:cSldViewPr snapToGrid="0" snapToObjects="1">
      <p:cViewPr varScale="1">
        <p:scale>
          <a:sx n="64" d="100"/>
          <a:sy n="64" d="100"/>
        </p:scale>
        <p:origin x="6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6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FB902-6366-4AA3-9AAC-9B4CEACB82F2}" type="datetimeFigureOut">
              <a:rPr lang="en-GB" smtClean="0"/>
              <a:t>10/02/2023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F509D-57E5-4332-90DF-D2D796193A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56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F509D-57E5-4332-90DF-D2D796193A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83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F509D-57E5-4332-90DF-D2D796193AE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680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F509D-57E5-4332-90DF-D2D796193AE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62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F509D-57E5-4332-90DF-D2D796193AE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881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F509D-57E5-4332-90DF-D2D796193AE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99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4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3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14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937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72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415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49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30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3" name="Immagine 2" descr="Immagine che contiene sedendo, cibo, segnale&#10;&#10;Descrizione generata automaticamente">
            <a:extLst>
              <a:ext uri="{FF2B5EF4-FFF2-40B4-BE49-F238E27FC236}">
                <a16:creationId xmlns:a16="http://schemas.microsoft.com/office/drawing/2014/main" id="{3330A243-08D9-1349-9C91-E217A5524EE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6460" y="295543"/>
            <a:ext cx="3975316" cy="141786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9155262-7014-8D4E-B31D-88F187A54A1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6045200"/>
            <a:ext cx="121920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1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"/>
            <a:ext cx="12192000" cy="686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044184"/>
            <a:ext cx="12192000" cy="813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8E0E1-A0C9-1447-917D-0B33AA912F9D}"/>
              </a:ext>
            </a:extLst>
          </p:cNvPr>
          <p:cNvSpPr txBox="1"/>
          <p:nvPr userDrawn="1"/>
        </p:nvSpPr>
        <p:spPr>
          <a:xfrm>
            <a:off x="1282938" y="6276233"/>
            <a:ext cx="991765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Platform for Agricultural Risk Management | </a:t>
            </a: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Managing risks to improve farmers’ livelihoods</a:t>
            </a:r>
          </a:p>
        </p:txBody>
      </p:sp>
    </p:spTree>
    <p:extLst>
      <p:ext uri="{BB962C8B-B14F-4D97-AF65-F5344CB8AC3E}">
        <p14:creationId xmlns:p14="http://schemas.microsoft.com/office/powerpoint/2010/main" val="102417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41832" y="1"/>
            <a:ext cx="11511185" cy="923508"/>
          </a:xfrm>
          <a:prstGeom prst="rect">
            <a:avLst/>
          </a:prstGeom>
          <a:solidFill>
            <a:srgbClr val="88C8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" name="Rectangle 1"/>
          <p:cNvSpPr/>
          <p:nvPr userDrawn="1"/>
        </p:nvSpPr>
        <p:spPr>
          <a:xfrm>
            <a:off x="11340531" y="6414824"/>
            <a:ext cx="30970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D5ABAE-F283-0840-A4D4-AA3879259BC1}" type="slidenum">
              <a:rPr lang="it-IT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it-IT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egnaposto piè di pagina 4"/>
          <p:cNvSpPr txBox="1">
            <a:spLocks/>
          </p:cNvSpPr>
          <p:nvPr userDrawn="1"/>
        </p:nvSpPr>
        <p:spPr>
          <a:xfrm>
            <a:off x="10518758" y="248998"/>
            <a:ext cx="11058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Cambria" charset="0"/>
                <a:ea typeface="Cambria" charset="0"/>
                <a:cs typeface="Cambr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1200">
                <a:solidFill>
                  <a:schemeClr val="bg1"/>
                </a:solidFill>
                <a:effectLst/>
                <a:latin typeface="Cambria" charset="0"/>
                <a:ea typeface="Cambria" charset="0"/>
                <a:cs typeface="Cambria" charset="0"/>
              </a:rPr>
              <a:t>www.parm.org</a:t>
            </a:r>
            <a:endParaRPr lang="it-IT" sz="1000">
              <a:solidFill>
                <a:schemeClr val="bg1"/>
              </a:solidFill>
            </a:endParaRPr>
          </a:p>
        </p:txBody>
      </p:sp>
      <p:pic>
        <p:nvPicPr>
          <p:cNvPr id="10" name="Immagine 2" descr="Immagine che contiene sedendo, cibo, segnale&#10;&#10;Descrizione generata automaticamente">
            <a:extLst>
              <a:ext uri="{FF2B5EF4-FFF2-40B4-BE49-F238E27FC236}">
                <a16:creationId xmlns:a16="http://schemas.microsoft.com/office/drawing/2014/main" id="{3330A243-08D9-1349-9C91-E217A5524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" r="60977"/>
          <a:stretch/>
        </p:blipFill>
        <p:spPr>
          <a:xfrm>
            <a:off x="9767844" y="79014"/>
            <a:ext cx="837486" cy="76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8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"/>
            <a:ext cx="12192000" cy="686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044184"/>
            <a:ext cx="12192000" cy="813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8E0E1-A0C9-1447-917D-0B33AA912F9D}"/>
              </a:ext>
            </a:extLst>
          </p:cNvPr>
          <p:cNvSpPr txBox="1"/>
          <p:nvPr userDrawn="1"/>
        </p:nvSpPr>
        <p:spPr>
          <a:xfrm>
            <a:off x="0" y="6276233"/>
            <a:ext cx="12192000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Platforme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pour la </a:t>
            </a: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Gestion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des </a:t>
            </a: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Risques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Agricoles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|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Gérer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les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risques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pour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améliorer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les conditions de vie des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petits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agriculteurs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499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"/>
            <a:ext cx="12192000" cy="686003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044184"/>
            <a:ext cx="12192000" cy="813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8E0E1-A0C9-1447-917D-0B33AA912F9D}"/>
              </a:ext>
            </a:extLst>
          </p:cNvPr>
          <p:cNvSpPr txBox="1"/>
          <p:nvPr userDrawn="1"/>
        </p:nvSpPr>
        <p:spPr>
          <a:xfrm>
            <a:off x="1282938" y="6276233"/>
            <a:ext cx="991765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Platform for Agricultural Risk Management |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Managing risks to improve farmers’ livelihoods</a:t>
            </a:r>
          </a:p>
        </p:txBody>
      </p:sp>
    </p:spTree>
    <p:extLst>
      <p:ext uri="{BB962C8B-B14F-4D97-AF65-F5344CB8AC3E}">
        <p14:creationId xmlns:p14="http://schemas.microsoft.com/office/powerpoint/2010/main" val="417405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4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7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12">
            <a:extLst>
              <a:ext uri="{FF2B5EF4-FFF2-40B4-BE49-F238E27FC236}">
                <a16:creationId xmlns:a16="http://schemas.microsoft.com/office/drawing/2014/main" id="{C0D4A49D-4973-4544-9E8A-53589828D6C4}"/>
              </a:ext>
            </a:extLst>
          </p:cNvPr>
          <p:cNvSpPr txBox="1"/>
          <p:nvPr/>
        </p:nvSpPr>
        <p:spPr>
          <a:xfrm>
            <a:off x="407522" y="2662914"/>
            <a:ext cx="10863469" cy="1323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MANAGING RISKS TO IMPROVE FARMERS’ LIVELIHOODS AND ENSURE RESILIENT AGRICULTURAL SYSTEMS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6FA1F863-9916-447F-A88A-D9A2C228B1C6}"/>
              </a:ext>
            </a:extLst>
          </p:cNvPr>
          <p:cNvSpPr/>
          <p:nvPr/>
        </p:nvSpPr>
        <p:spPr>
          <a:xfrm>
            <a:off x="516853" y="2445754"/>
            <a:ext cx="4800582" cy="374686"/>
          </a:xfrm>
          <a:prstGeom prst="roundRect">
            <a:avLst>
              <a:gd name="adj" fmla="val 50000"/>
            </a:avLst>
          </a:prstGeom>
          <a:solidFill>
            <a:srgbClr val="88C82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G20 | 1</a:t>
            </a:r>
            <a:r>
              <a:rPr lang="en-GB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Meeting of Agriculture Deputies</a:t>
            </a:r>
          </a:p>
          <a:p>
            <a:pPr algn="ctr"/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3812A-7785-45E9-AC4F-CFEFE3CA46E4}"/>
              </a:ext>
            </a:extLst>
          </p:cNvPr>
          <p:cNvSpPr/>
          <p:nvPr/>
        </p:nvSpPr>
        <p:spPr>
          <a:xfrm>
            <a:off x="516853" y="4833954"/>
            <a:ext cx="336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Indore, 13-15 February 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4">
            <a:extLst>
              <a:ext uri="{FF2B5EF4-FFF2-40B4-BE49-F238E27FC236}">
                <a16:creationId xmlns:a16="http://schemas.microsoft.com/office/drawing/2014/main" id="{C7CBA6BD-7892-44B2-B31C-D0557CFE78BE}"/>
              </a:ext>
            </a:extLst>
          </p:cNvPr>
          <p:cNvSpPr txBox="1"/>
          <p:nvPr/>
        </p:nvSpPr>
        <p:spPr>
          <a:xfrm>
            <a:off x="838199" y="809497"/>
            <a:ext cx="109671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The Platform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for Agricultural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Risk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82C7F6-75C1-4DEF-8A48-FB807727C458}"/>
              </a:ext>
            </a:extLst>
          </p:cNvPr>
          <p:cNvSpPr txBox="1"/>
          <p:nvPr/>
        </p:nvSpPr>
        <p:spPr>
          <a:xfrm>
            <a:off x="838199" y="2503174"/>
            <a:ext cx="4028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15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The global partnership that can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15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connect the dots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9C2F1-F28A-441A-A521-AD1DBE8EB88E}"/>
              </a:ext>
            </a:extLst>
          </p:cNvPr>
          <p:cNvSpPr txBox="1"/>
          <p:nvPr/>
        </p:nvSpPr>
        <p:spPr>
          <a:xfrm>
            <a:off x="902342" y="3907968"/>
            <a:ext cx="212793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PARM Mandate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Enable the integration of a holistic agricultural risk management (ARM) approach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into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policy planning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institutional capacities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investment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 build resilience in the agricultural sector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through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value chains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043D17-2A3F-4EF4-97E5-E049983A0A5B}"/>
              </a:ext>
            </a:extLst>
          </p:cNvPr>
          <p:cNvCxnSpPr/>
          <p:nvPr/>
        </p:nvCxnSpPr>
        <p:spPr>
          <a:xfrm>
            <a:off x="1010093" y="4253026"/>
            <a:ext cx="12759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1591EEB-7986-4E1F-BE2D-4C8CEB8910AF}"/>
              </a:ext>
            </a:extLst>
          </p:cNvPr>
          <p:cNvSpPr txBox="1">
            <a:spLocks/>
          </p:cNvSpPr>
          <p:nvPr/>
        </p:nvSpPr>
        <p:spPr>
          <a:xfrm>
            <a:off x="615876" y="231533"/>
            <a:ext cx="10515600" cy="4982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GB" sz="3200" dirty="0">
                <a:cs typeface="Calibri Light" panose="020F0302020204030204" pitchFamily="34" charset="0"/>
              </a:rPr>
              <a:t>ABOUT  PARM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931C1D-F41B-497A-A4BB-AADE40951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636" y="989423"/>
            <a:ext cx="9065538" cy="582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8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E58E4-03C7-4945-B4B9-E8720ABC6028}"/>
              </a:ext>
            </a:extLst>
          </p:cNvPr>
          <p:cNvSpPr/>
          <p:nvPr/>
        </p:nvSpPr>
        <p:spPr>
          <a:xfrm>
            <a:off x="0" y="2557018"/>
            <a:ext cx="12192000" cy="36151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CDDB4-FE92-4765-BB73-C0AE75BA77AE}"/>
              </a:ext>
            </a:extLst>
          </p:cNvPr>
          <p:cNvSpPr txBox="1"/>
          <p:nvPr/>
        </p:nvSpPr>
        <p:spPr>
          <a:xfrm>
            <a:off x="802747" y="1112761"/>
            <a:ext cx="11227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300" b="1" i="0" u="none" strike="noStrike" kern="1200" cap="none" spc="-15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Moving away from a culture of  coping with disasters towards a smart management of risks</a:t>
            </a:r>
          </a:p>
        </p:txBody>
      </p:sp>
      <p:sp>
        <p:nvSpPr>
          <p:cNvPr id="4" name="CasellaDiTesto 4">
            <a:extLst>
              <a:ext uri="{FF2B5EF4-FFF2-40B4-BE49-F238E27FC236}">
                <a16:creationId xmlns:a16="http://schemas.microsoft.com/office/drawing/2014/main" id="{14784FD9-59E9-445D-970F-4E78DB56E1F2}"/>
              </a:ext>
            </a:extLst>
          </p:cNvPr>
          <p:cNvSpPr txBox="1"/>
          <p:nvPr/>
        </p:nvSpPr>
        <p:spPr>
          <a:xfrm>
            <a:off x="612443" y="85592"/>
            <a:ext cx="1096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Turning risks into opportunities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BBF8B2-023E-44D8-9F6E-65F35B5059B4}"/>
              </a:ext>
            </a:extLst>
          </p:cNvPr>
          <p:cNvSpPr txBox="1"/>
          <p:nvPr/>
        </p:nvSpPr>
        <p:spPr>
          <a:xfrm>
            <a:off x="1619250" y="2749753"/>
            <a:ext cx="135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Ag Risks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3C4C79-A86C-47C0-A892-49E873961C43}"/>
              </a:ext>
            </a:extLst>
          </p:cNvPr>
          <p:cNvSpPr txBox="1"/>
          <p:nvPr/>
        </p:nvSpPr>
        <p:spPr>
          <a:xfrm>
            <a:off x="6436497" y="2749839"/>
            <a:ext cx="1936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Opportunities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5A9D11-4568-4FB1-A59C-518E8641EF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52"/>
          <a:stretch/>
        </p:blipFill>
        <p:spPr>
          <a:xfrm>
            <a:off x="2832166" y="3200014"/>
            <a:ext cx="419288" cy="390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0F2A40-10B5-44E1-A893-08C9B2B8C263}"/>
              </a:ext>
            </a:extLst>
          </p:cNvPr>
          <p:cNvSpPr txBox="1"/>
          <p:nvPr/>
        </p:nvSpPr>
        <p:spPr>
          <a:xfrm>
            <a:off x="6416455" y="3105899"/>
            <a:ext cx="520733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Mitigating shocks to agriculture production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boosts productivity.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Diversifying production systems and improving stewardship of natural resources nurtures biodiversity.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6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GB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Curbing production volatility protects rural jobs</a:t>
            </a:r>
          </a:p>
          <a:p>
            <a:pPr lvl="0">
              <a:defRPr/>
            </a:pPr>
            <a:r>
              <a:rPr lang="en-GB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household food security.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Empowering women to manage risk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strengthens food security.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FD13A-9BD2-4644-9606-79A363B16E85}"/>
              </a:ext>
            </a:extLst>
          </p:cNvPr>
          <p:cNvSpPr/>
          <p:nvPr/>
        </p:nvSpPr>
        <p:spPr>
          <a:xfrm>
            <a:off x="838199" y="1708479"/>
            <a:ext cx="101510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By reducing uncertainty, effective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holistic agricultural risk management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(ARM) creates a more predictable environment for investments and sustained rural sector growth.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8883DC-0FDE-474A-9CCF-CB5696D7AFEF}"/>
              </a:ext>
            </a:extLst>
          </p:cNvPr>
          <p:cNvSpPr/>
          <p:nvPr/>
        </p:nvSpPr>
        <p:spPr>
          <a:xfrm>
            <a:off x="838199" y="3124001"/>
            <a:ext cx="192405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Climate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weather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Environmental and biological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Market and price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Policy and institutional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2B06E36-DB5B-4FE6-8214-C2B223847F5F}"/>
              </a:ext>
            </a:extLst>
          </p:cNvPr>
          <p:cNvSpPr/>
          <p:nvPr/>
        </p:nvSpPr>
        <p:spPr>
          <a:xfrm rot="2826529">
            <a:off x="-1245217" y="1888109"/>
            <a:ext cx="4838700" cy="4838700"/>
          </a:xfrm>
          <a:prstGeom prst="arc">
            <a:avLst/>
          </a:prstGeom>
          <a:ln w="381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2DECCE-F336-452C-A4C2-67FCE99584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00" b="23200"/>
          <a:stretch/>
        </p:blipFill>
        <p:spPr>
          <a:xfrm>
            <a:off x="2822641" y="4442044"/>
            <a:ext cx="419288" cy="6149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2B125C-DFEF-4043-A28D-6665E1DF78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r="-18912" b="50000"/>
          <a:stretch/>
        </p:blipFill>
        <p:spPr>
          <a:xfrm>
            <a:off x="2839304" y="3872198"/>
            <a:ext cx="498581" cy="662659"/>
          </a:xfrm>
          <a:prstGeom prst="rect">
            <a:avLst/>
          </a:prstGeom>
        </p:spPr>
      </p:pic>
      <p:sp>
        <p:nvSpPr>
          <p:cNvPr id="14" name="Arc 13">
            <a:extLst>
              <a:ext uri="{FF2B5EF4-FFF2-40B4-BE49-F238E27FC236}">
                <a16:creationId xmlns:a16="http://schemas.microsoft.com/office/drawing/2014/main" id="{9FFEC440-8C56-4C66-9942-4A53F0B10147}"/>
              </a:ext>
            </a:extLst>
          </p:cNvPr>
          <p:cNvSpPr/>
          <p:nvPr/>
        </p:nvSpPr>
        <p:spPr>
          <a:xfrm rot="18773471" flipH="1">
            <a:off x="5859304" y="1901026"/>
            <a:ext cx="4838700" cy="4838700"/>
          </a:xfrm>
          <a:prstGeom prst="arc">
            <a:avLst/>
          </a:prstGeom>
          <a:ln w="381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2" descr="Risultati immagini per institution icon">
            <a:extLst>
              <a:ext uri="{FF2B5EF4-FFF2-40B4-BE49-F238E27FC236}">
                <a16:creationId xmlns:a16="http://schemas.microsoft.com/office/drawing/2014/main" id="{428EF43F-F43D-42D7-ABC5-B79E20EE3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419" y="5183245"/>
            <a:ext cx="341255" cy="34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37CDD8-55D5-422E-B108-549FCC5E1858}"/>
              </a:ext>
            </a:extLst>
          </p:cNvPr>
          <p:cNvSpPr txBox="1"/>
          <p:nvPr/>
        </p:nvSpPr>
        <p:spPr>
          <a:xfrm>
            <a:off x="3640333" y="3811213"/>
            <a:ext cx="2204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Holistic approach 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Agricultural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1705168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4">
            <a:extLst>
              <a:ext uri="{FF2B5EF4-FFF2-40B4-BE49-F238E27FC236}">
                <a16:creationId xmlns:a16="http://schemas.microsoft.com/office/drawing/2014/main" id="{14784FD9-59E9-445D-970F-4E78DB56E1F2}"/>
              </a:ext>
            </a:extLst>
          </p:cNvPr>
          <p:cNvSpPr txBox="1"/>
          <p:nvPr/>
        </p:nvSpPr>
        <p:spPr>
          <a:xfrm>
            <a:off x="612443" y="85592"/>
            <a:ext cx="1096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OUR SERVICES</a:t>
            </a:r>
          </a:p>
        </p:txBody>
      </p:sp>
      <p:sp>
        <p:nvSpPr>
          <p:cNvPr id="25" name="CasellaDiTesto 4">
            <a:extLst>
              <a:ext uri="{FF2B5EF4-FFF2-40B4-BE49-F238E27FC236}">
                <a16:creationId xmlns:a16="http://schemas.microsoft.com/office/drawing/2014/main" id="{0201F99D-40D5-4238-9380-F4F55C9F484D}"/>
              </a:ext>
            </a:extLst>
          </p:cNvPr>
          <p:cNvSpPr txBox="1"/>
          <p:nvPr/>
        </p:nvSpPr>
        <p:spPr>
          <a:xfrm>
            <a:off x="3164153" y="2419722"/>
            <a:ext cx="2754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Leveraging investments in agriculture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146FFF-9512-4EB6-A764-0DFEFC0D6D7E}"/>
              </a:ext>
            </a:extLst>
          </p:cNvPr>
          <p:cNvSpPr/>
          <p:nvPr/>
        </p:nvSpPr>
        <p:spPr>
          <a:xfrm>
            <a:off x="3188688" y="3127608"/>
            <a:ext cx="24805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-15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Promoting private and public investments on agricultural  risk management tools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7B6F22A-5A70-4ED6-A360-F0C5B33D5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075" y="1167159"/>
            <a:ext cx="819150" cy="7905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95B5C8-EF0B-4D2C-BCE8-9EECAD4E7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417" y="1094599"/>
            <a:ext cx="828675" cy="8763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3627A8-8610-48EA-8574-2C69B7ACA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976" y="1188861"/>
            <a:ext cx="828675" cy="7810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F895573-B29B-4FFC-A561-C4B9FD795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3997" y="1095032"/>
            <a:ext cx="771525" cy="809625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E705FE7-F9DC-4438-8FF5-EA95862C0963}"/>
              </a:ext>
            </a:extLst>
          </p:cNvPr>
          <p:cNvSpPr/>
          <p:nvPr/>
        </p:nvSpPr>
        <p:spPr>
          <a:xfrm>
            <a:off x="995871" y="1816226"/>
            <a:ext cx="1601387" cy="41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Cambria" panose="02040503050406030204" pitchFamily="18" charset="0"/>
                <a:ea typeface="Cambria" panose="02040503050406030204" pitchFamily="18" charset="0"/>
              </a:rPr>
              <a:t>Assess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7E7222-0A50-4583-B685-A77C7702FF0F}"/>
              </a:ext>
            </a:extLst>
          </p:cNvPr>
          <p:cNvSpPr/>
          <p:nvPr/>
        </p:nvSpPr>
        <p:spPr>
          <a:xfrm>
            <a:off x="3685923" y="1830202"/>
            <a:ext cx="1762915" cy="41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Design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EAD27E-E366-4542-936D-3E9CD9C89172}"/>
              </a:ext>
            </a:extLst>
          </p:cNvPr>
          <p:cNvSpPr/>
          <p:nvPr/>
        </p:nvSpPr>
        <p:spPr>
          <a:xfrm>
            <a:off x="6993924" y="1831604"/>
            <a:ext cx="1282845" cy="41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Cambria" panose="02040503050406030204" pitchFamily="18" charset="0"/>
                <a:ea typeface="Cambria" panose="02040503050406030204" pitchFamily="18" charset="0"/>
              </a:rPr>
              <a:t>Learn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F1A4AD-C100-4FF5-86D3-05A62AFD8C85}"/>
              </a:ext>
            </a:extLst>
          </p:cNvPr>
          <p:cNvSpPr/>
          <p:nvPr/>
        </p:nvSpPr>
        <p:spPr>
          <a:xfrm>
            <a:off x="9762772" y="1816226"/>
            <a:ext cx="1282845" cy="41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latin typeface="Cambria" panose="02040503050406030204" pitchFamily="18" charset="0"/>
                <a:ea typeface="Cambria" panose="02040503050406030204" pitchFamily="18" charset="0"/>
              </a:rPr>
              <a:t>Share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C6198E-C4EE-436B-9394-454D561FDAF8}"/>
              </a:ext>
            </a:extLst>
          </p:cNvPr>
          <p:cNvSpPr txBox="1"/>
          <p:nvPr/>
        </p:nvSpPr>
        <p:spPr>
          <a:xfrm>
            <a:off x="6242836" y="3166250"/>
            <a:ext cx="30800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-15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Investing in human capital, enhancing skills and knowledge transfer on ARM</a:t>
            </a:r>
          </a:p>
        </p:txBody>
      </p:sp>
      <p:sp>
        <p:nvSpPr>
          <p:cNvPr id="38" name="CasellaDiTesto 4">
            <a:extLst>
              <a:ext uri="{FF2B5EF4-FFF2-40B4-BE49-F238E27FC236}">
                <a16:creationId xmlns:a16="http://schemas.microsoft.com/office/drawing/2014/main" id="{4B3D95E6-8464-4CBE-98BE-39E99AD9CDB1}"/>
              </a:ext>
            </a:extLst>
          </p:cNvPr>
          <p:cNvSpPr txBox="1"/>
          <p:nvPr/>
        </p:nvSpPr>
        <p:spPr>
          <a:xfrm>
            <a:off x="6242836" y="2445255"/>
            <a:ext cx="2534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Building capacities to manage risks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6E98E2-721F-4F23-86BC-CEB112349EF7}"/>
              </a:ext>
            </a:extLst>
          </p:cNvPr>
          <p:cNvSpPr txBox="1"/>
          <p:nvPr/>
        </p:nvSpPr>
        <p:spPr>
          <a:xfrm>
            <a:off x="270541" y="3153141"/>
            <a:ext cx="27546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-15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Development of an innovative diagnostic methodology to assess risks in a holistic manner</a:t>
            </a:r>
          </a:p>
        </p:txBody>
      </p:sp>
      <p:sp>
        <p:nvSpPr>
          <p:cNvPr id="40" name="CasellaDiTesto 4">
            <a:extLst>
              <a:ext uri="{FF2B5EF4-FFF2-40B4-BE49-F238E27FC236}">
                <a16:creationId xmlns:a16="http://schemas.microsoft.com/office/drawing/2014/main" id="{FAA852A9-D6B8-49B5-AC48-DF0E1B8BB778}"/>
              </a:ext>
            </a:extLst>
          </p:cNvPr>
          <p:cNvSpPr txBox="1"/>
          <p:nvPr/>
        </p:nvSpPr>
        <p:spPr>
          <a:xfrm>
            <a:off x="283485" y="2445255"/>
            <a:ext cx="2606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Bringing evidence to improve risk perception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18E6D3B-12F2-41D4-8B3B-19B33C42564F}"/>
              </a:ext>
            </a:extLst>
          </p:cNvPr>
          <p:cNvCxnSpPr>
            <a:cxnSpLocks/>
          </p:cNvCxnSpPr>
          <p:nvPr/>
        </p:nvCxnSpPr>
        <p:spPr>
          <a:xfrm flipV="1">
            <a:off x="3010990" y="859475"/>
            <a:ext cx="0" cy="4631871"/>
          </a:xfrm>
          <a:prstGeom prst="line">
            <a:avLst/>
          </a:prstGeom>
          <a:ln w="19050">
            <a:solidFill>
              <a:srgbClr val="92D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88CC1AA-8551-4A68-9053-C7BA69EB8779}"/>
              </a:ext>
            </a:extLst>
          </p:cNvPr>
          <p:cNvSpPr/>
          <p:nvPr/>
        </p:nvSpPr>
        <p:spPr>
          <a:xfrm>
            <a:off x="3165497" y="4451047"/>
            <a:ext cx="28037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PARM </a:t>
            </a:r>
            <a:r>
              <a:rPr lang="en-GB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facilitates the dialogue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between public and private actors to </a:t>
            </a:r>
            <a:r>
              <a:rPr lang="en-GB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right set of tools 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address the most pressing risks and  </a:t>
            </a:r>
            <a:r>
              <a:rPr lang="en-GB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attract new investments.</a:t>
            </a:r>
            <a:endParaRPr lang="en-GB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470025-790E-4DE9-B49D-D2D69EA8CFD8}"/>
              </a:ext>
            </a:extLst>
          </p:cNvPr>
          <p:cNvSpPr/>
          <p:nvPr/>
        </p:nvSpPr>
        <p:spPr>
          <a:xfrm>
            <a:off x="270541" y="4478473"/>
            <a:ext cx="26118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PARM develops</a:t>
            </a:r>
            <a:r>
              <a:rPr lang="en-GB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methodologies 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GB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risk analysis (holistic approach and value chains).</a:t>
            </a:r>
            <a:endParaRPr lang="en-GB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asellaDiTesto 4">
            <a:extLst>
              <a:ext uri="{FF2B5EF4-FFF2-40B4-BE49-F238E27FC236}">
                <a16:creationId xmlns:a16="http://schemas.microsoft.com/office/drawing/2014/main" id="{06E0F3C1-0444-46ED-B8CA-23E4D749AECB}"/>
              </a:ext>
            </a:extLst>
          </p:cNvPr>
          <p:cNvSpPr txBox="1"/>
          <p:nvPr/>
        </p:nvSpPr>
        <p:spPr>
          <a:xfrm>
            <a:off x="9274195" y="2417114"/>
            <a:ext cx="29054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900" b="1" spc="-150" dirty="0">
                <a:solidFill>
                  <a:prstClr val="black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Promoting </a:t>
            </a:r>
            <a:r>
              <a:rPr kumimoji="0" lang="en-GB" sz="19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knowledge exchanges and partnerships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DF33D4A-2C7B-469A-BDD1-D5D884AA897E}"/>
              </a:ext>
            </a:extLst>
          </p:cNvPr>
          <p:cNvSpPr/>
          <p:nvPr/>
        </p:nvSpPr>
        <p:spPr>
          <a:xfrm>
            <a:off x="9288106" y="4097679"/>
            <a:ext cx="28024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600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Through FARM-D Community of Practice, PARM facilitates the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generation, access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exchange of knowledge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stimulates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partnerships on ARM 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52B0CA-8550-4150-AAF6-FAFD4CEA1EE9}"/>
              </a:ext>
            </a:extLst>
          </p:cNvPr>
          <p:cNvSpPr txBox="1"/>
          <p:nvPr/>
        </p:nvSpPr>
        <p:spPr>
          <a:xfrm>
            <a:off x="9288106" y="3082016"/>
            <a:ext cx="2949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-15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Providing  spaces  for </a:t>
            </a:r>
            <a:r>
              <a:rPr lang="en-GB" sz="2000" b="1" spc="-150" dirty="0">
                <a:solidFill>
                  <a:srgbClr val="92D05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ARM Practitioners to exchange knowledge &amp; best practices</a:t>
            </a:r>
            <a:endParaRPr kumimoji="0" lang="en-GB" sz="2000" b="1" i="0" u="none" strike="noStrike" kern="1200" cap="none" spc="-15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8D4DAB-C953-445F-81E4-B0E460075680}"/>
              </a:ext>
            </a:extLst>
          </p:cNvPr>
          <p:cNvSpPr/>
          <p:nvPr/>
        </p:nvSpPr>
        <p:spPr>
          <a:xfrm>
            <a:off x="6276340" y="4171599"/>
            <a:ext cx="28893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PARM works towards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strengthening local stakeholders capacities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enhancing institutional capacities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manage agricultural risks, with a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lens.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EB4D6AA-EA1D-4055-8577-17CBE388FA2F}"/>
              </a:ext>
            </a:extLst>
          </p:cNvPr>
          <p:cNvCxnSpPr>
            <a:cxnSpLocks/>
          </p:cNvCxnSpPr>
          <p:nvPr/>
        </p:nvCxnSpPr>
        <p:spPr>
          <a:xfrm flipV="1">
            <a:off x="6142021" y="859475"/>
            <a:ext cx="0" cy="4631871"/>
          </a:xfrm>
          <a:prstGeom prst="line">
            <a:avLst/>
          </a:prstGeom>
          <a:ln w="19050">
            <a:solidFill>
              <a:srgbClr val="92D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D07B7F7-83C4-422D-8C17-ADE5F14E870B}"/>
              </a:ext>
            </a:extLst>
          </p:cNvPr>
          <p:cNvCxnSpPr>
            <a:cxnSpLocks/>
          </p:cNvCxnSpPr>
          <p:nvPr/>
        </p:nvCxnSpPr>
        <p:spPr>
          <a:xfrm flipV="1">
            <a:off x="9216098" y="932369"/>
            <a:ext cx="0" cy="4631871"/>
          </a:xfrm>
          <a:prstGeom prst="line">
            <a:avLst/>
          </a:prstGeom>
          <a:ln w="19050">
            <a:solidFill>
              <a:srgbClr val="92D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8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4">
            <a:extLst>
              <a:ext uri="{FF2B5EF4-FFF2-40B4-BE49-F238E27FC236}">
                <a16:creationId xmlns:a16="http://schemas.microsoft.com/office/drawing/2014/main" id="{14784FD9-59E9-445D-970F-4E78DB56E1F2}"/>
              </a:ext>
            </a:extLst>
          </p:cNvPr>
          <p:cNvSpPr txBox="1"/>
          <p:nvPr/>
        </p:nvSpPr>
        <p:spPr>
          <a:xfrm>
            <a:off x="685225" y="111579"/>
            <a:ext cx="1096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GB" sz="36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KEY RESULTS</a:t>
            </a:r>
            <a:endParaRPr kumimoji="0" lang="en-GB" sz="3600" b="1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143924-2F28-4FED-A196-4A691E86D604}"/>
              </a:ext>
            </a:extLst>
          </p:cNvPr>
          <p:cNvSpPr txBox="1"/>
          <p:nvPr/>
        </p:nvSpPr>
        <p:spPr>
          <a:xfrm>
            <a:off x="685225" y="1053174"/>
            <a:ext cx="780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15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2019 - 2022</a:t>
            </a:r>
            <a:endParaRPr kumimoji="0" lang="en-GB" sz="2400" b="1" i="0" u="none" strike="noStrike" kern="1200" cap="none" spc="-15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Rectangle 13">
            <a:extLst>
              <a:ext uri="{FF2B5EF4-FFF2-40B4-BE49-F238E27FC236}">
                <a16:creationId xmlns:a16="http://schemas.microsoft.com/office/drawing/2014/main" id="{DA3120B2-A8FE-4140-B107-0B90F4098B16}"/>
              </a:ext>
            </a:extLst>
          </p:cNvPr>
          <p:cNvSpPr/>
          <p:nvPr/>
        </p:nvSpPr>
        <p:spPr>
          <a:xfrm>
            <a:off x="6518917" y="1821093"/>
            <a:ext cx="92398" cy="383823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62D58-D87E-47AD-B882-D9C056B8374C}"/>
              </a:ext>
            </a:extLst>
          </p:cNvPr>
          <p:cNvSpPr/>
          <p:nvPr/>
        </p:nvSpPr>
        <p:spPr>
          <a:xfrm>
            <a:off x="-115747" y="1626781"/>
            <a:ext cx="12315310" cy="48271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B30106ED-0807-49FB-BBD5-516BFEA2E888}"/>
              </a:ext>
            </a:extLst>
          </p:cNvPr>
          <p:cNvSpPr/>
          <p:nvPr/>
        </p:nvSpPr>
        <p:spPr>
          <a:xfrm>
            <a:off x="85034" y="1956391"/>
            <a:ext cx="1635319" cy="1541715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2E4101CE-B2BA-449A-BD94-9224029F060B}"/>
              </a:ext>
            </a:extLst>
          </p:cNvPr>
          <p:cNvSpPr/>
          <p:nvPr/>
        </p:nvSpPr>
        <p:spPr>
          <a:xfrm>
            <a:off x="210944" y="2062716"/>
            <a:ext cx="1361917" cy="128299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GB" sz="75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GLOBAL PARTNERSHIPS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BED13-1119-4800-B833-6D5E65B5F70D}"/>
              </a:ext>
            </a:extLst>
          </p:cNvPr>
          <p:cNvSpPr/>
          <p:nvPr/>
        </p:nvSpPr>
        <p:spPr>
          <a:xfrm>
            <a:off x="1580667" y="2554484"/>
            <a:ext cx="565437" cy="613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7926F8-D79C-4616-ADD7-59085893FB1D}"/>
              </a:ext>
            </a:extLst>
          </p:cNvPr>
          <p:cNvSpPr/>
          <p:nvPr/>
        </p:nvSpPr>
        <p:spPr>
          <a:xfrm>
            <a:off x="2175300" y="2394546"/>
            <a:ext cx="1899079" cy="997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15000"/>
              </a:lnSpc>
              <a:buClr>
                <a:srgbClr val="7FBA27"/>
              </a:buClr>
              <a:buFont typeface="Arial" panose="020B0604020202020204" pitchFamily="34" charset="0"/>
              <a:buChar char="•"/>
              <a:defRPr/>
            </a:pPr>
            <a:r>
              <a:rPr lang="en-US" sz="900" spc="-1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InsuResilience</a:t>
            </a:r>
            <a:r>
              <a:rPr lang="en-US" sz="9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</a:t>
            </a:r>
            <a:r>
              <a:rPr lang="en-US" sz="9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Partnership 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Climate</a:t>
            </a:r>
            <a:r>
              <a:rPr lang="en-US" sz="900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lang="en-US" sz="900" spc="-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Financing</a:t>
            </a:r>
            <a:endParaRPr lang="en-GB" sz="9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7FBA27"/>
              </a:buClr>
              <a:buFont typeface="Arial" panose="020B0604020202020204" pitchFamily="34" charset="0"/>
              <a:buChar char="•"/>
              <a:defRPr/>
            </a:pP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Managing IFAD’s Insurance Facility (INSURED - funded by SIDA)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3396F5A-C5F3-4F4B-AF50-5A66CA19A29E}"/>
              </a:ext>
            </a:extLst>
          </p:cNvPr>
          <p:cNvSpPr/>
          <p:nvPr/>
        </p:nvSpPr>
        <p:spPr>
          <a:xfrm>
            <a:off x="6132818" y="2277448"/>
            <a:ext cx="2026488" cy="1358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15000"/>
              </a:lnSpc>
              <a:buClr>
                <a:srgbClr val="7FBA27"/>
              </a:buClr>
              <a:buFont typeface="Arial" panose="020B0604020202020204" pitchFamily="34" charset="0"/>
              <a:buChar char="•"/>
              <a:defRPr/>
            </a:pPr>
            <a:r>
              <a:rPr lang="en-GB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GB" sz="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lang="en-GB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study </a:t>
            </a:r>
            <a:r>
              <a:rPr lang="en-GB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completed and published for </a:t>
            </a:r>
            <a:r>
              <a:rPr lang="en-GB" sz="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Burkina Faso </a:t>
            </a:r>
            <a:r>
              <a:rPr lang="en-GB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holistic approach</a:t>
            </a:r>
            <a:r>
              <a:rPr lang="en-GB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9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lvl="0" indent="-171450">
              <a:lnSpc>
                <a:spcPct val="115000"/>
              </a:lnSpc>
              <a:buClr>
                <a:srgbClr val="7FBA27"/>
              </a:buClr>
              <a:buFont typeface="Arial" panose="020B0604020202020204" pitchFamily="34" charset="0"/>
              <a:buChar char="•"/>
              <a:defRPr/>
            </a:pP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 </a:t>
            </a:r>
            <a:r>
              <a:rPr lang="en-GB" sz="9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risk assessment study </a:t>
            </a: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ongoing in </a:t>
            </a:r>
            <a:r>
              <a:rPr lang="en-GB" sz="9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Madagascar</a:t>
            </a: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GB" sz="900" b="1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value chains</a:t>
            </a: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marL="171450" lvl="0" indent="-171450">
              <a:lnSpc>
                <a:spcPct val="115000"/>
              </a:lnSpc>
              <a:buClr>
                <a:srgbClr val="7FBA27"/>
              </a:buClr>
              <a:buFont typeface="Arial" panose="020B0604020202020204" pitchFamily="34" charset="0"/>
              <a:buChar char="•"/>
              <a:defRPr/>
            </a:pP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 risks assessment studies conducted in Ethiopia, Senegal and Niger (holistic approach) – PARM Horizon 1</a:t>
            </a:r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19FCF684-A262-4FF1-8643-B53E01476B47}"/>
              </a:ext>
            </a:extLst>
          </p:cNvPr>
          <p:cNvSpPr/>
          <p:nvPr/>
        </p:nvSpPr>
        <p:spPr>
          <a:xfrm>
            <a:off x="4135746" y="2005069"/>
            <a:ext cx="1635319" cy="1541715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4EA6BAA6-68E4-4A80-8441-2D24A9447BFC}"/>
              </a:ext>
            </a:extLst>
          </p:cNvPr>
          <p:cNvSpPr/>
          <p:nvPr/>
        </p:nvSpPr>
        <p:spPr>
          <a:xfrm>
            <a:off x="4261656" y="2111394"/>
            <a:ext cx="1361917" cy="128299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5</a:t>
            </a:r>
            <a:r>
              <a:rPr lang="en-GB" sz="120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GB" sz="75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STUDIES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FE58686-F2C1-4CCB-B834-02145194C85D}"/>
              </a:ext>
            </a:extLst>
          </p:cNvPr>
          <p:cNvSpPr/>
          <p:nvPr/>
        </p:nvSpPr>
        <p:spPr>
          <a:xfrm>
            <a:off x="5666105" y="2603162"/>
            <a:ext cx="540814" cy="613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9D0F1748-65C8-4951-AFAD-32D0D0313836}"/>
              </a:ext>
            </a:extLst>
          </p:cNvPr>
          <p:cNvSpPr/>
          <p:nvPr/>
        </p:nvSpPr>
        <p:spPr>
          <a:xfrm>
            <a:off x="8143942" y="2000603"/>
            <a:ext cx="1635319" cy="1541715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5540ABA0-1738-4F58-A6BB-2181BC16F39F}"/>
              </a:ext>
            </a:extLst>
          </p:cNvPr>
          <p:cNvSpPr/>
          <p:nvPr/>
        </p:nvSpPr>
        <p:spPr>
          <a:xfrm>
            <a:off x="8269852" y="2106928"/>
            <a:ext cx="1361917" cy="128299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+18000 </a:t>
            </a:r>
          </a:p>
          <a:p>
            <a:pPr algn="ctr"/>
            <a:r>
              <a:rPr lang="en-GB" sz="70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STAKEHOLDERS ENGAGED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4826C19-1754-4E9A-A31F-EC1D4E880E17}"/>
              </a:ext>
            </a:extLst>
          </p:cNvPr>
          <p:cNvSpPr/>
          <p:nvPr/>
        </p:nvSpPr>
        <p:spPr>
          <a:xfrm>
            <a:off x="9674301" y="2598696"/>
            <a:ext cx="589066" cy="613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9" name="object 13">
            <a:extLst>
              <a:ext uri="{FF2B5EF4-FFF2-40B4-BE49-F238E27FC236}">
                <a16:creationId xmlns:a16="http://schemas.microsoft.com/office/drawing/2014/main" id="{39AE59D4-7A87-4A1C-99BE-E340D02E0F1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1811" y="2655508"/>
            <a:ext cx="481634" cy="481647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83E54D5D-E357-41A8-B101-8641C117C685}"/>
              </a:ext>
            </a:extLst>
          </p:cNvPr>
          <p:cNvSpPr/>
          <p:nvPr/>
        </p:nvSpPr>
        <p:spPr>
          <a:xfrm>
            <a:off x="10188937" y="2105248"/>
            <a:ext cx="1899079" cy="1418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Awareness and capacity on</a:t>
            </a:r>
          </a:p>
          <a:p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been increased with over 300 </a:t>
            </a: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stakeholders taking part i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national workshops, over 600 trained on ARM, more than 2100 </a:t>
            </a:r>
            <a:r>
              <a:rPr lang="en-GB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 practitioners participating in webinars (FARM-D CoP), while over 15000 followers have been reached through social media (Facebook, Twitter, LinkedIn and Instagram).</a:t>
            </a:r>
          </a:p>
        </p:txBody>
      </p:sp>
      <p:sp>
        <p:nvSpPr>
          <p:cNvPr id="111" name="Rectangle 13">
            <a:extLst>
              <a:ext uri="{FF2B5EF4-FFF2-40B4-BE49-F238E27FC236}">
                <a16:creationId xmlns:a16="http://schemas.microsoft.com/office/drawing/2014/main" id="{C8AD3E3F-FD5D-455C-890C-06E650D3227C}"/>
              </a:ext>
            </a:extLst>
          </p:cNvPr>
          <p:cNvSpPr/>
          <p:nvPr/>
        </p:nvSpPr>
        <p:spPr>
          <a:xfrm>
            <a:off x="6534377" y="4151130"/>
            <a:ext cx="92398" cy="383823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718B7868-690B-49C9-9B8C-E9BBC74F62B5}"/>
              </a:ext>
            </a:extLst>
          </p:cNvPr>
          <p:cNvSpPr/>
          <p:nvPr/>
        </p:nvSpPr>
        <p:spPr>
          <a:xfrm>
            <a:off x="100494" y="4286428"/>
            <a:ext cx="1635319" cy="1541715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Flowchart: Connector 112">
            <a:extLst>
              <a:ext uri="{FF2B5EF4-FFF2-40B4-BE49-F238E27FC236}">
                <a16:creationId xmlns:a16="http://schemas.microsoft.com/office/drawing/2014/main" id="{38344F59-326B-4885-B7BD-DF2633BC6506}"/>
              </a:ext>
            </a:extLst>
          </p:cNvPr>
          <p:cNvSpPr/>
          <p:nvPr/>
        </p:nvSpPr>
        <p:spPr>
          <a:xfrm>
            <a:off x="226404" y="4392753"/>
            <a:ext cx="1361917" cy="128299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4</a:t>
            </a:r>
            <a:endParaRPr lang="en-GB" sz="1200" b="1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GB" sz="75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INVESTMENT PROJECTS DESIGNED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4995213-68CA-421E-995A-D988D26C3373}"/>
              </a:ext>
            </a:extLst>
          </p:cNvPr>
          <p:cNvSpPr/>
          <p:nvPr/>
        </p:nvSpPr>
        <p:spPr>
          <a:xfrm>
            <a:off x="1630853" y="4884521"/>
            <a:ext cx="565437" cy="613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2DE8DEA-A3E0-4F49-A7C0-81958F359E0B}"/>
              </a:ext>
            </a:extLst>
          </p:cNvPr>
          <p:cNvSpPr/>
          <p:nvPr/>
        </p:nvSpPr>
        <p:spPr>
          <a:xfrm>
            <a:off x="2252127" y="4451274"/>
            <a:ext cx="1899079" cy="1478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projects/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designed by governments and strategic partners with the support of PARM in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Ethiopia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Burkina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Faso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Senegal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Niger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GB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2BC5213-8772-48B3-AC4E-93140977AB9A}"/>
              </a:ext>
            </a:extLst>
          </p:cNvPr>
          <p:cNvSpPr/>
          <p:nvPr/>
        </p:nvSpPr>
        <p:spPr>
          <a:xfrm>
            <a:off x="6250743" y="4638285"/>
            <a:ext cx="1899079" cy="869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Governments have developed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policies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investing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ARM (Ethiopia, Burkina Faso, Senegal, Niger and Madagascar)</a:t>
            </a:r>
            <a:endParaRPr lang="en-GB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Flowchart: Connector 117">
            <a:extLst>
              <a:ext uri="{FF2B5EF4-FFF2-40B4-BE49-F238E27FC236}">
                <a16:creationId xmlns:a16="http://schemas.microsoft.com/office/drawing/2014/main" id="{F18BCACE-B68A-4B01-9FA6-A079415FC4D7}"/>
              </a:ext>
            </a:extLst>
          </p:cNvPr>
          <p:cNvSpPr/>
          <p:nvPr/>
        </p:nvSpPr>
        <p:spPr>
          <a:xfrm>
            <a:off x="4151206" y="4335106"/>
            <a:ext cx="1635319" cy="1541715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Flowchart: Connector 118">
            <a:extLst>
              <a:ext uri="{FF2B5EF4-FFF2-40B4-BE49-F238E27FC236}">
                <a16:creationId xmlns:a16="http://schemas.microsoft.com/office/drawing/2014/main" id="{36096FD4-1D3B-4050-AC35-7B65E9386943}"/>
              </a:ext>
            </a:extLst>
          </p:cNvPr>
          <p:cNvSpPr/>
          <p:nvPr/>
        </p:nvSpPr>
        <p:spPr>
          <a:xfrm>
            <a:off x="4277116" y="4441431"/>
            <a:ext cx="1361917" cy="128299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GB" sz="7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COUNTRIES WITH POLICY ENGANGEMENT</a:t>
            </a:r>
            <a:r>
              <a:rPr lang="en-GB" sz="75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 algn="ctr"/>
            <a:endParaRPr lang="en-GB" sz="900" b="1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5C35FFD-7F1A-4705-9CEB-45657D4838A5}"/>
              </a:ext>
            </a:extLst>
          </p:cNvPr>
          <p:cNvSpPr/>
          <p:nvPr/>
        </p:nvSpPr>
        <p:spPr>
          <a:xfrm>
            <a:off x="5681565" y="4933199"/>
            <a:ext cx="540814" cy="613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BF705CCD-2615-45D7-955F-FC0AC3E80A95}"/>
              </a:ext>
            </a:extLst>
          </p:cNvPr>
          <p:cNvSpPr/>
          <p:nvPr/>
        </p:nvSpPr>
        <p:spPr>
          <a:xfrm>
            <a:off x="8159402" y="4330640"/>
            <a:ext cx="1635319" cy="1541715"/>
          </a:xfrm>
          <a:prstGeom prst="flowChartConnector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Flowchart: Connector 122">
            <a:extLst>
              <a:ext uri="{FF2B5EF4-FFF2-40B4-BE49-F238E27FC236}">
                <a16:creationId xmlns:a16="http://schemas.microsoft.com/office/drawing/2014/main" id="{2A69A1F6-1171-430A-935C-61E039D41A0F}"/>
              </a:ext>
            </a:extLst>
          </p:cNvPr>
          <p:cNvSpPr/>
          <p:nvPr/>
        </p:nvSpPr>
        <p:spPr>
          <a:xfrm>
            <a:off x="8285312" y="4436965"/>
            <a:ext cx="1361917" cy="128299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GB" sz="700" b="1" dirty="0">
                <a:solidFill>
                  <a:schemeClr val="tx1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INSTITUTIONALI-SATION OF ARM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F93A01-2590-4A2D-BF34-B3B367D3E0CC}"/>
              </a:ext>
            </a:extLst>
          </p:cNvPr>
          <p:cNvSpPr/>
          <p:nvPr/>
        </p:nvSpPr>
        <p:spPr>
          <a:xfrm>
            <a:off x="9689761" y="4928733"/>
            <a:ext cx="589066" cy="613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A96B20B-2FAB-42D1-AE49-6B8C496725B3}"/>
              </a:ext>
            </a:extLst>
          </p:cNvPr>
          <p:cNvSpPr/>
          <p:nvPr/>
        </p:nvSpPr>
        <p:spPr>
          <a:xfrm>
            <a:off x="10278827" y="4392753"/>
            <a:ext cx="1899079" cy="16678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8120" marR="135890" indent="-8890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 test to </a:t>
            </a:r>
            <a:r>
              <a:rPr lang="en-US" sz="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institutionalize</a:t>
            </a:r>
            <a:endParaRPr lang="en-US" sz="900" b="1" spc="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8120" marR="135890" indent="-88900">
              <a:lnSpc>
                <a:spcPct val="100000"/>
              </a:lnSpc>
              <a:spcBef>
                <a:spcPts val="100"/>
              </a:spcBef>
            </a:pPr>
            <a:r>
              <a:rPr lang="en-US" sz="9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curricula</a:t>
            </a:r>
            <a:r>
              <a:rPr lang="en-US" sz="9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lang="en-US" sz="9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8120" marR="135890" indent="-8890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universities</a:t>
            </a:r>
            <a:r>
              <a:rPr lang="en-US" sz="900"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practices</a:t>
            </a:r>
            <a:r>
              <a:rPr lang="en-US" sz="9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  <a:p>
            <a:pPr marL="198120" marR="135890" indent="-88900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900" spc="-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sector</a:t>
            </a:r>
            <a:r>
              <a:rPr lang="en-US" sz="9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(POs,</a:t>
            </a:r>
            <a:endParaRPr lang="en-US" sz="900" spc="-3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8120" marR="135890" indent="-88900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MFIs)</a:t>
            </a:r>
            <a:r>
              <a:rPr lang="en-US" sz="900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900" spc="-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lasting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impact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lang="en-US" sz="9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8120" marR="135890" indent="-88900">
              <a:lnSpc>
                <a:spcPct val="100000"/>
              </a:lnSpc>
              <a:spcBef>
                <a:spcPts val="100"/>
              </a:spcBef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</a:t>
            </a:r>
            <a:r>
              <a:rPr lang="en-US" sz="900" spc="1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Capacity</a:t>
            </a: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Development</a:t>
            </a:r>
          </a:p>
          <a:p>
            <a:pPr marL="198120" marR="135890" indent="-88900">
              <a:lnSpc>
                <a:spcPct val="100000"/>
              </a:lnSpc>
              <a:spcBef>
                <a:spcPts val="100"/>
              </a:spcBef>
            </a:pPr>
            <a:r>
              <a:rPr lang="en-US" sz="9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(Senegal &amp; Burkina Faso).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GB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object 10">
            <a:extLst>
              <a:ext uri="{FF2B5EF4-FFF2-40B4-BE49-F238E27FC236}">
                <a16:creationId xmlns:a16="http://schemas.microsoft.com/office/drawing/2014/main" id="{F8273134-4E54-4794-89B3-6A008D6233FE}"/>
              </a:ext>
            </a:extLst>
          </p:cNvPr>
          <p:cNvSpPr/>
          <p:nvPr/>
        </p:nvSpPr>
        <p:spPr>
          <a:xfrm>
            <a:off x="5702831" y="2675590"/>
            <a:ext cx="481965" cy="481965"/>
          </a:xfrm>
          <a:custGeom>
            <a:avLst/>
            <a:gdLst/>
            <a:ahLst/>
            <a:cxnLst/>
            <a:rect l="l" t="t" r="r" b="b"/>
            <a:pathLst>
              <a:path w="481964" h="481964">
                <a:moveTo>
                  <a:pt x="240817" y="0"/>
                </a:moveTo>
                <a:lnTo>
                  <a:pt x="192282" y="4892"/>
                </a:lnTo>
                <a:lnTo>
                  <a:pt x="147077" y="18925"/>
                </a:lnTo>
                <a:lnTo>
                  <a:pt x="106170" y="41129"/>
                </a:lnTo>
                <a:lnTo>
                  <a:pt x="70531" y="70537"/>
                </a:lnTo>
                <a:lnTo>
                  <a:pt x="41125" y="106179"/>
                </a:lnTo>
                <a:lnTo>
                  <a:pt x="18923" y="147088"/>
                </a:lnTo>
                <a:lnTo>
                  <a:pt x="4892" y="192294"/>
                </a:lnTo>
                <a:lnTo>
                  <a:pt x="0" y="240830"/>
                </a:lnTo>
                <a:lnTo>
                  <a:pt x="4892" y="289361"/>
                </a:lnTo>
                <a:lnTo>
                  <a:pt x="18923" y="334564"/>
                </a:lnTo>
                <a:lnTo>
                  <a:pt x="41125" y="375471"/>
                </a:lnTo>
                <a:lnTo>
                  <a:pt x="70531" y="411111"/>
                </a:lnTo>
                <a:lnTo>
                  <a:pt x="106170" y="440518"/>
                </a:lnTo>
                <a:lnTo>
                  <a:pt x="147077" y="462722"/>
                </a:lnTo>
                <a:lnTo>
                  <a:pt x="192282" y="476754"/>
                </a:lnTo>
                <a:lnTo>
                  <a:pt x="240817" y="481647"/>
                </a:lnTo>
                <a:lnTo>
                  <a:pt x="289352" y="476754"/>
                </a:lnTo>
                <a:lnTo>
                  <a:pt x="334557" y="462722"/>
                </a:lnTo>
                <a:lnTo>
                  <a:pt x="375463" y="440518"/>
                </a:lnTo>
                <a:lnTo>
                  <a:pt x="411103" y="411111"/>
                </a:lnTo>
                <a:lnTo>
                  <a:pt x="440508" y="375471"/>
                </a:lnTo>
                <a:lnTo>
                  <a:pt x="462711" y="334564"/>
                </a:lnTo>
                <a:lnTo>
                  <a:pt x="476742" y="289361"/>
                </a:lnTo>
                <a:lnTo>
                  <a:pt x="481634" y="240830"/>
                </a:lnTo>
                <a:lnTo>
                  <a:pt x="476742" y="192294"/>
                </a:lnTo>
                <a:lnTo>
                  <a:pt x="462711" y="147088"/>
                </a:lnTo>
                <a:lnTo>
                  <a:pt x="440508" y="106179"/>
                </a:lnTo>
                <a:lnTo>
                  <a:pt x="411103" y="70537"/>
                </a:lnTo>
                <a:lnTo>
                  <a:pt x="375463" y="41129"/>
                </a:lnTo>
                <a:lnTo>
                  <a:pt x="334557" y="18925"/>
                </a:lnTo>
                <a:lnTo>
                  <a:pt x="289352" y="4892"/>
                </a:lnTo>
                <a:lnTo>
                  <a:pt x="240817" y="0"/>
                </a:lnTo>
                <a:close/>
              </a:path>
            </a:pathLst>
          </a:custGeom>
          <a:solidFill>
            <a:srgbClr val="85BD4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F1C49F72-75E6-4AC5-ABD7-5D54B72D8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041" y="2758505"/>
            <a:ext cx="270466" cy="313171"/>
          </a:xfrm>
          <a:prstGeom prst="rect">
            <a:avLst/>
          </a:prstGeom>
        </p:spPr>
      </p:pic>
      <p:sp>
        <p:nvSpPr>
          <p:cNvPr id="144" name="object 10">
            <a:extLst>
              <a:ext uri="{FF2B5EF4-FFF2-40B4-BE49-F238E27FC236}">
                <a16:creationId xmlns:a16="http://schemas.microsoft.com/office/drawing/2014/main" id="{F4985C74-C55C-472A-A8F8-5ECC6CC8DB65}"/>
              </a:ext>
            </a:extLst>
          </p:cNvPr>
          <p:cNvSpPr/>
          <p:nvPr/>
        </p:nvSpPr>
        <p:spPr>
          <a:xfrm>
            <a:off x="9727851" y="4994612"/>
            <a:ext cx="481965" cy="481965"/>
          </a:xfrm>
          <a:custGeom>
            <a:avLst/>
            <a:gdLst/>
            <a:ahLst/>
            <a:cxnLst/>
            <a:rect l="l" t="t" r="r" b="b"/>
            <a:pathLst>
              <a:path w="481964" h="481964">
                <a:moveTo>
                  <a:pt x="240817" y="0"/>
                </a:moveTo>
                <a:lnTo>
                  <a:pt x="192282" y="4892"/>
                </a:lnTo>
                <a:lnTo>
                  <a:pt x="147077" y="18925"/>
                </a:lnTo>
                <a:lnTo>
                  <a:pt x="106170" y="41129"/>
                </a:lnTo>
                <a:lnTo>
                  <a:pt x="70531" y="70537"/>
                </a:lnTo>
                <a:lnTo>
                  <a:pt x="41125" y="106179"/>
                </a:lnTo>
                <a:lnTo>
                  <a:pt x="18923" y="147088"/>
                </a:lnTo>
                <a:lnTo>
                  <a:pt x="4892" y="192294"/>
                </a:lnTo>
                <a:lnTo>
                  <a:pt x="0" y="240830"/>
                </a:lnTo>
                <a:lnTo>
                  <a:pt x="4892" y="289361"/>
                </a:lnTo>
                <a:lnTo>
                  <a:pt x="18923" y="334564"/>
                </a:lnTo>
                <a:lnTo>
                  <a:pt x="41125" y="375471"/>
                </a:lnTo>
                <a:lnTo>
                  <a:pt x="70531" y="411111"/>
                </a:lnTo>
                <a:lnTo>
                  <a:pt x="106170" y="440518"/>
                </a:lnTo>
                <a:lnTo>
                  <a:pt x="147077" y="462722"/>
                </a:lnTo>
                <a:lnTo>
                  <a:pt x="192282" y="476754"/>
                </a:lnTo>
                <a:lnTo>
                  <a:pt x="240817" y="481647"/>
                </a:lnTo>
                <a:lnTo>
                  <a:pt x="289352" y="476754"/>
                </a:lnTo>
                <a:lnTo>
                  <a:pt x="334557" y="462722"/>
                </a:lnTo>
                <a:lnTo>
                  <a:pt x="375463" y="440518"/>
                </a:lnTo>
                <a:lnTo>
                  <a:pt x="411103" y="411111"/>
                </a:lnTo>
                <a:lnTo>
                  <a:pt x="440508" y="375471"/>
                </a:lnTo>
                <a:lnTo>
                  <a:pt x="462711" y="334564"/>
                </a:lnTo>
                <a:lnTo>
                  <a:pt x="476742" y="289361"/>
                </a:lnTo>
                <a:lnTo>
                  <a:pt x="481634" y="240830"/>
                </a:lnTo>
                <a:lnTo>
                  <a:pt x="476742" y="192294"/>
                </a:lnTo>
                <a:lnTo>
                  <a:pt x="462711" y="147088"/>
                </a:lnTo>
                <a:lnTo>
                  <a:pt x="440508" y="106179"/>
                </a:lnTo>
                <a:lnTo>
                  <a:pt x="411103" y="70537"/>
                </a:lnTo>
                <a:lnTo>
                  <a:pt x="375463" y="41129"/>
                </a:lnTo>
                <a:lnTo>
                  <a:pt x="334557" y="18925"/>
                </a:lnTo>
                <a:lnTo>
                  <a:pt x="289352" y="4892"/>
                </a:lnTo>
                <a:lnTo>
                  <a:pt x="240817" y="0"/>
                </a:lnTo>
                <a:close/>
              </a:path>
            </a:pathLst>
          </a:custGeom>
          <a:solidFill>
            <a:srgbClr val="85BD4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8" name="object 25">
            <a:extLst>
              <a:ext uri="{FF2B5EF4-FFF2-40B4-BE49-F238E27FC236}">
                <a16:creationId xmlns:a16="http://schemas.microsoft.com/office/drawing/2014/main" id="{C3C1C7D6-F432-4A6D-8183-078BEC6AD774}"/>
              </a:ext>
            </a:extLst>
          </p:cNvPr>
          <p:cNvSpPr/>
          <p:nvPr/>
        </p:nvSpPr>
        <p:spPr>
          <a:xfrm>
            <a:off x="9817105" y="5092994"/>
            <a:ext cx="322905" cy="304351"/>
          </a:xfrm>
          <a:custGeom>
            <a:avLst/>
            <a:gdLst/>
            <a:ahLst/>
            <a:cxnLst/>
            <a:rect l="l" t="t" r="r" b="b"/>
            <a:pathLst>
              <a:path w="410845" h="393700">
                <a:moveTo>
                  <a:pt x="25577" y="374446"/>
                </a:moveTo>
                <a:lnTo>
                  <a:pt x="24168" y="373100"/>
                </a:lnTo>
                <a:lnTo>
                  <a:pt x="22428" y="373100"/>
                </a:lnTo>
                <a:lnTo>
                  <a:pt x="13106" y="373100"/>
                </a:lnTo>
                <a:lnTo>
                  <a:pt x="11696" y="374510"/>
                </a:lnTo>
                <a:lnTo>
                  <a:pt x="11696" y="377990"/>
                </a:lnTo>
                <a:lnTo>
                  <a:pt x="13106" y="379399"/>
                </a:lnTo>
                <a:lnTo>
                  <a:pt x="24168" y="379399"/>
                </a:lnTo>
                <a:lnTo>
                  <a:pt x="25577" y="377990"/>
                </a:lnTo>
                <a:lnTo>
                  <a:pt x="25577" y="374446"/>
                </a:lnTo>
                <a:close/>
              </a:path>
              <a:path w="410845" h="393700">
                <a:moveTo>
                  <a:pt x="32308" y="381177"/>
                </a:moveTo>
                <a:lnTo>
                  <a:pt x="30899" y="379768"/>
                </a:lnTo>
                <a:lnTo>
                  <a:pt x="29159" y="379768"/>
                </a:lnTo>
                <a:lnTo>
                  <a:pt x="27419" y="379768"/>
                </a:lnTo>
                <a:lnTo>
                  <a:pt x="26009" y="381177"/>
                </a:lnTo>
                <a:lnTo>
                  <a:pt x="26009" y="392239"/>
                </a:lnTo>
                <a:lnTo>
                  <a:pt x="27419" y="393649"/>
                </a:lnTo>
                <a:lnTo>
                  <a:pt x="30899" y="393649"/>
                </a:lnTo>
                <a:lnTo>
                  <a:pt x="32308" y="392239"/>
                </a:lnTo>
                <a:lnTo>
                  <a:pt x="32308" y="381177"/>
                </a:lnTo>
                <a:close/>
              </a:path>
              <a:path w="410845" h="393700">
                <a:moveTo>
                  <a:pt x="32308" y="360184"/>
                </a:moveTo>
                <a:lnTo>
                  <a:pt x="30899" y="358775"/>
                </a:lnTo>
                <a:lnTo>
                  <a:pt x="29159" y="358775"/>
                </a:lnTo>
                <a:lnTo>
                  <a:pt x="27419" y="358775"/>
                </a:lnTo>
                <a:lnTo>
                  <a:pt x="26009" y="360184"/>
                </a:lnTo>
                <a:lnTo>
                  <a:pt x="26009" y="371246"/>
                </a:lnTo>
                <a:lnTo>
                  <a:pt x="27419" y="372656"/>
                </a:lnTo>
                <a:lnTo>
                  <a:pt x="30899" y="372656"/>
                </a:lnTo>
                <a:lnTo>
                  <a:pt x="32308" y="371246"/>
                </a:lnTo>
                <a:lnTo>
                  <a:pt x="32308" y="360184"/>
                </a:lnTo>
                <a:close/>
              </a:path>
              <a:path w="410845" h="393700">
                <a:moveTo>
                  <a:pt x="46634" y="376250"/>
                </a:moveTo>
                <a:lnTo>
                  <a:pt x="46570" y="374446"/>
                </a:lnTo>
                <a:lnTo>
                  <a:pt x="45161" y="373100"/>
                </a:lnTo>
                <a:lnTo>
                  <a:pt x="43421" y="373100"/>
                </a:lnTo>
                <a:lnTo>
                  <a:pt x="34163" y="373100"/>
                </a:lnTo>
                <a:lnTo>
                  <a:pt x="32753" y="374510"/>
                </a:lnTo>
                <a:lnTo>
                  <a:pt x="32753" y="377990"/>
                </a:lnTo>
                <a:lnTo>
                  <a:pt x="34163" y="379399"/>
                </a:lnTo>
                <a:lnTo>
                  <a:pt x="45224" y="379399"/>
                </a:lnTo>
                <a:lnTo>
                  <a:pt x="46634" y="377990"/>
                </a:lnTo>
                <a:lnTo>
                  <a:pt x="46634" y="376250"/>
                </a:lnTo>
                <a:close/>
              </a:path>
              <a:path w="410845" h="393700">
                <a:moveTo>
                  <a:pt x="72644" y="93154"/>
                </a:moveTo>
                <a:lnTo>
                  <a:pt x="70523" y="91033"/>
                </a:lnTo>
                <a:lnTo>
                  <a:pt x="63207" y="91033"/>
                </a:lnTo>
                <a:lnTo>
                  <a:pt x="63207" y="100406"/>
                </a:lnTo>
                <a:lnTo>
                  <a:pt x="63207" y="116789"/>
                </a:lnTo>
                <a:lnTo>
                  <a:pt x="46824" y="116789"/>
                </a:lnTo>
                <a:lnTo>
                  <a:pt x="46824" y="100406"/>
                </a:lnTo>
                <a:lnTo>
                  <a:pt x="63207" y="100406"/>
                </a:lnTo>
                <a:lnTo>
                  <a:pt x="63207" y="91033"/>
                </a:lnTo>
                <a:lnTo>
                  <a:pt x="39573" y="91033"/>
                </a:lnTo>
                <a:lnTo>
                  <a:pt x="37452" y="93154"/>
                </a:lnTo>
                <a:lnTo>
                  <a:pt x="37452" y="124040"/>
                </a:lnTo>
                <a:lnTo>
                  <a:pt x="39573" y="126161"/>
                </a:lnTo>
                <a:lnTo>
                  <a:pt x="70459" y="126161"/>
                </a:lnTo>
                <a:lnTo>
                  <a:pt x="72580" y="124040"/>
                </a:lnTo>
                <a:lnTo>
                  <a:pt x="72580" y="116789"/>
                </a:lnTo>
                <a:lnTo>
                  <a:pt x="72580" y="100406"/>
                </a:lnTo>
                <a:lnTo>
                  <a:pt x="72644" y="95719"/>
                </a:lnTo>
                <a:lnTo>
                  <a:pt x="72644" y="93154"/>
                </a:lnTo>
                <a:close/>
              </a:path>
              <a:path w="410845" h="393700">
                <a:moveTo>
                  <a:pt x="72644" y="40030"/>
                </a:moveTo>
                <a:lnTo>
                  <a:pt x="70523" y="37909"/>
                </a:lnTo>
                <a:lnTo>
                  <a:pt x="63207" y="37909"/>
                </a:lnTo>
                <a:lnTo>
                  <a:pt x="63207" y="47282"/>
                </a:lnTo>
                <a:lnTo>
                  <a:pt x="63207" y="63677"/>
                </a:lnTo>
                <a:lnTo>
                  <a:pt x="46824" y="63677"/>
                </a:lnTo>
                <a:lnTo>
                  <a:pt x="46824" y="47282"/>
                </a:lnTo>
                <a:lnTo>
                  <a:pt x="63207" y="47282"/>
                </a:lnTo>
                <a:lnTo>
                  <a:pt x="63207" y="37909"/>
                </a:lnTo>
                <a:lnTo>
                  <a:pt x="39573" y="37909"/>
                </a:lnTo>
                <a:lnTo>
                  <a:pt x="37452" y="40030"/>
                </a:lnTo>
                <a:lnTo>
                  <a:pt x="37452" y="70916"/>
                </a:lnTo>
                <a:lnTo>
                  <a:pt x="39573" y="73037"/>
                </a:lnTo>
                <a:lnTo>
                  <a:pt x="70459" y="73037"/>
                </a:lnTo>
                <a:lnTo>
                  <a:pt x="72580" y="70916"/>
                </a:lnTo>
                <a:lnTo>
                  <a:pt x="72580" y="63677"/>
                </a:lnTo>
                <a:lnTo>
                  <a:pt x="72580" y="47282"/>
                </a:lnTo>
                <a:lnTo>
                  <a:pt x="72644" y="42595"/>
                </a:lnTo>
                <a:lnTo>
                  <a:pt x="72644" y="40030"/>
                </a:lnTo>
                <a:close/>
              </a:path>
              <a:path w="410845" h="393700">
                <a:moveTo>
                  <a:pt x="72656" y="146278"/>
                </a:moveTo>
                <a:lnTo>
                  <a:pt x="70535" y="144157"/>
                </a:lnTo>
                <a:lnTo>
                  <a:pt x="63220" y="144157"/>
                </a:lnTo>
                <a:lnTo>
                  <a:pt x="63220" y="153593"/>
                </a:lnTo>
                <a:lnTo>
                  <a:pt x="63220" y="169976"/>
                </a:lnTo>
                <a:lnTo>
                  <a:pt x="46837" y="169976"/>
                </a:lnTo>
                <a:lnTo>
                  <a:pt x="46837" y="153593"/>
                </a:lnTo>
                <a:lnTo>
                  <a:pt x="63220" y="153593"/>
                </a:lnTo>
                <a:lnTo>
                  <a:pt x="63220" y="144157"/>
                </a:lnTo>
                <a:lnTo>
                  <a:pt x="39585" y="144157"/>
                </a:lnTo>
                <a:lnTo>
                  <a:pt x="37465" y="146278"/>
                </a:lnTo>
                <a:lnTo>
                  <a:pt x="37465" y="177165"/>
                </a:lnTo>
                <a:lnTo>
                  <a:pt x="39585" y="179285"/>
                </a:lnTo>
                <a:lnTo>
                  <a:pt x="70472" y="179285"/>
                </a:lnTo>
                <a:lnTo>
                  <a:pt x="72593" y="177165"/>
                </a:lnTo>
                <a:lnTo>
                  <a:pt x="72593" y="169976"/>
                </a:lnTo>
                <a:lnTo>
                  <a:pt x="72593" y="153593"/>
                </a:lnTo>
                <a:lnTo>
                  <a:pt x="72656" y="146278"/>
                </a:lnTo>
                <a:close/>
              </a:path>
              <a:path w="410845" h="393700">
                <a:moveTo>
                  <a:pt x="99695" y="271780"/>
                </a:moveTo>
                <a:lnTo>
                  <a:pt x="98285" y="270370"/>
                </a:lnTo>
                <a:lnTo>
                  <a:pt x="87757" y="270370"/>
                </a:lnTo>
                <a:lnTo>
                  <a:pt x="86017" y="270370"/>
                </a:lnTo>
                <a:lnTo>
                  <a:pt x="84607" y="271780"/>
                </a:lnTo>
                <a:lnTo>
                  <a:pt x="84607" y="275259"/>
                </a:lnTo>
                <a:lnTo>
                  <a:pt x="86017" y="276669"/>
                </a:lnTo>
                <a:lnTo>
                  <a:pt x="98285" y="276669"/>
                </a:lnTo>
                <a:lnTo>
                  <a:pt x="99695" y="275259"/>
                </a:lnTo>
                <a:lnTo>
                  <a:pt x="99695" y="271780"/>
                </a:lnTo>
                <a:close/>
              </a:path>
              <a:path w="410845" h="393700">
                <a:moveTo>
                  <a:pt x="107530" y="255155"/>
                </a:moveTo>
                <a:lnTo>
                  <a:pt x="106121" y="253746"/>
                </a:lnTo>
                <a:lnTo>
                  <a:pt x="102641" y="253746"/>
                </a:lnTo>
                <a:lnTo>
                  <a:pt x="101231" y="255155"/>
                </a:lnTo>
                <a:lnTo>
                  <a:pt x="101231" y="265684"/>
                </a:lnTo>
                <a:lnTo>
                  <a:pt x="101295" y="267423"/>
                </a:lnTo>
                <a:lnTo>
                  <a:pt x="102704" y="268833"/>
                </a:lnTo>
                <a:lnTo>
                  <a:pt x="104381" y="268833"/>
                </a:lnTo>
                <a:lnTo>
                  <a:pt x="106121" y="268833"/>
                </a:lnTo>
                <a:lnTo>
                  <a:pt x="107530" y="267423"/>
                </a:lnTo>
                <a:lnTo>
                  <a:pt x="107530" y="255155"/>
                </a:lnTo>
                <a:close/>
              </a:path>
              <a:path w="410845" h="393700">
                <a:moveTo>
                  <a:pt x="107594" y="279628"/>
                </a:moveTo>
                <a:lnTo>
                  <a:pt x="106184" y="278218"/>
                </a:lnTo>
                <a:lnTo>
                  <a:pt x="102704" y="278218"/>
                </a:lnTo>
                <a:lnTo>
                  <a:pt x="101295" y="279628"/>
                </a:lnTo>
                <a:lnTo>
                  <a:pt x="101295" y="291896"/>
                </a:lnTo>
                <a:lnTo>
                  <a:pt x="102704" y="293306"/>
                </a:lnTo>
                <a:lnTo>
                  <a:pt x="104444" y="293306"/>
                </a:lnTo>
                <a:lnTo>
                  <a:pt x="106184" y="293306"/>
                </a:lnTo>
                <a:lnTo>
                  <a:pt x="107594" y="291896"/>
                </a:lnTo>
                <a:lnTo>
                  <a:pt x="107594" y="279628"/>
                </a:lnTo>
                <a:close/>
              </a:path>
              <a:path w="410845" h="393700">
                <a:moveTo>
                  <a:pt x="124218" y="271780"/>
                </a:moveTo>
                <a:lnTo>
                  <a:pt x="122809" y="270370"/>
                </a:lnTo>
                <a:lnTo>
                  <a:pt x="112280" y="270370"/>
                </a:lnTo>
                <a:lnTo>
                  <a:pt x="110540" y="270370"/>
                </a:lnTo>
                <a:lnTo>
                  <a:pt x="109131" y="271780"/>
                </a:lnTo>
                <a:lnTo>
                  <a:pt x="109131" y="275259"/>
                </a:lnTo>
                <a:lnTo>
                  <a:pt x="110540" y="276669"/>
                </a:lnTo>
                <a:lnTo>
                  <a:pt x="122809" y="276669"/>
                </a:lnTo>
                <a:lnTo>
                  <a:pt x="124218" y="275259"/>
                </a:lnTo>
                <a:lnTo>
                  <a:pt x="124218" y="271780"/>
                </a:lnTo>
                <a:close/>
              </a:path>
              <a:path w="410845" h="393700">
                <a:moveTo>
                  <a:pt x="235292" y="256959"/>
                </a:moveTo>
                <a:lnTo>
                  <a:pt x="229768" y="251485"/>
                </a:lnTo>
                <a:lnTo>
                  <a:pt x="229006" y="251485"/>
                </a:lnTo>
                <a:lnTo>
                  <a:pt x="229006" y="260413"/>
                </a:lnTo>
                <a:lnTo>
                  <a:pt x="229006" y="266979"/>
                </a:lnTo>
                <a:lnTo>
                  <a:pt x="226301" y="269608"/>
                </a:lnTo>
                <a:lnTo>
                  <a:pt x="219621" y="269608"/>
                </a:lnTo>
                <a:lnTo>
                  <a:pt x="216979" y="266979"/>
                </a:lnTo>
                <a:lnTo>
                  <a:pt x="216979" y="260413"/>
                </a:lnTo>
                <a:lnTo>
                  <a:pt x="219684" y="257784"/>
                </a:lnTo>
                <a:lnTo>
                  <a:pt x="226301" y="257784"/>
                </a:lnTo>
                <a:lnTo>
                  <a:pt x="229006" y="260413"/>
                </a:lnTo>
                <a:lnTo>
                  <a:pt x="229006" y="251485"/>
                </a:lnTo>
                <a:lnTo>
                  <a:pt x="216217" y="251485"/>
                </a:lnTo>
                <a:lnTo>
                  <a:pt x="210693" y="256959"/>
                </a:lnTo>
                <a:lnTo>
                  <a:pt x="210756" y="270433"/>
                </a:lnTo>
                <a:lnTo>
                  <a:pt x="216217" y="275831"/>
                </a:lnTo>
                <a:lnTo>
                  <a:pt x="229781" y="275831"/>
                </a:lnTo>
                <a:lnTo>
                  <a:pt x="235292" y="270433"/>
                </a:lnTo>
                <a:lnTo>
                  <a:pt x="235292" y="269608"/>
                </a:lnTo>
                <a:lnTo>
                  <a:pt x="235292" y="257784"/>
                </a:lnTo>
                <a:lnTo>
                  <a:pt x="235292" y="256959"/>
                </a:lnTo>
                <a:close/>
              </a:path>
              <a:path w="410845" h="393700">
                <a:moveTo>
                  <a:pt x="246481" y="159194"/>
                </a:moveTo>
                <a:lnTo>
                  <a:pt x="244360" y="157073"/>
                </a:lnTo>
                <a:lnTo>
                  <a:pt x="98158" y="157060"/>
                </a:lnTo>
                <a:lnTo>
                  <a:pt x="95592" y="157060"/>
                </a:lnTo>
                <a:lnTo>
                  <a:pt x="93472" y="159181"/>
                </a:lnTo>
                <a:lnTo>
                  <a:pt x="93472" y="164312"/>
                </a:lnTo>
                <a:lnTo>
                  <a:pt x="95592" y="166433"/>
                </a:lnTo>
                <a:lnTo>
                  <a:pt x="244360" y="166446"/>
                </a:lnTo>
                <a:lnTo>
                  <a:pt x="246481" y="164325"/>
                </a:lnTo>
                <a:lnTo>
                  <a:pt x="246481" y="159194"/>
                </a:lnTo>
                <a:close/>
              </a:path>
              <a:path w="410845" h="393700">
                <a:moveTo>
                  <a:pt x="256171" y="310273"/>
                </a:moveTo>
                <a:lnTo>
                  <a:pt x="254050" y="308152"/>
                </a:lnTo>
                <a:lnTo>
                  <a:pt x="227660" y="308152"/>
                </a:lnTo>
                <a:lnTo>
                  <a:pt x="225539" y="310273"/>
                </a:lnTo>
                <a:lnTo>
                  <a:pt x="225539" y="315404"/>
                </a:lnTo>
                <a:lnTo>
                  <a:pt x="227660" y="317525"/>
                </a:lnTo>
                <a:lnTo>
                  <a:pt x="230225" y="317525"/>
                </a:lnTo>
                <a:lnTo>
                  <a:pt x="254050" y="317525"/>
                </a:lnTo>
                <a:lnTo>
                  <a:pt x="256171" y="315404"/>
                </a:lnTo>
                <a:lnTo>
                  <a:pt x="256171" y="310273"/>
                </a:lnTo>
                <a:close/>
              </a:path>
              <a:path w="410845" h="393700">
                <a:moveTo>
                  <a:pt x="264210" y="5016"/>
                </a:moveTo>
                <a:lnTo>
                  <a:pt x="263829" y="3213"/>
                </a:lnTo>
                <a:lnTo>
                  <a:pt x="262801" y="1739"/>
                </a:lnTo>
                <a:lnTo>
                  <a:pt x="261505" y="444"/>
                </a:lnTo>
                <a:lnTo>
                  <a:pt x="259384" y="0"/>
                </a:lnTo>
                <a:lnTo>
                  <a:pt x="257670" y="711"/>
                </a:lnTo>
                <a:lnTo>
                  <a:pt x="256108" y="1663"/>
                </a:lnTo>
                <a:lnTo>
                  <a:pt x="255079" y="3136"/>
                </a:lnTo>
                <a:lnTo>
                  <a:pt x="254698" y="4953"/>
                </a:lnTo>
                <a:lnTo>
                  <a:pt x="255079" y="6756"/>
                </a:lnTo>
                <a:lnTo>
                  <a:pt x="256108" y="8293"/>
                </a:lnTo>
                <a:lnTo>
                  <a:pt x="256997" y="9182"/>
                </a:lnTo>
                <a:lnTo>
                  <a:pt x="258165" y="9639"/>
                </a:lnTo>
                <a:lnTo>
                  <a:pt x="260743" y="9639"/>
                </a:lnTo>
                <a:lnTo>
                  <a:pt x="261886" y="9118"/>
                </a:lnTo>
                <a:lnTo>
                  <a:pt x="262801" y="8293"/>
                </a:lnTo>
                <a:lnTo>
                  <a:pt x="263829" y="6819"/>
                </a:lnTo>
                <a:lnTo>
                  <a:pt x="264210" y="5016"/>
                </a:lnTo>
                <a:close/>
              </a:path>
              <a:path w="410845" h="393700">
                <a:moveTo>
                  <a:pt x="275196" y="106070"/>
                </a:moveTo>
                <a:lnTo>
                  <a:pt x="273075" y="103949"/>
                </a:lnTo>
                <a:lnTo>
                  <a:pt x="95592" y="103949"/>
                </a:lnTo>
                <a:lnTo>
                  <a:pt x="93472" y="106070"/>
                </a:lnTo>
                <a:lnTo>
                  <a:pt x="93472" y="111201"/>
                </a:lnTo>
                <a:lnTo>
                  <a:pt x="95592" y="113322"/>
                </a:lnTo>
                <a:lnTo>
                  <a:pt x="273075" y="113322"/>
                </a:lnTo>
                <a:lnTo>
                  <a:pt x="275196" y="111201"/>
                </a:lnTo>
                <a:lnTo>
                  <a:pt x="275196" y="108635"/>
                </a:lnTo>
                <a:lnTo>
                  <a:pt x="275196" y="106070"/>
                </a:lnTo>
                <a:close/>
              </a:path>
              <a:path w="410845" h="393700">
                <a:moveTo>
                  <a:pt x="303974" y="52882"/>
                </a:moveTo>
                <a:lnTo>
                  <a:pt x="301853" y="50761"/>
                </a:lnTo>
                <a:lnTo>
                  <a:pt x="95656" y="50761"/>
                </a:lnTo>
                <a:lnTo>
                  <a:pt x="93535" y="52882"/>
                </a:lnTo>
                <a:lnTo>
                  <a:pt x="93535" y="58013"/>
                </a:lnTo>
                <a:lnTo>
                  <a:pt x="95656" y="60134"/>
                </a:lnTo>
                <a:lnTo>
                  <a:pt x="301853" y="60134"/>
                </a:lnTo>
                <a:lnTo>
                  <a:pt x="303974" y="58077"/>
                </a:lnTo>
                <a:lnTo>
                  <a:pt x="303974" y="55448"/>
                </a:lnTo>
                <a:lnTo>
                  <a:pt x="303974" y="52882"/>
                </a:lnTo>
                <a:close/>
              </a:path>
              <a:path w="410845" h="393700">
                <a:moveTo>
                  <a:pt x="369620" y="22491"/>
                </a:moveTo>
                <a:lnTo>
                  <a:pt x="368211" y="21082"/>
                </a:lnTo>
                <a:lnTo>
                  <a:pt x="355028" y="21082"/>
                </a:lnTo>
                <a:lnTo>
                  <a:pt x="353618" y="22491"/>
                </a:lnTo>
                <a:lnTo>
                  <a:pt x="353618" y="25971"/>
                </a:lnTo>
                <a:lnTo>
                  <a:pt x="355028" y="27381"/>
                </a:lnTo>
                <a:lnTo>
                  <a:pt x="356768" y="27381"/>
                </a:lnTo>
                <a:lnTo>
                  <a:pt x="368211" y="27381"/>
                </a:lnTo>
                <a:lnTo>
                  <a:pt x="369620" y="25971"/>
                </a:lnTo>
                <a:lnTo>
                  <a:pt x="369620" y="22491"/>
                </a:lnTo>
                <a:close/>
              </a:path>
              <a:path w="410845" h="393700">
                <a:moveTo>
                  <a:pt x="378218" y="31165"/>
                </a:moveTo>
                <a:lnTo>
                  <a:pt x="376809" y="29756"/>
                </a:lnTo>
                <a:lnTo>
                  <a:pt x="373329" y="29756"/>
                </a:lnTo>
                <a:lnTo>
                  <a:pt x="371919" y="31165"/>
                </a:lnTo>
                <a:lnTo>
                  <a:pt x="371919" y="42608"/>
                </a:lnTo>
                <a:lnTo>
                  <a:pt x="371983" y="44323"/>
                </a:lnTo>
                <a:lnTo>
                  <a:pt x="373341" y="45669"/>
                </a:lnTo>
                <a:lnTo>
                  <a:pt x="375069" y="45669"/>
                </a:lnTo>
                <a:lnTo>
                  <a:pt x="376809" y="45669"/>
                </a:lnTo>
                <a:lnTo>
                  <a:pt x="378218" y="44259"/>
                </a:lnTo>
                <a:lnTo>
                  <a:pt x="378218" y="31165"/>
                </a:lnTo>
                <a:close/>
              </a:path>
              <a:path w="410845" h="393700">
                <a:moveTo>
                  <a:pt x="378218" y="4178"/>
                </a:moveTo>
                <a:lnTo>
                  <a:pt x="376809" y="2768"/>
                </a:lnTo>
                <a:lnTo>
                  <a:pt x="373329" y="2768"/>
                </a:lnTo>
                <a:lnTo>
                  <a:pt x="371919" y="4178"/>
                </a:lnTo>
                <a:lnTo>
                  <a:pt x="371919" y="15621"/>
                </a:lnTo>
                <a:lnTo>
                  <a:pt x="371983" y="17360"/>
                </a:lnTo>
                <a:lnTo>
                  <a:pt x="373341" y="18770"/>
                </a:lnTo>
                <a:lnTo>
                  <a:pt x="375069" y="18770"/>
                </a:lnTo>
                <a:lnTo>
                  <a:pt x="376809" y="18770"/>
                </a:lnTo>
                <a:lnTo>
                  <a:pt x="378218" y="17360"/>
                </a:lnTo>
                <a:lnTo>
                  <a:pt x="378218" y="4178"/>
                </a:lnTo>
                <a:close/>
              </a:path>
              <a:path w="410845" h="393700">
                <a:moveTo>
                  <a:pt x="385343" y="338201"/>
                </a:moveTo>
                <a:lnTo>
                  <a:pt x="375907" y="313474"/>
                </a:lnTo>
                <a:lnTo>
                  <a:pt x="375907" y="324002"/>
                </a:lnTo>
                <a:lnTo>
                  <a:pt x="375907" y="346227"/>
                </a:lnTo>
                <a:lnTo>
                  <a:pt x="369354" y="352767"/>
                </a:lnTo>
                <a:lnTo>
                  <a:pt x="332371" y="352767"/>
                </a:lnTo>
                <a:lnTo>
                  <a:pt x="332371" y="339813"/>
                </a:lnTo>
                <a:lnTo>
                  <a:pt x="332371" y="330365"/>
                </a:lnTo>
                <a:lnTo>
                  <a:pt x="332371" y="317512"/>
                </a:lnTo>
                <a:lnTo>
                  <a:pt x="369417" y="317512"/>
                </a:lnTo>
                <a:lnTo>
                  <a:pt x="375907" y="324002"/>
                </a:lnTo>
                <a:lnTo>
                  <a:pt x="375907" y="313474"/>
                </a:lnTo>
                <a:lnTo>
                  <a:pt x="370713" y="309968"/>
                </a:lnTo>
                <a:lnTo>
                  <a:pt x="361391" y="308076"/>
                </a:lnTo>
                <a:lnTo>
                  <a:pt x="323049" y="308076"/>
                </a:lnTo>
                <a:lnTo>
                  <a:pt x="323049" y="339813"/>
                </a:lnTo>
                <a:lnTo>
                  <a:pt x="323049" y="352729"/>
                </a:lnTo>
                <a:lnTo>
                  <a:pt x="75933" y="352729"/>
                </a:lnTo>
                <a:lnTo>
                  <a:pt x="75933" y="350405"/>
                </a:lnTo>
                <a:lnTo>
                  <a:pt x="75933" y="339813"/>
                </a:lnTo>
                <a:lnTo>
                  <a:pt x="323049" y="339813"/>
                </a:lnTo>
                <a:lnTo>
                  <a:pt x="323049" y="308076"/>
                </a:lnTo>
                <a:lnTo>
                  <a:pt x="268630" y="308076"/>
                </a:lnTo>
                <a:lnTo>
                  <a:pt x="266509" y="310197"/>
                </a:lnTo>
                <a:lnTo>
                  <a:pt x="266509" y="315328"/>
                </a:lnTo>
                <a:lnTo>
                  <a:pt x="268630" y="317449"/>
                </a:lnTo>
                <a:lnTo>
                  <a:pt x="323037" y="317449"/>
                </a:lnTo>
                <a:lnTo>
                  <a:pt x="323037" y="330365"/>
                </a:lnTo>
                <a:lnTo>
                  <a:pt x="75933" y="330365"/>
                </a:lnTo>
                <a:lnTo>
                  <a:pt x="75933" y="319900"/>
                </a:lnTo>
                <a:lnTo>
                  <a:pt x="75933" y="317449"/>
                </a:lnTo>
                <a:lnTo>
                  <a:pt x="212432" y="317449"/>
                </a:lnTo>
                <a:lnTo>
                  <a:pt x="214541" y="315328"/>
                </a:lnTo>
                <a:lnTo>
                  <a:pt x="214541" y="310197"/>
                </a:lnTo>
                <a:lnTo>
                  <a:pt x="212432" y="308076"/>
                </a:lnTo>
                <a:lnTo>
                  <a:pt x="72009" y="308076"/>
                </a:lnTo>
                <a:lnTo>
                  <a:pt x="69303" y="308343"/>
                </a:lnTo>
                <a:lnTo>
                  <a:pt x="66484" y="309587"/>
                </a:lnTo>
                <a:lnTo>
                  <a:pt x="66484" y="319900"/>
                </a:lnTo>
                <a:lnTo>
                  <a:pt x="66484" y="350405"/>
                </a:lnTo>
                <a:lnTo>
                  <a:pt x="31610" y="335114"/>
                </a:lnTo>
                <a:lnTo>
                  <a:pt x="66484" y="319900"/>
                </a:lnTo>
                <a:lnTo>
                  <a:pt x="66484" y="309587"/>
                </a:lnTo>
                <a:lnTo>
                  <a:pt x="16243" y="331609"/>
                </a:lnTo>
                <a:lnTo>
                  <a:pt x="15151" y="333260"/>
                </a:lnTo>
                <a:lnTo>
                  <a:pt x="15151" y="336994"/>
                </a:lnTo>
                <a:lnTo>
                  <a:pt x="16243" y="338658"/>
                </a:lnTo>
                <a:lnTo>
                  <a:pt x="17983" y="339445"/>
                </a:lnTo>
                <a:lnTo>
                  <a:pt x="69303" y="361937"/>
                </a:lnTo>
                <a:lnTo>
                  <a:pt x="71158" y="362318"/>
                </a:lnTo>
                <a:lnTo>
                  <a:pt x="72250" y="362178"/>
                </a:lnTo>
                <a:lnTo>
                  <a:pt x="322973" y="362178"/>
                </a:lnTo>
                <a:lnTo>
                  <a:pt x="322973" y="382549"/>
                </a:lnTo>
                <a:lnTo>
                  <a:pt x="257073" y="382536"/>
                </a:lnTo>
                <a:lnTo>
                  <a:pt x="254495" y="382549"/>
                </a:lnTo>
                <a:lnTo>
                  <a:pt x="252387" y="384657"/>
                </a:lnTo>
                <a:lnTo>
                  <a:pt x="252387" y="389788"/>
                </a:lnTo>
                <a:lnTo>
                  <a:pt x="254508" y="391909"/>
                </a:lnTo>
                <a:lnTo>
                  <a:pt x="330301" y="391909"/>
                </a:lnTo>
                <a:lnTo>
                  <a:pt x="332422" y="389788"/>
                </a:lnTo>
                <a:lnTo>
                  <a:pt x="332422" y="382549"/>
                </a:lnTo>
                <a:lnTo>
                  <a:pt x="332422" y="362178"/>
                </a:lnTo>
                <a:lnTo>
                  <a:pt x="361391" y="362165"/>
                </a:lnTo>
                <a:lnTo>
                  <a:pt x="370700" y="360286"/>
                </a:lnTo>
                <a:lnTo>
                  <a:pt x="378320" y="355155"/>
                </a:lnTo>
                <a:lnTo>
                  <a:pt x="379920" y="352767"/>
                </a:lnTo>
                <a:lnTo>
                  <a:pt x="383463" y="347535"/>
                </a:lnTo>
                <a:lnTo>
                  <a:pt x="385343" y="338201"/>
                </a:lnTo>
                <a:close/>
              </a:path>
              <a:path w="410845" h="393700">
                <a:moveTo>
                  <a:pt x="396595" y="22491"/>
                </a:moveTo>
                <a:lnTo>
                  <a:pt x="395185" y="21082"/>
                </a:lnTo>
                <a:lnTo>
                  <a:pt x="382003" y="21082"/>
                </a:lnTo>
                <a:lnTo>
                  <a:pt x="380593" y="22491"/>
                </a:lnTo>
                <a:lnTo>
                  <a:pt x="380593" y="25971"/>
                </a:lnTo>
                <a:lnTo>
                  <a:pt x="382003" y="27381"/>
                </a:lnTo>
                <a:lnTo>
                  <a:pt x="383743" y="27381"/>
                </a:lnTo>
                <a:lnTo>
                  <a:pt x="395185" y="27381"/>
                </a:lnTo>
                <a:lnTo>
                  <a:pt x="396595" y="25971"/>
                </a:lnTo>
                <a:lnTo>
                  <a:pt x="396595" y="22491"/>
                </a:lnTo>
                <a:close/>
              </a:path>
              <a:path w="410845" h="393700">
                <a:moveTo>
                  <a:pt x="400900" y="373164"/>
                </a:moveTo>
                <a:lnTo>
                  <a:pt x="395300" y="367639"/>
                </a:lnTo>
                <a:lnTo>
                  <a:pt x="394525" y="367639"/>
                </a:lnTo>
                <a:lnTo>
                  <a:pt x="394525" y="383374"/>
                </a:lnTo>
                <a:lnTo>
                  <a:pt x="391845" y="386003"/>
                </a:lnTo>
                <a:lnTo>
                  <a:pt x="384962" y="386003"/>
                </a:lnTo>
                <a:lnTo>
                  <a:pt x="382206" y="383374"/>
                </a:lnTo>
                <a:lnTo>
                  <a:pt x="382206" y="376542"/>
                </a:lnTo>
                <a:lnTo>
                  <a:pt x="384962" y="373913"/>
                </a:lnTo>
                <a:lnTo>
                  <a:pt x="391845" y="373913"/>
                </a:lnTo>
                <a:lnTo>
                  <a:pt x="394512" y="376542"/>
                </a:lnTo>
                <a:lnTo>
                  <a:pt x="394525" y="383374"/>
                </a:lnTo>
                <a:lnTo>
                  <a:pt x="394525" y="367639"/>
                </a:lnTo>
                <a:lnTo>
                  <a:pt x="381558" y="367639"/>
                </a:lnTo>
                <a:lnTo>
                  <a:pt x="375907" y="373164"/>
                </a:lnTo>
                <a:lnTo>
                  <a:pt x="375907" y="386778"/>
                </a:lnTo>
                <a:lnTo>
                  <a:pt x="381495" y="392315"/>
                </a:lnTo>
                <a:lnTo>
                  <a:pt x="395300" y="392315"/>
                </a:lnTo>
                <a:lnTo>
                  <a:pt x="400888" y="386778"/>
                </a:lnTo>
                <a:lnTo>
                  <a:pt x="400888" y="386003"/>
                </a:lnTo>
                <a:lnTo>
                  <a:pt x="400900" y="373913"/>
                </a:lnTo>
                <a:lnTo>
                  <a:pt x="400900" y="373164"/>
                </a:lnTo>
                <a:close/>
              </a:path>
              <a:path w="410845" h="393700">
                <a:moveTo>
                  <a:pt x="410273" y="212839"/>
                </a:moveTo>
                <a:lnTo>
                  <a:pt x="408825" y="198081"/>
                </a:lnTo>
                <a:lnTo>
                  <a:pt x="404583" y="184111"/>
                </a:lnTo>
                <a:lnTo>
                  <a:pt x="400977" y="177368"/>
                </a:lnTo>
                <a:lnTo>
                  <a:pt x="400977" y="212686"/>
                </a:lnTo>
                <a:lnTo>
                  <a:pt x="396240" y="237185"/>
                </a:lnTo>
                <a:lnTo>
                  <a:pt x="383260" y="257479"/>
                </a:lnTo>
                <a:lnTo>
                  <a:pt x="363905" y="271754"/>
                </a:lnTo>
                <a:lnTo>
                  <a:pt x="340017" y="278142"/>
                </a:lnTo>
                <a:lnTo>
                  <a:pt x="340017" y="214617"/>
                </a:lnTo>
                <a:lnTo>
                  <a:pt x="348411" y="206235"/>
                </a:lnTo>
                <a:lnTo>
                  <a:pt x="384911" y="169786"/>
                </a:lnTo>
                <a:lnTo>
                  <a:pt x="391795" y="179311"/>
                </a:lnTo>
                <a:lnTo>
                  <a:pt x="396824" y="189763"/>
                </a:lnTo>
                <a:lnTo>
                  <a:pt x="399923" y="200964"/>
                </a:lnTo>
                <a:lnTo>
                  <a:pt x="400977" y="212686"/>
                </a:lnTo>
                <a:lnTo>
                  <a:pt x="400977" y="177368"/>
                </a:lnTo>
                <a:lnTo>
                  <a:pt x="397700" y="171234"/>
                </a:lnTo>
                <a:lnTo>
                  <a:pt x="396506" y="169786"/>
                </a:lnTo>
                <a:lnTo>
                  <a:pt x="388239" y="159715"/>
                </a:lnTo>
                <a:lnTo>
                  <a:pt x="383679" y="155155"/>
                </a:lnTo>
                <a:lnTo>
                  <a:pt x="378409" y="151104"/>
                </a:lnTo>
                <a:lnTo>
                  <a:pt x="370497" y="146545"/>
                </a:lnTo>
                <a:lnTo>
                  <a:pt x="367614" y="147332"/>
                </a:lnTo>
                <a:lnTo>
                  <a:pt x="365036" y="151828"/>
                </a:lnTo>
                <a:lnTo>
                  <a:pt x="365810" y="154711"/>
                </a:lnTo>
                <a:lnTo>
                  <a:pt x="368058" y="156006"/>
                </a:lnTo>
                <a:lnTo>
                  <a:pt x="371652" y="158127"/>
                </a:lnTo>
                <a:lnTo>
                  <a:pt x="374942" y="160629"/>
                </a:lnTo>
                <a:lnTo>
                  <a:pt x="378079" y="163322"/>
                </a:lnTo>
                <a:lnTo>
                  <a:pt x="335178" y="206235"/>
                </a:lnTo>
                <a:lnTo>
                  <a:pt x="298742" y="169849"/>
                </a:lnTo>
                <a:lnTo>
                  <a:pt x="292201" y="163322"/>
                </a:lnTo>
                <a:lnTo>
                  <a:pt x="301713" y="156413"/>
                </a:lnTo>
                <a:lnTo>
                  <a:pt x="312191" y="151358"/>
                </a:lnTo>
                <a:lnTo>
                  <a:pt x="323418" y="148247"/>
                </a:lnTo>
                <a:lnTo>
                  <a:pt x="335178" y="147193"/>
                </a:lnTo>
                <a:lnTo>
                  <a:pt x="340817" y="147193"/>
                </a:lnTo>
                <a:lnTo>
                  <a:pt x="346481" y="147904"/>
                </a:lnTo>
                <a:lnTo>
                  <a:pt x="351866" y="149377"/>
                </a:lnTo>
                <a:lnTo>
                  <a:pt x="354368" y="150088"/>
                </a:lnTo>
                <a:lnTo>
                  <a:pt x="356933" y="148551"/>
                </a:lnTo>
                <a:lnTo>
                  <a:pt x="357276" y="147193"/>
                </a:lnTo>
                <a:lnTo>
                  <a:pt x="358228" y="143535"/>
                </a:lnTo>
                <a:lnTo>
                  <a:pt x="356755" y="140970"/>
                </a:lnTo>
                <a:lnTo>
                  <a:pt x="354241" y="140322"/>
                </a:lnTo>
                <a:lnTo>
                  <a:pt x="349478" y="139026"/>
                </a:lnTo>
                <a:lnTo>
                  <a:pt x="344665" y="138468"/>
                </a:lnTo>
                <a:lnTo>
                  <a:pt x="339712" y="138137"/>
                </a:lnTo>
                <a:lnTo>
                  <a:pt x="339750" y="2451"/>
                </a:lnTo>
                <a:lnTo>
                  <a:pt x="337629" y="330"/>
                </a:lnTo>
                <a:lnTo>
                  <a:pt x="270573" y="330"/>
                </a:lnTo>
                <a:lnTo>
                  <a:pt x="268452" y="2451"/>
                </a:lnTo>
                <a:lnTo>
                  <a:pt x="268452" y="7581"/>
                </a:lnTo>
                <a:lnTo>
                  <a:pt x="270573" y="9702"/>
                </a:lnTo>
                <a:lnTo>
                  <a:pt x="330377" y="9702"/>
                </a:lnTo>
                <a:lnTo>
                  <a:pt x="330377" y="137871"/>
                </a:lnTo>
                <a:lnTo>
                  <a:pt x="292519" y="150926"/>
                </a:lnTo>
                <a:lnTo>
                  <a:pt x="266649" y="181914"/>
                </a:lnTo>
                <a:lnTo>
                  <a:pt x="260223" y="208026"/>
                </a:lnTo>
                <a:lnTo>
                  <a:pt x="270027" y="208013"/>
                </a:lnTo>
                <a:lnTo>
                  <a:pt x="270687" y="200939"/>
                </a:lnTo>
                <a:lnTo>
                  <a:pt x="273786" y="189738"/>
                </a:lnTo>
                <a:lnTo>
                  <a:pt x="278841" y="179285"/>
                </a:lnTo>
                <a:lnTo>
                  <a:pt x="285724" y="169849"/>
                </a:lnTo>
                <a:lnTo>
                  <a:pt x="330492" y="214617"/>
                </a:lnTo>
                <a:lnTo>
                  <a:pt x="330555" y="278206"/>
                </a:lnTo>
                <a:lnTo>
                  <a:pt x="306692" y="271792"/>
                </a:lnTo>
                <a:lnTo>
                  <a:pt x="287324" y="257517"/>
                </a:lnTo>
                <a:lnTo>
                  <a:pt x="274332" y="237223"/>
                </a:lnTo>
                <a:lnTo>
                  <a:pt x="270522" y="217525"/>
                </a:lnTo>
                <a:lnTo>
                  <a:pt x="269608" y="212839"/>
                </a:lnTo>
                <a:lnTo>
                  <a:pt x="269595" y="212686"/>
                </a:lnTo>
                <a:lnTo>
                  <a:pt x="270027" y="208026"/>
                </a:lnTo>
                <a:lnTo>
                  <a:pt x="260223" y="208026"/>
                </a:lnTo>
                <a:lnTo>
                  <a:pt x="123875" y="208026"/>
                </a:lnTo>
                <a:lnTo>
                  <a:pt x="121081" y="208965"/>
                </a:lnTo>
                <a:lnTo>
                  <a:pt x="49339" y="264020"/>
                </a:lnTo>
                <a:lnTo>
                  <a:pt x="49339" y="210185"/>
                </a:lnTo>
                <a:lnTo>
                  <a:pt x="47218" y="208076"/>
                </a:lnTo>
                <a:lnTo>
                  <a:pt x="9372" y="208076"/>
                </a:lnTo>
                <a:lnTo>
                  <a:pt x="9372" y="9702"/>
                </a:lnTo>
                <a:lnTo>
                  <a:pt x="247040" y="9702"/>
                </a:lnTo>
                <a:lnTo>
                  <a:pt x="249161" y="7581"/>
                </a:lnTo>
                <a:lnTo>
                  <a:pt x="249161" y="2451"/>
                </a:lnTo>
                <a:lnTo>
                  <a:pt x="247040" y="330"/>
                </a:lnTo>
                <a:lnTo>
                  <a:pt x="2120" y="330"/>
                </a:lnTo>
                <a:lnTo>
                  <a:pt x="0" y="2451"/>
                </a:lnTo>
                <a:lnTo>
                  <a:pt x="0" y="215328"/>
                </a:lnTo>
                <a:lnTo>
                  <a:pt x="2120" y="217449"/>
                </a:lnTo>
                <a:lnTo>
                  <a:pt x="39890" y="217449"/>
                </a:lnTo>
                <a:lnTo>
                  <a:pt x="39903" y="275348"/>
                </a:lnTo>
                <a:lnTo>
                  <a:pt x="40919" y="276948"/>
                </a:lnTo>
                <a:lnTo>
                  <a:pt x="42532" y="277774"/>
                </a:lnTo>
                <a:lnTo>
                  <a:pt x="44589" y="278295"/>
                </a:lnTo>
                <a:lnTo>
                  <a:pt x="47421" y="277329"/>
                </a:lnTo>
                <a:lnTo>
                  <a:pt x="64782" y="264020"/>
                </a:lnTo>
                <a:lnTo>
                  <a:pt x="125463" y="217525"/>
                </a:lnTo>
                <a:lnTo>
                  <a:pt x="260426" y="217525"/>
                </a:lnTo>
                <a:lnTo>
                  <a:pt x="267538" y="245046"/>
                </a:lnTo>
                <a:lnTo>
                  <a:pt x="283806" y="267398"/>
                </a:lnTo>
                <a:lnTo>
                  <a:pt x="307098" y="282409"/>
                </a:lnTo>
                <a:lnTo>
                  <a:pt x="335254" y="287934"/>
                </a:lnTo>
                <a:lnTo>
                  <a:pt x="364426" y="282028"/>
                </a:lnTo>
                <a:lnTo>
                  <a:pt x="370090" y="278206"/>
                </a:lnTo>
                <a:lnTo>
                  <a:pt x="388277" y="265925"/>
                </a:lnTo>
                <a:lnTo>
                  <a:pt x="404368" y="242049"/>
                </a:lnTo>
                <a:lnTo>
                  <a:pt x="410273" y="212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9" name="object 10">
            <a:extLst>
              <a:ext uri="{FF2B5EF4-FFF2-40B4-BE49-F238E27FC236}">
                <a16:creationId xmlns:a16="http://schemas.microsoft.com/office/drawing/2014/main" id="{66119C23-84DD-44A4-8338-AA944F8619E8}"/>
              </a:ext>
            </a:extLst>
          </p:cNvPr>
          <p:cNvSpPr/>
          <p:nvPr/>
        </p:nvSpPr>
        <p:spPr>
          <a:xfrm>
            <a:off x="1679184" y="4943832"/>
            <a:ext cx="481965" cy="481965"/>
          </a:xfrm>
          <a:custGeom>
            <a:avLst/>
            <a:gdLst/>
            <a:ahLst/>
            <a:cxnLst/>
            <a:rect l="l" t="t" r="r" b="b"/>
            <a:pathLst>
              <a:path w="481964" h="481964">
                <a:moveTo>
                  <a:pt x="240817" y="0"/>
                </a:moveTo>
                <a:lnTo>
                  <a:pt x="192282" y="4892"/>
                </a:lnTo>
                <a:lnTo>
                  <a:pt x="147077" y="18925"/>
                </a:lnTo>
                <a:lnTo>
                  <a:pt x="106170" y="41129"/>
                </a:lnTo>
                <a:lnTo>
                  <a:pt x="70531" y="70537"/>
                </a:lnTo>
                <a:lnTo>
                  <a:pt x="41125" y="106179"/>
                </a:lnTo>
                <a:lnTo>
                  <a:pt x="18923" y="147088"/>
                </a:lnTo>
                <a:lnTo>
                  <a:pt x="4892" y="192294"/>
                </a:lnTo>
                <a:lnTo>
                  <a:pt x="0" y="240830"/>
                </a:lnTo>
                <a:lnTo>
                  <a:pt x="4892" y="289361"/>
                </a:lnTo>
                <a:lnTo>
                  <a:pt x="18923" y="334564"/>
                </a:lnTo>
                <a:lnTo>
                  <a:pt x="41125" y="375471"/>
                </a:lnTo>
                <a:lnTo>
                  <a:pt x="70531" y="411111"/>
                </a:lnTo>
                <a:lnTo>
                  <a:pt x="106170" y="440518"/>
                </a:lnTo>
                <a:lnTo>
                  <a:pt x="147077" y="462722"/>
                </a:lnTo>
                <a:lnTo>
                  <a:pt x="192282" y="476754"/>
                </a:lnTo>
                <a:lnTo>
                  <a:pt x="240817" y="481647"/>
                </a:lnTo>
                <a:lnTo>
                  <a:pt x="289352" y="476754"/>
                </a:lnTo>
                <a:lnTo>
                  <a:pt x="334557" y="462722"/>
                </a:lnTo>
                <a:lnTo>
                  <a:pt x="375463" y="440518"/>
                </a:lnTo>
                <a:lnTo>
                  <a:pt x="411103" y="411111"/>
                </a:lnTo>
                <a:lnTo>
                  <a:pt x="440508" y="375471"/>
                </a:lnTo>
                <a:lnTo>
                  <a:pt x="462711" y="334564"/>
                </a:lnTo>
                <a:lnTo>
                  <a:pt x="476742" y="289361"/>
                </a:lnTo>
                <a:lnTo>
                  <a:pt x="481634" y="240830"/>
                </a:lnTo>
                <a:lnTo>
                  <a:pt x="476742" y="192294"/>
                </a:lnTo>
                <a:lnTo>
                  <a:pt x="462711" y="147088"/>
                </a:lnTo>
                <a:lnTo>
                  <a:pt x="440508" y="106179"/>
                </a:lnTo>
                <a:lnTo>
                  <a:pt x="411103" y="70537"/>
                </a:lnTo>
                <a:lnTo>
                  <a:pt x="375463" y="41129"/>
                </a:lnTo>
                <a:lnTo>
                  <a:pt x="334557" y="18925"/>
                </a:lnTo>
                <a:lnTo>
                  <a:pt x="289352" y="4892"/>
                </a:lnTo>
                <a:lnTo>
                  <a:pt x="240817" y="0"/>
                </a:lnTo>
                <a:close/>
              </a:path>
            </a:pathLst>
          </a:custGeom>
          <a:solidFill>
            <a:srgbClr val="85BD4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D62CDE-C44A-4E19-8494-FE021B88E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581" y="5026956"/>
            <a:ext cx="317675" cy="327760"/>
          </a:xfrm>
          <a:prstGeom prst="rect">
            <a:avLst/>
          </a:prstGeom>
        </p:spPr>
      </p:pic>
      <p:sp>
        <p:nvSpPr>
          <p:cNvPr id="151" name="object 10">
            <a:extLst>
              <a:ext uri="{FF2B5EF4-FFF2-40B4-BE49-F238E27FC236}">
                <a16:creationId xmlns:a16="http://schemas.microsoft.com/office/drawing/2014/main" id="{46221ADF-EDF0-40A3-B473-12134E95F462}"/>
              </a:ext>
            </a:extLst>
          </p:cNvPr>
          <p:cNvSpPr/>
          <p:nvPr/>
        </p:nvSpPr>
        <p:spPr>
          <a:xfrm>
            <a:off x="5695529" y="5004186"/>
            <a:ext cx="481965" cy="481965"/>
          </a:xfrm>
          <a:custGeom>
            <a:avLst/>
            <a:gdLst/>
            <a:ahLst/>
            <a:cxnLst/>
            <a:rect l="l" t="t" r="r" b="b"/>
            <a:pathLst>
              <a:path w="481964" h="481964">
                <a:moveTo>
                  <a:pt x="240817" y="0"/>
                </a:moveTo>
                <a:lnTo>
                  <a:pt x="192282" y="4892"/>
                </a:lnTo>
                <a:lnTo>
                  <a:pt x="147077" y="18925"/>
                </a:lnTo>
                <a:lnTo>
                  <a:pt x="106170" y="41129"/>
                </a:lnTo>
                <a:lnTo>
                  <a:pt x="70531" y="70537"/>
                </a:lnTo>
                <a:lnTo>
                  <a:pt x="41125" y="106179"/>
                </a:lnTo>
                <a:lnTo>
                  <a:pt x="18923" y="147088"/>
                </a:lnTo>
                <a:lnTo>
                  <a:pt x="4892" y="192294"/>
                </a:lnTo>
                <a:lnTo>
                  <a:pt x="0" y="240830"/>
                </a:lnTo>
                <a:lnTo>
                  <a:pt x="4892" y="289361"/>
                </a:lnTo>
                <a:lnTo>
                  <a:pt x="18923" y="334564"/>
                </a:lnTo>
                <a:lnTo>
                  <a:pt x="41125" y="375471"/>
                </a:lnTo>
                <a:lnTo>
                  <a:pt x="70531" y="411111"/>
                </a:lnTo>
                <a:lnTo>
                  <a:pt x="106170" y="440518"/>
                </a:lnTo>
                <a:lnTo>
                  <a:pt x="147077" y="462722"/>
                </a:lnTo>
                <a:lnTo>
                  <a:pt x="192282" y="476754"/>
                </a:lnTo>
                <a:lnTo>
                  <a:pt x="240817" y="481647"/>
                </a:lnTo>
                <a:lnTo>
                  <a:pt x="289352" y="476754"/>
                </a:lnTo>
                <a:lnTo>
                  <a:pt x="334557" y="462722"/>
                </a:lnTo>
                <a:lnTo>
                  <a:pt x="375463" y="440518"/>
                </a:lnTo>
                <a:lnTo>
                  <a:pt x="411103" y="411111"/>
                </a:lnTo>
                <a:lnTo>
                  <a:pt x="440508" y="375471"/>
                </a:lnTo>
                <a:lnTo>
                  <a:pt x="462711" y="334564"/>
                </a:lnTo>
                <a:lnTo>
                  <a:pt x="476742" y="289361"/>
                </a:lnTo>
                <a:lnTo>
                  <a:pt x="481634" y="240830"/>
                </a:lnTo>
                <a:lnTo>
                  <a:pt x="476742" y="192294"/>
                </a:lnTo>
                <a:lnTo>
                  <a:pt x="462711" y="147088"/>
                </a:lnTo>
                <a:lnTo>
                  <a:pt x="440508" y="106179"/>
                </a:lnTo>
                <a:lnTo>
                  <a:pt x="411103" y="70537"/>
                </a:lnTo>
                <a:lnTo>
                  <a:pt x="375463" y="41129"/>
                </a:lnTo>
                <a:lnTo>
                  <a:pt x="334557" y="18925"/>
                </a:lnTo>
                <a:lnTo>
                  <a:pt x="289352" y="4892"/>
                </a:lnTo>
                <a:lnTo>
                  <a:pt x="240817" y="0"/>
                </a:lnTo>
                <a:close/>
              </a:path>
            </a:pathLst>
          </a:custGeom>
          <a:solidFill>
            <a:srgbClr val="85BD4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2" name="object 27">
            <a:extLst>
              <a:ext uri="{FF2B5EF4-FFF2-40B4-BE49-F238E27FC236}">
                <a16:creationId xmlns:a16="http://schemas.microsoft.com/office/drawing/2014/main" id="{7BE8A75C-2E95-46CF-B44C-70208BAF6CE8}"/>
              </a:ext>
            </a:extLst>
          </p:cNvPr>
          <p:cNvSpPr/>
          <p:nvPr/>
        </p:nvSpPr>
        <p:spPr>
          <a:xfrm>
            <a:off x="5743977" y="5092994"/>
            <a:ext cx="368530" cy="323972"/>
          </a:xfrm>
          <a:custGeom>
            <a:avLst/>
            <a:gdLst/>
            <a:ahLst/>
            <a:cxnLst/>
            <a:rect l="l" t="t" r="r" b="b"/>
            <a:pathLst>
              <a:path w="433704" h="392429">
                <a:moveTo>
                  <a:pt x="117411" y="166369"/>
                </a:moveTo>
                <a:lnTo>
                  <a:pt x="73400" y="175259"/>
                </a:lnTo>
                <a:lnTo>
                  <a:pt x="37423" y="199389"/>
                </a:lnTo>
                <a:lnTo>
                  <a:pt x="13148" y="234949"/>
                </a:lnTo>
                <a:lnTo>
                  <a:pt x="4241" y="279399"/>
                </a:lnTo>
                <a:lnTo>
                  <a:pt x="13148" y="323849"/>
                </a:lnTo>
                <a:lnTo>
                  <a:pt x="37423" y="359409"/>
                </a:lnTo>
                <a:lnTo>
                  <a:pt x="73400" y="383539"/>
                </a:lnTo>
                <a:lnTo>
                  <a:pt x="117411" y="392429"/>
                </a:lnTo>
                <a:lnTo>
                  <a:pt x="161422" y="383539"/>
                </a:lnTo>
                <a:lnTo>
                  <a:pt x="167103" y="379729"/>
                </a:lnTo>
                <a:lnTo>
                  <a:pt x="117411" y="379729"/>
                </a:lnTo>
                <a:lnTo>
                  <a:pt x="78656" y="370839"/>
                </a:lnTo>
                <a:lnTo>
                  <a:pt x="46975" y="350519"/>
                </a:lnTo>
                <a:lnTo>
                  <a:pt x="25598" y="318769"/>
                </a:lnTo>
                <a:lnTo>
                  <a:pt x="17754" y="279399"/>
                </a:lnTo>
                <a:lnTo>
                  <a:pt x="25598" y="241299"/>
                </a:lnTo>
                <a:lnTo>
                  <a:pt x="46975" y="209549"/>
                </a:lnTo>
                <a:lnTo>
                  <a:pt x="78656" y="187959"/>
                </a:lnTo>
                <a:lnTo>
                  <a:pt x="117411" y="180339"/>
                </a:lnTo>
                <a:lnTo>
                  <a:pt x="168996" y="180339"/>
                </a:lnTo>
                <a:lnTo>
                  <a:pt x="161422" y="175259"/>
                </a:lnTo>
                <a:lnTo>
                  <a:pt x="117411" y="166369"/>
                </a:lnTo>
                <a:close/>
              </a:path>
              <a:path w="433704" h="392429">
                <a:moveTo>
                  <a:pt x="417105" y="368299"/>
                </a:moveTo>
                <a:lnTo>
                  <a:pt x="402005" y="368299"/>
                </a:lnTo>
                <a:lnTo>
                  <a:pt x="392595" y="386079"/>
                </a:lnTo>
                <a:lnTo>
                  <a:pt x="393890" y="391159"/>
                </a:lnTo>
                <a:lnTo>
                  <a:pt x="397205" y="392429"/>
                </a:lnTo>
                <a:lnTo>
                  <a:pt x="402755" y="392429"/>
                </a:lnTo>
                <a:lnTo>
                  <a:pt x="405130" y="391159"/>
                </a:lnTo>
                <a:lnTo>
                  <a:pt x="417105" y="368299"/>
                </a:lnTo>
                <a:close/>
              </a:path>
              <a:path w="433704" h="392429">
                <a:moveTo>
                  <a:pt x="168996" y="180339"/>
                </a:moveTo>
                <a:lnTo>
                  <a:pt x="117411" y="180339"/>
                </a:lnTo>
                <a:lnTo>
                  <a:pt x="156166" y="187959"/>
                </a:lnTo>
                <a:lnTo>
                  <a:pt x="187847" y="209549"/>
                </a:lnTo>
                <a:lnTo>
                  <a:pt x="209224" y="241299"/>
                </a:lnTo>
                <a:lnTo>
                  <a:pt x="217068" y="279399"/>
                </a:lnTo>
                <a:lnTo>
                  <a:pt x="209224" y="318769"/>
                </a:lnTo>
                <a:lnTo>
                  <a:pt x="187847" y="350519"/>
                </a:lnTo>
                <a:lnTo>
                  <a:pt x="156166" y="370839"/>
                </a:lnTo>
                <a:lnTo>
                  <a:pt x="117411" y="379729"/>
                </a:lnTo>
                <a:lnTo>
                  <a:pt x="167103" y="379729"/>
                </a:lnTo>
                <a:lnTo>
                  <a:pt x="197399" y="359409"/>
                </a:lnTo>
                <a:lnTo>
                  <a:pt x="221674" y="323849"/>
                </a:lnTo>
                <a:lnTo>
                  <a:pt x="230581" y="279399"/>
                </a:lnTo>
                <a:lnTo>
                  <a:pt x="221674" y="234949"/>
                </a:lnTo>
                <a:lnTo>
                  <a:pt x="197399" y="199389"/>
                </a:lnTo>
                <a:lnTo>
                  <a:pt x="168996" y="180339"/>
                </a:lnTo>
                <a:close/>
              </a:path>
              <a:path w="433704" h="392429">
                <a:moveTo>
                  <a:pt x="284492" y="346709"/>
                </a:moveTo>
                <a:lnTo>
                  <a:pt x="280301" y="347979"/>
                </a:lnTo>
                <a:lnTo>
                  <a:pt x="276250" y="354329"/>
                </a:lnTo>
                <a:lnTo>
                  <a:pt x="277164" y="358139"/>
                </a:lnTo>
                <a:lnTo>
                  <a:pt x="280301" y="359409"/>
                </a:lnTo>
                <a:lnTo>
                  <a:pt x="296268" y="368299"/>
                </a:lnTo>
                <a:lnTo>
                  <a:pt x="313112" y="374649"/>
                </a:lnTo>
                <a:lnTo>
                  <a:pt x="330593" y="378459"/>
                </a:lnTo>
                <a:lnTo>
                  <a:pt x="348475" y="379729"/>
                </a:lnTo>
                <a:lnTo>
                  <a:pt x="365290" y="379729"/>
                </a:lnTo>
                <a:lnTo>
                  <a:pt x="373659" y="377189"/>
                </a:lnTo>
                <a:lnTo>
                  <a:pt x="380994" y="375919"/>
                </a:lnTo>
                <a:lnTo>
                  <a:pt x="395178" y="370839"/>
                </a:lnTo>
                <a:lnTo>
                  <a:pt x="402005" y="368299"/>
                </a:lnTo>
                <a:lnTo>
                  <a:pt x="417105" y="368299"/>
                </a:lnTo>
                <a:lnTo>
                  <a:pt x="417771" y="367029"/>
                </a:lnTo>
                <a:lnTo>
                  <a:pt x="349258" y="367029"/>
                </a:lnTo>
                <a:lnTo>
                  <a:pt x="327774" y="364489"/>
                </a:lnTo>
                <a:lnTo>
                  <a:pt x="307061" y="358139"/>
                </a:lnTo>
                <a:lnTo>
                  <a:pt x="287629" y="349249"/>
                </a:lnTo>
                <a:lnTo>
                  <a:pt x="284492" y="346709"/>
                </a:lnTo>
                <a:close/>
              </a:path>
              <a:path w="433704" h="392429">
                <a:moveTo>
                  <a:pt x="117411" y="191769"/>
                </a:moveTo>
                <a:lnTo>
                  <a:pt x="83180" y="198119"/>
                </a:lnTo>
                <a:lnTo>
                  <a:pt x="55197" y="217169"/>
                </a:lnTo>
                <a:lnTo>
                  <a:pt x="36315" y="245109"/>
                </a:lnTo>
                <a:lnTo>
                  <a:pt x="29387" y="279399"/>
                </a:lnTo>
                <a:lnTo>
                  <a:pt x="36315" y="313689"/>
                </a:lnTo>
                <a:lnTo>
                  <a:pt x="55197" y="341629"/>
                </a:lnTo>
                <a:lnTo>
                  <a:pt x="83180" y="360679"/>
                </a:lnTo>
                <a:lnTo>
                  <a:pt x="117411" y="367029"/>
                </a:lnTo>
                <a:lnTo>
                  <a:pt x="151642" y="360679"/>
                </a:lnTo>
                <a:lnTo>
                  <a:pt x="160970" y="354329"/>
                </a:lnTo>
                <a:lnTo>
                  <a:pt x="117411" y="354329"/>
                </a:lnTo>
                <a:lnTo>
                  <a:pt x="88440" y="347979"/>
                </a:lnTo>
                <a:lnTo>
                  <a:pt x="64762" y="332739"/>
                </a:lnTo>
                <a:lnTo>
                  <a:pt x="48786" y="308609"/>
                </a:lnTo>
                <a:lnTo>
                  <a:pt x="42926" y="279399"/>
                </a:lnTo>
                <a:lnTo>
                  <a:pt x="48786" y="250189"/>
                </a:lnTo>
                <a:lnTo>
                  <a:pt x="64762" y="227329"/>
                </a:lnTo>
                <a:lnTo>
                  <a:pt x="88440" y="210819"/>
                </a:lnTo>
                <a:lnTo>
                  <a:pt x="117411" y="204469"/>
                </a:lnTo>
                <a:lnTo>
                  <a:pt x="160970" y="204469"/>
                </a:lnTo>
                <a:lnTo>
                  <a:pt x="151642" y="198119"/>
                </a:lnTo>
                <a:lnTo>
                  <a:pt x="117411" y="191769"/>
                </a:lnTo>
                <a:close/>
              </a:path>
              <a:path w="433704" h="392429">
                <a:moveTo>
                  <a:pt x="379552" y="340359"/>
                </a:moveTo>
                <a:lnTo>
                  <a:pt x="376262" y="342899"/>
                </a:lnTo>
                <a:lnTo>
                  <a:pt x="375589" y="350519"/>
                </a:lnTo>
                <a:lnTo>
                  <a:pt x="378320" y="354329"/>
                </a:lnTo>
                <a:lnTo>
                  <a:pt x="397421" y="355599"/>
                </a:lnTo>
                <a:lnTo>
                  <a:pt x="391066" y="358139"/>
                </a:lnTo>
                <a:lnTo>
                  <a:pt x="377852" y="363219"/>
                </a:lnTo>
                <a:lnTo>
                  <a:pt x="371005" y="364489"/>
                </a:lnTo>
                <a:lnTo>
                  <a:pt x="349258" y="367029"/>
                </a:lnTo>
                <a:lnTo>
                  <a:pt x="417771" y="367029"/>
                </a:lnTo>
                <a:lnTo>
                  <a:pt x="425754" y="351789"/>
                </a:lnTo>
                <a:lnTo>
                  <a:pt x="425729" y="349249"/>
                </a:lnTo>
                <a:lnTo>
                  <a:pt x="424649" y="347979"/>
                </a:lnTo>
                <a:lnTo>
                  <a:pt x="423557" y="345439"/>
                </a:lnTo>
                <a:lnTo>
                  <a:pt x="421563" y="344169"/>
                </a:lnTo>
                <a:lnTo>
                  <a:pt x="419392" y="344169"/>
                </a:lnTo>
                <a:lnTo>
                  <a:pt x="379552" y="340359"/>
                </a:lnTo>
                <a:close/>
              </a:path>
              <a:path w="433704" h="392429">
                <a:moveTo>
                  <a:pt x="160970" y="204469"/>
                </a:moveTo>
                <a:lnTo>
                  <a:pt x="117411" y="204469"/>
                </a:lnTo>
                <a:lnTo>
                  <a:pt x="146382" y="210819"/>
                </a:lnTo>
                <a:lnTo>
                  <a:pt x="170060" y="227329"/>
                </a:lnTo>
                <a:lnTo>
                  <a:pt x="186036" y="250189"/>
                </a:lnTo>
                <a:lnTo>
                  <a:pt x="191897" y="279399"/>
                </a:lnTo>
                <a:lnTo>
                  <a:pt x="186036" y="308609"/>
                </a:lnTo>
                <a:lnTo>
                  <a:pt x="170060" y="332739"/>
                </a:lnTo>
                <a:lnTo>
                  <a:pt x="146382" y="347979"/>
                </a:lnTo>
                <a:lnTo>
                  <a:pt x="117411" y="354329"/>
                </a:lnTo>
                <a:lnTo>
                  <a:pt x="160970" y="354329"/>
                </a:lnTo>
                <a:lnTo>
                  <a:pt x="179625" y="341629"/>
                </a:lnTo>
                <a:lnTo>
                  <a:pt x="198507" y="313689"/>
                </a:lnTo>
                <a:lnTo>
                  <a:pt x="205435" y="279399"/>
                </a:lnTo>
                <a:lnTo>
                  <a:pt x="198507" y="245109"/>
                </a:lnTo>
                <a:lnTo>
                  <a:pt x="179625" y="217169"/>
                </a:lnTo>
                <a:lnTo>
                  <a:pt x="160970" y="204469"/>
                </a:lnTo>
                <a:close/>
              </a:path>
              <a:path w="433704" h="392429">
                <a:moveTo>
                  <a:pt x="341759" y="304799"/>
                </a:moveTo>
                <a:lnTo>
                  <a:pt x="320192" y="304799"/>
                </a:lnTo>
                <a:lnTo>
                  <a:pt x="322884" y="306069"/>
                </a:lnTo>
                <a:lnTo>
                  <a:pt x="325678" y="307339"/>
                </a:lnTo>
                <a:lnTo>
                  <a:pt x="328536" y="308609"/>
                </a:lnTo>
                <a:lnTo>
                  <a:pt x="331495" y="326389"/>
                </a:lnTo>
                <a:lnTo>
                  <a:pt x="332003" y="330199"/>
                </a:lnTo>
                <a:lnTo>
                  <a:pt x="334848" y="332739"/>
                </a:lnTo>
                <a:lnTo>
                  <a:pt x="362508" y="332739"/>
                </a:lnTo>
                <a:lnTo>
                  <a:pt x="365340" y="330199"/>
                </a:lnTo>
                <a:lnTo>
                  <a:pt x="367183" y="318769"/>
                </a:lnTo>
                <a:lnTo>
                  <a:pt x="343916" y="318769"/>
                </a:lnTo>
                <a:lnTo>
                  <a:pt x="341759" y="304799"/>
                </a:lnTo>
                <a:close/>
              </a:path>
              <a:path w="433704" h="392429">
                <a:moveTo>
                  <a:pt x="379463" y="289559"/>
                </a:moveTo>
                <a:lnTo>
                  <a:pt x="376529" y="289559"/>
                </a:lnTo>
                <a:lnTo>
                  <a:pt x="370141" y="293369"/>
                </a:lnTo>
                <a:lnTo>
                  <a:pt x="365734" y="294639"/>
                </a:lnTo>
                <a:lnTo>
                  <a:pt x="358533" y="297179"/>
                </a:lnTo>
                <a:lnTo>
                  <a:pt x="356552" y="298449"/>
                </a:lnTo>
                <a:lnTo>
                  <a:pt x="356146" y="302259"/>
                </a:lnTo>
                <a:lnTo>
                  <a:pt x="353428" y="318769"/>
                </a:lnTo>
                <a:lnTo>
                  <a:pt x="367183" y="318769"/>
                </a:lnTo>
                <a:lnTo>
                  <a:pt x="368820" y="308609"/>
                </a:lnTo>
                <a:lnTo>
                  <a:pt x="374472" y="306069"/>
                </a:lnTo>
                <a:lnTo>
                  <a:pt x="377164" y="304799"/>
                </a:lnTo>
                <a:lnTo>
                  <a:pt x="410914" y="304799"/>
                </a:lnTo>
                <a:lnTo>
                  <a:pt x="414581" y="300989"/>
                </a:lnTo>
                <a:lnTo>
                  <a:pt x="395554" y="300989"/>
                </a:lnTo>
                <a:lnTo>
                  <a:pt x="379463" y="289559"/>
                </a:lnTo>
                <a:close/>
              </a:path>
              <a:path w="433704" h="392429">
                <a:moveTo>
                  <a:pt x="302361" y="177799"/>
                </a:moveTo>
                <a:lnTo>
                  <a:pt x="298653" y="177799"/>
                </a:lnTo>
                <a:lnTo>
                  <a:pt x="296329" y="180339"/>
                </a:lnTo>
                <a:lnTo>
                  <a:pt x="279107" y="198119"/>
                </a:lnTo>
                <a:lnTo>
                  <a:pt x="278815" y="201929"/>
                </a:lnTo>
                <a:lnTo>
                  <a:pt x="291719" y="219709"/>
                </a:lnTo>
                <a:lnTo>
                  <a:pt x="290372" y="222249"/>
                </a:lnTo>
                <a:lnTo>
                  <a:pt x="289204" y="224789"/>
                </a:lnTo>
                <a:lnTo>
                  <a:pt x="288264" y="227329"/>
                </a:lnTo>
                <a:lnTo>
                  <a:pt x="269811" y="229869"/>
                </a:lnTo>
                <a:lnTo>
                  <a:pt x="266534" y="231139"/>
                </a:lnTo>
                <a:lnTo>
                  <a:pt x="264134" y="233679"/>
                </a:lnTo>
                <a:lnTo>
                  <a:pt x="264134" y="261619"/>
                </a:lnTo>
                <a:lnTo>
                  <a:pt x="266534" y="264159"/>
                </a:lnTo>
                <a:lnTo>
                  <a:pt x="288264" y="267969"/>
                </a:lnTo>
                <a:lnTo>
                  <a:pt x="289204" y="270509"/>
                </a:lnTo>
                <a:lnTo>
                  <a:pt x="290372" y="273049"/>
                </a:lnTo>
                <a:lnTo>
                  <a:pt x="291719" y="275589"/>
                </a:lnTo>
                <a:lnTo>
                  <a:pt x="278815" y="293369"/>
                </a:lnTo>
                <a:lnTo>
                  <a:pt x="279107" y="297179"/>
                </a:lnTo>
                <a:lnTo>
                  <a:pt x="298678" y="317499"/>
                </a:lnTo>
                <a:lnTo>
                  <a:pt x="302361" y="317499"/>
                </a:lnTo>
                <a:lnTo>
                  <a:pt x="320192" y="304799"/>
                </a:lnTo>
                <a:lnTo>
                  <a:pt x="341759" y="304799"/>
                </a:lnTo>
                <a:lnTo>
                  <a:pt x="341171" y="300989"/>
                </a:lnTo>
                <a:lnTo>
                  <a:pt x="301790" y="300989"/>
                </a:lnTo>
                <a:lnTo>
                  <a:pt x="295071" y="294639"/>
                </a:lnTo>
                <a:lnTo>
                  <a:pt x="306730" y="278129"/>
                </a:lnTo>
                <a:lnTo>
                  <a:pt x="306857" y="275589"/>
                </a:lnTo>
                <a:lnTo>
                  <a:pt x="303060" y="269239"/>
                </a:lnTo>
                <a:lnTo>
                  <a:pt x="301244" y="264159"/>
                </a:lnTo>
                <a:lnTo>
                  <a:pt x="299402" y="257809"/>
                </a:lnTo>
                <a:lnTo>
                  <a:pt x="297243" y="255269"/>
                </a:lnTo>
                <a:lnTo>
                  <a:pt x="277622" y="252729"/>
                </a:lnTo>
                <a:lnTo>
                  <a:pt x="277622" y="242569"/>
                </a:lnTo>
                <a:lnTo>
                  <a:pt x="297243" y="240029"/>
                </a:lnTo>
                <a:lnTo>
                  <a:pt x="299402" y="237489"/>
                </a:lnTo>
                <a:lnTo>
                  <a:pt x="301244" y="231139"/>
                </a:lnTo>
                <a:lnTo>
                  <a:pt x="303060" y="226059"/>
                </a:lnTo>
                <a:lnTo>
                  <a:pt x="306857" y="219709"/>
                </a:lnTo>
                <a:lnTo>
                  <a:pt x="306730" y="217169"/>
                </a:lnTo>
                <a:lnTo>
                  <a:pt x="295071" y="200659"/>
                </a:lnTo>
                <a:lnTo>
                  <a:pt x="301790" y="194309"/>
                </a:lnTo>
                <a:lnTo>
                  <a:pt x="341182" y="194309"/>
                </a:lnTo>
                <a:lnTo>
                  <a:pt x="341768" y="190499"/>
                </a:lnTo>
                <a:lnTo>
                  <a:pt x="320192" y="190499"/>
                </a:lnTo>
                <a:lnTo>
                  <a:pt x="302361" y="177799"/>
                </a:lnTo>
                <a:close/>
              </a:path>
              <a:path w="433704" h="392429">
                <a:moveTo>
                  <a:pt x="410914" y="304799"/>
                </a:moveTo>
                <a:lnTo>
                  <a:pt x="377164" y="304799"/>
                </a:lnTo>
                <a:lnTo>
                  <a:pt x="394982" y="317499"/>
                </a:lnTo>
                <a:lnTo>
                  <a:pt x="398691" y="317499"/>
                </a:lnTo>
                <a:lnTo>
                  <a:pt x="410914" y="304799"/>
                </a:lnTo>
                <a:close/>
              </a:path>
              <a:path w="433704" h="392429">
                <a:moveTo>
                  <a:pt x="320814" y="289559"/>
                </a:moveTo>
                <a:lnTo>
                  <a:pt x="317906" y="289559"/>
                </a:lnTo>
                <a:lnTo>
                  <a:pt x="301790" y="300989"/>
                </a:lnTo>
                <a:lnTo>
                  <a:pt x="341171" y="300989"/>
                </a:lnTo>
                <a:lnTo>
                  <a:pt x="340779" y="298449"/>
                </a:lnTo>
                <a:lnTo>
                  <a:pt x="338823" y="297179"/>
                </a:lnTo>
                <a:lnTo>
                  <a:pt x="331635" y="294639"/>
                </a:lnTo>
                <a:lnTo>
                  <a:pt x="327228" y="293369"/>
                </a:lnTo>
                <a:lnTo>
                  <a:pt x="320814" y="289559"/>
                </a:lnTo>
                <a:close/>
              </a:path>
              <a:path w="433704" h="392429">
                <a:moveTo>
                  <a:pt x="414657" y="194309"/>
                </a:moveTo>
                <a:lnTo>
                  <a:pt x="395554" y="194309"/>
                </a:lnTo>
                <a:lnTo>
                  <a:pt x="402272" y="200659"/>
                </a:lnTo>
                <a:lnTo>
                  <a:pt x="390613" y="217169"/>
                </a:lnTo>
                <a:lnTo>
                  <a:pt x="390486" y="219709"/>
                </a:lnTo>
                <a:lnTo>
                  <a:pt x="394284" y="226059"/>
                </a:lnTo>
                <a:lnTo>
                  <a:pt x="396113" y="231139"/>
                </a:lnTo>
                <a:lnTo>
                  <a:pt x="397941" y="237489"/>
                </a:lnTo>
                <a:lnTo>
                  <a:pt x="400100" y="240029"/>
                </a:lnTo>
                <a:lnTo>
                  <a:pt x="402755" y="240029"/>
                </a:lnTo>
                <a:lnTo>
                  <a:pt x="419722" y="242569"/>
                </a:lnTo>
                <a:lnTo>
                  <a:pt x="419722" y="252729"/>
                </a:lnTo>
                <a:lnTo>
                  <a:pt x="400100" y="255269"/>
                </a:lnTo>
                <a:lnTo>
                  <a:pt x="397941" y="257809"/>
                </a:lnTo>
                <a:lnTo>
                  <a:pt x="396113" y="264159"/>
                </a:lnTo>
                <a:lnTo>
                  <a:pt x="394284" y="269239"/>
                </a:lnTo>
                <a:lnTo>
                  <a:pt x="390486" y="275589"/>
                </a:lnTo>
                <a:lnTo>
                  <a:pt x="390613" y="278129"/>
                </a:lnTo>
                <a:lnTo>
                  <a:pt x="402272" y="294639"/>
                </a:lnTo>
                <a:lnTo>
                  <a:pt x="395554" y="300989"/>
                </a:lnTo>
                <a:lnTo>
                  <a:pt x="414581" y="300989"/>
                </a:lnTo>
                <a:lnTo>
                  <a:pt x="418249" y="297179"/>
                </a:lnTo>
                <a:lnTo>
                  <a:pt x="418528" y="293369"/>
                </a:lnTo>
                <a:lnTo>
                  <a:pt x="405625" y="275589"/>
                </a:lnTo>
                <a:lnTo>
                  <a:pt x="406984" y="273049"/>
                </a:lnTo>
                <a:lnTo>
                  <a:pt x="408139" y="270509"/>
                </a:lnTo>
                <a:lnTo>
                  <a:pt x="409079" y="267969"/>
                </a:lnTo>
                <a:lnTo>
                  <a:pt x="430809" y="264159"/>
                </a:lnTo>
                <a:lnTo>
                  <a:pt x="433222" y="261619"/>
                </a:lnTo>
                <a:lnTo>
                  <a:pt x="433235" y="233679"/>
                </a:lnTo>
                <a:lnTo>
                  <a:pt x="430809" y="231139"/>
                </a:lnTo>
                <a:lnTo>
                  <a:pt x="427532" y="229869"/>
                </a:lnTo>
                <a:lnTo>
                  <a:pt x="409079" y="227329"/>
                </a:lnTo>
                <a:lnTo>
                  <a:pt x="408139" y="224789"/>
                </a:lnTo>
                <a:lnTo>
                  <a:pt x="406984" y="222249"/>
                </a:lnTo>
                <a:lnTo>
                  <a:pt x="405625" y="219709"/>
                </a:lnTo>
                <a:lnTo>
                  <a:pt x="418528" y="201929"/>
                </a:lnTo>
                <a:lnTo>
                  <a:pt x="418249" y="198119"/>
                </a:lnTo>
                <a:lnTo>
                  <a:pt x="415886" y="195579"/>
                </a:lnTo>
                <a:lnTo>
                  <a:pt x="414657" y="194309"/>
                </a:lnTo>
                <a:close/>
              </a:path>
              <a:path w="433704" h="392429">
                <a:moveTo>
                  <a:pt x="348678" y="209549"/>
                </a:moveTo>
                <a:lnTo>
                  <a:pt x="333971" y="213359"/>
                </a:lnTo>
                <a:lnTo>
                  <a:pt x="321948" y="220979"/>
                </a:lnTo>
                <a:lnTo>
                  <a:pt x="313834" y="232409"/>
                </a:lnTo>
                <a:lnTo>
                  <a:pt x="310857" y="247649"/>
                </a:lnTo>
                <a:lnTo>
                  <a:pt x="313834" y="262889"/>
                </a:lnTo>
                <a:lnTo>
                  <a:pt x="321948" y="274319"/>
                </a:lnTo>
                <a:lnTo>
                  <a:pt x="333971" y="281939"/>
                </a:lnTo>
                <a:lnTo>
                  <a:pt x="348678" y="285749"/>
                </a:lnTo>
                <a:lnTo>
                  <a:pt x="363385" y="281939"/>
                </a:lnTo>
                <a:lnTo>
                  <a:pt x="375408" y="274319"/>
                </a:lnTo>
                <a:lnTo>
                  <a:pt x="377211" y="271779"/>
                </a:lnTo>
                <a:lnTo>
                  <a:pt x="348678" y="271779"/>
                </a:lnTo>
                <a:lnTo>
                  <a:pt x="339220" y="270509"/>
                </a:lnTo>
                <a:lnTo>
                  <a:pt x="331489" y="265429"/>
                </a:lnTo>
                <a:lnTo>
                  <a:pt x="326272" y="256539"/>
                </a:lnTo>
                <a:lnTo>
                  <a:pt x="324358" y="247649"/>
                </a:lnTo>
                <a:lnTo>
                  <a:pt x="326272" y="238759"/>
                </a:lnTo>
                <a:lnTo>
                  <a:pt x="331489" y="229869"/>
                </a:lnTo>
                <a:lnTo>
                  <a:pt x="339220" y="224789"/>
                </a:lnTo>
                <a:lnTo>
                  <a:pt x="348678" y="223519"/>
                </a:lnTo>
                <a:lnTo>
                  <a:pt x="377211" y="223519"/>
                </a:lnTo>
                <a:lnTo>
                  <a:pt x="375408" y="220979"/>
                </a:lnTo>
                <a:lnTo>
                  <a:pt x="363385" y="213359"/>
                </a:lnTo>
                <a:lnTo>
                  <a:pt x="348678" y="209549"/>
                </a:lnTo>
                <a:close/>
              </a:path>
              <a:path w="433704" h="392429">
                <a:moveTo>
                  <a:pt x="377211" y="223519"/>
                </a:moveTo>
                <a:lnTo>
                  <a:pt x="348678" y="223519"/>
                </a:lnTo>
                <a:lnTo>
                  <a:pt x="358129" y="224789"/>
                </a:lnTo>
                <a:lnTo>
                  <a:pt x="365856" y="229869"/>
                </a:lnTo>
                <a:lnTo>
                  <a:pt x="371072" y="238759"/>
                </a:lnTo>
                <a:lnTo>
                  <a:pt x="372986" y="247649"/>
                </a:lnTo>
                <a:lnTo>
                  <a:pt x="371072" y="256539"/>
                </a:lnTo>
                <a:lnTo>
                  <a:pt x="365856" y="265429"/>
                </a:lnTo>
                <a:lnTo>
                  <a:pt x="358129" y="270509"/>
                </a:lnTo>
                <a:lnTo>
                  <a:pt x="348678" y="271779"/>
                </a:lnTo>
                <a:lnTo>
                  <a:pt x="377211" y="271779"/>
                </a:lnTo>
                <a:lnTo>
                  <a:pt x="383522" y="262889"/>
                </a:lnTo>
                <a:lnTo>
                  <a:pt x="386499" y="247649"/>
                </a:lnTo>
                <a:lnTo>
                  <a:pt x="383522" y="232409"/>
                </a:lnTo>
                <a:lnTo>
                  <a:pt x="377211" y="223519"/>
                </a:lnTo>
                <a:close/>
              </a:path>
              <a:path w="433704" h="392429">
                <a:moveTo>
                  <a:pt x="341182" y="194309"/>
                </a:moveTo>
                <a:lnTo>
                  <a:pt x="301790" y="194309"/>
                </a:lnTo>
                <a:lnTo>
                  <a:pt x="317893" y="205739"/>
                </a:lnTo>
                <a:lnTo>
                  <a:pt x="320814" y="205739"/>
                </a:lnTo>
                <a:lnTo>
                  <a:pt x="327215" y="201929"/>
                </a:lnTo>
                <a:lnTo>
                  <a:pt x="331622" y="200659"/>
                </a:lnTo>
                <a:lnTo>
                  <a:pt x="338823" y="198119"/>
                </a:lnTo>
                <a:lnTo>
                  <a:pt x="340791" y="196849"/>
                </a:lnTo>
                <a:lnTo>
                  <a:pt x="341182" y="194309"/>
                </a:lnTo>
                <a:close/>
              </a:path>
              <a:path w="433704" h="392429">
                <a:moveTo>
                  <a:pt x="367183" y="176529"/>
                </a:moveTo>
                <a:lnTo>
                  <a:pt x="353428" y="176529"/>
                </a:lnTo>
                <a:lnTo>
                  <a:pt x="356565" y="196849"/>
                </a:lnTo>
                <a:lnTo>
                  <a:pt x="358533" y="198119"/>
                </a:lnTo>
                <a:lnTo>
                  <a:pt x="365721" y="200659"/>
                </a:lnTo>
                <a:lnTo>
                  <a:pt x="370116" y="201929"/>
                </a:lnTo>
                <a:lnTo>
                  <a:pt x="376529" y="205739"/>
                </a:lnTo>
                <a:lnTo>
                  <a:pt x="379437" y="205739"/>
                </a:lnTo>
                <a:lnTo>
                  <a:pt x="395554" y="194309"/>
                </a:lnTo>
                <a:lnTo>
                  <a:pt x="414657" y="194309"/>
                </a:lnTo>
                <a:lnTo>
                  <a:pt x="410970" y="190499"/>
                </a:lnTo>
                <a:lnTo>
                  <a:pt x="377164" y="190499"/>
                </a:lnTo>
                <a:lnTo>
                  <a:pt x="374472" y="189229"/>
                </a:lnTo>
                <a:lnTo>
                  <a:pt x="368820" y="186689"/>
                </a:lnTo>
                <a:lnTo>
                  <a:pt x="367183" y="176529"/>
                </a:lnTo>
                <a:close/>
              </a:path>
              <a:path w="433704" h="392429">
                <a:moveTo>
                  <a:pt x="362508" y="162559"/>
                </a:moveTo>
                <a:lnTo>
                  <a:pt x="334848" y="162559"/>
                </a:lnTo>
                <a:lnTo>
                  <a:pt x="332003" y="165099"/>
                </a:lnTo>
                <a:lnTo>
                  <a:pt x="331495" y="168909"/>
                </a:lnTo>
                <a:lnTo>
                  <a:pt x="328536" y="186689"/>
                </a:lnTo>
                <a:lnTo>
                  <a:pt x="325678" y="187959"/>
                </a:lnTo>
                <a:lnTo>
                  <a:pt x="322884" y="189229"/>
                </a:lnTo>
                <a:lnTo>
                  <a:pt x="320192" y="190499"/>
                </a:lnTo>
                <a:lnTo>
                  <a:pt x="341768" y="190499"/>
                </a:lnTo>
                <a:lnTo>
                  <a:pt x="343916" y="176529"/>
                </a:lnTo>
                <a:lnTo>
                  <a:pt x="367183" y="176529"/>
                </a:lnTo>
                <a:lnTo>
                  <a:pt x="365340" y="165099"/>
                </a:lnTo>
                <a:lnTo>
                  <a:pt x="362508" y="162559"/>
                </a:lnTo>
                <a:close/>
              </a:path>
              <a:path w="433704" h="392429">
                <a:moveTo>
                  <a:pt x="398678" y="177799"/>
                </a:moveTo>
                <a:lnTo>
                  <a:pt x="394982" y="177799"/>
                </a:lnTo>
                <a:lnTo>
                  <a:pt x="377164" y="190499"/>
                </a:lnTo>
                <a:lnTo>
                  <a:pt x="410970" y="190499"/>
                </a:lnTo>
                <a:lnTo>
                  <a:pt x="398678" y="177799"/>
                </a:lnTo>
                <a:close/>
              </a:path>
              <a:path w="433704" h="392429">
                <a:moveTo>
                  <a:pt x="238339" y="140969"/>
                </a:moveTo>
                <a:lnTo>
                  <a:pt x="216890" y="140969"/>
                </a:lnTo>
                <a:lnTo>
                  <a:pt x="219583" y="142239"/>
                </a:lnTo>
                <a:lnTo>
                  <a:pt x="222364" y="143509"/>
                </a:lnTo>
                <a:lnTo>
                  <a:pt x="225234" y="144779"/>
                </a:lnTo>
                <a:lnTo>
                  <a:pt x="228714" y="166369"/>
                </a:lnTo>
                <a:lnTo>
                  <a:pt x="231546" y="168909"/>
                </a:lnTo>
                <a:lnTo>
                  <a:pt x="259207" y="168909"/>
                </a:lnTo>
                <a:lnTo>
                  <a:pt x="262051" y="166369"/>
                </a:lnTo>
                <a:lnTo>
                  <a:pt x="262559" y="162559"/>
                </a:lnTo>
                <a:lnTo>
                  <a:pt x="263827" y="154939"/>
                </a:lnTo>
                <a:lnTo>
                  <a:pt x="240639" y="154939"/>
                </a:lnTo>
                <a:lnTo>
                  <a:pt x="238339" y="140969"/>
                </a:lnTo>
                <a:close/>
              </a:path>
              <a:path w="433704" h="392429">
                <a:moveTo>
                  <a:pt x="81711" y="82549"/>
                </a:moveTo>
                <a:lnTo>
                  <a:pt x="77609" y="83819"/>
                </a:lnTo>
                <a:lnTo>
                  <a:pt x="74117" y="91439"/>
                </a:lnTo>
                <a:lnTo>
                  <a:pt x="75361" y="95249"/>
                </a:lnTo>
                <a:lnTo>
                  <a:pt x="93192" y="104139"/>
                </a:lnTo>
                <a:lnTo>
                  <a:pt x="68796" y="109219"/>
                </a:lnTo>
                <a:lnTo>
                  <a:pt x="23408" y="129539"/>
                </a:lnTo>
                <a:lnTo>
                  <a:pt x="0" y="151129"/>
                </a:lnTo>
                <a:lnTo>
                  <a:pt x="3746" y="156209"/>
                </a:lnTo>
                <a:lnTo>
                  <a:pt x="10668" y="156209"/>
                </a:lnTo>
                <a:lnTo>
                  <a:pt x="11950" y="154939"/>
                </a:lnTo>
                <a:lnTo>
                  <a:pt x="31042" y="140969"/>
                </a:lnTo>
                <a:lnTo>
                  <a:pt x="51858" y="129539"/>
                </a:lnTo>
                <a:lnTo>
                  <a:pt x="74006" y="121919"/>
                </a:lnTo>
                <a:lnTo>
                  <a:pt x="97091" y="118109"/>
                </a:lnTo>
                <a:lnTo>
                  <a:pt x="117407" y="118109"/>
                </a:lnTo>
                <a:lnTo>
                  <a:pt x="123278" y="113029"/>
                </a:lnTo>
                <a:lnTo>
                  <a:pt x="124167" y="111759"/>
                </a:lnTo>
                <a:lnTo>
                  <a:pt x="123710" y="106679"/>
                </a:lnTo>
                <a:lnTo>
                  <a:pt x="122377" y="104139"/>
                </a:lnTo>
                <a:lnTo>
                  <a:pt x="81711" y="82549"/>
                </a:lnTo>
                <a:close/>
              </a:path>
              <a:path w="433704" h="392429">
                <a:moveTo>
                  <a:pt x="276199" y="125729"/>
                </a:moveTo>
                <a:lnTo>
                  <a:pt x="273278" y="125729"/>
                </a:lnTo>
                <a:lnTo>
                  <a:pt x="266839" y="129539"/>
                </a:lnTo>
                <a:lnTo>
                  <a:pt x="262458" y="132079"/>
                </a:lnTo>
                <a:lnTo>
                  <a:pt x="257860" y="133349"/>
                </a:lnTo>
                <a:lnTo>
                  <a:pt x="255257" y="133349"/>
                </a:lnTo>
                <a:lnTo>
                  <a:pt x="253276" y="135889"/>
                </a:lnTo>
                <a:lnTo>
                  <a:pt x="250151" y="154939"/>
                </a:lnTo>
                <a:lnTo>
                  <a:pt x="263827" y="154939"/>
                </a:lnTo>
                <a:lnTo>
                  <a:pt x="265518" y="144779"/>
                </a:lnTo>
                <a:lnTo>
                  <a:pt x="268389" y="143509"/>
                </a:lnTo>
                <a:lnTo>
                  <a:pt x="271170" y="142239"/>
                </a:lnTo>
                <a:lnTo>
                  <a:pt x="273862" y="140969"/>
                </a:lnTo>
                <a:lnTo>
                  <a:pt x="308323" y="140969"/>
                </a:lnTo>
                <a:lnTo>
                  <a:pt x="310973" y="138429"/>
                </a:lnTo>
                <a:lnTo>
                  <a:pt x="292290" y="138429"/>
                </a:lnTo>
                <a:lnTo>
                  <a:pt x="276199" y="125729"/>
                </a:lnTo>
                <a:close/>
              </a:path>
              <a:path w="433704" h="392429">
                <a:moveTo>
                  <a:pt x="199072" y="13969"/>
                </a:moveTo>
                <a:lnTo>
                  <a:pt x="195364" y="15239"/>
                </a:lnTo>
                <a:lnTo>
                  <a:pt x="193027" y="16509"/>
                </a:lnTo>
                <a:lnTo>
                  <a:pt x="175806" y="34289"/>
                </a:lnTo>
                <a:lnTo>
                  <a:pt x="175526" y="38099"/>
                </a:lnTo>
                <a:lnTo>
                  <a:pt x="188429" y="55879"/>
                </a:lnTo>
                <a:lnTo>
                  <a:pt x="187071" y="58419"/>
                </a:lnTo>
                <a:lnTo>
                  <a:pt x="185915" y="60959"/>
                </a:lnTo>
                <a:lnTo>
                  <a:pt x="184975" y="63499"/>
                </a:lnTo>
                <a:lnTo>
                  <a:pt x="163245" y="67309"/>
                </a:lnTo>
                <a:lnTo>
                  <a:pt x="160832" y="69849"/>
                </a:lnTo>
                <a:lnTo>
                  <a:pt x="160832" y="97789"/>
                </a:lnTo>
                <a:lnTo>
                  <a:pt x="163245" y="100329"/>
                </a:lnTo>
                <a:lnTo>
                  <a:pt x="166522" y="101599"/>
                </a:lnTo>
                <a:lnTo>
                  <a:pt x="184975" y="104139"/>
                </a:lnTo>
                <a:lnTo>
                  <a:pt x="185915" y="106679"/>
                </a:lnTo>
                <a:lnTo>
                  <a:pt x="187071" y="110489"/>
                </a:lnTo>
                <a:lnTo>
                  <a:pt x="188429" y="113029"/>
                </a:lnTo>
                <a:lnTo>
                  <a:pt x="175526" y="130809"/>
                </a:lnTo>
                <a:lnTo>
                  <a:pt x="175806" y="134619"/>
                </a:lnTo>
                <a:lnTo>
                  <a:pt x="195376" y="153669"/>
                </a:lnTo>
                <a:lnTo>
                  <a:pt x="199072" y="153669"/>
                </a:lnTo>
                <a:lnTo>
                  <a:pt x="216890" y="140969"/>
                </a:lnTo>
                <a:lnTo>
                  <a:pt x="238339" y="140969"/>
                </a:lnTo>
                <a:lnTo>
                  <a:pt x="237920" y="138429"/>
                </a:lnTo>
                <a:lnTo>
                  <a:pt x="198513" y="138429"/>
                </a:lnTo>
                <a:lnTo>
                  <a:pt x="191795" y="130809"/>
                </a:lnTo>
                <a:lnTo>
                  <a:pt x="203454" y="115569"/>
                </a:lnTo>
                <a:lnTo>
                  <a:pt x="203581" y="111759"/>
                </a:lnTo>
                <a:lnTo>
                  <a:pt x="199783" y="105409"/>
                </a:lnTo>
                <a:lnTo>
                  <a:pt x="197967" y="101599"/>
                </a:lnTo>
                <a:lnTo>
                  <a:pt x="196126" y="93979"/>
                </a:lnTo>
                <a:lnTo>
                  <a:pt x="193967" y="92709"/>
                </a:lnTo>
                <a:lnTo>
                  <a:pt x="191312" y="91439"/>
                </a:lnTo>
                <a:lnTo>
                  <a:pt x="174345" y="88899"/>
                </a:lnTo>
                <a:lnTo>
                  <a:pt x="174345" y="80009"/>
                </a:lnTo>
                <a:lnTo>
                  <a:pt x="193967" y="76199"/>
                </a:lnTo>
                <a:lnTo>
                  <a:pt x="196126" y="74929"/>
                </a:lnTo>
                <a:lnTo>
                  <a:pt x="197967" y="67309"/>
                </a:lnTo>
                <a:lnTo>
                  <a:pt x="199783" y="62229"/>
                </a:lnTo>
                <a:lnTo>
                  <a:pt x="203581" y="55879"/>
                </a:lnTo>
                <a:lnTo>
                  <a:pt x="203454" y="53339"/>
                </a:lnTo>
                <a:lnTo>
                  <a:pt x="191795" y="36829"/>
                </a:lnTo>
                <a:lnTo>
                  <a:pt x="198513" y="30479"/>
                </a:lnTo>
                <a:lnTo>
                  <a:pt x="237905" y="30479"/>
                </a:lnTo>
                <a:lnTo>
                  <a:pt x="238296" y="27939"/>
                </a:lnTo>
                <a:lnTo>
                  <a:pt x="216890" y="27939"/>
                </a:lnTo>
                <a:lnTo>
                  <a:pt x="199072" y="13969"/>
                </a:lnTo>
                <a:close/>
              </a:path>
              <a:path w="433704" h="392429">
                <a:moveTo>
                  <a:pt x="308323" y="140969"/>
                </a:moveTo>
                <a:lnTo>
                  <a:pt x="273862" y="140969"/>
                </a:lnTo>
                <a:lnTo>
                  <a:pt x="291693" y="153669"/>
                </a:lnTo>
                <a:lnTo>
                  <a:pt x="295402" y="153669"/>
                </a:lnTo>
                <a:lnTo>
                  <a:pt x="297726" y="151129"/>
                </a:lnTo>
                <a:lnTo>
                  <a:pt x="308323" y="140969"/>
                </a:lnTo>
                <a:close/>
              </a:path>
              <a:path w="433704" h="392429">
                <a:moveTo>
                  <a:pt x="117407" y="118109"/>
                </a:moveTo>
                <a:lnTo>
                  <a:pt x="97091" y="118109"/>
                </a:lnTo>
                <a:lnTo>
                  <a:pt x="82194" y="129539"/>
                </a:lnTo>
                <a:lnTo>
                  <a:pt x="81813" y="134619"/>
                </a:lnTo>
                <a:lnTo>
                  <a:pt x="85547" y="138429"/>
                </a:lnTo>
                <a:lnTo>
                  <a:pt x="87452" y="139699"/>
                </a:lnTo>
                <a:lnTo>
                  <a:pt x="92456" y="139699"/>
                </a:lnTo>
                <a:lnTo>
                  <a:pt x="117407" y="118109"/>
                </a:lnTo>
                <a:close/>
              </a:path>
              <a:path w="433704" h="392429">
                <a:moveTo>
                  <a:pt x="368975" y="49529"/>
                </a:moveTo>
                <a:lnTo>
                  <a:pt x="354876" y="49529"/>
                </a:lnTo>
                <a:lnTo>
                  <a:pt x="357247" y="58419"/>
                </a:lnTo>
                <a:lnTo>
                  <a:pt x="358946" y="66039"/>
                </a:lnTo>
                <a:lnTo>
                  <a:pt x="359969" y="74929"/>
                </a:lnTo>
                <a:lnTo>
                  <a:pt x="360311" y="83819"/>
                </a:lnTo>
                <a:lnTo>
                  <a:pt x="359715" y="96519"/>
                </a:lnTo>
                <a:lnTo>
                  <a:pt x="357932" y="107949"/>
                </a:lnTo>
                <a:lnTo>
                  <a:pt x="354969" y="119379"/>
                </a:lnTo>
                <a:lnTo>
                  <a:pt x="350837" y="129539"/>
                </a:lnTo>
                <a:lnTo>
                  <a:pt x="349351" y="133349"/>
                </a:lnTo>
                <a:lnTo>
                  <a:pt x="350926" y="137159"/>
                </a:lnTo>
                <a:lnTo>
                  <a:pt x="354342" y="138429"/>
                </a:lnTo>
                <a:lnTo>
                  <a:pt x="357035" y="139699"/>
                </a:lnTo>
                <a:lnTo>
                  <a:pt x="359651" y="139699"/>
                </a:lnTo>
                <a:lnTo>
                  <a:pt x="362127" y="138429"/>
                </a:lnTo>
                <a:lnTo>
                  <a:pt x="373182" y="97789"/>
                </a:lnTo>
                <a:lnTo>
                  <a:pt x="373849" y="83819"/>
                </a:lnTo>
                <a:lnTo>
                  <a:pt x="373472" y="74929"/>
                </a:lnTo>
                <a:lnTo>
                  <a:pt x="372343" y="64769"/>
                </a:lnTo>
                <a:lnTo>
                  <a:pt x="370469" y="54609"/>
                </a:lnTo>
                <a:lnTo>
                  <a:pt x="368975" y="49529"/>
                </a:lnTo>
                <a:close/>
              </a:path>
              <a:path w="433704" h="392429">
                <a:moveTo>
                  <a:pt x="217538" y="125729"/>
                </a:moveTo>
                <a:lnTo>
                  <a:pt x="214630" y="125729"/>
                </a:lnTo>
                <a:lnTo>
                  <a:pt x="198513" y="138429"/>
                </a:lnTo>
                <a:lnTo>
                  <a:pt x="237920" y="138429"/>
                </a:lnTo>
                <a:lnTo>
                  <a:pt x="237502" y="135889"/>
                </a:lnTo>
                <a:lnTo>
                  <a:pt x="235534" y="133349"/>
                </a:lnTo>
                <a:lnTo>
                  <a:pt x="228358" y="132079"/>
                </a:lnTo>
                <a:lnTo>
                  <a:pt x="223951" y="129539"/>
                </a:lnTo>
                <a:lnTo>
                  <a:pt x="217538" y="125729"/>
                </a:lnTo>
                <a:close/>
              </a:path>
              <a:path w="433704" h="392429">
                <a:moveTo>
                  <a:pt x="311033" y="30479"/>
                </a:moveTo>
                <a:lnTo>
                  <a:pt x="292277" y="30479"/>
                </a:lnTo>
                <a:lnTo>
                  <a:pt x="298996" y="36829"/>
                </a:lnTo>
                <a:lnTo>
                  <a:pt x="287337" y="53339"/>
                </a:lnTo>
                <a:lnTo>
                  <a:pt x="287210" y="55879"/>
                </a:lnTo>
                <a:lnTo>
                  <a:pt x="291007" y="62229"/>
                </a:lnTo>
                <a:lnTo>
                  <a:pt x="292823" y="67309"/>
                </a:lnTo>
                <a:lnTo>
                  <a:pt x="294665" y="74929"/>
                </a:lnTo>
                <a:lnTo>
                  <a:pt x="296824" y="76199"/>
                </a:lnTo>
                <a:lnTo>
                  <a:pt x="316445" y="80009"/>
                </a:lnTo>
                <a:lnTo>
                  <a:pt x="316445" y="88899"/>
                </a:lnTo>
                <a:lnTo>
                  <a:pt x="296837" y="92709"/>
                </a:lnTo>
                <a:lnTo>
                  <a:pt x="294678" y="93979"/>
                </a:lnTo>
                <a:lnTo>
                  <a:pt x="294030" y="96519"/>
                </a:lnTo>
                <a:lnTo>
                  <a:pt x="292849" y="101599"/>
                </a:lnTo>
                <a:lnTo>
                  <a:pt x="291033" y="105409"/>
                </a:lnTo>
                <a:lnTo>
                  <a:pt x="287235" y="111759"/>
                </a:lnTo>
                <a:lnTo>
                  <a:pt x="287362" y="115569"/>
                </a:lnTo>
                <a:lnTo>
                  <a:pt x="299008" y="130809"/>
                </a:lnTo>
                <a:lnTo>
                  <a:pt x="292290" y="138429"/>
                </a:lnTo>
                <a:lnTo>
                  <a:pt x="310973" y="138429"/>
                </a:lnTo>
                <a:lnTo>
                  <a:pt x="314947" y="134619"/>
                </a:lnTo>
                <a:lnTo>
                  <a:pt x="315239" y="130809"/>
                </a:lnTo>
                <a:lnTo>
                  <a:pt x="302323" y="113029"/>
                </a:lnTo>
                <a:lnTo>
                  <a:pt x="303682" y="110489"/>
                </a:lnTo>
                <a:lnTo>
                  <a:pt x="304838" y="106679"/>
                </a:lnTo>
                <a:lnTo>
                  <a:pt x="305790" y="104139"/>
                </a:lnTo>
                <a:lnTo>
                  <a:pt x="327520" y="100329"/>
                </a:lnTo>
                <a:lnTo>
                  <a:pt x="329920" y="97789"/>
                </a:lnTo>
                <a:lnTo>
                  <a:pt x="329920" y="69849"/>
                </a:lnTo>
                <a:lnTo>
                  <a:pt x="327520" y="67309"/>
                </a:lnTo>
                <a:lnTo>
                  <a:pt x="305790" y="64769"/>
                </a:lnTo>
                <a:lnTo>
                  <a:pt x="304838" y="60959"/>
                </a:lnTo>
                <a:lnTo>
                  <a:pt x="303682" y="58419"/>
                </a:lnTo>
                <a:lnTo>
                  <a:pt x="302323" y="55879"/>
                </a:lnTo>
                <a:lnTo>
                  <a:pt x="315239" y="38099"/>
                </a:lnTo>
                <a:lnTo>
                  <a:pt x="314947" y="34289"/>
                </a:lnTo>
                <a:lnTo>
                  <a:pt x="311033" y="30479"/>
                </a:lnTo>
                <a:close/>
              </a:path>
              <a:path w="433704" h="392429">
                <a:moveTo>
                  <a:pt x="245402" y="46989"/>
                </a:moveTo>
                <a:lnTo>
                  <a:pt x="230687" y="49529"/>
                </a:lnTo>
                <a:lnTo>
                  <a:pt x="218660" y="57149"/>
                </a:lnTo>
                <a:lnTo>
                  <a:pt x="210545" y="69849"/>
                </a:lnTo>
                <a:lnTo>
                  <a:pt x="207568" y="83819"/>
                </a:lnTo>
                <a:lnTo>
                  <a:pt x="210545" y="99059"/>
                </a:lnTo>
                <a:lnTo>
                  <a:pt x="218660" y="110489"/>
                </a:lnTo>
                <a:lnTo>
                  <a:pt x="230687" y="119379"/>
                </a:lnTo>
                <a:lnTo>
                  <a:pt x="245402" y="121919"/>
                </a:lnTo>
                <a:lnTo>
                  <a:pt x="260109" y="119379"/>
                </a:lnTo>
                <a:lnTo>
                  <a:pt x="272132" y="110489"/>
                </a:lnTo>
                <a:lnTo>
                  <a:pt x="273033" y="109219"/>
                </a:lnTo>
                <a:lnTo>
                  <a:pt x="245402" y="109219"/>
                </a:lnTo>
                <a:lnTo>
                  <a:pt x="235944" y="106679"/>
                </a:lnTo>
                <a:lnTo>
                  <a:pt x="228212" y="101599"/>
                </a:lnTo>
                <a:lnTo>
                  <a:pt x="222995" y="93979"/>
                </a:lnTo>
                <a:lnTo>
                  <a:pt x="221081" y="83819"/>
                </a:lnTo>
                <a:lnTo>
                  <a:pt x="222995" y="74929"/>
                </a:lnTo>
                <a:lnTo>
                  <a:pt x="228212" y="67309"/>
                </a:lnTo>
                <a:lnTo>
                  <a:pt x="235944" y="62229"/>
                </a:lnTo>
                <a:lnTo>
                  <a:pt x="245402" y="59689"/>
                </a:lnTo>
                <a:lnTo>
                  <a:pt x="273755" y="59689"/>
                </a:lnTo>
                <a:lnTo>
                  <a:pt x="272132" y="57149"/>
                </a:lnTo>
                <a:lnTo>
                  <a:pt x="260109" y="49529"/>
                </a:lnTo>
                <a:lnTo>
                  <a:pt x="245402" y="46989"/>
                </a:lnTo>
                <a:close/>
              </a:path>
              <a:path w="433704" h="392429">
                <a:moveTo>
                  <a:pt x="273755" y="59689"/>
                </a:moveTo>
                <a:lnTo>
                  <a:pt x="245402" y="59689"/>
                </a:lnTo>
                <a:lnTo>
                  <a:pt x="254852" y="62229"/>
                </a:lnTo>
                <a:lnTo>
                  <a:pt x="262580" y="67309"/>
                </a:lnTo>
                <a:lnTo>
                  <a:pt x="267795" y="74929"/>
                </a:lnTo>
                <a:lnTo>
                  <a:pt x="269709" y="83819"/>
                </a:lnTo>
                <a:lnTo>
                  <a:pt x="267795" y="93979"/>
                </a:lnTo>
                <a:lnTo>
                  <a:pt x="262580" y="101599"/>
                </a:lnTo>
                <a:lnTo>
                  <a:pt x="254852" y="106679"/>
                </a:lnTo>
                <a:lnTo>
                  <a:pt x="245402" y="109219"/>
                </a:lnTo>
                <a:lnTo>
                  <a:pt x="273033" y="109219"/>
                </a:lnTo>
                <a:lnTo>
                  <a:pt x="280245" y="99059"/>
                </a:lnTo>
                <a:lnTo>
                  <a:pt x="283222" y="83819"/>
                </a:lnTo>
                <a:lnTo>
                  <a:pt x="280245" y="69849"/>
                </a:lnTo>
                <a:lnTo>
                  <a:pt x="273755" y="59689"/>
                </a:lnTo>
                <a:close/>
              </a:path>
              <a:path w="433704" h="392429">
                <a:moveTo>
                  <a:pt x="354723" y="20319"/>
                </a:moveTo>
                <a:lnTo>
                  <a:pt x="352348" y="20319"/>
                </a:lnTo>
                <a:lnTo>
                  <a:pt x="348170" y="21589"/>
                </a:lnTo>
                <a:lnTo>
                  <a:pt x="346621" y="22859"/>
                </a:lnTo>
                <a:lnTo>
                  <a:pt x="338582" y="60959"/>
                </a:lnTo>
                <a:lnTo>
                  <a:pt x="337807" y="64769"/>
                </a:lnTo>
                <a:lnTo>
                  <a:pt x="340118" y="68579"/>
                </a:lnTo>
                <a:lnTo>
                  <a:pt x="348284" y="68579"/>
                </a:lnTo>
                <a:lnTo>
                  <a:pt x="351078" y="67309"/>
                </a:lnTo>
                <a:lnTo>
                  <a:pt x="354876" y="49529"/>
                </a:lnTo>
                <a:lnTo>
                  <a:pt x="368975" y="49529"/>
                </a:lnTo>
                <a:lnTo>
                  <a:pt x="367855" y="45719"/>
                </a:lnTo>
                <a:lnTo>
                  <a:pt x="392798" y="45719"/>
                </a:lnTo>
                <a:lnTo>
                  <a:pt x="356565" y="21589"/>
                </a:lnTo>
                <a:lnTo>
                  <a:pt x="354723" y="20319"/>
                </a:lnTo>
                <a:close/>
              </a:path>
              <a:path w="433704" h="392429">
                <a:moveTo>
                  <a:pt x="392798" y="45719"/>
                </a:moveTo>
                <a:lnTo>
                  <a:pt x="367855" y="45719"/>
                </a:lnTo>
                <a:lnTo>
                  <a:pt x="385178" y="57149"/>
                </a:lnTo>
                <a:lnTo>
                  <a:pt x="389382" y="55879"/>
                </a:lnTo>
                <a:lnTo>
                  <a:pt x="393598" y="50799"/>
                </a:lnTo>
                <a:lnTo>
                  <a:pt x="392798" y="45719"/>
                </a:lnTo>
                <a:close/>
              </a:path>
              <a:path w="433704" h="392429">
                <a:moveTo>
                  <a:pt x="237905" y="30479"/>
                </a:moveTo>
                <a:lnTo>
                  <a:pt x="198513" y="30479"/>
                </a:lnTo>
                <a:lnTo>
                  <a:pt x="214617" y="41909"/>
                </a:lnTo>
                <a:lnTo>
                  <a:pt x="217538" y="41909"/>
                </a:lnTo>
                <a:lnTo>
                  <a:pt x="223939" y="38099"/>
                </a:lnTo>
                <a:lnTo>
                  <a:pt x="228333" y="36829"/>
                </a:lnTo>
                <a:lnTo>
                  <a:pt x="235534" y="35559"/>
                </a:lnTo>
                <a:lnTo>
                  <a:pt x="237515" y="33019"/>
                </a:lnTo>
                <a:lnTo>
                  <a:pt x="237905" y="30479"/>
                </a:lnTo>
                <a:close/>
              </a:path>
              <a:path w="433704" h="392429">
                <a:moveTo>
                  <a:pt x="263676" y="12699"/>
                </a:moveTo>
                <a:lnTo>
                  <a:pt x="250151" y="12699"/>
                </a:lnTo>
                <a:lnTo>
                  <a:pt x="253288" y="33019"/>
                </a:lnTo>
                <a:lnTo>
                  <a:pt x="255257" y="35559"/>
                </a:lnTo>
                <a:lnTo>
                  <a:pt x="262432" y="36829"/>
                </a:lnTo>
                <a:lnTo>
                  <a:pt x="266839" y="38099"/>
                </a:lnTo>
                <a:lnTo>
                  <a:pt x="273253" y="41909"/>
                </a:lnTo>
                <a:lnTo>
                  <a:pt x="276161" y="41909"/>
                </a:lnTo>
                <a:lnTo>
                  <a:pt x="292277" y="30479"/>
                </a:lnTo>
                <a:lnTo>
                  <a:pt x="311033" y="30479"/>
                </a:lnTo>
                <a:lnTo>
                  <a:pt x="308423" y="27939"/>
                </a:lnTo>
                <a:lnTo>
                  <a:pt x="273862" y="27939"/>
                </a:lnTo>
                <a:lnTo>
                  <a:pt x="271170" y="25399"/>
                </a:lnTo>
                <a:lnTo>
                  <a:pt x="268376" y="25399"/>
                </a:lnTo>
                <a:lnTo>
                  <a:pt x="265518" y="24129"/>
                </a:lnTo>
                <a:lnTo>
                  <a:pt x="263676" y="12699"/>
                </a:lnTo>
                <a:close/>
              </a:path>
              <a:path w="433704" h="392429">
                <a:moveTo>
                  <a:pt x="259207" y="0"/>
                </a:moveTo>
                <a:lnTo>
                  <a:pt x="231546" y="0"/>
                </a:lnTo>
                <a:lnTo>
                  <a:pt x="228714" y="2539"/>
                </a:lnTo>
                <a:lnTo>
                  <a:pt x="225234" y="24129"/>
                </a:lnTo>
                <a:lnTo>
                  <a:pt x="222389" y="25399"/>
                </a:lnTo>
                <a:lnTo>
                  <a:pt x="219583" y="25399"/>
                </a:lnTo>
                <a:lnTo>
                  <a:pt x="216890" y="27939"/>
                </a:lnTo>
                <a:lnTo>
                  <a:pt x="238296" y="27939"/>
                </a:lnTo>
                <a:lnTo>
                  <a:pt x="240639" y="12699"/>
                </a:lnTo>
                <a:lnTo>
                  <a:pt x="263676" y="12699"/>
                </a:lnTo>
                <a:lnTo>
                  <a:pt x="262039" y="2539"/>
                </a:lnTo>
                <a:lnTo>
                  <a:pt x="259207" y="0"/>
                </a:lnTo>
                <a:close/>
              </a:path>
              <a:path w="433704" h="392429">
                <a:moveTo>
                  <a:pt x="291693" y="13969"/>
                </a:moveTo>
                <a:lnTo>
                  <a:pt x="273862" y="27939"/>
                </a:lnTo>
                <a:lnTo>
                  <a:pt x="308423" y="27939"/>
                </a:lnTo>
                <a:lnTo>
                  <a:pt x="295376" y="15239"/>
                </a:lnTo>
                <a:lnTo>
                  <a:pt x="291693" y="139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0">
            <a:extLst>
              <a:ext uri="{FF2B5EF4-FFF2-40B4-BE49-F238E27FC236}">
                <a16:creationId xmlns:a16="http://schemas.microsoft.com/office/drawing/2014/main" id="{4BEC3702-39DB-4B71-B7A7-D1CCA9499E38}"/>
              </a:ext>
            </a:extLst>
          </p:cNvPr>
          <p:cNvSpPr/>
          <p:nvPr/>
        </p:nvSpPr>
        <p:spPr>
          <a:xfrm>
            <a:off x="1551228" y="2603162"/>
            <a:ext cx="481965" cy="481965"/>
          </a:xfrm>
          <a:custGeom>
            <a:avLst/>
            <a:gdLst/>
            <a:ahLst/>
            <a:cxnLst/>
            <a:rect l="l" t="t" r="r" b="b"/>
            <a:pathLst>
              <a:path w="481964" h="481964">
                <a:moveTo>
                  <a:pt x="240817" y="0"/>
                </a:moveTo>
                <a:lnTo>
                  <a:pt x="192282" y="4892"/>
                </a:lnTo>
                <a:lnTo>
                  <a:pt x="147077" y="18925"/>
                </a:lnTo>
                <a:lnTo>
                  <a:pt x="106170" y="41129"/>
                </a:lnTo>
                <a:lnTo>
                  <a:pt x="70531" y="70537"/>
                </a:lnTo>
                <a:lnTo>
                  <a:pt x="41125" y="106179"/>
                </a:lnTo>
                <a:lnTo>
                  <a:pt x="18923" y="147088"/>
                </a:lnTo>
                <a:lnTo>
                  <a:pt x="4892" y="192294"/>
                </a:lnTo>
                <a:lnTo>
                  <a:pt x="0" y="240830"/>
                </a:lnTo>
                <a:lnTo>
                  <a:pt x="4892" y="289361"/>
                </a:lnTo>
                <a:lnTo>
                  <a:pt x="18923" y="334564"/>
                </a:lnTo>
                <a:lnTo>
                  <a:pt x="41125" y="375471"/>
                </a:lnTo>
                <a:lnTo>
                  <a:pt x="70531" y="411111"/>
                </a:lnTo>
                <a:lnTo>
                  <a:pt x="106170" y="440518"/>
                </a:lnTo>
                <a:lnTo>
                  <a:pt x="147077" y="462722"/>
                </a:lnTo>
                <a:lnTo>
                  <a:pt x="192282" y="476754"/>
                </a:lnTo>
                <a:lnTo>
                  <a:pt x="240817" y="481647"/>
                </a:lnTo>
                <a:lnTo>
                  <a:pt x="289352" y="476754"/>
                </a:lnTo>
                <a:lnTo>
                  <a:pt x="334557" y="462722"/>
                </a:lnTo>
                <a:lnTo>
                  <a:pt x="375463" y="440518"/>
                </a:lnTo>
                <a:lnTo>
                  <a:pt x="411103" y="411111"/>
                </a:lnTo>
                <a:lnTo>
                  <a:pt x="440508" y="375471"/>
                </a:lnTo>
                <a:lnTo>
                  <a:pt x="462711" y="334564"/>
                </a:lnTo>
                <a:lnTo>
                  <a:pt x="476742" y="289361"/>
                </a:lnTo>
                <a:lnTo>
                  <a:pt x="481634" y="240830"/>
                </a:lnTo>
                <a:lnTo>
                  <a:pt x="476742" y="192294"/>
                </a:lnTo>
                <a:lnTo>
                  <a:pt x="462711" y="147088"/>
                </a:lnTo>
                <a:lnTo>
                  <a:pt x="440508" y="106179"/>
                </a:lnTo>
                <a:lnTo>
                  <a:pt x="411103" y="70537"/>
                </a:lnTo>
                <a:lnTo>
                  <a:pt x="375463" y="41129"/>
                </a:lnTo>
                <a:lnTo>
                  <a:pt x="334557" y="18925"/>
                </a:lnTo>
                <a:lnTo>
                  <a:pt x="289352" y="4892"/>
                </a:lnTo>
                <a:lnTo>
                  <a:pt x="240817" y="0"/>
                </a:lnTo>
                <a:close/>
              </a:path>
            </a:pathLst>
          </a:custGeom>
          <a:solidFill>
            <a:srgbClr val="85BD4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4627E1BC-2A7F-41FF-9688-043FE8724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904" y="2704055"/>
            <a:ext cx="451794" cy="32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7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1FE902-47CD-46BF-AF9A-E983D6A79F29}"/>
              </a:ext>
            </a:extLst>
          </p:cNvPr>
          <p:cNvSpPr/>
          <p:nvPr/>
        </p:nvSpPr>
        <p:spPr>
          <a:xfrm>
            <a:off x="1094874" y="15546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Aft>
                <a:spcPts val="0"/>
              </a:spcAft>
            </a:pPr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</a:rPr>
              <a:t>ARM is a powerful tool to make </a:t>
            </a:r>
            <a:r>
              <a:rPr lang="en-GB" b="1" dirty="0">
                <a:latin typeface="Arial" panose="020B0604020202020204" pitchFamily="34" charset="0"/>
                <a:ea typeface="Calibri" panose="020F0502020204030204" pitchFamily="34" charset="0"/>
              </a:rPr>
              <a:t>farmers more resilient </a:t>
            </a:r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</a:rPr>
              <a:t>to different</a:t>
            </a:r>
            <a:r>
              <a:rPr lang="en-GB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</a:rPr>
              <a:t>shocks.</a:t>
            </a:r>
            <a:endParaRPr lang="en-GB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CasellaDiTesto 4">
            <a:extLst>
              <a:ext uri="{FF2B5EF4-FFF2-40B4-BE49-F238E27FC236}">
                <a16:creationId xmlns:a16="http://schemas.microsoft.com/office/drawing/2014/main" id="{0470FD10-F579-4498-8E4D-393F52DE095C}"/>
              </a:ext>
            </a:extLst>
          </p:cNvPr>
          <p:cNvSpPr txBox="1"/>
          <p:nvPr/>
        </p:nvSpPr>
        <p:spPr>
          <a:xfrm>
            <a:off x="612443" y="85592"/>
            <a:ext cx="1096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Arial" panose="020B0604020202020204" pitchFamily="34" charset="0"/>
              </a:rPr>
              <a:t>TAKE AWAY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BBA5C-D69C-4A47-B70B-23747C9F4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738" y="3999266"/>
            <a:ext cx="6100235" cy="30473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BAD77E-C6AF-41C7-AD27-476B6E9EA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48" y="1693885"/>
            <a:ext cx="330031" cy="32409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3B66774-B0C0-4645-91DE-8180DF17C92A}"/>
              </a:ext>
            </a:extLst>
          </p:cNvPr>
          <p:cNvSpPr/>
          <p:nvPr/>
        </p:nvSpPr>
        <p:spPr>
          <a:xfrm>
            <a:off x="1042837" y="3005368"/>
            <a:ext cx="6278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GB" b="1" dirty="0">
                <a:latin typeface="Arial" panose="020B0604020202020204" pitchFamily="34" charset="0"/>
                <a:ea typeface="Calibri" panose="020F0502020204030204" pitchFamily="34" charset="0"/>
              </a:rPr>
              <a:t>De-risking investment </a:t>
            </a:r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</a:rPr>
              <a:t>can contribute to make agricultural sector more attractive for PPP and </a:t>
            </a:r>
            <a:r>
              <a:rPr lang="en-GB" b="1" dirty="0">
                <a:latin typeface="Arial" panose="020B0604020202020204" pitchFamily="34" charset="0"/>
                <a:ea typeface="Calibri" panose="020F0502020204030204" pitchFamily="34" charset="0"/>
              </a:rPr>
              <a:t>boost rural investment</a:t>
            </a:r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GB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DBE5DE-44FB-4915-8341-0FD0C6C73150}"/>
              </a:ext>
            </a:extLst>
          </p:cNvPr>
          <p:cNvSpPr/>
          <p:nvPr/>
        </p:nvSpPr>
        <p:spPr>
          <a:xfrm>
            <a:off x="1094874" y="385840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</a:rPr>
              <a:t>PARM plays a key role as 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knowledge broker among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global and local communities of practice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facilitating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generation, access, exchange of knowledge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stimulating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partnerships on ARM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2C3D4C-84A5-4982-BC04-89716A9A9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47" y="4019522"/>
            <a:ext cx="330031" cy="3240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1CD7776-2379-43F7-AAC1-593FD3B8B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07" y="3104909"/>
            <a:ext cx="330031" cy="32409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8118E92-0FCB-42A7-B17A-2EA3686AF61D}"/>
              </a:ext>
            </a:extLst>
          </p:cNvPr>
          <p:cNvSpPr/>
          <p:nvPr/>
        </p:nvSpPr>
        <p:spPr>
          <a:xfrm>
            <a:off x="1083299" y="2288865"/>
            <a:ext cx="64865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ARM integration enables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sustainable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food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increased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security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31B817C-AD27-44C6-8F81-38787B2F3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9" y="2389216"/>
            <a:ext cx="330031" cy="32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1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12"/>
          <p:cNvSpPr txBox="1"/>
          <p:nvPr/>
        </p:nvSpPr>
        <p:spPr>
          <a:xfrm>
            <a:off x="-51757" y="1646322"/>
            <a:ext cx="12192001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charset="0"/>
                <a:ea typeface="Cambria" charset="0"/>
                <a:cs typeface="Cambria" charset="0"/>
              </a:rPr>
              <a:t>Partner with us!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charset="0"/>
                <a:ea typeface="Cambria" charset="0"/>
                <a:cs typeface="Cambria" charset="0"/>
              </a:rPr>
              <a:t>Let’s turn risk into opportunities.</a:t>
            </a:r>
            <a:endParaRPr kumimoji="0" lang="it-IT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charset="0"/>
              <a:ea typeface="Cambria" charset="0"/>
              <a:cs typeface="Cambria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ED126-7450-4129-8D04-D688D455C105}"/>
              </a:ext>
            </a:extLst>
          </p:cNvPr>
          <p:cNvSpPr txBox="1"/>
          <p:nvPr/>
        </p:nvSpPr>
        <p:spPr>
          <a:xfrm>
            <a:off x="3922622" y="4777682"/>
            <a:ext cx="2046297" cy="2893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parm@ifad.org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989664-2AAD-4914-813B-10C64CC84BEB}"/>
              </a:ext>
            </a:extLst>
          </p:cNvPr>
          <p:cNvSpPr txBox="1"/>
          <p:nvPr/>
        </p:nvSpPr>
        <p:spPr>
          <a:xfrm>
            <a:off x="5814077" y="4777682"/>
            <a:ext cx="2046297" cy="2893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www.parm.org</a:t>
            </a:r>
          </a:p>
        </p:txBody>
      </p:sp>
      <p:grpSp>
        <p:nvGrpSpPr>
          <p:cNvPr id="15" name="Gruppo 20">
            <a:extLst>
              <a:ext uri="{FF2B5EF4-FFF2-40B4-BE49-F238E27FC236}">
                <a16:creationId xmlns:a16="http://schemas.microsoft.com/office/drawing/2014/main" id="{EE626818-FF08-4E39-97D9-646ADA3C5977}"/>
              </a:ext>
            </a:extLst>
          </p:cNvPr>
          <p:cNvGrpSpPr/>
          <p:nvPr/>
        </p:nvGrpSpPr>
        <p:grpSpPr>
          <a:xfrm>
            <a:off x="4488888" y="3549492"/>
            <a:ext cx="913767" cy="913767"/>
            <a:chOff x="2113487" y="3274857"/>
            <a:chExt cx="913767" cy="913767"/>
          </a:xfrm>
        </p:grpSpPr>
        <p:pic>
          <p:nvPicPr>
            <p:cNvPr id="16" name="Immagine 11">
              <a:extLst>
                <a:ext uri="{FF2B5EF4-FFF2-40B4-BE49-F238E27FC236}">
                  <a16:creationId xmlns:a16="http://schemas.microsoft.com/office/drawing/2014/main" id="{99F0AFFB-AA98-46AF-9777-A0D5DC508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5394" y="3515683"/>
              <a:ext cx="529952" cy="432114"/>
            </a:xfrm>
            <a:prstGeom prst="rect">
              <a:avLst/>
            </a:prstGeom>
          </p:spPr>
        </p:pic>
        <p:sp>
          <p:nvSpPr>
            <p:cNvPr id="17" name="Ovale 15">
              <a:extLst>
                <a:ext uri="{FF2B5EF4-FFF2-40B4-BE49-F238E27FC236}">
                  <a16:creationId xmlns:a16="http://schemas.microsoft.com/office/drawing/2014/main" id="{5F13628C-6CD5-40E8-BB19-F8C20EF1C094}"/>
                </a:ext>
              </a:extLst>
            </p:cNvPr>
            <p:cNvSpPr/>
            <p:nvPr/>
          </p:nvSpPr>
          <p:spPr>
            <a:xfrm>
              <a:off x="2113487" y="3274857"/>
              <a:ext cx="913767" cy="91376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" name="Gruppo 22">
            <a:extLst>
              <a:ext uri="{FF2B5EF4-FFF2-40B4-BE49-F238E27FC236}">
                <a16:creationId xmlns:a16="http://schemas.microsoft.com/office/drawing/2014/main" id="{2156378F-CA4F-4222-A38A-D6C56DFEAB0C}"/>
              </a:ext>
            </a:extLst>
          </p:cNvPr>
          <p:cNvGrpSpPr/>
          <p:nvPr/>
        </p:nvGrpSpPr>
        <p:grpSpPr>
          <a:xfrm>
            <a:off x="6380342" y="3549492"/>
            <a:ext cx="913767" cy="913767"/>
            <a:chOff x="3925620" y="3274182"/>
            <a:chExt cx="913767" cy="913767"/>
          </a:xfrm>
        </p:grpSpPr>
        <p:pic>
          <p:nvPicPr>
            <p:cNvPr id="19" name="Immagine 12">
              <a:extLst>
                <a:ext uri="{FF2B5EF4-FFF2-40B4-BE49-F238E27FC236}">
                  <a16:creationId xmlns:a16="http://schemas.microsoft.com/office/drawing/2014/main" id="{35A145C2-0F1F-477E-9A44-B74589294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7967" y="3456529"/>
              <a:ext cx="549072" cy="549072"/>
            </a:xfrm>
            <a:prstGeom prst="rect">
              <a:avLst/>
            </a:prstGeom>
          </p:spPr>
        </p:pic>
        <p:sp>
          <p:nvSpPr>
            <p:cNvPr id="20" name="Ovale 16">
              <a:extLst>
                <a:ext uri="{FF2B5EF4-FFF2-40B4-BE49-F238E27FC236}">
                  <a16:creationId xmlns:a16="http://schemas.microsoft.com/office/drawing/2014/main" id="{3C1D06AE-ABC5-4761-96F1-755646CD263B}"/>
                </a:ext>
              </a:extLst>
            </p:cNvPr>
            <p:cNvSpPr/>
            <p:nvPr/>
          </p:nvSpPr>
          <p:spPr>
            <a:xfrm>
              <a:off x="3925620" y="3274182"/>
              <a:ext cx="913767" cy="913767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384081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M_PPT_Template_EN.potx [Read-Only]" id="{C1CE1096-1693-4F0F-9EA6-28ECC455B3D9}" vid="{F39C58D6-B125-4608-B6A5-33A1E1A2CE77}"/>
    </a:ext>
  </a:extLst>
</a:theme>
</file>

<file path=ppt/theme/theme2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M_PPT_Template_EN.potx [Read-Only]" id="{C1CE1096-1693-4F0F-9EA6-28ECC455B3D9}" vid="{9FACDEF3-B526-4CC2-9141-8166C8278DE2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M_PPT_Template_EN.potx [Read-Only]" id="{C1CE1096-1693-4F0F-9EA6-28ECC455B3D9}" vid="{2B900249-B0E4-4F4D-B3B9-E52A057D1C4E}"/>
    </a:ext>
  </a:extLst>
</a:theme>
</file>

<file path=ppt/theme/theme4.xml><?xml version="1.0" encoding="utf-8"?>
<a:theme xmlns:a="http://schemas.openxmlformats.org/drawingml/2006/main" name="2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M_PPT_Template_FR.potx" id="{D212A999-EBE7-469C-9AE8-2D8CBDD52C5B}" vid="{D97FD91F-8F5A-4534-846D-EB6A09F1018D}"/>
    </a:ext>
  </a:extLst>
</a:theme>
</file>

<file path=ppt/theme/theme5.xml><?xml version="1.0" encoding="utf-8"?>
<a:theme xmlns:a="http://schemas.openxmlformats.org/drawingml/2006/main" name="3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M_PPT_Template_EN.potx" id="{CA36DD57-414B-4C5D-9D62-9E9B547C8578}" vid="{B76E9858-F338-4D65-AA08-AA97A92AF6DF}"/>
    </a:ext>
  </a:extLst>
</a:theme>
</file>

<file path=ppt/theme/theme6.xml><?xml version="1.0" encoding="utf-8"?>
<a:theme xmlns:a="http://schemas.openxmlformats.org/drawingml/2006/main" name="4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1" id="{8AE6D82C-9832-674F-ABCA-098491A6521F}" vid="{379C92A0-1022-EF45-8CCE-89BB25E156BA}"/>
    </a:ext>
  </a:extLst>
</a:theme>
</file>

<file path=ppt/theme/theme7.xml><?xml version="1.0" encoding="utf-8"?>
<a:theme xmlns:a="http://schemas.openxmlformats.org/drawingml/2006/main" name="5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1" id="{8AE6D82C-9832-674F-ABCA-098491A6521F}" vid="{610A1184-5E56-924A-9833-17E5ED58E885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Excel" ma:contentTypeID="0x010100C75FF43B66B14E668762AA83BDDFD9F000A3F4F551FD28AA4E8B8FADD64BC30494" ma:contentTypeVersion="13" ma:contentTypeDescription="Add file Excel" ma:contentTypeScope="" ma:versionID="96b60c256e26a8de8aa383a05b76f550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3dc51727ab093f383ff94b29a76c0a3a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_dlc_Exemp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8" nillable="true" ma:displayName="Exempt from Policy" ma:hidden="true" ma:internalName="_dlc_Exempt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p:Policy xmlns:p="office.server.policy" id="" local="true">
  <p:Name>Excel</p:Name>
  <p:Description/>
  <p:Statement/>
  <p:PolicyItems>
    <p:PolicyItem featureId="Microsoft.Office.RecordsManagement.PolicyFeatures.PolicyAudit" staticId="0x010100C75FF43B66B14E668762AA83BDDFD9F000A3F4F551FD28AA4E8B8FADD64BC30494|8138272" UniqueId="254b627a-bf2f-4346-bfac-3d55c753fbef">
      <p:Name>Auditing</p:Name>
      <p:Description>Audits user actions on documents and list items to the Audit Log.</p:Description>
      <p:CustomData>
        <Audit>
          <Update/>
          <View/>
          <CheckInOut/>
          <MoveCopy/>
          <DeleteRestore/>
        </Audit>
      </p:CustomData>
    </p:PolicyItem>
  </p:PolicyItems>
</p:Policy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0EEB53-CC24-44F4-9400-374AB03E9B1E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9CDEFC5-3557-4921-8C4D-CC9F353EB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EDEEE5-CE29-4092-AC2B-61B00D43A244}">
  <ds:schemaRefs>
    <ds:schemaRef ds:uri="office.server.policy"/>
  </ds:schemaRefs>
</ds:datastoreItem>
</file>

<file path=customXml/itemProps4.xml><?xml version="1.0" encoding="utf-8"?>
<ds:datastoreItem xmlns:ds="http://schemas.openxmlformats.org/officeDocument/2006/customXml" ds:itemID="{7C9140F4-9F98-4D65-829E-336628792F81}">
  <ds:schemaRefs>
    <ds:schemaRef ds:uri="http://schemas.microsoft.com/sharepoint/v3/contenttype/forms"/>
  </ds:schemaRefs>
</ds:datastoreItem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3522058</vt:lpwstr>
  </property>
  <property fmtid="{D5CDD505-2E9C-101B-9397-08002B2CF9AE}" pid="4" name="OptimizationTime">
    <vt:lpwstr>20230214_1900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emplate>PARM_PPT_Template_EN</Template>
  <TotalTime>12505</TotalTime>
  <Words>663</Words>
  <Application>Microsoft Office PowerPoint</Application>
  <PresentationFormat>Widescreen</PresentationFormat>
  <Paragraphs>100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Personalizza struttura</vt:lpstr>
      <vt:lpstr>1_Personalizza struttura</vt:lpstr>
      <vt:lpstr>Tema di Office</vt:lpstr>
      <vt:lpstr>2_Personalizza struttura</vt:lpstr>
      <vt:lpstr>3_Personalizza struttura</vt:lpstr>
      <vt:lpstr>4_Personalizza struttura</vt:lpstr>
      <vt:lpstr>5_Personalizza struttura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IFAD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Bidogeza, Jean-Claude</dc:creator>
  <cp:lastModifiedBy>Mayala Ntumba, Dorcas</cp:lastModifiedBy>
  <cp:revision>431</cp:revision>
  <cp:lastPrinted>2017-07-14T07:17:11Z</cp:lastPrinted>
  <dcterms:created xsi:type="dcterms:W3CDTF">2022-06-15T07:04:11Z</dcterms:created>
  <dcterms:modified xsi:type="dcterms:W3CDTF">2023-02-10T10:19:12Z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b57a8ca7-95ac-4b24-98ef-f57ce0e6e6a4</vt:lpwstr>
  </property>
  <property fmtid="{D5CDD505-2E9C-101B-9397-08002B2CF9AE}" pid="3" name="ContentTypeId">
    <vt:lpwstr>0x010100C75FF43B66B14E668762AA83BDDFD9F000A3F4F551FD28AA4E8B8FADD64BC30494</vt:lpwstr>
  </property>
  <property fmtid="{D5CDD505-2E9C-101B-9397-08002B2CF9AE}" pid="4" name="URL">
    <vt:lpwstr/>
  </property>
</Properties>
</file>