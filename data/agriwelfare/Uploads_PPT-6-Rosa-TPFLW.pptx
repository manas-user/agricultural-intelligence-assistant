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67" r:id="rId5"/>
    <p:sldId id="257" r:id="rId6"/>
    <p:sldId id="270" r:id="rId7"/>
    <p:sldId id="258" r:id="rId8"/>
    <p:sldId id="259" r:id="rId9"/>
    <p:sldId id="260" r:id="rId10"/>
    <p:sldId id="261" r:id="rId11"/>
    <p:sldId id="275" r:id="rId12"/>
    <p:sldId id="269" r:id="rId13"/>
    <p:sldId id="265" r:id="rId14"/>
    <p:sldId id="26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60"/>
  </p:normalViewPr>
  <p:slideViewPr>
    <p:cSldViewPr snapToGrid="0">
      <p:cViewPr varScale="1">
        <p:scale>
          <a:sx n="64" d="100"/>
          <a:sy n="64" d="100"/>
        </p:scale>
        <p:origin x="40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56AFF-0096-4DF3-AF89-29062C6AD99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C52EC-5BD4-4E01-9584-01BA74344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37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1C075-0A87-4D04-85DC-C41B8B8D094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13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4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8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4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0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2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3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9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1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030729" y="1188000"/>
            <a:ext cx="3681895" cy="4473296"/>
          </a:xfrm>
          <a:prstGeom prst="rect">
            <a:avLst/>
          </a:prstGeom>
          <a:solidFill>
            <a:srgbClr val="5792C9">
              <a:alpha val="21000"/>
            </a:srgbClr>
          </a:solidFill>
        </p:spPr>
        <p:txBody>
          <a:bodyPr vert="horz" lIns="180000" tIns="180000" rIns="180000" bIns="180000" rtlCol="0" anchor="t" anchorCtr="0">
            <a:normAutofit/>
          </a:bodyPr>
          <a:lstStyle>
            <a:lvl1pPr>
              <a:defRPr sz="1800" b="1" baseline="0">
                <a:solidFill>
                  <a:srgbClr val="5792C9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txt</a:t>
            </a:r>
            <a:br>
              <a:rPr lang="en-US" dirty="0"/>
            </a:b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623DA365-03D8-D643-90D3-7672345782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1188000"/>
            <a:ext cx="7680176" cy="4473296"/>
          </a:xfrm>
          <a:prstGeom prst="rect">
            <a:avLst/>
          </a:prstGeom>
        </p:spPr>
        <p:txBody>
          <a:bodyPr lIns="540000" tIns="0" rIns="360000" anchor="t" anchorCtr="0"/>
          <a:lstStyle>
            <a:lvl1pPr marL="162000" indent="-180000" algn="l">
              <a:buClr>
                <a:srgbClr val="5792C9"/>
              </a:buClr>
              <a:buFont typeface="Wingdings" charset="2"/>
              <a:buChar char="§"/>
              <a:defRPr sz="2000" baseline="0">
                <a:latin typeface="Calibri" charset="0"/>
                <a:ea typeface="Calibri" charset="0"/>
                <a:cs typeface="Calibri" charset="0"/>
              </a:defRPr>
            </a:lvl1pPr>
            <a:lvl2pPr marL="432000" indent="-180000" algn="l">
              <a:buClr>
                <a:srgbClr val="5792C9"/>
              </a:buClr>
              <a:buSzPct val="110000"/>
              <a:buFont typeface="Arial" charset="0"/>
              <a:buChar char="•"/>
              <a:defRPr sz="2000"/>
            </a:lvl2pPr>
            <a:lvl3pPr marL="684000" indent="-216000" algn="l">
              <a:buClr>
                <a:srgbClr val="5792C9"/>
              </a:buClr>
              <a:buFont typeface=".AppleSystemUIFont" charset="-120"/>
              <a:buChar char="–"/>
              <a:defRPr sz="2000">
                <a:latin typeface="Calibri" charset="0"/>
                <a:ea typeface="Calibri" charset="0"/>
                <a:cs typeface="Calibri" charset="0"/>
              </a:defRPr>
            </a:lvl3pPr>
            <a:lvl4pPr marL="936000" indent="-216000" algn="l">
              <a:buFont typeface=".AppleSystemUIFont" charset="-120"/>
              <a:buChar char="–"/>
              <a:defRPr sz="2000">
                <a:latin typeface="Calibri" charset="0"/>
                <a:ea typeface="Calibri" charset="0"/>
                <a:cs typeface="Calibri" charset="0"/>
              </a:defRPr>
            </a:lvl4pPr>
            <a:lvl5pPr marL="1188000" indent="-216000" algn="l">
              <a:buClr>
                <a:schemeClr val="bg2">
                  <a:lumMod val="50000"/>
                </a:schemeClr>
              </a:buClr>
              <a:buFont typeface=".AppleSystemUIFont" charset="-12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txt</a:t>
            </a:r>
          </a:p>
          <a:p>
            <a:pPr lvl="1"/>
            <a:r>
              <a:rPr lang="en-US" dirty="0"/>
              <a:t>List 2</a:t>
            </a:r>
          </a:p>
          <a:p>
            <a:pPr lvl="2"/>
            <a:r>
              <a:rPr lang="en-US" dirty="0"/>
              <a:t>List 3</a:t>
            </a:r>
          </a:p>
          <a:p>
            <a:pPr lvl="3"/>
            <a:r>
              <a:rPr lang="en-US" dirty="0"/>
              <a:t>List 4</a:t>
            </a:r>
          </a:p>
          <a:p>
            <a:pPr lvl="4"/>
            <a:r>
              <a:rPr lang="en-US" dirty="0"/>
              <a:t>List 5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750480E-E84C-114C-9617-92D44B5CA5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04000"/>
            <a:ext cx="12192000" cy="396492"/>
          </a:xfrm>
          <a:prstGeom prst="rect">
            <a:avLst/>
          </a:prstGeom>
          <a:solidFill>
            <a:srgbClr val="5792C9">
              <a:alpha val="21000"/>
            </a:srgbClr>
          </a:solidFill>
        </p:spPr>
        <p:txBody>
          <a:bodyPr lIns="540000" rIns="540000" anchor="ctr" anchorCtr="0"/>
          <a:lstStyle>
            <a:lvl1pPr marL="0" indent="0" algn="l">
              <a:buFontTx/>
              <a:buNone/>
              <a:defRPr sz="2000" b="1">
                <a:solidFill>
                  <a:srgbClr val="5792C9"/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2203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59165581-3D98-B54C-B922-370C4A1516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1676400"/>
            <a:ext cx="7104112" cy="4176457"/>
          </a:xfrm>
          <a:prstGeom prst="rect">
            <a:avLst/>
          </a:prstGeom>
        </p:spPr>
        <p:txBody>
          <a:bodyPr lIns="540000" tIns="0" rIns="360000" anchor="t" anchorCtr="0"/>
          <a:lstStyle>
            <a:lvl1pPr marL="0" indent="0" algn="l">
              <a:buNone/>
              <a:defRPr sz="2000"/>
            </a:lvl1pPr>
            <a:lvl2pPr marL="180000" indent="-180000" algn="l">
              <a:buClr>
                <a:srgbClr val="5792C9"/>
              </a:buClr>
              <a:buFont typeface="Wingdings" charset="2"/>
              <a:buChar char="§"/>
              <a:defRPr sz="2000"/>
            </a:lvl2pPr>
            <a:lvl3pPr marL="360000" indent="-180000" algn="l">
              <a:buClr>
                <a:srgbClr val="5792C9"/>
              </a:buClr>
              <a:buSzPct val="110000"/>
              <a:buFont typeface="Arial" charset="0"/>
              <a:buChar char="•"/>
              <a:defRPr sz="2000"/>
            </a:lvl3pPr>
            <a:lvl4pPr marL="576000" indent="-216000" algn="l">
              <a:buClr>
                <a:srgbClr val="5792C9"/>
              </a:buClr>
              <a:buFont typeface=".AppleSystemUIFont" charset="-120"/>
              <a:buChar char="–"/>
              <a:defRPr sz="2000"/>
            </a:lvl4pPr>
            <a:lvl5pPr marL="792000" indent="-216000" algn="l">
              <a:buFont typeface=".AppleSystemUIFont" charset="-120"/>
              <a:buChar char="–"/>
              <a:defRPr sz="2000"/>
            </a:lvl5pPr>
            <a:lvl6pPr marL="1044000" indent="-216000" algn="l">
              <a:buClr>
                <a:schemeClr val="bg2">
                  <a:lumMod val="50000"/>
                </a:schemeClr>
              </a:buClr>
              <a:buFont typeface=".AppleSystemUIFont" charset="-12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1"/>
            <a:r>
              <a:rPr lang="en-US" dirty="0"/>
              <a:t>Click to edit txt</a:t>
            </a:r>
          </a:p>
          <a:p>
            <a:pPr lvl="2"/>
            <a:r>
              <a:rPr lang="en-US" dirty="0"/>
              <a:t>List 2</a:t>
            </a:r>
          </a:p>
          <a:p>
            <a:pPr lvl="3"/>
            <a:r>
              <a:rPr lang="en-US" dirty="0"/>
              <a:t>List 3</a:t>
            </a:r>
          </a:p>
          <a:p>
            <a:pPr lvl="4"/>
            <a:r>
              <a:rPr lang="en-US" dirty="0"/>
              <a:t>List 4</a:t>
            </a:r>
          </a:p>
          <a:p>
            <a:pPr lvl="5"/>
            <a:r>
              <a:rPr lang="en-US" dirty="0"/>
              <a:t>List 5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2C484F6-8A17-3C44-9437-D5EC134F6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800" y="1188000"/>
            <a:ext cx="7120246" cy="296840"/>
          </a:xfrm>
          <a:prstGeom prst="rect">
            <a:avLst/>
          </a:prstGeom>
          <a:noFill/>
        </p:spPr>
        <p:txBody>
          <a:bodyPr vert="horz" lIns="540000" tIns="0" rIns="360000" bIns="45720" rtlCol="0" anchor="t" anchorCtr="0">
            <a:noAutofit/>
          </a:bodyPr>
          <a:lstStyle>
            <a:lvl1pPr>
              <a:defRPr sz="2200" b="1">
                <a:solidFill>
                  <a:srgbClr val="5792C9"/>
                </a:solidFill>
                <a:latin typeface="+mn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7376179" y="1188000"/>
            <a:ext cx="4320000" cy="2902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Picture/Figure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7F190AF-78DB-5E4B-A08A-72A53839C7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04000"/>
            <a:ext cx="12192000" cy="396492"/>
          </a:xfrm>
          <a:prstGeom prst="rect">
            <a:avLst/>
          </a:prstGeom>
          <a:solidFill>
            <a:srgbClr val="5792C9">
              <a:alpha val="21000"/>
            </a:srgbClr>
          </a:solidFill>
        </p:spPr>
        <p:txBody>
          <a:bodyPr lIns="540000" rIns="540000" anchor="ctr" anchorCtr="0"/>
          <a:lstStyle>
            <a:lvl1pPr marL="0" indent="0" algn="l">
              <a:buFontTx/>
              <a:buNone/>
              <a:defRPr sz="2000" b="1">
                <a:solidFill>
                  <a:srgbClr val="5792C9"/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70210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0" y="2276872"/>
            <a:ext cx="12192000" cy="2448272"/>
          </a:xfrm>
          <a:prstGeom prst="rect">
            <a:avLst/>
          </a:prstGeom>
        </p:spPr>
        <p:txBody>
          <a:bodyPr lIns="2160000" tIns="46800" rIns="2160000" anchor="t"/>
          <a:lstStyle>
            <a:lvl1pPr algn="ctr">
              <a:defRPr sz="580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altLang="en-US" sz="5800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0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C4E39-D8B1-45AD-A8AE-63FF90445AB9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C5803-CFEE-4415-9CA1-E48D287EC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3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fao.org/platform-food-loss-waste/en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.pn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cid:image001.png@01D934BA.87457DA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4263" y="998793"/>
            <a:ext cx="9144000" cy="2387600"/>
          </a:xfrm>
        </p:spPr>
        <p:txBody>
          <a:bodyPr>
            <a:normAutofit/>
          </a:bodyPr>
          <a:lstStyle/>
          <a:p>
            <a:pPr algn="r"/>
            <a:r>
              <a:rPr lang="en-GB" sz="4000" dirty="0" smtClean="0">
                <a:solidFill>
                  <a:srgbClr val="0070C0"/>
                </a:solidFill>
                <a:latin typeface="Bahnschrift Light SemiCondensed" panose="020B0502040204020203" pitchFamily="34" charset="0"/>
              </a:rPr>
              <a:t>Technical Platform on the Measurement and Reduction of Food Loss and Waste</a:t>
            </a:r>
            <a:endParaRPr lang="en-US" sz="4000" dirty="0">
              <a:solidFill>
                <a:srgbClr val="0070C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95953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GB" dirty="0" smtClean="0"/>
              <a:t>Rosa S. Rolle, PhD</a:t>
            </a:r>
          </a:p>
          <a:p>
            <a:pPr algn="r"/>
            <a:r>
              <a:rPr lang="en-GB" dirty="0" smtClean="0"/>
              <a:t>Senior Officer</a:t>
            </a:r>
          </a:p>
          <a:p>
            <a:pPr algn="r"/>
            <a:r>
              <a:rPr lang="en-GB" dirty="0" smtClean="0"/>
              <a:t>Food and Nutrition Division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25870"/>
            <a:ext cx="2505914" cy="587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36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558" t="-392" r="21051" b="41197"/>
          <a:stretch/>
        </p:blipFill>
        <p:spPr>
          <a:xfrm>
            <a:off x="1160661" y="5295368"/>
            <a:ext cx="1548212" cy="15676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09" y="77193"/>
            <a:ext cx="6456909" cy="6472385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35182" y="1517073"/>
            <a:ext cx="4416136" cy="4049433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Established by FAO and IFPRI in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2015 under the Turkish Presidency of G20 Agriculture Ministers.</a:t>
            </a:r>
          </a:p>
          <a:p>
            <a:pPr marL="0" indent="0">
              <a:buNone/>
            </a:pPr>
            <a:endParaRPr lang="en-US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Merged with the FAO Community of Practice on FLW reduction in 2020  and re-launched.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38149" y="6472725"/>
            <a:ext cx="48873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www.fao.org/platform-food-loss-waste/en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756" y="5649907"/>
            <a:ext cx="1790792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3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999741-930C-7042-B58B-E5BE0C8AFC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1" y="625168"/>
            <a:ext cx="12192000" cy="396492"/>
          </a:xfrm>
        </p:spPr>
        <p:txBody>
          <a:bodyPr/>
          <a:lstStyle/>
          <a:p>
            <a:r>
              <a:rPr lang="en-GB" dirty="0" smtClean="0"/>
              <a:t>Technical Platform on Food Loss and Waste Reduction and Measurement (TPFLW): Partners</a:t>
            </a:r>
            <a:endParaRPr lang="en-IT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757" y="1365181"/>
            <a:ext cx="4322482" cy="1084845"/>
          </a:xfrm>
          <a:prstGeom prst="rect">
            <a:avLst/>
          </a:prstGeom>
        </p:spPr>
      </p:pic>
      <p:pic>
        <p:nvPicPr>
          <p:cNvPr id="11" name="Picture 4" descr="https://www.fao.org/typo3temp/pics/4e203338b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70821"/>
            <a:ext cx="1105269" cy="92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https://www.fao.org/uploads/pics/logo-yfp_0_0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762919"/>
            <a:ext cx="3962400" cy="96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https://www.fao.org/uploads/pics/Logo_CGIAR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09" t="-72366" r="110665" b="167067"/>
          <a:stretch/>
        </p:blipFill>
        <p:spPr bwMode="auto">
          <a:xfrm>
            <a:off x="9306560" y="1560360"/>
            <a:ext cx="7112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l="34313" t="16625" r="16667" b="63577"/>
          <a:stretch/>
        </p:blipFill>
        <p:spPr>
          <a:xfrm>
            <a:off x="381000" y="4626536"/>
            <a:ext cx="6203740" cy="1344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4231228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Rome-based UN agencies: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3909" y="1277917"/>
            <a:ext cx="1790792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5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07" y="468800"/>
            <a:ext cx="5703385" cy="59689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9249" y="1813753"/>
            <a:ext cx="5737478" cy="412420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chemeClr val="accent1"/>
                </a:solidFill>
                <a:latin typeface="Bahnschrift Light" panose="020B0502040204020203" pitchFamily="34" charset="0"/>
              </a:rPr>
              <a:t>AIM</a:t>
            </a:r>
          </a:p>
          <a:p>
            <a:endParaRPr lang="en-GB" dirty="0" smtClean="0"/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400" dirty="0" smtClean="0">
                <a:latin typeface="Bahnschrift SemiLight SemiConde" panose="020B0502040204020203" pitchFamily="34" charset="0"/>
              </a:rPr>
              <a:t>To </a:t>
            </a: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  <a:latin typeface="Bahnschrift SemiLight SemiConde" panose="020B0502040204020203" pitchFamily="34" charset="0"/>
              </a:rPr>
              <a:t>strengthen collective efforts to prevent and reduce FLW </a:t>
            </a:r>
            <a:r>
              <a:rPr lang="en-GB" sz="2400" dirty="0" smtClean="0">
                <a:latin typeface="Bahnschrift SemiLight SemiConde" panose="020B0502040204020203" pitchFamily="34" charset="0"/>
              </a:rPr>
              <a:t>toward achieving SDG target 12.3.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lvl="3" algn="just"/>
            <a:r>
              <a:rPr lang="en-GB" altLang="en-US" sz="1600" dirty="0" smtClean="0">
                <a:solidFill>
                  <a:srgbClr val="CF8D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SDG </a:t>
            </a:r>
            <a:r>
              <a:rPr lang="en-GB" altLang="en-US" sz="1600" dirty="0">
                <a:solidFill>
                  <a:srgbClr val="CF8D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12.3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: By 2030, halve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per capita global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food waste at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the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retail and consumer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levels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and reduce food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losses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along production and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supply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chains, including </a:t>
            </a:r>
            <a:r>
              <a:rPr lang="en-GB" altLang="en-US" sz="1600" dirty="0" smtClean="0">
                <a:solidFill>
                  <a:srgbClr val="CF8D2A"/>
                </a:solidFill>
                <a:latin typeface="Bahnschrift Light" panose="020B0502040204020203" pitchFamily="34" charset="0"/>
              </a:rPr>
              <a:t>post-harvest </a:t>
            </a:r>
            <a:r>
              <a:rPr lang="en-GB" altLang="en-US" sz="1600" dirty="0">
                <a:solidFill>
                  <a:srgbClr val="CF8D2A"/>
                </a:solidFill>
                <a:latin typeface="Bahnschrift Light" panose="020B0502040204020203" pitchFamily="34" charset="0"/>
              </a:rPr>
              <a:t>losses</a:t>
            </a:r>
            <a:endParaRPr lang="en-GB" sz="1600" dirty="0" smtClean="0"/>
          </a:p>
        </p:txBody>
      </p:sp>
      <p:pic>
        <p:nvPicPr>
          <p:cNvPr id="8" name="Picture 2" descr="Image result for sdg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80" y="4694650"/>
            <a:ext cx="1242240" cy="124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F3ADE4-7EEA-4AC6-994B-3A59C190E2A5}"/>
              </a:ext>
            </a:extLst>
          </p:cNvPr>
          <p:cNvSpPr/>
          <p:nvPr/>
        </p:nvSpPr>
        <p:spPr>
          <a:xfrm>
            <a:off x="1611720" y="5872689"/>
            <a:ext cx="4413381" cy="167902"/>
          </a:xfrm>
          <a:prstGeom prst="rect">
            <a:avLst/>
          </a:prstGeom>
          <a:solidFill>
            <a:srgbClr val="CF8D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2153" y="1486982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1016002" y="2503048"/>
            <a:ext cx="618834" cy="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98948" y="2396831"/>
            <a:ext cx="618834" cy="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057988" y="1334582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0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/>
              <a:t>TPFLW 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756" y="1659365"/>
            <a:ext cx="976884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Consolidates a broad spectrum of resources </a:t>
            </a:r>
            <a:r>
              <a:rPr lang="en-GB" dirty="0" smtClean="0"/>
              <a:t>that address the complexity of the drivers and impacts of FLW.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Provides a mechanism for collective learning and capability strengthening</a:t>
            </a:r>
            <a:r>
              <a:rPr lang="en-GB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Promotes awareness raising</a:t>
            </a:r>
            <a:r>
              <a:rPr lang="en-GB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Facilitates networking and communication </a:t>
            </a:r>
            <a:r>
              <a:rPr lang="en-GB" dirty="0" smtClean="0"/>
              <a:t>through a Community of Practice (</a:t>
            </a:r>
            <a:r>
              <a:rPr lang="en-GB" dirty="0" err="1" smtClean="0"/>
              <a:t>CoP</a:t>
            </a:r>
            <a:r>
              <a:rPr lang="en-GB" dirty="0" smtClean="0"/>
              <a:t>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 rotWithShape="1">
          <a:blip r:embed="rId3"/>
          <a:srcRect l="15861" t="48305" r="16993" b="12868"/>
          <a:stretch/>
        </p:blipFill>
        <p:spPr>
          <a:xfrm>
            <a:off x="4506884" y="4458697"/>
            <a:ext cx="6058592" cy="1879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69753" y="1334582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9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276" y="292388"/>
            <a:ext cx="10515600" cy="1325563"/>
          </a:xfrm>
        </p:spPr>
        <p:txBody>
          <a:bodyPr>
            <a:normAutofit/>
          </a:bodyPr>
          <a:lstStyle/>
          <a:p>
            <a:pPr algn="r"/>
            <a:r>
              <a:rPr lang="en-GB" sz="3600" dirty="0" smtClean="0">
                <a:solidFill>
                  <a:schemeClr val="bg1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TPFLW Users (2021 &amp; 2022)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5" y="2179065"/>
            <a:ext cx="5480305" cy="35265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0" name="TextBox 9"/>
          <p:cNvSpPr txBox="1"/>
          <p:nvPr/>
        </p:nvSpPr>
        <p:spPr>
          <a:xfrm>
            <a:off x="6213761" y="2140524"/>
            <a:ext cx="56942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endParaRPr lang="en-GB" sz="2800" dirty="0" smtClean="0">
              <a:solidFill>
                <a:schemeClr val="accent1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dirty="0" smtClean="0">
                <a:solidFill>
                  <a:schemeClr val="accent1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G20 countries constitute a majority </a:t>
            </a:r>
            <a:r>
              <a:rPr lang="en-GB" sz="2800" dirty="0" smtClean="0">
                <a:latin typeface="Bahnschrift Light SemiCondensed" panose="020B0502040204020203" pitchFamily="34" charset="0"/>
              </a:rPr>
              <a:t>of TPFLW users.</a:t>
            </a:r>
          </a:p>
          <a:p>
            <a:endParaRPr lang="en-GB" sz="2800" dirty="0">
              <a:solidFill>
                <a:schemeClr val="accent1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2800" dirty="0" smtClean="0">
                <a:solidFill>
                  <a:srgbClr val="0070C0"/>
                </a:solidFill>
                <a:latin typeface="Bahnschrift Light SemiCondensed" panose="020B0502040204020203" pitchFamily="34" charset="0"/>
              </a:rPr>
              <a:t>A</a:t>
            </a:r>
            <a:r>
              <a:rPr lang="en-GB" sz="2800" dirty="0" smtClean="0">
                <a:solidFill>
                  <a:schemeClr val="accent1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 110 </a:t>
            </a:r>
            <a:r>
              <a:rPr lang="en-GB" sz="2800" dirty="0" smtClean="0">
                <a:solidFill>
                  <a:srgbClr val="0070C0"/>
                </a:solidFill>
                <a:latin typeface="Bahnschrift Light SemiCondensed" panose="020B0502040204020203" pitchFamily="34" charset="0"/>
              </a:rPr>
              <a:t>% increase in the number of countries using the TPFLW </a:t>
            </a:r>
            <a:r>
              <a:rPr lang="en-GB" sz="2800" dirty="0" smtClean="0">
                <a:latin typeface="Bahnschrift Light SemiCondensed" panose="020B0502040204020203" pitchFamily="34" charset="0"/>
              </a:rPr>
              <a:t>- from</a:t>
            </a:r>
            <a:r>
              <a:rPr lang="en-GB" sz="2800" dirty="0" smtClean="0">
                <a:solidFill>
                  <a:schemeClr val="accent1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 </a:t>
            </a:r>
            <a:r>
              <a:rPr lang="en-GB" sz="2800" dirty="0" smtClean="0">
                <a:latin typeface="Bahnschrift Light SemiCondensed" panose="020B0502040204020203" pitchFamily="34" charset="0"/>
              </a:rPr>
              <a:t>100 countries in 2021 to 210 in Dec 2022.</a:t>
            </a:r>
          </a:p>
          <a:p>
            <a:endParaRPr lang="en-GB" sz="2800" dirty="0">
              <a:solidFill>
                <a:schemeClr val="accent1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2800" dirty="0">
              <a:latin typeface="Bahnschrift Light SemiCondensed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2800" dirty="0">
              <a:solidFill>
                <a:schemeClr val="accent1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accent1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966888" y="2054329"/>
            <a:ext cx="163748" cy="40035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23861" y="1648405"/>
            <a:ext cx="4647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10 User Countries of the TPFLW</a:t>
            </a:r>
            <a:endParaRPr lang="en-US" sz="2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57988" y="1334582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Returning Users : 2021 &amp; 2022)</a:t>
            </a:r>
            <a:endParaRPr lang="en-US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5" y="2618080"/>
            <a:ext cx="5257797" cy="3310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6347" y="2098965"/>
            <a:ext cx="5158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Profile of the number of returning users</a:t>
            </a: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 SemiCondensed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24092" y="2054329"/>
            <a:ext cx="163748" cy="40035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128164" y="2098962"/>
            <a:ext cx="47902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Bahnschrift Light SemiCondensed" panose="020B0502040204020203" pitchFamily="34" charset="0"/>
              </a:rPr>
              <a:t>A </a:t>
            </a:r>
            <a:r>
              <a:rPr lang="en-GB" sz="2800" dirty="0" smtClean="0">
                <a:solidFill>
                  <a:schemeClr val="accent5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12 % increase in</a:t>
            </a:r>
            <a:r>
              <a:rPr lang="en-GB" sz="2800" dirty="0" smtClean="0">
                <a:latin typeface="Bahnschrift Light SemiCondensed" panose="020B0502040204020203" pitchFamily="34" charset="0"/>
              </a:rPr>
              <a:t> the number of </a:t>
            </a:r>
            <a:r>
              <a:rPr lang="en-GB" sz="2800" dirty="0" smtClean="0">
                <a:solidFill>
                  <a:schemeClr val="accent5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returning users.</a:t>
            </a:r>
          </a:p>
          <a:p>
            <a:endParaRPr lang="en-GB" sz="2800" dirty="0">
              <a:latin typeface="Bahnschrift Ligh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Bahnschrift Light SemiCondensed" panose="020B0502040204020203" pitchFamily="34" charset="0"/>
              </a:rPr>
              <a:t>User feedback highlights: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Appreciation for open access to data and information that is relevant,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 </a:t>
            </a:r>
            <a:r>
              <a:rPr lang="en-GB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   useful and timely.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9454" y="1420310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9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34616" t="9783" r="39103"/>
          <a:stretch/>
        </p:blipFill>
        <p:spPr>
          <a:xfrm>
            <a:off x="8932623" y="1403298"/>
            <a:ext cx="2877230" cy="52983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50" y="2466110"/>
            <a:ext cx="5450235" cy="31726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1355" y="2054329"/>
            <a:ext cx="163748" cy="40035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6200000">
            <a:off x="2369124" y="2098960"/>
            <a:ext cx="91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IDAFLW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4705727" y="2735179"/>
            <a:ext cx="910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IDAFLW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5153887" y="2322818"/>
            <a:ext cx="810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COP27</a:t>
            </a:r>
            <a:endParaRPr lang="en-US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990600" y="3460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Website Traffic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(2021 &amp; 2022)</a:t>
            </a:r>
            <a:endParaRPr lang="en-US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6" t="4069" r="7414"/>
          <a:stretch/>
        </p:blipFill>
        <p:spPr>
          <a:xfrm>
            <a:off x="6725789" y="1690688"/>
            <a:ext cx="2368999" cy="23869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 rot="16200000">
            <a:off x="1379605" y="2748115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N4G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86590" y="1434597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22" b="6192"/>
          <a:stretch/>
        </p:blipFill>
        <p:spPr>
          <a:xfrm>
            <a:off x="6932504" y="4162026"/>
            <a:ext cx="2084879" cy="245516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7"/>
          <a:srcRect l="37879" t="64921" r="39393" b="1671"/>
          <a:stretch/>
        </p:blipFill>
        <p:spPr>
          <a:xfrm>
            <a:off x="9044644" y="3913741"/>
            <a:ext cx="2877230" cy="295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5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>
                <a:solidFill>
                  <a:schemeClr val="bg1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Community of Practice</a:t>
            </a:r>
            <a:endParaRPr lang="en-US" dirty="0">
              <a:solidFill>
                <a:schemeClr val="bg1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1" y="2628908"/>
            <a:ext cx="5717760" cy="3127664"/>
          </a:xfrm>
          <a:prstGeom prst="rect">
            <a:avLst/>
          </a:prstGeom>
        </p:spPr>
      </p:pic>
      <p:pic>
        <p:nvPicPr>
          <p:cNvPr id="6" name="Grafico 1"/>
          <p:cNvPicPr/>
          <p:nvPr/>
        </p:nvPicPr>
        <p:blipFill rotWithShape="1"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7"/>
          <a:stretch/>
        </p:blipFill>
        <p:spPr bwMode="auto">
          <a:xfrm>
            <a:off x="6338455" y="2306785"/>
            <a:ext cx="5411499" cy="38238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17073" y="1880755"/>
            <a:ext cx="2728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 smtClean="0">
                <a:solidFill>
                  <a:srgbClr val="0070C0"/>
                </a:solidFill>
              </a:rPr>
              <a:t>CoP</a:t>
            </a:r>
            <a:r>
              <a:rPr lang="en-GB" sz="2000" dirty="0" smtClean="0">
                <a:solidFill>
                  <a:srgbClr val="0070C0"/>
                </a:solidFill>
              </a:rPr>
              <a:t> Member Affiliations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3470564" y="2587337"/>
            <a:ext cx="207818" cy="2389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1586349" y="2667000"/>
            <a:ext cx="207818" cy="2389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023553" y="1828800"/>
            <a:ext cx="4926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>
                <a:solidFill>
                  <a:srgbClr val="0070C0"/>
                </a:solidFill>
              </a:rPr>
              <a:t>Countries with </a:t>
            </a:r>
            <a:r>
              <a:rPr lang="en-GB" sz="2000" dirty="0" err="1" smtClean="0">
                <a:solidFill>
                  <a:srgbClr val="0070C0"/>
                </a:solidFill>
              </a:rPr>
              <a:t>CoP</a:t>
            </a:r>
            <a:r>
              <a:rPr lang="en-GB" sz="2000" dirty="0" smtClean="0">
                <a:solidFill>
                  <a:srgbClr val="0070C0"/>
                </a:solidFill>
              </a:rPr>
              <a:t> Membership (Dec - 2022</a:t>
            </a:r>
            <a:r>
              <a:rPr lang="en-GB" dirty="0" smtClean="0">
                <a:solidFill>
                  <a:srgbClr val="0070C0"/>
                </a:solidFill>
              </a:rPr>
              <a:t>)</a:t>
            </a:r>
            <a:r>
              <a:rPr lang="en-GB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6590" y="1448885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85009" y="6391568"/>
            <a:ext cx="522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Positive pattern of membership among G20 Countries</a:t>
            </a:r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6338455" y="6168741"/>
            <a:ext cx="455634" cy="57799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9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858"/>
            <a:ext cx="7272905" cy="45034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0440" t="8381" r="26100"/>
          <a:stretch/>
        </p:blipFill>
        <p:spPr>
          <a:xfrm>
            <a:off x="7357024" y="1863252"/>
            <a:ext cx="4834976" cy="4445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Down Arrow 10"/>
          <p:cNvSpPr/>
          <p:nvPr/>
        </p:nvSpPr>
        <p:spPr>
          <a:xfrm rot="18184330">
            <a:off x="2738327" y="5003246"/>
            <a:ext cx="189539" cy="370250"/>
          </a:xfrm>
          <a:prstGeom prst="downArrow">
            <a:avLst>
              <a:gd name="adj1" fmla="val 50000"/>
              <a:gd name="adj2" fmla="val 530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0" y="520227"/>
            <a:ext cx="12192000" cy="396492"/>
          </a:xfrm>
        </p:spPr>
        <p:txBody>
          <a:bodyPr/>
          <a:lstStyle/>
          <a:p>
            <a:pPr algn="r"/>
            <a:r>
              <a:rPr lang="en-GB" dirty="0" smtClean="0"/>
              <a:t>“In action”- Interactive Map on FLW Legislation, Projects, Initiatives and Programmes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00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4216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 smtClean="0"/>
              <a:t>Continue to </a:t>
            </a:r>
            <a:r>
              <a:rPr lang="en-GB" dirty="0" smtClean="0">
                <a:solidFill>
                  <a:srgbClr val="0070C0"/>
                </a:solidFill>
              </a:rPr>
              <a:t>broaden and increase the user base of the TPFLW </a:t>
            </a:r>
            <a:r>
              <a:rPr lang="en-GB" dirty="0" smtClean="0"/>
              <a:t>and to </a:t>
            </a:r>
            <a:r>
              <a:rPr lang="en-GB" dirty="0">
                <a:solidFill>
                  <a:srgbClr val="0070C0"/>
                </a:solidFill>
              </a:rPr>
              <a:t>s</a:t>
            </a:r>
            <a:r>
              <a:rPr lang="en-GB" dirty="0" smtClean="0">
                <a:solidFill>
                  <a:srgbClr val="0070C0"/>
                </a:solidFill>
              </a:rPr>
              <a:t>cale up TPFLW actions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>
                <a:solidFill>
                  <a:srgbClr val="0070C0"/>
                </a:solidFill>
              </a:rPr>
              <a:t>Solicit engagement from G20 countries on TPFLW Actions</a:t>
            </a:r>
            <a:r>
              <a:rPr lang="en-GB" dirty="0" smtClean="0"/>
              <a:t>, in particular, to:</a:t>
            </a:r>
          </a:p>
          <a:p>
            <a:pPr lvl="1"/>
            <a:r>
              <a:rPr lang="en-GB" dirty="0" smtClean="0"/>
              <a:t>Increase the user base of the TPFLW.</a:t>
            </a:r>
          </a:p>
          <a:p>
            <a:pPr lvl="1"/>
            <a:r>
              <a:rPr lang="en-GB" dirty="0" smtClean="0"/>
              <a:t>Make periodic contributions (six-monthly) on progress toward achieving SDG target 12.3, to the </a:t>
            </a:r>
            <a:r>
              <a:rPr lang="en-GB" i="1" dirty="0" smtClean="0"/>
              <a:t>“In-action” </a:t>
            </a:r>
            <a:r>
              <a:rPr lang="en-GB" dirty="0" smtClean="0"/>
              <a:t>country pages.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86590" y="1406021"/>
            <a:ext cx="5531309" cy="45719"/>
          </a:xfrm>
          <a:prstGeom prst="rect">
            <a:avLst/>
          </a:prstGeom>
          <a:gradFill flip="none" rotWithShape="1">
            <a:gsLst>
              <a:gs pos="49000">
                <a:srgbClr val="D6DCE2"/>
              </a:gs>
              <a:gs pos="27000">
                <a:schemeClr val="bg1"/>
              </a:gs>
              <a:gs pos="100000">
                <a:srgbClr val="34495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5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C0DC-9994-AA40-A316-63B53E322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872"/>
            <a:ext cx="12192000" cy="3742928"/>
          </a:xfrm>
        </p:spPr>
        <p:txBody>
          <a:bodyPr/>
          <a:lstStyle/>
          <a:p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Thank you for your </a:t>
            </a:r>
            <a:b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>attention!</a:t>
            </a:r>
            <a:b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  <a:t/>
            </a:r>
            <a:br>
              <a:rPr lang="en-GB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GB" sz="3200" dirty="0" smtClean="0">
                <a:solidFill>
                  <a:schemeClr val="tx1"/>
                </a:solidFill>
              </a:rPr>
              <a:t>www.fao.org/platform-food-loss-waste/en</a:t>
            </a:r>
            <a:r>
              <a:rPr lang="en-GB" sz="4000" dirty="0" smtClean="0">
                <a:solidFill>
                  <a:schemeClr val="tx1"/>
                </a:solidFill>
              </a:rPr>
              <a:t> </a:t>
            </a:r>
            <a:endParaRPr lang="en-IT" sz="4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05612-83A4-47F8-8E03-79FA8B28A32E}"/>
              </a:ext>
            </a:extLst>
          </p:cNvPr>
          <p:cNvSpPr/>
          <p:nvPr/>
        </p:nvSpPr>
        <p:spPr>
          <a:xfrm>
            <a:off x="0" y="0"/>
            <a:ext cx="510988" cy="1207944"/>
          </a:xfrm>
          <a:prstGeom prst="rect">
            <a:avLst/>
          </a:prstGeom>
          <a:solidFill>
            <a:srgbClr val="5692C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B937A-56DA-4E32-9DE5-5A164E07AB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4" y="-2123"/>
            <a:ext cx="2505914" cy="58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9574DCA5E8CEA4E912B7198CE871E35" ma:contentTypeVersion="13" ma:contentTypeDescription="Creare un nuovo documento." ma:contentTypeScope="" ma:versionID="b04cf739f78d6dbc82412ba41f6ad580">
  <xsd:schema xmlns:xsd="http://www.w3.org/2001/XMLSchema" xmlns:xs="http://www.w3.org/2001/XMLSchema" xmlns:p="http://schemas.microsoft.com/office/2006/metadata/properties" xmlns:ns3="8c2680b1-8717-4e17-af8a-c3c5948a3503" xmlns:ns4="3c9ac98d-36e3-464e-9a3d-571690e2b8cf" targetNamespace="http://schemas.microsoft.com/office/2006/metadata/properties" ma:root="true" ma:fieldsID="0a1aa9fa6e76ead215936d3504488ceb" ns3:_="" ns4:_="">
    <xsd:import namespace="8c2680b1-8717-4e17-af8a-c3c5948a3503"/>
    <xsd:import namespace="3c9ac98d-36e3-464e-9a3d-571690e2b8c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680b1-8717-4e17-af8a-c3c5948a350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ac98d-36e3-464e-9a3d-571690e2b8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2D297B-0D20-4522-8F9F-E8C542BF69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2680b1-8717-4e17-af8a-c3c5948a3503"/>
    <ds:schemaRef ds:uri="3c9ac98d-36e3-464e-9a3d-571690e2b8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197BFD-22A6-4D97-ABAC-6A947187CD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44F048-3339-4532-AC51-54F1F06396A7}">
  <ds:schemaRefs>
    <ds:schemaRef ds:uri="http://schemas.microsoft.com/office/infopath/2007/PartnerControls"/>
    <ds:schemaRef ds:uri="http://schemas.microsoft.com/office/2006/documentManagement/types"/>
    <ds:schemaRef ds:uri="3c9ac98d-36e3-464e-9a3d-571690e2b8cf"/>
    <ds:schemaRef ds:uri="http://purl.org/dc/elements/1.1/"/>
    <ds:schemaRef ds:uri="http://schemas.microsoft.com/office/2006/metadata/properties"/>
    <ds:schemaRef ds:uri="http://purl.org/dc/terms/"/>
    <ds:schemaRef ds:uri="8c2680b1-8717-4e17-af8a-c3c5948a3503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4110679</vt:lpwstr>
  </property>
  <property fmtid="{D5CDD505-2E9C-101B-9397-08002B2CF9AE}" pid="4" name="OptimizationTime">
    <vt:lpwstr>20230214_1900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386</Words>
  <Application>Microsoft Office PowerPoint</Application>
  <PresentationFormat>Widescreen</PresentationFormat>
  <Paragraphs>58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.AppleSystemUIFont</vt:lpstr>
      <vt:lpstr>Arial</vt:lpstr>
      <vt:lpstr>Bahnschrift Light</vt:lpstr>
      <vt:lpstr>Bahnschrift Light SemiCondensed</vt:lpstr>
      <vt:lpstr>Bahnschrift SemiLight SemiConde</vt:lpstr>
      <vt:lpstr>Calibri</vt:lpstr>
      <vt:lpstr>Calibri Light</vt:lpstr>
      <vt:lpstr>Georgia</vt:lpstr>
      <vt:lpstr>Wingdings</vt:lpstr>
      <vt:lpstr>Office Theme</vt:lpstr>
      <vt:lpstr>Technical Platform on the Measurement and Reduction of Food Loss and Waste</vt:lpstr>
      <vt:lpstr>PowerPoint Presentation</vt:lpstr>
      <vt:lpstr>PowerPoint Presentation</vt:lpstr>
      <vt:lpstr>PowerPoint Presentation</vt:lpstr>
      <vt:lpstr>TPFLW Actions</vt:lpstr>
      <vt:lpstr>TPFLW Users (2021 &amp; 2022)</vt:lpstr>
      <vt:lpstr>Returning Users : 2021 &amp; 2022)</vt:lpstr>
      <vt:lpstr> </vt:lpstr>
      <vt:lpstr>Community of Practice</vt:lpstr>
      <vt:lpstr>PowerPoint Presentation</vt:lpstr>
      <vt:lpstr>Next Steps</vt:lpstr>
      <vt:lpstr>Thank you for your  attention!  www.fao.org/platform-food-loss-waste/en </vt:lpstr>
    </vt:vector>
  </TitlesOfParts>
  <Company>FAO of the 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Rolle, Rosa (ESN)</dc:creator>
  <cp:lastModifiedBy>Rolle, Rosa (ESN)</cp:lastModifiedBy>
  <cp:revision>45</cp:revision>
  <dcterms:created xsi:type="dcterms:W3CDTF">2023-02-09T19:38:12Z</dcterms:created>
  <dcterms:modified xsi:type="dcterms:W3CDTF">2023-02-13T01:45:50Z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0x01010069574DCA5E8CEA4E912B7198CE871E35</vt:lpwstr>
  </property>
</Properties>
</file>