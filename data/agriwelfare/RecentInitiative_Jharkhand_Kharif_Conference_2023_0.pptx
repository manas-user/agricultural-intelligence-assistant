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940675A-B579-460E-94D1-54222C63F5DA}" styleName="No Style, Table Grid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tx1"/>
              </a:solidFill>
            </a:ln>
          </a:left>
          <a:right>
            <a:ln cmpd="sng" w="12700">
              <a:solidFill>
                <a:schemeClr val="tx1"/>
              </a:solidFill>
            </a:ln>
          </a:right>
          <a:top>
            <a:ln cmpd="sng" w="12700">
              <a:solidFill>
                <a:schemeClr val="tx1"/>
              </a:solidFill>
            </a:ln>
          </a:top>
          <a:bottom>
            <a:ln cmpd="sng" w="12700">
              <a:solidFill>
                <a:schemeClr val="tx1"/>
              </a:solidFill>
            </a:ln>
          </a:bottom>
          <a:insideH>
            <a:ln cmpd="sng" w="12700">
              <a:solidFill>
                <a:schemeClr val="tx1"/>
              </a:solidFill>
            </a:ln>
          </a:insideH>
          <a:insideV>
            <a:ln cmpd="sng" w="12700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35839-4A2A-4A2C-A5EE-B9E94F67EA9F}" type="datetimeFigureOut">
              <a:rPr lang="en-IN" smtClean="0"/>
              <a:t>03-05-2023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25FDF-88E1-407D-A4EF-AEEAF6F13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488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xmlns="" id="{5F78A4B5-44AE-4E3E-A9F3-8BFEE686B3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96822D48-7ACE-4D05-B4C9-189AED9779D8}" type="slidenum">
              <a:rPr lang="en-IN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3</a:t>
            </a:fld>
            <a:endParaRPr lang="en-I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xmlns="" id="{1B27C4F4-E1E4-49BE-8D88-6BCAB37EC7FD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963" y="749300"/>
            <a:ext cx="6573837" cy="36988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xmlns="" id="{FD0B4EAF-EA8D-40DA-BBF9-EDE6581CD9F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73100" y="4686300"/>
            <a:ext cx="5387975" cy="44386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307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xmlns="" id="{CF97532D-1AEE-46A7-B1A2-E8754FC2803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D49E7C4F-7BBF-435E-9492-C27C9056DE9A}" type="slidenum">
              <a:rPr lang="en-IN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5</a:t>
            </a:fld>
            <a:endParaRPr lang="en-I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xmlns="" id="{474E9CDE-3939-4815-B20E-1B59A67FC04A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963" y="749300"/>
            <a:ext cx="6573837" cy="36988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xmlns="" id="{EABE0F99-08CC-47BB-9893-9E71631FD9F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73100" y="4686300"/>
            <a:ext cx="5387975" cy="44386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422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xmlns="" id="{8E59D0B9-8697-4CE0-8D20-19108BAFB7E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76E1F9B4-B523-4CFA-9F17-56D59ED8398B}" type="slidenum">
              <a:rPr lang="en-IN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8</a:t>
            </a:fld>
            <a:endParaRPr lang="en-I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xmlns="" id="{B03EF2B9-2B55-408B-B91B-6413F763EE29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963" y="749300"/>
            <a:ext cx="6573837" cy="36988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xmlns="" id="{A72547B3-EC83-4E3E-8662-F5FD0646650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73100" y="4686300"/>
            <a:ext cx="5387975" cy="44386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902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CC3E74-2E81-45E1-B946-88B9648A9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AD8AC6C-DF2D-4808-A483-011519C10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A6B1CDF-BB3E-4296-B6AE-E98247177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F1B-F8C2-4D15-B2F5-1EF935F3F737}" type="datetimeFigureOut">
              <a:rPr lang="en-IN" smtClean="0"/>
              <a:t>03-05-2023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4AD39C7-CF25-4125-BCBB-F81CE2DBA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5FA162-03F7-4FF1-A926-5AA78357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5A5-15F2-409F-AB52-4273C5CC9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782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0CB47B-8FEE-4C91-9732-FC21F9BAF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14BA36-A6E6-4062-8900-0DC43BCD9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F76116-32CE-469E-A4D4-231E31DC6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F1B-F8C2-4D15-B2F5-1EF935F3F737}" type="datetimeFigureOut">
              <a:rPr lang="en-IN" smtClean="0"/>
              <a:t>03-05-2023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1EB138-0033-4DA1-ADC4-2EAFE043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EC6FE58-FA42-4534-9ACF-DC6AD8D5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5A5-15F2-409F-AB52-4273C5CC9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34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3A3C89-34C2-416D-ADD6-063D98D5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5D8EAB-28A9-4381-B1A4-D1387F322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805B3D0-0805-4CAE-9D33-6B00A8C4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F1B-F8C2-4D15-B2F5-1EF935F3F737}" type="datetimeFigureOut">
              <a:rPr lang="en-IN" smtClean="0"/>
              <a:t>03-05-2023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A6144C5-B723-46EF-98FD-E895EED9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B56B922-9FE2-40B7-BB14-44426EDE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5A5-15F2-409F-AB52-4273C5CC9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7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EA4C38-7B77-4A14-8F5E-19E40512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A8DED8-B794-4853-A717-5CEDA14AC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8DD2DE5-C9EC-4ADC-B779-03A744AE5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B2A6356-6E66-4B4F-ACCB-A3D425CB9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F1B-F8C2-4D15-B2F5-1EF935F3F737}" type="datetimeFigureOut">
              <a:rPr lang="en-IN" smtClean="0"/>
              <a:t>03-05-2023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F4E920B-3153-4CFE-A9FE-66954A4C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36493F6-EFEA-4FE5-B382-996FA91C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5A5-15F2-409F-AB52-4273C5CC9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75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56BA5A-9E49-46DA-A05D-5079A5B9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467171B-D43F-421D-834F-0BB2A32CC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B9331D1-62F7-4047-B1B6-FDF31952C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197A933-C52A-43DB-94EE-76619E257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CEE608E-1B35-4705-80DA-F99DAC61E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38A26DF-42AD-4F64-AED1-305F2901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F1B-F8C2-4D15-B2F5-1EF935F3F737}" type="datetimeFigureOut">
              <a:rPr lang="en-IN" smtClean="0"/>
              <a:t>03-05-2023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36081C8-87BF-4ADB-9CEC-8B3B5FEC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8E8F481-FD7C-4C33-9C2F-4AA3D52B5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5A5-15F2-409F-AB52-4273C5CC9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535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CDD561-B475-4FE0-9D64-976018928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586D18D-C45A-46CD-9EAD-805DFC83A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F1B-F8C2-4D15-B2F5-1EF935F3F737}" type="datetimeFigureOut">
              <a:rPr lang="en-IN" smtClean="0"/>
              <a:t>03-05-2023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B1BC463-85B2-45D2-A58C-01937BB0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C460BAC-804A-4C8F-9B93-8F93ED79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5A5-15F2-409F-AB52-4273C5CC9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07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6245145-6E60-4519-A4D5-DF9705B8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F1B-F8C2-4D15-B2F5-1EF935F3F737}" type="datetimeFigureOut">
              <a:rPr lang="en-IN" smtClean="0"/>
              <a:t>03-05-2023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87C0B1E-3FA6-4867-A0FE-8DDCA1FC7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3B746C5-62AA-4E11-AB5C-A188CD9F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5A5-15F2-409F-AB52-4273C5CC9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468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905E68-1D76-4E57-97F0-F9DC6E9E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CA9308-4F1A-4A8F-82CF-ED434EDF5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5FEFB76-B9F4-4395-8228-651DDA334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6D7A8EC-F047-4E5F-81A0-F7C53EEC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F1B-F8C2-4D15-B2F5-1EF935F3F737}" type="datetimeFigureOut">
              <a:rPr lang="en-IN" smtClean="0"/>
              <a:t>03-05-2023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716FB92-A06A-49BD-8F15-BC53E99B0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556D8B4-9249-489C-A159-05FD0FF3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5A5-15F2-409F-AB52-4273C5CC9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049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92D954-EA16-4D29-BE54-B26E8E28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4852D0E-6C8D-4E86-B3E6-C7172CCAA0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2B7A10B-4638-4F47-B727-8907C5061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E569BB2-3DE4-4263-9BE7-5378A6523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F1B-F8C2-4D15-B2F5-1EF935F3F737}" type="datetimeFigureOut">
              <a:rPr lang="en-IN" smtClean="0"/>
              <a:t>03-05-2023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7219E91-9533-468B-924E-6B139A16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34C4F83-806E-4EC7-99F4-3AE88E2B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5A5-15F2-409F-AB52-4273C5CC9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284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FF46FA-2E03-4769-A657-A501FE8A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5DE93C5-36BB-447F-B421-333E799E6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8C5F03-DC1A-4824-83EE-DCD0D077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F1B-F8C2-4D15-B2F5-1EF935F3F737}" type="datetimeFigureOut">
              <a:rPr lang="en-IN" smtClean="0"/>
              <a:t>03-05-2023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52F92BD-D8DC-4E3D-A4A1-9FECA845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C7164D-E4EE-403D-8776-3C291121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5A5-15F2-409F-AB52-4273C5CC9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543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C9CFDED-1D43-4E6C-87A5-DF62041875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1BF2776-6B6B-42E8-95D0-844D5C972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A32ACA1-2D8E-4D43-83B4-83E79322B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F1B-F8C2-4D15-B2F5-1EF935F3F737}" type="datetimeFigureOut">
              <a:rPr lang="en-IN" smtClean="0"/>
              <a:t>03-05-2023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215631B-2837-4314-9B08-F2D3F9A7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54505F2-257B-4999-8B19-50D10F38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5A5-15F2-409F-AB52-4273C5CC9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81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EA37C68-E610-479F-8727-79E674CE6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6E2B28C-087E-44D5-99A6-92D8F9DEB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9BC4B48-2DDA-493F-AA78-0A436464E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47F1B-F8C2-4D15-B2F5-1EF935F3F737}" type="datetimeFigureOut">
              <a:rPr lang="en-IN" smtClean="0"/>
              <a:t>03-05-2023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6531671-AF3F-4CAD-A24D-4848602DB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1F02ED-D1BD-4DEE-8E46-B9E3CA67F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7E5A5-15F2-409F-AB52-4273C5CC9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309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677507" y="304004"/>
            <a:ext cx="10614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National Conference on Agriculture for </a:t>
            </a:r>
          </a:p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Kharif Campaign, 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8316" y="5173548"/>
            <a:ext cx="118508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Agriculture, Animal Husbandry &amp; Cooperative </a:t>
            </a:r>
          </a:p>
          <a:p>
            <a:pPr algn="ctr"/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 of Jharkhand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916" y="6224769"/>
            <a:ext cx="4822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 -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8315" y="6268313"/>
            <a:ext cx="1836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Date	</a:t>
            </a:r>
          </a:p>
        </p:txBody>
      </p:sp>
      <p:pic>
        <p:nvPicPr>
          <p:cNvPr id="34" name="Picture 4"/>
          <p:cNvPicPr/>
          <p:nvPr/>
        </p:nvPicPr>
        <p:blipFill>
          <a:blip r:embed="rId2" cstate="print"/>
          <a:stretch/>
        </p:blipFill>
        <p:spPr>
          <a:xfrm>
            <a:off x="272676" y="207485"/>
            <a:ext cx="675526" cy="874902"/>
          </a:xfrm>
          <a:prstGeom prst="rect">
            <a:avLst/>
          </a:prstGeom>
          <a:ln w="9360">
            <a:noFill/>
          </a:ln>
        </p:spPr>
      </p:pic>
      <p:pic>
        <p:nvPicPr>
          <p:cNvPr id="35" name="Picture 2" descr="C:\Users\pradeep.kumar\Desktop\JH_ 2020\Loan Waiver\download (6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69" y="127056"/>
            <a:ext cx="952148" cy="95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BE600F95-C4C9-4310-82B2-02C32D53C9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0441"/>
            <a:ext cx="4082473" cy="3773207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EEBAFCDF-085E-49CB-8812-B2591FD694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529" y="1776960"/>
            <a:ext cx="6777081" cy="32300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17999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6F60-859D-4F6B-B777-BEDB4B46240D}" type="slidenum">
              <a:rPr lang="en-IN" smtClean="0"/>
              <a:pPr/>
              <a:t>2</a:t>
            </a:fld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419065"/>
              </p:ext>
            </p:extLst>
          </p:nvPr>
        </p:nvGraphicFramePr>
        <p:xfrm>
          <a:off x="87087" y="676502"/>
          <a:ext cx="12006941" cy="5679845"/>
        </p:xfrm>
        <a:graphic>
          <a:graphicData uri="http://schemas.openxmlformats.org/drawingml/2006/table">
            <a:tbl>
              <a:tblPr/>
              <a:tblGrid>
                <a:gridCol w="63971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10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9957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5503"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 Agriculture Profile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55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Particulars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Area in Lakh </a:t>
                      </a:r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Hec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55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Geographical Area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79.71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55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Cultivable land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55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Kharif ( Gross sown area)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55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Rabi ( Gross sown area)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855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fallow land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855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fallow land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855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Forest land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855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Barrend lands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5.74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855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Non-Agriculture Use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855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Pasture and other grazing land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855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Cultivable waste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2.74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28051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Cropping intensity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126%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28207281"/>
                  </a:ext>
                </a:extLst>
              </a:tr>
              <a:tr h="328051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Average rainfall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1200-1300mm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07411653"/>
                  </a:ext>
                </a:extLst>
              </a:tr>
              <a:tr h="328051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% of  assured Irrigated Land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endParaRPr kumimoji="0" lang="en-I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charset="-122"/>
                        <a:cs typeface="Arial" panose="020B0604020202020204" pitchFamily="34" charset="0"/>
                      </a:endParaRP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22708747"/>
                  </a:ext>
                </a:extLst>
              </a:tr>
              <a:tr h="328051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% of potential irrigated land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endParaRPr kumimoji="0" lang="en-I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charset="-122"/>
                        <a:cs typeface="Arial" panose="020B0604020202020204" pitchFamily="34" charset="0"/>
                      </a:endParaRP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27970996"/>
                  </a:ext>
                </a:extLst>
              </a:tr>
              <a:tr h="328051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Fertilizer Uses (kg/</a:t>
                      </a:r>
                      <a:r>
                        <a:rPr kumimoji="0" lang="en-I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Hec</a:t>
                      </a:r>
                      <a:r>
                        <a:rPr kumimoji="0" lang="en-I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92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endParaRPr kumimoji="0" lang="en-I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charset="-122"/>
                        <a:cs typeface="Arial" panose="020B0604020202020204" pitchFamily="34" charset="0"/>
                      </a:endParaRP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04070978"/>
                  </a:ext>
                </a:extLst>
              </a:tr>
              <a:tr h="328051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Seed replacement rate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r>
                        <a:rPr kumimoji="0" lang="en-I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15%</a:t>
                      </a: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</a:tabLst>
                      </a:pPr>
                      <a:endParaRPr kumimoji="0" lang="en-I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charset="-122"/>
                        <a:cs typeface="Arial" panose="020B0604020202020204" pitchFamily="34" charset="0"/>
                      </a:endParaRPr>
                    </a:p>
                  </a:txBody>
                  <a:tcPr marL="9360" marR="9360" marT="45679" marB="45679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97043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087" y="0"/>
            <a:ext cx="12006942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Agriculture Profile of Jharkhand </a:t>
            </a:r>
            <a:endParaRPr lang="en-IN" sz="2800" b="1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0244" y="6574971"/>
            <a:ext cx="62429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Source: Department of Forest &amp; &amp; Department of Agriculture, Husbandry &amp; Cooperatives  </a:t>
            </a:r>
          </a:p>
        </p:txBody>
      </p:sp>
    </p:spTree>
    <p:extLst>
      <p:ext uri="{BB962C8B-B14F-4D97-AF65-F5344CB8AC3E}">
        <p14:creationId xmlns:p14="http://schemas.microsoft.com/office/powerpoint/2010/main" val="3542201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9" name="Group 1">
            <a:extLst>
              <a:ext uri="{FF2B5EF4-FFF2-40B4-BE49-F238E27FC236}">
                <a16:creationId xmlns:a16="http://schemas.microsoft.com/office/drawing/2014/main" xmlns="" id="{AB0E59ED-94FA-42E8-A4DF-5E8BB91C1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314169"/>
              </p:ext>
            </p:extLst>
          </p:nvPr>
        </p:nvGraphicFramePr>
        <p:xfrm>
          <a:off x="391885" y="1135457"/>
          <a:ext cx="11244944" cy="436182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1300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727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14803">
                  <a:extLst>
                    <a:ext uri="{9D8B030D-6E8A-4147-A177-3AD203B41FA5}">
                      <a16:colId xmlns:a16="http://schemas.microsoft.com/office/drawing/2014/main" xmlns="" val="3008057660"/>
                    </a:ext>
                  </a:extLst>
                </a:gridCol>
                <a:gridCol w="1814803">
                  <a:extLst>
                    <a:ext uri="{9D8B030D-6E8A-4147-A177-3AD203B41FA5}">
                      <a16:colId xmlns:a16="http://schemas.microsoft.com/office/drawing/2014/main" xmlns="" val="1933040120"/>
                    </a:ext>
                  </a:extLst>
                </a:gridCol>
                <a:gridCol w="1814803">
                  <a:extLst>
                    <a:ext uri="{9D8B030D-6E8A-4147-A177-3AD203B41FA5}">
                      <a16:colId xmlns:a16="http://schemas.microsoft.com/office/drawing/2014/main" xmlns="" val="3216134772"/>
                    </a:ext>
                  </a:extLst>
                </a:gridCol>
                <a:gridCol w="1814803">
                  <a:extLst>
                    <a:ext uri="{9D8B030D-6E8A-4147-A177-3AD203B41FA5}">
                      <a16:colId xmlns:a16="http://schemas.microsoft.com/office/drawing/2014/main" xmlns="" val="815506514"/>
                    </a:ext>
                  </a:extLst>
                </a:gridCol>
              </a:tblGrid>
              <a:tr h="640917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  <a:tab pos="7637463" algn="l"/>
                          <a:tab pos="8086725" algn="l"/>
                        </a:tabLst>
                      </a:pPr>
                      <a:r>
                        <a:rPr kumimoji="0" lang="en-IN" sz="18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</a:t>
                      </a:r>
                      <a:endParaRPr kumimoji="0" lang="en-I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charset="-122"/>
                        <a:cs typeface="Arial" panose="020B0604020202020204" pitchFamily="34" charset="0"/>
                      </a:endParaRPr>
                    </a:p>
                  </a:txBody>
                  <a:tcPr marL="90000" marR="900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  <a:tab pos="7637463" algn="l"/>
                          <a:tab pos="8086725" algn="l"/>
                        </a:tabLst>
                      </a:pPr>
                      <a:r>
                        <a:rPr kumimoji="0" lang="en-IN" sz="18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 Rainfall</a:t>
                      </a:r>
                      <a:endParaRPr kumimoji="0" lang="en-I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charset="-122"/>
                        <a:cs typeface="Arial" panose="020B0604020202020204" pitchFamily="34" charset="0"/>
                      </a:endParaRPr>
                    </a:p>
                  </a:txBody>
                  <a:tcPr marL="90000" marR="90000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  <a:tab pos="7637463" algn="l"/>
                          <a:tab pos="8086725" algn="l"/>
                        </a:tabLst>
                      </a:pPr>
                      <a:r>
                        <a:rPr kumimoji="0" lang="en-I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2022-23</a:t>
                      </a:r>
                    </a:p>
                  </a:txBody>
                  <a:tcPr marL="90000" marR="90000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  <a:tab pos="7637463" algn="l"/>
                          <a:tab pos="8086725" algn="l"/>
                        </a:tabLst>
                      </a:pPr>
                      <a:endParaRPr kumimoji="0" lang="en-I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Microsoft YaHei" charset="-122"/>
                      </a:endParaRPr>
                    </a:p>
                  </a:txBody>
                  <a:tcPr marL="90000" marR="90000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  <a:tab pos="7637463" algn="l"/>
                          <a:tab pos="8086725" algn="l"/>
                        </a:tabLst>
                      </a:pPr>
                      <a:r>
                        <a:rPr kumimoji="0" lang="en-I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2021-22</a:t>
                      </a:r>
                    </a:p>
                  </a:txBody>
                  <a:tcPr marL="90000" marR="90000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  <a:tab pos="7637463" algn="l"/>
                          <a:tab pos="8086725" algn="l"/>
                        </a:tabLst>
                      </a:pPr>
                      <a:endParaRPr kumimoji="0" lang="en-I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Microsoft YaHei" charset="-122"/>
                      </a:endParaRPr>
                    </a:p>
                  </a:txBody>
                  <a:tcPr marL="90000" marR="90000" horzOverflow="overflow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6327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  <a:tab pos="7637463" algn="l"/>
                          <a:tab pos="8086725" algn="l"/>
                        </a:tabLst>
                      </a:pPr>
                      <a:endParaRPr kumimoji="0" lang="en-IN" sz="1800" b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  <a:tab pos="7637463" algn="l"/>
                          <a:tab pos="8086725" algn="l"/>
                        </a:tabLst>
                      </a:pPr>
                      <a:r>
                        <a:rPr kumimoji="0" lang="en-IN" sz="18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mm</a:t>
                      </a:r>
                      <a:endParaRPr kumimoji="0" lang="en-I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charset="-122"/>
                        <a:cs typeface="Arial" panose="020B0604020202020204" pitchFamily="34" charset="0"/>
                      </a:endParaRPr>
                    </a:p>
                  </a:txBody>
                  <a:tcPr marL="90000" marR="9000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  <a:tab pos="7637463" algn="l"/>
                          <a:tab pos="8086725" algn="l"/>
                        </a:tabLst>
                      </a:pPr>
                      <a:r>
                        <a:rPr kumimoji="0" lang="en-I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Actual</a:t>
                      </a:r>
                    </a:p>
                  </a:txBody>
                  <a:tcPr marL="90000" marR="9000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  <a:tab pos="7637463" algn="l"/>
                          <a:tab pos="8086725" algn="l"/>
                        </a:tabLst>
                      </a:pPr>
                      <a:r>
                        <a:rPr kumimoji="0" lang="en-I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0000" marR="9000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  <a:tab pos="7637463" algn="l"/>
                          <a:tab pos="8086725" algn="l"/>
                        </a:tabLst>
                      </a:pPr>
                      <a:r>
                        <a:rPr kumimoji="0" lang="en-I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Actual</a:t>
                      </a:r>
                    </a:p>
                  </a:txBody>
                  <a:tcPr marL="90000" marR="9000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  <a:tab pos="7637463" algn="l"/>
                          <a:tab pos="8086725" algn="l"/>
                        </a:tabLst>
                      </a:pPr>
                      <a:r>
                        <a:rPr kumimoji="0" lang="en-I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0000" marR="90000" horzOverflow="overflow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91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June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196.6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81.6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41.51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281.5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143.18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91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July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319.4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130.9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40.98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297.9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93.27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091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August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276.2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277.2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183.4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66.40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091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227.9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212.1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93.07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242.9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106.58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0917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49263" algn="l"/>
                          <a:tab pos="898525" algn="l"/>
                          <a:tab pos="1347788" algn="l"/>
                          <a:tab pos="1797050" algn="l"/>
                          <a:tab pos="2246313" algn="l"/>
                          <a:tab pos="2695575" algn="l"/>
                          <a:tab pos="3144838" algn="l"/>
                          <a:tab pos="3594100" algn="l"/>
                          <a:tab pos="4043363" algn="l"/>
                          <a:tab pos="4492625" algn="l"/>
                          <a:tab pos="4941888" algn="l"/>
                          <a:tab pos="5391150" algn="l"/>
                          <a:tab pos="5840413" algn="l"/>
                          <a:tab pos="6289675" algn="l"/>
                          <a:tab pos="6738938" algn="l"/>
                          <a:tab pos="7188200" algn="l"/>
                          <a:tab pos="7637463" algn="l"/>
                          <a:tab pos="8086725" algn="l"/>
                        </a:tabLst>
                      </a:pPr>
                      <a:r>
                        <a:rPr kumimoji="0" lang="en-IN" sz="18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kumimoji="0" lang="en-I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icrosoft YaHei" charset="-122"/>
                        <a:cs typeface="Arial" panose="020B0604020202020204" pitchFamily="34" charset="0"/>
                      </a:endParaRPr>
                    </a:p>
                  </a:txBody>
                  <a:tcPr marL="90000" marR="90000" horzOverflow="overflow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1020.1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701.8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68.80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1005.7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98.59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5176" name="Rectangle 129">
            <a:extLst>
              <a:ext uri="{FF2B5EF4-FFF2-40B4-BE49-F238E27FC236}">
                <a16:creationId xmlns:a16="http://schemas.microsoft.com/office/drawing/2014/main" xmlns="" id="{DDAE8FC2-3E68-4FEE-AF91-6ADF5F6CA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30" y="5723729"/>
            <a:ext cx="11811000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lnSpc>
                <a:spcPct val="100000"/>
              </a:lnSpc>
            </a:pPr>
            <a:r>
              <a:rPr lang="en-IN" altLang="en-US" b="1" dirty="0">
                <a:solidFill>
                  <a:srgbClr val="000000"/>
                </a:solidFill>
                <a:latin typeface="+mj-lt"/>
              </a:rPr>
              <a:t>State has been experiencing significant deviation in distribution of rainfall in 2022 as compare to the pervious year and also overall deficit rainfall  and affecting the sowing.   </a:t>
            </a:r>
          </a:p>
        </p:txBody>
      </p:sp>
      <p:sp>
        <p:nvSpPr>
          <p:cNvPr id="7298" name="Rectangle 130">
            <a:extLst>
              <a:ext uri="{FF2B5EF4-FFF2-40B4-BE49-F238E27FC236}">
                <a16:creationId xmlns:a16="http://schemas.microsoft.com/office/drawing/2014/main" xmlns="" id="{FB5643FE-7AF3-44B3-BB0E-32C16DF46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6" y="119063"/>
            <a:ext cx="12028714" cy="5000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>
            <a:noFill/>
            <a:round/>
            <a:headEnd/>
            <a:tailEnd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</p:spPr>
        <p:txBody>
          <a:bodyPr lIns="90000" tIns="45000" rIns="90000" bIns="45000"/>
          <a:lstStyle/>
          <a:p>
            <a:pPr algn="ctr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IN" sz="2400" b="1" dirty="0">
                <a:latin typeface="Calibri" charset="0"/>
                <a:ea typeface="Microsoft YaHei" charset="-122"/>
              </a:rPr>
              <a:t>Trend in Monsoon Rainfall for the past 2 years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EB16806-07A9-471B-AD68-3253D9F16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3813"/>
            <a:ext cx="12039600" cy="500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>
            <a:noFill/>
            <a:round/>
            <a:headEnd/>
            <a:tailEnd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</p:spPr>
        <p:txBody>
          <a:bodyPr lIns="90000" tIns="45000" rIns="90000" bIns="45000"/>
          <a:lstStyle/>
          <a:p>
            <a:pPr algn="ctr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IN" sz="2400" b="1">
                <a:latin typeface="Calibri" charset="0"/>
                <a:ea typeface="Microsoft YaHei" charset="-122"/>
              </a:rPr>
              <a:t>Drought situation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D4AA0E46-2A8E-4BBE-8931-6E796C1C47BF}"/>
              </a:ext>
            </a:extLst>
          </p:cNvPr>
          <p:cNvSpPr txBox="1"/>
          <p:nvPr/>
        </p:nvSpPr>
        <p:spPr>
          <a:xfrm>
            <a:off x="609600" y="653737"/>
            <a:ext cx="11419114" cy="5511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2022 Kharif Season was drought affected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Out of 24 districts, 22 districts drought declared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Out of 263 blocks , 226 block are drought affected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Crop coverage less than 50%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Paddy area reduced drastically to 8 lakh ha. against normal area of 18 lakh ha.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State submitted financial memorandum for Rs. 9681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for drought relief &amp; assistance awaited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So far State has disbursed Rs 461 crore towards drought relief for 13.17 lakh farmers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Total numbers of farmers registered on drought relief portal is  more than 30 lakhs</a:t>
            </a: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76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>
            <a:extLst>
              <a:ext uri="{FF2B5EF4-FFF2-40B4-BE49-F238E27FC236}">
                <a16:creationId xmlns:a16="http://schemas.microsoft.com/office/drawing/2014/main" xmlns="" id="{0C0DD892-B5AF-497F-8DBF-B32798DE8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4" y="34926"/>
            <a:ext cx="11832771" cy="500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>
            <a:noFill/>
            <a:round/>
            <a:headEnd/>
            <a:tailEnd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</p:spPr>
        <p:txBody>
          <a:bodyPr lIns="90000" tIns="45000" rIns="90000" bIns="45000"/>
          <a:lstStyle/>
          <a:p>
            <a:pPr algn="ctr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IN" sz="2400" b="1" dirty="0">
                <a:latin typeface="Calibri" charset="0"/>
                <a:ea typeface="Microsoft YaHei" charset="-122"/>
              </a:rPr>
              <a:t>Major Crop Coverage and Target for Kharif 2023</a:t>
            </a:r>
          </a:p>
        </p:txBody>
      </p:sp>
      <p:sp>
        <p:nvSpPr>
          <p:cNvPr id="7205" name="Rectangle 74">
            <a:extLst>
              <a:ext uri="{FF2B5EF4-FFF2-40B4-BE49-F238E27FC236}">
                <a16:creationId xmlns:a16="http://schemas.microsoft.com/office/drawing/2014/main" xmlns="" id="{82A75772-4522-498C-9CE1-3CEBF9CDA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53" y="5953617"/>
            <a:ext cx="11832771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lnSpc>
                <a:spcPct val="100000"/>
              </a:lnSpc>
            </a:pPr>
            <a:r>
              <a:rPr lang="en-IN" altLang="en-US" dirty="0">
                <a:solidFill>
                  <a:srgbClr val="000000"/>
                </a:solidFill>
              </a:rPr>
              <a:t>*For the 2022 Kharif season due to drought condition coverage have severely  affected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EE382FAC-3524-45B3-8072-44E654949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176659"/>
              </p:ext>
            </p:extLst>
          </p:nvPr>
        </p:nvGraphicFramePr>
        <p:xfrm>
          <a:off x="337453" y="887619"/>
          <a:ext cx="11549747" cy="442461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45835">
                  <a:extLst>
                    <a:ext uri="{9D8B030D-6E8A-4147-A177-3AD203B41FA5}">
                      <a16:colId xmlns:a16="http://schemas.microsoft.com/office/drawing/2014/main" xmlns="" val="1913635268"/>
                    </a:ext>
                  </a:extLst>
                </a:gridCol>
                <a:gridCol w="2457421">
                  <a:extLst>
                    <a:ext uri="{9D8B030D-6E8A-4147-A177-3AD203B41FA5}">
                      <a16:colId xmlns:a16="http://schemas.microsoft.com/office/drawing/2014/main" xmlns="" val="3380563153"/>
                    </a:ext>
                  </a:extLst>
                </a:gridCol>
                <a:gridCol w="1981120">
                  <a:extLst>
                    <a:ext uri="{9D8B030D-6E8A-4147-A177-3AD203B41FA5}">
                      <a16:colId xmlns:a16="http://schemas.microsoft.com/office/drawing/2014/main" xmlns="" val="1937727335"/>
                    </a:ext>
                  </a:extLst>
                </a:gridCol>
                <a:gridCol w="1556657">
                  <a:extLst>
                    <a:ext uri="{9D8B030D-6E8A-4147-A177-3AD203B41FA5}">
                      <a16:colId xmlns:a16="http://schemas.microsoft.com/office/drawing/2014/main" xmlns="" val="3063633535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xmlns="" val="80833470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xmlns="" val="2105099833"/>
                    </a:ext>
                  </a:extLst>
                </a:gridCol>
              </a:tblGrid>
              <a:tr h="41824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Crop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Comment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90782455"/>
                  </a:ext>
                </a:extLst>
              </a:tr>
              <a:tr h="62159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 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  (Estimated)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15708292"/>
                  </a:ext>
                </a:extLst>
              </a:tr>
              <a:tr h="5394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Paddy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1800.00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855.084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1800.00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00617163"/>
                  </a:ext>
                </a:extLst>
              </a:tr>
              <a:tr h="4182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Maize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312.00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208.847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260.00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47615991"/>
                  </a:ext>
                </a:extLst>
              </a:tr>
              <a:tr h="4182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Pulses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612.00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323.991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612.00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71192281"/>
                  </a:ext>
                </a:extLst>
              </a:tr>
              <a:tr h="4182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Oilseeds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27.690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60.00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2877454"/>
                  </a:ext>
                </a:extLst>
              </a:tr>
              <a:tr h="117236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Coarse Cereals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15.997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93.45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51.41 thousand hectare more area coverage under the millet crop in 2023 Kharif season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53803792"/>
                  </a:ext>
                </a:extLst>
              </a:tr>
              <a:tr h="418248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2826.00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1431.61*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2826.00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0853852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xmlns="" id="{DB8967BB-4BB3-49C5-8F82-2FA9B29D8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657840"/>
              </p:ext>
            </p:extLst>
          </p:nvPr>
        </p:nvGraphicFramePr>
        <p:xfrm>
          <a:off x="174174" y="600528"/>
          <a:ext cx="11647710" cy="33812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4626">
                  <a:extLst>
                    <a:ext uri="{9D8B030D-6E8A-4147-A177-3AD203B41FA5}">
                      <a16:colId xmlns:a16="http://schemas.microsoft.com/office/drawing/2014/main" xmlns="" val="1112391930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xmlns="" val="86649560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136832782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xmlns="" val="2821889428"/>
                    </a:ext>
                  </a:extLst>
                </a:gridCol>
                <a:gridCol w="1164771">
                  <a:extLst>
                    <a:ext uri="{9D8B030D-6E8A-4147-A177-3AD203B41FA5}">
                      <a16:colId xmlns:a16="http://schemas.microsoft.com/office/drawing/2014/main" xmlns="" val="3702624018"/>
                    </a:ext>
                  </a:extLst>
                </a:gridCol>
                <a:gridCol w="1164771">
                  <a:extLst>
                    <a:ext uri="{9D8B030D-6E8A-4147-A177-3AD203B41FA5}">
                      <a16:colId xmlns:a16="http://schemas.microsoft.com/office/drawing/2014/main" xmlns="" val="311780288"/>
                    </a:ext>
                  </a:extLst>
                </a:gridCol>
                <a:gridCol w="1164771">
                  <a:extLst>
                    <a:ext uri="{9D8B030D-6E8A-4147-A177-3AD203B41FA5}">
                      <a16:colId xmlns:a16="http://schemas.microsoft.com/office/drawing/2014/main" xmlns="" val="3176855666"/>
                    </a:ext>
                  </a:extLst>
                </a:gridCol>
                <a:gridCol w="1164771">
                  <a:extLst>
                    <a:ext uri="{9D8B030D-6E8A-4147-A177-3AD203B41FA5}">
                      <a16:colId xmlns:a16="http://schemas.microsoft.com/office/drawing/2014/main" xmlns="" val="2882567328"/>
                    </a:ext>
                  </a:extLst>
                </a:gridCol>
                <a:gridCol w="1164771">
                  <a:extLst>
                    <a:ext uri="{9D8B030D-6E8A-4147-A177-3AD203B41FA5}">
                      <a16:colId xmlns:a16="http://schemas.microsoft.com/office/drawing/2014/main" xmlns="" val="4286814528"/>
                    </a:ext>
                  </a:extLst>
                </a:gridCol>
                <a:gridCol w="1164771">
                  <a:extLst>
                    <a:ext uri="{9D8B030D-6E8A-4147-A177-3AD203B41FA5}">
                      <a16:colId xmlns:a16="http://schemas.microsoft.com/office/drawing/2014/main" xmlns="" val="628074710"/>
                    </a:ext>
                  </a:extLst>
                </a:gridCol>
              </a:tblGrid>
              <a:tr h="323056">
                <a:tc rowSpan="2"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Crops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Area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Yield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231285469"/>
                  </a:ext>
                </a:extLst>
              </a:tr>
              <a:tr h="489703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Kharif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Rabi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Kharif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Rabi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Kharif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Rabi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91109150"/>
                  </a:ext>
                </a:extLst>
              </a:tr>
              <a:tr h="323056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795.628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798.628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2099.543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2099.543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2639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2639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22964837"/>
                  </a:ext>
                </a:extLst>
              </a:tr>
              <a:tr h="476595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180.061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180.061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379.781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379.781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2109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08212812"/>
                  </a:ext>
                </a:extLst>
              </a:tr>
              <a:tr h="323056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13.585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13.585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32.744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32.744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2410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68519473"/>
                  </a:ext>
                </a:extLst>
              </a:tr>
              <a:tr h="323056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Bajra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1058609"/>
                  </a:ext>
                </a:extLst>
              </a:tr>
              <a:tr h="323056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208.820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216.838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452.882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12.681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465.563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2169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2147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06985061"/>
                  </a:ext>
                </a:extLst>
              </a:tr>
              <a:tr h="323056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26.062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26.062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31.950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31.950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1226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93693502"/>
                  </a:ext>
                </a:extLst>
              </a:tr>
              <a:tr h="476595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1044.326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188.079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1232.405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2617.248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392.462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3009.710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2087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2442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05745106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xmlns="" id="{1E25AFF4-4204-48CC-B482-C990BA3EF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826433"/>
              </p:ext>
            </p:extLst>
          </p:nvPr>
        </p:nvGraphicFramePr>
        <p:xfrm>
          <a:off x="174174" y="4269261"/>
          <a:ext cx="11647710" cy="21652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4626">
                  <a:extLst>
                    <a:ext uri="{9D8B030D-6E8A-4147-A177-3AD203B41FA5}">
                      <a16:colId xmlns:a16="http://schemas.microsoft.com/office/drawing/2014/main" xmlns="" val="1112391930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xmlns="" val="86649560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136832782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xmlns="" val="2821889428"/>
                    </a:ext>
                  </a:extLst>
                </a:gridCol>
                <a:gridCol w="1153885">
                  <a:extLst>
                    <a:ext uri="{9D8B030D-6E8A-4147-A177-3AD203B41FA5}">
                      <a16:colId xmlns:a16="http://schemas.microsoft.com/office/drawing/2014/main" xmlns="" val="3702624018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xmlns="" val="311780288"/>
                    </a:ext>
                  </a:extLst>
                </a:gridCol>
                <a:gridCol w="1164771">
                  <a:extLst>
                    <a:ext uri="{9D8B030D-6E8A-4147-A177-3AD203B41FA5}">
                      <a16:colId xmlns:a16="http://schemas.microsoft.com/office/drawing/2014/main" xmlns="" val="3176855666"/>
                    </a:ext>
                  </a:extLst>
                </a:gridCol>
                <a:gridCol w="1164771">
                  <a:extLst>
                    <a:ext uri="{9D8B030D-6E8A-4147-A177-3AD203B41FA5}">
                      <a16:colId xmlns:a16="http://schemas.microsoft.com/office/drawing/2014/main" xmlns="" val="2882567328"/>
                    </a:ext>
                  </a:extLst>
                </a:gridCol>
                <a:gridCol w="1164771">
                  <a:extLst>
                    <a:ext uri="{9D8B030D-6E8A-4147-A177-3AD203B41FA5}">
                      <a16:colId xmlns:a16="http://schemas.microsoft.com/office/drawing/2014/main" xmlns="" val="4286814528"/>
                    </a:ext>
                  </a:extLst>
                </a:gridCol>
                <a:gridCol w="1164771">
                  <a:extLst>
                    <a:ext uri="{9D8B030D-6E8A-4147-A177-3AD203B41FA5}">
                      <a16:colId xmlns:a16="http://schemas.microsoft.com/office/drawing/2014/main" xmlns="" val="628074710"/>
                    </a:ext>
                  </a:extLst>
                </a:gridCol>
              </a:tblGrid>
              <a:tr h="392552"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Crops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Area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Production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Yield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231285469"/>
                  </a:ext>
                </a:extLst>
              </a:tr>
              <a:tr h="595047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Kharif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Rabi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Total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Kharif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Rabi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Total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Kharif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Rabi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Total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91109150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Total Pulses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346.502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331.758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678.260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367.240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393.944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761.184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1080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1187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1122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22964837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Total Food-grains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1390.828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519.837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1910.665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2984.489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786.405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3770.894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2146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1513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1974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08212812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Total Oilseeds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31.030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400.616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431.646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30.108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365.181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395.289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970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912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916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6851947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871D186-8CBB-4330-8817-AAA2DF196246}"/>
              </a:ext>
            </a:extLst>
          </p:cNvPr>
          <p:cNvSpPr txBox="1"/>
          <p:nvPr/>
        </p:nvSpPr>
        <p:spPr>
          <a:xfrm>
            <a:off x="-157843" y="54430"/>
            <a:ext cx="12507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Estimate of Area, Production &amp; Yield of Food grains, Oilseeds and Other Crops for 2022-23 </a:t>
            </a:r>
          </a:p>
        </p:txBody>
      </p:sp>
    </p:spTree>
    <p:extLst>
      <p:ext uri="{BB962C8B-B14F-4D97-AF65-F5344CB8AC3E}">
        <p14:creationId xmlns:p14="http://schemas.microsoft.com/office/powerpoint/2010/main" val="2711454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1AA6815E-063C-4CD7-B2B3-439F81BB9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692262"/>
              </p:ext>
            </p:extLst>
          </p:nvPr>
        </p:nvGraphicFramePr>
        <p:xfrm>
          <a:off x="108856" y="610047"/>
          <a:ext cx="11919856" cy="494033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37062">
                  <a:extLst>
                    <a:ext uri="{9D8B030D-6E8A-4147-A177-3AD203B41FA5}">
                      <a16:colId xmlns:a16="http://schemas.microsoft.com/office/drawing/2014/main" xmlns="" val="1290651201"/>
                    </a:ext>
                  </a:extLst>
                </a:gridCol>
                <a:gridCol w="1764958">
                  <a:extLst>
                    <a:ext uri="{9D8B030D-6E8A-4147-A177-3AD203B41FA5}">
                      <a16:colId xmlns:a16="http://schemas.microsoft.com/office/drawing/2014/main" xmlns="" val="1013821816"/>
                    </a:ext>
                  </a:extLst>
                </a:gridCol>
                <a:gridCol w="1764958">
                  <a:extLst>
                    <a:ext uri="{9D8B030D-6E8A-4147-A177-3AD203B41FA5}">
                      <a16:colId xmlns:a16="http://schemas.microsoft.com/office/drawing/2014/main" xmlns="" val="2249705894"/>
                    </a:ext>
                  </a:extLst>
                </a:gridCol>
                <a:gridCol w="1662640">
                  <a:extLst>
                    <a:ext uri="{9D8B030D-6E8A-4147-A177-3AD203B41FA5}">
                      <a16:colId xmlns:a16="http://schemas.microsoft.com/office/drawing/2014/main" xmlns="" val="2529028022"/>
                    </a:ext>
                  </a:extLst>
                </a:gridCol>
                <a:gridCol w="1662640">
                  <a:extLst>
                    <a:ext uri="{9D8B030D-6E8A-4147-A177-3AD203B41FA5}">
                      <a16:colId xmlns:a16="http://schemas.microsoft.com/office/drawing/2014/main" xmlns="" val="3158239394"/>
                    </a:ext>
                  </a:extLst>
                </a:gridCol>
                <a:gridCol w="1662640">
                  <a:extLst>
                    <a:ext uri="{9D8B030D-6E8A-4147-A177-3AD203B41FA5}">
                      <a16:colId xmlns:a16="http://schemas.microsoft.com/office/drawing/2014/main" xmlns="" val="1166589283"/>
                    </a:ext>
                  </a:extLst>
                </a:gridCol>
                <a:gridCol w="1764958">
                  <a:extLst>
                    <a:ext uri="{9D8B030D-6E8A-4147-A177-3AD203B41FA5}">
                      <a16:colId xmlns:a16="http://schemas.microsoft.com/office/drawing/2014/main" xmlns="" val="3434693237"/>
                    </a:ext>
                  </a:extLst>
                </a:gridCol>
              </a:tblGrid>
              <a:tr h="293134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Kharif 2022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91826541"/>
                  </a:ext>
                </a:extLst>
              </a:tr>
              <a:tr h="29313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UREA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DAP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NPKS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MOP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SSP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09029811"/>
                  </a:ext>
                </a:extLst>
              </a:tr>
              <a:tr h="29313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Demand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46000.00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20500.00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529500.00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00834887"/>
                  </a:ext>
                </a:extLst>
              </a:tr>
              <a:tr h="29313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Allocation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170000.00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10000.00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305000.00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99290901"/>
                  </a:ext>
                </a:extLst>
              </a:tr>
              <a:tr h="29313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Receipt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136263.38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45535.95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30200.40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2610.50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4600.35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219210.58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42286926"/>
                  </a:ext>
                </a:extLst>
              </a:tr>
              <a:tr h="239535">
                <a:tc gridSpan="7">
                  <a:txBody>
                    <a:bodyPr/>
                    <a:lstStyle/>
                    <a:p>
                      <a:pPr algn="ctr" fontAlgn="b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4048808352"/>
                  </a:ext>
                </a:extLst>
              </a:tr>
              <a:tr h="293134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RABI 2022-23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70897354"/>
                  </a:ext>
                </a:extLst>
              </a:tr>
              <a:tr h="29313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UREA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DAP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NPKS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MOP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SSP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75336237"/>
                  </a:ext>
                </a:extLst>
              </a:tr>
              <a:tr h="29313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Demand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122000.00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26500.00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194800.00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89010695"/>
                  </a:ext>
                </a:extLst>
              </a:tr>
              <a:tr h="29313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Allocation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15800.00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132000.00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18171967"/>
                  </a:ext>
                </a:extLst>
              </a:tr>
              <a:tr h="29313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Receipt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104996.16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31298.45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48414.90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1014.65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1091.80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186815.96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08405575"/>
                  </a:ext>
                </a:extLst>
              </a:tr>
              <a:tr h="293134">
                <a:tc gridSpan="7">
                  <a:txBody>
                    <a:bodyPr/>
                    <a:lstStyle/>
                    <a:p>
                      <a:pPr algn="ctr" fontAlgn="b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899143567"/>
                  </a:ext>
                </a:extLst>
              </a:tr>
              <a:tr h="293134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Kharif 2023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20604862"/>
                  </a:ext>
                </a:extLst>
              </a:tr>
              <a:tr h="29313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UREA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DAP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NPKS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MOP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SSP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87601959"/>
                  </a:ext>
                </a:extLst>
              </a:tr>
              <a:tr h="29313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Demand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225000.00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125000.00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443000.00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4122723"/>
                  </a:ext>
                </a:extLst>
              </a:tr>
              <a:tr h="29313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Allocation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170000.00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305000.00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69208356"/>
                  </a:ext>
                </a:extLst>
              </a:tr>
              <a:tr h="29313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Receipt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24530.36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11691.60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1670.30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959.20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38851.46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8676510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E75D148-A3B6-4D20-AC15-485B91650393}"/>
              </a:ext>
            </a:extLst>
          </p:cNvPr>
          <p:cNvSpPr txBox="1"/>
          <p:nvPr/>
        </p:nvSpPr>
        <p:spPr>
          <a:xfrm>
            <a:off x="10711546" y="543961"/>
            <a:ext cx="827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In MT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D3AA4F27-057E-4ED1-A48F-95099D72C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56" y="57151"/>
            <a:ext cx="11919857" cy="500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>
            <a:noFill/>
            <a:round/>
            <a:headEnd/>
            <a:tailEnd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</p:spPr>
        <p:txBody>
          <a:bodyPr lIns="90000" tIns="45000" rIns="90000" bIns="45000"/>
          <a:lstStyle/>
          <a:p>
            <a:pPr algn="ctr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IN" sz="2400" b="1" dirty="0">
                <a:latin typeface="Calibri" charset="0"/>
                <a:ea typeface="Microsoft YaHei" charset="-122"/>
              </a:rPr>
              <a:t>Fertilizer Stock received during Kharif &amp; Rabi 2022-23 and Demand/Allocation for 2023 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77F890C7-8BFD-4E4B-8EEC-19C489A21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722037"/>
              </p:ext>
            </p:extLst>
          </p:nvPr>
        </p:nvGraphicFramePr>
        <p:xfrm>
          <a:off x="108857" y="6059169"/>
          <a:ext cx="11919855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3971">
                  <a:extLst>
                    <a:ext uri="{9D8B030D-6E8A-4147-A177-3AD203B41FA5}">
                      <a16:colId xmlns:a16="http://schemas.microsoft.com/office/drawing/2014/main" xmlns="" val="2051322543"/>
                    </a:ext>
                  </a:extLst>
                </a:gridCol>
                <a:gridCol w="2383971">
                  <a:extLst>
                    <a:ext uri="{9D8B030D-6E8A-4147-A177-3AD203B41FA5}">
                      <a16:colId xmlns:a16="http://schemas.microsoft.com/office/drawing/2014/main" xmlns="" val="799377883"/>
                    </a:ext>
                  </a:extLst>
                </a:gridCol>
                <a:gridCol w="2383971">
                  <a:extLst>
                    <a:ext uri="{9D8B030D-6E8A-4147-A177-3AD203B41FA5}">
                      <a16:colId xmlns:a16="http://schemas.microsoft.com/office/drawing/2014/main" xmlns="" val="3782883490"/>
                    </a:ext>
                  </a:extLst>
                </a:gridCol>
                <a:gridCol w="2383971">
                  <a:extLst>
                    <a:ext uri="{9D8B030D-6E8A-4147-A177-3AD203B41FA5}">
                      <a16:colId xmlns:a16="http://schemas.microsoft.com/office/drawing/2014/main" xmlns="" val="220346336"/>
                    </a:ext>
                  </a:extLst>
                </a:gridCol>
                <a:gridCol w="2383971">
                  <a:extLst>
                    <a:ext uri="{9D8B030D-6E8A-4147-A177-3AD203B41FA5}">
                      <a16:colId xmlns:a16="http://schemas.microsoft.com/office/drawing/2014/main" xmlns="" val="13684097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010798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59201.14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21106.43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10542.84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575.88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1455.16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61240048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1162561-D19A-4FA2-AD69-C6F56AF41826}"/>
              </a:ext>
            </a:extLst>
          </p:cNvPr>
          <p:cNvSpPr txBox="1"/>
          <p:nvPr/>
        </p:nvSpPr>
        <p:spPr>
          <a:xfrm>
            <a:off x="163288" y="5697794"/>
            <a:ext cx="4365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Fertilizer Balance Stock as on date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34AD291-EED7-4DF7-AA8C-75C2C95A1010}"/>
              </a:ext>
            </a:extLst>
          </p:cNvPr>
          <p:cNvSpPr txBox="1"/>
          <p:nvPr/>
        </p:nvSpPr>
        <p:spPr>
          <a:xfrm>
            <a:off x="10602689" y="5742479"/>
            <a:ext cx="827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In MT</a:t>
            </a:r>
          </a:p>
        </p:txBody>
      </p:sp>
    </p:spTree>
    <p:extLst>
      <p:ext uri="{BB962C8B-B14F-4D97-AF65-F5344CB8AC3E}">
        <p14:creationId xmlns:p14="http://schemas.microsoft.com/office/powerpoint/2010/main" val="2022005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>
            <a:extLst>
              <a:ext uri="{FF2B5EF4-FFF2-40B4-BE49-F238E27FC236}">
                <a16:creationId xmlns:a16="http://schemas.microsoft.com/office/drawing/2014/main" xmlns="" id="{10B1B981-139A-45BA-8847-C5F525754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56" y="57151"/>
            <a:ext cx="11919857" cy="500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>
            <a:noFill/>
            <a:round/>
            <a:headEnd/>
            <a:tailEnd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</p:spPr>
        <p:txBody>
          <a:bodyPr lIns="90000" tIns="45000" rIns="90000" bIns="45000"/>
          <a:lstStyle/>
          <a:p>
            <a:pPr algn="ctr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IN" sz="2400" b="1" dirty="0">
                <a:latin typeface="Calibri" charset="0"/>
                <a:ea typeface="Microsoft YaHei" charset="-122"/>
              </a:rPr>
              <a:t>Fertilizer Requirement &amp; Availability for Kharif 2023  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xmlns="" id="{47D61D52-0066-44F4-A09D-7E0B8FF33B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94" r="6666" b="11638"/>
          <a:stretch/>
        </p:blipFill>
        <p:spPr>
          <a:xfrm>
            <a:off x="277586" y="1262743"/>
            <a:ext cx="11636828" cy="50727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97D1C06-7B3A-4F79-B84C-189F1FE84F39}"/>
              </a:ext>
            </a:extLst>
          </p:cNvPr>
          <p:cNvSpPr txBox="1"/>
          <p:nvPr/>
        </p:nvSpPr>
        <p:spPr>
          <a:xfrm>
            <a:off x="522514" y="725312"/>
            <a:ext cx="937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Cumulative allocation vs Actual Fertilizer Supply for Kharif 2013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EAA2BC5-3F74-47C6-9526-3560BF60BF6F}"/>
              </a:ext>
            </a:extLst>
          </p:cNvPr>
          <p:cNvSpPr txBox="1"/>
          <p:nvPr/>
        </p:nvSpPr>
        <p:spPr>
          <a:xfrm>
            <a:off x="10580914" y="1262743"/>
            <a:ext cx="133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All qt is MT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C7BC743-8D1B-46A8-87BC-DEECD3E7AF06}"/>
              </a:ext>
            </a:extLst>
          </p:cNvPr>
          <p:cNvSpPr txBox="1"/>
          <p:nvPr/>
        </p:nvSpPr>
        <p:spPr>
          <a:xfrm>
            <a:off x="446313" y="239485"/>
            <a:ext cx="11386457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Pradhan Mantri Kisan </a:t>
            </a:r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Samridhi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 Kendra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F9FDD72-86A8-44C8-BB61-E455A12CDD33}"/>
              </a:ext>
            </a:extLst>
          </p:cNvPr>
          <p:cNvSpPr txBox="1"/>
          <p:nvPr/>
        </p:nvSpPr>
        <p:spPr>
          <a:xfrm>
            <a:off x="609600" y="1066801"/>
            <a:ext cx="112231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name of Model Fertilizer Retail Shop would be “PRADHANMANTRI KISAN SAMRIDHI KENDRA” (PMKSK).  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271 centres upgraded as District level(DHQ) PMKSK in state in all districts. Also 2023 No. of fertilizer selling points in Block &amp; 2382 in Village level have been identiﬁed for upgradation in next phase.</a:t>
            </a:r>
          </a:p>
        </p:txBody>
      </p:sp>
    </p:spTree>
    <p:extLst>
      <p:ext uri="{BB962C8B-B14F-4D97-AF65-F5344CB8AC3E}">
        <p14:creationId xmlns:p14="http://schemas.microsoft.com/office/powerpoint/2010/main" val="4108342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94B28B4-8F7A-4C46-B70F-C3C30B48C0FB}"/>
              </a:ext>
            </a:extLst>
          </p:cNvPr>
          <p:cNvSpPr txBox="1"/>
          <p:nvPr/>
        </p:nvSpPr>
        <p:spPr>
          <a:xfrm>
            <a:off x="424543" y="217714"/>
            <a:ext cx="11517086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on RKVY Annual Action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946A2B1-826C-4F42-9DF1-B94C05985E98}"/>
              </a:ext>
            </a:extLst>
          </p:cNvPr>
          <p:cNvSpPr txBox="1"/>
          <p:nvPr/>
        </p:nvSpPr>
        <p:spPr>
          <a:xfrm>
            <a:off x="326572" y="1123299"/>
            <a:ext cx="1161505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Draft Annual Action Plan meeting had been convened on 20</a:t>
            </a:r>
            <a:r>
              <a:rPr lang="en-IN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March 2023 in the presences of Department of  Agriculture, Animal Husbandry and Cooperative  of the State and Ministry of Agriculture &amp; Farmer Welfare Officials.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Detailed AAP was discussed in the meeting, intervention and changes were suggested by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MoA&amp;FW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Officials.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Post the meeting,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MoA&amp;FW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had proposed and replied with suggestive changes and comments on the AAP, the necessary changes duly received on 11</a:t>
            </a:r>
            <a:r>
              <a:rPr lang="en-IN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April,2023.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As per the directive Department of  Agriculture, Animal Husbandry and Cooperative of Jharkhand, has incorporated the suggestive changes in the APP.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SLSC meeting file has been put up to Chief Secretary for Presentation.  </a:t>
            </a:r>
          </a:p>
        </p:txBody>
      </p:sp>
    </p:spTree>
    <p:extLst>
      <p:ext uri="{BB962C8B-B14F-4D97-AF65-F5344CB8AC3E}">
        <p14:creationId xmlns:p14="http://schemas.microsoft.com/office/powerpoint/2010/main" val="2818249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D6BA2B9-F1C2-4DD6-8CF1-EEA4E69885D1}"/>
              </a:ext>
            </a:extLst>
          </p:cNvPr>
          <p:cNvSpPr txBox="1"/>
          <p:nvPr/>
        </p:nvSpPr>
        <p:spPr>
          <a:xfrm>
            <a:off x="370114" y="261649"/>
            <a:ext cx="11299372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-190405" algn="ctr" defTabSz="801287" eaLnBrk="0" fontAlgn="auto" latinLnBrk="0" hangingPunct="0">
              <a:lnSpc>
                <a:spcPct val="100000"/>
              </a:lnSpc>
              <a:spcBef>
                <a:spcPct val="5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67816" algn="l"/>
              </a:tabLst>
              <a:defRPr/>
            </a:pPr>
            <a:r>
              <a:rPr lang="en-US" sz="3200" b="1" kern="0" dirty="0">
                <a:latin typeface="Arial" panose="020B0604020202020204" pitchFamily="34" charset="0"/>
                <a:cs typeface="Arial" panose="020B0604020202020204" pitchFamily="34" charset="0"/>
              </a:rPr>
              <a:t>Status on Digital Agricultural Mission in Jharkhand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FEEF56C-336D-4844-9DFC-D391FBF11936}"/>
              </a:ext>
            </a:extLst>
          </p:cNvPr>
          <p:cNvSpPr txBox="1"/>
          <p:nvPr/>
        </p:nvSpPr>
        <p:spPr>
          <a:xfrm>
            <a:off x="370114" y="1280048"/>
            <a:ext cx="11658600" cy="367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Pilot survey work to be completed</a:t>
            </a:r>
            <a:r>
              <a:rPr lang="en-IN" sz="2400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Accordingly, to that Geo</a:t>
            </a:r>
            <a:r>
              <a:rPr lang="en-IN" sz="2400" baseline="0" dirty="0">
                <a:latin typeface="Arial" panose="020B0604020202020204" pitchFamily="34" charset="0"/>
                <a:cs typeface="Arial" panose="020B0604020202020204" pitchFamily="34" charset="0"/>
              </a:rPr>
              <a:t> referencing completed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2400" baseline="0" dirty="0">
                <a:latin typeface="Arial" panose="020B0604020202020204" pitchFamily="34" charset="0"/>
                <a:cs typeface="Arial" panose="020B0604020202020204" pitchFamily="34" charset="0"/>
              </a:rPr>
              <a:t>33.50 lakh Farmer data base with their land details 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State has provisional budget of Rs.</a:t>
            </a:r>
            <a:r>
              <a:rPr lang="en-IN" sz="2400" baseline="0" dirty="0">
                <a:latin typeface="Arial" panose="020B0604020202020204" pitchFamily="34" charset="0"/>
                <a:cs typeface="Arial" panose="020B0604020202020204" pitchFamily="34" charset="0"/>
              </a:rPr>
              <a:t> 5 cr. for Agri-Stack Project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Guidelines from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GoI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is awaited to take the Agri-Stac</a:t>
            </a:r>
            <a:r>
              <a:rPr lang="en-IN" sz="2400" baseline="0" dirty="0">
                <a:latin typeface="Arial" panose="020B0604020202020204" pitchFamily="34" charset="0"/>
                <a:cs typeface="Arial" panose="020B0604020202020204" pitchFamily="34" charset="0"/>
              </a:rPr>
              <a:t>k discussion forward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3635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D6BA2B9-F1C2-4DD6-8CF1-EEA4E69885D1}"/>
              </a:ext>
            </a:extLst>
          </p:cNvPr>
          <p:cNvSpPr txBox="1"/>
          <p:nvPr/>
        </p:nvSpPr>
        <p:spPr>
          <a:xfrm>
            <a:off x="370114" y="261649"/>
            <a:ext cx="11299372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-190405" algn="ctr" defTabSz="801287" eaLnBrk="0" fontAlgn="auto" latinLnBrk="0" hangingPunct="0">
              <a:lnSpc>
                <a:spcPct val="100000"/>
              </a:lnSpc>
              <a:spcBef>
                <a:spcPct val="5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67816" algn="l"/>
              </a:tabLst>
              <a:defRPr/>
            </a:pPr>
            <a:r>
              <a:rPr lang="en-US" sz="32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Request from Government of India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FEEF56C-336D-4844-9DFC-D391FBF11936}"/>
              </a:ext>
            </a:extLst>
          </p:cNvPr>
          <p:cNvSpPr txBox="1"/>
          <p:nvPr/>
        </p:nvSpPr>
        <p:spPr>
          <a:xfrm>
            <a:off x="370114" y="1280048"/>
            <a:ext cx="11658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Release of Drought relief for </a:t>
            </a:r>
            <a:r>
              <a:rPr lang="en-IN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9600 </a:t>
            </a:r>
            <a:r>
              <a:rPr lang="en-IN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as soon as possible.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Increment of Pulses seed </a:t>
            </a:r>
            <a:r>
              <a:rPr lang="en-IN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minikits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under NFSM to mitigate drought challenges</a:t>
            </a:r>
            <a:r>
              <a:rPr lang="en-IN" sz="2400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SOP for </a:t>
            </a:r>
            <a:r>
              <a:rPr lang="en-IN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Agri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Stack Project</a:t>
            </a:r>
            <a:endParaRPr lang="en-IN" sz="2400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400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Active participation of NAFED towards pulses procurement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under MSP during ensuing season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226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EA3B5CC-1315-4C6C-8BC9-B0F559B3A8BE}"/>
              </a:ext>
            </a:extLst>
          </p:cNvPr>
          <p:cNvSpPr txBox="1"/>
          <p:nvPr/>
        </p:nvSpPr>
        <p:spPr>
          <a:xfrm>
            <a:off x="1344385" y="2321004"/>
            <a:ext cx="950322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800" dirty="0"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810243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