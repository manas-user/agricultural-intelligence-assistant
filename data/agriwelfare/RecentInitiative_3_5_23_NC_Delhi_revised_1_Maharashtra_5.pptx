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5" r:id="rId5"/>
    <p:sldId id="266" r:id="rId6"/>
    <p:sldId id="269" r:id="rId7"/>
    <p:sldId id="263" r:id="rId8"/>
    <p:sldId id="264" r:id="rId9"/>
    <p:sldId id="270" r:id="rId10"/>
    <p:sldId id="271" r:id="rId11"/>
    <p:sldId id="272" r:id="rId12"/>
    <p:sldId id="273" r:id="rId13"/>
    <p:sldId id="274" r:id="rId14"/>
    <p:sldId id="275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FE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1FFC6-EDA0-43EE-A9DF-FE0C78377F80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B3F7CC-2099-4AA3-A475-F0684D638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778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1d652ad0ac_0_2447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25" tIns="46700" rIns="93425" bIns="46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 dirty="0"/>
          </a:p>
        </p:txBody>
      </p:sp>
      <p:sp>
        <p:nvSpPr>
          <p:cNvPr id="74" name="Google Shape;74;g11d652ad0ac_0_24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685800"/>
            <a:ext cx="4568825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1d652ad0ac_0_252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25" tIns="46700" rIns="93425" bIns="46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 dirty="0"/>
          </a:p>
        </p:txBody>
      </p:sp>
      <p:sp>
        <p:nvSpPr>
          <p:cNvPr id="148" name="Google Shape;148;g11d652ad0ac_0_25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685800"/>
            <a:ext cx="4568825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1d652ad0ac_0_2517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25" tIns="46700" rIns="93425" bIns="46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 dirty="0"/>
          </a:p>
        </p:txBody>
      </p:sp>
      <p:sp>
        <p:nvSpPr>
          <p:cNvPr id="168" name="Google Shape;168;g11d652ad0ac_0_25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685800"/>
            <a:ext cx="4568825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1d652ad0ac_0_2517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25" tIns="46700" rIns="93425" bIns="46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 dirty="0"/>
          </a:p>
        </p:txBody>
      </p:sp>
      <p:sp>
        <p:nvSpPr>
          <p:cNvPr id="168" name="Google Shape;168;g11d652ad0ac_0_25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685800"/>
            <a:ext cx="4568825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1d652ad0ac_0_2517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25" tIns="46700" rIns="93425" bIns="46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 dirty="0"/>
          </a:p>
        </p:txBody>
      </p:sp>
      <p:sp>
        <p:nvSpPr>
          <p:cNvPr id="168" name="Google Shape;168;g11d652ad0ac_0_25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685800"/>
            <a:ext cx="4568825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1d652ad0ac_0_2517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25" tIns="46700" rIns="93425" bIns="46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 dirty="0"/>
          </a:p>
        </p:txBody>
      </p:sp>
      <p:sp>
        <p:nvSpPr>
          <p:cNvPr id="168" name="Google Shape;168;g11d652ad0ac_0_25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685800"/>
            <a:ext cx="4568825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1d652ad0ac_0_2517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25" tIns="46700" rIns="93425" bIns="46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 dirty="0"/>
          </a:p>
        </p:txBody>
      </p:sp>
      <p:sp>
        <p:nvSpPr>
          <p:cNvPr id="168" name="Google Shape;168;g11d652ad0ac_0_25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685800"/>
            <a:ext cx="4568825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1d652ad0ac_0_2517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25" tIns="46700" rIns="93425" bIns="46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 dirty="0"/>
          </a:p>
        </p:txBody>
      </p:sp>
      <p:sp>
        <p:nvSpPr>
          <p:cNvPr id="168" name="Google Shape;168;g11d652ad0ac_0_25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685800"/>
            <a:ext cx="4568825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1d652ad0ac_0_2517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25" tIns="46700" rIns="93425" bIns="46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 dirty="0"/>
          </a:p>
        </p:txBody>
      </p:sp>
      <p:sp>
        <p:nvSpPr>
          <p:cNvPr id="168" name="Google Shape;168;g11d652ad0ac_0_25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685800"/>
            <a:ext cx="4568825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urved Photo">
  <p:cSld name="Title and Curved Photo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>
            <a:spLocks noGrp="1"/>
          </p:cNvSpPr>
          <p:nvPr>
            <p:ph type="pic" idx="2"/>
          </p:nvPr>
        </p:nvSpPr>
        <p:spPr>
          <a:xfrm>
            <a:off x="4463821" y="1604435"/>
            <a:ext cx="4680300" cy="52536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470699" y="4409440"/>
            <a:ext cx="4029900" cy="4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699" rIns="91423" bIns="45699" anchor="t" anchorCtr="0">
            <a:normAutofit/>
          </a:bodyPr>
          <a:lstStyle>
            <a:lvl1pPr marL="457189" lvl="0" indent="-228594" algn="l" rtl="0">
              <a:spcBef>
                <a:spcPts val="533"/>
              </a:spcBef>
              <a:spcAft>
                <a:spcPts val="0"/>
              </a:spcAft>
              <a:buClr>
                <a:srgbClr val="00A7B5"/>
              </a:buClr>
              <a:buSzPts val="2667"/>
              <a:buNone/>
              <a:defRPr sz="2700" b="1">
                <a:solidFill>
                  <a:srgbClr val="00A7B5"/>
                </a:solidFill>
              </a:defRPr>
            </a:lvl1pPr>
            <a:lvl2pPr marL="914378" lvl="1" indent="-342892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566" lvl="2" indent="-342892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754" lvl="3" indent="-342892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5943" lvl="4" indent="-342892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132" lvl="5" indent="-342892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320" lvl="6" indent="-342892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509" lvl="7" indent="-342892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697" lvl="8" indent="-342892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3"/>
          </p:nvPr>
        </p:nvSpPr>
        <p:spPr>
          <a:xfrm>
            <a:off x="468313" y="4958080"/>
            <a:ext cx="4032300" cy="5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699" rIns="91423" bIns="45699" anchor="t" anchorCtr="0">
            <a:normAutofit/>
          </a:bodyPr>
          <a:lstStyle>
            <a:lvl1pPr marL="457189" lvl="0" indent="-228594" algn="l" rtl="0">
              <a:spcBef>
                <a:spcPts val="480"/>
              </a:spcBef>
              <a:spcAft>
                <a:spcPts val="0"/>
              </a:spcAft>
              <a:buClr>
                <a:srgbClr val="00A7B5"/>
              </a:buClr>
              <a:buSzPts val="2400"/>
              <a:buNone/>
              <a:defRPr sz="2400">
                <a:solidFill>
                  <a:srgbClr val="00A7B5"/>
                </a:solidFill>
              </a:defRPr>
            </a:lvl1pPr>
            <a:lvl2pPr marL="914378" lvl="1" indent="-342892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566" lvl="2" indent="-342892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754" lvl="3" indent="-342892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5943" lvl="4" indent="-342892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132" lvl="5" indent="-342892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320" lvl="6" indent="-342892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509" lvl="7" indent="-342892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697" lvl="8" indent="-342892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4"/>
          </p:nvPr>
        </p:nvSpPr>
        <p:spPr>
          <a:xfrm>
            <a:off x="474620" y="1812804"/>
            <a:ext cx="4026000" cy="1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189" lvl="0" indent="-228594" algn="l" rtl="0">
              <a:lnSpc>
                <a:spcPct val="133325"/>
              </a:lnSpc>
              <a:spcBef>
                <a:spcPts val="0"/>
              </a:spcBef>
              <a:spcAft>
                <a:spcPts val="0"/>
              </a:spcAft>
              <a:buClr>
                <a:srgbClr val="4F2D7F"/>
              </a:buClr>
              <a:buSzPts val="4000"/>
              <a:buNone/>
              <a:defRPr sz="4000" b="1">
                <a:solidFill>
                  <a:srgbClr val="4F2D7F"/>
                </a:solidFill>
              </a:defRPr>
            </a:lvl1pPr>
            <a:lvl2pPr marL="914378" lvl="1" indent="-228594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2pPr>
            <a:lvl3pPr marL="1371566" lvl="2" indent="-228594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828754" lvl="3" indent="-228594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marL="2285943" lvl="4" indent="-228594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marL="2743132" lvl="5" indent="-342892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320" lvl="6" indent="-342892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509" lvl="7" indent="-342892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697" lvl="8" indent="-342892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0422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 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200" cy="3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000" cy="3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469370" y="6542259"/>
            <a:ext cx="1836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2834288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/>
          <p:nvPr/>
        </p:nvSpPr>
        <p:spPr>
          <a:xfrm>
            <a:off x="765175" y="5410200"/>
            <a:ext cx="7634100" cy="830954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3" tIns="45699" rIns="91423" bIns="45699" anchor="ctr" anchorCtr="1">
            <a:spAutoFit/>
          </a:bodyPr>
          <a:lstStyle/>
          <a:p>
            <a:pPr algn="ctr">
              <a:buClr>
                <a:srgbClr val="002060"/>
              </a:buClr>
              <a:buSzPts val="3200"/>
            </a:pPr>
            <a:r>
              <a:rPr lang="e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Arial Rounded"/>
                <a:cs typeface="Times New Roman" panose="02020603050405020304" pitchFamily="18" charset="0"/>
                <a:sym typeface="Arial Rounded"/>
              </a:rPr>
              <a:t>Department of Agriculture </a:t>
            </a:r>
            <a:br>
              <a:rPr lang="e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Arial Rounded"/>
                <a:cs typeface="Times New Roman" panose="02020603050405020304" pitchFamily="18" charset="0"/>
                <a:sym typeface="Arial Rounded"/>
              </a:rPr>
            </a:br>
            <a:r>
              <a:rPr lang="e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Arial Rounded"/>
                <a:cs typeface="Times New Roman" panose="02020603050405020304" pitchFamily="18" charset="0"/>
                <a:sym typeface="Arial Rounded"/>
              </a:rPr>
              <a:t>Government of </a:t>
            </a:r>
            <a:r>
              <a:rPr lang="en" sz="24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Arial Rounded"/>
                <a:cs typeface="Times New Roman" panose="02020603050405020304" pitchFamily="18" charset="0"/>
                <a:sym typeface="Arial Rounded"/>
              </a:rPr>
              <a:t>Maharashtra</a:t>
            </a:r>
          </a:p>
        </p:txBody>
      </p:sp>
      <p:sp>
        <p:nvSpPr>
          <p:cNvPr id="79" name="Google Shape;79;p18" descr="https://i1.fnp.com/images/pr/l/v20200120103726/sunshine-yellow-roses-bouquet_1.jpg"/>
          <p:cNvSpPr/>
          <p:nvPr/>
        </p:nvSpPr>
        <p:spPr>
          <a:xfrm>
            <a:off x="-1274623" y="-1107719"/>
            <a:ext cx="2463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>
              <a:buSzPts val="1800"/>
            </a:pP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5575" y="1371600"/>
            <a:ext cx="86126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Conference on Agriculture for </a:t>
            </a:r>
            <a:r>
              <a:rPr lang="en-US" sz="40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Kharif</a:t>
            </a:r>
            <a:r>
              <a:rPr 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2023</a:t>
            </a:r>
            <a:endParaRPr lang="en-US" sz="4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AutoShape 2" descr="IYM-2023 - Protect Our Livelihoo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IYM-2023 - Protect Our Livelihood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6" descr="IYM-2023 - Protect Our Livelihood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1" name="Picture 7" descr="C:\Users\Admin\Desktop\downloa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60339"/>
            <a:ext cx="2362200" cy="118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:\Users\Admin\Desktop\images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188914"/>
            <a:ext cx="1152525" cy="115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14833" y="4547524"/>
            <a:ext cx="815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Place- NASC, </a:t>
            </a:r>
            <a:r>
              <a:rPr lang="en-US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Pusa</a:t>
            </a:r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Complex, ICAR, New Delhi</a:t>
            </a:r>
          </a:p>
          <a:p>
            <a:pPr algn="ctr"/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Date- 03 May,2023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818149"/>
            <a:ext cx="4038600" cy="174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67442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/>
        </p:nvSpPr>
        <p:spPr>
          <a:xfrm>
            <a:off x="469370" y="6542259"/>
            <a:ext cx="1836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699" rIns="91423" bIns="45699" anchor="t" anchorCtr="0">
            <a:noAutofit/>
          </a:bodyPr>
          <a:lstStyle/>
          <a:p>
            <a:pPr>
              <a:buClr>
                <a:schemeClr val="accent1"/>
              </a:buClr>
              <a:buSzPts val="1800"/>
            </a:pPr>
            <a:endParaRPr sz="1800" dirty="0">
              <a:solidFill>
                <a:srgbClr val="00A7B5"/>
              </a:solidFill>
            </a:endParaRPr>
          </a:p>
        </p:txBody>
      </p:sp>
      <p:pic>
        <p:nvPicPr>
          <p:cNvPr id="151" name="Google Shape;151;p22" descr="C:\Users\Admin\Desktop\Maharashtra Maps\edited\Agroclimte_Zone _map edite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9049" y="194365"/>
            <a:ext cx="8143102" cy="66636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474197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/>
        </p:nvSpPr>
        <p:spPr>
          <a:xfrm>
            <a:off x="212035" y="269107"/>
            <a:ext cx="8550965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algn="ctr">
              <a:buClr>
                <a:schemeClr val="accent1"/>
              </a:buClr>
              <a:buSzPts val="3000"/>
            </a:pPr>
            <a:r>
              <a:rPr lang="en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Maharashtra Agriculture at a </a:t>
            </a:r>
            <a:r>
              <a:rPr lang="en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Glance</a:t>
            </a:r>
            <a:endParaRPr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" name="Google Shape;171;p25"/>
          <p:cNvSpPr txBox="1">
            <a:spLocks noGrp="1"/>
          </p:cNvSpPr>
          <p:nvPr>
            <p:ph type="body" idx="1"/>
          </p:nvPr>
        </p:nvSpPr>
        <p:spPr>
          <a:xfrm>
            <a:off x="826435" y="1066800"/>
            <a:ext cx="7550700" cy="4960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699" rIns="91423" bIns="45699" anchor="t" anchorCtr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rgbClr val="D65A00"/>
              </a:buClr>
              <a:buSzPts val="1400"/>
              <a:buFont typeface="Noto Sans Symbols"/>
              <a:buChar char="❖"/>
            </a:pPr>
            <a:r>
              <a:rPr lang="en" sz="1800" dirty="0">
                <a:solidFill>
                  <a:srgbClr val="D65A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Geographical Information –</a:t>
            </a:r>
            <a:endParaRPr sz="1800" dirty="0">
              <a:solidFill>
                <a:srgbClr val="D65A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SzPts val="1400"/>
            </a:pPr>
            <a:r>
              <a:rPr lang="en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Agro climatic Zones                 	           		: </a:t>
            </a:r>
            <a:r>
              <a:rPr lang="en" sz="1400" dirty="0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SzPts val="1400"/>
            </a:pPr>
            <a:r>
              <a:rPr lang="en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Geographical area                                    		: </a:t>
            </a:r>
            <a:r>
              <a:rPr lang="en" sz="1400" dirty="0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307.58 </a:t>
            </a:r>
            <a:r>
              <a:rPr lang="en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lakh ha.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SzPts val="1400"/>
            </a:pPr>
            <a:r>
              <a:rPr lang="en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 sown area			           	</a:t>
            </a:r>
            <a:r>
              <a:rPr lang="en" sz="1400" dirty="0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166.50 lakh </a:t>
            </a:r>
            <a:r>
              <a:rPr lang="en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SzPts val="1400"/>
            </a:pPr>
            <a:r>
              <a:rPr lang="en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operational holdings </a:t>
            </a:r>
            <a:r>
              <a:rPr lang="en" sz="1400" dirty="0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Agri.census 2015-16)          :  153.00 </a:t>
            </a:r>
            <a:r>
              <a:rPr lang="en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lakh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SzPts val="1400"/>
            </a:pPr>
            <a:r>
              <a:rPr lang="en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Avg. size of operational holding          		 </a:t>
            </a:r>
            <a:r>
              <a:rPr lang="en" sz="1400" dirty="0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1.34 </a:t>
            </a:r>
            <a:r>
              <a:rPr lang="en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ha. 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SzPts val="500"/>
            </a:pPr>
            <a:endParaRPr sz="5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1000"/>
              </a:spcBef>
              <a:buClr>
                <a:srgbClr val="D65A00"/>
              </a:buClr>
              <a:buSzPts val="1400"/>
              <a:buFont typeface="Noto Sans Symbols"/>
              <a:buChar char="❖"/>
            </a:pPr>
            <a:r>
              <a:rPr lang="en" sz="1800" dirty="0">
                <a:solidFill>
                  <a:srgbClr val="D65A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Cropping Pattern (Normal 2014-15 to 2018-19</a:t>
            </a:r>
            <a:r>
              <a:rPr lang="en" sz="1600" dirty="0">
                <a:solidFill>
                  <a:srgbClr val="D65A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sz="1600" dirty="0">
              <a:solidFill>
                <a:srgbClr val="D65A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SzPts val="1400"/>
            </a:pPr>
            <a:r>
              <a:rPr lang="en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Sown Area of Kharif crops (incl. Sugarcane)	: </a:t>
            </a:r>
            <a:r>
              <a:rPr lang="en" sz="1400" dirty="0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151.33 </a:t>
            </a:r>
            <a:r>
              <a:rPr lang="en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lakh ha.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SzPts val="1400"/>
            </a:pPr>
            <a:r>
              <a:rPr lang="en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Sown Area of Rabi  </a:t>
            </a:r>
            <a:r>
              <a:rPr lang="en" sz="1400" dirty="0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	            	 : </a:t>
            </a:r>
            <a:r>
              <a:rPr lang="en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53.01 lakh </a:t>
            </a:r>
            <a:r>
              <a:rPr lang="en" sz="1400" dirty="0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ha.</a:t>
            </a:r>
            <a:endParaRPr lang="e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SzPts val="1400"/>
            </a:pPr>
            <a:endParaRPr lang="en" sz="1400" dirty="0">
              <a:solidFill>
                <a:srgbClr val="D65A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ctr">
              <a:lnSpc>
                <a:spcPct val="100000"/>
              </a:lnSpc>
              <a:spcBef>
                <a:spcPts val="600"/>
              </a:spcBef>
              <a:buSzPts val="1400"/>
              <a:buFont typeface="Wingdings" panose="05000000000000000000" pitchFamily="2" charset="2"/>
              <a:buChar char="v"/>
            </a:pPr>
            <a:r>
              <a:rPr lang="en" sz="1800" dirty="0" smtClean="0">
                <a:solidFill>
                  <a:srgbClr val="D65A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crops 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buClr>
                <a:srgbClr val="D65A00"/>
              </a:buClr>
              <a:buSzPts val="1400"/>
              <a:buFont typeface="Noto Sans Symbols"/>
              <a:buChar char="❖"/>
            </a:pPr>
            <a:r>
              <a:rPr lang="en-IN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harip –  Paddy , Jawar, Bajara, Cotton, Sugarcane, Soyabean ,Tur 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buClr>
                <a:srgbClr val="D65A00"/>
              </a:buClr>
              <a:buSzPts val="1400"/>
              <a:buFont typeface="Noto Sans Symbols"/>
              <a:buChar char="❖"/>
            </a:pPr>
            <a:r>
              <a:rPr lang="en-IN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abi-  Jawar, Wheat, Bengal gram ,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buClr>
                <a:srgbClr val="D65A00"/>
              </a:buClr>
              <a:buSzPts val="1400"/>
              <a:buFont typeface="Noto Sans Symbols"/>
              <a:buChar char="❖"/>
            </a:pPr>
            <a:r>
              <a:rPr lang="en-IN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ummer -  Groundnut , Soybean, Maize , Paddy </a:t>
            </a:r>
            <a:endParaRPr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SzPts val="900"/>
            </a:pPr>
            <a:endParaRPr sz="9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40769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/>
        </p:nvSpPr>
        <p:spPr>
          <a:xfrm>
            <a:off x="76200" y="539950"/>
            <a:ext cx="8550965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algn="ctr">
              <a:buClr>
                <a:schemeClr val="accent1"/>
              </a:buClr>
              <a:buSzPts val="3000"/>
            </a:pPr>
            <a:r>
              <a:rPr lang="e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Maharashtra </a:t>
            </a:r>
            <a:r>
              <a:rPr lang="en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800" b="1" dirty="0" smtClean="0">
                <a:solidFill>
                  <a:srgbClr val="C00000"/>
                </a:solidFill>
              </a:rPr>
              <a:t>Rainfall 2022 and prediction 2023 </a:t>
            </a:r>
            <a:endParaRPr lang="en-US" sz="2800" dirty="0">
              <a:solidFill>
                <a:srgbClr val="C00000"/>
              </a:solidFill>
            </a:endParaRPr>
          </a:p>
          <a:p>
            <a:pPr algn="ctr">
              <a:buClr>
                <a:schemeClr val="accent1"/>
              </a:buClr>
              <a:buSzPts val="3000"/>
            </a:pPr>
            <a:endParaRPr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850727"/>
              </p:ext>
            </p:extLst>
          </p:nvPr>
        </p:nvGraphicFramePr>
        <p:xfrm>
          <a:off x="762000" y="1295400"/>
          <a:ext cx="4343400" cy="2317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3875"/>
                <a:gridCol w="1577048"/>
                <a:gridCol w="867702"/>
                <a:gridCol w="688975"/>
                <a:gridCol w="685800"/>
              </a:tblGrid>
              <a:tr h="0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Month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Rainfall (mm)</a:t>
                      </a:r>
                      <a:endParaRPr lang="en-US" sz="16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 to normal</a:t>
                      </a:r>
                      <a:endParaRPr lang="en-US" sz="16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  <a:endParaRPr lang="en-US" sz="16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</a:t>
                      </a:r>
                      <a:endParaRPr lang="en-US" sz="16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June 2022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207.6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148.2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July 2022</a:t>
                      </a:r>
                      <a:endParaRPr lang="en-US" sz="16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330.9</a:t>
                      </a:r>
                      <a:endParaRPr lang="en-US" sz="16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483.2</a:t>
                      </a:r>
                      <a:endParaRPr lang="en-US" sz="16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146.0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6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August 2022</a:t>
                      </a:r>
                      <a:endParaRPr lang="en-US" sz="16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286.0</a:t>
                      </a:r>
                      <a:endParaRPr lang="en-US" sz="16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260.4</a:t>
                      </a:r>
                      <a:endParaRPr lang="en-US" sz="16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91.0</a:t>
                      </a:r>
                      <a:endParaRPr lang="en-US" sz="16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6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September 2022</a:t>
                      </a:r>
                      <a:endParaRPr lang="en-US" sz="16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179.6</a:t>
                      </a:r>
                      <a:endParaRPr lang="en-US" sz="16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254.5</a:t>
                      </a:r>
                      <a:endParaRPr lang="en-US" sz="16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141.6</a:t>
                      </a:r>
                      <a:endParaRPr lang="en-US" sz="16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6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October 2022</a:t>
                      </a:r>
                      <a:endParaRPr lang="en-US" sz="16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71.1</a:t>
                      </a:r>
                      <a:endParaRPr lang="en-US" sz="16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141.6</a:t>
                      </a:r>
                      <a:endParaRPr lang="en-US" sz="16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199.2</a:t>
                      </a:r>
                      <a:endParaRPr lang="en-US" sz="16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6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400" b="1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</a:t>
                      </a: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June to  31</a:t>
                      </a:r>
                      <a:r>
                        <a:rPr lang="en-US" sz="1400" b="1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</a:t>
                      </a: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October 2022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1075.3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1287.9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n-US" sz="18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17780" marB="177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926095"/>
              </p:ext>
            </p:extLst>
          </p:nvPr>
        </p:nvGraphicFramePr>
        <p:xfrm>
          <a:off x="304800" y="3733800"/>
          <a:ext cx="7086600" cy="2590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6442"/>
                <a:gridCol w="1576869"/>
                <a:gridCol w="687917"/>
                <a:gridCol w="756708"/>
                <a:gridCol w="756708"/>
                <a:gridCol w="619125"/>
                <a:gridCol w="749831"/>
                <a:gridCol w="1143000"/>
              </a:tblGrid>
              <a:tr h="0"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</a:t>
                      </a:r>
                    </a:p>
                    <a:p>
                      <a:pPr algn="ctr"/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Month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 of Tahsils according to rainfall intensity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No.of tahsils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Below 25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 to 50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 to 75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 to 100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Above 100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3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4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5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6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7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8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June 2022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107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355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July 2022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400" b="1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400" b="1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en-US" sz="1400" b="1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322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355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August 2022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</a:t>
                      </a:r>
                      <a:endParaRPr lang="en-US" sz="1400" b="1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</a:t>
                      </a:r>
                      <a:endParaRPr lang="en-US" sz="1400" b="1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en-US" sz="1400" b="1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151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355</a:t>
                      </a:r>
                      <a:endParaRPr lang="en-US" sz="1400" b="1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September 2022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b="1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sz="1400" b="1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</a:t>
                      </a:r>
                      <a:endParaRPr lang="en-US" sz="1400" b="1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301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355</a:t>
                      </a:r>
                      <a:endParaRPr lang="en-US" sz="1400" b="1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October 2022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400" b="1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400" b="1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en-US" sz="1400" b="1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328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355</a:t>
                      </a:r>
                      <a:endParaRPr lang="en-US" sz="1400" b="1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400" b="1" baseline="30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</a:t>
                      </a: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June to  31</a:t>
                      </a:r>
                      <a:r>
                        <a:rPr lang="en-US" sz="1400" b="1" baseline="30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</a:t>
                      </a: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October 2022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400" b="1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400" b="1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en-US" sz="1400" b="1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303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355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257801" y="1905000"/>
            <a:ext cx="35813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IMD Predicts 'Normal' Monsoon for Fifth Consecutive Year! 2023's Seasonal Rain to be 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of Long-Term Average.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44194" y="1373913"/>
            <a:ext cx="3581399" cy="36933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IMD Prediction :-  11-Apr-2023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Oval 1"/>
          <p:cNvSpPr/>
          <p:nvPr/>
        </p:nvSpPr>
        <p:spPr>
          <a:xfrm>
            <a:off x="7315200" y="2503892"/>
            <a:ext cx="762000" cy="390435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96%</a:t>
            </a:r>
            <a:endParaRPr lang="en-US" sz="1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4419600" y="1723489"/>
            <a:ext cx="707013" cy="363022"/>
          </a:xfrm>
          <a:custGeom>
            <a:avLst/>
            <a:gdLst>
              <a:gd name="connsiteX0" fmla="*/ 74591 w 707013"/>
              <a:gd name="connsiteY0" fmla="*/ 313830 h 363022"/>
              <a:gd name="connsiteX1" fmla="*/ 66427 w 707013"/>
              <a:gd name="connsiteY1" fmla="*/ 36244 h 363022"/>
              <a:gd name="connsiteX2" fmla="*/ 629763 w 707013"/>
              <a:gd name="connsiteY2" fmla="*/ 36244 h 363022"/>
              <a:gd name="connsiteX3" fmla="*/ 637927 w 707013"/>
              <a:gd name="connsiteY3" fmla="*/ 338322 h 363022"/>
              <a:gd name="connsiteX4" fmla="*/ 74591 w 707013"/>
              <a:gd name="connsiteY4" fmla="*/ 313830 h 363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7013" h="363022">
                <a:moveTo>
                  <a:pt x="74591" y="313830"/>
                </a:moveTo>
                <a:cubicBezTo>
                  <a:pt x="-20659" y="263484"/>
                  <a:pt x="-26102" y="82508"/>
                  <a:pt x="66427" y="36244"/>
                </a:cubicBezTo>
                <a:cubicBezTo>
                  <a:pt x="158956" y="-10020"/>
                  <a:pt x="534513" y="-14102"/>
                  <a:pt x="629763" y="36244"/>
                </a:cubicBezTo>
                <a:cubicBezTo>
                  <a:pt x="725013" y="86590"/>
                  <a:pt x="737259" y="294779"/>
                  <a:pt x="637927" y="338322"/>
                </a:cubicBezTo>
                <a:cubicBezTo>
                  <a:pt x="538595" y="381865"/>
                  <a:pt x="169841" y="364176"/>
                  <a:pt x="74591" y="31383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71.4%</a:t>
            </a:r>
            <a:endParaRPr lang="en-US" sz="1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4315906" y="3105328"/>
            <a:ext cx="941895" cy="39043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120%</a:t>
            </a:r>
            <a:endParaRPr lang="en-US" sz="1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79102" y="3703608"/>
            <a:ext cx="1512498" cy="2667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Talukas below 75% rainfall are </a:t>
            </a:r>
            <a:r>
              <a:rPr lang="en-US" sz="14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Mahabaleshwar</a:t>
            </a:r>
            <a:r>
              <a:rPr lang="en-US" sz="1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Sangamashwar</a:t>
            </a:r>
            <a:r>
              <a:rPr lang="en-US" sz="1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4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adhanagari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986729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/>
        </p:nvSpPr>
        <p:spPr>
          <a:xfrm>
            <a:off x="914400" y="285121"/>
            <a:ext cx="7407965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r>
              <a:rPr lang="e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Kharif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sown area of principal crops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2022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chemeClr val="accent1"/>
              </a:buClr>
              <a:buSzPts val="3000"/>
            </a:pPr>
            <a:endParaRPr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474709"/>
              </p:ext>
            </p:extLst>
          </p:nvPr>
        </p:nvGraphicFramePr>
        <p:xfrm>
          <a:off x="533401" y="914400"/>
          <a:ext cx="7788964" cy="46634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07422"/>
                <a:gridCol w="1854689"/>
                <a:gridCol w="1180257"/>
                <a:gridCol w="1095953"/>
                <a:gridCol w="1095953"/>
                <a:gridCol w="843041"/>
                <a:gridCol w="1011649"/>
              </a:tblGrid>
              <a:tr h="76199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Sr. No</a:t>
                      </a:r>
                      <a:endParaRPr lang="en-US" sz="14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Crops</a:t>
                      </a:r>
                      <a:endParaRPr lang="en-US" sz="14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 Area (2016-17 to 2020-21)</a:t>
                      </a:r>
                      <a:endParaRPr lang="en-US" sz="14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Kh-2021 Sown Area</a:t>
                      </a:r>
                      <a:endParaRPr lang="en-US" sz="14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Kh-2022 Sown area</a:t>
                      </a:r>
                      <a:endParaRPr lang="en-US" sz="14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 </a:t>
                      </a: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 Area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 </a:t>
                      </a:r>
                      <a:r>
                        <a:rPr lang="en-US" sz="1400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Kh-21 Area </a:t>
                      </a:r>
                      <a:endParaRPr lang="en-US" sz="14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15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</a:t>
                      </a:r>
                      <a:endParaRPr lang="en-US" sz="14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3</a:t>
                      </a:r>
                      <a:endParaRPr lang="en-US" sz="14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4</a:t>
                      </a:r>
                      <a:endParaRPr lang="en-US" sz="14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5</a:t>
                      </a:r>
                      <a:endParaRPr lang="en-US" sz="14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6 (4/3)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7(5/4)</a:t>
                      </a:r>
                      <a:endParaRPr lang="en-US" sz="14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15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Paddy</a:t>
                      </a:r>
                      <a:endParaRPr lang="en-US" sz="14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1518439</a:t>
                      </a:r>
                      <a:endParaRPr lang="en-US" sz="14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1545908</a:t>
                      </a:r>
                      <a:endParaRPr lang="en-US" sz="14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1555318</a:t>
                      </a:r>
                      <a:endParaRPr lang="en-US" sz="14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102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</a:t>
                      </a:r>
                      <a:endParaRPr lang="en-US" sz="14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15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4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Jowar</a:t>
                      </a:r>
                      <a:endParaRPr lang="en-US" sz="14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316551</a:t>
                      </a:r>
                      <a:endParaRPr lang="en-US" sz="14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208929</a:t>
                      </a:r>
                      <a:endParaRPr lang="en-US" sz="14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142487</a:t>
                      </a:r>
                      <a:endParaRPr lang="en-US" sz="14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  <a:endParaRPr lang="en-US" sz="1600" b="1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</a:t>
                      </a:r>
                      <a:endParaRPr lang="en-US" sz="1600" b="1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115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4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Bajara</a:t>
                      </a:r>
                      <a:endParaRPr lang="en-US" sz="14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675105</a:t>
                      </a:r>
                      <a:endParaRPr lang="en-US" sz="14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504379</a:t>
                      </a:r>
                      <a:endParaRPr lang="en-US" sz="14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407562</a:t>
                      </a:r>
                      <a:endParaRPr lang="en-US" sz="14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lang="en-US" sz="1600" b="1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en-US" sz="1600" b="1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115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4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Ragi</a:t>
                      </a:r>
                      <a:endParaRPr lang="en-US" sz="14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75316</a:t>
                      </a:r>
                      <a:endParaRPr lang="en-US" sz="14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73369</a:t>
                      </a:r>
                      <a:endParaRPr lang="en-US" sz="14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68612</a:t>
                      </a:r>
                      <a:endParaRPr lang="en-US" sz="14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</a:t>
                      </a:r>
                      <a:endParaRPr lang="en-US" sz="14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15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4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Maize</a:t>
                      </a:r>
                      <a:endParaRPr lang="en-US" sz="14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888569</a:t>
                      </a:r>
                      <a:endParaRPr lang="en-US" sz="14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872768</a:t>
                      </a:r>
                      <a:endParaRPr lang="en-US" sz="14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880723</a:t>
                      </a:r>
                      <a:endParaRPr lang="en-US" sz="14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</a:t>
                      </a:r>
                      <a:endParaRPr lang="en-US" sz="14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308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4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Other cereals (Foxtail millet, Little millet, Barnyard millet, Kodo millet, Proso millet)</a:t>
                      </a:r>
                      <a:endParaRPr lang="en-US" sz="14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43561</a:t>
                      </a:r>
                      <a:endParaRPr lang="en-US" sz="14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45665</a:t>
                      </a:r>
                      <a:endParaRPr lang="en-US" sz="14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40663</a:t>
                      </a:r>
                      <a:endParaRPr lang="en-US" sz="14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</a:t>
                      </a:r>
                      <a:endParaRPr lang="en-US" sz="14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15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14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</a:t>
                      </a:r>
                      <a:endParaRPr lang="en-US" sz="14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1299905</a:t>
                      </a:r>
                      <a:endParaRPr lang="en-US" sz="14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1332408</a:t>
                      </a:r>
                      <a:endParaRPr lang="en-US" sz="14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1175759</a:t>
                      </a:r>
                      <a:endParaRPr lang="en-US" sz="14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</a:t>
                      </a:r>
                      <a:endParaRPr lang="en-US" sz="14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15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14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Mung</a:t>
                      </a:r>
                      <a:endParaRPr lang="en-US" sz="14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404923</a:t>
                      </a:r>
                      <a:endParaRPr lang="en-US" sz="14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377882</a:t>
                      </a:r>
                      <a:endParaRPr lang="en-US" sz="14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269939</a:t>
                      </a:r>
                      <a:endParaRPr lang="en-US" sz="14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en-US" sz="1400" b="1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</a:t>
                      </a:r>
                      <a:endParaRPr lang="en-US" sz="1400" b="1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115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14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Udid</a:t>
                      </a:r>
                      <a:endParaRPr lang="en-US" sz="14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379423</a:t>
                      </a:r>
                      <a:endParaRPr lang="en-US" sz="14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435590</a:t>
                      </a:r>
                      <a:endParaRPr lang="en-US" sz="14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358048</a:t>
                      </a:r>
                      <a:endParaRPr lang="en-US" sz="14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</a:t>
                      </a:r>
                      <a:endParaRPr lang="en-US" sz="14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15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US" sz="14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Groundnut</a:t>
                      </a:r>
                      <a:endParaRPr lang="en-US" sz="14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197340</a:t>
                      </a:r>
                      <a:endParaRPr lang="en-US" sz="14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202626</a:t>
                      </a:r>
                      <a:endParaRPr lang="en-US" sz="14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160564</a:t>
                      </a:r>
                      <a:endParaRPr lang="en-US" sz="14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</a:t>
                      </a:r>
                      <a:endParaRPr lang="en-US" sz="14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15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US" sz="14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Soyabean</a:t>
                      </a:r>
                      <a:endParaRPr lang="en-US" sz="14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4143382</a:t>
                      </a:r>
                      <a:endParaRPr lang="en-US" sz="14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4605133</a:t>
                      </a:r>
                      <a:endParaRPr lang="en-US" sz="14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4909853</a:t>
                      </a:r>
                      <a:endParaRPr lang="en-US" sz="14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118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107</a:t>
                      </a:r>
                      <a:endParaRPr lang="en-US" sz="14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15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en-US" sz="14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Cotton</a:t>
                      </a:r>
                      <a:endParaRPr lang="en-US" sz="14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4211293</a:t>
                      </a:r>
                      <a:endParaRPr lang="en-US" sz="14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3957155</a:t>
                      </a:r>
                      <a:endParaRPr lang="en-US" sz="14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4229213</a:t>
                      </a:r>
                      <a:endParaRPr lang="en-US" sz="14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107</a:t>
                      </a:r>
                      <a:endParaRPr lang="en-US" sz="14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308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4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</a:t>
                      </a:r>
                      <a:r>
                        <a:rPr lang="en-US" sz="1400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</a:t>
                      </a:r>
                      <a:r>
                        <a:rPr lang="en-US" sz="14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Crops  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(Excluding sugarcane)</a:t>
                      </a:r>
                      <a:endParaRPr lang="en-US" sz="14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14288418</a:t>
                      </a:r>
                      <a:endParaRPr lang="en-US" sz="14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14270448</a:t>
                      </a:r>
                      <a:endParaRPr lang="en-US" sz="14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14309606</a:t>
                      </a:r>
                      <a:endParaRPr lang="en-US" sz="14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14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33945" marR="339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41614" y="5486399"/>
            <a:ext cx="57744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Increased Area :- Oilseed  by 16%, Cotton by 7%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Decreased Area :-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Jowar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Bajara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Mung , Groundnut </a:t>
            </a:r>
            <a:endParaRPr lang="en-US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are trying to increase area under Nutri cereals 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986729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lIns="91438" tIns="45719" rIns="91438" bIns="45719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 dirty="0" smtClean="0">
                <a:solidFill>
                  <a:schemeClr val="tx1"/>
                </a:solidFill>
              </a:rPr>
              <a:t/>
            </a:r>
            <a:br>
              <a:rPr lang="en-US" sz="1800" dirty="0" smtClean="0">
                <a:solidFill>
                  <a:schemeClr val="tx1"/>
                </a:solidFill>
              </a:rPr>
            </a:br>
            <a:r>
              <a:rPr lang="en-US" sz="1800" dirty="0" smtClean="0">
                <a:solidFill>
                  <a:schemeClr val="tx1"/>
                </a:solidFill>
              </a:rPr>
              <a:t/>
            </a:r>
            <a:br>
              <a:rPr lang="en-US" sz="1800" dirty="0" smtClean="0">
                <a:solidFill>
                  <a:schemeClr val="tx1"/>
                </a:solidFill>
              </a:rPr>
            </a:br>
            <a:r>
              <a:rPr lang="en-US" sz="1800" dirty="0" smtClean="0">
                <a:solidFill>
                  <a:schemeClr val="tx1"/>
                </a:solidFill>
              </a:rPr>
              <a:t/>
            </a:r>
            <a:br>
              <a:rPr lang="en-US" sz="1800" dirty="0" smtClean="0">
                <a:solidFill>
                  <a:schemeClr val="tx1"/>
                </a:solidFill>
              </a:rPr>
            </a:br>
            <a:r>
              <a:rPr lang="en-US" sz="1800" dirty="0" smtClean="0">
                <a:solidFill>
                  <a:schemeClr val="tx1"/>
                </a:solidFill>
              </a:rPr>
              <a:t> </a:t>
            </a: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2400" y="272286"/>
            <a:ext cx="8458200" cy="338552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en-US" sz="16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Kharif</a:t>
            </a:r>
            <a:r>
              <a:rPr 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2022-23 : Area, Production and Productivity of principal </a:t>
            </a:r>
            <a:r>
              <a:rPr lang="en-US" sz="1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crops </a:t>
            </a:r>
            <a:endParaRPr lang="en-IN" sz="1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610629"/>
              </p:ext>
            </p:extLst>
          </p:nvPr>
        </p:nvGraphicFramePr>
        <p:xfrm>
          <a:off x="466926" y="762000"/>
          <a:ext cx="8210147" cy="41540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66338"/>
                <a:gridCol w="1026416"/>
                <a:gridCol w="746377"/>
                <a:gridCol w="746377"/>
                <a:gridCol w="746377"/>
                <a:gridCol w="746377"/>
                <a:gridCol w="746377"/>
                <a:gridCol w="746377"/>
                <a:gridCol w="746377"/>
                <a:gridCol w="746377"/>
                <a:gridCol w="746377"/>
              </a:tblGrid>
              <a:tr h="203200"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Crops 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Area  in Lakh ha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Production in "Lakh" tonnes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Productivity kg/ha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6096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Normal  (2016-17 to 2020-21)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2022-23 3rd Adv. Est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 (+ or - ) to Normal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Normal  (2016-17 to 2020-21)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2022-23 3rd Adv. Est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 (+ or - ) to Normal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Normal  (2016-17 to 2020-21)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2022-23 3rd Adv. Est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 (+ or - ) to Normal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3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4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5(4/3)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6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7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8(7/6)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9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10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11(10/9)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Rice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15.08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15.55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30.59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34.54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2028.02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2220.66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Kh.Jowar</a:t>
                      </a:r>
                      <a:endParaRPr lang="en-US" sz="14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2.89</a:t>
                      </a:r>
                      <a:endParaRPr lang="en-US" sz="14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1.42</a:t>
                      </a:r>
                      <a:endParaRPr lang="en-US" sz="14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-51</a:t>
                      </a:r>
                      <a:endParaRPr lang="en-US" sz="14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2.71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1.36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-50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939.78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952.71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Bajra</a:t>
                      </a:r>
                      <a:endParaRPr lang="en-US" sz="14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6.69</a:t>
                      </a:r>
                      <a:endParaRPr lang="en-US" sz="1400" b="1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4.08</a:t>
                      </a:r>
                      <a:endParaRPr lang="en-US" sz="1400" b="1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-39</a:t>
                      </a:r>
                      <a:endParaRPr lang="en-US" sz="14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5.97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4.45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-25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891.71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1090.73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Ragi</a:t>
                      </a:r>
                      <a:endParaRPr lang="en-US" sz="14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0.78</a:t>
                      </a:r>
                      <a:endParaRPr lang="en-US" sz="1400" b="1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0.69</a:t>
                      </a:r>
                      <a:endParaRPr lang="en-US" sz="1400" b="1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-12</a:t>
                      </a:r>
                      <a:endParaRPr lang="en-US" sz="14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0.91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1124.11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1326.63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Maize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8.86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8.81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22.97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27.12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2594.03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3079.54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12.96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11.76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-9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12.58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9.26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-26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971.31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787.31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Mung</a:t>
                      </a:r>
                      <a:endParaRPr lang="en-US" sz="14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3.94</a:t>
                      </a:r>
                      <a:endParaRPr lang="en-US" sz="1400" b="1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2.70</a:t>
                      </a:r>
                      <a:endParaRPr lang="en-US" sz="1400" b="1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-31</a:t>
                      </a:r>
                      <a:endParaRPr lang="en-US" sz="14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1.78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1.70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-4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451.83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631.51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en-US" sz="14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Udid</a:t>
                      </a:r>
                      <a:endParaRPr lang="en-US" sz="14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3.70</a:t>
                      </a:r>
                      <a:endParaRPr lang="en-US" sz="14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3.58</a:t>
                      </a:r>
                      <a:endParaRPr lang="en-US" sz="1400" b="1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</a:t>
                      </a:r>
                      <a:endParaRPr lang="en-US" sz="14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1.75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2.26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472.29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629.87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lang="en-US" sz="14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Groundnut</a:t>
                      </a:r>
                      <a:endParaRPr lang="en-US" sz="14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1.92</a:t>
                      </a:r>
                      <a:endParaRPr lang="en-US" sz="14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1.61</a:t>
                      </a:r>
                      <a:endParaRPr lang="en-US" sz="14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-16</a:t>
                      </a:r>
                      <a:endParaRPr lang="en-US" sz="14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2.11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1.91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-9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1100.29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1188.54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Soyabean</a:t>
                      </a:r>
                      <a:endParaRPr lang="en-US" sz="14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41.50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49.10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48.80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66.05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1175.84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1345.29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sz="14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2370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Cotton (Lint)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42.01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42.29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79.12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84.13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320.16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338.19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03200"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</a:t>
                      </a:r>
                      <a:r>
                        <a:rPr lang="en-US" sz="1300" b="1" dirty="0" err="1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Kharif</a:t>
                      </a:r>
                      <a:r>
                        <a:rPr lang="en-US" sz="13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sown area</a:t>
                      </a:r>
                      <a:endParaRPr lang="en-US" sz="1400" b="1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152.97</a:t>
                      </a:r>
                      <a:endParaRPr lang="en-US" sz="1400" b="1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157.97</a:t>
                      </a:r>
                      <a:endParaRPr lang="en-US" sz="1400" b="1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400" b="1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rgbClr val="00B0F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400" dirty="0">
                        <a:solidFill>
                          <a:srgbClr val="00B0F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1425" marR="5142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175805" y="5105400"/>
            <a:ext cx="606608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Productivity  :-</a:t>
            </a:r>
          </a:p>
          <a:p>
            <a:pPr marL="3028950" lvl="6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Cereals – 21%</a:t>
            </a:r>
          </a:p>
          <a:p>
            <a:pPr marL="3028950" lvl="6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Oilseed - 14%,</a:t>
            </a:r>
          </a:p>
          <a:p>
            <a:pPr marL="3028950" lvl="6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Pulses – Mung-40%,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Udid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- 33%</a:t>
            </a:r>
          </a:p>
          <a:p>
            <a:pPr marL="3028950" lvl="6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Cotton - 6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endParaRPr lang="en-US" sz="1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7971495" y="2343893"/>
            <a:ext cx="690613" cy="256335"/>
          </a:xfrm>
          <a:custGeom>
            <a:avLst/>
            <a:gdLst>
              <a:gd name="connsiteX0" fmla="*/ 19250 w 690613"/>
              <a:gd name="connsiteY0" fmla="*/ 241557 h 256335"/>
              <a:gd name="connsiteX1" fmla="*/ 183152 w 690613"/>
              <a:gd name="connsiteY1" fmla="*/ 8643 h 256335"/>
              <a:gd name="connsiteX2" fmla="*/ 623099 w 690613"/>
              <a:gd name="connsiteY2" fmla="*/ 69028 h 256335"/>
              <a:gd name="connsiteX3" fmla="*/ 631725 w 690613"/>
              <a:gd name="connsiteY3" fmla="*/ 250183 h 256335"/>
              <a:gd name="connsiteX4" fmla="*/ 71008 w 690613"/>
              <a:gd name="connsiteY4" fmla="*/ 215677 h 256335"/>
              <a:gd name="connsiteX5" fmla="*/ 19250 w 690613"/>
              <a:gd name="connsiteY5" fmla="*/ 241557 h 256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0613" h="256335">
                <a:moveTo>
                  <a:pt x="19250" y="241557"/>
                </a:moveTo>
                <a:cubicBezTo>
                  <a:pt x="37941" y="207051"/>
                  <a:pt x="82511" y="37398"/>
                  <a:pt x="183152" y="8643"/>
                </a:cubicBezTo>
                <a:cubicBezTo>
                  <a:pt x="283793" y="-20112"/>
                  <a:pt x="548337" y="28771"/>
                  <a:pt x="623099" y="69028"/>
                </a:cubicBezTo>
                <a:cubicBezTo>
                  <a:pt x="697861" y="109285"/>
                  <a:pt x="723740" y="225742"/>
                  <a:pt x="631725" y="250183"/>
                </a:cubicBezTo>
                <a:cubicBezTo>
                  <a:pt x="539710" y="274624"/>
                  <a:pt x="171649" y="218552"/>
                  <a:pt x="71008" y="215677"/>
                </a:cubicBezTo>
                <a:cubicBezTo>
                  <a:pt x="-29633" y="212802"/>
                  <a:pt x="559" y="276063"/>
                  <a:pt x="19250" y="241557"/>
                </a:cubicBezTo>
                <a:close/>
              </a:path>
            </a:pathLst>
          </a:cu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7971494" y="2600228"/>
            <a:ext cx="690613" cy="256335"/>
          </a:xfrm>
          <a:custGeom>
            <a:avLst/>
            <a:gdLst>
              <a:gd name="connsiteX0" fmla="*/ 19250 w 690613"/>
              <a:gd name="connsiteY0" fmla="*/ 241557 h 256335"/>
              <a:gd name="connsiteX1" fmla="*/ 183152 w 690613"/>
              <a:gd name="connsiteY1" fmla="*/ 8643 h 256335"/>
              <a:gd name="connsiteX2" fmla="*/ 623099 w 690613"/>
              <a:gd name="connsiteY2" fmla="*/ 69028 h 256335"/>
              <a:gd name="connsiteX3" fmla="*/ 631725 w 690613"/>
              <a:gd name="connsiteY3" fmla="*/ 250183 h 256335"/>
              <a:gd name="connsiteX4" fmla="*/ 71008 w 690613"/>
              <a:gd name="connsiteY4" fmla="*/ 215677 h 256335"/>
              <a:gd name="connsiteX5" fmla="*/ 19250 w 690613"/>
              <a:gd name="connsiteY5" fmla="*/ 241557 h 256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0613" h="256335">
                <a:moveTo>
                  <a:pt x="19250" y="241557"/>
                </a:moveTo>
                <a:cubicBezTo>
                  <a:pt x="37941" y="207051"/>
                  <a:pt x="82511" y="37398"/>
                  <a:pt x="183152" y="8643"/>
                </a:cubicBezTo>
                <a:cubicBezTo>
                  <a:pt x="283793" y="-20112"/>
                  <a:pt x="548337" y="28771"/>
                  <a:pt x="623099" y="69028"/>
                </a:cubicBezTo>
                <a:cubicBezTo>
                  <a:pt x="697861" y="109285"/>
                  <a:pt x="723740" y="225742"/>
                  <a:pt x="631725" y="250183"/>
                </a:cubicBezTo>
                <a:cubicBezTo>
                  <a:pt x="539710" y="274624"/>
                  <a:pt x="171649" y="218552"/>
                  <a:pt x="71008" y="215677"/>
                </a:cubicBezTo>
                <a:cubicBezTo>
                  <a:pt x="-29633" y="212802"/>
                  <a:pt x="559" y="276063"/>
                  <a:pt x="19250" y="241557"/>
                </a:cubicBezTo>
                <a:close/>
              </a:path>
            </a:pathLst>
          </a:cu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7971495" y="2879567"/>
            <a:ext cx="690613" cy="256335"/>
          </a:xfrm>
          <a:custGeom>
            <a:avLst/>
            <a:gdLst>
              <a:gd name="connsiteX0" fmla="*/ 19250 w 690613"/>
              <a:gd name="connsiteY0" fmla="*/ 241557 h 256335"/>
              <a:gd name="connsiteX1" fmla="*/ 183152 w 690613"/>
              <a:gd name="connsiteY1" fmla="*/ 8643 h 256335"/>
              <a:gd name="connsiteX2" fmla="*/ 623099 w 690613"/>
              <a:gd name="connsiteY2" fmla="*/ 69028 h 256335"/>
              <a:gd name="connsiteX3" fmla="*/ 631725 w 690613"/>
              <a:gd name="connsiteY3" fmla="*/ 250183 h 256335"/>
              <a:gd name="connsiteX4" fmla="*/ 71008 w 690613"/>
              <a:gd name="connsiteY4" fmla="*/ 215677 h 256335"/>
              <a:gd name="connsiteX5" fmla="*/ 19250 w 690613"/>
              <a:gd name="connsiteY5" fmla="*/ 241557 h 256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0613" h="256335">
                <a:moveTo>
                  <a:pt x="19250" y="241557"/>
                </a:moveTo>
                <a:cubicBezTo>
                  <a:pt x="37941" y="207051"/>
                  <a:pt x="82511" y="37398"/>
                  <a:pt x="183152" y="8643"/>
                </a:cubicBezTo>
                <a:cubicBezTo>
                  <a:pt x="283793" y="-20112"/>
                  <a:pt x="548337" y="28771"/>
                  <a:pt x="623099" y="69028"/>
                </a:cubicBezTo>
                <a:cubicBezTo>
                  <a:pt x="697861" y="109285"/>
                  <a:pt x="723740" y="225742"/>
                  <a:pt x="631725" y="250183"/>
                </a:cubicBezTo>
                <a:cubicBezTo>
                  <a:pt x="539710" y="274624"/>
                  <a:pt x="171649" y="218552"/>
                  <a:pt x="71008" y="215677"/>
                </a:cubicBezTo>
                <a:cubicBezTo>
                  <a:pt x="-29633" y="212802"/>
                  <a:pt x="559" y="276063"/>
                  <a:pt x="19250" y="241557"/>
                </a:cubicBezTo>
                <a:close/>
              </a:path>
            </a:pathLst>
          </a:cu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8058048" y="3135902"/>
            <a:ext cx="690613" cy="256335"/>
          </a:xfrm>
          <a:custGeom>
            <a:avLst/>
            <a:gdLst>
              <a:gd name="connsiteX0" fmla="*/ 19250 w 690613"/>
              <a:gd name="connsiteY0" fmla="*/ 241557 h 256335"/>
              <a:gd name="connsiteX1" fmla="*/ 183152 w 690613"/>
              <a:gd name="connsiteY1" fmla="*/ 8643 h 256335"/>
              <a:gd name="connsiteX2" fmla="*/ 623099 w 690613"/>
              <a:gd name="connsiteY2" fmla="*/ 69028 h 256335"/>
              <a:gd name="connsiteX3" fmla="*/ 631725 w 690613"/>
              <a:gd name="connsiteY3" fmla="*/ 250183 h 256335"/>
              <a:gd name="connsiteX4" fmla="*/ 71008 w 690613"/>
              <a:gd name="connsiteY4" fmla="*/ 215677 h 256335"/>
              <a:gd name="connsiteX5" fmla="*/ 19250 w 690613"/>
              <a:gd name="connsiteY5" fmla="*/ 241557 h 256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0613" h="256335">
                <a:moveTo>
                  <a:pt x="19250" y="241557"/>
                </a:moveTo>
                <a:cubicBezTo>
                  <a:pt x="37941" y="207051"/>
                  <a:pt x="82511" y="37398"/>
                  <a:pt x="183152" y="8643"/>
                </a:cubicBezTo>
                <a:cubicBezTo>
                  <a:pt x="283793" y="-20112"/>
                  <a:pt x="548337" y="28771"/>
                  <a:pt x="623099" y="69028"/>
                </a:cubicBezTo>
                <a:cubicBezTo>
                  <a:pt x="697861" y="109285"/>
                  <a:pt x="723740" y="225742"/>
                  <a:pt x="631725" y="250183"/>
                </a:cubicBezTo>
                <a:cubicBezTo>
                  <a:pt x="539710" y="274624"/>
                  <a:pt x="171649" y="218552"/>
                  <a:pt x="71008" y="215677"/>
                </a:cubicBezTo>
                <a:cubicBezTo>
                  <a:pt x="-29633" y="212802"/>
                  <a:pt x="559" y="276063"/>
                  <a:pt x="19250" y="241557"/>
                </a:cubicBezTo>
                <a:close/>
              </a:path>
            </a:pathLst>
          </a:cu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-19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7971496" y="3907766"/>
            <a:ext cx="726556" cy="256335"/>
          </a:xfrm>
          <a:custGeom>
            <a:avLst/>
            <a:gdLst>
              <a:gd name="connsiteX0" fmla="*/ 19250 w 690613"/>
              <a:gd name="connsiteY0" fmla="*/ 241557 h 256335"/>
              <a:gd name="connsiteX1" fmla="*/ 183152 w 690613"/>
              <a:gd name="connsiteY1" fmla="*/ 8643 h 256335"/>
              <a:gd name="connsiteX2" fmla="*/ 623099 w 690613"/>
              <a:gd name="connsiteY2" fmla="*/ 69028 h 256335"/>
              <a:gd name="connsiteX3" fmla="*/ 631725 w 690613"/>
              <a:gd name="connsiteY3" fmla="*/ 250183 h 256335"/>
              <a:gd name="connsiteX4" fmla="*/ 71008 w 690613"/>
              <a:gd name="connsiteY4" fmla="*/ 215677 h 256335"/>
              <a:gd name="connsiteX5" fmla="*/ 19250 w 690613"/>
              <a:gd name="connsiteY5" fmla="*/ 241557 h 256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0613" h="256335">
                <a:moveTo>
                  <a:pt x="19250" y="241557"/>
                </a:moveTo>
                <a:cubicBezTo>
                  <a:pt x="37941" y="207051"/>
                  <a:pt x="82511" y="37398"/>
                  <a:pt x="183152" y="8643"/>
                </a:cubicBezTo>
                <a:cubicBezTo>
                  <a:pt x="283793" y="-20112"/>
                  <a:pt x="548337" y="28771"/>
                  <a:pt x="623099" y="69028"/>
                </a:cubicBezTo>
                <a:cubicBezTo>
                  <a:pt x="697861" y="109285"/>
                  <a:pt x="723740" y="225742"/>
                  <a:pt x="631725" y="250183"/>
                </a:cubicBezTo>
                <a:cubicBezTo>
                  <a:pt x="539710" y="274624"/>
                  <a:pt x="171649" y="218552"/>
                  <a:pt x="71008" y="215677"/>
                </a:cubicBezTo>
                <a:cubicBezTo>
                  <a:pt x="-29633" y="212802"/>
                  <a:pt x="559" y="276063"/>
                  <a:pt x="19250" y="241557"/>
                </a:cubicBezTo>
                <a:close/>
              </a:path>
            </a:pathLst>
          </a:cu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en-US" sz="1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6478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/>
        </p:nvSpPr>
        <p:spPr>
          <a:xfrm>
            <a:off x="212035" y="269107"/>
            <a:ext cx="8550965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algn="ctr">
              <a:buClr>
                <a:schemeClr val="accent1"/>
              </a:buClr>
              <a:buSzPts val="3000"/>
            </a:pPr>
            <a:r>
              <a:rPr lang="en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Maharashtra </a:t>
            </a:r>
            <a:r>
              <a:rPr lang="en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:- Seed</a:t>
            </a:r>
            <a:endParaRPr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4673337"/>
              </p:ext>
            </p:extLst>
          </p:nvPr>
        </p:nvGraphicFramePr>
        <p:xfrm>
          <a:off x="304800" y="937260"/>
          <a:ext cx="6781802" cy="51114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38200"/>
                <a:gridCol w="176958"/>
                <a:gridCol w="1024664"/>
                <a:gridCol w="1001424"/>
                <a:gridCol w="1317276"/>
                <a:gridCol w="1232767"/>
                <a:gridCol w="1190513"/>
              </a:tblGrid>
              <a:tr h="4882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</a:t>
                      </a:r>
                      <a:r>
                        <a:rPr lang="en-IN" sz="1600" b="1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Crop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Targeted SRR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Requirement 2023</a:t>
                      </a:r>
                      <a:endParaRPr lang="en-US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Availability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Surplus /Deficit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3</a:t>
                      </a:r>
                      <a:endParaRPr lang="en-US" sz="16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4</a:t>
                      </a:r>
                      <a:endParaRPr lang="en-US" sz="16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5</a:t>
                      </a:r>
                      <a:endParaRPr lang="en-US" sz="16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6</a:t>
                      </a:r>
                      <a:endParaRPr lang="en-US" sz="16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85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Jowar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26100</a:t>
                      </a:r>
                      <a:endParaRPr lang="en-US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26255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155</a:t>
                      </a:r>
                      <a:endParaRPr lang="en-US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85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Bajra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18500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18854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354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85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Paddy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223200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225211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2011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85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Maize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135000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135200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8599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Cereals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402800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405520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2720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85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58406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58737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331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85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Mung</a:t>
                      </a:r>
                      <a:endParaRPr lang="en-US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en-US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13530</a:t>
                      </a:r>
                      <a:endParaRPr lang="en-US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13933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403</a:t>
                      </a:r>
                      <a:endParaRPr lang="en-US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85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Udid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21000</a:t>
                      </a:r>
                      <a:endParaRPr lang="en-US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21331</a:t>
                      </a:r>
                      <a:endParaRPr lang="en-US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331</a:t>
                      </a:r>
                      <a:endParaRPr lang="en-US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8599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Pulses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92936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94001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1065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44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Groundnut</a:t>
                      </a:r>
                      <a:endParaRPr lang="en-US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12600</a:t>
                      </a:r>
                      <a:endParaRPr lang="en-US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13400</a:t>
                      </a:r>
                      <a:endParaRPr lang="en-US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800</a:t>
                      </a:r>
                      <a:endParaRPr lang="en-US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85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Sesame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275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330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85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Soybean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1312500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1316491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3991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8599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Oilseeds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1325375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1330221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4846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8599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Cotton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77400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97880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20480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8599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</a:t>
                      </a:r>
                      <a:r>
                        <a:rPr lang="en-IN" sz="1600" b="1" dirty="0" err="1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Kharif</a:t>
                      </a:r>
                      <a:endParaRPr lang="en-US" sz="2000" b="1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b="1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1898511</a:t>
                      </a:r>
                      <a:endParaRPr lang="en-US" sz="2000" b="1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1927622</a:t>
                      </a:r>
                      <a:endParaRPr lang="en-US" sz="2000" b="1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29111</a:t>
                      </a:r>
                      <a:endParaRPr lang="en-US" sz="2000" b="1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28800" y="6019800"/>
            <a:ext cx="42748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Seed requirement = 18.99 lakh </a:t>
            </a:r>
            <a:r>
              <a:rPr lang="en-US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Qtls</a:t>
            </a:r>
            <a:r>
              <a:rPr lang="en-US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Seed Availability = 19.28 lakh </a:t>
            </a:r>
            <a:r>
              <a:rPr lang="en-US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Qtls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7239000" y="2438400"/>
            <a:ext cx="1676400" cy="16764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102% seed is available 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115961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/>
        </p:nvSpPr>
        <p:spPr>
          <a:xfrm>
            <a:off x="212035" y="269107"/>
            <a:ext cx="8550965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algn="ctr">
              <a:buClr>
                <a:schemeClr val="accent1"/>
              </a:buClr>
              <a:buSzPts val="3000"/>
            </a:pPr>
            <a:r>
              <a:rPr lang="en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Maharashtra </a:t>
            </a:r>
            <a:r>
              <a:rPr lang="en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Seed Replacement rate </a:t>
            </a:r>
            <a:endParaRPr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9433584"/>
              </p:ext>
            </p:extLst>
          </p:nvPr>
        </p:nvGraphicFramePr>
        <p:xfrm>
          <a:off x="753716" y="1066800"/>
          <a:ext cx="7704483" cy="43934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37483"/>
                <a:gridCol w="1352001"/>
                <a:gridCol w="758382"/>
                <a:gridCol w="849816"/>
                <a:gridCol w="849816"/>
                <a:gridCol w="719075"/>
                <a:gridCol w="1416616"/>
                <a:gridCol w="1121294"/>
              </a:tblGrid>
              <a:tr h="498541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</a:t>
                      </a:r>
                      <a:r>
                        <a:rPr lang="en-IN" sz="1600" b="1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Crop     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GOI Target  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SRR Achievement</a:t>
                      </a:r>
                      <a:endParaRPr lang="en-US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Target For Kh-2023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61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661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</a:t>
                      </a:r>
                      <a:endParaRPr lang="en-US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</a:t>
                      </a:r>
                      <a:endParaRPr lang="en-US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3</a:t>
                      </a:r>
                      <a:endParaRPr lang="en-US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4</a:t>
                      </a:r>
                      <a:endParaRPr lang="en-US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5</a:t>
                      </a:r>
                      <a:endParaRPr lang="en-US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6</a:t>
                      </a:r>
                      <a:endParaRPr lang="en-US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7</a:t>
                      </a:r>
                      <a:endParaRPr lang="en-US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8</a:t>
                      </a:r>
                      <a:endParaRPr lang="en-US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61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Kh. Jowar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61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Kh.  Bajra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61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Paddy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61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Maize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61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61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Mung</a:t>
                      </a:r>
                      <a:endParaRPr lang="en-US" sz="2000" b="1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lang="en-US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en-US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endParaRPr lang="en-US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endParaRPr lang="en-US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Achieved</a:t>
                      </a:r>
                      <a:endParaRPr lang="en-US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en-US" sz="2000" b="1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661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Udid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61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Groundnut</a:t>
                      </a:r>
                      <a:endParaRPr lang="en-US" sz="2000" b="1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lang="en-US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Achieved</a:t>
                      </a:r>
                      <a:endParaRPr lang="en-US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000" b="1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661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Sesame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61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Soybean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Achieved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98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Hy/BTCotton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</a:t>
                      </a:r>
                      <a:endParaRPr lang="en-US" sz="2000" b="1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558828" y="5706408"/>
            <a:ext cx="5857373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Except Mung and Groundnut all SRR are achieved 100%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115961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lIns="91438" tIns="45719" rIns="91438" bIns="45719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 dirty="0" smtClean="0">
                <a:solidFill>
                  <a:schemeClr val="tx1"/>
                </a:solidFill>
              </a:rPr>
              <a:t/>
            </a:r>
            <a:br>
              <a:rPr lang="en-US" sz="1800" dirty="0" smtClean="0">
                <a:solidFill>
                  <a:schemeClr val="tx1"/>
                </a:solidFill>
              </a:rPr>
            </a:br>
            <a:r>
              <a:rPr lang="en-US" sz="1800" dirty="0" smtClean="0">
                <a:solidFill>
                  <a:schemeClr val="tx1"/>
                </a:solidFill>
              </a:rPr>
              <a:t/>
            </a:r>
            <a:br>
              <a:rPr lang="en-US" sz="1800" dirty="0" smtClean="0">
                <a:solidFill>
                  <a:schemeClr val="tx1"/>
                </a:solidFill>
              </a:rPr>
            </a:br>
            <a:r>
              <a:rPr lang="en-US" sz="1800" dirty="0" smtClean="0">
                <a:solidFill>
                  <a:schemeClr val="tx1"/>
                </a:solidFill>
              </a:rPr>
              <a:t/>
            </a:r>
            <a:br>
              <a:rPr lang="en-US" sz="1800" dirty="0" smtClean="0">
                <a:solidFill>
                  <a:schemeClr val="tx1"/>
                </a:solidFill>
              </a:rPr>
            </a:br>
            <a:r>
              <a:rPr lang="en-US" sz="1800" dirty="0" smtClean="0">
                <a:solidFill>
                  <a:schemeClr val="tx1"/>
                </a:solidFill>
              </a:rPr>
              <a:t> </a:t>
            </a:r>
            <a:endParaRPr lang="en-IN" sz="1800" dirty="0">
              <a:solidFill>
                <a:schemeClr val="tx1"/>
              </a:solidFill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0540351"/>
              </p:ext>
            </p:extLst>
          </p:nvPr>
        </p:nvGraphicFramePr>
        <p:xfrm>
          <a:off x="625928" y="3581400"/>
          <a:ext cx="3429000" cy="158648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3000"/>
                <a:gridCol w="2286000"/>
              </a:tblGrid>
              <a:tr h="3246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US" sz="14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F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 P K consumption Kg / ha</a:t>
                      </a:r>
                      <a:endParaRPr lang="en-US" sz="14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FEEF"/>
                    </a:solidFill>
                  </a:tcPr>
                </a:tc>
              </a:tr>
              <a:tr h="208789">
                <a:tc>
                  <a:txBody>
                    <a:bodyPr/>
                    <a:lstStyle/>
                    <a:p>
                      <a:pPr marL="0" marR="0" algn="ctr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dec"/>
                        </a:tabLs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2018-19</a:t>
                      </a:r>
                      <a:endParaRPr lang="en-US" sz="14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F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dec"/>
                        </a:tabLs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126.0</a:t>
                      </a:r>
                      <a:endParaRPr lang="en-US" sz="14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FEEF"/>
                    </a:solidFill>
                  </a:tcPr>
                </a:tc>
              </a:tr>
              <a:tr h="211646">
                <a:tc>
                  <a:txBody>
                    <a:bodyPr/>
                    <a:lstStyle/>
                    <a:p>
                      <a:pPr marL="0" marR="0" algn="ctr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dec"/>
                        </a:tabLst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2019-20</a:t>
                      </a:r>
                      <a:endParaRPr lang="en-US" sz="14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F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dec"/>
                        </a:tabLst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113.0</a:t>
                      </a:r>
                      <a:endParaRPr lang="en-US" sz="14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FEEF"/>
                    </a:solidFill>
                  </a:tcPr>
                </a:tc>
              </a:tr>
              <a:tr h="138303">
                <a:tc>
                  <a:txBody>
                    <a:bodyPr/>
                    <a:lstStyle/>
                    <a:p>
                      <a:pPr marL="0" marR="0" algn="ctr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dec"/>
                        </a:tabLst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2020-21</a:t>
                      </a:r>
                      <a:endParaRPr lang="en-US" sz="14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F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dec"/>
                        </a:tabLs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129.3</a:t>
                      </a:r>
                      <a:endParaRPr lang="en-US" sz="14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FEEF"/>
                    </a:solidFill>
                  </a:tcPr>
                </a:tc>
              </a:tr>
              <a:tr h="141160">
                <a:tc>
                  <a:txBody>
                    <a:bodyPr/>
                    <a:lstStyle/>
                    <a:p>
                      <a:pPr marL="0" marR="0" algn="ctr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dec"/>
                        </a:tabLst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2021-22</a:t>
                      </a:r>
                      <a:endParaRPr lang="en-US" sz="14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F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dec"/>
                        </a:tabLst>
                      </a:pPr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119.3</a:t>
                      </a:r>
                      <a:endParaRPr lang="en-US" sz="14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FEEF"/>
                    </a:solidFill>
                  </a:tcPr>
                </a:tc>
              </a:tr>
              <a:tr h="144017">
                <a:tc>
                  <a:txBody>
                    <a:bodyPr/>
                    <a:lstStyle/>
                    <a:p>
                      <a:pPr marL="0" marR="0" algn="ctr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dec"/>
                        </a:tabLst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2022-23</a:t>
                      </a:r>
                      <a:endParaRPr lang="en-US" sz="1600" b="1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F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dec"/>
                        </a:tabLst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121.2</a:t>
                      </a:r>
                      <a:endParaRPr lang="en-US" sz="1600" b="1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FEE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1371600" y="255754"/>
            <a:ext cx="5138057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ertilizer </a:t>
            </a:r>
            <a:r>
              <a:rPr lang="en-US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Kharif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2023 Figures in lakh MT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911353"/>
              </p:ext>
            </p:extLst>
          </p:nvPr>
        </p:nvGraphicFramePr>
        <p:xfrm>
          <a:off x="591004" y="789405"/>
          <a:ext cx="7409995" cy="24541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3308"/>
                <a:gridCol w="959172"/>
                <a:gridCol w="723308"/>
                <a:gridCol w="644691"/>
                <a:gridCol w="833380"/>
                <a:gridCol w="833380"/>
                <a:gridCol w="723308"/>
                <a:gridCol w="1165148"/>
                <a:gridCol w="804300"/>
              </a:tblGrid>
              <a:tr h="37586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Sr.No</a:t>
                      </a:r>
                      <a:r>
                        <a:rPr lang="en-US" sz="1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Consumption in last 3 </a:t>
                      </a:r>
                      <a:r>
                        <a:rPr lang="en-US" sz="11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</a:t>
                      </a:r>
                      <a:r>
                        <a:rPr lang="en-US" sz="1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seasons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Kh-23 Demand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Kh-23 Sanctioned 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Stock as on 01 /04/2023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143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147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6(3+4+5/3)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47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Urea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15.31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14.15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13.94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14.45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13.735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5.33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47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DAP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5.55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3.43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4.11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4.35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4.5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2.15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47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MOP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2.47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2.29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0.74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1.84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0.29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95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NPK Complexes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17.12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16.68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11.67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15.13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15.5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8.39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47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SSP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6.49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6.97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7.22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6.89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7.5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5.15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47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1400" b="1" i="0" u="none" strike="noStrike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46.94</a:t>
                      </a:r>
                      <a:endParaRPr lang="en-US" sz="1400" b="1" i="0" u="none" strike="noStrike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43.52</a:t>
                      </a:r>
                      <a:endParaRPr lang="en-US" sz="1400" b="1" i="0" u="none" strike="noStrike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37.68</a:t>
                      </a:r>
                      <a:endParaRPr lang="en-US" sz="1400" b="1" i="0" u="none" strike="noStrike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42.66</a:t>
                      </a:r>
                      <a:endParaRPr lang="en-US" sz="1400" b="1" i="0" u="none" strike="noStrike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</a:t>
                      </a:r>
                      <a:endParaRPr lang="en-US" sz="1400" b="1" i="0" u="none" strike="noStrike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43.135</a:t>
                      </a:r>
                      <a:endParaRPr lang="en-US" sz="1400" b="1" i="0" u="none" strike="noStrike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21.31</a:t>
                      </a:r>
                      <a:endParaRPr lang="en-US" sz="1400" b="1" i="0" u="none" strike="noStrike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525620" y="3657600"/>
            <a:ext cx="396807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Enhancing  fertilizer use efficiency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Integrated nutrient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Promoting use of Bio-Fertilizers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Promoting use of Liquid fertilizers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Promoting Foliar application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Crop rotation by leguminous crops 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740228" y="5257800"/>
            <a:ext cx="3200400" cy="9144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Fertilizer consumption last 5 years  = 121.76 kg/ha 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5903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lIns="91438" tIns="45719" rIns="91438" bIns="45719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 dirty="0" smtClean="0">
                <a:solidFill>
                  <a:schemeClr val="tx1"/>
                </a:solidFill>
              </a:rPr>
              <a:t/>
            </a:r>
            <a:br>
              <a:rPr lang="en-US" sz="1800" dirty="0" smtClean="0">
                <a:solidFill>
                  <a:schemeClr val="tx1"/>
                </a:solidFill>
              </a:rPr>
            </a:br>
            <a:r>
              <a:rPr lang="en-US" sz="1800" dirty="0" smtClean="0">
                <a:solidFill>
                  <a:schemeClr val="tx1"/>
                </a:solidFill>
              </a:rPr>
              <a:t/>
            </a:r>
            <a:br>
              <a:rPr lang="en-US" sz="1800" dirty="0" smtClean="0">
                <a:solidFill>
                  <a:schemeClr val="tx1"/>
                </a:solidFill>
              </a:rPr>
            </a:br>
            <a:r>
              <a:rPr lang="en-US" sz="1800" dirty="0" smtClean="0">
                <a:solidFill>
                  <a:schemeClr val="tx1"/>
                </a:solidFill>
              </a:rPr>
              <a:t/>
            </a:r>
            <a:br>
              <a:rPr lang="en-US" sz="1800" dirty="0" smtClean="0">
                <a:solidFill>
                  <a:schemeClr val="tx1"/>
                </a:solidFill>
              </a:rPr>
            </a:br>
            <a:r>
              <a:rPr lang="en-US" sz="1800" dirty="0" smtClean="0">
                <a:solidFill>
                  <a:schemeClr val="tx1"/>
                </a:solidFill>
              </a:rPr>
              <a:t> </a:t>
            </a: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4914" y="193259"/>
            <a:ext cx="7848600" cy="400108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Centrally Sponsored Programmes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615249"/>
              </p:ext>
            </p:extLst>
          </p:nvPr>
        </p:nvGraphicFramePr>
        <p:xfrm>
          <a:off x="268157" y="704908"/>
          <a:ext cx="8839200" cy="53745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5146"/>
                <a:gridCol w="8314054"/>
              </a:tblGrid>
              <a:tr h="4064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S. N.</a:t>
                      </a:r>
                      <a:endParaRPr lang="en-US" sz="14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0141" marR="5014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Scheme Name </a:t>
                      </a:r>
                      <a:endParaRPr lang="en-US" sz="14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0141" marR="5014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4304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b="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0141" marR="5014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National Food Security and Nutrition Mission: Food Grains(Rice, Wheat, Pulses, Coarse Cereals Maize </a:t>
                      </a:r>
                      <a:r>
                        <a:rPr lang="en-US" sz="18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and </a:t>
                      </a: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Nutri – Cereals)</a:t>
                      </a:r>
                    </a:p>
                  </a:txBody>
                  <a:tcPr marL="50141" marR="5014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</a:t>
                      </a:r>
                      <a:endParaRPr lang="en-US" sz="1800" b="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0141" marR="5014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Food and Nutrition Security-CC-Cotton Development Program</a:t>
                      </a:r>
                    </a:p>
                  </a:txBody>
                  <a:tcPr marL="50141" marR="5014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3</a:t>
                      </a:r>
                      <a:endParaRPr lang="en-US" sz="1800" b="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0141" marR="5014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Food and Nutrition Security-CC-Sugarcane Development Program </a:t>
                      </a:r>
                    </a:p>
                  </a:txBody>
                  <a:tcPr marL="50141" marR="5014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4</a:t>
                      </a:r>
                      <a:endParaRPr lang="en-US" sz="1800" b="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0141" marR="5014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NFSM - Oilseed and Oil Palm (OS&amp;OP)</a:t>
                      </a:r>
                    </a:p>
                  </a:txBody>
                  <a:tcPr marL="50141" marR="5014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8121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5</a:t>
                      </a:r>
                      <a:endParaRPr lang="en-US" sz="1800" b="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0141" marR="5014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Rashtriya</a:t>
                      </a: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Krishi</a:t>
                      </a: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Vikas</a:t>
                      </a: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Yojana</a:t>
                      </a: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(RKVY) -  Cafeteria</a:t>
                      </a:r>
                    </a:p>
                  </a:txBody>
                  <a:tcPr marL="50141" marR="5014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35883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6</a:t>
                      </a:r>
                      <a:endParaRPr lang="en-US" sz="1800" b="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0141" marR="5014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5715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Horticulture Plantation under </a:t>
                      </a:r>
                      <a:r>
                        <a:rPr lang="en-US" sz="18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MREGS Scheme</a:t>
                      </a:r>
                      <a:endParaRPr lang="en-US" sz="180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0141" marR="5014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 7</a:t>
                      </a:r>
                    </a:p>
                  </a:txBody>
                  <a:tcPr marL="50141" marR="5014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5715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Sub-Mission on Agroforestry (SMAF)Under National Mission for Sustainable Agriculture (NMSA)</a:t>
                      </a:r>
                    </a:p>
                  </a:txBody>
                  <a:tcPr marL="50141" marR="5014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8</a:t>
                      </a:r>
                      <a:endParaRPr lang="en-US" sz="1800" b="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0141" marR="5014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5715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Agriculture Mechanization &amp; Sub-Mission on Agriculture Mechanization</a:t>
                      </a:r>
                    </a:p>
                  </a:txBody>
                  <a:tcPr marL="50141" marR="5014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7152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9</a:t>
                      </a:r>
                      <a:endParaRPr lang="en-US" sz="1800" b="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0141" marR="5014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Rainfed</a:t>
                      </a: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Area Development under </a:t>
                      </a:r>
                      <a:r>
                        <a:rPr lang="en-US" sz="1800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Rashtriy</a:t>
                      </a: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Krishi</a:t>
                      </a: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Vikas</a:t>
                      </a: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Yojana</a:t>
                      </a: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(RKVY)-RAFTAAR</a:t>
                      </a:r>
                    </a:p>
                  </a:txBody>
                  <a:tcPr marL="50141" marR="5014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10</a:t>
                      </a:r>
                      <a:endParaRPr lang="en-US" sz="1800" b="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0141" marR="5014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5715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Support to State Extension </a:t>
                      </a:r>
                      <a:r>
                        <a:rPr lang="en-US" sz="1800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Programmes</a:t>
                      </a: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for Extension Reforms (ATMA)     </a:t>
                      </a:r>
                    </a:p>
                  </a:txBody>
                  <a:tcPr marL="50141" marR="5014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11</a:t>
                      </a:r>
                      <a:endParaRPr lang="en-US" sz="1800" b="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0141" marR="5014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5715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Agriculture Infrastructure Fund Scheme</a:t>
                      </a:r>
                    </a:p>
                  </a:txBody>
                  <a:tcPr marL="50141" marR="5014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12</a:t>
                      </a:r>
                      <a:endParaRPr lang="en-US" sz="1800" b="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0141" marR="5014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Prime Minister </a:t>
                      </a:r>
                      <a:r>
                        <a:rPr lang="en-US" sz="1800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Formalisation</a:t>
                      </a: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of Micro Food Processing Enterprises (PMFME)</a:t>
                      </a:r>
                    </a:p>
                  </a:txBody>
                  <a:tcPr marL="50141" marR="5014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13</a:t>
                      </a:r>
                      <a:endParaRPr lang="en-US" sz="1800" b="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0141" marR="5014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Maharashtra State Small Farmers Agri-Business Consortium  (SFAC)</a:t>
                      </a:r>
                    </a:p>
                  </a:txBody>
                  <a:tcPr marL="50141" marR="5014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14</a:t>
                      </a:r>
                      <a:endParaRPr lang="en-US" sz="1800" b="0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50141" marR="5014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Formation and Promotion of 10,000 Farmer Producer Organizations</a:t>
                      </a:r>
                    </a:p>
                  </a:txBody>
                  <a:tcPr marL="50141" marR="5014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89042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lIns="91438" tIns="45719" rIns="91438" bIns="45719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 dirty="0" smtClean="0">
                <a:solidFill>
                  <a:schemeClr val="tx1"/>
                </a:solidFill>
              </a:rPr>
              <a:t/>
            </a:r>
            <a:br>
              <a:rPr lang="en-US" sz="1800" dirty="0" smtClean="0">
                <a:solidFill>
                  <a:schemeClr val="tx1"/>
                </a:solidFill>
              </a:rPr>
            </a:br>
            <a:r>
              <a:rPr lang="en-US" sz="1800" dirty="0" smtClean="0">
                <a:solidFill>
                  <a:schemeClr val="tx1"/>
                </a:solidFill>
              </a:rPr>
              <a:t/>
            </a:r>
            <a:br>
              <a:rPr lang="en-US" sz="1800" dirty="0" smtClean="0">
                <a:solidFill>
                  <a:schemeClr val="tx1"/>
                </a:solidFill>
              </a:rPr>
            </a:br>
            <a:r>
              <a:rPr lang="en-US" sz="1800" dirty="0" smtClean="0">
                <a:solidFill>
                  <a:schemeClr val="tx1"/>
                </a:solidFill>
              </a:rPr>
              <a:t/>
            </a:r>
            <a:br>
              <a:rPr lang="en-US" sz="1800" dirty="0" smtClean="0">
                <a:solidFill>
                  <a:schemeClr val="tx1"/>
                </a:solidFill>
              </a:rPr>
            </a:br>
            <a:r>
              <a:rPr lang="en-US" sz="1800" dirty="0" smtClean="0">
                <a:solidFill>
                  <a:schemeClr val="tx1"/>
                </a:solidFill>
              </a:rPr>
              <a:t> </a:t>
            </a: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-25400"/>
            <a:ext cx="9144000" cy="36933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en-IN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 Initiatives</a:t>
            </a:r>
            <a:endParaRPr lang="en-I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1316079"/>
              </p:ext>
            </p:extLst>
          </p:nvPr>
        </p:nvGraphicFramePr>
        <p:xfrm>
          <a:off x="311700" y="343930"/>
          <a:ext cx="8730160" cy="580642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7007"/>
                <a:gridCol w="8143153"/>
              </a:tblGrid>
              <a:tr h="4064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S. N.</a:t>
                      </a:r>
                      <a:endParaRPr lang="en-US" sz="14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0141" marR="5014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Scheme Name </a:t>
                      </a:r>
                      <a:endParaRPr lang="en-US" sz="14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0141" marR="5014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5715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Horticulture Plant Protection Scheme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71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2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2159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Rashtriy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Krishi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Vikas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Yojana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- 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Punyashlok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Ahilyadevi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Holkar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Nursery Scheme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71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5715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Plant Protection ( CROPSAP &amp; HORTSAP)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4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5715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Chief Minister Agriculture and Food Processing Scheme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812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5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5715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Implementation of Group Farming 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Scheme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4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6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Dr.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PanjabraoDeshmukhJaivikSheti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Mission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Vikel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te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Pikel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abhiyan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­– A State Initiative for sustainable income to farmers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249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MahaAGRITECH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9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Hon.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Balasaheb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Thackeray Agribusiness and Rural Transformation (SMART) Project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249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10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Project on Climate Resilient Agriculture in Maharashtra (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PoCRA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) (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Nanaji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Deshmukh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Krushi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Sanjeevani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Prakalp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892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11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5715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Chief Minister Sustainable Agriculture Irrigation Scheme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12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Hon.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Balasaheb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Thackeray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Haridra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(Turmeric) Research and Training Centre 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91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13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State Sponsored Integrated Cotton, Soybean and other oilseed Crop Productivity Enhancement and Value Chain Development Scheme 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43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14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Gopinath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1800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Munde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Shetkari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Apghat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Suraksha </a:t>
                      </a:r>
                      <a:r>
                        <a:rPr lang="en-US" sz="1800" baseline="0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Sanugrah</a:t>
                      </a:r>
                      <a:r>
                        <a:rPr lang="en-US" sz="1800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Anudan</a:t>
                      </a:r>
                      <a:r>
                        <a:rPr lang="en-US" sz="1800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Yojana</a:t>
                      </a:r>
                      <a:endParaRPr lang="en-US" sz="1400" dirty="0" smtClean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914413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/>
        </p:nvSpPr>
        <p:spPr>
          <a:xfrm>
            <a:off x="212035" y="269107"/>
            <a:ext cx="8550965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algn="ctr">
              <a:buClr>
                <a:schemeClr val="accent1"/>
              </a:buClr>
              <a:buSzPts val="3000"/>
            </a:pPr>
            <a:r>
              <a:rPr lang="en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Maharashtra </a:t>
            </a:r>
            <a:r>
              <a:rPr lang="en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New Initiatives  </a:t>
            </a:r>
            <a:endParaRPr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32460" y="1295400"/>
            <a:ext cx="84582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Universal Crop Insurance @ Rs.1 to farmers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PMFBY Technological yield estimation in Paddy, </a:t>
            </a:r>
            <a:r>
              <a:rPr lang="en-US" sz="2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Soyabean</a:t>
            </a:r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Cotton  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Gopinath</a:t>
            </a:r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Munde</a:t>
            </a:r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Shetkari</a:t>
            </a:r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Apghat</a:t>
            </a:r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Suraksha </a:t>
            </a:r>
            <a:r>
              <a:rPr lang="en-US" sz="2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Sanugrah</a:t>
            </a:r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Anudan</a:t>
            </a:r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 Mission for Nutri Cereals (200 crores)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Increasing area under Oilseed and pulses 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002060"/>
                </a:solidFill>
              </a:rPr>
              <a:t>Integrated Cotton Productivity </a:t>
            </a:r>
            <a:r>
              <a:rPr lang="en-US" sz="2000" b="1" dirty="0">
                <a:solidFill>
                  <a:srgbClr val="002060"/>
                </a:solidFill>
              </a:rPr>
              <a:t>Enhancement and Value Chain Development Scheme </a:t>
            </a:r>
            <a:endParaRPr lang="en-US" sz="2000" b="1" dirty="0" smtClean="0">
              <a:solidFill>
                <a:srgbClr val="002060"/>
              </a:solidFill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002060"/>
                </a:solidFill>
              </a:rPr>
              <a:t>Oilseed Productivity </a:t>
            </a:r>
            <a:r>
              <a:rPr lang="en-US" sz="2000" b="1" dirty="0">
                <a:solidFill>
                  <a:srgbClr val="002060"/>
                </a:solidFill>
              </a:rPr>
              <a:t>Enhancement and Value Chain Development </a:t>
            </a:r>
            <a:r>
              <a:rPr lang="en-US" sz="2000" b="1" dirty="0" smtClean="0">
                <a:solidFill>
                  <a:srgbClr val="002060"/>
                </a:solidFill>
              </a:rPr>
              <a:t>Scheme</a:t>
            </a:r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84965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/>
        </p:nvSpPr>
        <p:spPr>
          <a:xfrm>
            <a:off x="212035" y="269107"/>
            <a:ext cx="8550965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algn="ctr">
              <a:buClr>
                <a:schemeClr val="accent1"/>
              </a:buClr>
              <a:buSzPts val="3000"/>
            </a:pPr>
            <a:r>
              <a:rPr lang="en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Maharashtra </a:t>
            </a:r>
            <a:r>
              <a:rPr lang="en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Issues </a:t>
            </a:r>
            <a:endParaRPr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1143000"/>
            <a:ext cx="8153400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NHM ( 2014-15) norms to be revised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 bag of fertilizer must be printed with Batch number, lot number, month &amp; year of packing for traceability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Guidelines and </a:t>
            </a:r>
            <a:r>
              <a:rPr lang="en-US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programe</a:t>
            </a:r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National mission on natural  farming need to  be issued earliest. So, that it will be implemented in </a:t>
            </a:r>
            <a:r>
              <a:rPr lang="en-US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Kharif</a:t>
            </a:r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ATMA :-</a:t>
            </a:r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Annual allocation is decreasing constantly. So, very little amount is available for new initiatives .</a:t>
            </a:r>
          </a:p>
          <a:p>
            <a:pPr lvl="2"/>
            <a:endParaRPr lang="en-US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BTM/ ATM remuneration limit is not revised since 2018 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752706"/>
              </p:ext>
            </p:extLst>
          </p:nvPr>
        </p:nvGraphicFramePr>
        <p:xfrm>
          <a:off x="4800600" y="4191000"/>
          <a:ext cx="3962400" cy="919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546"/>
                <a:gridCol w="1440872"/>
                <a:gridCol w="162098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Demand  Rs.in Cr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Sanctioned Rs.in Cr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2022-23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60.00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38.00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2023-24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90.00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28.87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461357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0"/>
            <a:ext cx="9209314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181600" y="609600"/>
            <a:ext cx="3688830" cy="101566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6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  <a:endParaRPr lang="en-US" sz="6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079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1561</Words>
  <Application>Microsoft Office PowerPoint</Application>
  <PresentationFormat>On-screen Show (4:3)</PresentationFormat>
  <Paragraphs>791</Paragraphs>
  <Slides>14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Vinaykumar Awate</cp:lastModifiedBy>
  <cp:revision>29</cp:revision>
  <dcterms:created xsi:type="dcterms:W3CDTF">2006-08-16T00:00:00Z</dcterms:created>
  <dcterms:modified xsi:type="dcterms:W3CDTF">2023-05-02T11:01:23Z</dcterms:modified>
</cp:coreProperties>
</file>