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9.xml" ContentType="application/vnd.openxmlformats-officedocument.presentationml.slid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81"/>
  </p:notesMasterIdLst>
  <p:handoutMasterIdLst>
    <p:handoutMasterId r:id="rId82"/>
  </p:handoutMasterIdLst>
  <p:sldIdLst>
    <p:sldId id="695" r:id="rId2"/>
    <p:sldId id="732" r:id="rId3"/>
    <p:sldId id="711" r:id="rId4"/>
    <p:sldId id="726" r:id="rId5"/>
    <p:sldId id="801" r:id="rId6"/>
    <p:sldId id="802" r:id="rId7"/>
    <p:sldId id="723" r:id="rId8"/>
    <p:sldId id="712" r:id="rId9"/>
    <p:sldId id="730" r:id="rId10"/>
    <p:sldId id="729" r:id="rId11"/>
    <p:sldId id="731" r:id="rId12"/>
    <p:sldId id="654" r:id="rId13"/>
    <p:sldId id="734" r:id="rId14"/>
    <p:sldId id="735" r:id="rId15"/>
    <p:sldId id="736" r:id="rId16"/>
    <p:sldId id="737" r:id="rId17"/>
    <p:sldId id="738" r:id="rId18"/>
    <p:sldId id="739" r:id="rId19"/>
    <p:sldId id="740" r:id="rId20"/>
    <p:sldId id="741" r:id="rId21"/>
    <p:sldId id="742" r:id="rId22"/>
    <p:sldId id="743" r:id="rId23"/>
    <p:sldId id="744" r:id="rId24"/>
    <p:sldId id="745" r:id="rId25"/>
    <p:sldId id="746" r:id="rId26"/>
    <p:sldId id="747" r:id="rId27"/>
    <p:sldId id="748" r:id="rId28"/>
    <p:sldId id="749" r:id="rId29"/>
    <p:sldId id="750" r:id="rId30"/>
    <p:sldId id="751" r:id="rId31"/>
    <p:sldId id="752" r:id="rId32"/>
    <p:sldId id="753" r:id="rId33"/>
    <p:sldId id="754" r:id="rId34"/>
    <p:sldId id="755" r:id="rId35"/>
    <p:sldId id="756" r:id="rId36"/>
    <p:sldId id="757" r:id="rId37"/>
    <p:sldId id="758" r:id="rId38"/>
    <p:sldId id="759" r:id="rId39"/>
    <p:sldId id="760" r:id="rId40"/>
    <p:sldId id="761" r:id="rId41"/>
    <p:sldId id="762" r:id="rId42"/>
    <p:sldId id="763" r:id="rId43"/>
    <p:sldId id="764" r:id="rId44"/>
    <p:sldId id="765" r:id="rId45"/>
    <p:sldId id="766" r:id="rId46"/>
    <p:sldId id="767" r:id="rId47"/>
    <p:sldId id="768" r:id="rId48"/>
    <p:sldId id="769" r:id="rId49"/>
    <p:sldId id="770" r:id="rId50"/>
    <p:sldId id="771" r:id="rId51"/>
    <p:sldId id="772" r:id="rId52"/>
    <p:sldId id="773" r:id="rId53"/>
    <p:sldId id="774" r:id="rId54"/>
    <p:sldId id="775" r:id="rId55"/>
    <p:sldId id="776" r:id="rId56"/>
    <p:sldId id="777" r:id="rId57"/>
    <p:sldId id="778" r:id="rId58"/>
    <p:sldId id="779" r:id="rId59"/>
    <p:sldId id="780" r:id="rId60"/>
    <p:sldId id="781" r:id="rId61"/>
    <p:sldId id="782" r:id="rId62"/>
    <p:sldId id="783" r:id="rId63"/>
    <p:sldId id="784" r:id="rId64"/>
    <p:sldId id="785" r:id="rId65"/>
    <p:sldId id="786" r:id="rId66"/>
    <p:sldId id="787" r:id="rId67"/>
    <p:sldId id="788" r:id="rId68"/>
    <p:sldId id="789" r:id="rId69"/>
    <p:sldId id="790" r:id="rId70"/>
    <p:sldId id="791" r:id="rId71"/>
    <p:sldId id="792" r:id="rId72"/>
    <p:sldId id="793" r:id="rId73"/>
    <p:sldId id="794" r:id="rId74"/>
    <p:sldId id="795" r:id="rId75"/>
    <p:sldId id="796" r:id="rId76"/>
    <p:sldId id="797" r:id="rId77"/>
    <p:sldId id="798" r:id="rId78"/>
    <p:sldId id="799" r:id="rId79"/>
    <p:sldId id="800" r:id="rId80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08">
          <p15:clr>
            <a:srgbClr val="A4A3A4"/>
          </p15:clr>
        </p15:guide>
        <p15:guide id="2" pos="2103">
          <p15:clr>
            <a:srgbClr val="A4A3A4"/>
          </p15:clr>
        </p15:guide>
        <p15:guide id="3" orient="horz" pos="2932">
          <p15:clr>
            <a:srgbClr val="A4A3A4"/>
          </p15:clr>
        </p15:guide>
        <p15:guide id="4" pos="2193">
          <p15:clr>
            <a:srgbClr val="A4A3A4"/>
          </p15:clr>
        </p15:guide>
        <p15:guide id="5" orient="horz" pos="3294">
          <p15:clr>
            <a:srgbClr val="A4A3A4"/>
          </p15:clr>
        </p15:guide>
        <p15:guide id="6" pos="201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B4B11"/>
    <a:srgbClr val="192C0A"/>
    <a:srgbClr val="21D8E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544" autoAdjust="0"/>
    <p:restoredTop sz="91183" autoAdjust="0"/>
  </p:normalViewPr>
  <p:slideViewPr>
    <p:cSldViewPr>
      <p:cViewPr varScale="1">
        <p:scale>
          <a:sx n="111" d="100"/>
          <a:sy n="111" d="100"/>
        </p:scale>
        <p:origin x="-1818" y="-84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0" y="68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648" y="-68"/>
      </p:cViewPr>
      <p:guideLst>
        <p:guide orient="horz" pos="2909"/>
        <p:guide orient="horz" pos="2745"/>
        <p:guide orient="horz" pos="3084"/>
        <p:guide pos="2170"/>
        <p:guide pos="2263"/>
        <p:guide pos="208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D0791D-8D3D-4903-BD80-C89CCDF6A63E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08F0C65-3B5F-4520-BB9D-522056AE7FE5}">
      <dgm:prSet phldrT="[Text]" custT="1"/>
      <dgm:spPr/>
      <dgm:t>
        <a:bodyPr/>
        <a:lstStyle/>
        <a:p>
          <a:r>
            <a:rPr lang="en-US" sz="1000" b="1" dirty="0" err="1">
              <a:latin typeface="Arial" pitchFamily="34" charset="0"/>
              <a:cs typeface="Arial" pitchFamily="34" charset="0"/>
            </a:rPr>
            <a:t>Krishionnati</a:t>
          </a:r>
          <a:r>
            <a:rPr lang="en-US" sz="1000" b="1" dirty="0">
              <a:latin typeface="Arial" pitchFamily="34" charset="0"/>
              <a:cs typeface="Arial" pitchFamily="34" charset="0"/>
            </a:rPr>
            <a:t> </a:t>
          </a:r>
          <a:r>
            <a:rPr lang="en-US" sz="1000" b="1" dirty="0" err="1">
              <a:latin typeface="Arial" pitchFamily="34" charset="0"/>
              <a:cs typeface="Arial" pitchFamily="34" charset="0"/>
            </a:rPr>
            <a:t>Yojana</a:t>
          </a:r>
          <a:r>
            <a:rPr lang="en-US" sz="1000" b="1" dirty="0">
              <a:latin typeface="Arial" pitchFamily="34" charset="0"/>
              <a:cs typeface="Arial" pitchFamily="34" charset="0"/>
            </a:rPr>
            <a:t> (4138)</a:t>
          </a:r>
        </a:p>
      </dgm:t>
    </dgm:pt>
    <dgm:pt modelId="{F219CBB1-907F-47FB-8318-6E106FE82280}" type="parTrans" cxnId="{33D91688-7765-4EF9-9F02-27CAC6FE33E6}">
      <dgm:prSet/>
      <dgm:spPr/>
      <dgm:t>
        <a:bodyPr/>
        <a:lstStyle/>
        <a:p>
          <a:endParaRPr lang="en-US"/>
        </a:p>
      </dgm:t>
    </dgm:pt>
    <dgm:pt modelId="{DECB2A47-CBA6-4F43-8B43-1388CF7D69AF}" type="sibTrans" cxnId="{33D91688-7765-4EF9-9F02-27CAC6FE33E6}">
      <dgm:prSet/>
      <dgm:spPr/>
      <dgm:t>
        <a:bodyPr/>
        <a:lstStyle/>
        <a:p>
          <a:endParaRPr lang="en-US"/>
        </a:p>
      </dgm:t>
    </dgm:pt>
    <dgm:pt modelId="{49B5A628-6940-4534-A7F1-3171EB035BF9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Agriculture Marketing (9006)</a:t>
          </a:r>
        </a:p>
      </dgm:t>
    </dgm:pt>
    <dgm:pt modelId="{BD534BFE-D499-4BFB-8D13-73A6C2FAC526}" type="parTrans" cxnId="{DB291E88-2191-46A0-A6DF-831575F682E2}">
      <dgm:prSet/>
      <dgm:spPr/>
      <dgm:t>
        <a:bodyPr/>
        <a:lstStyle/>
        <a:p>
          <a:endParaRPr lang="en-US"/>
        </a:p>
      </dgm:t>
    </dgm:pt>
    <dgm:pt modelId="{619BC18E-96C6-4A96-B4B3-E42933625E3D}" type="sibTrans" cxnId="{DB291E88-2191-46A0-A6DF-831575F682E2}">
      <dgm:prSet/>
      <dgm:spPr/>
      <dgm:t>
        <a:bodyPr/>
        <a:lstStyle/>
        <a:p>
          <a:endParaRPr lang="en-US"/>
        </a:p>
      </dgm:t>
    </dgm:pt>
    <dgm:pt modelId="{4CE4B8D5-D7D3-41DC-B559-63BD7D8649BA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Agriculture Extension (9144)</a:t>
          </a:r>
        </a:p>
      </dgm:t>
    </dgm:pt>
    <dgm:pt modelId="{E607F45F-7A91-49E0-9539-025B0245C9BB}" type="parTrans" cxnId="{8C4D2DFF-84CC-4A65-9EDC-CE76F8426306}">
      <dgm:prSet/>
      <dgm:spPr/>
      <dgm:t>
        <a:bodyPr/>
        <a:lstStyle/>
        <a:p>
          <a:endParaRPr lang="en-US"/>
        </a:p>
      </dgm:t>
    </dgm:pt>
    <dgm:pt modelId="{02528BB5-927F-4864-B62F-11D802299294}" type="sibTrans" cxnId="{8C4D2DFF-84CC-4A65-9EDC-CE76F8426306}">
      <dgm:prSet/>
      <dgm:spPr/>
      <dgm:t>
        <a:bodyPr/>
        <a:lstStyle/>
        <a:p>
          <a:endParaRPr lang="en-US"/>
        </a:p>
      </dgm:t>
    </dgm:pt>
    <dgm:pt modelId="{F685BECD-0964-4F4D-9EAE-B872550B0075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Digital Agriculture (9423)</a:t>
          </a:r>
        </a:p>
      </dgm:t>
    </dgm:pt>
    <dgm:pt modelId="{B05767BB-78B9-49CF-A377-56F86E7A6D46}" type="parTrans" cxnId="{2AC71127-8896-44B0-A484-9DD38313F53C}">
      <dgm:prSet/>
      <dgm:spPr/>
      <dgm:t>
        <a:bodyPr/>
        <a:lstStyle/>
        <a:p>
          <a:endParaRPr lang="en-US"/>
        </a:p>
      </dgm:t>
    </dgm:pt>
    <dgm:pt modelId="{7584F60D-7712-427D-A8DC-831236C81342}" type="sibTrans" cxnId="{2AC71127-8896-44B0-A484-9DD38313F53C}">
      <dgm:prSet/>
      <dgm:spPr/>
      <dgm:t>
        <a:bodyPr/>
        <a:lstStyle/>
        <a:p>
          <a:endParaRPr lang="en-US"/>
        </a:p>
      </dgm:t>
    </dgm:pt>
    <dgm:pt modelId="{1CD92B4E-1328-4BD0-AC46-DC2ECB26500C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Edible Oil-</a:t>
          </a:r>
          <a:r>
            <a:rPr lang="en-US" sz="1000" b="1" dirty="0" err="1">
              <a:latin typeface="Arial" pitchFamily="34" charset="0"/>
              <a:cs typeface="Arial" pitchFamily="34" charset="0"/>
            </a:rPr>
            <a:t>Oilpalm</a:t>
          </a:r>
          <a:r>
            <a:rPr lang="en-US" sz="1000" b="1" dirty="0">
              <a:latin typeface="Arial" pitchFamily="34" charset="0"/>
              <a:cs typeface="Arial" pitchFamily="34" charset="0"/>
            </a:rPr>
            <a:t> (4033)</a:t>
          </a:r>
        </a:p>
      </dgm:t>
    </dgm:pt>
    <dgm:pt modelId="{CCEB9363-C02E-4B04-99FE-F747AED92D32}" type="parTrans" cxnId="{9368081F-A152-45A5-9A62-23F65AD16127}">
      <dgm:prSet/>
      <dgm:spPr/>
      <dgm:t>
        <a:bodyPr/>
        <a:lstStyle/>
        <a:p>
          <a:endParaRPr lang="en-US"/>
        </a:p>
      </dgm:t>
    </dgm:pt>
    <dgm:pt modelId="{46263CB6-699C-4EC2-9D2A-39F4A845E183}" type="sibTrans" cxnId="{9368081F-A152-45A5-9A62-23F65AD16127}">
      <dgm:prSet/>
      <dgm:spPr/>
      <dgm:t>
        <a:bodyPr/>
        <a:lstStyle/>
        <a:p>
          <a:endParaRPr lang="en-US"/>
        </a:p>
      </dgm:t>
    </dgm:pt>
    <dgm:pt modelId="{BDCB70A0-69B9-4E1B-A3F3-B8CA765F9B8A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Edible Oil-Oilseeds (4034)</a:t>
          </a:r>
        </a:p>
      </dgm:t>
    </dgm:pt>
    <dgm:pt modelId="{308EC933-8A14-4534-A8A4-811F878FEC59}" type="parTrans" cxnId="{64D0ED98-CF96-42B9-B068-1515F1ABDCBD}">
      <dgm:prSet/>
      <dgm:spPr/>
      <dgm:t>
        <a:bodyPr/>
        <a:lstStyle/>
        <a:p>
          <a:endParaRPr lang="en-US"/>
        </a:p>
      </dgm:t>
    </dgm:pt>
    <dgm:pt modelId="{7744F3D2-F93A-442C-9DAA-6508880D6514}" type="sibTrans" cxnId="{64D0ED98-CF96-42B9-B068-1515F1ABDCBD}">
      <dgm:prSet/>
      <dgm:spPr/>
      <dgm:t>
        <a:bodyPr/>
        <a:lstStyle/>
        <a:p>
          <a:endParaRPr lang="en-US"/>
        </a:p>
      </dgm:t>
    </dgm:pt>
    <dgm:pt modelId="{9C7DAF90-79B2-470E-BA2B-201C5E4E8BFD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Food and Nutrition Security (9140)</a:t>
          </a:r>
        </a:p>
      </dgm:t>
    </dgm:pt>
    <dgm:pt modelId="{0AE10078-49A6-4940-9FBF-F8597F6032C9}" type="parTrans" cxnId="{415045D7-7C0C-419B-8C84-EEB0897466EC}">
      <dgm:prSet/>
      <dgm:spPr/>
      <dgm:t>
        <a:bodyPr/>
        <a:lstStyle/>
        <a:p>
          <a:endParaRPr lang="en-US"/>
        </a:p>
      </dgm:t>
    </dgm:pt>
    <dgm:pt modelId="{69AA8D6F-9029-45B0-9E65-54898A7DD762}" type="sibTrans" cxnId="{415045D7-7C0C-419B-8C84-EEB0897466EC}">
      <dgm:prSet/>
      <dgm:spPr/>
      <dgm:t>
        <a:bodyPr/>
        <a:lstStyle/>
        <a:p>
          <a:endParaRPr lang="en-US"/>
        </a:p>
      </dgm:t>
    </dgm:pt>
    <dgm:pt modelId="{3E00F226-68E2-4BBA-B9B2-B5867FDF504F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Integrated Development of Horticulture (9120)</a:t>
          </a:r>
        </a:p>
      </dgm:t>
    </dgm:pt>
    <dgm:pt modelId="{14718B83-1945-4A90-A91A-90D1FFCC3377}" type="parTrans" cxnId="{E84D44FD-C1C3-4048-B5A9-947554BB1163}">
      <dgm:prSet/>
      <dgm:spPr/>
      <dgm:t>
        <a:bodyPr/>
        <a:lstStyle/>
        <a:p>
          <a:endParaRPr lang="en-US"/>
        </a:p>
      </dgm:t>
    </dgm:pt>
    <dgm:pt modelId="{A9D7C263-5C95-4459-B5B8-B96436ED09C7}" type="sibTrans" cxnId="{E84D44FD-C1C3-4048-B5A9-947554BB1163}">
      <dgm:prSet/>
      <dgm:spPr/>
      <dgm:t>
        <a:bodyPr/>
        <a:lstStyle/>
        <a:p>
          <a:endParaRPr lang="en-US"/>
        </a:p>
      </dgm:t>
    </dgm:pt>
    <dgm:pt modelId="{098DD83A-BF78-4F97-A8B8-0166A654B747}">
      <dgm:prSet phldrT="[Text]" custT="1"/>
      <dgm:spPr/>
      <dgm:t>
        <a:bodyPr/>
        <a:lstStyle/>
        <a:p>
          <a:r>
            <a:rPr lang="en-US" sz="1000" b="1" dirty="0">
              <a:latin typeface="Arial" pitchFamily="34" charset="0"/>
              <a:cs typeface="Arial" pitchFamily="34" charset="0"/>
            </a:rPr>
            <a:t>Organic Value Chain Development of NE Region (4035)</a:t>
          </a:r>
        </a:p>
      </dgm:t>
    </dgm:pt>
    <dgm:pt modelId="{3DE55123-EFC6-41AF-9156-47525512267B}" type="parTrans" cxnId="{8F4EA38D-6638-42CD-B14B-E762AF531F03}">
      <dgm:prSet/>
      <dgm:spPr/>
      <dgm:t>
        <a:bodyPr/>
        <a:lstStyle/>
        <a:p>
          <a:endParaRPr lang="en-US"/>
        </a:p>
      </dgm:t>
    </dgm:pt>
    <dgm:pt modelId="{19620011-AF19-4BAB-BD9D-8102056DF8F3}" type="sibTrans" cxnId="{8F4EA38D-6638-42CD-B14B-E762AF531F03}">
      <dgm:prSet/>
      <dgm:spPr/>
      <dgm:t>
        <a:bodyPr/>
        <a:lstStyle/>
        <a:p>
          <a:endParaRPr lang="en-US"/>
        </a:p>
      </dgm:t>
    </dgm:pt>
    <dgm:pt modelId="{B6B87F93-A7A2-4490-8E13-0EEC55F2066B}" type="pres">
      <dgm:prSet presAssocID="{CCD0791D-8D3D-4903-BD80-C89CCDF6A63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8300A63-F550-4E73-8EEC-ED4FB1386F0A}" type="pres">
      <dgm:prSet presAssocID="{CCD0791D-8D3D-4903-BD80-C89CCDF6A63E}" presName="hierFlow" presStyleCnt="0"/>
      <dgm:spPr/>
    </dgm:pt>
    <dgm:pt modelId="{C35C5319-8989-4BF4-8319-C8DF3934E3F3}" type="pres">
      <dgm:prSet presAssocID="{CCD0791D-8D3D-4903-BD80-C89CCDF6A63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62659936-008B-4153-8EE6-21FD5DE7AD29}" type="pres">
      <dgm:prSet presAssocID="{008F0C65-3B5F-4520-BB9D-522056AE7FE5}" presName="Name14" presStyleCnt="0"/>
      <dgm:spPr/>
    </dgm:pt>
    <dgm:pt modelId="{BA6DA6AF-5329-45C0-87E7-545BEFA5940A}" type="pres">
      <dgm:prSet presAssocID="{008F0C65-3B5F-4520-BB9D-522056AE7FE5}" presName="level1Shape" presStyleLbl="node0" presStyleIdx="0" presStyleCnt="1" custScaleX="2000000" custScaleY="2000000" custLinFactY="-660874" custLinFactNeighborY="-7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A880CD-3181-461E-B5ED-AAA5E9016CD2}" type="pres">
      <dgm:prSet presAssocID="{008F0C65-3B5F-4520-BB9D-522056AE7FE5}" presName="hierChild2" presStyleCnt="0"/>
      <dgm:spPr/>
    </dgm:pt>
    <dgm:pt modelId="{3266EB86-569E-4581-B5CA-D3F0F33C9659}" type="pres">
      <dgm:prSet presAssocID="{BD534BFE-D499-4BFB-8D13-73A6C2FAC526}" presName="Name19" presStyleLbl="parChTrans1D2" presStyleIdx="0" presStyleCnt="8" custSzX="4728094" custSzY="265954"/>
      <dgm:spPr/>
      <dgm:t>
        <a:bodyPr/>
        <a:lstStyle/>
        <a:p>
          <a:endParaRPr lang="en-US"/>
        </a:p>
      </dgm:t>
    </dgm:pt>
    <dgm:pt modelId="{2547559A-E302-4083-A8A8-F25FA6C82E8E}" type="pres">
      <dgm:prSet presAssocID="{49B5A628-6940-4534-A7F1-3171EB035BF9}" presName="Name21" presStyleCnt="0"/>
      <dgm:spPr/>
    </dgm:pt>
    <dgm:pt modelId="{49DA8D79-2D88-4CD0-8DE3-A72453E162BA}" type="pres">
      <dgm:prSet presAssocID="{49B5A628-6940-4534-A7F1-3171EB035BF9}" presName="level2Shape" presStyleLbl="node2" presStyleIdx="0" presStyleCnt="8" custScaleX="2000000" custScaleY="2000000"/>
      <dgm:spPr/>
      <dgm:t>
        <a:bodyPr/>
        <a:lstStyle/>
        <a:p>
          <a:endParaRPr lang="en-US"/>
        </a:p>
      </dgm:t>
    </dgm:pt>
    <dgm:pt modelId="{177BCD78-88AD-481C-85D0-CA27D655DE05}" type="pres">
      <dgm:prSet presAssocID="{49B5A628-6940-4534-A7F1-3171EB035BF9}" presName="hierChild3" presStyleCnt="0"/>
      <dgm:spPr/>
    </dgm:pt>
    <dgm:pt modelId="{7378E08E-3CAC-4D0B-9EE6-941E53491C83}" type="pres">
      <dgm:prSet presAssocID="{E607F45F-7A91-49E0-9539-025B0245C9BB}" presName="Name19" presStyleLbl="parChTrans1D2" presStyleIdx="1" presStyleCnt="8" custSzX="3457747" custSzY="265954"/>
      <dgm:spPr/>
      <dgm:t>
        <a:bodyPr/>
        <a:lstStyle/>
        <a:p>
          <a:endParaRPr lang="en-US"/>
        </a:p>
      </dgm:t>
    </dgm:pt>
    <dgm:pt modelId="{D39B8522-65AD-4881-8702-4B3D98288E1B}" type="pres">
      <dgm:prSet presAssocID="{4CE4B8D5-D7D3-41DC-B559-63BD7D8649BA}" presName="Name21" presStyleCnt="0"/>
      <dgm:spPr/>
    </dgm:pt>
    <dgm:pt modelId="{9F1A61DF-0FDF-4487-8085-084EF7D9F3C5}" type="pres">
      <dgm:prSet presAssocID="{4CE4B8D5-D7D3-41DC-B559-63BD7D8649BA}" presName="level2Shape" presStyleLbl="node2" presStyleIdx="1" presStyleCnt="8" custScaleX="2000000" custScaleY="2000000"/>
      <dgm:spPr/>
      <dgm:t>
        <a:bodyPr/>
        <a:lstStyle/>
        <a:p>
          <a:endParaRPr lang="en-US"/>
        </a:p>
      </dgm:t>
    </dgm:pt>
    <dgm:pt modelId="{AE921C60-8E0D-4332-BE86-CF2E83F9F470}" type="pres">
      <dgm:prSet presAssocID="{4CE4B8D5-D7D3-41DC-B559-63BD7D8649BA}" presName="hierChild3" presStyleCnt="0"/>
      <dgm:spPr/>
    </dgm:pt>
    <dgm:pt modelId="{AA931CF6-869B-496A-A400-DBD0DF068B61}" type="pres">
      <dgm:prSet presAssocID="{B05767BB-78B9-49CF-A377-56F86E7A6D46}" presName="Name19" presStyleLbl="parChTrans1D2" presStyleIdx="2" presStyleCnt="8" custSzX="2187400" custSzY="265954"/>
      <dgm:spPr/>
      <dgm:t>
        <a:bodyPr/>
        <a:lstStyle/>
        <a:p>
          <a:endParaRPr lang="en-US"/>
        </a:p>
      </dgm:t>
    </dgm:pt>
    <dgm:pt modelId="{A620B9A0-67CE-4191-A702-72B17FFEE89A}" type="pres">
      <dgm:prSet presAssocID="{F685BECD-0964-4F4D-9EAE-B872550B0075}" presName="Name21" presStyleCnt="0"/>
      <dgm:spPr/>
    </dgm:pt>
    <dgm:pt modelId="{BF6EA49A-84CB-4079-A28D-44E11A27F149}" type="pres">
      <dgm:prSet presAssocID="{F685BECD-0964-4F4D-9EAE-B872550B0075}" presName="level2Shape" presStyleLbl="node2" presStyleIdx="2" presStyleCnt="8" custScaleX="2000000" custScaleY="2000000"/>
      <dgm:spPr/>
      <dgm:t>
        <a:bodyPr/>
        <a:lstStyle/>
        <a:p>
          <a:endParaRPr lang="en-US"/>
        </a:p>
      </dgm:t>
    </dgm:pt>
    <dgm:pt modelId="{75472738-8EF9-44B7-8963-2311EFE0FE4F}" type="pres">
      <dgm:prSet presAssocID="{F685BECD-0964-4F4D-9EAE-B872550B0075}" presName="hierChild3" presStyleCnt="0"/>
      <dgm:spPr/>
    </dgm:pt>
    <dgm:pt modelId="{78155AD6-C3B3-41B8-A963-EF47DE4A1BC6}" type="pres">
      <dgm:prSet presAssocID="{CCEB9363-C02E-4B04-99FE-F747AED92D32}" presName="Name19" presStyleLbl="parChTrans1D2" presStyleIdx="3" presStyleCnt="8" custSzX="917053" custSzY="265954"/>
      <dgm:spPr/>
      <dgm:t>
        <a:bodyPr/>
        <a:lstStyle/>
        <a:p>
          <a:endParaRPr lang="en-US"/>
        </a:p>
      </dgm:t>
    </dgm:pt>
    <dgm:pt modelId="{EA4C91A0-9795-4424-9755-F2B5D67E7F21}" type="pres">
      <dgm:prSet presAssocID="{1CD92B4E-1328-4BD0-AC46-DC2ECB26500C}" presName="Name21" presStyleCnt="0"/>
      <dgm:spPr/>
    </dgm:pt>
    <dgm:pt modelId="{56D37665-0236-40AF-88F1-77E621650636}" type="pres">
      <dgm:prSet presAssocID="{1CD92B4E-1328-4BD0-AC46-DC2ECB26500C}" presName="level2Shape" presStyleLbl="node2" presStyleIdx="3" presStyleCnt="8" custScaleX="2000000" custScaleY="2000000"/>
      <dgm:spPr/>
      <dgm:t>
        <a:bodyPr/>
        <a:lstStyle/>
        <a:p>
          <a:endParaRPr lang="en-US"/>
        </a:p>
      </dgm:t>
    </dgm:pt>
    <dgm:pt modelId="{758F417A-F7DF-4D86-BB0B-25F696DDAB31}" type="pres">
      <dgm:prSet presAssocID="{1CD92B4E-1328-4BD0-AC46-DC2ECB26500C}" presName="hierChild3" presStyleCnt="0"/>
      <dgm:spPr/>
    </dgm:pt>
    <dgm:pt modelId="{1C180137-2B9C-411A-9888-BC36E2E330C9}" type="pres">
      <dgm:prSet presAssocID="{308EC933-8A14-4534-A8A4-811F878FEC59}" presName="Name19" presStyleLbl="parChTrans1D2" presStyleIdx="4" presStyleCnt="8" custSzX="353293" custSzY="265954"/>
      <dgm:spPr/>
      <dgm:t>
        <a:bodyPr/>
        <a:lstStyle/>
        <a:p>
          <a:endParaRPr lang="en-US"/>
        </a:p>
      </dgm:t>
    </dgm:pt>
    <dgm:pt modelId="{828C617B-33BC-4BF3-B1D0-379A106D2BCA}" type="pres">
      <dgm:prSet presAssocID="{BDCB70A0-69B9-4E1B-A3F3-B8CA765F9B8A}" presName="Name21" presStyleCnt="0"/>
      <dgm:spPr/>
    </dgm:pt>
    <dgm:pt modelId="{21603D3E-7E33-4514-8D80-E4F4503159FA}" type="pres">
      <dgm:prSet presAssocID="{BDCB70A0-69B9-4E1B-A3F3-B8CA765F9B8A}" presName="level2Shape" presStyleLbl="node2" presStyleIdx="4" presStyleCnt="8" custScaleX="2000000" custScaleY="2000000"/>
      <dgm:spPr/>
      <dgm:t>
        <a:bodyPr/>
        <a:lstStyle/>
        <a:p>
          <a:endParaRPr lang="en-US"/>
        </a:p>
      </dgm:t>
    </dgm:pt>
    <dgm:pt modelId="{498AE907-5A1E-4EB8-8ACE-3E039C166FEB}" type="pres">
      <dgm:prSet presAssocID="{BDCB70A0-69B9-4E1B-A3F3-B8CA765F9B8A}" presName="hierChild3" presStyleCnt="0"/>
      <dgm:spPr/>
    </dgm:pt>
    <dgm:pt modelId="{7C88E949-A749-4258-A26D-CEF3E5102330}" type="pres">
      <dgm:prSet presAssocID="{0AE10078-49A6-4940-9FBF-F8597F6032C9}" presName="Name19" presStyleLbl="parChTrans1D2" presStyleIdx="5" presStyleCnt="8" custSzX="1623640" custSzY="265954"/>
      <dgm:spPr/>
      <dgm:t>
        <a:bodyPr/>
        <a:lstStyle/>
        <a:p>
          <a:endParaRPr lang="en-US"/>
        </a:p>
      </dgm:t>
    </dgm:pt>
    <dgm:pt modelId="{EC43A1BD-9D7A-453F-AEEC-1AA61638230E}" type="pres">
      <dgm:prSet presAssocID="{9C7DAF90-79B2-470E-BA2B-201C5E4E8BFD}" presName="Name21" presStyleCnt="0"/>
      <dgm:spPr/>
    </dgm:pt>
    <dgm:pt modelId="{218D09B0-7B99-4484-8196-73729BB39651}" type="pres">
      <dgm:prSet presAssocID="{9C7DAF90-79B2-470E-BA2B-201C5E4E8BFD}" presName="level2Shape" presStyleLbl="node2" presStyleIdx="5" presStyleCnt="8" custScaleX="2000000" custScaleY="2000000"/>
      <dgm:spPr/>
      <dgm:t>
        <a:bodyPr/>
        <a:lstStyle/>
        <a:p>
          <a:endParaRPr lang="en-US"/>
        </a:p>
      </dgm:t>
    </dgm:pt>
    <dgm:pt modelId="{E6EEFDEC-2E0D-4F68-8298-D905708BB824}" type="pres">
      <dgm:prSet presAssocID="{9C7DAF90-79B2-470E-BA2B-201C5E4E8BFD}" presName="hierChild3" presStyleCnt="0"/>
      <dgm:spPr/>
    </dgm:pt>
    <dgm:pt modelId="{2BEDB4BC-2205-4EC3-AB90-BC5002885A37}" type="pres">
      <dgm:prSet presAssocID="{14718B83-1945-4A90-A91A-90D1FFCC3377}" presName="Name19" presStyleLbl="parChTrans1D2" presStyleIdx="6" presStyleCnt="8" custSzX="2893987" custSzY="265954"/>
      <dgm:spPr/>
      <dgm:t>
        <a:bodyPr/>
        <a:lstStyle/>
        <a:p>
          <a:endParaRPr lang="en-US"/>
        </a:p>
      </dgm:t>
    </dgm:pt>
    <dgm:pt modelId="{A947AD0F-8862-4EE4-A169-E94EB61E6DD6}" type="pres">
      <dgm:prSet presAssocID="{3E00F226-68E2-4BBA-B9B2-B5867FDF504F}" presName="Name21" presStyleCnt="0"/>
      <dgm:spPr/>
    </dgm:pt>
    <dgm:pt modelId="{4FBDD941-71FF-4083-A840-CFFE80A822A9}" type="pres">
      <dgm:prSet presAssocID="{3E00F226-68E2-4BBA-B9B2-B5867FDF504F}" presName="level2Shape" presStyleLbl="node2" presStyleIdx="6" presStyleCnt="8" custScaleX="2000000" custScaleY="2000000"/>
      <dgm:spPr/>
      <dgm:t>
        <a:bodyPr/>
        <a:lstStyle/>
        <a:p>
          <a:endParaRPr lang="en-US"/>
        </a:p>
      </dgm:t>
    </dgm:pt>
    <dgm:pt modelId="{B73B906B-B0ED-4221-BA9A-528AF3E67DA1}" type="pres">
      <dgm:prSet presAssocID="{3E00F226-68E2-4BBA-B9B2-B5867FDF504F}" presName="hierChild3" presStyleCnt="0"/>
      <dgm:spPr/>
    </dgm:pt>
    <dgm:pt modelId="{91473A2A-E17D-4B31-9787-76EE03794B66}" type="pres">
      <dgm:prSet presAssocID="{3DE55123-EFC6-41AF-9156-47525512267B}" presName="Name19" presStyleLbl="parChTrans1D2" presStyleIdx="7" presStyleCnt="8" custSzX="4446214" custSzY="265954"/>
      <dgm:spPr/>
      <dgm:t>
        <a:bodyPr/>
        <a:lstStyle/>
        <a:p>
          <a:endParaRPr lang="en-US"/>
        </a:p>
      </dgm:t>
    </dgm:pt>
    <dgm:pt modelId="{DB2B682F-04A1-43C0-A881-937C353CB35E}" type="pres">
      <dgm:prSet presAssocID="{098DD83A-BF78-4F97-A8B8-0166A654B747}" presName="Name21" presStyleCnt="0"/>
      <dgm:spPr/>
    </dgm:pt>
    <dgm:pt modelId="{123F0D8E-BECD-4633-A563-F780B81362DA}" type="pres">
      <dgm:prSet presAssocID="{098DD83A-BF78-4F97-A8B8-0166A654B747}" presName="level2Shape" presStyleLbl="node2" presStyleIdx="7" presStyleCnt="8" custScaleX="2000000" custScaleY="2000000"/>
      <dgm:spPr/>
      <dgm:t>
        <a:bodyPr/>
        <a:lstStyle/>
        <a:p>
          <a:endParaRPr lang="en-US"/>
        </a:p>
      </dgm:t>
    </dgm:pt>
    <dgm:pt modelId="{0B072F04-32AF-486C-AAFB-16F9F0E0E7AC}" type="pres">
      <dgm:prSet presAssocID="{098DD83A-BF78-4F97-A8B8-0166A654B747}" presName="hierChild3" presStyleCnt="0"/>
      <dgm:spPr/>
    </dgm:pt>
    <dgm:pt modelId="{2DA92EC6-EA29-439C-9062-5DFCF36B436F}" type="pres">
      <dgm:prSet presAssocID="{CCD0791D-8D3D-4903-BD80-C89CCDF6A63E}" presName="bgShapesFlow" presStyleCnt="0"/>
      <dgm:spPr/>
    </dgm:pt>
  </dgm:ptLst>
  <dgm:cxnLst>
    <dgm:cxn modelId="{E84D44FD-C1C3-4048-B5A9-947554BB1163}" srcId="{008F0C65-3B5F-4520-BB9D-522056AE7FE5}" destId="{3E00F226-68E2-4BBA-B9B2-B5867FDF504F}" srcOrd="6" destOrd="0" parTransId="{14718B83-1945-4A90-A91A-90D1FFCC3377}" sibTransId="{A9D7C263-5C95-4459-B5B8-B96436ED09C7}"/>
    <dgm:cxn modelId="{EFB46EA2-8E22-4D18-B089-728A8CCCDEEE}" type="presOf" srcId="{008F0C65-3B5F-4520-BB9D-522056AE7FE5}" destId="{BA6DA6AF-5329-45C0-87E7-545BEFA5940A}" srcOrd="0" destOrd="0" presId="urn:microsoft.com/office/officeart/2005/8/layout/hierarchy6"/>
    <dgm:cxn modelId="{8CC8C42C-D8A4-408E-993F-1AF63BDA367C}" type="presOf" srcId="{3E00F226-68E2-4BBA-B9B2-B5867FDF504F}" destId="{4FBDD941-71FF-4083-A840-CFFE80A822A9}" srcOrd="0" destOrd="0" presId="urn:microsoft.com/office/officeart/2005/8/layout/hierarchy6"/>
    <dgm:cxn modelId="{54B34F76-A1E3-4914-9464-9F2FD8C28C5F}" type="presOf" srcId="{1CD92B4E-1328-4BD0-AC46-DC2ECB26500C}" destId="{56D37665-0236-40AF-88F1-77E621650636}" srcOrd="0" destOrd="0" presId="urn:microsoft.com/office/officeart/2005/8/layout/hierarchy6"/>
    <dgm:cxn modelId="{33D91688-7765-4EF9-9F02-27CAC6FE33E6}" srcId="{CCD0791D-8D3D-4903-BD80-C89CCDF6A63E}" destId="{008F0C65-3B5F-4520-BB9D-522056AE7FE5}" srcOrd="0" destOrd="0" parTransId="{F219CBB1-907F-47FB-8318-6E106FE82280}" sibTransId="{DECB2A47-CBA6-4F43-8B43-1388CF7D69AF}"/>
    <dgm:cxn modelId="{BBA209AD-C000-4CE8-A920-90D0ABD38AD0}" type="presOf" srcId="{E607F45F-7A91-49E0-9539-025B0245C9BB}" destId="{7378E08E-3CAC-4D0B-9EE6-941E53491C83}" srcOrd="0" destOrd="0" presId="urn:microsoft.com/office/officeart/2005/8/layout/hierarchy6"/>
    <dgm:cxn modelId="{99D58DD7-54F5-4212-9B5A-250A5BA11466}" type="presOf" srcId="{CCD0791D-8D3D-4903-BD80-C89CCDF6A63E}" destId="{B6B87F93-A7A2-4490-8E13-0EEC55F2066B}" srcOrd="0" destOrd="0" presId="urn:microsoft.com/office/officeart/2005/8/layout/hierarchy6"/>
    <dgm:cxn modelId="{8F4EA38D-6638-42CD-B14B-E762AF531F03}" srcId="{008F0C65-3B5F-4520-BB9D-522056AE7FE5}" destId="{098DD83A-BF78-4F97-A8B8-0166A654B747}" srcOrd="7" destOrd="0" parTransId="{3DE55123-EFC6-41AF-9156-47525512267B}" sibTransId="{19620011-AF19-4BAB-BD9D-8102056DF8F3}"/>
    <dgm:cxn modelId="{DB291E88-2191-46A0-A6DF-831575F682E2}" srcId="{008F0C65-3B5F-4520-BB9D-522056AE7FE5}" destId="{49B5A628-6940-4534-A7F1-3171EB035BF9}" srcOrd="0" destOrd="0" parTransId="{BD534BFE-D499-4BFB-8D13-73A6C2FAC526}" sibTransId="{619BC18E-96C6-4A96-B4B3-E42933625E3D}"/>
    <dgm:cxn modelId="{73DE737A-AEF5-40BF-895B-2C14B9F574E1}" type="presOf" srcId="{F685BECD-0964-4F4D-9EAE-B872550B0075}" destId="{BF6EA49A-84CB-4079-A28D-44E11A27F149}" srcOrd="0" destOrd="0" presId="urn:microsoft.com/office/officeart/2005/8/layout/hierarchy6"/>
    <dgm:cxn modelId="{B2352536-0E58-4DDE-B184-3C20F6CF5905}" type="presOf" srcId="{4CE4B8D5-D7D3-41DC-B559-63BD7D8649BA}" destId="{9F1A61DF-0FDF-4487-8085-084EF7D9F3C5}" srcOrd="0" destOrd="0" presId="urn:microsoft.com/office/officeart/2005/8/layout/hierarchy6"/>
    <dgm:cxn modelId="{506D6951-7A64-46B7-9A85-CF453E0719D2}" type="presOf" srcId="{9C7DAF90-79B2-470E-BA2B-201C5E4E8BFD}" destId="{218D09B0-7B99-4484-8196-73729BB39651}" srcOrd="0" destOrd="0" presId="urn:microsoft.com/office/officeart/2005/8/layout/hierarchy6"/>
    <dgm:cxn modelId="{64D0ED98-CF96-42B9-B068-1515F1ABDCBD}" srcId="{008F0C65-3B5F-4520-BB9D-522056AE7FE5}" destId="{BDCB70A0-69B9-4E1B-A3F3-B8CA765F9B8A}" srcOrd="4" destOrd="0" parTransId="{308EC933-8A14-4534-A8A4-811F878FEC59}" sibTransId="{7744F3D2-F93A-442C-9DAA-6508880D6514}"/>
    <dgm:cxn modelId="{F6F80A69-C9E9-4555-9118-5C5D9BEDC397}" type="presOf" srcId="{3DE55123-EFC6-41AF-9156-47525512267B}" destId="{91473A2A-E17D-4B31-9787-76EE03794B66}" srcOrd="0" destOrd="0" presId="urn:microsoft.com/office/officeart/2005/8/layout/hierarchy6"/>
    <dgm:cxn modelId="{2AC71127-8896-44B0-A484-9DD38313F53C}" srcId="{008F0C65-3B5F-4520-BB9D-522056AE7FE5}" destId="{F685BECD-0964-4F4D-9EAE-B872550B0075}" srcOrd="2" destOrd="0" parTransId="{B05767BB-78B9-49CF-A377-56F86E7A6D46}" sibTransId="{7584F60D-7712-427D-A8DC-831236C81342}"/>
    <dgm:cxn modelId="{D982B5F1-8B22-4F46-8DA8-C0C7B3A8859A}" type="presOf" srcId="{49B5A628-6940-4534-A7F1-3171EB035BF9}" destId="{49DA8D79-2D88-4CD0-8DE3-A72453E162BA}" srcOrd="0" destOrd="0" presId="urn:microsoft.com/office/officeart/2005/8/layout/hierarchy6"/>
    <dgm:cxn modelId="{9368081F-A152-45A5-9A62-23F65AD16127}" srcId="{008F0C65-3B5F-4520-BB9D-522056AE7FE5}" destId="{1CD92B4E-1328-4BD0-AC46-DC2ECB26500C}" srcOrd="3" destOrd="0" parTransId="{CCEB9363-C02E-4B04-99FE-F747AED92D32}" sibTransId="{46263CB6-699C-4EC2-9D2A-39F4A845E183}"/>
    <dgm:cxn modelId="{92B0C186-5D2C-4180-BB8D-09255D80BCD4}" type="presOf" srcId="{B05767BB-78B9-49CF-A377-56F86E7A6D46}" destId="{AA931CF6-869B-496A-A400-DBD0DF068B61}" srcOrd="0" destOrd="0" presId="urn:microsoft.com/office/officeart/2005/8/layout/hierarchy6"/>
    <dgm:cxn modelId="{E7CB79C3-D16F-4A60-968C-74351D6C9091}" type="presOf" srcId="{14718B83-1945-4A90-A91A-90D1FFCC3377}" destId="{2BEDB4BC-2205-4EC3-AB90-BC5002885A37}" srcOrd="0" destOrd="0" presId="urn:microsoft.com/office/officeart/2005/8/layout/hierarchy6"/>
    <dgm:cxn modelId="{A37462FD-099C-4A1D-B4FE-071F5FF9F0AE}" type="presOf" srcId="{0AE10078-49A6-4940-9FBF-F8597F6032C9}" destId="{7C88E949-A749-4258-A26D-CEF3E5102330}" srcOrd="0" destOrd="0" presId="urn:microsoft.com/office/officeart/2005/8/layout/hierarchy6"/>
    <dgm:cxn modelId="{8C4D2DFF-84CC-4A65-9EDC-CE76F8426306}" srcId="{008F0C65-3B5F-4520-BB9D-522056AE7FE5}" destId="{4CE4B8D5-D7D3-41DC-B559-63BD7D8649BA}" srcOrd="1" destOrd="0" parTransId="{E607F45F-7A91-49E0-9539-025B0245C9BB}" sibTransId="{02528BB5-927F-4864-B62F-11D802299294}"/>
    <dgm:cxn modelId="{89255953-F9BC-4702-97C6-3D30651D0358}" type="presOf" srcId="{098DD83A-BF78-4F97-A8B8-0166A654B747}" destId="{123F0D8E-BECD-4633-A563-F780B81362DA}" srcOrd="0" destOrd="0" presId="urn:microsoft.com/office/officeart/2005/8/layout/hierarchy6"/>
    <dgm:cxn modelId="{F783E380-E06C-4192-8B2C-060A6060BBC9}" type="presOf" srcId="{BDCB70A0-69B9-4E1B-A3F3-B8CA765F9B8A}" destId="{21603D3E-7E33-4514-8D80-E4F4503159FA}" srcOrd="0" destOrd="0" presId="urn:microsoft.com/office/officeart/2005/8/layout/hierarchy6"/>
    <dgm:cxn modelId="{DCDC2E0C-7783-4A3F-BA5C-494E9EF2798F}" type="presOf" srcId="{308EC933-8A14-4534-A8A4-811F878FEC59}" destId="{1C180137-2B9C-411A-9888-BC36E2E330C9}" srcOrd="0" destOrd="0" presId="urn:microsoft.com/office/officeart/2005/8/layout/hierarchy6"/>
    <dgm:cxn modelId="{38088CEB-8A05-42DE-97B4-954A09ED9225}" type="presOf" srcId="{BD534BFE-D499-4BFB-8D13-73A6C2FAC526}" destId="{3266EB86-569E-4581-B5CA-D3F0F33C9659}" srcOrd="0" destOrd="0" presId="urn:microsoft.com/office/officeart/2005/8/layout/hierarchy6"/>
    <dgm:cxn modelId="{06EBCC39-678C-47D4-AE41-3AD06922A72C}" type="presOf" srcId="{CCEB9363-C02E-4B04-99FE-F747AED92D32}" destId="{78155AD6-C3B3-41B8-A963-EF47DE4A1BC6}" srcOrd="0" destOrd="0" presId="urn:microsoft.com/office/officeart/2005/8/layout/hierarchy6"/>
    <dgm:cxn modelId="{415045D7-7C0C-419B-8C84-EEB0897466EC}" srcId="{008F0C65-3B5F-4520-BB9D-522056AE7FE5}" destId="{9C7DAF90-79B2-470E-BA2B-201C5E4E8BFD}" srcOrd="5" destOrd="0" parTransId="{0AE10078-49A6-4940-9FBF-F8597F6032C9}" sibTransId="{69AA8D6F-9029-45B0-9E65-54898A7DD762}"/>
    <dgm:cxn modelId="{7CE0734C-3104-482A-960D-4710EC7E08BD}" type="presParOf" srcId="{B6B87F93-A7A2-4490-8E13-0EEC55F2066B}" destId="{58300A63-F550-4E73-8EEC-ED4FB1386F0A}" srcOrd="0" destOrd="0" presId="urn:microsoft.com/office/officeart/2005/8/layout/hierarchy6"/>
    <dgm:cxn modelId="{D2375310-EA24-4D0E-8AF4-DDAB3D58C196}" type="presParOf" srcId="{58300A63-F550-4E73-8EEC-ED4FB1386F0A}" destId="{C35C5319-8989-4BF4-8319-C8DF3934E3F3}" srcOrd="0" destOrd="0" presId="urn:microsoft.com/office/officeart/2005/8/layout/hierarchy6"/>
    <dgm:cxn modelId="{0D914075-EFBA-4EDC-85A2-60B60C53C5E1}" type="presParOf" srcId="{C35C5319-8989-4BF4-8319-C8DF3934E3F3}" destId="{62659936-008B-4153-8EE6-21FD5DE7AD29}" srcOrd="0" destOrd="0" presId="urn:microsoft.com/office/officeart/2005/8/layout/hierarchy6"/>
    <dgm:cxn modelId="{FE51FECA-06BA-47AA-BD6B-E034FDD1DD90}" type="presParOf" srcId="{62659936-008B-4153-8EE6-21FD5DE7AD29}" destId="{BA6DA6AF-5329-45C0-87E7-545BEFA5940A}" srcOrd="0" destOrd="0" presId="urn:microsoft.com/office/officeart/2005/8/layout/hierarchy6"/>
    <dgm:cxn modelId="{2ED795B7-8348-4EB8-AE64-B2395F7B8180}" type="presParOf" srcId="{62659936-008B-4153-8EE6-21FD5DE7AD29}" destId="{02A880CD-3181-461E-B5ED-AAA5E9016CD2}" srcOrd="1" destOrd="0" presId="urn:microsoft.com/office/officeart/2005/8/layout/hierarchy6"/>
    <dgm:cxn modelId="{BEBB4DBA-FCC8-4C01-9956-1DF5D7E6DEB6}" type="presParOf" srcId="{02A880CD-3181-461E-B5ED-AAA5E9016CD2}" destId="{3266EB86-569E-4581-B5CA-D3F0F33C9659}" srcOrd="0" destOrd="0" presId="urn:microsoft.com/office/officeart/2005/8/layout/hierarchy6"/>
    <dgm:cxn modelId="{1585A014-7BD2-45BB-9A79-E25BB365E303}" type="presParOf" srcId="{02A880CD-3181-461E-B5ED-AAA5E9016CD2}" destId="{2547559A-E302-4083-A8A8-F25FA6C82E8E}" srcOrd="1" destOrd="0" presId="urn:microsoft.com/office/officeart/2005/8/layout/hierarchy6"/>
    <dgm:cxn modelId="{ED8B5059-1DB9-46CF-9CA9-18C72C3AA52F}" type="presParOf" srcId="{2547559A-E302-4083-A8A8-F25FA6C82E8E}" destId="{49DA8D79-2D88-4CD0-8DE3-A72453E162BA}" srcOrd="0" destOrd="0" presId="urn:microsoft.com/office/officeart/2005/8/layout/hierarchy6"/>
    <dgm:cxn modelId="{AAC4AAB3-7D67-4456-A90D-97F0BFF6088A}" type="presParOf" srcId="{2547559A-E302-4083-A8A8-F25FA6C82E8E}" destId="{177BCD78-88AD-481C-85D0-CA27D655DE05}" srcOrd="1" destOrd="0" presId="urn:microsoft.com/office/officeart/2005/8/layout/hierarchy6"/>
    <dgm:cxn modelId="{8787C220-C9D6-442B-9EC2-A758575B86B5}" type="presParOf" srcId="{02A880CD-3181-461E-B5ED-AAA5E9016CD2}" destId="{7378E08E-3CAC-4D0B-9EE6-941E53491C83}" srcOrd="2" destOrd="0" presId="urn:microsoft.com/office/officeart/2005/8/layout/hierarchy6"/>
    <dgm:cxn modelId="{9E8F02E6-FB7A-43F6-B062-0F53C71D95F2}" type="presParOf" srcId="{02A880CD-3181-461E-B5ED-AAA5E9016CD2}" destId="{D39B8522-65AD-4881-8702-4B3D98288E1B}" srcOrd="3" destOrd="0" presId="urn:microsoft.com/office/officeart/2005/8/layout/hierarchy6"/>
    <dgm:cxn modelId="{2B567683-8423-4CFE-AC73-40BB468C31F9}" type="presParOf" srcId="{D39B8522-65AD-4881-8702-4B3D98288E1B}" destId="{9F1A61DF-0FDF-4487-8085-084EF7D9F3C5}" srcOrd="0" destOrd="0" presId="urn:microsoft.com/office/officeart/2005/8/layout/hierarchy6"/>
    <dgm:cxn modelId="{8065FB11-A46E-4E9A-BC38-1CDD2F9A2345}" type="presParOf" srcId="{D39B8522-65AD-4881-8702-4B3D98288E1B}" destId="{AE921C60-8E0D-4332-BE86-CF2E83F9F470}" srcOrd="1" destOrd="0" presId="urn:microsoft.com/office/officeart/2005/8/layout/hierarchy6"/>
    <dgm:cxn modelId="{797EFDFA-9F7B-48D7-8AFD-F0669E9C9C35}" type="presParOf" srcId="{02A880CD-3181-461E-B5ED-AAA5E9016CD2}" destId="{AA931CF6-869B-496A-A400-DBD0DF068B61}" srcOrd="4" destOrd="0" presId="urn:microsoft.com/office/officeart/2005/8/layout/hierarchy6"/>
    <dgm:cxn modelId="{AF2505A8-6158-4126-9C16-E4590474D40E}" type="presParOf" srcId="{02A880CD-3181-461E-B5ED-AAA5E9016CD2}" destId="{A620B9A0-67CE-4191-A702-72B17FFEE89A}" srcOrd="5" destOrd="0" presId="urn:microsoft.com/office/officeart/2005/8/layout/hierarchy6"/>
    <dgm:cxn modelId="{BAC93792-E49D-4536-81D8-6ECE3527021A}" type="presParOf" srcId="{A620B9A0-67CE-4191-A702-72B17FFEE89A}" destId="{BF6EA49A-84CB-4079-A28D-44E11A27F149}" srcOrd="0" destOrd="0" presId="urn:microsoft.com/office/officeart/2005/8/layout/hierarchy6"/>
    <dgm:cxn modelId="{DB3BC2FB-08DD-4D4C-99DE-7C4C1EDB14C6}" type="presParOf" srcId="{A620B9A0-67CE-4191-A702-72B17FFEE89A}" destId="{75472738-8EF9-44B7-8963-2311EFE0FE4F}" srcOrd="1" destOrd="0" presId="urn:microsoft.com/office/officeart/2005/8/layout/hierarchy6"/>
    <dgm:cxn modelId="{7C5B0BF5-858A-4593-B615-4F5889D76252}" type="presParOf" srcId="{02A880CD-3181-461E-B5ED-AAA5E9016CD2}" destId="{78155AD6-C3B3-41B8-A963-EF47DE4A1BC6}" srcOrd="6" destOrd="0" presId="urn:microsoft.com/office/officeart/2005/8/layout/hierarchy6"/>
    <dgm:cxn modelId="{B96335E6-A0AF-4DD8-8082-11DE2E9A5F8D}" type="presParOf" srcId="{02A880CD-3181-461E-B5ED-AAA5E9016CD2}" destId="{EA4C91A0-9795-4424-9755-F2B5D67E7F21}" srcOrd="7" destOrd="0" presId="urn:microsoft.com/office/officeart/2005/8/layout/hierarchy6"/>
    <dgm:cxn modelId="{09E12B77-24D4-4BBE-9EBA-37AC8269DB72}" type="presParOf" srcId="{EA4C91A0-9795-4424-9755-F2B5D67E7F21}" destId="{56D37665-0236-40AF-88F1-77E621650636}" srcOrd="0" destOrd="0" presId="urn:microsoft.com/office/officeart/2005/8/layout/hierarchy6"/>
    <dgm:cxn modelId="{1626EA67-C26D-4C96-A4F0-BC635CEA434A}" type="presParOf" srcId="{EA4C91A0-9795-4424-9755-F2B5D67E7F21}" destId="{758F417A-F7DF-4D86-BB0B-25F696DDAB31}" srcOrd="1" destOrd="0" presId="urn:microsoft.com/office/officeart/2005/8/layout/hierarchy6"/>
    <dgm:cxn modelId="{AC376F3C-B7E3-4541-993E-7E6EE23202D8}" type="presParOf" srcId="{02A880CD-3181-461E-B5ED-AAA5E9016CD2}" destId="{1C180137-2B9C-411A-9888-BC36E2E330C9}" srcOrd="8" destOrd="0" presId="urn:microsoft.com/office/officeart/2005/8/layout/hierarchy6"/>
    <dgm:cxn modelId="{BB59D10A-B6B9-40F9-90D7-3EB94F52F62B}" type="presParOf" srcId="{02A880CD-3181-461E-B5ED-AAA5E9016CD2}" destId="{828C617B-33BC-4BF3-B1D0-379A106D2BCA}" srcOrd="9" destOrd="0" presId="urn:microsoft.com/office/officeart/2005/8/layout/hierarchy6"/>
    <dgm:cxn modelId="{20DF0885-853B-4366-82A8-7039B959C01E}" type="presParOf" srcId="{828C617B-33BC-4BF3-B1D0-379A106D2BCA}" destId="{21603D3E-7E33-4514-8D80-E4F4503159FA}" srcOrd="0" destOrd="0" presId="urn:microsoft.com/office/officeart/2005/8/layout/hierarchy6"/>
    <dgm:cxn modelId="{16C5C645-3159-4360-8010-DC75FAFAD13C}" type="presParOf" srcId="{828C617B-33BC-4BF3-B1D0-379A106D2BCA}" destId="{498AE907-5A1E-4EB8-8ACE-3E039C166FEB}" srcOrd="1" destOrd="0" presId="urn:microsoft.com/office/officeart/2005/8/layout/hierarchy6"/>
    <dgm:cxn modelId="{777669CA-FF2F-4C65-A68F-FB802BD1F2C8}" type="presParOf" srcId="{02A880CD-3181-461E-B5ED-AAA5E9016CD2}" destId="{7C88E949-A749-4258-A26D-CEF3E5102330}" srcOrd="10" destOrd="0" presId="urn:microsoft.com/office/officeart/2005/8/layout/hierarchy6"/>
    <dgm:cxn modelId="{5DEF73ED-E853-4F7C-ABD7-56E32814B46D}" type="presParOf" srcId="{02A880CD-3181-461E-B5ED-AAA5E9016CD2}" destId="{EC43A1BD-9D7A-453F-AEEC-1AA61638230E}" srcOrd="11" destOrd="0" presId="urn:microsoft.com/office/officeart/2005/8/layout/hierarchy6"/>
    <dgm:cxn modelId="{179E02EF-A998-444B-B5B7-40C8662C1EEF}" type="presParOf" srcId="{EC43A1BD-9D7A-453F-AEEC-1AA61638230E}" destId="{218D09B0-7B99-4484-8196-73729BB39651}" srcOrd="0" destOrd="0" presId="urn:microsoft.com/office/officeart/2005/8/layout/hierarchy6"/>
    <dgm:cxn modelId="{45416BAE-A997-4436-9A5B-4886F4344C23}" type="presParOf" srcId="{EC43A1BD-9D7A-453F-AEEC-1AA61638230E}" destId="{E6EEFDEC-2E0D-4F68-8298-D905708BB824}" srcOrd="1" destOrd="0" presId="urn:microsoft.com/office/officeart/2005/8/layout/hierarchy6"/>
    <dgm:cxn modelId="{8AEE1B71-245B-474C-B908-AA2079B7C309}" type="presParOf" srcId="{02A880CD-3181-461E-B5ED-AAA5E9016CD2}" destId="{2BEDB4BC-2205-4EC3-AB90-BC5002885A37}" srcOrd="12" destOrd="0" presId="urn:microsoft.com/office/officeart/2005/8/layout/hierarchy6"/>
    <dgm:cxn modelId="{28D08FEF-DCBC-4F24-A4C7-4F0913AEC407}" type="presParOf" srcId="{02A880CD-3181-461E-B5ED-AAA5E9016CD2}" destId="{A947AD0F-8862-4EE4-A169-E94EB61E6DD6}" srcOrd="13" destOrd="0" presId="urn:microsoft.com/office/officeart/2005/8/layout/hierarchy6"/>
    <dgm:cxn modelId="{2A9ED880-4236-4C25-89F1-13AE104204FE}" type="presParOf" srcId="{A947AD0F-8862-4EE4-A169-E94EB61E6DD6}" destId="{4FBDD941-71FF-4083-A840-CFFE80A822A9}" srcOrd="0" destOrd="0" presId="urn:microsoft.com/office/officeart/2005/8/layout/hierarchy6"/>
    <dgm:cxn modelId="{7AFC1686-D0AA-4724-9AD4-86BD663723B6}" type="presParOf" srcId="{A947AD0F-8862-4EE4-A169-E94EB61E6DD6}" destId="{B73B906B-B0ED-4221-BA9A-528AF3E67DA1}" srcOrd="1" destOrd="0" presId="urn:microsoft.com/office/officeart/2005/8/layout/hierarchy6"/>
    <dgm:cxn modelId="{F9E3CA49-B4A8-4201-BBEF-83278CD8C871}" type="presParOf" srcId="{02A880CD-3181-461E-B5ED-AAA5E9016CD2}" destId="{91473A2A-E17D-4B31-9787-76EE03794B66}" srcOrd="14" destOrd="0" presId="urn:microsoft.com/office/officeart/2005/8/layout/hierarchy6"/>
    <dgm:cxn modelId="{C714BEF5-B8EE-4A0E-B968-A901FF6B0830}" type="presParOf" srcId="{02A880CD-3181-461E-B5ED-AAA5E9016CD2}" destId="{DB2B682F-04A1-43C0-A881-937C353CB35E}" srcOrd="15" destOrd="0" presId="urn:microsoft.com/office/officeart/2005/8/layout/hierarchy6"/>
    <dgm:cxn modelId="{490FD9CC-FF46-4D4A-BCA5-F5221289AB59}" type="presParOf" srcId="{DB2B682F-04A1-43C0-A881-937C353CB35E}" destId="{123F0D8E-BECD-4633-A563-F780B81362DA}" srcOrd="0" destOrd="0" presId="urn:microsoft.com/office/officeart/2005/8/layout/hierarchy6"/>
    <dgm:cxn modelId="{69F2F687-FF4D-46EE-9EF9-035B2B90F59B}" type="presParOf" srcId="{DB2B682F-04A1-43C0-A881-937C353CB35E}" destId="{0B072F04-32AF-486C-AAFB-16F9F0E0E7AC}" srcOrd="1" destOrd="0" presId="urn:microsoft.com/office/officeart/2005/8/layout/hierarchy6"/>
    <dgm:cxn modelId="{6DA3E372-7DE3-44A7-ABAA-9BBB3052515F}" type="presParOf" srcId="{B6B87F93-A7A2-4490-8E13-0EEC55F2066B}" destId="{2DA92EC6-EA29-439C-9062-5DFCF36B436F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DA6AF-5329-45C0-87E7-545BEFA5940A}">
      <dsp:nvSpPr>
        <dsp:cNvPr id="0" name=""/>
        <dsp:cNvSpPr/>
      </dsp:nvSpPr>
      <dsp:spPr>
        <a:xfrm>
          <a:off x="3807897" y="400843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>
              <a:latin typeface="Arial" pitchFamily="34" charset="0"/>
              <a:cs typeface="Arial" pitchFamily="34" charset="0"/>
            </a:rPr>
            <a:t>Krishionnati</a:t>
          </a:r>
          <a:r>
            <a:rPr lang="en-US" sz="1000" b="1" kern="1200" dirty="0">
              <a:latin typeface="Arial" pitchFamily="34" charset="0"/>
              <a:cs typeface="Arial" pitchFamily="34" charset="0"/>
            </a:rPr>
            <a:t> </a:t>
          </a:r>
          <a:r>
            <a:rPr lang="en-US" sz="1000" b="1" kern="1200" dirty="0" err="1">
              <a:latin typeface="Arial" pitchFamily="34" charset="0"/>
              <a:cs typeface="Arial" pitchFamily="34" charset="0"/>
            </a:rPr>
            <a:t>Yojana</a:t>
          </a:r>
          <a:r>
            <a:rPr lang="en-US" sz="1000" b="1" kern="1200" dirty="0">
              <a:latin typeface="Arial" pitchFamily="34" charset="0"/>
              <a:cs typeface="Arial" pitchFamily="34" charset="0"/>
            </a:rPr>
            <a:t> (4138)</a:t>
          </a:r>
        </a:p>
      </dsp:txBody>
      <dsp:txXfrm>
        <a:off x="3828809" y="421755"/>
        <a:ext cx="1029180" cy="672178"/>
      </dsp:txXfrm>
    </dsp:sp>
    <dsp:sp modelId="{3266EB86-569E-4581-B5CA-D3F0F33C9659}">
      <dsp:nvSpPr>
        <dsp:cNvPr id="0" name=""/>
        <dsp:cNvSpPr/>
      </dsp:nvSpPr>
      <dsp:spPr>
        <a:xfrm>
          <a:off x="538656" y="1114845"/>
          <a:ext cx="3804743" cy="500114"/>
        </a:xfrm>
        <a:custGeom>
          <a:avLst/>
          <a:gdLst/>
          <a:ahLst/>
          <a:cxnLst/>
          <a:rect l="0" t="0" r="0" b="0"/>
          <a:pathLst>
            <a:path>
              <a:moveTo>
                <a:pt x="3804743" y="0"/>
              </a:moveTo>
              <a:lnTo>
                <a:pt x="3804743" y="250057"/>
              </a:lnTo>
              <a:lnTo>
                <a:pt x="0" y="250057"/>
              </a:lnTo>
              <a:lnTo>
                <a:pt x="0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DA8D79-2D88-4CD0-8DE3-A72453E162BA}">
      <dsp:nvSpPr>
        <dsp:cNvPr id="0" name=""/>
        <dsp:cNvSpPr/>
      </dsp:nvSpPr>
      <dsp:spPr>
        <a:xfrm>
          <a:off x="3154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Agriculture Marketing (9006)</a:t>
          </a:r>
        </a:p>
      </dsp:txBody>
      <dsp:txXfrm>
        <a:off x="24066" y="1635872"/>
        <a:ext cx="1029180" cy="672178"/>
      </dsp:txXfrm>
    </dsp:sp>
    <dsp:sp modelId="{7378E08E-3CAC-4D0B-9EE6-941E53491C83}">
      <dsp:nvSpPr>
        <dsp:cNvPr id="0" name=""/>
        <dsp:cNvSpPr/>
      </dsp:nvSpPr>
      <dsp:spPr>
        <a:xfrm>
          <a:off x="1625726" y="1114845"/>
          <a:ext cx="2717673" cy="500114"/>
        </a:xfrm>
        <a:custGeom>
          <a:avLst/>
          <a:gdLst/>
          <a:ahLst/>
          <a:cxnLst/>
          <a:rect l="0" t="0" r="0" b="0"/>
          <a:pathLst>
            <a:path>
              <a:moveTo>
                <a:pt x="2717673" y="0"/>
              </a:moveTo>
              <a:lnTo>
                <a:pt x="2717673" y="250057"/>
              </a:lnTo>
              <a:lnTo>
                <a:pt x="0" y="250057"/>
              </a:lnTo>
              <a:lnTo>
                <a:pt x="0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1A61DF-0FDF-4487-8085-084EF7D9F3C5}">
      <dsp:nvSpPr>
        <dsp:cNvPr id="0" name=""/>
        <dsp:cNvSpPr/>
      </dsp:nvSpPr>
      <dsp:spPr>
        <a:xfrm>
          <a:off x="1090224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Agriculture Extension (9144)</a:t>
          </a:r>
        </a:p>
      </dsp:txBody>
      <dsp:txXfrm>
        <a:off x="1111136" y="1635872"/>
        <a:ext cx="1029180" cy="672178"/>
      </dsp:txXfrm>
    </dsp:sp>
    <dsp:sp modelId="{AA931CF6-869B-496A-A400-DBD0DF068B61}">
      <dsp:nvSpPr>
        <dsp:cNvPr id="0" name=""/>
        <dsp:cNvSpPr/>
      </dsp:nvSpPr>
      <dsp:spPr>
        <a:xfrm>
          <a:off x="2712795" y="1114845"/>
          <a:ext cx="1630604" cy="500114"/>
        </a:xfrm>
        <a:custGeom>
          <a:avLst/>
          <a:gdLst/>
          <a:ahLst/>
          <a:cxnLst/>
          <a:rect l="0" t="0" r="0" b="0"/>
          <a:pathLst>
            <a:path>
              <a:moveTo>
                <a:pt x="1630604" y="0"/>
              </a:moveTo>
              <a:lnTo>
                <a:pt x="1630604" y="250057"/>
              </a:lnTo>
              <a:lnTo>
                <a:pt x="0" y="250057"/>
              </a:lnTo>
              <a:lnTo>
                <a:pt x="0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6EA49A-84CB-4079-A28D-44E11A27F149}">
      <dsp:nvSpPr>
        <dsp:cNvPr id="0" name=""/>
        <dsp:cNvSpPr/>
      </dsp:nvSpPr>
      <dsp:spPr>
        <a:xfrm>
          <a:off x="2177293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Digital Agriculture (9423)</a:t>
          </a:r>
        </a:p>
      </dsp:txBody>
      <dsp:txXfrm>
        <a:off x="2198205" y="1635872"/>
        <a:ext cx="1029180" cy="672178"/>
      </dsp:txXfrm>
    </dsp:sp>
    <dsp:sp modelId="{78155AD6-C3B3-41B8-A963-EF47DE4A1BC6}">
      <dsp:nvSpPr>
        <dsp:cNvPr id="0" name=""/>
        <dsp:cNvSpPr/>
      </dsp:nvSpPr>
      <dsp:spPr>
        <a:xfrm>
          <a:off x="3799865" y="1114845"/>
          <a:ext cx="543534" cy="500114"/>
        </a:xfrm>
        <a:custGeom>
          <a:avLst/>
          <a:gdLst/>
          <a:ahLst/>
          <a:cxnLst/>
          <a:rect l="0" t="0" r="0" b="0"/>
          <a:pathLst>
            <a:path>
              <a:moveTo>
                <a:pt x="543534" y="0"/>
              </a:moveTo>
              <a:lnTo>
                <a:pt x="543534" y="250057"/>
              </a:lnTo>
              <a:lnTo>
                <a:pt x="0" y="250057"/>
              </a:lnTo>
              <a:lnTo>
                <a:pt x="0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37665-0236-40AF-88F1-77E621650636}">
      <dsp:nvSpPr>
        <dsp:cNvPr id="0" name=""/>
        <dsp:cNvSpPr/>
      </dsp:nvSpPr>
      <dsp:spPr>
        <a:xfrm>
          <a:off x="3264363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Edible Oil-</a:t>
          </a:r>
          <a:r>
            <a:rPr lang="en-US" sz="1000" b="1" kern="1200" dirty="0" err="1">
              <a:latin typeface="Arial" pitchFamily="34" charset="0"/>
              <a:cs typeface="Arial" pitchFamily="34" charset="0"/>
            </a:rPr>
            <a:t>Oilpalm</a:t>
          </a:r>
          <a:r>
            <a:rPr lang="en-US" sz="1000" b="1" kern="1200" dirty="0">
              <a:latin typeface="Arial" pitchFamily="34" charset="0"/>
              <a:cs typeface="Arial" pitchFamily="34" charset="0"/>
            </a:rPr>
            <a:t> (4033)</a:t>
          </a:r>
        </a:p>
      </dsp:txBody>
      <dsp:txXfrm>
        <a:off x="3285275" y="1635872"/>
        <a:ext cx="1029180" cy="672178"/>
      </dsp:txXfrm>
    </dsp:sp>
    <dsp:sp modelId="{1C180137-2B9C-411A-9888-BC36E2E330C9}">
      <dsp:nvSpPr>
        <dsp:cNvPr id="0" name=""/>
        <dsp:cNvSpPr/>
      </dsp:nvSpPr>
      <dsp:spPr>
        <a:xfrm>
          <a:off x="4343400" y="1114845"/>
          <a:ext cx="543534" cy="500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057"/>
              </a:lnTo>
              <a:lnTo>
                <a:pt x="543534" y="250057"/>
              </a:lnTo>
              <a:lnTo>
                <a:pt x="543534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03D3E-7E33-4514-8D80-E4F4503159FA}">
      <dsp:nvSpPr>
        <dsp:cNvPr id="0" name=""/>
        <dsp:cNvSpPr/>
      </dsp:nvSpPr>
      <dsp:spPr>
        <a:xfrm>
          <a:off x="4351432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Edible Oil-Oilseeds (4034)</a:t>
          </a:r>
        </a:p>
      </dsp:txBody>
      <dsp:txXfrm>
        <a:off x="4372344" y="1635872"/>
        <a:ext cx="1029180" cy="672178"/>
      </dsp:txXfrm>
    </dsp:sp>
    <dsp:sp modelId="{7C88E949-A749-4258-A26D-CEF3E5102330}">
      <dsp:nvSpPr>
        <dsp:cNvPr id="0" name=""/>
        <dsp:cNvSpPr/>
      </dsp:nvSpPr>
      <dsp:spPr>
        <a:xfrm>
          <a:off x="4343400" y="1114845"/>
          <a:ext cx="1630604" cy="500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057"/>
              </a:lnTo>
              <a:lnTo>
                <a:pt x="1630604" y="250057"/>
              </a:lnTo>
              <a:lnTo>
                <a:pt x="1630604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D09B0-7B99-4484-8196-73729BB39651}">
      <dsp:nvSpPr>
        <dsp:cNvPr id="0" name=""/>
        <dsp:cNvSpPr/>
      </dsp:nvSpPr>
      <dsp:spPr>
        <a:xfrm>
          <a:off x="5438501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Food and Nutrition Security (9140)</a:t>
          </a:r>
        </a:p>
      </dsp:txBody>
      <dsp:txXfrm>
        <a:off x="5459413" y="1635872"/>
        <a:ext cx="1029180" cy="672178"/>
      </dsp:txXfrm>
    </dsp:sp>
    <dsp:sp modelId="{2BEDB4BC-2205-4EC3-AB90-BC5002885A37}">
      <dsp:nvSpPr>
        <dsp:cNvPr id="0" name=""/>
        <dsp:cNvSpPr/>
      </dsp:nvSpPr>
      <dsp:spPr>
        <a:xfrm>
          <a:off x="4343400" y="1114845"/>
          <a:ext cx="2717673" cy="500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057"/>
              </a:lnTo>
              <a:lnTo>
                <a:pt x="2717673" y="250057"/>
              </a:lnTo>
              <a:lnTo>
                <a:pt x="2717673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BDD941-71FF-4083-A840-CFFE80A822A9}">
      <dsp:nvSpPr>
        <dsp:cNvPr id="0" name=""/>
        <dsp:cNvSpPr/>
      </dsp:nvSpPr>
      <dsp:spPr>
        <a:xfrm>
          <a:off x="6525571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Integrated Development of Horticulture (9120)</a:t>
          </a:r>
        </a:p>
      </dsp:txBody>
      <dsp:txXfrm>
        <a:off x="6546483" y="1635872"/>
        <a:ext cx="1029180" cy="672178"/>
      </dsp:txXfrm>
    </dsp:sp>
    <dsp:sp modelId="{91473A2A-E17D-4B31-9787-76EE03794B66}">
      <dsp:nvSpPr>
        <dsp:cNvPr id="0" name=""/>
        <dsp:cNvSpPr/>
      </dsp:nvSpPr>
      <dsp:spPr>
        <a:xfrm>
          <a:off x="4343400" y="1114845"/>
          <a:ext cx="3804743" cy="500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057"/>
              </a:lnTo>
              <a:lnTo>
                <a:pt x="3804743" y="250057"/>
              </a:lnTo>
              <a:lnTo>
                <a:pt x="3804743" y="50011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3F0D8E-BECD-4633-A563-F780B81362DA}">
      <dsp:nvSpPr>
        <dsp:cNvPr id="0" name=""/>
        <dsp:cNvSpPr/>
      </dsp:nvSpPr>
      <dsp:spPr>
        <a:xfrm>
          <a:off x="7612640" y="1614960"/>
          <a:ext cx="1071004" cy="7140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Arial" pitchFamily="34" charset="0"/>
              <a:cs typeface="Arial" pitchFamily="34" charset="0"/>
            </a:rPr>
            <a:t>Organic Value Chain Development of NE Region (4035)</a:t>
          </a:r>
        </a:p>
      </dsp:txBody>
      <dsp:txXfrm>
        <a:off x="7633552" y="1635872"/>
        <a:ext cx="1029180" cy="6721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12299" cy="462176"/>
          </a:xfrm>
          <a:prstGeom prst="rect">
            <a:avLst/>
          </a:prstGeom>
        </p:spPr>
        <p:txBody>
          <a:bodyPr vert="horz" lIns="91519" tIns="45759" rIns="91519" bIns="45759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137" y="0"/>
            <a:ext cx="3012299" cy="462176"/>
          </a:xfrm>
          <a:prstGeom prst="rect">
            <a:avLst/>
          </a:prstGeom>
        </p:spPr>
        <p:txBody>
          <a:bodyPr vert="horz" lIns="91519" tIns="45759" rIns="91519" bIns="45759" rtlCol="0"/>
          <a:lstStyle>
            <a:lvl1pPr algn="r">
              <a:defRPr sz="1200"/>
            </a:lvl1pPr>
          </a:lstStyle>
          <a:p>
            <a:fld id="{20DA34CA-E66D-4618-AC13-C014EA6F602A}" type="datetimeFigureOut">
              <a:rPr lang="en-US" smtClean="0">
                <a:latin typeface="Arial" pitchFamily="34" charset="0"/>
              </a:rPr>
              <a:pPr/>
              <a:t>5/3/2023</a:t>
            </a:fld>
            <a:endParaRPr lang="en-US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772415"/>
            <a:ext cx="3012299" cy="462175"/>
          </a:xfrm>
          <a:prstGeom prst="rect">
            <a:avLst/>
          </a:prstGeom>
        </p:spPr>
        <p:txBody>
          <a:bodyPr vert="horz" lIns="91519" tIns="45759" rIns="91519" bIns="45759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137" y="8772415"/>
            <a:ext cx="3012299" cy="462175"/>
          </a:xfrm>
          <a:prstGeom prst="rect">
            <a:avLst/>
          </a:prstGeom>
        </p:spPr>
        <p:txBody>
          <a:bodyPr vert="horz" lIns="91519" tIns="45759" rIns="91519" bIns="45759" rtlCol="0" anchor="b"/>
          <a:lstStyle>
            <a:lvl1pPr algn="r">
              <a:defRPr sz="1200"/>
            </a:lvl1pPr>
          </a:lstStyle>
          <a:p>
            <a:fld id="{93FEA664-EC07-47D4-A5E1-07B82F059927}" type="slidenum">
              <a:rPr lang="en-US" smtClean="0">
                <a:latin typeface="Arial" pitchFamily="34" charset="0"/>
              </a:rPr>
              <a:pPr/>
              <a:t>‹#›</a:t>
            </a:fld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445768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700" cy="461804"/>
          </a:xfrm>
          <a:prstGeom prst="rect">
            <a:avLst/>
          </a:prstGeom>
        </p:spPr>
        <p:txBody>
          <a:bodyPr vert="horz" lIns="91519" tIns="45759" rIns="91519" bIns="45759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7" y="0"/>
            <a:ext cx="3011700" cy="461804"/>
          </a:xfrm>
          <a:prstGeom prst="rect">
            <a:avLst/>
          </a:prstGeom>
        </p:spPr>
        <p:txBody>
          <a:bodyPr vert="horz" lIns="91519" tIns="45759" rIns="91519" bIns="45759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B0546AA7-D2C6-4144-AFA9-0B486EBB4E4A}" type="datetimeFigureOut">
              <a:rPr lang="en-US" smtClean="0"/>
              <a:pPr/>
              <a:t>5/3/2023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19" tIns="45759" rIns="91519" bIns="45759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8"/>
            <a:ext cx="5560060" cy="4156234"/>
          </a:xfrm>
          <a:prstGeom prst="rect">
            <a:avLst/>
          </a:prstGeom>
        </p:spPr>
        <p:txBody>
          <a:bodyPr vert="horz" lIns="91519" tIns="45759" rIns="91519" bIns="4575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68"/>
            <a:ext cx="3011700" cy="461804"/>
          </a:xfrm>
          <a:prstGeom prst="rect">
            <a:avLst/>
          </a:prstGeom>
        </p:spPr>
        <p:txBody>
          <a:bodyPr vert="horz" lIns="91519" tIns="45759" rIns="91519" bIns="45759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7" y="8772668"/>
            <a:ext cx="3011700" cy="461804"/>
          </a:xfrm>
          <a:prstGeom prst="rect">
            <a:avLst/>
          </a:prstGeom>
        </p:spPr>
        <p:txBody>
          <a:bodyPr vert="horz" lIns="91519" tIns="45759" rIns="91519" bIns="45759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01F0093A-101E-48D9-9353-7016C24AD76A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6294911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205F-5E4D-46D1-AD9E-0B4071EFF719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D905-C102-4890-B8E1-FEADAB7CC17D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4241-450B-4A27-8386-8C333AD88747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3EAD-36B0-4BFC-9065-94FC5FBC4C7D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44CE-B078-4A9F-BEBD-BEAAFC7ACF4A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5042-4773-415A-B1E5-C2A9B8C0F17C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BAA18-C758-40C0-A13D-BC0AAE6A5E7F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7ADC5-34AF-4F6A-88AD-9B73D219630E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72AF0-9605-45AC-9727-C7145D86EBAB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B49C-7B99-4D9B-B7C2-61EB446E9692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916FB-4EA7-411C-9663-AA44534BD315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8000"/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CB4F7-BA24-4947-98A1-6F49B260363B}" type="datetime1">
              <a:rPr lang="en-US" smtClean="0"/>
              <a:pPr/>
              <a:t>5/3/2023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81C62-67CE-414D-9578-6B11B56B3817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wipe dir="d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Secy's%20DO%20to%20State%20CSs.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hyperlink" Target="SNA%2003%20as%20on%2002.05.2023.xlsx" TargetMode="Externa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OM%20dated%2002.05.2023%20all%20secretaries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24.02.2023%20OM%20(Sh.%20Prateek%20Kumar%20Singh)%20reg-Entry%20of%20lagacy%20data%20in%20PFMS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30.08.2022%20OM%20(Sh.%20Anupam%20Raj)%20reg-SOP%20for%20remitting%20the%20interest%20earned%20Bharatkosh.pdf" TargetMode="External"/><Relationship Id="rId2" Type="http://schemas.openxmlformats.org/officeDocument/2006/relationships/hyperlink" Target="21.02.2023%20OM%20(Sh.%20Prateek%20Kumar%20Singh)%20reg-%20Entry%20of%20annual%20State%20wise%20amount%20earmarked%20for%20a%20CSS%20in%20PFMS%20(annual%20Action%20Plan)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SNA-04A%20Interest%20Deposited%20Report.xlsx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51.xml"/><Relationship Id="rId3" Type="http://schemas.openxmlformats.org/officeDocument/2006/relationships/slide" Target="slide39.xml"/><Relationship Id="rId7" Type="http://schemas.openxmlformats.org/officeDocument/2006/relationships/slide" Target="slide54.xml"/><Relationship Id="rId12" Type="http://schemas.openxmlformats.org/officeDocument/2006/relationships/slide" Target="slide72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0.xml"/><Relationship Id="rId11" Type="http://schemas.openxmlformats.org/officeDocument/2006/relationships/slide" Target="slide17.xml"/><Relationship Id="rId5" Type="http://schemas.openxmlformats.org/officeDocument/2006/relationships/slide" Target="slide63.xml"/><Relationship Id="rId15" Type="http://schemas.openxmlformats.org/officeDocument/2006/relationships/slide" Target="slide19.xml"/><Relationship Id="rId10" Type="http://schemas.openxmlformats.org/officeDocument/2006/relationships/slide" Target="slide13.xml"/><Relationship Id="rId4" Type="http://schemas.openxmlformats.org/officeDocument/2006/relationships/slide" Target="slide68.xml"/><Relationship Id="rId9" Type="http://schemas.openxmlformats.org/officeDocument/2006/relationships/slide" Target="slide56.xml"/><Relationship Id="rId14" Type="http://schemas.openxmlformats.org/officeDocument/2006/relationships/slide" Target="slide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13" Type="http://schemas.openxmlformats.org/officeDocument/2006/relationships/slide" Target="slide15.xml"/><Relationship Id="rId3" Type="http://schemas.openxmlformats.org/officeDocument/2006/relationships/slide" Target="slide32.xml"/><Relationship Id="rId7" Type="http://schemas.openxmlformats.org/officeDocument/2006/relationships/slide" Target="slide49.xml"/><Relationship Id="rId12" Type="http://schemas.openxmlformats.org/officeDocument/2006/relationships/slide" Target="slide47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6.xml"/><Relationship Id="rId11" Type="http://schemas.openxmlformats.org/officeDocument/2006/relationships/slide" Target="slide45.xml"/><Relationship Id="rId5" Type="http://schemas.openxmlformats.org/officeDocument/2006/relationships/slide" Target="slide30.xml"/><Relationship Id="rId10" Type="http://schemas.openxmlformats.org/officeDocument/2006/relationships/slide" Target="slide25.xml"/><Relationship Id="rId4" Type="http://schemas.openxmlformats.org/officeDocument/2006/relationships/slide" Target="slide70.xml"/><Relationship Id="rId9" Type="http://schemas.openxmlformats.org/officeDocument/2006/relationships/slide" Target="slide4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4.xml"/><Relationship Id="rId5" Type="http://schemas.openxmlformats.org/officeDocument/2006/relationships/slide" Target="slide78.xml"/><Relationship Id="rId4" Type="http://schemas.openxmlformats.org/officeDocument/2006/relationships/slide" Target="slide5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696200" cy="14478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Ministry of Agriculture and Farmers’ Welfare</a:t>
            </a:r>
            <a:endParaRPr lang="en-US" sz="4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ubtitle 4"/>
          <p:cNvSpPr txBox="1">
            <a:spLocks/>
          </p:cNvSpPr>
          <p:nvPr/>
        </p:nvSpPr>
        <p:spPr>
          <a:xfrm>
            <a:off x="1371600" y="2057400"/>
            <a:ext cx="64008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National Conference on Agriculture for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Kharif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Campaign 2023 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4536" y="3657600"/>
            <a:ext cx="55344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Release of Funds to States/UTs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76600" y="5238690"/>
            <a:ext cx="571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:Presentation by Sh.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Sanjiv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Kumar, AS&amp;FA</a:t>
            </a:r>
          </a:p>
        </p:txBody>
      </p:sp>
    </p:spTree>
    <p:extLst>
      <p:ext uri="{BB962C8B-B14F-4D97-AF65-F5344CB8AC3E}">
        <p14:creationId xmlns:p14="http://schemas.microsoft.com/office/powerpoint/2010/main" xmlns="" val="124195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BE of Centrally Sponsored Schemes of Department of Agriculture and Farmers’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Welfare in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FY 2023-24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2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54935"/>
          <a:ext cx="7391400" cy="35121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6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700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95545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Name of Schemes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Budget</a:t>
                      </a:r>
                      <a:r>
                        <a:rPr lang="en-US" sz="20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Estimates (In </a:t>
                      </a:r>
                      <a:r>
                        <a:rPr lang="en-US" sz="2000" b="1" baseline="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Crores</a:t>
                      </a:r>
                      <a:r>
                        <a:rPr lang="en-US" sz="20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SNA Bank Balance</a:t>
                      </a:r>
                      <a:r>
                        <a:rPr lang="en-US" sz="20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706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None/>
                      </a:pPr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1.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Arial" pitchFamily="34" charset="0"/>
                          <a:cs typeface="Arial" pitchFamily="34" charset="0"/>
                        </a:rPr>
                        <a:t>Krishionnati</a:t>
                      </a:r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b="1" dirty="0" err="1">
                          <a:latin typeface="Arial" pitchFamily="34" charset="0"/>
                          <a:cs typeface="Arial" pitchFamily="34" charset="0"/>
                        </a:rPr>
                        <a:t>Yojana</a:t>
                      </a:r>
                      <a:endParaRPr lang="en-US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7066.47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latin typeface="Arial"/>
                        </a:rPr>
                        <a:t>879.55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5923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None/>
                      </a:pPr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2.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Arial" pitchFamily="34" charset="0"/>
                          <a:cs typeface="Arial" pitchFamily="34" charset="0"/>
                        </a:rPr>
                        <a:t>Rashtriya</a:t>
                      </a:r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b="1" dirty="0" err="1">
                          <a:latin typeface="Arial" pitchFamily="34" charset="0"/>
                          <a:cs typeface="Arial" pitchFamily="34" charset="0"/>
                        </a:rPr>
                        <a:t>Krishi</a:t>
                      </a:r>
                      <a:r>
                        <a:rPr lang="en-US" sz="2000" b="1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Arial" pitchFamily="34" charset="0"/>
                          <a:cs typeface="Arial" pitchFamily="34" charset="0"/>
                        </a:rPr>
                        <a:t>Vikas</a:t>
                      </a:r>
                      <a:r>
                        <a:rPr lang="en-US" sz="2000" b="1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Arial" pitchFamily="34" charset="0"/>
                          <a:cs typeface="Arial" pitchFamily="34" charset="0"/>
                        </a:rPr>
                        <a:t>Yojana</a:t>
                      </a:r>
                      <a:endParaRPr lang="en-US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7150.35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u="none" strike="noStrike" dirty="0">
                          <a:latin typeface="Arial"/>
                        </a:rPr>
                        <a:t>2758.43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84914"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None/>
                      </a:pPr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3.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National</a:t>
                      </a:r>
                      <a:r>
                        <a:rPr lang="en-US" sz="2000" b="1" baseline="0" dirty="0">
                          <a:latin typeface="Arial" pitchFamily="34" charset="0"/>
                          <a:cs typeface="Arial" pitchFamily="34" charset="0"/>
                        </a:rPr>
                        <a:t> Mission on Natural Farming</a:t>
                      </a:r>
                      <a:endParaRPr lang="en-US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459.00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New scheme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marL="1257300" lvl="2" indent="-342900">
                        <a:buFont typeface="+mj-lt"/>
                        <a:buNone/>
                      </a:pPr>
                      <a:endParaRPr lang="en-US" sz="20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14675.82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3637.98</a:t>
                      </a:r>
                      <a:endParaRPr lang="en-US" sz="24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97644553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533400" y="457200"/>
            <a:ext cx="8182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Conditions for  release of 1</a:t>
            </a:r>
            <a:r>
              <a:rPr lang="en-US" sz="2400" b="1" baseline="30000" dirty="0">
                <a:latin typeface="Arial" pitchFamily="34" charset="0"/>
                <a:cs typeface="Arial" pitchFamily="34" charset="0"/>
              </a:rPr>
              <a:t>st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Installment to State Governments in FY 2023-24.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3076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Mapping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CSSs. (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Krishionnati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Yojana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Transfer of Funds lying in Treasury to SNA Account before 30.06.2023.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Entry of Legacy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Entry of Annual State-wise Amount earmarked in PFMS.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75% expenditure in SNA Accounts.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Submission on UCs for FY 2021-22.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Remittance of interest to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GoI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in 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BharatKosh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Other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conditions stipulated in DoE OMs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Scheme specific conditions in Sanction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Order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>
              <a:buNone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State Governments are requested to kindly refer to Secretary’s 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hlinkClick r:id="rId2" action="ppaction://hlinkfile"/>
              </a:rPr>
              <a:t>DO letter 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dated 24.04.2023 addressed to Chief Secretaries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20128340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4</a:t>
            </a:fld>
            <a:endParaRPr lang="en-IN"/>
          </a:p>
        </p:txBody>
      </p:sp>
      <p:graphicFrame>
        <p:nvGraphicFramePr>
          <p:cNvPr id="5" name="Diagram 4"/>
          <p:cNvGraphicFramePr/>
          <p:nvPr/>
        </p:nvGraphicFramePr>
        <p:xfrm>
          <a:off x="228600" y="60960"/>
          <a:ext cx="8686800" cy="3215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3200400" y="3048000"/>
            <a:ext cx="2819400" cy="1143000"/>
            <a:chOff x="533335" y="1648333"/>
            <a:chExt cx="1414312" cy="740840"/>
          </a:xfrm>
        </p:grpSpPr>
        <p:sp>
          <p:nvSpPr>
            <p:cNvPr id="8" name="Rounded Rectangle 7"/>
            <p:cNvSpPr/>
            <p:nvPr/>
          </p:nvSpPr>
          <p:spPr>
            <a:xfrm>
              <a:off x="533335" y="1682018"/>
              <a:ext cx="1414312" cy="70715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533335" y="1648333"/>
              <a:ext cx="1372889" cy="6657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>
                  <a:solidFill>
                    <a:schemeClr val="accent2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Only single Scheme Code 4138 of </a:t>
              </a:r>
              <a:r>
                <a:rPr lang="en-US" sz="1600" b="1" kern="1200" dirty="0" err="1">
                  <a:solidFill>
                    <a:schemeClr val="accent2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Krishionnati</a:t>
              </a:r>
              <a:r>
                <a:rPr lang="en-US" sz="1600" b="1" kern="1200" dirty="0">
                  <a:solidFill>
                    <a:schemeClr val="accent2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sz="1600" b="1" kern="1200" dirty="0" err="1">
                  <a:solidFill>
                    <a:schemeClr val="accent2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Yojana</a:t>
              </a:r>
              <a:r>
                <a:rPr lang="en-US" sz="1600" b="1" kern="1200" dirty="0">
                  <a:solidFill>
                    <a:schemeClr val="accent2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 in this FY.</a:t>
              </a:r>
            </a:p>
          </p:txBody>
        </p:sp>
      </p:grpSp>
      <p:sp>
        <p:nvSpPr>
          <p:cNvPr id="11" name="Right Brace 10"/>
          <p:cNvSpPr/>
          <p:nvPr/>
        </p:nvSpPr>
        <p:spPr>
          <a:xfrm rot="5400000">
            <a:off x="4248150" y="-1085850"/>
            <a:ext cx="647700" cy="76200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62000" y="4581942"/>
            <a:ext cx="3581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Immediate intervention by State Government: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Un-mapping of all SLSs of erstwhile CSSs and mapping with single CSS of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Krishonnati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Yojana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724400" y="4599563"/>
            <a:ext cx="35814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Competent Nodal Authorities: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State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Agriculture Departments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PFMS State Directorate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State Treasury(State Finance Department)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3400" y="304800"/>
            <a:ext cx="31761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Re-mapping </a:t>
            </a:r>
            <a:r>
              <a:rPr lang="en-US" sz="16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of these schemes with </a:t>
            </a:r>
            <a:r>
              <a:rPr lang="en-US" sz="1600" b="1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Krishionnati</a:t>
            </a:r>
            <a:r>
              <a:rPr lang="en-US" sz="16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Yojana</a:t>
            </a:r>
            <a:r>
              <a:rPr lang="en-US" sz="16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code consequent to their merger in current FY. </a:t>
            </a:r>
            <a:endParaRPr lang="en-US" sz="16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191000"/>
            <a:ext cx="723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  <a:hlinkClick r:id="rId6" action="ppaction://hlinkfile"/>
              </a:rPr>
              <a:t>13 States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have partially done and rest are yet to initiate the process.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5 following CSSs of the Department have been merged into single RKVY Scheme as components: -</a:t>
            </a:r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pPr lvl="2" algn="just"/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Rainfed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Area Development.</a:t>
            </a:r>
          </a:p>
          <a:p>
            <a:pPr lvl="2" algn="just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PM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Krishi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Sinchai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Yojana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(PDMC)</a:t>
            </a:r>
          </a:p>
          <a:p>
            <a:pPr lvl="2" algn="just"/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Paramparagat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Krishi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Vikas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Yojana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 lvl="2" algn="just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National Project on Soil Health and Fertility.</a:t>
            </a:r>
          </a:p>
          <a:p>
            <a:pPr lvl="2" algn="just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Sub-Mission on Agriculture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Mechanisation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lvl="2" algn="just"/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Release of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25% installment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to States will be in one go in respect of RKVY. The next release shall be subject to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DoE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Guidelines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. 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5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Rashtriya</a:t>
            </a:r>
            <a:r>
              <a:rPr lang="en-US" sz="28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Krishi</a:t>
            </a:r>
            <a:r>
              <a:rPr lang="en-US" sz="28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Vikas</a:t>
            </a:r>
            <a:r>
              <a:rPr lang="en-US" sz="28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Yojana</a:t>
            </a:r>
            <a:endParaRPr lang="en-US" sz="28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609600" y="757535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itchFamily="34" charset="0"/>
                <a:cs typeface="Arial" pitchFamily="34" charset="0"/>
              </a:rPr>
              <a:t>DoE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Guidelines for current Financial Year 2023-24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2286000"/>
          <a:ext cx="8043890" cy="283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908"/>
                <a:gridCol w="6357982"/>
              </a:tblGrid>
              <a:tr h="88247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hlinkClick r:id="rId2" action="ppaction://hlinkfile"/>
                        </a:rPr>
                        <a:t>OM dated 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hlinkClick r:id="rId2" action="ppaction://hlinkfile"/>
                        </a:rPr>
                        <a:t>02.05.202</a:t>
                      </a:r>
                      <a:r>
                        <a:rPr lang="en-US" sz="1800" b="1" u="sng" kern="12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hlinkClick r:id="rId2" action="ppaction://hlinkfile"/>
                        </a:rPr>
                        <a:t>3</a:t>
                      </a:r>
                      <a:endParaRPr lang="en-US" sz="1800" b="1" u="sng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sz="1800" b="1" u="sng" dirty="0" smtClean="0">
                          <a:latin typeface="Arial" pitchFamily="34" charset="0"/>
                          <a:cs typeface="Arial" pitchFamily="34" charset="0"/>
                        </a:rPr>
                        <a:t>Transfer of Funds</a:t>
                      </a:r>
                      <a:r>
                        <a:rPr lang="en-US" sz="1800" b="1" u="sng" baseline="0" dirty="0" smtClean="0">
                          <a:latin typeface="Arial" pitchFamily="34" charset="0"/>
                          <a:cs typeface="Arial" pitchFamily="34" charset="0"/>
                        </a:rPr>
                        <a:t> lying in Treasury to SNA Account by 30.06.2023.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US" sz="1800" b="1" baseline="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sz="1800" b="1" baseline="0" dirty="0" smtClean="0">
                          <a:latin typeface="Arial" pitchFamily="34" charset="0"/>
                          <a:cs typeface="Arial" pitchFamily="34" charset="0"/>
                        </a:rPr>
                        <a:t>Transfer of Central share from the date of Release to Treasury including State share within </a:t>
                      </a:r>
                      <a:r>
                        <a:rPr lang="en-US" sz="1800" b="1" u="sng" baseline="0" dirty="0" smtClean="0">
                          <a:latin typeface="Arial" pitchFamily="34" charset="0"/>
                          <a:cs typeface="Arial" pitchFamily="34" charset="0"/>
                        </a:rPr>
                        <a:t>30 days </a:t>
                      </a:r>
                      <a:r>
                        <a:rPr lang="en-US" sz="1800" b="1" baseline="0" dirty="0" smtClean="0">
                          <a:latin typeface="Arial" pitchFamily="34" charset="0"/>
                          <a:cs typeface="Arial" pitchFamily="34" charset="0"/>
                        </a:rPr>
                        <a:t>of the receipt of Central share to SNA Account.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US" sz="1800" b="1" baseline="0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sz="1800" b="1" baseline="0" dirty="0" smtClean="0">
                          <a:latin typeface="Arial" pitchFamily="34" charset="0"/>
                          <a:cs typeface="Arial" pitchFamily="34" charset="0"/>
                        </a:rPr>
                        <a:t>In case of delay in number of days beyond 30 days, </a:t>
                      </a:r>
                      <a:r>
                        <a:rPr lang="en-US" sz="1800" b="1" u="sng" baseline="0" dirty="0" smtClean="0">
                          <a:latin typeface="Arial" pitchFamily="34" charset="0"/>
                          <a:cs typeface="Arial" pitchFamily="34" charset="0"/>
                        </a:rPr>
                        <a:t>interest @7% per annum would be charged </a:t>
                      </a:r>
                      <a:r>
                        <a:rPr lang="en-US" sz="1800" b="1" u="sng" baseline="0" dirty="0" err="1" smtClean="0">
                          <a:latin typeface="Arial" pitchFamily="34" charset="0"/>
                          <a:cs typeface="Arial" pitchFamily="34" charset="0"/>
                        </a:rPr>
                        <a:t>w.e.f</a:t>
                      </a:r>
                      <a:r>
                        <a:rPr lang="en-US" sz="1800" b="1" u="sng" baseline="0" dirty="0" smtClean="0">
                          <a:latin typeface="Arial" pitchFamily="34" charset="0"/>
                          <a:cs typeface="Arial" pitchFamily="34" charset="0"/>
                        </a:rPr>
                        <a:t>. 01.04.2023</a:t>
                      </a:r>
                      <a:r>
                        <a:rPr lang="en-US" sz="1800" b="1" baseline="0" dirty="0" smtClean="0"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n-US" sz="1800" b="1" baseline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7</a:t>
            </a:fld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71472" y="1789300"/>
          <a:ext cx="804389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9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579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8247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hlinkClick r:id="rId2" action="ppaction://hlinkfile"/>
                        </a:rPr>
                        <a:t>OM dated 24.02.2023</a:t>
                      </a:r>
                      <a:endParaRPr lang="en-US" sz="1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Entry of </a:t>
                      </a:r>
                      <a:r>
                        <a:rPr lang="en-US" sz="1800" b="1" u="sng" dirty="0">
                          <a:latin typeface="Arial" pitchFamily="34" charset="0"/>
                          <a:cs typeface="Arial" pitchFamily="34" charset="0"/>
                        </a:rPr>
                        <a:t>legacy data</a:t>
                      </a:r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 in PFMS.</a:t>
                      </a:r>
                      <a:r>
                        <a:rPr lang="en-US" sz="1800" b="1" baseline="0" dirty="0">
                          <a:latin typeface="Arial" pitchFamily="34" charset="0"/>
                          <a:cs typeface="Arial" pitchFamily="34" charset="0"/>
                        </a:rPr>
                        <a:t> Action required from states: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Expenditure</a:t>
                      </a:r>
                      <a:r>
                        <a:rPr lang="en-US" sz="1800" b="1" baseline="0" dirty="0">
                          <a:latin typeface="Arial" pitchFamily="34" charset="0"/>
                          <a:cs typeface="Arial" pitchFamily="34" charset="0"/>
                        </a:rPr>
                        <a:t> done from 01.04.2021 to 30.06.2021 i.e. before the roll-out of SNA from 01.07.2021.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lang="en-US" sz="1800" b="1" baseline="0" dirty="0">
                          <a:latin typeface="Arial" pitchFamily="34" charset="0"/>
                          <a:cs typeface="Arial" pitchFamily="34" charset="0"/>
                        </a:rPr>
                        <a:t>Expenditure done outside SNA after roll-out of SNA from 01.07.2021.</a:t>
                      </a:r>
                    </a:p>
                    <a:p>
                      <a:pPr marL="342900" indent="-342900" algn="just">
                        <a:buNone/>
                      </a:pPr>
                      <a:endParaRPr lang="en-US" sz="1800" b="1" baseline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757535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itchFamily="34" charset="0"/>
                <a:cs typeface="Arial" pitchFamily="34" charset="0"/>
              </a:rPr>
              <a:t>DoE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Guidelines for current Financial Year 2023-24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43742"/>
            <a:ext cx="35814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Process involved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State Scheme Manager to feed legacy data in PFMS.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State Finance Department to approve it.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Program Division to validate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3761363"/>
            <a:ext cx="3581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Competent Nodal Authorities: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State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Agriculture Departments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State Treasury/Finance Department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Program Division in Ministry of Agriculture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8</a:t>
            </a:fld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2910" y="1500174"/>
          <a:ext cx="8043890" cy="7858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9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579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8582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hlinkClick r:id="rId2" action="ppaction://hlinkfile"/>
                        </a:rPr>
                        <a:t>OM dated 21.02.2023</a:t>
                      </a:r>
                      <a:endParaRPr lang="en-US" sz="1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Entry of </a:t>
                      </a:r>
                      <a:r>
                        <a:rPr lang="en-US" sz="1800" b="1" u="sng" dirty="0">
                          <a:latin typeface="Arial" pitchFamily="34" charset="0"/>
                          <a:cs typeface="Arial" pitchFamily="34" charset="0"/>
                        </a:rPr>
                        <a:t>Annual State wise amount</a:t>
                      </a:r>
                      <a:r>
                        <a:rPr lang="en-US" sz="1800" b="1" baseline="0" dirty="0">
                          <a:latin typeface="Arial" pitchFamily="34" charset="0"/>
                          <a:cs typeface="Arial" pitchFamily="34" charset="0"/>
                        </a:rPr>
                        <a:t> earmarked for a CSS in PFMS. (Functionality Under Development)</a:t>
                      </a:r>
                      <a:endParaRPr lang="en-US" sz="1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19400" y="2286000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Process involved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State Action Plan to be in place with corresponding financial outlays for a CSS.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To be entered in PFMS by the Program Division.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7535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itchFamily="34" charset="0"/>
                <a:cs typeface="Arial" pitchFamily="34" charset="0"/>
              </a:rPr>
              <a:t>DoE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 Guidelines for current Financial Year 2023-24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3962400"/>
          <a:ext cx="804389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9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579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8582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  <a:hlinkClick r:id="rId3" action="ppaction://hlinkfile"/>
                        </a:rPr>
                        <a:t>OM dated 30.08.2022</a:t>
                      </a:r>
                      <a:endParaRPr lang="en-US" sz="1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Procedure for </a:t>
                      </a:r>
                      <a:r>
                        <a:rPr lang="en-US" sz="1800" b="1" u="sng" dirty="0">
                          <a:latin typeface="Arial" pitchFamily="34" charset="0"/>
                          <a:cs typeface="Arial" pitchFamily="34" charset="0"/>
                        </a:rPr>
                        <a:t>remitting the interest</a:t>
                      </a:r>
                      <a:r>
                        <a:rPr lang="en-US" sz="1800" b="1" u="sng" baseline="0" dirty="0">
                          <a:latin typeface="Arial" pitchFamily="34" charset="0"/>
                          <a:cs typeface="Arial" pitchFamily="34" charset="0"/>
                        </a:rPr>
                        <a:t> earned</a:t>
                      </a:r>
                      <a:r>
                        <a:rPr lang="en-US" sz="1800" b="1" baseline="0" dirty="0">
                          <a:latin typeface="Arial" pitchFamily="34" charset="0"/>
                          <a:cs typeface="Arial" pitchFamily="34" charset="0"/>
                        </a:rPr>
                        <a:t> on the funds lying in the single nodal account to Central Government through BharatKosh-PFMS.</a:t>
                      </a:r>
                      <a:endParaRPr lang="en-US" sz="1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95600" y="5105400"/>
            <a:ext cx="358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  <a:hlinkClick r:id="rId4" action="ppaction://hlinkfile"/>
              </a:rPr>
              <a:t>Current Status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Only Gujarat, Odisha and Chhattisgarh have deposited interest till date as per procedure.</a:t>
            </a:r>
          </a:p>
        </p:txBody>
      </p:sp>
    </p:spTree>
    <p:extLst>
      <p:ext uri="{BB962C8B-B14F-4D97-AF65-F5344CB8AC3E}">
        <p14:creationId xmlns:p14="http://schemas.microsoft.com/office/powerpoint/2010/main" xmlns="" val="149434666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69823636"/>
              </p:ext>
            </p:extLst>
          </p:nvPr>
        </p:nvGraphicFramePr>
        <p:xfrm>
          <a:off x="357165" y="785799"/>
          <a:ext cx="8463308" cy="5554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5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54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54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04424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2801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008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4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8302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2386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970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Name of States/UTs</a:t>
                      </a: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Excess/Deficit Transferred to SNA in    FY 21-22 &amp; FY 22-23 </a:t>
                      </a:r>
                    </a:p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76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87694"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2" action="ppaction://hlinksldjump"/>
                        </a:rPr>
                        <a:t>Karnataka 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558.87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348.02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906.89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862.54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160.91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-44.35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116.56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368.51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2707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3" action="ppaction://hlinksldjump"/>
                        </a:rPr>
                        <a:t>Madhya Pradesh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306.55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204.36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510.91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533.54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533.51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22.63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556.14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293.55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4" action="ppaction://hlinksldjump"/>
                        </a:rPr>
                        <a:t>Uttar Pradesh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642.71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428.47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1071.18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1050.01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37.87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-21.17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16.7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287.82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5" action="ppaction://hlinksldjump"/>
                        </a:rPr>
                        <a:t>Telangana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41.21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27.48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68.69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316.37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570.08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247.68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817.76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265.08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6" action="ppaction://hlinksldjump"/>
                        </a:rPr>
                        <a:t>Tamil Nadu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619.94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409.03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1028.97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996.95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428.82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-32.02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396.79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259.64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7" action="ppaction://hlinksldjump"/>
                        </a:rPr>
                        <a:t>Punjab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31.3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20.87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52.17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161.09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29.86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108.92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138.79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202.45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8" action="ppaction://hlinksldjump"/>
                        </a:rPr>
                        <a:t>Maharashtra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691.07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460.71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1151.79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758.96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149.54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-392.83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-243.29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182.71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9" action="ppaction://hlinksldjump"/>
                        </a:rPr>
                        <a:t>Rajasthan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492.13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328.08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820.21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765.58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203.36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-54.63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148.73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179.7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10" action="ppaction://hlinksldjump"/>
                        </a:rPr>
                        <a:t>Andhra Pradesh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375.06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250.04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625.1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1178.5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1609.73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553.4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2163.13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157.35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11" action="ppaction://hlinksldjump"/>
                        </a:rPr>
                        <a:t>Assam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333.11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37.01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370.12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467.85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199.44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97.73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297.17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151.13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12" action="ppaction://hlinksldjump"/>
                        </a:rPr>
                        <a:t>West Bengal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309.79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206.53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516.31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540.54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74.28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24.23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98.5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140.17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13" action="ppaction://hlinksldjump"/>
                        </a:rPr>
                        <a:t>Odisha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126.42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84.28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210.69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198.97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17.91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-11.72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6.19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140.09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14" action="ppaction://hlinksldjump"/>
                        </a:rPr>
                        <a:t>Haryana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203.46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135.64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339.09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474.24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199.99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135.14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335.13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129.59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15" action="ppaction://hlinksldjump"/>
                        </a:rPr>
                        <a:t>Bihar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84.02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56.01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140.03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98.11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121.47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-41.93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79.55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129.44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86800" cy="642918"/>
          </a:xfrm>
        </p:spPr>
        <p:txBody>
          <a:bodyPr>
            <a:noAutofit/>
          </a:bodyPr>
          <a:lstStyle/>
          <a:p>
            <a:pPr lvl="0" algn="l"/>
            <a:r>
              <a:rPr lang="en-US" sz="2000" dirty="0"/>
              <a:t/>
            </a:r>
            <a:br>
              <a:rPr lang="en-US" sz="2000" dirty="0"/>
            </a:br>
            <a:r>
              <a:rPr lang="en-US" sz="1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States/UTs wise availability of funds with State Treasury and SNA Account  as on 02.05.2023 for F.Y. 2022-2023                                                                                  (In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Crores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)</a:t>
            </a:r>
            <a:r>
              <a:rPr lang="en-US" sz="1600" b="1" dirty="0"/>
              <a:t>   </a:t>
            </a:r>
            <a:br>
              <a:rPr lang="en-US" sz="1600" b="1" dirty="0"/>
            </a:br>
            <a:r>
              <a:rPr lang="en-US" sz="1600" b="1" dirty="0"/>
              <a:t>						                       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7063096" y="6400800"/>
            <a:ext cx="22333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421019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557240436"/>
              </p:ext>
            </p:extLst>
          </p:nvPr>
        </p:nvGraphicFramePr>
        <p:xfrm>
          <a:off x="341222" y="764704"/>
          <a:ext cx="8463308" cy="5031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5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54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54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04424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2801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008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4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8302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2386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92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Name of States/UTs</a:t>
                      </a: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Excess/Deficit Transferred to SNA in    FY 21-22 &amp; FY 22-23 </a:t>
                      </a:r>
                    </a:p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98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934"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2" action="ppaction://hlinksldjump"/>
                        </a:rPr>
                        <a:t>Chhattisgarh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270.16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180.11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450.26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398.18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174.66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-52.09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122.57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111.7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3" action="ppaction://hlinksldjump"/>
                        </a:rPr>
                        <a:t>Jharkhand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55.44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36.96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92.4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150.81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135.13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58.41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193.54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107.21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4" action="ppaction://hlinksldjump"/>
                        </a:rPr>
                        <a:t>Uttarakhand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301.53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33.43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334.96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296.2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-5.12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-38.76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-43.88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101.36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5" action="ppaction://hlinksldjump"/>
                        </a:rPr>
                        <a:t>Himachal Pradesh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64.65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7.18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71.84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76.3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7.23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4.46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11.69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82.37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6" action="ppaction://hlinksldjump"/>
                        </a:rPr>
                        <a:t>Tripura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94.55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105.05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137.8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43.78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32.75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76.53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55.7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7" action="ppaction://hlinksldjump"/>
                        </a:rPr>
                        <a:t>Nagaland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164.39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18.27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182.66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136.74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-14.69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-45.92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-60.6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55.61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8" action="ppaction://hlinksldjump"/>
                        </a:rPr>
                        <a:t>Kerala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165.75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115.14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280.89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246.91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-33.98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-32.18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46.44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9" action="ppaction://hlinksldjump"/>
                        </a:rPr>
                        <a:t>Manipur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54.54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6.06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60.6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92.49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-46.96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31.89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-15.07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45.72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10" action="ppaction://hlinksldjump"/>
                        </a:rPr>
                        <a:t>Gujarat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277.3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186.04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463.34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583.98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128.22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120.64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248.87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35.53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11" action="ppaction://hlinksldjump"/>
                        </a:rPr>
                        <a:t>Meghalaya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19.51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21.68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31.4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7.7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9.72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17.42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35.13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12" action="ppaction://hlinksldjump"/>
                        </a:rPr>
                        <a:t>Mizoram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49.67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5.52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55.19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44.83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-47.8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-10.37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-58.17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25.57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13" action="ppaction://hlinksldjump"/>
                        </a:rPr>
                        <a:t>Arunachal Pradesh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55.62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6.19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61.81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65.9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30.35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4.09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34.45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17.63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86800" cy="642918"/>
          </a:xfrm>
        </p:spPr>
        <p:txBody>
          <a:bodyPr>
            <a:noAutofit/>
          </a:bodyPr>
          <a:lstStyle/>
          <a:p>
            <a:pPr lvl="0" algn="l"/>
            <a:r>
              <a:rPr lang="en-US" sz="2000" dirty="0"/>
              <a:t/>
            </a:r>
            <a:br>
              <a:rPr lang="en-US" sz="2000" dirty="0"/>
            </a:br>
            <a:r>
              <a:rPr lang="en-US" sz="1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States/UTs wise availability of funds with State Treasury and SNA Account  as on 02.05.2023 for F.Y. 2022-2023                                                                                  (In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Crores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)</a:t>
            </a:r>
            <a:r>
              <a:rPr lang="en-US" sz="1600" b="1" dirty="0"/>
              <a:t>   </a:t>
            </a:r>
            <a:br>
              <a:rPr lang="en-US" sz="1600" b="1" dirty="0"/>
            </a:br>
            <a:r>
              <a:rPr lang="en-US" sz="1600" b="1" dirty="0"/>
              <a:t>						                       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7063096" y="6400800"/>
            <a:ext cx="22333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08558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557240436"/>
              </p:ext>
            </p:extLst>
          </p:nvPr>
        </p:nvGraphicFramePr>
        <p:xfrm>
          <a:off x="341222" y="764704"/>
          <a:ext cx="8463308" cy="350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5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54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54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04424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2801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008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4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8302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2386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924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Name of States/UTs</a:t>
                      </a: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Excess/Deficit Transferred to SNA in    FY 21-22 &amp; FY 22-23 </a:t>
                      </a:r>
                    </a:p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r>
                        <a:rPr lang="en-US" sz="1100" b="1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98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934"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2" action="ppaction://hlinksldjump"/>
                        </a:rPr>
                        <a:t>Goa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6.29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4.19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10.48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10.51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22.54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latin typeface="Arial"/>
                        </a:rPr>
                        <a:t>22.57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12.33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  <a:hlinkClick r:id="rId3" action="ppaction://hlinksldjump"/>
                        </a:rPr>
                        <a:t>Jammu and Kashmir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45.59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49.4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35.85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17.11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-13.54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3.57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7.72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4" action="ppaction://hlinksldjump"/>
                        </a:rPr>
                        <a:t>Sikkim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91.77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101.97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129.82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-47.21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27.85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-19.36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6.22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latin typeface="Arial"/>
                          <a:hlinkClick r:id="rId5" action="ppaction://hlinksldjump"/>
                        </a:rPr>
                        <a:t>Puducherry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5" action="ppaction://hlinksldjump"/>
                        </a:rPr>
                        <a:t>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7.57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7.57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2.81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-0.26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2.55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4.24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  <a:hlinkClick r:id="rId6" action="ppaction://hlinksldjump"/>
                        </a:rPr>
                        <a:t>Delhi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-0.2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-0.01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620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Total 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6540.17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3622.31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10162.45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10848.28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4746.52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685.79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5432.34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3637.88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3528" y="4724400"/>
            <a:ext cx="87129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itchFamily="34" charset="0"/>
                <a:cs typeface="Arial" pitchFamily="34" charset="0"/>
              </a:rPr>
              <a:t>NOTE-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Bank balance in column 7 is as on 31.03.2023 and is not factoring transfer of state share later on by states.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Total amount of Column 6 is cumulative result of excess &amp; deficit transfer and it will not apply across the scheme. </a:t>
            </a:r>
            <a:endParaRPr lang="en-US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86800" cy="642918"/>
          </a:xfrm>
        </p:spPr>
        <p:txBody>
          <a:bodyPr>
            <a:noAutofit/>
          </a:bodyPr>
          <a:lstStyle/>
          <a:p>
            <a:pPr lvl="0" algn="l"/>
            <a:r>
              <a:rPr lang="en-US" sz="2000" dirty="0"/>
              <a:t/>
            </a:r>
            <a:br>
              <a:rPr lang="en-US" sz="2000" dirty="0"/>
            </a:br>
            <a:r>
              <a:rPr lang="en-US" sz="1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States/UTs wise availability of funds with State Treasury and SNA Account  as on 02.05.2023 for F.Y. 2022-2023                                                                                  (In </a:t>
            </a:r>
            <a:r>
              <a:rPr lang="en-US" sz="1600" b="1" dirty="0" err="1">
                <a:latin typeface="Arial" pitchFamily="34" charset="0"/>
                <a:cs typeface="Arial" pitchFamily="34" charset="0"/>
              </a:rPr>
              <a:t>Crores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)</a:t>
            </a:r>
            <a:r>
              <a:rPr lang="en-US" sz="1600" b="1" dirty="0"/>
              <a:t>   </a:t>
            </a:r>
            <a:br>
              <a:rPr lang="en-US" sz="1600" b="1" dirty="0"/>
            </a:br>
            <a:r>
              <a:rPr lang="en-US" sz="1600" b="1" dirty="0"/>
              <a:t>						                  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108558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81C62-67CE-414D-9578-6B11B56B3817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093071" y="2967335"/>
            <a:ext cx="29578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xmlns="" val="94056984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latin typeface="+mj-lt"/>
                <a:ea typeface="Times New Roman" panose="02020603050405020304" pitchFamily="18" charset="0"/>
                <a:cs typeface="Lucida Sans Unicode" panose="020B0602030504020204" charset="0"/>
              </a:rPr>
              <a:t>ANDHRA PRADESH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22676904"/>
              </p:ext>
            </p:extLst>
          </p:nvPr>
        </p:nvGraphicFramePr>
        <p:xfrm>
          <a:off x="357158" y="857233"/>
          <a:ext cx="8463312" cy="5320721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6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318.56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212.37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530.93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1,055.88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641.04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524.95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1,165.99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148.34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36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83.33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67.14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-16.19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36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361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4034 - Edible Oil -Oilseeds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13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9940718"/>
              </p:ext>
            </p:extLst>
          </p:nvPr>
        </p:nvGraphicFramePr>
        <p:xfrm>
          <a:off x="357158" y="642918"/>
          <a:ext cx="8463312" cy="538694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516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30.37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2009 - Rainfed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207.27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207.27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289.65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289.65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7929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19.78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388.18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388.18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375.06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250.04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625.10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1178.50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1609.73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553.40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2163.13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157.35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14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095037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429214067"/>
      </p:ext>
    </p:extLst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ARUNACHAL PRADESH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55727810"/>
              </p:ext>
            </p:extLst>
          </p:nvPr>
        </p:nvGraphicFramePr>
        <p:xfrm>
          <a:off x="357158" y="857233"/>
          <a:ext cx="8463312" cy="5467838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18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93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654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48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36.89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36.07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24.08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7.80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031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031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031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858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58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96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15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922890924"/>
      </p:ext>
    </p:extLst>
  </p:cSld>
  <p:clrMapOvr>
    <a:masterClrMapping/>
  </p:clrMapOvr>
  <p:transition spd="slow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88366095"/>
              </p:ext>
            </p:extLst>
          </p:nvPr>
        </p:nvGraphicFramePr>
        <p:xfrm>
          <a:off x="357158" y="857233"/>
          <a:ext cx="8463312" cy="517971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427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5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67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64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66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24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252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252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964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930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55.62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61.81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65.90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30.35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34.45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17.63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16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165304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202478284"/>
      </p:ext>
    </p:extLst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60648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latin typeface="+mj-lt"/>
                <a:ea typeface="Times New Roman" panose="02020603050405020304" pitchFamily="18" charset="0"/>
                <a:cs typeface="Lucida Sans Unicode" panose="020B0602030504020204" charset="0"/>
              </a:rPr>
              <a:t>ASSAM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31332457"/>
              </p:ext>
            </p:extLst>
          </p:nvPr>
        </p:nvGraphicFramePr>
        <p:xfrm>
          <a:off x="357158" y="857233"/>
          <a:ext cx="8463312" cy="5230158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204.50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227.23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252.93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85.35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111.05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112.76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79.78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88.64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108.94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53.85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74.14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88.67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102.28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6.07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7.76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6.93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19.46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18.53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17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838550820"/>
      </p:ext>
    </p:extLst>
  </p:cSld>
  <p:clrMapOvr>
    <a:masterClrMapping/>
  </p:clrMapOvr>
  <p:transition spd="slow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04771605"/>
              </p:ext>
            </p:extLst>
          </p:nvPr>
        </p:nvGraphicFramePr>
        <p:xfrm>
          <a:off x="357158" y="857233"/>
          <a:ext cx="8463312" cy="508803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2009 - Rainfed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956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-34.44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-34.44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6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-4.35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-4.35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333.11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37.01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370.12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467.85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199.44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97.73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297.17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151.13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18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901465485"/>
      </p:ext>
    </p:extLst>
  </p:cSld>
  <p:clrMapOvr>
    <a:masterClrMapping/>
  </p:clrMapOvr>
  <p:transition spd="slow"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BIHAR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59755225"/>
              </p:ext>
            </p:extLst>
          </p:nvPr>
        </p:nvGraphicFramePr>
        <p:xfrm>
          <a:off x="357158" y="857233"/>
          <a:ext cx="8463312" cy="540176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43.83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73.05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42.08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-30.97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-29.90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101.82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-8.33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-8.33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13.90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32.16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16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6.39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60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60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2009 - Rainfed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19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919095786"/>
      </p:ext>
    </p:extLst>
  </p:cSld>
  <p:clrMapOvr>
    <a:masterClrMapping/>
  </p:clrMapOvr>
  <p:transition spd="slow"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45896965"/>
              </p:ext>
            </p:extLst>
          </p:nvPr>
        </p:nvGraphicFramePr>
        <p:xfrm>
          <a:off x="357158" y="836712"/>
          <a:ext cx="8463312" cy="5366218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14.35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49.11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49.11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23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84.02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56.01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140.03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98.11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121.47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-41.93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79.55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129.44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20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239053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8281264"/>
      </p:ext>
    </p:extLst>
  </p:cSld>
  <p:clrMapOvr>
    <a:masterClrMapping/>
  </p:clrMapOvr>
  <p:transition spd="slow"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CHHATTISGARH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85729121"/>
              </p:ext>
            </p:extLst>
          </p:nvPr>
        </p:nvGraphicFramePr>
        <p:xfrm>
          <a:off x="357158" y="857233"/>
          <a:ext cx="8463312" cy="542203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149.96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99.97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249.93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191.73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-58.20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-58.11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88.24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-29.21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-27.54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39.42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65.70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18.63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7.72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60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4033 - Edible Oil - oil Palm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21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591229247"/>
      </p:ext>
    </p:extLst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91889691"/>
              </p:ext>
            </p:extLst>
          </p:nvPr>
        </p:nvGraphicFramePr>
        <p:xfrm>
          <a:off x="357158" y="857233"/>
          <a:ext cx="8463312" cy="546831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59.63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59.63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72.31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72.31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995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43.86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43.86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270.16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180.11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450.26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398.18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174.66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-52.09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122.57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111.70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22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239053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897382887"/>
      </p:ext>
    </p:extLst>
  </p:cSld>
  <p:clrMapOvr>
    <a:masterClrMapping/>
  </p:clrMapOvr>
  <p:transition spd="slow"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GOA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00442583"/>
              </p:ext>
            </p:extLst>
          </p:nvPr>
        </p:nvGraphicFramePr>
        <p:xfrm>
          <a:off x="357158" y="857233"/>
          <a:ext cx="8463312" cy="4645171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14.48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11.26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16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4033 - Edible Oil - oil Palm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0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4034 - Edible Oil -Oilseeds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60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23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2541662183"/>
      </p:ext>
    </p:extLst>
  </p:cSld>
  <p:clrMapOvr>
    <a:masterClrMapping/>
  </p:clrMapOvr>
  <p:transition spd="slow"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56861927"/>
              </p:ext>
            </p:extLst>
          </p:nvPr>
        </p:nvGraphicFramePr>
        <p:xfrm>
          <a:off x="357158" y="857233"/>
          <a:ext cx="8463312" cy="3123657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2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6.29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22.54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22.57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12.33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24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4869160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17611169"/>
      </p:ext>
    </p:extLst>
  </p:cSld>
  <p:clrMapOvr>
    <a:masterClrMapping/>
  </p:clrMapOvr>
  <p:transition spd="slow"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GUJARAT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44990525"/>
              </p:ext>
            </p:extLst>
          </p:nvPr>
        </p:nvGraphicFramePr>
        <p:xfrm>
          <a:off x="357158" y="857233"/>
          <a:ext cx="8463312" cy="540970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185.22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123.48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308.71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400.59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91.88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104.21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26.47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43.86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-6.94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-36.04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38.98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30.73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908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908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25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32815137"/>
      </p:ext>
    </p:extLst>
  </p:cSld>
  <p:clrMapOvr>
    <a:masterClrMapping/>
  </p:clrMapOvr>
  <p:transition spd="slow"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85727990"/>
              </p:ext>
            </p:extLst>
          </p:nvPr>
        </p:nvGraphicFramePr>
        <p:xfrm>
          <a:off x="357158" y="857233"/>
          <a:ext cx="8463312" cy="540410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4037 - Seed and Planting Material 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127.67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127.67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26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269079216"/>
      </p:ext>
    </p:extLst>
  </p:cSld>
  <p:clrMapOvr>
    <a:masterClrMapping/>
  </p:clrMapOvr>
  <p:transition spd="slow"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39155231"/>
              </p:ext>
            </p:extLst>
          </p:nvPr>
        </p:nvGraphicFramePr>
        <p:xfrm>
          <a:off x="357158" y="857233"/>
          <a:ext cx="8463312" cy="257332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277.30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186.04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463.34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583.98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128.22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120.64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248.87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35.53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27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4365104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518874589"/>
      </p:ext>
    </p:extLst>
  </p:cSld>
  <p:clrMapOvr>
    <a:masterClrMapping/>
  </p:clrMapOvr>
  <p:transition spd="slow"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latin typeface="+mj-lt"/>
                <a:ea typeface="Times New Roman" panose="02020603050405020304" pitchFamily="18" charset="0"/>
                <a:cs typeface="Lucida Sans Unicode" panose="020B0602030504020204" charset="0"/>
              </a:rPr>
              <a:t>HARYANA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41982793"/>
              </p:ext>
            </p:extLst>
          </p:nvPr>
        </p:nvGraphicFramePr>
        <p:xfrm>
          <a:off x="357158" y="857233"/>
          <a:ext cx="8463312" cy="5541851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161.38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107.59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268.97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354.28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42.25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85.31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127.56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113.14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07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54.00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73.43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22.01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361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130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13.68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9005 - Agriculture Census and Statistics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430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latin typeface="Arial" pitchFamily="34" charset="0"/>
                          <a:cs typeface="Arial" pitchFamily="34" charset="0"/>
                        </a:rPr>
                        <a:t>9423 - Digital Agriculture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28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984542909"/>
      </p:ext>
    </p:extLst>
  </p:cSld>
  <p:clrMapOvr>
    <a:masterClrMapping/>
  </p:clrMapOvr>
  <p:transition spd="slow"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21036232"/>
              </p:ext>
            </p:extLst>
          </p:nvPr>
        </p:nvGraphicFramePr>
        <p:xfrm>
          <a:off x="357158" y="857233"/>
          <a:ext cx="8463312" cy="529973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4038 - Agriculture Extension (Krishionnati Yojana)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110.83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203.46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135.64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339.09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474.24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199.99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135.14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335.13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129.59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29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74204" y="6093296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284819764"/>
      </p:ext>
    </p:extLst>
  </p:cSld>
  <p:clrMapOvr>
    <a:masterClrMapping/>
  </p:clrMapOvr>
  <p:transition spd="slow"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HIMACHAL PRADESH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87757619"/>
              </p:ext>
            </p:extLst>
          </p:nvPr>
        </p:nvGraphicFramePr>
        <p:xfrm>
          <a:off x="357158" y="857233"/>
          <a:ext cx="8463312" cy="5423413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61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15.90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54.95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044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221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30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55683944"/>
      </p:ext>
    </p:extLst>
  </p:cSld>
  <p:clrMapOvr>
    <a:masterClrMapping/>
  </p:clrMapOvr>
  <p:transition spd="slow"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45932194"/>
              </p:ext>
            </p:extLst>
          </p:nvPr>
        </p:nvGraphicFramePr>
        <p:xfrm>
          <a:off x="357158" y="857233"/>
          <a:ext cx="8463312" cy="4857168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07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9959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64.65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71.84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76.30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11.69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82.37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31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733256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47742695"/>
      </p:ext>
    </p:extLst>
  </p:cSld>
  <p:clrMapOvr>
    <a:masterClrMapping/>
  </p:clrMapOvr>
  <p:transition spd="slow"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60648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latin typeface="+mj-lt"/>
                <a:ea typeface="Times New Roman" panose="02020603050405020304" pitchFamily="18" charset="0"/>
                <a:cs typeface="Lucida Sans Unicode" panose="020B0602030504020204" charset="0"/>
              </a:rPr>
              <a:t>JHARKHAND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13513456"/>
              </p:ext>
            </p:extLst>
          </p:nvPr>
        </p:nvGraphicFramePr>
        <p:xfrm>
          <a:off x="357158" y="857233"/>
          <a:ext cx="8463312" cy="505105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57.40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85.74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73.85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53.47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36.86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75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9140 - Food and Nutrition Security (Krishionnati Yojana)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55.45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32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639027559"/>
      </p:ext>
    </p:extLst>
  </p:cSld>
  <p:clrMapOvr>
    <a:masterClrMapping/>
  </p:clrMapOvr>
  <p:transition spd="slow"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77612927"/>
              </p:ext>
            </p:extLst>
          </p:nvPr>
        </p:nvGraphicFramePr>
        <p:xfrm>
          <a:off x="357158" y="857233"/>
          <a:ext cx="8463312" cy="4978527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948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15.12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53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27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27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55.44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36.96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92.40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150.81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135.13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58.41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193.54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107.21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33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559995284"/>
      </p:ext>
    </p:extLst>
  </p:cSld>
  <p:clrMapOvr>
    <a:masterClrMapping/>
  </p:clrMapOvr>
  <p:transition spd="slow"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KARNATAKA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39504666"/>
              </p:ext>
            </p:extLst>
          </p:nvPr>
        </p:nvGraphicFramePr>
        <p:xfrm>
          <a:off x="357158" y="822124"/>
          <a:ext cx="8463312" cy="4902733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357.93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238.62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596.54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566.44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289.83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102.68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68.45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-4.46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15.75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19.16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81.08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110.58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94.18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-16.40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18.62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53.06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-4.14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16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31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60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34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901874341"/>
      </p:ext>
    </p:extLst>
  </p:cSld>
  <p:clrMapOvr>
    <a:masterClrMapping/>
  </p:clrMapOvr>
  <p:transition spd="slow"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37751919"/>
              </p:ext>
            </p:extLst>
          </p:nvPr>
        </p:nvGraphicFramePr>
        <p:xfrm>
          <a:off x="357158" y="857233"/>
          <a:ext cx="8463312" cy="449528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71.65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71.65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617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35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559351155"/>
      </p:ext>
    </p:extLst>
  </p:cSld>
  <p:clrMapOvr>
    <a:masterClrMapping/>
  </p:clrMapOvr>
  <p:transition spd="slow"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10752496"/>
              </p:ext>
            </p:extLst>
          </p:nvPr>
        </p:nvGraphicFramePr>
        <p:xfrm>
          <a:off x="357158" y="857233"/>
          <a:ext cx="8463312" cy="3013757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9505 - Sub- Mission on Agriculture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Mechanisation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558.87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348.02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906.89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862.54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160.91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-44.35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116.56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368.51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36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4725144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592350373"/>
      </p:ext>
    </p:extLst>
  </p:cSld>
  <p:clrMapOvr>
    <a:masterClrMapping/>
  </p:clrMapOvr>
  <p:transition spd="slow"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KERALA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50753449"/>
              </p:ext>
            </p:extLst>
          </p:nvPr>
        </p:nvGraphicFramePr>
        <p:xfrm>
          <a:off x="357158" y="857233"/>
          <a:ext cx="8463312" cy="515413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130.88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91.89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222.77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187.83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-34.94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-38.92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24.21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14.18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6.39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4033 - Edible Oil - oil Palm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605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37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08073432"/>
      </p:ext>
    </p:extLst>
  </p:cSld>
  <p:clrMapOvr>
    <a:masterClrMapping/>
  </p:clrMapOvr>
  <p:transition spd="slow"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77486766"/>
              </p:ext>
            </p:extLst>
          </p:nvPr>
        </p:nvGraphicFramePr>
        <p:xfrm>
          <a:off x="357160" y="1052736"/>
          <a:ext cx="8463312" cy="482453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14.28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21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3924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982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165.75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115.14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280.89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246.91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-33.98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-32.18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46.44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38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167045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772927338"/>
      </p:ext>
    </p:extLst>
  </p:cSld>
  <p:clrMapOvr>
    <a:masterClrMapping/>
  </p:clrMapOvr>
  <p:transition spd="slow"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MADHYA PRADESH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42269572"/>
              </p:ext>
            </p:extLst>
          </p:nvPr>
        </p:nvGraphicFramePr>
        <p:xfrm>
          <a:off x="357158" y="785794"/>
          <a:ext cx="8463312" cy="5589257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180.67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120.45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301.12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316.01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94.44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109.34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211.05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45.71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76.19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78.72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79.40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81.92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15.03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8.81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62.77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65.00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8.37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20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14.05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00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9005 - Agriculture Census and Statistics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39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2559011259"/>
      </p:ext>
    </p:extLst>
  </p:cSld>
  <p:clrMapOvr>
    <a:masterClrMapping/>
  </p:clrMapOvr>
  <p:transition spd="slow"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67604588"/>
              </p:ext>
            </p:extLst>
          </p:nvPr>
        </p:nvGraphicFramePr>
        <p:xfrm>
          <a:off x="357158" y="857233"/>
          <a:ext cx="8463312" cy="5265963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778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84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6.48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214.67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214.67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13.80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29.50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2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02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306.55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204.36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510.91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533.54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533.51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22.63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556.14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293.55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40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167045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003511848"/>
      </p:ext>
    </p:extLst>
  </p:cSld>
  <p:clrMapOvr>
    <a:masterClrMapping/>
  </p:clrMapOvr>
  <p:transition spd="slow"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MAHARASHTRA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9319655"/>
              </p:ext>
            </p:extLst>
          </p:nvPr>
        </p:nvGraphicFramePr>
        <p:xfrm>
          <a:off x="357158" y="857233"/>
          <a:ext cx="8463312" cy="574207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487.33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324.89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812.21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502.49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-309.72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-309.73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155.26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47.13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117.81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117.81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13.79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63.00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42.00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-9.36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10.23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47.50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-14.59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-13.57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-13.57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-19.95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4036 - Integrated Development of Horticulture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41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158259963"/>
      </p:ext>
    </p:extLst>
  </p:cSld>
  <p:clrMapOvr>
    <a:masterClrMapping/>
  </p:clrMapOvr>
  <p:transition spd="slow"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99721291"/>
              </p:ext>
            </p:extLst>
          </p:nvPr>
        </p:nvGraphicFramePr>
        <p:xfrm>
          <a:off x="357158" y="857233"/>
          <a:ext cx="8463312" cy="525081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54.15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54.15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560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691.07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460.71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1151.79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758.96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149.54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-392.83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-243.29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182.71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42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095037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872790930"/>
      </p:ext>
    </p:extLst>
  </p:cSld>
  <p:clrMapOvr>
    <a:masterClrMapping/>
  </p:clrMapOvr>
  <p:transition spd="slow"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MANIPUR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06791019"/>
              </p:ext>
            </p:extLst>
          </p:nvPr>
        </p:nvGraphicFramePr>
        <p:xfrm>
          <a:off x="357158" y="857233"/>
          <a:ext cx="8463312" cy="5549058"/>
        </p:xfrm>
        <a:graphic>
          <a:graphicData uri="http://schemas.openxmlformats.org/drawingml/2006/table">
            <a:tbl>
              <a:tblPr/>
              <a:tblGrid>
                <a:gridCol w="13345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358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24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0074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162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38.92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43.24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-7.58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19.96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36.86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548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-6.08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-6.50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60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34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28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4033 - Edible Oil - oil Palm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94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594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43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2206996073"/>
      </p:ext>
    </p:extLst>
  </p:cSld>
  <p:clrMapOvr>
    <a:masterClrMapping/>
  </p:clrMapOvr>
  <p:transition spd="slow"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16680495"/>
              </p:ext>
            </p:extLst>
          </p:nvPr>
        </p:nvGraphicFramePr>
        <p:xfrm>
          <a:off x="357158" y="857233"/>
          <a:ext cx="8463312" cy="5296052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21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54.54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92.49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-46.96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31.89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-15.07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45.72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44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167045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726089119"/>
      </p:ext>
    </p:extLst>
  </p:cSld>
  <p:clrMapOvr>
    <a:masterClrMapping/>
  </p:clrMapOvr>
  <p:transition spd="slow"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MEGHALAYA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06845990"/>
              </p:ext>
            </p:extLst>
          </p:nvPr>
        </p:nvGraphicFramePr>
        <p:xfrm>
          <a:off x="357158" y="857233"/>
          <a:ext cx="8463312" cy="560334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462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20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45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2335057000"/>
      </p:ext>
    </p:extLst>
  </p:cSld>
  <p:clrMapOvr>
    <a:masterClrMapping/>
  </p:clrMapOvr>
  <p:transition spd="slow"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66197141"/>
              </p:ext>
            </p:extLst>
          </p:nvPr>
        </p:nvGraphicFramePr>
        <p:xfrm>
          <a:off x="357158" y="857233"/>
          <a:ext cx="8463312" cy="4828632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84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2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19.51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21.68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31.40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17.42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35.13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46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258683487"/>
      </p:ext>
    </p:extLst>
  </p:cSld>
  <p:clrMapOvr>
    <a:masterClrMapping/>
  </p:clrMapOvr>
  <p:transition spd="slow">
    <p:wipe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MIZORAM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15828570"/>
              </p:ext>
            </p:extLst>
          </p:nvPr>
        </p:nvGraphicFramePr>
        <p:xfrm>
          <a:off x="357158" y="857233"/>
          <a:ext cx="8463312" cy="551569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21.26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-5.84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4034 - Edible Oil -Oilseeds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47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462925007"/>
      </p:ext>
    </p:extLst>
  </p:cSld>
  <p:clrMapOvr>
    <a:masterClrMapping/>
  </p:clrMapOvr>
  <p:transition spd="slow"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14285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33013510"/>
              </p:ext>
            </p:extLst>
          </p:nvPr>
        </p:nvGraphicFramePr>
        <p:xfrm>
          <a:off x="357158" y="662567"/>
          <a:ext cx="8463312" cy="518580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14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84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96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88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49.67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55.19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44.83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-47.80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-10.37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-58.17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25.57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48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836605547"/>
      </p:ext>
    </p:extLst>
  </p:cSld>
  <p:clrMapOvr>
    <a:masterClrMapping/>
  </p:clrMapOvr>
  <p:transition spd="slow"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NAGALAND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42853981"/>
              </p:ext>
            </p:extLst>
          </p:nvPr>
        </p:nvGraphicFramePr>
        <p:xfrm>
          <a:off x="357158" y="857233"/>
          <a:ext cx="8463312" cy="5443688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128.00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104.33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-18.45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-37.89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-56.34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50.15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-4.10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-6.04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33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33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49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2938206151"/>
      </p:ext>
    </p:extLst>
  </p:cSld>
  <p:clrMapOvr>
    <a:masterClrMapping/>
  </p:clrMapOvr>
  <p:transition spd="slow">
    <p:wipe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18598057"/>
              </p:ext>
            </p:extLst>
          </p:nvPr>
        </p:nvGraphicFramePr>
        <p:xfrm>
          <a:off x="357158" y="857233"/>
          <a:ext cx="8463312" cy="548769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289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47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954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04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99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508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-12.24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-12.24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508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904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904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9041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6954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164.39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18.27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182.66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136.74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-14.69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-45.92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-60.60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55.61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50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309320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922088290"/>
      </p:ext>
    </p:extLst>
  </p:cSld>
  <p:clrMapOvr>
    <a:masterClrMapping/>
  </p:clrMapOvr>
  <p:transition spd="slow"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ODISHA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10132592"/>
              </p:ext>
            </p:extLst>
          </p:nvPr>
        </p:nvGraphicFramePr>
        <p:xfrm>
          <a:off x="357158" y="857233"/>
          <a:ext cx="8463312" cy="515761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43.32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72.20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66.02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-6.17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-6.18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43.00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-17.08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14.90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17.23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7.58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20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51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79956438"/>
      </p:ext>
    </p:extLst>
  </p:cSld>
  <p:clrMapOvr>
    <a:masterClrMapping/>
  </p:clrMapOvr>
  <p:transition spd="slow"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39747477"/>
              </p:ext>
            </p:extLst>
          </p:nvPr>
        </p:nvGraphicFramePr>
        <p:xfrm>
          <a:off x="357158" y="857233"/>
          <a:ext cx="8463312" cy="5175957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3032 - Sub- Mission on Plant Protection and Plant Quarantine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496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956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23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52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348357949"/>
      </p:ext>
    </p:extLst>
  </p:cSld>
  <p:clrMapOvr>
    <a:masterClrMapping/>
  </p:clrMapOvr>
  <p:transition spd="slow"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88266328"/>
              </p:ext>
            </p:extLst>
          </p:nvPr>
        </p:nvGraphicFramePr>
        <p:xfrm>
          <a:off x="357158" y="857233"/>
          <a:ext cx="8463312" cy="3435863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9505 - Sub- Mission on Agriculture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Mechanisation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9053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126.42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84.28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210.69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198.97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17.91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-11.72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140.09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53</a:t>
            </a:fld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89856" y="4797152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790920578"/>
      </p:ext>
    </p:extLst>
  </p:cSld>
  <p:clrMapOvr>
    <a:masterClrMapping/>
  </p:clrMapOvr>
  <p:transition spd="slow"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PUNJAB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23406373"/>
              </p:ext>
            </p:extLst>
          </p:nvPr>
        </p:nvGraphicFramePr>
        <p:xfrm>
          <a:off x="357158" y="857233"/>
          <a:ext cx="8463312" cy="551569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36.01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-13.70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-10.42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9145 - Rashtriya Krishi Vikas Yojna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93.20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86.95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104.12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189.67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4034 - Edible Oil -Oilseeds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54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07033226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65719256"/>
              </p:ext>
            </p:extLst>
          </p:nvPr>
        </p:nvGraphicFramePr>
        <p:xfrm>
          <a:off x="357158" y="857233"/>
          <a:ext cx="8463312" cy="429840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508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84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29.90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31.30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20.87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52.17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161.09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29.86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108.92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138.79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202.45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55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677602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78432277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RAJASTHAN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00428009"/>
              </p:ext>
            </p:extLst>
          </p:nvPr>
        </p:nvGraphicFramePr>
        <p:xfrm>
          <a:off x="357158" y="857233"/>
          <a:ext cx="8463312" cy="548410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314.32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209.55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523.87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486.34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-13.62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-37.53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-51.16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111.54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97.26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64.84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162.10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144.48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66.35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-17.61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48.73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32.78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57.61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13.00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21.24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21.24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-6.13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2009 - Rainfed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56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99844383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35554825"/>
              </p:ext>
            </p:extLst>
          </p:nvPr>
        </p:nvGraphicFramePr>
        <p:xfrm>
          <a:off x="357158" y="857233"/>
          <a:ext cx="8463312" cy="494004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122.59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122.59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84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96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492.13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328.08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820.21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765.58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203.36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-54.63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148.73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179.70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57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857486872"/>
      </p:ext>
    </p:extLst>
  </p:cSld>
  <p:clrMapOvr>
    <a:masterClrMapping/>
  </p:clrMapOvr>
  <p:transition spd="slow"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SIKKIM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69359824"/>
              </p:ext>
            </p:extLst>
          </p:nvPr>
        </p:nvGraphicFramePr>
        <p:xfrm>
          <a:off x="357158" y="857233"/>
          <a:ext cx="8463312" cy="544016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66.48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73.87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28.05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33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33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58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4071737768"/>
      </p:ext>
    </p:extLst>
  </p:cSld>
  <p:clrMapOvr>
    <a:masterClrMapping/>
  </p:clrMapOvr>
  <p:transition spd="slow">
    <p:wipe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11288358"/>
              </p:ext>
            </p:extLst>
          </p:nvPr>
        </p:nvGraphicFramePr>
        <p:xfrm>
          <a:off x="357158" y="857233"/>
          <a:ext cx="8463312" cy="471159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-46.67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-46.67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68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91.77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101.97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129.82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-47.21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27.85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-19.36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6.22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59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805264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340150050"/>
      </p:ext>
    </p:extLst>
  </p:cSld>
  <p:clrMapOvr>
    <a:masterClrMapping/>
  </p:clrMapOvr>
  <p:transition spd="slow">
    <p:wipe dir="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TAMIL NADU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13102382"/>
              </p:ext>
            </p:extLst>
          </p:nvPr>
        </p:nvGraphicFramePr>
        <p:xfrm>
          <a:off x="357158" y="857233"/>
          <a:ext cx="8463312" cy="526806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577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398.92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265.94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664.86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670.23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25.93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206.28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102.78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68.52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171.29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128.00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197.48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-43.29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154.19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17.66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48.69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81.15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81.15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8.33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38.84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7.85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16.86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20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4033 - Edible Oil - oil Palm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60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2536257591"/>
      </p:ext>
    </p:extLst>
  </p:cSld>
  <p:clrMapOvr>
    <a:masterClrMapping/>
  </p:clrMapOvr>
  <p:transition spd="slow">
    <p:wipe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14285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12639621"/>
              </p:ext>
            </p:extLst>
          </p:nvPr>
        </p:nvGraphicFramePr>
        <p:xfrm>
          <a:off x="357158" y="714356"/>
          <a:ext cx="8463312" cy="4933213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166.66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166.66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10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74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11.26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88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20.65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61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6021288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913656612"/>
      </p:ext>
    </p:extLst>
  </p:cSld>
  <p:clrMapOvr>
    <a:masterClrMapping/>
  </p:clrMapOvr>
  <p:transition spd="slow">
    <p:wipe dir="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14285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52997124"/>
              </p:ext>
            </p:extLst>
          </p:nvPr>
        </p:nvGraphicFramePr>
        <p:xfrm>
          <a:off x="357158" y="714356"/>
          <a:ext cx="8463312" cy="242930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619.94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409.03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1028.97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996.95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428.82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-32.02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396.79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259.64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62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3284984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553469603"/>
      </p:ext>
    </p:extLst>
  </p:cSld>
  <p:clrMapOvr>
    <a:masterClrMapping/>
  </p:clrMapOvr>
  <p:transition spd="slow">
    <p:wipe dir="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TELANGANA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64415101"/>
              </p:ext>
            </p:extLst>
          </p:nvPr>
        </p:nvGraphicFramePr>
        <p:xfrm>
          <a:off x="357158" y="857233"/>
          <a:ext cx="8463312" cy="537168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180.09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375.19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124.73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499.92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139.99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30.24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8.23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30.63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14.10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17.91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80.38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68.47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4034 - Edible Oil -Oilseeds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63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717718487"/>
      </p:ext>
    </p:extLst>
  </p:cSld>
  <p:clrMapOvr>
    <a:masterClrMapping/>
  </p:clrMapOvr>
  <p:transition spd="slow"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16685315"/>
              </p:ext>
            </p:extLst>
          </p:nvPr>
        </p:nvGraphicFramePr>
        <p:xfrm>
          <a:off x="357158" y="857233"/>
          <a:ext cx="8463312" cy="488481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84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121.00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508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84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16.00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9505 - Sub- Mission on Agriculture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Mechanisation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11.68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64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877272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029800472"/>
      </p:ext>
    </p:extLst>
  </p:cSld>
  <p:clrMapOvr>
    <a:masterClrMapping/>
  </p:clrMapOvr>
  <p:transition spd="slow">
    <p:wipe dir="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88758984"/>
              </p:ext>
            </p:extLst>
          </p:nvPr>
        </p:nvGraphicFramePr>
        <p:xfrm>
          <a:off x="357158" y="857233"/>
          <a:ext cx="8463312" cy="238021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41.21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27.48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68.69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316.37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570.08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247.68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817.76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265.08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65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3789040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607118222"/>
      </p:ext>
    </p:extLst>
  </p:cSld>
  <p:clrMapOvr>
    <a:masterClrMapping/>
  </p:clrMapOvr>
  <p:transition spd="slow">
    <p:wipe dir="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TRIPURA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23690461"/>
              </p:ext>
            </p:extLst>
          </p:nvPr>
        </p:nvGraphicFramePr>
        <p:xfrm>
          <a:off x="357158" y="857233"/>
          <a:ext cx="8463312" cy="552408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78.47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109.41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30.94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30.79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39.37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6.56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4033 - Edible Oil - oil Palm (Krishionnati Yojna)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66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320345712"/>
      </p:ext>
    </p:extLst>
  </p:cSld>
  <p:clrMapOvr>
    <a:masterClrMapping/>
  </p:clrMapOvr>
  <p:transition spd="slow">
    <p:wipe dir="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65888501"/>
              </p:ext>
            </p:extLst>
          </p:nvPr>
        </p:nvGraphicFramePr>
        <p:xfrm>
          <a:off x="357158" y="857233"/>
          <a:ext cx="8463312" cy="469045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04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84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26.28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10.26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94.55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105.05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137.80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43.78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32.75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76.53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55.70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67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096644884"/>
      </p:ext>
    </p:extLst>
  </p:cSld>
  <p:clrMapOvr>
    <a:masterClrMapping/>
  </p:clrMapOvr>
  <p:transition spd="slow"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UTTAR PRADESH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82283814"/>
              </p:ext>
            </p:extLst>
          </p:nvPr>
        </p:nvGraphicFramePr>
        <p:xfrm>
          <a:off x="357158" y="857233"/>
          <a:ext cx="8463312" cy="5468865"/>
        </p:xfrm>
        <a:graphic>
          <a:graphicData uri="http://schemas.openxmlformats.org/drawingml/2006/table">
            <a:tbl>
              <a:tblPr/>
              <a:tblGrid>
                <a:gridCol w="13345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481.93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321.29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803.22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775.23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87.01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-27.99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59.02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235.09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37.18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92.95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76.82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-16.13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15.72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36.67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91.67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124.74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-66.80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-33.72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34.75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44.70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74.50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50.82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25.34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-23.68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1.66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29.07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-17.50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-17.50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68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813869497"/>
      </p:ext>
    </p:extLst>
  </p:cSld>
  <p:clrMapOvr>
    <a:masterClrMapping/>
  </p:clrMapOvr>
  <p:transition spd="slow"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58549293"/>
              </p:ext>
            </p:extLst>
          </p:nvPr>
        </p:nvGraphicFramePr>
        <p:xfrm>
          <a:off x="357158" y="857233"/>
          <a:ext cx="8463312" cy="494688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577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84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24.68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96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-63.01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-63.01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642.71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428.47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1071.18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1050.01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37.87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-21.17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16.70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287.82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69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4282971244"/>
      </p:ext>
    </p:extLst>
  </p:cSld>
  <p:clrMapOvr>
    <a:masterClrMapping/>
  </p:clrMapOvr>
  <p:transition spd="slow">
    <p:wipe dir="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UTTARKHAND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93028771"/>
              </p:ext>
            </p:extLst>
          </p:nvPr>
        </p:nvGraphicFramePr>
        <p:xfrm>
          <a:off x="357158" y="857233"/>
          <a:ext cx="8463312" cy="531879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318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2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245.67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236.60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-36.37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-36.37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90.62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38.06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39.00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-10.67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-9.72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68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33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9005 - Agriculture Census and Statistics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33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2009 -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Rainfed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70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052983895"/>
      </p:ext>
    </p:extLst>
  </p:cSld>
  <p:clrMapOvr>
    <a:masterClrMapping/>
  </p:clrMapOvr>
  <p:transition spd="slow">
    <p:wipe dir="d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33958113"/>
              </p:ext>
            </p:extLst>
          </p:nvPr>
        </p:nvGraphicFramePr>
        <p:xfrm>
          <a:off x="357158" y="857233"/>
          <a:ext cx="8463312" cy="471159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4.18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68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083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301.53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33.43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334.96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296.20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-5.12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-38.76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-43.88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101.36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71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951021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231433357"/>
      </p:ext>
    </p:extLst>
  </p:cSld>
  <p:clrMapOvr>
    <a:masterClrMapping/>
  </p:clrMapOvr>
  <p:transition spd="slow">
    <p:wipe dir="d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WEST BENGAL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43461192"/>
              </p:ext>
            </p:extLst>
          </p:nvPr>
        </p:nvGraphicFramePr>
        <p:xfrm>
          <a:off x="357158" y="857233"/>
          <a:ext cx="8463312" cy="5157616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189.91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126.61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316.51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335.56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75.77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105.31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42.00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41.56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69.27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97.68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-28.41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25.10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15.91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-15.87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-15.87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36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-9.58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-9.58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5.02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20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2.94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2009 - Rainfed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72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4013086772"/>
      </p:ext>
    </p:extLst>
  </p:cSld>
  <p:clrMapOvr>
    <a:masterClrMapping/>
  </p:clrMapOvr>
  <p:transition spd="slow">
    <p:wipe dir="d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32656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27872264"/>
              </p:ext>
            </p:extLst>
          </p:nvPr>
        </p:nvGraphicFramePr>
        <p:xfrm>
          <a:off x="357158" y="857233"/>
          <a:ext cx="8463312" cy="4316187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68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34.17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09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-4.33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-4.33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2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309.79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206.53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516.31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540.54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74.28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24.23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98.50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140.17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73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373216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832913985"/>
      </p:ext>
    </p:extLst>
  </p:cSld>
  <p:clrMapOvr>
    <a:masterClrMapping/>
  </p:clrMapOvr>
  <p:transition spd="slow">
    <p:wipe dir="d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DELHI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73523338"/>
              </p:ext>
            </p:extLst>
          </p:nvPr>
        </p:nvGraphicFramePr>
        <p:xfrm>
          <a:off x="357158" y="857233"/>
          <a:ext cx="8463312" cy="370555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887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0.19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-0.20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74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5013176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245589303"/>
      </p:ext>
    </p:extLst>
  </p:cSld>
  <p:clrMapOvr>
    <a:masterClrMapping/>
  </p:clrMapOvr>
  <p:transition spd="slow">
    <p:wipe dir="d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JAMMU KASHMIR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74187089"/>
              </p:ext>
            </p:extLst>
          </p:nvPr>
        </p:nvGraphicFramePr>
        <p:xfrm>
          <a:off x="357158" y="857233"/>
          <a:ext cx="8463312" cy="560699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36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79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364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35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34.25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38.06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-10.06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9.48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67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-9.79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-8.03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67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0.61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129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9145 - Rashtriya Krishi Vikas Yojna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1.59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935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935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65504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4036 - Integrated Development of Horticulture (krishionnati Yojana)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358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effectLst/>
                          <a:latin typeface="Arial"/>
                        </a:rPr>
                        <a:t>4038 - Agriculture Extension (Krishionnati Yojana)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75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597352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669620233"/>
      </p:ext>
    </p:extLst>
  </p:cSld>
  <p:clrMapOvr>
    <a:masterClrMapping/>
  </p:clrMapOvr>
  <p:transition spd="slow">
    <p:wipe dir="d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endParaRPr lang="en-IN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26335115"/>
              </p:ext>
            </p:extLst>
          </p:nvPr>
        </p:nvGraphicFramePr>
        <p:xfrm>
          <a:off x="357158" y="857233"/>
          <a:ext cx="8463312" cy="5459330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989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2009 - Rainfed Area Development and Climate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3540 - NATIONAL BAMBOO 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MIDH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9347 - Pradhan Mantri Krishi Sinchai Yojana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108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819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76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3163682573"/>
      </p:ext>
    </p:extLst>
  </p:cSld>
  <p:clrMapOvr>
    <a:masterClrMapping/>
  </p:clrMapOvr>
  <p:transition spd="slow">
    <p:wipe dir="d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45976268"/>
              </p:ext>
            </p:extLst>
          </p:nvPr>
        </p:nvGraphicFramePr>
        <p:xfrm>
          <a:off x="357158" y="857233"/>
          <a:ext cx="8463312" cy="3067434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9505 - Sub- Mission on Agriculture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Mechanisation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-2.80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2010 - NATIONAL PROJECT ON AGRO- FORESTRY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Discontinued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45.59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49.40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35.85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17.11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-13.54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3.57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7.72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77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4725144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3790532447"/>
      </p:ext>
    </p:extLst>
  </p:cSld>
  <p:clrMapOvr>
    <a:masterClrMapping/>
  </p:clrMapOvr>
  <p:transition spd="slow">
    <p:wipe dir="d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28600"/>
            <a:ext cx="842493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PUDUCHERY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76419843"/>
              </p:ext>
            </p:extLst>
          </p:nvPr>
        </p:nvGraphicFramePr>
        <p:xfrm>
          <a:off x="357158" y="857233"/>
          <a:ext cx="8463312" cy="5528285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1561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6591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78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9145 -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Rashtriya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Vikas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endParaRPr lang="en-US" sz="11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16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9144 - Agriculture Extension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9120 - Integrated Development of Horticulture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31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9423 - Digital Agriculture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631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3031 - Seed and Planting Material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4034 - Edible Oil -Oilseeds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-0.01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022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9140 - Food and Nutrition Security (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Krishionnati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665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9347 -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Pradhan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Mantri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Krishi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Sinchai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/>
                        </a:rPr>
                        <a:t>Yojana</a:t>
                      </a:r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 (PMKSY)- Per Drop More Crop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78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254018" y="6464369"/>
            <a:ext cx="1566454" cy="27699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200" dirty="0">
                <a:latin typeface="Arial" pitchFamily="34" charset="0"/>
                <a:cs typeface="Arial" pitchFamily="34" charset="0"/>
              </a:rPr>
              <a:t>Contd. on next page</a:t>
            </a:r>
          </a:p>
        </p:txBody>
      </p:sp>
    </p:spTree>
    <p:extLst>
      <p:ext uri="{BB962C8B-B14F-4D97-AF65-F5344CB8AC3E}">
        <p14:creationId xmlns:p14="http://schemas.microsoft.com/office/powerpoint/2010/main" xmlns="" val="132829583"/>
      </p:ext>
    </p:extLst>
  </p:cSld>
  <p:clrMapOvr>
    <a:masterClrMapping/>
  </p:clrMapOvr>
  <p:transition spd="slow">
    <p:wipe dir="d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313492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</a:t>
            </a:r>
          </a:p>
          <a:p>
            <a:pPr lvl="0" algn="r" fontAlgn="base">
              <a:spcBef>
                <a:spcPct val="0"/>
              </a:spcBef>
              <a:spcAft>
                <a:spcPct val="0"/>
              </a:spcAft>
            </a:pP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(Rs. In </a:t>
            </a:r>
            <a:r>
              <a:rPr lang="en-IN" sz="1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Crores</a:t>
            </a:r>
            <a:r>
              <a:rPr lang="en-IN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 </a:t>
            </a: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80266485"/>
              </p:ext>
            </p:extLst>
          </p:nvPr>
        </p:nvGraphicFramePr>
        <p:xfrm>
          <a:off x="357158" y="857233"/>
          <a:ext cx="8463312" cy="3747519"/>
        </p:xfrm>
        <a:graphic>
          <a:graphicData uri="http://schemas.openxmlformats.org/drawingml/2006/table">
            <a:tbl>
              <a:tblPr/>
              <a:tblGrid>
                <a:gridCol w="1406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847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81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059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Centrally Sponsored Scheme Name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GOI Release to State Treasury   22-23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Proportionate State Share 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Total Funds to be Transferred by State Treasury to SNA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 0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Release by State Treasury (Amount transferred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to SNA) </a:t>
                      </a:r>
                      <a:r>
                        <a:rPr lang="en-IN" sz="1100" b="1" baseline="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upto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31.03.2023 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Excess/Deficit Transferred to SNA in </a:t>
                      </a:r>
                      <a:r>
                        <a:rPr lang="en-US" sz="1100" b="1" baseline="0">
                          <a:latin typeface="Arial" pitchFamily="34" charset="0"/>
                          <a:cs typeface="Arial" pitchFamily="34" charset="0"/>
                        </a:rPr>
                        <a:t>FY 21-22 </a:t>
                      </a: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&amp; FY 22-23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Excess(+)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baseline="0" dirty="0">
                          <a:latin typeface="Arial" pitchFamily="34" charset="0"/>
                          <a:cs typeface="Arial" pitchFamily="34" charset="0"/>
                        </a:rPr>
                        <a:t>Deficit(-)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</a:t>
                      </a:r>
                      <a:r>
                        <a:rPr lang="en-IN" sz="1100" b="1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09</a:t>
                      </a: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)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Bank Balance of SNA as on 31.03.2023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(SNA-01)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0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1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3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4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5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6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100" b="1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7 </a:t>
                      </a:r>
                      <a:endParaRPr lang="en-US" sz="1100" b="1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37507" marR="37507" marT="6172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894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latin typeface="Arial" pitchFamily="34" charset="0"/>
                          <a:cs typeface="Arial" pitchFamily="34" charset="0"/>
                        </a:rPr>
                        <a:t>21-22</a:t>
                      </a:r>
                      <a:endParaRPr lang="en-US" sz="11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22-23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35515" marR="35515" marT="584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9422 - PARAMPARAGAT KRISHI VIKAS YOJANA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9503 - National Project on Soil Health and Fertility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0.52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9505 - Sub- Mission on Agriculture Mechanisation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/>
                        </a:rPr>
                        <a:t>2.65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/>
                        </a:rPr>
                        <a:t>Merged with RKVY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7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Total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7.57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7.31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-0.26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effectLst/>
                          <a:latin typeface="Arial"/>
                        </a:rPr>
                        <a:t>2.55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effectLst/>
                          <a:latin typeface="Arial"/>
                        </a:rPr>
                        <a:t>4.24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70736" y="6453336"/>
            <a:ext cx="365760" cy="365125"/>
          </a:xfrm>
        </p:spPr>
        <p:txBody>
          <a:bodyPr anchor="ctr"/>
          <a:lstStyle/>
          <a:p>
            <a:pPr algn="ctr"/>
            <a:fld id="{51F81C62-67CE-414D-9578-6B11B56B3817}" type="slidenum">
              <a:rPr lang="en-IN" smtClean="0"/>
              <a:pPr algn="ctr"/>
              <a:t>79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9856" y="4941168"/>
            <a:ext cx="84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itchFamily="34" charset="0"/>
                <a:cs typeface="Arial" pitchFamily="34" charset="0"/>
              </a:rPr>
              <a:t>Note: SNA 09 has been modified and now it is reflecting GOI releases to Implementing Agencies, to ESCROW Account, to State Treasury separately.</a:t>
            </a:r>
          </a:p>
          <a:p>
            <a:r>
              <a:rPr lang="en-US" sz="1200" dirty="0">
                <a:latin typeface="Arial" pitchFamily="34" charset="0"/>
                <a:cs typeface="Arial" pitchFamily="34" charset="0"/>
              </a:rPr>
              <a:t>The amount released to states/UTs is reflected in the present statement.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749780770"/>
      </p:ext>
    </p:extLst>
  </p:cSld>
  <p:clrMapOvr>
    <a:masterClrMapping/>
  </p:clrMapOvr>
  <p:transition spd="slow">
    <p:wipe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9283</TotalTime>
  <Words>16473</Words>
  <Application>Microsoft Macintosh PowerPoint</Application>
  <PresentationFormat>On-screen Show (4:3)</PresentationFormat>
  <Paragraphs>6083</Paragraphs>
  <Slides>79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0" baseType="lpstr">
      <vt:lpstr>Office Theme</vt:lpstr>
      <vt:lpstr>Ministry of Agriculture and Farmers’ Welfare</vt:lpstr>
      <vt:lpstr>BE of Centrally Sponsored Schemes of Department of Agriculture and Farmers’ Welfare in FY 2023-24</vt:lpstr>
      <vt:lpstr>Slide 3</vt:lpstr>
      <vt:lpstr>Slide 4</vt:lpstr>
      <vt:lpstr>Rashtriya Krishi Vikas Yojana</vt:lpstr>
      <vt:lpstr>Slide 6</vt:lpstr>
      <vt:lpstr>Slide 7</vt:lpstr>
      <vt:lpstr>Slide 8</vt:lpstr>
      <vt:lpstr>  States/UTs wise availability of funds with State Treasury and SNA Account  as on 02.05.2023 for F.Y. 2022-2023                                                                                  (In Crores)                                 </vt:lpstr>
      <vt:lpstr>  States/UTs wise availability of funds with State Treasury and SNA Account  as on 02.05.2023 for F.Y. 2022-2023                                                                                  (In Crores)                                 </vt:lpstr>
      <vt:lpstr>  States/UTs wise availability of funds with State Treasury and SNA Account  as on 02.05.2023 for F.Y. 2022-2023                                                                                  (In Crores)                                 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Parul gupta</cp:lastModifiedBy>
  <cp:revision>1545</cp:revision>
  <cp:lastPrinted>2023-01-06T11:17:22Z</cp:lastPrinted>
  <dcterms:created xsi:type="dcterms:W3CDTF">2022-04-13T06:57:00Z</dcterms:created>
  <dcterms:modified xsi:type="dcterms:W3CDTF">2023-05-03T06:25:36Z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8D542E047C1E4BF1A834B296E99C23DB</vt:lpwstr>
  </property>
  <property fmtid="{D5CDD505-2E9C-101B-9397-08002B2CF9AE}" pid="3" name="KSOProductBuildVer">
    <vt:lpwstr>1033-11.2.0.11156</vt:lpwstr>
  </property>
</Properties>
</file>