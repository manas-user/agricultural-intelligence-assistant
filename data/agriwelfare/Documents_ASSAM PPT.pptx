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sldIdLst>
    <p:sldId id="4213" r:id="rId2"/>
    <p:sldId id="4376" r:id="rId3"/>
    <p:sldId id="4377" r:id="rId4"/>
    <p:sldId id="4378" r:id="rId5"/>
    <p:sldId id="4380" r:id="rId6"/>
    <p:sldId id="4379" r:id="rId7"/>
    <p:sldId id="4381" r:id="rId8"/>
    <p:sldId id="4344" r:id="rId9"/>
    <p:sldId id="4382" r:id="rId10"/>
    <p:sldId id="4383" r:id="rId11"/>
    <p:sldId id="4384" r:id="rId12"/>
    <p:sldId id="43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F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4660"/>
  </p:normalViewPr>
  <p:slideViewPr>
    <p:cSldViewPr snapToGrid="0">
      <p:cViewPr varScale="1">
        <p:scale>
          <a:sx n="69" d="100"/>
          <a:sy n="69" d="100"/>
        </p:scale>
        <p:origin x="4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sz="1800" b="1" dirty="0">
                <a:solidFill>
                  <a:schemeClr val="tx1"/>
                </a:solidFill>
              </a:rPr>
              <a:t>Area</a:t>
            </a:r>
            <a:r>
              <a:rPr lang="en-IN" sz="1800" b="1" baseline="0" dirty="0">
                <a:solidFill>
                  <a:schemeClr val="tx1"/>
                </a:solidFill>
              </a:rPr>
              <a:t> Coverage Trend</a:t>
            </a:r>
            <a:endParaRPr lang="en-IN" sz="1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37169293816326626"/>
          <c:y val="0.172602727314369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93298211281357"/>
          <c:y val="0.10454040296119965"/>
          <c:w val="0.81969823672937159"/>
          <c:h val="0.6457396808342802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Sheet1!$D$3</c:f>
              <c:strCache>
                <c:ptCount val="1"/>
                <c:pt idx="0">
                  <c:v>2019-20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Sheet1!$C$4:$C$13</c:f>
              <c:strCache>
                <c:ptCount val="10"/>
                <c:pt idx="0">
                  <c:v>Autumn Paddy</c:v>
                </c:pt>
                <c:pt idx="1">
                  <c:v>Winter Paddy</c:v>
                </c:pt>
                <c:pt idx="2">
                  <c:v>Maize</c:v>
                </c:pt>
                <c:pt idx="3">
                  <c:v>Arahar </c:v>
                </c:pt>
                <c:pt idx="4">
                  <c:v>Black gram </c:v>
                </c:pt>
                <c:pt idx="5">
                  <c:v>Green gram </c:v>
                </c:pt>
                <c:pt idx="6">
                  <c:v>Sesamum </c:v>
                </c:pt>
                <c:pt idx="7">
                  <c:v>Jute</c:v>
                </c:pt>
                <c:pt idx="8">
                  <c:v>Mesta</c:v>
                </c:pt>
                <c:pt idx="9">
                  <c:v>Sugarcane</c:v>
                </c:pt>
              </c:strCache>
            </c:strRef>
          </c:cat>
          <c:val>
            <c:numRef>
              <c:f>Sheet1!$D$4:$D$13</c:f>
              <c:numCache>
                <c:formatCode>General</c:formatCode>
                <c:ptCount val="10"/>
                <c:pt idx="0">
                  <c:v>127223</c:v>
                </c:pt>
                <c:pt idx="1">
                  <c:v>1878208</c:v>
                </c:pt>
                <c:pt idx="2">
                  <c:v>36636</c:v>
                </c:pt>
                <c:pt idx="3">
                  <c:v>5830</c:v>
                </c:pt>
                <c:pt idx="4">
                  <c:v>58100</c:v>
                </c:pt>
                <c:pt idx="5">
                  <c:v>10837</c:v>
                </c:pt>
                <c:pt idx="6">
                  <c:v>12027</c:v>
                </c:pt>
                <c:pt idx="7">
                  <c:v>64247</c:v>
                </c:pt>
                <c:pt idx="8">
                  <c:v>3221</c:v>
                </c:pt>
                <c:pt idx="9">
                  <c:v>29703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FC-46B2-9D09-77DB8267C224}"/>
            </c:ext>
          </c:extLst>
        </c:ser>
        <c:ser>
          <c:idx val="1"/>
          <c:order val="1"/>
          <c:tx>
            <c:strRef>
              <c:f>Sheet1!$E$3</c:f>
              <c:strCache>
                <c:ptCount val="1"/>
                <c:pt idx="0">
                  <c:v>2020-21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Sheet1!$C$4:$C$13</c:f>
              <c:strCache>
                <c:ptCount val="10"/>
                <c:pt idx="0">
                  <c:v>Autumn Paddy</c:v>
                </c:pt>
                <c:pt idx="1">
                  <c:v>Winter Paddy</c:v>
                </c:pt>
                <c:pt idx="2">
                  <c:v>Maize</c:v>
                </c:pt>
                <c:pt idx="3">
                  <c:v>Arahar </c:v>
                </c:pt>
                <c:pt idx="4">
                  <c:v>Black gram </c:v>
                </c:pt>
                <c:pt idx="5">
                  <c:v>Green gram </c:v>
                </c:pt>
                <c:pt idx="6">
                  <c:v>Sesamum </c:v>
                </c:pt>
                <c:pt idx="7">
                  <c:v>Jute</c:v>
                </c:pt>
                <c:pt idx="8">
                  <c:v>Mesta</c:v>
                </c:pt>
                <c:pt idx="9">
                  <c:v>Sugarcane</c:v>
                </c:pt>
              </c:strCache>
            </c:strRef>
          </c:cat>
          <c:val>
            <c:numRef>
              <c:f>Sheet1!$E$4:$E$13</c:f>
              <c:numCache>
                <c:formatCode>General</c:formatCode>
                <c:ptCount val="10"/>
                <c:pt idx="0">
                  <c:v>116547</c:v>
                </c:pt>
                <c:pt idx="1">
                  <c:v>1863898</c:v>
                </c:pt>
                <c:pt idx="2">
                  <c:v>41154</c:v>
                </c:pt>
                <c:pt idx="3">
                  <c:v>6037</c:v>
                </c:pt>
                <c:pt idx="4">
                  <c:v>56189</c:v>
                </c:pt>
                <c:pt idx="5">
                  <c:v>10905</c:v>
                </c:pt>
                <c:pt idx="6">
                  <c:v>12128</c:v>
                </c:pt>
                <c:pt idx="7">
                  <c:v>60086</c:v>
                </c:pt>
                <c:pt idx="8">
                  <c:v>3118</c:v>
                </c:pt>
                <c:pt idx="9">
                  <c:v>30496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FC-46B2-9D09-77DB8267C2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98462207"/>
        <c:axId val="298461791"/>
      </c:barChart>
      <c:catAx>
        <c:axId val="2984622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8461791"/>
        <c:crosses val="autoZero"/>
        <c:auto val="1"/>
        <c:lblAlgn val="ctr"/>
        <c:lblOffset val="100"/>
        <c:noMultiLvlLbl val="0"/>
      </c:catAx>
      <c:valAx>
        <c:axId val="2984617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8462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5929260470118434"/>
          <c:y val="8.7696533918658656E-2"/>
          <c:w val="0.28903771206839723"/>
          <c:h val="0.333511677729206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019A7-89E0-47FA-88F0-DBCE595184E6}" type="datetimeFigureOut">
              <a:rPr lang="en-IN" smtClean="0"/>
              <a:t>19-04-2022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55F88-230E-4AAE-A9C4-FC031FB611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64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176DE70-C92A-46B1-AC20-C16D51E013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20800" y="5334000"/>
            <a:ext cx="10363200" cy="704850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C7416E6-EF2C-4BCE-B3F4-3AB99B5DDD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20800" y="5867400"/>
            <a:ext cx="10363200" cy="5334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 marL="0" indent="0" algn="r"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539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C4D9B-53FF-4E38-880A-682E7F71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6580A-1968-4C3E-95EA-E47CB60DA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438400"/>
            <a:ext cx="9753600" cy="4191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1877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DFAE5-E9BB-432A-A0EC-0F5E5737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9002A-488D-4CB5-AE79-34456C65C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43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4273-1642-4365-A10A-7274B9E6D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28DC4-1CB5-46F7-953B-E71741EEA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438400"/>
            <a:ext cx="4775200" cy="4191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36D25-0CEE-4165-8FBE-66FA685B6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2438400"/>
            <a:ext cx="4775200" cy="4191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0048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F02FA-D2B8-47C0-9D88-CD11D288A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64402-08D5-4184-ABCB-91B777B4B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14C8D-E8A8-42FC-8468-1CE7FC486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F8DEC-CB3F-4F17-BA9E-8CA4B3EFC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A52825-ADA4-46E6-A29F-A541D91FF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400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24B58-CCA4-4A29-B8A9-2EEBBE13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369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169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B3A7-E4EB-4F03-9670-A70B5CA3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C6E56-60E7-47FC-94AF-4CEE70FD3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F01B31-82B1-41ED-878A-773B09755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71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8E932-48B2-42B0-BB10-45561A9D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F0D45A-FD2B-462A-A2E5-76397E23A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2E37-6405-42A2-9CDC-911EA5EDA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985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B6776-A99B-4203-9983-CBB2FDD7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2E4BA-B907-45D0-B56E-45A663A57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19200" y="2438400"/>
            <a:ext cx="9753600" cy="4191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927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FAE2D9-3AC6-495C-ADBF-E5FB5DB3E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34400" y="1417638"/>
            <a:ext cx="2438400" cy="5211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BF71C-BEBA-4178-ABEC-4D8C55CAF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19200" y="1417638"/>
            <a:ext cx="7112000" cy="52117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6905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alphaModFix amt="4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D115939-5504-4908-B7B0-1D52FA5A8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417638"/>
            <a:ext cx="9753600" cy="71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439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25CFFD0-AA49-4BBB-AC7A-F956C7153110}"/>
              </a:ext>
            </a:extLst>
          </p:cNvPr>
          <p:cNvSpPr/>
          <p:nvPr/>
        </p:nvSpPr>
        <p:spPr>
          <a:xfrm>
            <a:off x="4976037" y="772284"/>
            <a:ext cx="7215963" cy="5871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haroni" panose="02010803020104030203" pitchFamily="2" charset="-79"/>
                <a:cs typeface="Aharoni" panose="02010803020104030203" pitchFamily="2" charset="-79"/>
              </a:rPr>
              <a:t>NATIONAL CONFERENCE ON AGRICULTURE FOR KHARIF CAMPAIGN </a:t>
            </a: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haroni" panose="02010803020104030203" pitchFamily="2" charset="-79"/>
                <a:cs typeface="Aharoni" panose="02010803020104030203" pitchFamily="2" charset="-79"/>
              </a:rPr>
              <a:t>2022-23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cs typeface="Aharoni" panose="02010803020104030203" pitchFamily="2" charset="-79"/>
              </a:rPr>
              <a:t>BY 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cs typeface="Aharoni" panose="02010803020104030203" pitchFamily="2" charset="-79"/>
              </a:rPr>
              <a:t>DEPT. OF AGRICULTURE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cs typeface="Aharoni" panose="02010803020104030203" pitchFamily="2" charset="-79"/>
              </a:rPr>
              <a:t>GOVERNMENT OF ASSAM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chemeClr val="bg2">
                    <a:lumMod val="50000"/>
                  </a:schemeClr>
                </a:solidFill>
                <a:cs typeface="Aharoni" panose="02010803020104030203" pitchFamily="2" charset="-79"/>
              </a:rPr>
              <a:t>19.04.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cs typeface="Aharoni" panose="02010803020104030203" pitchFamily="2" charset="-79"/>
              </a:rPr>
              <a:t>2022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-2286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-2286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-2286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-2286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-2286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-2286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marR="0" lvl="0" indent="-2286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13C86-8CA6-4A99-BBC7-891CF2291A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19" r="9944" b="-1"/>
          <a:stretch/>
        </p:blipFill>
        <p:spPr>
          <a:xfrm>
            <a:off x="209107" y="772284"/>
            <a:ext cx="5886893" cy="4917900"/>
          </a:xfrm>
          <a:custGeom>
            <a:avLst/>
            <a:gdLst/>
            <a:ahLst/>
            <a:cxnLst/>
            <a:rect l="l" t="t" r="r" b="b"/>
            <a:pathLst>
              <a:path w="5846002" h="4872577">
                <a:moveTo>
                  <a:pt x="343285" y="2953992"/>
                </a:moveTo>
                <a:cubicBezTo>
                  <a:pt x="343285" y="2953992"/>
                  <a:pt x="343285" y="2953992"/>
                  <a:pt x="849063" y="2953992"/>
                </a:cubicBezTo>
                <a:cubicBezTo>
                  <a:pt x="880743" y="2953992"/>
                  <a:pt x="911330" y="2971406"/>
                  <a:pt x="926624" y="2999703"/>
                </a:cubicBezTo>
                <a:cubicBezTo>
                  <a:pt x="926624" y="2999703"/>
                  <a:pt x="926624" y="2999703"/>
                  <a:pt x="1180059" y="3436136"/>
                </a:cubicBezTo>
                <a:cubicBezTo>
                  <a:pt x="1196445" y="3463345"/>
                  <a:pt x="1196445" y="3498172"/>
                  <a:pt x="1180059" y="3525382"/>
                </a:cubicBezTo>
                <a:cubicBezTo>
                  <a:pt x="1180059" y="3525382"/>
                  <a:pt x="1180059" y="3525382"/>
                  <a:pt x="926624" y="3961814"/>
                </a:cubicBezTo>
                <a:cubicBezTo>
                  <a:pt x="911330" y="3990111"/>
                  <a:pt x="880743" y="4007525"/>
                  <a:pt x="849063" y="4007525"/>
                </a:cubicBezTo>
                <a:cubicBezTo>
                  <a:pt x="849063" y="4007525"/>
                  <a:pt x="849063" y="4007525"/>
                  <a:pt x="343285" y="4007525"/>
                </a:cubicBezTo>
                <a:cubicBezTo>
                  <a:pt x="310513" y="4007525"/>
                  <a:pt x="281019" y="3990111"/>
                  <a:pt x="264633" y="3961814"/>
                </a:cubicBezTo>
                <a:cubicBezTo>
                  <a:pt x="264633" y="3961814"/>
                  <a:pt x="264633" y="3961814"/>
                  <a:pt x="12290" y="3525382"/>
                </a:cubicBezTo>
                <a:cubicBezTo>
                  <a:pt x="-4096" y="3498172"/>
                  <a:pt x="-4096" y="3463345"/>
                  <a:pt x="12290" y="3436136"/>
                </a:cubicBezTo>
                <a:cubicBezTo>
                  <a:pt x="12290" y="3436136"/>
                  <a:pt x="12290" y="3436136"/>
                  <a:pt x="264633" y="2999703"/>
                </a:cubicBezTo>
                <a:cubicBezTo>
                  <a:pt x="281019" y="2971406"/>
                  <a:pt x="310513" y="2953992"/>
                  <a:pt x="343285" y="2953992"/>
                </a:cubicBezTo>
                <a:close/>
                <a:moveTo>
                  <a:pt x="2353334" y="538808"/>
                </a:moveTo>
                <a:cubicBezTo>
                  <a:pt x="2353334" y="538808"/>
                  <a:pt x="2353334" y="538808"/>
                  <a:pt x="2613403" y="538808"/>
                </a:cubicBezTo>
                <a:lnTo>
                  <a:pt x="2643742" y="538808"/>
                </a:lnTo>
                <a:lnTo>
                  <a:pt x="2672692" y="588661"/>
                </a:lnTo>
                <a:cubicBezTo>
                  <a:pt x="2713002" y="658078"/>
                  <a:pt x="2759909" y="738855"/>
                  <a:pt x="2814491" y="832849"/>
                </a:cubicBezTo>
                <a:cubicBezTo>
                  <a:pt x="2839586" y="874521"/>
                  <a:pt x="2839586" y="927860"/>
                  <a:pt x="2814491" y="969531"/>
                </a:cubicBezTo>
                <a:cubicBezTo>
                  <a:pt x="2814491" y="969531"/>
                  <a:pt x="2814491" y="969531"/>
                  <a:pt x="2426350" y="1637936"/>
                </a:cubicBezTo>
                <a:cubicBezTo>
                  <a:pt x="2402927" y="1681274"/>
                  <a:pt x="2356083" y="1707943"/>
                  <a:pt x="2307565" y="1707943"/>
                </a:cubicBezTo>
                <a:cubicBezTo>
                  <a:pt x="2307565" y="1707943"/>
                  <a:pt x="2307565" y="1707943"/>
                  <a:pt x="1532956" y="1707943"/>
                </a:cubicBezTo>
                <a:cubicBezTo>
                  <a:pt x="1520409" y="1707943"/>
                  <a:pt x="1508175" y="1706276"/>
                  <a:pt x="1496490" y="1703099"/>
                </a:cubicBezTo>
                <a:lnTo>
                  <a:pt x="1471408" y="1692583"/>
                </a:lnTo>
                <a:lnTo>
                  <a:pt x="1486736" y="1666073"/>
                </a:lnTo>
                <a:cubicBezTo>
                  <a:pt x="1625328" y="1426376"/>
                  <a:pt x="1802725" y="1119564"/>
                  <a:pt x="2029793" y="726844"/>
                </a:cubicBezTo>
                <a:cubicBezTo>
                  <a:pt x="2097197" y="610441"/>
                  <a:pt x="2218525" y="538808"/>
                  <a:pt x="2353334" y="538808"/>
                </a:cubicBezTo>
                <a:close/>
                <a:moveTo>
                  <a:pt x="1487085" y="0"/>
                </a:moveTo>
                <a:cubicBezTo>
                  <a:pt x="1487085" y="0"/>
                  <a:pt x="1487085" y="0"/>
                  <a:pt x="2360840" y="0"/>
                </a:cubicBezTo>
                <a:cubicBezTo>
                  <a:pt x="2415568" y="0"/>
                  <a:pt x="2468407" y="30084"/>
                  <a:pt x="2494828" y="78969"/>
                </a:cubicBezTo>
                <a:cubicBezTo>
                  <a:pt x="2494828" y="78969"/>
                  <a:pt x="2494828" y="78969"/>
                  <a:pt x="2729665" y="483373"/>
                </a:cubicBezTo>
                <a:lnTo>
                  <a:pt x="2756194" y="529058"/>
                </a:lnTo>
                <a:lnTo>
                  <a:pt x="2735320" y="529058"/>
                </a:lnTo>
                <a:lnTo>
                  <a:pt x="2636659" y="529058"/>
                </a:lnTo>
                <a:lnTo>
                  <a:pt x="2593799" y="455250"/>
                </a:lnTo>
                <a:cubicBezTo>
                  <a:pt x="2430052" y="173267"/>
                  <a:pt x="2430052" y="173267"/>
                  <a:pt x="2430052" y="173267"/>
                </a:cubicBezTo>
                <a:cubicBezTo>
                  <a:pt x="2406629" y="129929"/>
                  <a:pt x="2359785" y="103259"/>
                  <a:pt x="2311267" y="103259"/>
                </a:cubicBezTo>
                <a:cubicBezTo>
                  <a:pt x="1536658" y="103259"/>
                  <a:pt x="1536658" y="103259"/>
                  <a:pt x="1536658" y="103259"/>
                </a:cubicBezTo>
                <a:cubicBezTo>
                  <a:pt x="1486468" y="103259"/>
                  <a:pt x="1441296" y="129929"/>
                  <a:pt x="1416201" y="173267"/>
                </a:cubicBezTo>
                <a:cubicBezTo>
                  <a:pt x="1029733" y="841671"/>
                  <a:pt x="1029733" y="841671"/>
                  <a:pt x="1029733" y="841671"/>
                </a:cubicBezTo>
                <a:cubicBezTo>
                  <a:pt x="1004637" y="883343"/>
                  <a:pt x="1004637" y="936682"/>
                  <a:pt x="1029733" y="978353"/>
                </a:cubicBezTo>
                <a:cubicBezTo>
                  <a:pt x="1416201" y="1646758"/>
                  <a:pt x="1416201" y="1646758"/>
                  <a:pt x="1416201" y="1646758"/>
                </a:cubicBezTo>
                <a:cubicBezTo>
                  <a:pt x="1428749" y="1668427"/>
                  <a:pt x="1446315" y="1685929"/>
                  <a:pt x="1467019" y="1698013"/>
                </a:cubicBezTo>
                <a:lnTo>
                  <a:pt x="1472899" y="1700478"/>
                </a:lnTo>
                <a:lnTo>
                  <a:pt x="1441377" y="1754996"/>
                </a:lnTo>
                <a:lnTo>
                  <a:pt x="1417933" y="1795543"/>
                </a:lnTo>
                <a:lnTo>
                  <a:pt x="1442249" y="1805738"/>
                </a:lnTo>
                <a:cubicBezTo>
                  <a:pt x="1455430" y="1809322"/>
                  <a:pt x="1469230" y="1811202"/>
                  <a:pt x="1483383" y="1811202"/>
                </a:cubicBezTo>
                <a:cubicBezTo>
                  <a:pt x="2357138" y="1811202"/>
                  <a:pt x="2357138" y="1811202"/>
                  <a:pt x="2357138" y="1811202"/>
                </a:cubicBezTo>
                <a:cubicBezTo>
                  <a:pt x="2411866" y="1811202"/>
                  <a:pt x="2464705" y="1781120"/>
                  <a:pt x="2491126" y="1732235"/>
                </a:cubicBezTo>
                <a:cubicBezTo>
                  <a:pt x="2928947" y="978278"/>
                  <a:pt x="2928947" y="978278"/>
                  <a:pt x="2928947" y="978278"/>
                </a:cubicBezTo>
                <a:cubicBezTo>
                  <a:pt x="2957254" y="931274"/>
                  <a:pt x="2957254" y="871108"/>
                  <a:pt x="2928947" y="824102"/>
                </a:cubicBezTo>
                <a:cubicBezTo>
                  <a:pt x="2874220" y="729858"/>
                  <a:pt x="2826333" y="647394"/>
                  <a:pt x="2784432" y="575238"/>
                </a:cubicBezTo>
                <a:lnTo>
                  <a:pt x="2763277" y="538808"/>
                </a:lnTo>
                <a:lnTo>
                  <a:pt x="2861280" y="538808"/>
                </a:lnTo>
                <a:cubicBezTo>
                  <a:pt x="3166048" y="538808"/>
                  <a:pt x="3653676" y="538808"/>
                  <a:pt x="4433881" y="538808"/>
                </a:cubicBezTo>
                <a:cubicBezTo>
                  <a:pt x="4564197" y="538808"/>
                  <a:pt x="4690018" y="610441"/>
                  <a:pt x="4752929" y="726844"/>
                </a:cubicBezTo>
                <a:cubicBezTo>
                  <a:pt x="4752929" y="726844"/>
                  <a:pt x="4752929" y="726844"/>
                  <a:pt x="5795449" y="2522134"/>
                </a:cubicBezTo>
                <a:cubicBezTo>
                  <a:pt x="5862854" y="2634060"/>
                  <a:pt x="5862854" y="2777325"/>
                  <a:pt x="5795449" y="2889251"/>
                </a:cubicBezTo>
                <a:cubicBezTo>
                  <a:pt x="5795449" y="2889251"/>
                  <a:pt x="5795449" y="2889251"/>
                  <a:pt x="4752929" y="4684542"/>
                </a:cubicBezTo>
                <a:cubicBezTo>
                  <a:pt x="4690018" y="4800945"/>
                  <a:pt x="4564197" y="4872577"/>
                  <a:pt x="4433881" y="4872577"/>
                </a:cubicBezTo>
                <a:cubicBezTo>
                  <a:pt x="4433881" y="4872577"/>
                  <a:pt x="4433881" y="4872577"/>
                  <a:pt x="2353334" y="4872577"/>
                </a:cubicBezTo>
                <a:cubicBezTo>
                  <a:pt x="2218525" y="4872577"/>
                  <a:pt x="2097197" y="4800945"/>
                  <a:pt x="2029793" y="4684542"/>
                </a:cubicBezTo>
                <a:cubicBezTo>
                  <a:pt x="2029793" y="4684542"/>
                  <a:pt x="2029793" y="4684542"/>
                  <a:pt x="991766" y="2889251"/>
                </a:cubicBezTo>
                <a:cubicBezTo>
                  <a:pt x="924361" y="2777325"/>
                  <a:pt x="924361" y="2634060"/>
                  <a:pt x="991766" y="2522134"/>
                </a:cubicBezTo>
                <a:cubicBezTo>
                  <a:pt x="991766" y="2522134"/>
                  <a:pt x="991766" y="2522134"/>
                  <a:pt x="1377193" y="1855530"/>
                </a:cubicBezTo>
                <a:lnTo>
                  <a:pt x="1409676" y="1799352"/>
                </a:lnTo>
                <a:lnTo>
                  <a:pt x="1408533" y="1798873"/>
                </a:lnTo>
                <a:cubicBezTo>
                  <a:pt x="1385179" y="1785241"/>
                  <a:pt x="1365364" y="1765500"/>
                  <a:pt x="1351210" y="1741057"/>
                </a:cubicBezTo>
                <a:cubicBezTo>
                  <a:pt x="1351210" y="1741057"/>
                  <a:pt x="1351210" y="1741057"/>
                  <a:pt x="915276" y="987100"/>
                </a:cubicBezTo>
                <a:cubicBezTo>
                  <a:pt x="886968" y="940096"/>
                  <a:pt x="886968" y="879930"/>
                  <a:pt x="915276" y="832924"/>
                </a:cubicBezTo>
                <a:cubicBezTo>
                  <a:pt x="915276" y="832924"/>
                  <a:pt x="915276" y="832924"/>
                  <a:pt x="1351210" y="78969"/>
                </a:cubicBezTo>
                <a:cubicBezTo>
                  <a:pt x="1379517" y="30084"/>
                  <a:pt x="1430471" y="0"/>
                  <a:pt x="1487085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22D5-633F-4E5B-A364-756D07DAC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296093" cy="5656521"/>
          </a:xfrm>
          <a:solidFill>
            <a:srgbClr val="DBF0FA">
              <a:alpha val="45098"/>
            </a:srgbClr>
          </a:solidFill>
        </p:spPr>
        <p:txBody>
          <a:bodyPr/>
          <a:lstStyle/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Assam Agriculture: Brief Profile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60C3E-5474-4933-9A3E-E9F9EC51E948}"/>
              </a:ext>
            </a:extLst>
          </p:cNvPr>
          <p:cNvSpPr txBox="1"/>
          <p:nvPr/>
        </p:nvSpPr>
        <p:spPr>
          <a:xfrm>
            <a:off x="3296093" y="6432698"/>
            <a:ext cx="513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DEPARTMENT OF AGRICULTURE, ASSAM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65D41CC-42FD-47F5-8892-8CFB682B8B44}"/>
              </a:ext>
            </a:extLst>
          </p:cNvPr>
          <p:cNvSpPr txBox="1">
            <a:spLocks/>
          </p:cNvSpPr>
          <p:nvPr/>
        </p:nvSpPr>
        <p:spPr>
          <a:xfrm>
            <a:off x="10536864" y="6432698"/>
            <a:ext cx="774405" cy="2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9D4CFF-6072-4D1F-940E-37D570247CC4}" type="slidenum">
              <a:rPr lang="en-US" smtClean="0">
                <a:solidFill>
                  <a:srgbClr val="4D4D4D">
                    <a:tint val="75000"/>
                  </a:srgbClr>
                </a:solidFill>
                <a:latin typeface="Microsoft Sans Serif"/>
              </a:rPr>
              <a:pPr/>
              <a:t>2</a:t>
            </a:fld>
            <a:endParaRPr lang="en-US" dirty="0">
              <a:solidFill>
                <a:srgbClr val="4D4D4D">
                  <a:tint val="75000"/>
                </a:srgbClr>
              </a:solidFill>
              <a:latin typeface="Microsoft Sans Serif"/>
            </a:endParaRP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EA6CC5F4-5B16-4492-A4D5-D928C943F6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7338064"/>
              </p:ext>
            </p:extLst>
          </p:nvPr>
        </p:nvGraphicFramePr>
        <p:xfrm>
          <a:off x="3604436" y="136525"/>
          <a:ext cx="7910625" cy="5819381"/>
        </p:xfrm>
        <a:graphic>
          <a:graphicData uri="http://schemas.openxmlformats.org/drawingml/2006/table">
            <a:tbl>
              <a:tblPr/>
              <a:tblGrid>
                <a:gridCol w="424778">
                  <a:extLst>
                    <a:ext uri="{9D8B030D-6E8A-4147-A177-3AD203B41FA5}">
                      <a16:colId xmlns:a16="http://schemas.microsoft.com/office/drawing/2014/main" val="132774372"/>
                    </a:ext>
                  </a:extLst>
                </a:gridCol>
                <a:gridCol w="3877316">
                  <a:extLst>
                    <a:ext uri="{9D8B030D-6E8A-4147-A177-3AD203B41FA5}">
                      <a16:colId xmlns:a16="http://schemas.microsoft.com/office/drawing/2014/main" val="1195908433"/>
                    </a:ext>
                  </a:extLst>
                </a:gridCol>
                <a:gridCol w="3608531">
                  <a:extLst>
                    <a:ext uri="{9D8B030D-6E8A-4147-A177-3AD203B41FA5}">
                      <a16:colId xmlns:a16="http://schemas.microsoft.com/office/drawing/2014/main" val="2731551016"/>
                    </a:ext>
                  </a:extLst>
                </a:gridCol>
              </a:tblGrid>
              <a:tr h="297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Geographical Area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78.44 lakh ha </a:t>
                      </a:r>
                    </a:p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(1.61% urban &amp; 98.39% rural)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531664"/>
                  </a:ext>
                </a:extLst>
              </a:tr>
              <a:tr h="297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Forest Area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18.53 lakh ha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856238"/>
                  </a:ext>
                </a:extLst>
              </a:tr>
              <a:tr h="297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Barren &amp; uncultivable land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12.15 lakh ha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888428"/>
                  </a:ext>
                </a:extLst>
              </a:tr>
              <a:tr h="297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cultivable land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30.83 lakh ha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745860"/>
                  </a:ext>
                </a:extLst>
              </a:tr>
              <a:tr h="297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1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Net Area sown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1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27.23 lakh ha  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567809"/>
                  </a:ext>
                </a:extLst>
              </a:tr>
              <a:tr h="297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Gross Cropped Area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40.04 lakh ha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33456"/>
                  </a:ext>
                </a:extLst>
              </a:tr>
              <a:tr h="339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Area cultivated once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14.43 lakh ha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252746"/>
                  </a:ext>
                </a:extLst>
              </a:tr>
              <a:tr h="5900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Area cultivated twice or more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12.81 lakh ha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420157"/>
                  </a:ext>
                </a:extLst>
              </a:tr>
              <a:tr h="5900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1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Area under Horticultural Crops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1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6.08 lakh ha 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812706"/>
                  </a:ext>
                </a:extLst>
              </a:tr>
              <a:tr h="297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Area under </a:t>
                      </a:r>
                      <a:r>
                        <a:rPr lang="en-US" sz="2000" b="0" u="none" strike="noStrike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Jhum</a:t>
                      </a:r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Cultivation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0.127 lakh ha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055031"/>
                  </a:ext>
                </a:extLst>
              </a:tr>
              <a:tr h="297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1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1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Cropping Intensity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1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147.04 % 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01964"/>
                  </a:ext>
                </a:extLst>
              </a:tr>
              <a:tr h="297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Cultivable waste land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1.60  lakh ha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253108"/>
                  </a:ext>
                </a:extLst>
              </a:tr>
              <a:tr h="297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fallow land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0.92 lakh ha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64610"/>
                  </a:ext>
                </a:extLst>
              </a:tr>
              <a:tr h="29728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Chronically flood prone area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4.93 lakh ha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385237"/>
                  </a:ext>
                </a:extLst>
              </a:tr>
              <a:tr h="5900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l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Chronically drought prone area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</a:defRPr>
                      </a:lvl9pPr>
                    </a:lstStyle>
                    <a:p>
                      <a:pPr algn="ctr" fontAlgn="t"/>
                      <a:r>
                        <a:rPr lang="en-US" sz="2000" b="0" u="none" strike="noStrike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0.94 lakh ha 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715" marR="4715" marT="4715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74808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5165A87-82BA-4976-AEBB-99218930B440}"/>
              </a:ext>
            </a:extLst>
          </p:cNvPr>
          <p:cNvSpPr txBox="1"/>
          <p:nvPr/>
        </p:nvSpPr>
        <p:spPr>
          <a:xfrm>
            <a:off x="2969520" y="5955906"/>
            <a:ext cx="94396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1828800" algn="l"/>
                <a:tab pos="22860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Land Utilization Statistics, 2018-19. Directorate of Economics and Statistics, Assam, Guwahati-28.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008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552D79-CECF-4A90-AF59-082F89177DD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2881423" cy="5656521"/>
          </a:xfrm>
          <a:prstGeom prst="rect">
            <a:avLst/>
          </a:prstGeom>
          <a:solidFill>
            <a:srgbClr val="DBF0FA">
              <a:alpha val="4509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9pPr>
          </a:lstStyle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Profile of Farmers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527BE2-22DF-4560-801D-37611A867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911036"/>
              </p:ext>
            </p:extLst>
          </p:nvPr>
        </p:nvGraphicFramePr>
        <p:xfrm>
          <a:off x="3381014" y="548107"/>
          <a:ext cx="8144679" cy="4566154"/>
        </p:xfrm>
        <a:graphic>
          <a:graphicData uri="http://schemas.openxmlformats.org/drawingml/2006/table">
            <a:tbl>
              <a:tblPr/>
              <a:tblGrid>
                <a:gridCol w="1934206">
                  <a:extLst>
                    <a:ext uri="{9D8B030D-6E8A-4147-A177-3AD203B41FA5}">
                      <a16:colId xmlns:a16="http://schemas.microsoft.com/office/drawing/2014/main" val="4112522968"/>
                    </a:ext>
                  </a:extLst>
                </a:gridCol>
                <a:gridCol w="2361268">
                  <a:extLst>
                    <a:ext uri="{9D8B030D-6E8A-4147-A177-3AD203B41FA5}">
                      <a16:colId xmlns:a16="http://schemas.microsoft.com/office/drawing/2014/main" val="1029931481"/>
                    </a:ext>
                  </a:extLst>
                </a:gridCol>
                <a:gridCol w="1934206">
                  <a:extLst>
                    <a:ext uri="{9D8B030D-6E8A-4147-A177-3AD203B41FA5}">
                      <a16:colId xmlns:a16="http://schemas.microsoft.com/office/drawing/2014/main" val="992130501"/>
                    </a:ext>
                  </a:extLst>
                </a:gridCol>
                <a:gridCol w="1914999">
                  <a:extLst>
                    <a:ext uri="{9D8B030D-6E8A-4147-A177-3AD203B41FA5}">
                      <a16:colId xmlns:a16="http://schemas.microsoft.com/office/drawing/2014/main" val="1991894078"/>
                    </a:ext>
                  </a:extLst>
                </a:gridCol>
              </a:tblGrid>
              <a:tr h="115512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Class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Land holding size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No. of farm families (in Lakh)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Percentage of total farm families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890112"/>
                  </a:ext>
                </a:extLst>
              </a:tr>
              <a:tr h="64454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Marginal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Less than 1 hectare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2870"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18.68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68.13%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9039123"/>
                  </a:ext>
                </a:extLst>
              </a:tr>
              <a:tr h="57756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Small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1.0 – 2.0 hectares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2870"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4.95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18.07%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201905"/>
                  </a:ext>
                </a:extLst>
              </a:tr>
              <a:tr h="577562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Semi Medium 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2.0 – 4.0 hectares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2870"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2.95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10.77%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4567376"/>
                  </a:ext>
                </a:extLst>
              </a:tr>
              <a:tr h="64454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Medium 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4.0 – 10.0 hectares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2870"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0.79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2.89%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60646"/>
                  </a:ext>
                </a:extLst>
              </a:tr>
              <a:tr h="644545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Large  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10.0 hectares &amp; above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2870"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0.04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0.14%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2983373"/>
                  </a:ext>
                </a:extLst>
              </a:tr>
              <a:tr h="322273">
                <a:tc gridSpan="2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Total :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27.41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100.00%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4943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F9BE195-692C-4B35-9A85-DD78ADBD5362}"/>
              </a:ext>
            </a:extLst>
          </p:cNvPr>
          <p:cNvSpPr txBox="1"/>
          <p:nvPr/>
        </p:nvSpPr>
        <p:spPr>
          <a:xfrm>
            <a:off x="3296093" y="6432698"/>
            <a:ext cx="513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DEPARTMENT OF AGRICULTURE, ASSAM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F5F297-5F93-41FC-9641-72DD75369863}"/>
              </a:ext>
            </a:extLst>
          </p:cNvPr>
          <p:cNvSpPr txBox="1">
            <a:spLocks/>
          </p:cNvSpPr>
          <p:nvPr/>
        </p:nvSpPr>
        <p:spPr>
          <a:xfrm>
            <a:off x="10536864" y="6432698"/>
            <a:ext cx="774405" cy="2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9D4CFF-6072-4D1F-940E-37D570247CC4}" type="slidenum">
              <a:rPr lang="en-US" smtClean="0">
                <a:solidFill>
                  <a:srgbClr val="4D4D4D">
                    <a:tint val="75000"/>
                  </a:srgbClr>
                </a:solidFill>
                <a:latin typeface="Microsoft Sans Serif"/>
              </a:rPr>
              <a:pPr/>
              <a:t>3</a:t>
            </a:fld>
            <a:endParaRPr lang="en-US" dirty="0">
              <a:solidFill>
                <a:srgbClr val="4D4D4D">
                  <a:tint val="75000"/>
                </a:srgbClr>
              </a:solidFill>
              <a:latin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84460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4639CB-87B3-4456-9FAE-B0785BE8CBC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2881423" cy="5656521"/>
          </a:xfrm>
          <a:prstGeom prst="rect">
            <a:avLst/>
          </a:prstGeom>
          <a:solidFill>
            <a:srgbClr val="DBF0FA">
              <a:alpha val="4509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9pPr>
          </a:lstStyle>
          <a:p>
            <a:pPr algn="ctr"/>
            <a:r>
              <a:rPr lang="en-IN" dirty="0" err="1">
                <a:solidFill>
                  <a:schemeClr val="bg2">
                    <a:lumMod val="50000"/>
                  </a:schemeClr>
                </a:solidFill>
              </a:rPr>
              <a:t>Agro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Climatic Zones &amp; Cropping Pattern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FAD8E0-C7DF-45F3-BA91-D569AF47C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975487"/>
              </p:ext>
            </p:extLst>
          </p:nvPr>
        </p:nvGraphicFramePr>
        <p:xfrm>
          <a:off x="3062176" y="159493"/>
          <a:ext cx="9005777" cy="563817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234601">
                  <a:extLst>
                    <a:ext uri="{9D8B030D-6E8A-4147-A177-3AD203B41FA5}">
                      <a16:colId xmlns:a16="http://schemas.microsoft.com/office/drawing/2014/main" val="2380234166"/>
                    </a:ext>
                  </a:extLst>
                </a:gridCol>
                <a:gridCol w="6771176">
                  <a:extLst>
                    <a:ext uri="{9D8B030D-6E8A-4147-A177-3AD203B41FA5}">
                      <a16:colId xmlns:a16="http://schemas.microsoft.com/office/drawing/2014/main" val="3312054992"/>
                    </a:ext>
                  </a:extLst>
                </a:gridCol>
              </a:tblGrid>
              <a:tr h="42609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Zone 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Major Cropping Pattern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925726"/>
                  </a:ext>
                </a:extLst>
              </a:tr>
              <a:tr h="110977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Lower Brahmaputra Valley Zone                   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( 11 Districts)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Winter (Sali) Paddy – Summer (Boro) Paddy / Rabi Vegetables / Rabi Oilseeds / Rabi Pulses – Summer Vegetables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it-IT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Sali Paddy – Rabi Oilseeds / Rabi Pulses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Jute – Summer (Boro) Paddy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Sugarcane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36681"/>
                  </a:ext>
                </a:extLst>
              </a:tr>
              <a:tr h="66586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North Bank Plains Zone                              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(7 Districts)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Winter (Sali) Paddy – Summer (Boro) Paddy / Rabi Vegetables / Rabi Oilseeds / Rabi Pulses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Sugarcane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44764"/>
                  </a:ext>
                </a:extLst>
              </a:tr>
              <a:tr h="443910">
                <a:tc>
                  <a:txBody>
                    <a:bodyPr/>
                    <a:lstStyle/>
                    <a:p>
                      <a:pPr algn="ctr"/>
                      <a:r>
                        <a:rPr lang="it-IT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Upper Brahmaputra Valley Zone                 </a:t>
                      </a:r>
                      <a:r>
                        <a:rPr lang="it-IT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(7 Districts)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Winter (Sali) Paddy – Rabi Oilseeds / Rabi Vegetables / Rabi Pulses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Sugarcane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836023"/>
                  </a:ext>
                </a:extLst>
              </a:tr>
              <a:tr h="887819">
                <a:tc>
                  <a:txBody>
                    <a:bodyPr/>
                    <a:lstStyle/>
                    <a:p>
                      <a:pPr algn="ctr"/>
                      <a:r>
                        <a:rPr lang="it-IT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Central Brahmaputra Valley Zone                       </a:t>
                      </a:r>
                      <a:r>
                        <a:rPr lang="it-IT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( 3 Districts)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Winter (Sali) Paddy – Summer (Boro) Paddy / Rabi Vegetables / Rabi Oilseeds / Rabi Pulses – Summer Vegetables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Jute – Summer Paddy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Sugarcane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821148"/>
                  </a:ext>
                </a:extLst>
              </a:tr>
              <a:tr h="44391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Barak Valley Zone</a:t>
                      </a:r>
                    </a:p>
                    <a:p>
                      <a:pPr algn="ctr"/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(3 Districts)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Winter (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Sali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) Paddy – Autumn (Ahu) Paddy / Summer Vegetables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Sugarcane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318016"/>
                  </a:ext>
                </a:extLst>
              </a:tr>
              <a:tr h="44391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Hill Zone</a:t>
                      </a:r>
                    </a:p>
                    <a:p>
                      <a:pPr algn="ctr"/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(3 Districts)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nb-NO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Winter (Sali) Paddy – Maize / Rabi Vegetables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342900" lvl="0" indent="-342900" algn="just">
                        <a:buSzPts val="1000"/>
                        <a:buFont typeface="Wingdings" panose="05000000000000000000" pitchFamily="2" charset="2"/>
                        <a:buChar char=""/>
                        <a:tabLst>
                          <a:tab pos="140970" algn="l"/>
                        </a:tabLs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Sugarcane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62459" marR="6245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66169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319781-DBA2-42BE-BCB8-A5A61B038F32}"/>
              </a:ext>
            </a:extLst>
          </p:cNvPr>
          <p:cNvSpPr txBox="1"/>
          <p:nvPr/>
        </p:nvSpPr>
        <p:spPr>
          <a:xfrm>
            <a:off x="3296093" y="6432698"/>
            <a:ext cx="513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DEPARTMENT OF AGRICULTURE, ASSAM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07A2335-1F9D-4E2C-B6A9-DF02A0F4BEB8}"/>
              </a:ext>
            </a:extLst>
          </p:cNvPr>
          <p:cNvSpPr txBox="1">
            <a:spLocks/>
          </p:cNvSpPr>
          <p:nvPr/>
        </p:nvSpPr>
        <p:spPr>
          <a:xfrm>
            <a:off x="10536864" y="6432698"/>
            <a:ext cx="774405" cy="2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9D4CFF-6072-4D1F-940E-37D570247CC4}" type="slidenum">
              <a:rPr lang="en-US" smtClean="0">
                <a:solidFill>
                  <a:srgbClr val="4D4D4D">
                    <a:tint val="75000"/>
                  </a:srgbClr>
                </a:solidFill>
                <a:latin typeface="Microsoft Sans Serif"/>
              </a:rPr>
              <a:pPr/>
              <a:t>4</a:t>
            </a:fld>
            <a:endParaRPr lang="en-US" dirty="0">
              <a:solidFill>
                <a:srgbClr val="4D4D4D">
                  <a:tint val="75000"/>
                </a:srgbClr>
              </a:solidFill>
              <a:latin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789687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43BE33-279B-4C9A-967A-6794C5CFB4D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2881423" cy="5656521"/>
          </a:xfrm>
          <a:prstGeom prst="rect">
            <a:avLst/>
          </a:prstGeom>
          <a:solidFill>
            <a:srgbClr val="DBF0FA">
              <a:alpha val="4509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9pPr>
          </a:lstStyle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Kharif Crop Calendar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394C60-2FF0-4CFC-9611-ED587E67E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65435"/>
              </p:ext>
            </p:extLst>
          </p:nvPr>
        </p:nvGraphicFramePr>
        <p:xfrm>
          <a:off x="3076169" y="124457"/>
          <a:ext cx="8779133" cy="6479182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922084">
                  <a:extLst>
                    <a:ext uri="{9D8B030D-6E8A-4147-A177-3AD203B41FA5}">
                      <a16:colId xmlns:a16="http://schemas.microsoft.com/office/drawing/2014/main" val="67306025"/>
                    </a:ext>
                  </a:extLst>
                </a:gridCol>
                <a:gridCol w="2476891">
                  <a:extLst>
                    <a:ext uri="{9D8B030D-6E8A-4147-A177-3AD203B41FA5}">
                      <a16:colId xmlns:a16="http://schemas.microsoft.com/office/drawing/2014/main" val="4107758474"/>
                    </a:ext>
                  </a:extLst>
                </a:gridCol>
                <a:gridCol w="4380158">
                  <a:extLst>
                    <a:ext uri="{9D8B030D-6E8A-4147-A177-3AD203B41FA5}">
                      <a16:colId xmlns:a16="http://schemas.microsoft.com/office/drawing/2014/main" val="4005178962"/>
                    </a:ext>
                  </a:extLst>
                </a:gridCol>
              </a:tblGrid>
              <a:tr h="4441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Crop types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Crop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Sowing time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466033"/>
                  </a:ext>
                </a:extLst>
              </a:tr>
              <a:tr h="105571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Oilseeds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Soybean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May-June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737521"/>
                  </a:ext>
                </a:extLst>
              </a:tr>
              <a:tr h="1597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Sesamum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July to first fortnight of August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584037"/>
                  </a:ext>
                </a:extLst>
              </a:tr>
              <a:tr h="15972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IN" sz="1800" baseline="30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Week of March to 1</a:t>
                      </a:r>
                      <a:r>
                        <a:rPr lang="en-IN" sz="1800" baseline="30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Week of April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723086"/>
                  </a:ext>
                </a:extLst>
              </a:tr>
              <a:tr h="19699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Groundnut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June to July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711798"/>
                  </a:ext>
                </a:extLst>
              </a:tr>
              <a:tr h="310881">
                <a:tc rowSpan="6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Pulses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Black gram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Mid Aug - Mid Sept, </a:t>
                      </a:r>
                      <a:r>
                        <a:rPr lang="en-IN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Saoniamah</a:t>
                      </a: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-Mid July to Mid August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050238"/>
                  </a:ext>
                </a:extLst>
              </a:tr>
              <a:tr h="1311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Green gram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Mid Aug - Mid Sept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741271"/>
                  </a:ext>
                </a:extLst>
              </a:tr>
              <a:tr h="1311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Cowpea (Grain)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August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587055"/>
                  </a:ext>
                </a:extLst>
              </a:tr>
              <a:tr h="1311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 b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Arhar (Pigeon pea) </a:t>
                      </a:r>
                      <a:endParaRPr lang="en-IN" sz="1800" b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June - July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0690"/>
                  </a:ext>
                </a:extLst>
              </a:tr>
              <a:tr h="1311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Soybean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May-June 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514270"/>
                  </a:ext>
                </a:extLst>
              </a:tr>
              <a:tr h="13117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Rice bean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Mid Aug - Mid Sept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61404"/>
                  </a:ext>
                </a:extLst>
              </a:tr>
              <a:tr h="242011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Green manuring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Dhaincha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April-Mid May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506832"/>
                  </a:ext>
                </a:extLst>
              </a:tr>
              <a:tr h="21774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Sannhemp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April – Mid May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429070"/>
                  </a:ext>
                </a:extLst>
              </a:tr>
              <a:tr h="105571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Cereals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Winter Rice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June-July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917049"/>
                  </a:ext>
                </a:extLst>
              </a:tr>
              <a:tr h="10557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Deep Water Rice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March-April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063744"/>
                  </a:ext>
                </a:extLst>
              </a:tr>
              <a:tr h="105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Course cereal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Maize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Feb-May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828547"/>
                  </a:ext>
                </a:extLst>
              </a:tr>
              <a:tr h="2177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Millet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Finger Millet</a:t>
                      </a:r>
                      <a:endParaRPr lang="en-IN" sz="18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week of August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Vrinda" panose="020B0502040204020203" pitchFamily="34" charset="0"/>
                      </a:endParaRPr>
                    </a:p>
                  </a:txBody>
                  <a:tcPr marL="24145" marR="241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6305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EED9414-F2BB-4997-8D8D-93A739724A88}"/>
              </a:ext>
            </a:extLst>
          </p:cNvPr>
          <p:cNvSpPr txBox="1"/>
          <p:nvPr/>
        </p:nvSpPr>
        <p:spPr>
          <a:xfrm>
            <a:off x="3296093" y="6432698"/>
            <a:ext cx="513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DEPARTMENT OF AGRICULTURE, ASSAM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529F2E4-B11D-49F7-9C03-9D2D1113779F}"/>
              </a:ext>
            </a:extLst>
          </p:cNvPr>
          <p:cNvSpPr txBox="1">
            <a:spLocks/>
          </p:cNvSpPr>
          <p:nvPr/>
        </p:nvSpPr>
        <p:spPr>
          <a:xfrm>
            <a:off x="10536864" y="6432698"/>
            <a:ext cx="774405" cy="2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9D4CFF-6072-4D1F-940E-37D570247CC4}" type="slidenum">
              <a:rPr lang="en-US" smtClean="0">
                <a:solidFill>
                  <a:srgbClr val="4D4D4D">
                    <a:tint val="75000"/>
                  </a:srgbClr>
                </a:solidFill>
                <a:latin typeface="Microsoft Sans Serif"/>
              </a:rPr>
              <a:pPr/>
              <a:t>5</a:t>
            </a:fld>
            <a:endParaRPr lang="en-US" dirty="0">
              <a:solidFill>
                <a:srgbClr val="4D4D4D">
                  <a:tint val="75000"/>
                </a:srgbClr>
              </a:solidFill>
              <a:latin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98843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DCAA3D-DD32-4E16-B4F9-299BDA57B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791938"/>
              </p:ext>
            </p:extLst>
          </p:nvPr>
        </p:nvGraphicFramePr>
        <p:xfrm>
          <a:off x="3136605" y="493527"/>
          <a:ext cx="8835663" cy="3081020"/>
        </p:xfrm>
        <a:graphic>
          <a:graphicData uri="http://schemas.openxmlformats.org/drawingml/2006/table">
            <a:tbl>
              <a:tblPr firstRow="1" firstCol="1" bandRow="1"/>
              <a:tblGrid>
                <a:gridCol w="879341">
                  <a:extLst>
                    <a:ext uri="{9D8B030D-6E8A-4147-A177-3AD203B41FA5}">
                      <a16:colId xmlns:a16="http://schemas.microsoft.com/office/drawing/2014/main" val="3332033237"/>
                    </a:ext>
                  </a:extLst>
                </a:gridCol>
                <a:gridCol w="2833232">
                  <a:extLst>
                    <a:ext uri="{9D8B030D-6E8A-4147-A177-3AD203B41FA5}">
                      <a16:colId xmlns:a16="http://schemas.microsoft.com/office/drawing/2014/main" val="618447424"/>
                    </a:ext>
                  </a:extLst>
                </a:gridCol>
                <a:gridCol w="1024618">
                  <a:extLst>
                    <a:ext uri="{9D8B030D-6E8A-4147-A177-3AD203B41FA5}">
                      <a16:colId xmlns:a16="http://schemas.microsoft.com/office/drawing/2014/main" val="3234527858"/>
                    </a:ext>
                  </a:extLst>
                </a:gridCol>
                <a:gridCol w="1024618">
                  <a:extLst>
                    <a:ext uri="{9D8B030D-6E8A-4147-A177-3AD203B41FA5}">
                      <a16:colId xmlns:a16="http://schemas.microsoft.com/office/drawing/2014/main" val="708336227"/>
                    </a:ext>
                  </a:extLst>
                </a:gridCol>
                <a:gridCol w="1024618">
                  <a:extLst>
                    <a:ext uri="{9D8B030D-6E8A-4147-A177-3AD203B41FA5}">
                      <a16:colId xmlns:a16="http://schemas.microsoft.com/office/drawing/2014/main" val="3473518925"/>
                    </a:ext>
                  </a:extLst>
                </a:gridCol>
                <a:gridCol w="1024618">
                  <a:extLst>
                    <a:ext uri="{9D8B030D-6E8A-4147-A177-3AD203B41FA5}">
                      <a16:colId xmlns:a16="http://schemas.microsoft.com/office/drawing/2014/main" val="2439443677"/>
                    </a:ext>
                  </a:extLst>
                </a:gridCol>
                <a:gridCol w="1024618">
                  <a:extLst>
                    <a:ext uri="{9D8B030D-6E8A-4147-A177-3AD203B41FA5}">
                      <a16:colId xmlns:a16="http://schemas.microsoft.com/office/drawing/2014/main" val="3359506422"/>
                    </a:ext>
                  </a:extLst>
                </a:gridCol>
              </a:tblGrid>
              <a:tr h="221623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Sl. No.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Name of crop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2016-17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2017-18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2018-19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2019-20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2020-21</a:t>
                      </a:r>
                    </a:p>
                  </a:txBody>
                  <a:tcPr marL="35961" marR="3596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067808"/>
                  </a:ext>
                </a:extLst>
              </a:tr>
              <a:tr h="22675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Ahu Paddy (Autumn Paddy)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168044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154511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144766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127223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116547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895202"/>
                  </a:ext>
                </a:extLst>
              </a:tr>
              <a:tr h="226754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Sali</a:t>
                      </a:r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Paddy (Winter Paddy)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1890960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1878798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1879539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1878208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1863898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051262"/>
                  </a:ext>
                </a:extLst>
              </a:tr>
              <a:tr h="226754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Maize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31333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31537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32264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36636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41154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696034"/>
                  </a:ext>
                </a:extLst>
              </a:tr>
              <a:tr h="226754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Arahar (Tur)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5721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5609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5550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5830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6037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909693"/>
                  </a:ext>
                </a:extLst>
              </a:tr>
              <a:tr h="226754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Black gram (Matikalai)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57420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61460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59866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58100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56189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533799"/>
                  </a:ext>
                </a:extLst>
              </a:tr>
              <a:tr h="226754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Green gram (Mug)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10724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11410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11113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10837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10905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116311"/>
                  </a:ext>
                </a:extLst>
              </a:tr>
              <a:tr h="226754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Sesamum (Til)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11874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12214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11983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12027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12128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031247"/>
                  </a:ext>
                </a:extLst>
              </a:tr>
              <a:tr h="226754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Jute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75140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69926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65789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64247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60086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642817"/>
                  </a:ext>
                </a:extLst>
              </a:tr>
              <a:tr h="226754">
                <a:tc>
                  <a:txBody>
                    <a:bodyPr/>
                    <a:lstStyle/>
                    <a:p>
                      <a:pPr algn="ct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Mesta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3544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3418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3287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3221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3118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884235"/>
                  </a:ext>
                </a:extLst>
              </a:tr>
              <a:tr h="22675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Sugarcane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31383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30559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31199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29703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35961" marR="359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30496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083278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16C3FD4A-9A4F-4BB2-92E1-0F826FD76FB0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2881423" cy="5656521"/>
          </a:xfrm>
          <a:prstGeom prst="rect">
            <a:avLst/>
          </a:prstGeom>
          <a:solidFill>
            <a:srgbClr val="DBF0FA">
              <a:alpha val="4509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9pPr>
          </a:lstStyle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Trend of Kharif Crops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AE833-BB8D-4B1F-ADAC-0405147038E7}"/>
              </a:ext>
            </a:extLst>
          </p:cNvPr>
          <p:cNvSpPr txBox="1"/>
          <p:nvPr/>
        </p:nvSpPr>
        <p:spPr>
          <a:xfrm>
            <a:off x="6836228" y="95891"/>
            <a:ext cx="511426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Area under Kharif Crops ( In Ha)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7299DD7-2EEF-4ECC-B038-79A3E55C454E}"/>
              </a:ext>
            </a:extLst>
          </p:cNvPr>
          <p:cNvSpPr txBox="1">
            <a:spLocks/>
          </p:cNvSpPr>
          <p:nvPr/>
        </p:nvSpPr>
        <p:spPr>
          <a:xfrm>
            <a:off x="10536864" y="6432698"/>
            <a:ext cx="774405" cy="2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9D4CFF-6072-4D1F-940E-37D570247CC4}" type="slidenum">
              <a:rPr lang="en-US" smtClean="0">
                <a:solidFill>
                  <a:srgbClr val="4D4D4D">
                    <a:tint val="75000"/>
                  </a:srgbClr>
                </a:solidFill>
                <a:latin typeface="Microsoft Sans Serif"/>
              </a:rPr>
              <a:pPr/>
              <a:t>6</a:t>
            </a:fld>
            <a:endParaRPr lang="en-US" dirty="0">
              <a:solidFill>
                <a:srgbClr val="4D4D4D">
                  <a:tint val="75000"/>
                </a:srgbClr>
              </a:solidFill>
              <a:latin typeface="Microsoft Sans Serif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E9B5D49-A27C-4543-B1C4-50C8515BC8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5856254"/>
              </p:ext>
            </p:extLst>
          </p:nvPr>
        </p:nvGraphicFramePr>
        <p:xfrm>
          <a:off x="2881423" y="3429000"/>
          <a:ext cx="9207795" cy="4005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24549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0DFBBA-91B1-4BB1-B566-819C7D95DD86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3232298" cy="5656521"/>
          </a:xfrm>
          <a:prstGeom prst="rect">
            <a:avLst/>
          </a:prstGeom>
          <a:solidFill>
            <a:srgbClr val="DBF0FA">
              <a:alpha val="4509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9pPr>
          </a:lstStyle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Constraints</a:t>
            </a:r>
          </a:p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During Kharif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EA65A-D877-45EB-9C9D-6EE93366A8D7}"/>
              </a:ext>
            </a:extLst>
          </p:cNvPr>
          <p:cNvSpPr txBox="1"/>
          <p:nvPr/>
        </p:nvSpPr>
        <p:spPr>
          <a:xfrm>
            <a:off x="3794051" y="1014978"/>
            <a:ext cx="7517218" cy="42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Uncertain weather conditions </a:t>
            </a:r>
            <a:r>
              <a:rPr lang="en-US" sz="20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viz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., excess rainfall in </a:t>
            </a:r>
            <a:r>
              <a:rPr lang="en-US" sz="20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kharif </a:t>
            </a: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&amp; intermittent drought.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Recurrent Flood 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Vrinda" panose="020B0502040204020203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Inadequate availability of quality seeds of improved newly released varieties (Less than 10 years) suitable for Assam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Vrinda" panose="020B0502040204020203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Lack of proper package of practices for new varieties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Vrinda" panose="020B0502040204020203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Lack of seed processing plant for Soybean, Sunflower, Groundnuts &amp; Millets</a:t>
            </a:r>
            <a:endParaRPr lang="en-IN" sz="2000" dirty="0">
              <a:latin typeface="Calibri" panose="020F0502020204030204" pitchFamily="34" charset="0"/>
              <a:ea typeface="Times New Roman" panose="02020603050405020304" pitchFamily="18" charset="0"/>
              <a:cs typeface="Vrinda" panose="020B0502040204020203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Lack of Low-cost oil extraction plants for Soybean, Sunflower, and Groundnut.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A8F94-7846-475C-8768-5124822DF5FE}"/>
              </a:ext>
            </a:extLst>
          </p:cNvPr>
          <p:cNvSpPr txBox="1"/>
          <p:nvPr/>
        </p:nvSpPr>
        <p:spPr>
          <a:xfrm>
            <a:off x="3296093" y="6432698"/>
            <a:ext cx="513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DEPARTMENT OF AGRICULTURE, ASSAM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571FE39-C28A-488E-A469-7838DF772A74}"/>
              </a:ext>
            </a:extLst>
          </p:cNvPr>
          <p:cNvSpPr txBox="1">
            <a:spLocks/>
          </p:cNvSpPr>
          <p:nvPr/>
        </p:nvSpPr>
        <p:spPr>
          <a:xfrm>
            <a:off x="10536864" y="6432698"/>
            <a:ext cx="774405" cy="2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9D4CFF-6072-4D1F-940E-37D570247CC4}" type="slidenum">
              <a:rPr lang="en-US" smtClean="0">
                <a:solidFill>
                  <a:srgbClr val="4D4D4D">
                    <a:tint val="75000"/>
                  </a:srgbClr>
                </a:solidFill>
                <a:latin typeface="Microsoft Sans Serif"/>
              </a:rPr>
              <a:pPr/>
              <a:t>7</a:t>
            </a:fld>
            <a:endParaRPr lang="en-US" dirty="0">
              <a:solidFill>
                <a:srgbClr val="4D4D4D">
                  <a:tint val="75000"/>
                </a:srgbClr>
              </a:solidFill>
              <a:latin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882054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2AAB-48CC-41FE-9E6D-EA54528DB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168" y="53929"/>
            <a:ext cx="11897832" cy="715962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Supportive schemes for Kharif 2022-23</a:t>
            </a:r>
          </a:p>
        </p:txBody>
      </p:sp>
      <p:pic>
        <p:nvPicPr>
          <p:cNvPr id="4" name="Picture 8" descr="Foxtail millet - Wikipedia">
            <a:extLst>
              <a:ext uri="{FF2B5EF4-FFF2-40B4-BE49-F238E27FC236}">
                <a16:creationId xmlns:a16="http://schemas.microsoft.com/office/drawing/2014/main" id="{F3359821-A9A5-4449-9A0D-B2146AAFEF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5" t="7531" r="14407" b="10855"/>
          <a:stretch/>
        </p:blipFill>
        <p:spPr bwMode="auto">
          <a:xfrm>
            <a:off x="165557" y="4370392"/>
            <a:ext cx="1662532" cy="121314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E795A5-2E0E-4A51-B994-86EC101F3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10" y="2511795"/>
            <a:ext cx="1616879" cy="11798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882D74-755E-4710-83E8-2634B7BBA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6313" y="5197125"/>
            <a:ext cx="1665949" cy="12355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3FD578-A8CF-43AC-BDF8-E18E4AC3A21F}"/>
              </a:ext>
            </a:extLst>
          </p:cNvPr>
          <p:cNvSpPr txBox="1"/>
          <p:nvPr/>
        </p:nvSpPr>
        <p:spPr>
          <a:xfrm>
            <a:off x="1873742" y="4612350"/>
            <a:ext cx="92092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Assam Millet Mission(AMM)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F6CFDE-CA01-4C4A-B70B-793B1DA80947}"/>
              </a:ext>
            </a:extLst>
          </p:cNvPr>
          <p:cNvSpPr txBox="1"/>
          <p:nvPr/>
        </p:nvSpPr>
        <p:spPr>
          <a:xfrm>
            <a:off x="1873742" y="1018423"/>
            <a:ext cx="92092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National Food Security Mission (NFSM)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38BE16-E4BD-4223-AD10-C01CFF44ADFE}"/>
              </a:ext>
            </a:extLst>
          </p:cNvPr>
          <p:cNvSpPr txBox="1"/>
          <p:nvPr/>
        </p:nvSpPr>
        <p:spPr>
          <a:xfrm>
            <a:off x="1545030" y="5487755"/>
            <a:ext cx="87912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3200" dirty="0"/>
              <a:t>Assam Fodder Mini Mission(AFMM)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CF1E23-DFCD-45E6-B24E-C165B4278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9890" y="3488385"/>
            <a:ext cx="1636678" cy="12332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3EACB95-91BF-4C37-95B8-9D57E12F361C}"/>
              </a:ext>
            </a:extLst>
          </p:cNvPr>
          <p:cNvSpPr txBox="1"/>
          <p:nvPr/>
        </p:nvSpPr>
        <p:spPr>
          <a:xfrm>
            <a:off x="371851" y="1844087"/>
            <a:ext cx="99644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3200" dirty="0" err="1"/>
              <a:t>Rashtriya</a:t>
            </a:r>
            <a:r>
              <a:rPr lang="en-IN" sz="3200" dirty="0"/>
              <a:t> Krishi Vikash Yojana(RKVY)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79511F-17BC-40AA-AB9F-570A1AA89BE5}"/>
              </a:ext>
            </a:extLst>
          </p:cNvPr>
          <p:cNvSpPr txBox="1"/>
          <p:nvPr/>
        </p:nvSpPr>
        <p:spPr>
          <a:xfrm>
            <a:off x="3338623" y="6432698"/>
            <a:ext cx="513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DEPARTMENT OF AGRICULTURE, ASSAM</a:t>
            </a:r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669F32A4-B449-4C09-85E2-008780CFEFAD}"/>
              </a:ext>
            </a:extLst>
          </p:cNvPr>
          <p:cNvSpPr txBox="1">
            <a:spLocks/>
          </p:cNvSpPr>
          <p:nvPr/>
        </p:nvSpPr>
        <p:spPr>
          <a:xfrm>
            <a:off x="10579394" y="6432698"/>
            <a:ext cx="774405" cy="2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9D4CFF-6072-4D1F-940E-37D570247CC4}" type="slidenum">
              <a:rPr lang="en-US" smtClean="0">
                <a:solidFill>
                  <a:srgbClr val="4D4D4D">
                    <a:tint val="75000"/>
                  </a:srgbClr>
                </a:solidFill>
                <a:latin typeface="Microsoft Sans Serif"/>
              </a:rPr>
              <a:pPr/>
              <a:t>8</a:t>
            </a:fld>
            <a:endParaRPr lang="en-US" dirty="0">
              <a:solidFill>
                <a:srgbClr val="4D4D4D">
                  <a:tint val="75000"/>
                </a:srgbClr>
              </a:solidFill>
              <a:latin typeface="Microsoft Sans Serif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B0D187-086F-442B-BEB0-000903EEE9D4}"/>
              </a:ext>
            </a:extLst>
          </p:cNvPr>
          <p:cNvSpPr txBox="1"/>
          <p:nvPr/>
        </p:nvSpPr>
        <p:spPr>
          <a:xfrm>
            <a:off x="676409" y="3785617"/>
            <a:ext cx="98252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National Mission on Edible Oils-Oil Palm (NMEO-OP)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CCE13C-B223-45A0-8648-9224A66375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8740" y="2738025"/>
            <a:ext cx="9364268" cy="8596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D77025-4C04-4263-9E01-6AF541B34E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4" y="1384084"/>
            <a:ext cx="1855686" cy="1652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8B1465-CA1D-4299-802A-82084674C4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196" y="699524"/>
            <a:ext cx="1512314" cy="142720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69250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4E05C0-523D-411D-8524-7F1C176DC945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3232298" cy="5656521"/>
          </a:xfrm>
          <a:prstGeom prst="rect">
            <a:avLst/>
          </a:prstGeom>
          <a:solidFill>
            <a:srgbClr val="DBF0FA">
              <a:alpha val="4509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9pPr>
          </a:lstStyle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Kharif Plan</a:t>
            </a:r>
          </a:p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2022-23</a:t>
            </a:r>
          </a:p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(Tentative)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4E80AA-994A-4F53-984C-99ABD66ED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70104"/>
              </p:ext>
            </p:extLst>
          </p:nvPr>
        </p:nvGraphicFramePr>
        <p:xfrm>
          <a:off x="3376576" y="195547"/>
          <a:ext cx="8106588" cy="5285091"/>
        </p:xfrm>
        <a:graphic>
          <a:graphicData uri="http://schemas.openxmlformats.org/drawingml/2006/table">
            <a:tbl>
              <a:tblPr/>
              <a:tblGrid>
                <a:gridCol w="1446528">
                  <a:extLst>
                    <a:ext uri="{9D8B030D-6E8A-4147-A177-3AD203B41FA5}">
                      <a16:colId xmlns:a16="http://schemas.microsoft.com/office/drawing/2014/main" val="131779025"/>
                    </a:ext>
                  </a:extLst>
                </a:gridCol>
                <a:gridCol w="3284826">
                  <a:extLst>
                    <a:ext uri="{9D8B030D-6E8A-4147-A177-3AD203B41FA5}">
                      <a16:colId xmlns:a16="http://schemas.microsoft.com/office/drawing/2014/main" val="3201833894"/>
                    </a:ext>
                  </a:extLst>
                </a:gridCol>
                <a:gridCol w="1446528">
                  <a:extLst>
                    <a:ext uri="{9D8B030D-6E8A-4147-A177-3AD203B41FA5}">
                      <a16:colId xmlns:a16="http://schemas.microsoft.com/office/drawing/2014/main" val="1918161260"/>
                    </a:ext>
                  </a:extLst>
                </a:gridCol>
                <a:gridCol w="964353">
                  <a:extLst>
                    <a:ext uri="{9D8B030D-6E8A-4147-A177-3AD203B41FA5}">
                      <a16:colId xmlns:a16="http://schemas.microsoft.com/office/drawing/2014/main" val="671362469"/>
                    </a:ext>
                  </a:extLst>
                </a:gridCol>
                <a:gridCol w="964353">
                  <a:extLst>
                    <a:ext uri="{9D8B030D-6E8A-4147-A177-3AD203B41FA5}">
                      <a16:colId xmlns:a16="http://schemas.microsoft.com/office/drawing/2014/main" val="2276432780"/>
                    </a:ext>
                  </a:extLst>
                </a:gridCol>
              </a:tblGrid>
              <a:tr h="252497">
                <a:tc>
                  <a:txBody>
                    <a:bodyPr/>
                    <a:lstStyle/>
                    <a:p>
                      <a:pPr algn="ctr" fontAlgn="b"/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Area To be </a:t>
                      </a:r>
                      <a:r>
                        <a:rPr lang="en-IN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Covered (Ha)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050141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CROP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RKVY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NFSM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218492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HYV Paddy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168481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Hybrid Paddy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6000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747937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Traditional Rice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11800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9015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Maize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26000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046972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Bio fortified Maize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15000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810538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Cereals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67000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27800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94800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410322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Groundnut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5000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7800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199327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Sunflower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1250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462490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OilSeeds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6250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11050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948656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Balckgrma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661493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Greengram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061470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Soybean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2500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142603"/>
                  </a:ext>
                </a:extLst>
              </a:tr>
              <a:tr h="252497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Pulse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14000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231324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Cash Crop (Jute)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33000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097559"/>
                  </a:ext>
                </a:extLst>
              </a:tr>
              <a:tr h="269911">
                <a:tc>
                  <a:txBody>
                    <a:bodyPr/>
                    <a:lstStyle/>
                    <a:p>
                      <a:pPr algn="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Nutri cereal (Millets)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20000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848235"/>
                  </a:ext>
                </a:extLst>
              </a:tr>
              <a:tr h="513701">
                <a:tc gridSpan="2">
                  <a:txBody>
                    <a:bodyPr/>
                    <a:lstStyle/>
                    <a:p>
                      <a:pPr algn="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Area To be covered under demonstration (Ha)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130750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49300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180050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7472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E1C51D-A6CA-4D7F-B5B0-DAF19A1C85F1}"/>
              </a:ext>
            </a:extLst>
          </p:cNvPr>
          <p:cNvSpPr txBox="1"/>
          <p:nvPr/>
        </p:nvSpPr>
        <p:spPr>
          <a:xfrm>
            <a:off x="3317362" y="5603356"/>
            <a:ext cx="8959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 Apart from demonstrations, </a:t>
            </a:r>
            <a:r>
              <a:rPr lang="en-IN" b="1" dirty="0"/>
              <a:t>subsidized seed distribution </a:t>
            </a:r>
            <a:r>
              <a:rPr lang="en-IN" dirty="0"/>
              <a:t>program will also be undertaken under NFSM to support the farmers in Kharif. (</a:t>
            </a:r>
            <a:r>
              <a:rPr lang="en-IN" dirty="0" err="1"/>
              <a:t>Approx</a:t>
            </a:r>
            <a:r>
              <a:rPr lang="en-IN" dirty="0"/>
              <a:t> 1.00 lakh </a:t>
            </a:r>
            <a:r>
              <a:rPr lang="en-IN" dirty="0" err="1"/>
              <a:t>Qts</a:t>
            </a:r>
            <a:r>
              <a:rPr lang="en-IN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83664-F500-46D3-A415-860469F3989B}"/>
              </a:ext>
            </a:extLst>
          </p:cNvPr>
          <p:cNvSpPr txBox="1"/>
          <p:nvPr/>
        </p:nvSpPr>
        <p:spPr>
          <a:xfrm>
            <a:off x="3296093" y="6432698"/>
            <a:ext cx="513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DEPARTMENT OF AGRICULTURE, ASSAM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4CA24EE-26C5-4B72-8533-0CB452C25A05}"/>
              </a:ext>
            </a:extLst>
          </p:cNvPr>
          <p:cNvSpPr txBox="1">
            <a:spLocks/>
          </p:cNvSpPr>
          <p:nvPr/>
        </p:nvSpPr>
        <p:spPr>
          <a:xfrm>
            <a:off x="10536864" y="6432698"/>
            <a:ext cx="774405" cy="2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9D4CFF-6072-4D1F-940E-37D570247CC4}" type="slidenum">
              <a:rPr lang="en-US" smtClean="0">
                <a:solidFill>
                  <a:srgbClr val="4D4D4D">
                    <a:tint val="75000"/>
                  </a:srgbClr>
                </a:solidFill>
                <a:latin typeface="Microsoft Sans Serif"/>
              </a:rPr>
              <a:pPr/>
              <a:t>9</a:t>
            </a:fld>
            <a:endParaRPr lang="en-US" dirty="0">
              <a:solidFill>
                <a:srgbClr val="4D4D4D">
                  <a:tint val="75000"/>
                </a:srgbClr>
              </a:solidFill>
              <a:latin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696449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E3B96-5ECA-418F-9B16-A1B497338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9628" y="354418"/>
            <a:ext cx="8179981" cy="5546652"/>
          </a:xfrm>
        </p:spPr>
        <p:txBody>
          <a:bodyPr/>
          <a:lstStyle/>
          <a:p>
            <a:pPr algn="just"/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Government of Assam has recently undertaken two special schemes  - Assam Millet Mission &amp; Assam Fodder Mini Mission – To be launched this Kharif.</a:t>
            </a:r>
          </a:p>
          <a:p>
            <a:pPr algn="just"/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To support the Farm Mechanization, sufficient pre &amp; post-harvest machinery have been planned to distribute amongst the farmers in subsidy.</a:t>
            </a:r>
          </a:p>
          <a:p>
            <a:pPr algn="just"/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Major farm machinery are- Power tiller, Solar, Electrical &amp; Diesel STWs, LLPs, Rotavator, Paddy Transplanter, Wheel hoe, Paddy thresher,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Pulverizer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, Maize sheller, Reaper, Millet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dehusker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, Winnower etc.</a:t>
            </a:r>
          </a:p>
          <a:p>
            <a:pPr algn="just"/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All farm machineries will be distributed through a dedicated Farm Machinery Portal- https://agrimacassam.in </a:t>
            </a:r>
          </a:p>
          <a:p>
            <a:pPr algn="just"/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Under NMEO-OP, Major task is to setup another 6 nurseries &amp; 10 seed gardens within Kharif.</a:t>
            </a:r>
          </a:p>
          <a:p>
            <a:pPr algn="just"/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The total target of Area Expansion under oil palm in 2022-23 is 4000 Ha (including 1500 Ha of 2021-22). Thrust will be given to complete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atleat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50 % during Kharif 2022-23, subject to availability of seedlings.</a:t>
            </a: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1A8060-391D-4D4A-8EAB-F403F591B3B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3232298" cy="5656521"/>
          </a:xfrm>
          <a:prstGeom prst="rect">
            <a:avLst/>
          </a:prstGeom>
          <a:solidFill>
            <a:srgbClr val="DBF0FA">
              <a:alpha val="4509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9pPr>
          </a:lstStyle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Kharif Plan</a:t>
            </a:r>
          </a:p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2022-23</a:t>
            </a:r>
          </a:p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(Tentative)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AF88B-D1B0-4C64-8183-7C9AFE31CBBA}"/>
              </a:ext>
            </a:extLst>
          </p:cNvPr>
          <p:cNvSpPr txBox="1"/>
          <p:nvPr/>
        </p:nvSpPr>
        <p:spPr>
          <a:xfrm>
            <a:off x="3296093" y="6432698"/>
            <a:ext cx="513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DEPARTMENT OF AGRICULTURE, ASSAM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26358306-C1E4-4C26-9732-812A154705F7}"/>
              </a:ext>
            </a:extLst>
          </p:cNvPr>
          <p:cNvSpPr txBox="1">
            <a:spLocks/>
          </p:cNvSpPr>
          <p:nvPr/>
        </p:nvSpPr>
        <p:spPr>
          <a:xfrm>
            <a:off x="10536864" y="6432698"/>
            <a:ext cx="774405" cy="2887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9D4CFF-6072-4D1F-940E-37D570247CC4}" type="slidenum">
              <a:rPr lang="en-US" smtClean="0">
                <a:solidFill>
                  <a:srgbClr val="4D4D4D">
                    <a:tint val="75000"/>
                  </a:srgbClr>
                </a:solidFill>
                <a:latin typeface="Microsoft Sans Serif"/>
              </a:rPr>
              <a:pPr/>
              <a:t>10</a:t>
            </a:fld>
            <a:endParaRPr lang="en-US" dirty="0">
              <a:solidFill>
                <a:srgbClr val="4D4D4D">
                  <a:tint val="75000"/>
                </a:srgbClr>
              </a:solidFill>
              <a:latin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722706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6F894-31EB-4440-9DA5-52A19AAC3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8195" y="152399"/>
            <a:ext cx="8171935" cy="5656521"/>
          </a:xfrm>
        </p:spPr>
        <p:txBody>
          <a:bodyPr/>
          <a:lstStyle/>
          <a:p>
            <a:pPr marL="0" indent="0" algn="just">
              <a:buNone/>
            </a:pPr>
            <a:endParaRPr lang="en-IN" sz="2400" dirty="0"/>
          </a:p>
          <a:p>
            <a:pPr algn="just"/>
            <a:r>
              <a:rPr lang="en-IN" sz="2400" dirty="0"/>
              <a:t>State Level Project Screening Committee (SLPSC) meeting for RKVY conducted. Expected to conduct State Level Sanctioning Committee (SLSC) meeting within 1</a:t>
            </a:r>
            <a:r>
              <a:rPr lang="en-IN" sz="2400" baseline="30000" dirty="0"/>
              <a:t>st</a:t>
            </a:r>
            <a:r>
              <a:rPr lang="en-IN" sz="2400" dirty="0"/>
              <a:t> week of May.</a:t>
            </a:r>
          </a:p>
          <a:p>
            <a:pPr algn="just"/>
            <a:r>
              <a:rPr lang="en-IN" sz="2400" dirty="0"/>
              <a:t>Allocation for NFSM 2022-23 received. AAP for 2022-23 is in the Final Stage. Expected to conduct State Food Security Mission Executive Committee (SFSMEC) meeting within 15</a:t>
            </a:r>
            <a:r>
              <a:rPr lang="en-IN" sz="2400" baseline="30000" dirty="0"/>
              <a:t>th</a:t>
            </a:r>
            <a:r>
              <a:rPr lang="en-IN" sz="2400" dirty="0"/>
              <a:t> May.</a:t>
            </a:r>
          </a:p>
          <a:p>
            <a:pPr algn="just"/>
            <a:r>
              <a:rPr lang="en-IN" sz="2400" dirty="0"/>
              <a:t>Procedure for seed procurement as per State Procurement Norms completed.</a:t>
            </a:r>
          </a:p>
          <a:p>
            <a:pPr algn="just"/>
            <a:r>
              <a:rPr lang="en-IN" sz="2400" dirty="0"/>
              <a:t>Active involvement of SAU/KVKs ensured.</a:t>
            </a:r>
          </a:p>
          <a:p>
            <a:pPr algn="just"/>
            <a:r>
              <a:rPr lang="en-IN" sz="2400" dirty="0"/>
              <a:t>Implementing support in grassroots (AEA, ATM/BTM, ADOs etc.) are in place.</a:t>
            </a:r>
          </a:p>
          <a:p>
            <a:pPr marL="0" indent="0" algn="just">
              <a:buNone/>
            </a:pPr>
            <a:endParaRPr lang="en-IN" sz="2400" dirty="0"/>
          </a:p>
          <a:p>
            <a:pPr algn="just"/>
            <a:endParaRPr lang="en-IN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BB329D-D6CA-47A6-A957-B88B4D7BF6F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3398108" cy="5656521"/>
          </a:xfrm>
          <a:prstGeom prst="rect">
            <a:avLst/>
          </a:prstGeom>
          <a:solidFill>
            <a:srgbClr val="DBF0FA">
              <a:alpha val="4509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anose="020B0604020202020204" pitchFamily="34" charset="0"/>
              </a:defRPr>
            </a:lvl9pPr>
          </a:lstStyle>
          <a:p>
            <a:pPr algn="ctr"/>
            <a:r>
              <a:rPr lang="en-IN" sz="4000" dirty="0">
                <a:solidFill>
                  <a:schemeClr val="bg2">
                    <a:lumMod val="50000"/>
                  </a:schemeClr>
                </a:solidFill>
              </a:rPr>
              <a:t>Preparedness</a:t>
            </a:r>
          </a:p>
          <a:p>
            <a:pPr algn="ctr"/>
            <a:r>
              <a:rPr lang="en-IN" sz="4000" dirty="0">
                <a:solidFill>
                  <a:schemeClr val="bg2">
                    <a:lumMod val="50000"/>
                  </a:schemeClr>
                </a:solidFill>
              </a:rPr>
              <a:t>for Kharif</a:t>
            </a:r>
          </a:p>
          <a:p>
            <a:pPr algn="ctr"/>
            <a:r>
              <a:rPr lang="en-IN" sz="4000" dirty="0">
                <a:solidFill>
                  <a:schemeClr val="bg2">
                    <a:lumMod val="50000"/>
                  </a:schemeClr>
                </a:solidFill>
              </a:rPr>
              <a:t>2022-23 </a:t>
            </a:r>
          </a:p>
        </p:txBody>
      </p:sp>
    </p:spTree>
    <p:extLst>
      <p:ext uri="{BB962C8B-B14F-4D97-AF65-F5344CB8AC3E}">
        <p14:creationId xmlns:p14="http://schemas.microsoft.com/office/powerpoint/2010/main" val="1307641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49A22-6D27-4A8B-9BF8-03C4880C3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E1684-B499-41CD-88ED-E7A66FDCF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2178"/>
            <a:ext cx="12192000" cy="6080124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7" name="Rectangle 6"/>
          <p:cNvSpPr/>
          <p:nvPr/>
        </p:nvSpPr>
        <p:spPr>
          <a:xfrm>
            <a:off x="6741042" y="118130"/>
            <a:ext cx="514523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all" spc="0" normalizeH="0" baseline="0" noProof="0" dirty="0">
                <a:ln w="0"/>
                <a:solidFill>
                  <a:prstClr val="black"/>
                </a:soli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Aharoni" panose="02010803020104030203" pitchFamily="2" charset="-79"/>
                <a:cs typeface="Aharoni" panose="02010803020104030203" pitchFamily="2" charset="-79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619A-F43E-46DB-8746-B7728845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9D4CFF-6072-4D1F-940E-37D570247CC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D4D4D">
                    <a:tint val="75000"/>
                  </a:srgbClr>
                </a:solidFill>
                <a:effectLst/>
                <a:uLnTx/>
                <a:uFillTx/>
                <a:latin typeface="Microsoft Sans Serif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D4D4D">
                  <a:tint val="75000"/>
                </a:srgbClr>
              </a:solidFill>
              <a:effectLst/>
              <a:uLnTx/>
              <a:uFillTx/>
              <a:latin typeface="Microsoft Sans Serif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F2504-E6C2-4CF7-890E-09D5EA14ABA8}"/>
              </a:ext>
            </a:extLst>
          </p:cNvPr>
          <p:cNvSpPr txBox="1"/>
          <p:nvPr/>
        </p:nvSpPr>
        <p:spPr>
          <a:xfrm>
            <a:off x="3338623" y="6432698"/>
            <a:ext cx="513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DEPARTMENT OF AGRICULTURE, ASSAM</a:t>
            </a:r>
          </a:p>
        </p:txBody>
      </p:sp>
    </p:spTree>
    <p:extLst>
      <p:ext uri="{BB962C8B-B14F-4D97-AF65-F5344CB8AC3E}">
        <p14:creationId xmlns:p14="http://schemas.microsoft.com/office/powerpoint/2010/main" val="1094674234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-template-24">
  <a:themeElements>
    <a:clrScheme name="powerpoint-template-24 15">
      <a:dk1>
        <a:srgbClr val="4D4D4D"/>
      </a:dk1>
      <a:lt1>
        <a:srgbClr val="FFFFFF"/>
      </a:lt1>
      <a:dk2>
        <a:srgbClr val="4D4D4D"/>
      </a:dk2>
      <a:lt2>
        <a:srgbClr val="007ADE"/>
      </a:lt2>
      <a:accent1>
        <a:srgbClr val="29A0FF"/>
      </a:accent1>
      <a:accent2>
        <a:srgbClr val="51C7FF"/>
      </a:accent2>
      <a:accent3>
        <a:srgbClr val="FFFFFF"/>
      </a:accent3>
      <a:accent4>
        <a:srgbClr val="404040"/>
      </a:accent4>
      <a:accent5>
        <a:srgbClr val="ACCDFF"/>
      </a:accent5>
      <a:accent6>
        <a:srgbClr val="49B4E7"/>
      </a:accent6>
      <a:hlink>
        <a:srgbClr val="FF7E00"/>
      </a:hlink>
      <a:folHlink>
        <a:srgbClr val="DDDDDD"/>
      </a:folHlink>
    </a:clrScheme>
    <a:fontScheme name="powerpoint-template-24">
      <a:majorFont>
        <a:latin typeface="Microsoft Sans Serif"/>
        <a:ea typeface=""/>
        <a:cs typeface=""/>
      </a:majorFont>
      <a:minorFont>
        <a:latin typeface="Microsoft Sans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owerpoint-template-24 1">
        <a:dk1>
          <a:srgbClr val="4D4D4D"/>
        </a:dk1>
        <a:lt1>
          <a:srgbClr val="FFFFFF"/>
        </a:lt1>
        <a:dk2>
          <a:srgbClr val="4D4D4D"/>
        </a:dk2>
        <a:lt2>
          <a:srgbClr val="CC0000"/>
        </a:lt2>
        <a:accent1>
          <a:srgbClr val="FF9933"/>
        </a:accent1>
        <a:accent2>
          <a:srgbClr val="009900"/>
        </a:accent2>
        <a:accent3>
          <a:srgbClr val="FFFFFF"/>
        </a:accent3>
        <a:accent4>
          <a:srgbClr val="404040"/>
        </a:accent4>
        <a:accent5>
          <a:srgbClr val="FFCAAD"/>
        </a:accent5>
        <a:accent6>
          <a:srgbClr val="008A00"/>
        </a:accent6>
        <a:hlink>
          <a:srgbClr val="33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2">
        <a:dk1>
          <a:srgbClr val="4D4D4D"/>
        </a:dk1>
        <a:lt1>
          <a:srgbClr val="FFFFFF"/>
        </a:lt1>
        <a:dk2>
          <a:srgbClr val="4D4D4D"/>
        </a:dk2>
        <a:lt2>
          <a:srgbClr val="FBB240"/>
        </a:lt2>
        <a:accent1>
          <a:srgbClr val="FFC842"/>
        </a:accent1>
        <a:accent2>
          <a:srgbClr val="FED06E"/>
        </a:accent2>
        <a:accent3>
          <a:srgbClr val="FFFFFF"/>
        </a:accent3>
        <a:accent4>
          <a:srgbClr val="404040"/>
        </a:accent4>
        <a:accent5>
          <a:srgbClr val="FFE0B0"/>
        </a:accent5>
        <a:accent6>
          <a:srgbClr val="E6BC63"/>
        </a:accent6>
        <a:hlink>
          <a:srgbClr val="FDDB9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3">
        <a:dk1>
          <a:srgbClr val="4D4D4D"/>
        </a:dk1>
        <a:lt1>
          <a:srgbClr val="FFFFFF"/>
        </a:lt1>
        <a:dk2>
          <a:srgbClr val="4D4D4D"/>
        </a:dk2>
        <a:lt2>
          <a:srgbClr val="FE564C"/>
        </a:lt2>
        <a:accent1>
          <a:srgbClr val="FFC842"/>
        </a:accent1>
        <a:accent2>
          <a:srgbClr val="FED06E"/>
        </a:accent2>
        <a:accent3>
          <a:srgbClr val="FFFFFF"/>
        </a:accent3>
        <a:accent4>
          <a:srgbClr val="404040"/>
        </a:accent4>
        <a:accent5>
          <a:srgbClr val="FFE0B0"/>
        </a:accent5>
        <a:accent6>
          <a:srgbClr val="E6BC63"/>
        </a:accent6>
        <a:hlink>
          <a:srgbClr val="FDDB9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4">
        <a:dk1>
          <a:srgbClr val="4D4D4D"/>
        </a:dk1>
        <a:lt1>
          <a:srgbClr val="FFFFFF"/>
        </a:lt1>
        <a:dk2>
          <a:srgbClr val="4D4D4D"/>
        </a:dk2>
        <a:lt2>
          <a:srgbClr val="BB2A32"/>
        </a:lt2>
        <a:accent1>
          <a:srgbClr val="FFC842"/>
        </a:accent1>
        <a:accent2>
          <a:srgbClr val="FED06E"/>
        </a:accent2>
        <a:accent3>
          <a:srgbClr val="FFFFFF"/>
        </a:accent3>
        <a:accent4>
          <a:srgbClr val="404040"/>
        </a:accent4>
        <a:accent5>
          <a:srgbClr val="FFE0B0"/>
        </a:accent5>
        <a:accent6>
          <a:srgbClr val="E6BC63"/>
        </a:accent6>
        <a:hlink>
          <a:srgbClr val="FDDB9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5">
        <a:dk1>
          <a:srgbClr val="4D4D4D"/>
        </a:dk1>
        <a:lt1>
          <a:srgbClr val="FFFFFF"/>
        </a:lt1>
        <a:dk2>
          <a:srgbClr val="4D4D4D"/>
        </a:dk2>
        <a:lt2>
          <a:srgbClr val="E84A25"/>
        </a:lt2>
        <a:accent1>
          <a:srgbClr val="ED6A24"/>
        </a:accent1>
        <a:accent2>
          <a:srgbClr val="F99E1C"/>
        </a:accent2>
        <a:accent3>
          <a:srgbClr val="FFFFFF"/>
        </a:accent3>
        <a:accent4>
          <a:srgbClr val="404040"/>
        </a:accent4>
        <a:accent5>
          <a:srgbClr val="F4B9AC"/>
        </a:accent5>
        <a:accent6>
          <a:srgbClr val="E28F18"/>
        </a:accent6>
        <a:hlink>
          <a:srgbClr val="F1B54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6">
        <a:dk1>
          <a:srgbClr val="4D4D4D"/>
        </a:dk1>
        <a:lt1>
          <a:srgbClr val="FFFFFF"/>
        </a:lt1>
        <a:dk2>
          <a:srgbClr val="4D4D4D"/>
        </a:dk2>
        <a:lt2>
          <a:srgbClr val="B92D14"/>
        </a:lt2>
        <a:accent1>
          <a:srgbClr val="D34E13"/>
        </a:accent1>
        <a:accent2>
          <a:srgbClr val="DC9009"/>
        </a:accent2>
        <a:accent3>
          <a:srgbClr val="FFFFFF"/>
        </a:accent3>
        <a:accent4>
          <a:srgbClr val="404040"/>
        </a:accent4>
        <a:accent5>
          <a:srgbClr val="E6B2AA"/>
        </a:accent5>
        <a:accent6>
          <a:srgbClr val="C78207"/>
        </a:accent6>
        <a:hlink>
          <a:srgbClr val="EEC63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7">
        <a:dk1>
          <a:srgbClr val="4D4D4D"/>
        </a:dk1>
        <a:lt1>
          <a:srgbClr val="FFFFFF"/>
        </a:lt1>
        <a:dk2>
          <a:srgbClr val="4D4D4D"/>
        </a:dk2>
        <a:lt2>
          <a:srgbClr val="AE6310"/>
        </a:lt2>
        <a:accent1>
          <a:srgbClr val="E79613"/>
        </a:accent1>
        <a:accent2>
          <a:srgbClr val="E1720D"/>
        </a:accent2>
        <a:accent3>
          <a:srgbClr val="FFFFFF"/>
        </a:accent3>
        <a:accent4>
          <a:srgbClr val="404040"/>
        </a:accent4>
        <a:accent5>
          <a:srgbClr val="F1C9AA"/>
        </a:accent5>
        <a:accent6>
          <a:srgbClr val="CC670B"/>
        </a:accent6>
        <a:hlink>
          <a:srgbClr val="C6470A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8">
        <a:dk1>
          <a:srgbClr val="4D4D4D"/>
        </a:dk1>
        <a:lt1>
          <a:srgbClr val="FFFFFF"/>
        </a:lt1>
        <a:dk2>
          <a:srgbClr val="4D4D4D"/>
        </a:dk2>
        <a:lt2>
          <a:srgbClr val="AF5612"/>
        </a:lt2>
        <a:accent1>
          <a:srgbClr val="CB882F"/>
        </a:accent1>
        <a:accent2>
          <a:srgbClr val="E7C432"/>
        </a:accent2>
        <a:accent3>
          <a:srgbClr val="FFFFFF"/>
        </a:accent3>
        <a:accent4>
          <a:srgbClr val="404040"/>
        </a:accent4>
        <a:accent5>
          <a:srgbClr val="E2C3AD"/>
        </a:accent5>
        <a:accent6>
          <a:srgbClr val="D1B12C"/>
        </a:accent6>
        <a:hlink>
          <a:srgbClr val="EECA3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9">
        <a:dk1>
          <a:srgbClr val="4D4D4D"/>
        </a:dk1>
        <a:lt1>
          <a:srgbClr val="FFFFFF"/>
        </a:lt1>
        <a:dk2>
          <a:srgbClr val="4D4D4D"/>
        </a:dk2>
        <a:lt2>
          <a:srgbClr val="9A5E40"/>
        </a:lt2>
        <a:accent1>
          <a:srgbClr val="AE7750"/>
        </a:accent1>
        <a:accent2>
          <a:srgbClr val="C08D60"/>
        </a:accent2>
        <a:accent3>
          <a:srgbClr val="FFFFFF"/>
        </a:accent3>
        <a:accent4>
          <a:srgbClr val="404040"/>
        </a:accent4>
        <a:accent5>
          <a:srgbClr val="D3BDB3"/>
        </a:accent5>
        <a:accent6>
          <a:srgbClr val="AE7F56"/>
        </a:accent6>
        <a:hlink>
          <a:srgbClr val="CCA47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0">
        <a:dk1>
          <a:srgbClr val="4D4D4D"/>
        </a:dk1>
        <a:lt1>
          <a:srgbClr val="FFFFFF"/>
        </a:lt1>
        <a:dk2>
          <a:srgbClr val="4D4D4D"/>
        </a:dk2>
        <a:lt2>
          <a:srgbClr val="D1BB77"/>
        </a:lt2>
        <a:accent1>
          <a:srgbClr val="DBBA87"/>
        </a:accent1>
        <a:accent2>
          <a:srgbClr val="E0B265"/>
        </a:accent2>
        <a:accent3>
          <a:srgbClr val="FFFFFF"/>
        </a:accent3>
        <a:accent4>
          <a:srgbClr val="404040"/>
        </a:accent4>
        <a:accent5>
          <a:srgbClr val="EAD9C3"/>
        </a:accent5>
        <a:accent6>
          <a:srgbClr val="CBA15B"/>
        </a:accent6>
        <a:hlink>
          <a:srgbClr val="E9C27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1">
        <a:dk1>
          <a:srgbClr val="4D4D4D"/>
        </a:dk1>
        <a:lt1>
          <a:srgbClr val="FFFFFF"/>
        </a:lt1>
        <a:dk2>
          <a:srgbClr val="4D4D4D"/>
        </a:dk2>
        <a:lt2>
          <a:srgbClr val="45762A"/>
        </a:lt2>
        <a:accent1>
          <a:srgbClr val="42934C"/>
        </a:accent1>
        <a:accent2>
          <a:srgbClr val="34B66A"/>
        </a:accent2>
        <a:accent3>
          <a:srgbClr val="FFFFFF"/>
        </a:accent3>
        <a:accent4>
          <a:srgbClr val="404040"/>
        </a:accent4>
        <a:accent5>
          <a:srgbClr val="B0C8B2"/>
        </a:accent5>
        <a:accent6>
          <a:srgbClr val="2EA55F"/>
        </a:accent6>
        <a:hlink>
          <a:srgbClr val="34C8D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2">
        <a:dk1>
          <a:srgbClr val="4D4D4D"/>
        </a:dk1>
        <a:lt1>
          <a:srgbClr val="FFFFFF"/>
        </a:lt1>
        <a:dk2>
          <a:srgbClr val="4D4D4D"/>
        </a:dk2>
        <a:lt2>
          <a:srgbClr val="45762A"/>
        </a:lt2>
        <a:accent1>
          <a:srgbClr val="42934C"/>
        </a:accent1>
        <a:accent2>
          <a:srgbClr val="34B66A"/>
        </a:accent2>
        <a:accent3>
          <a:srgbClr val="FFFFFF"/>
        </a:accent3>
        <a:accent4>
          <a:srgbClr val="404040"/>
        </a:accent4>
        <a:accent5>
          <a:srgbClr val="B0C8B2"/>
        </a:accent5>
        <a:accent6>
          <a:srgbClr val="2EA55F"/>
        </a:accent6>
        <a:hlink>
          <a:srgbClr val="34C8D1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3">
        <a:dk1>
          <a:srgbClr val="4D4D4D"/>
        </a:dk1>
        <a:lt1>
          <a:srgbClr val="FFFFFF"/>
        </a:lt1>
        <a:dk2>
          <a:srgbClr val="4D4D4D"/>
        </a:dk2>
        <a:lt2>
          <a:srgbClr val="45762A"/>
        </a:lt2>
        <a:accent1>
          <a:srgbClr val="42934C"/>
        </a:accent1>
        <a:accent2>
          <a:srgbClr val="34B66A"/>
        </a:accent2>
        <a:accent3>
          <a:srgbClr val="FFFFFF"/>
        </a:accent3>
        <a:accent4>
          <a:srgbClr val="404040"/>
        </a:accent4>
        <a:accent5>
          <a:srgbClr val="B0C8B2"/>
        </a:accent5>
        <a:accent6>
          <a:srgbClr val="2EA55F"/>
        </a:accent6>
        <a:hlink>
          <a:srgbClr val="34C8D1"/>
        </a:hlink>
        <a:folHlink>
          <a:srgbClr val="D3D3D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4">
        <a:dk1>
          <a:srgbClr val="4D4D4D"/>
        </a:dk1>
        <a:lt1>
          <a:srgbClr val="FFFFFF"/>
        </a:lt1>
        <a:dk2>
          <a:srgbClr val="4D4D4D"/>
        </a:dk2>
        <a:lt2>
          <a:srgbClr val="007ADE"/>
        </a:lt2>
        <a:accent1>
          <a:srgbClr val="29A0FF"/>
        </a:accent1>
        <a:accent2>
          <a:srgbClr val="51C7FF"/>
        </a:accent2>
        <a:accent3>
          <a:srgbClr val="FFFFFF"/>
        </a:accent3>
        <a:accent4>
          <a:srgbClr val="404040"/>
        </a:accent4>
        <a:accent5>
          <a:srgbClr val="ACCDFF"/>
        </a:accent5>
        <a:accent6>
          <a:srgbClr val="49B4E7"/>
        </a:accent6>
        <a:hlink>
          <a:srgbClr val="FF7E00"/>
        </a:hlink>
        <a:folHlink>
          <a:srgbClr val="D3D3D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5">
        <a:dk1>
          <a:srgbClr val="4D4D4D"/>
        </a:dk1>
        <a:lt1>
          <a:srgbClr val="FFFFFF"/>
        </a:lt1>
        <a:dk2>
          <a:srgbClr val="4D4D4D"/>
        </a:dk2>
        <a:lt2>
          <a:srgbClr val="007ADE"/>
        </a:lt2>
        <a:accent1>
          <a:srgbClr val="29A0FF"/>
        </a:accent1>
        <a:accent2>
          <a:srgbClr val="51C7FF"/>
        </a:accent2>
        <a:accent3>
          <a:srgbClr val="FFFFFF"/>
        </a:accent3>
        <a:accent4>
          <a:srgbClr val="404040"/>
        </a:accent4>
        <a:accent5>
          <a:srgbClr val="ACCDFF"/>
        </a:accent5>
        <a:accent6>
          <a:srgbClr val="49B4E7"/>
        </a:accent6>
        <a:hlink>
          <a:srgbClr val="FF7E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1228</Words>
  <Application>Microsoft Office PowerPoint</Application>
  <PresentationFormat>Widescreen</PresentationFormat>
  <Paragraphs>377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Aharoni</vt:lpstr>
      <vt:lpstr>Arial</vt:lpstr>
      <vt:lpstr>Calibri</vt:lpstr>
      <vt:lpstr>Microsoft Sans Serif</vt:lpstr>
      <vt:lpstr>Times New Roman</vt:lpstr>
      <vt:lpstr>Vrinda</vt:lpstr>
      <vt:lpstr>Wingdings</vt:lpstr>
      <vt:lpstr>powerpoint-template-24</vt:lpstr>
      <vt:lpstr>PowerPoint Presentation</vt:lpstr>
      <vt:lpstr>Assam Agriculture: Brief Profile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Supportive schemes for Kharif 2022-23</vt:lpstr>
      <vt:lpstr>PowerPoint Presentation</vt:lpstr>
      <vt:lpstr>PowerPoint Presentation</vt:lpstr>
      <vt:lpstr>PowerPoint Presentation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PRIYAMBOD DUTTA</dc:creator>
  <cp:lastModifiedBy>mnj9211@gmail.com</cp:lastModifiedBy>
  <cp:revision>41</cp:revision>
  <dcterms:created xsi:type="dcterms:W3CDTF">2022-04-03T07:16:03Z</dcterms:created>
  <dcterms:modified xsi:type="dcterms:W3CDTF">2022-04-19T03:51:08Z</dcterms:modified>
</cp:coreProperties>
</file>